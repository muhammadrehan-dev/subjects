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8EE9C4C-759F-4497-937B-FDE9B664D9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134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C1FEA2-715F-4586-8E7B-561C9A9D95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3428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BA118A-A7B5-44BC-9C2C-F366D8A678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8097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516E5B-F9B8-4621-995B-2309ED72B7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996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454204-5D6E-41C9-A43D-9FD30A15EC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609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248CE2-1A28-487B-B78E-7AAA8DF852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8395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FFA4E1-617A-4D70-A9F4-4C73A77F0A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948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4876670-6485-45AC-B391-0EF762AEC7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9399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2D407A-77DF-4C2E-8BB3-05CD87525D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171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410436-1FCE-4B0A-82EC-911301F4EA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8938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874018-5B34-4ED7-B091-DC33AC0C59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78100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80EA8E-08C2-4741-BF71-04344739A7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1329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6A64AA-7BB0-4B38-B264-5EE01108BF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0953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202514-0E9B-4517-9B25-96BEAA0FCE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1216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853372-DB9C-4450-ADD5-9D05BC6393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1837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1B12C3-8F63-4F3A-83DE-6FB5A5DC6C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2833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882DAE-2414-4F82-84A1-677009D766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3379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47400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274320" y="320040"/>
            <a:ext cx="2925360" cy="146232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274320" y="320040"/>
            <a:ext cx="292536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82880" y="1920240"/>
            <a:ext cx="3108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Dawood University of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Engineering and Technology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82880" y="2788920"/>
            <a:ext cx="31082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6F5F5"/>
                </a:solidFill>
                <a:effectLst/>
                <a:uFillTx/>
                <a:latin typeface="Calibri"/>
                <a:ea typeface="Calibri"/>
              </a:rPr>
              <a:t>Department of CyberSecurity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3246120"/>
            <a:ext cx="2559600" cy="2664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82880" y="331020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Communication Skills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182880" y="36576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6F5F5"/>
                </a:solidFill>
                <a:effectLst/>
                <a:uFillTx/>
                <a:latin typeface="Calibri"/>
                <a:ea typeface="Calibri"/>
              </a:rPr>
              <a:t>Miss Sunita Kumari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840480" y="822960"/>
            <a:ext cx="50284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Body Language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840480" y="1691640"/>
            <a:ext cx="50284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AADAD"/>
                </a:solidFill>
                <a:effectLst/>
                <a:uFillTx/>
                <a:latin typeface="Trebuchet MS"/>
                <a:ea typeface="Trebuchet MS"/>
              </a:rPr>
              <a:t>&amp; Professional Etiquette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3840480" y="2377440"/>
            <a:ext cx="5028480" cy="36000"/>
          </a:xfrm>
          <a:prstGeom prst="rect">
            <a:avLst/>
          </a:prstGeom>
          <a:solidFill>
            <a:srgbClr val="1AADAD">
              <a:alpha val="60000"/>
            </a:srgbClr>
          </a:solidFill>
          <a:ln w="12700">
            <a:solidFill>
              <a:srgbClr val="1AADAD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3840480" y="2541960"/>
            <a:ext cx="5028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D6F5F5"/>
                </a:solidFill>
                <a:effectLst/>
                <a:uFillTx/>
                <a:latin typeface="Calibri"/>
                <a:ea typeface="Calibri"/>
              </a:rPr>
              <a:t>Presented By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3840480" y="2853000"/>
            <a:ext cx="502848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Aayan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Ali Zaidi (083)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</a:rPr>
              <a:t>Syed Usman (096)</a:t>
            </a: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Syed Abdul </a:t>
            </a:r>
            <a:r>
              <a:rPr lang="en-US" sz="13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Rehman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(105)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Picture 22"/>
          <p:cNvPicPr/>
          <p:nvPr/>
        </p:nvPicPr>
        <p:blipFill>
          <a:blip r:embed="rId3"/>
          <a:stretch/>
        </p:blipFill>
        <p:spPr>
          <a:xfrm>
            <a:off x="799920" y="457200"/>
            <a:ext cx="1714320" cy="1297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Table of Contents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2697480" y="1060560"/>
            <a:ext cx="438120" cy="438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2697480" y="10605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3191400" y="1005840"/>
            <a:ext cx="2605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Introduction to Body 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2697480" y="1974960"/>
            <a:ext cx="438120" cy="438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2697480" y="19749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3191400" y="1920240"/>
            <a:ext cx="2605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Definitions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2697480" y="2889360"/>
            <a:ext cx="438120" cy="438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2697480" y="28893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3191400" y="2834640"/>
            <a:ext cx="2605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Important Features of Body 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8"/>
          <p:cNvSpPr/>
          <p:nvPr/>
        </p:nvSpPr>
        <p:spPr>
          <a:xfrm>
            <a:off x="2697480" y="3803760"/>
            <a:ext cx="438120" cy="438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2697480" y="38037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3191400" y="3749040"/>
            <a:ext cx="2605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Examples of Body 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1"/>
          <p:cNvSpPr/>
          <p:nvPr/>
        </p:nvSpPr>
        <p:spPr>
          <a:xfrm>
            <a:off x="5943600" y="1060560"/>
            <a:ext cx="438120" cy="438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5943600" y="10605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6437520" y="1005840"/>
            <a:ext cx="2605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Positive &amp; Negative Body 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5943600" y="1974960"/>
            <a:ext cx="438120" cy="438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5943600" y="19749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6437520" y="1920240"/>
            <a:ext cx="2605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Concept &amp; Definition of Etiquette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943600" y="2889360"/>
            <a:ext cx="438120" cy="438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5943600" y="28893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6437520" y="2834640"/>
            <a:ext cx="2605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Need for Etiquettes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0"/>
          <p:cNvSpPr/>
          <p:nvPr/>
        </p:nvSpPr>
        <p:spPr>
          <a:xfrm>
            <a:off x="5943600" y="3803760"/>
            <a:ext cx="438120" cy="438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5943600" y="38037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2"/>
          <p:cNvSpPr/>
          <p:nvPr/>
        </p:nvSpPr>
        <p:spPr>
          <a:xfrm>
            <a:off x="6437520" y="3749040"/>
            <a:ext cx="2605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Types of Etiquettes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Picture 55"/>
          <p:cNvPicPr/>
          <p:nvPr/>
        </p:nvPicPr>
        <p:blipFill>
          <a:blip r:embed="rId3"/>
          <a:stretch/>
        </p:blipFill>
        <p:spPr>
          <a:xfrm>
            <a:off x="22860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Shape 40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Body 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Introduction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2697480" y="960120"/>
            <a:ext cx="64000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E7A7A"/>
                </a:solidFill>
                <a:effectLst/>
                <a:uFillTx/>
                <a:latin typeface="Trebuchet MS"/>
                <a:ea typeface="Trebuchet MS"/>
              </a:rPr>
              <a:t>What is Body Language?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2697480" y="1417320"/>
            <a:ext cx="6400080" cy="33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Body language is a form of non-verbal communication using physical behavior, gestures, and expressions.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It accounts for a significant portion of how we communicate — often more than words alone.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Includes facial expressions, posture, gestures, eye contact, and tone of voice.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Plays a vital role in personal, social, and professional interactions.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Understanding body language helps in building better relationships and communication skills.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72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Definitions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Terms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Definitions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2651760" y="960120"/>
            <a:ext cx="6400080" cy="120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2651760" y="960120"/>
            <a:ext cx="640008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2761560" y="969120"/>
            <a:ext cx="621720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Body 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2761560" y="1344240"/>
            <a:ext cx="6217200" cy="74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Non-verbal signals expressed through physical behavior, posture, and gestures that communicate messages to others.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2651760" y="2286000"/>
            <a:ext cx="6400080" cy="120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2651760" y="2286000"/>
            <a:ext cx="640008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2761560" y="2295000"/>
            <a:ext cx="621720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Non-Verbal Communication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2761560" y="2670120"/>
            <a:ext cx="6217200" cy="74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The transmission of messages without using words — includes facial expressions, body movements, and eye contact.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2651760" y="3611880"/>
            <a:ext cx="6400080" cy="120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0"/>
          <p:cNvSpPr/>
          <p:nvPr/>
        </p:nvSpPr>
        <p:spPr>
          <a:xfrm>
            <a:off x="2651760" y="3611880"/>
            <a:ext cx="640008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1"/>
          <p:cNvSpPr/>
          <p:nvPr/>
        </p:nvSpPr>
        <p:spPr>
          <a:xfrm>
            <a:off x="2761560" y="3620880"/>
            <a:ext cx="621720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Kinesics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2761560" y="3996000"/>
            <a:ext cx="6217200" cy="74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The study of body language as a means of communication, including gestures, facial expressions, and posture.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97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Important 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Important Features of Body Language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1"/>
          <p:cNvSpPr/>
          <p:nvPr/>
        </p:nvSpPr>
        <p:spPr>
          <a:xfrm>
            <a:off x="2633400" y="960120"/>
            <a:ext cx="2010960" cy="1626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2633400" y="960120"/>
            <a:ext cx="201096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2743200" y="969120"/>
            <a:ext cx="18280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Universal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2743200" y="1344240"/>
            <a:ext cx="182808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Many expressions like happiness or fear are recognized globally across cultures.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4846320" y="960120"/>
            <a:ext cx="2010960" cy="1626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4846320" y="960120"/>
            <a:ext cx="201096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4956120" y="969120"/>
            <a:ext cx="18280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Continuous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4956120" y="1344240"/>
            <a:ext cx="182808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Body language is always active — even silence and stillness send messages.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7059240" y="960120"/>
            <a:ext cx="2010960" cy="1626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7059240" y="960120"/>
            <a:ext cx="201096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7169040" y="969120"/>
            <a:ext cx="18280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Involuntary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7169040" y="1344240"/>
            <a:ext cx="182808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Many signals occur unconsciously and are hard to fake consistently.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3"/>
          <p:cNvSpPr/>
          <p:nvPr/>
        </p:nvSpPr>
        <p:spPr>
          <a:xfrm>
            <a:off x="2633400" y="2788920"/>
            <a:ext cx="2010960" cy="1626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2633400" y="2788920"/>
            <a:ext cx="201096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2743200" y="2797920"/>
            <a:ext cx="18280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Context-Dependent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2743200" y="3173040"/>
            <a:ext cx="182808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The meaning of gestures changes based on situation and culture.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7"/>
          <p:cNvSpPr/>
          <p:nvPr/>
        </p:nvSpPr>
        <p:spPr>
          <a:xfrm>
            <a:off x="4846320" y="2788920"/>
            <a:ext cx="2010960" cy="1626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8"/>
          <p:cNvSpPr/>
          <p:nvPr/>
        </p:nvSpPr>
        <p:spPr>
          <a:xfrm>
            <a:off x="4846320" y="2788920"/>
            <a:ext cx="201096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9"/>
          <p:cNvSpPr/>
          <p:nvPr/>
        </p:nvSpPr>
        <p:spPr>
          <a:xfrm>
            <a:off x="4956120" y="2797920"/>
            <a:ext cx="18280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Multi-Channel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0"/>
          <p:cNvSpPr/>
          <p:nvPr/>
        </p:nvSpPr>
        <p:spPr>
          <a:xfrm>
            <a:off x="4956120" y="3173040"/>
            <a:ext cx="182808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Multiple signals (posture + expression + tone) combine to form a message.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1"/>
          <p:cNvSpPr/>
          <p:nvPr/>
        </p:nvSpPr>
        <p:spPr>
          <a:xfrm>
            <a:off x="7059240" y="2788920"/>
            <a:ext cx="2010960" cy="1626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2"/>
          <p:cNvSpPr/>
          <p:nvPr/>
        </p:nvSpPr>
        <p:spPr>
          <a:xfrm>
            <a:off x="7059240" y="2788920"/>
            <a:ext cx="2010960" cy="3466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3"/>
          <p:cNvSpPr/>
          <p:nvPr/>
        </p:nvSpPr>
        <p:spPr>
          <a:xfrm>
            <a:off x="7169040" y="2797920"/>
            <a:ext cx="18280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Powerful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4"/>
          <p:cNvSpPr/>
          <p:nvPr/>
        </p:nvSpPr>
        <p:spPr>
          <a:xfrm>
            <a:off x="7169040" y="3173040"/>
            <a:ext cx="182808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Can reinforce or contradict spoken words, sometimes overriding them entirely.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2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Picture 134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Examples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Body 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Examples of Body Language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2697480" y="96012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A7A"/>
                </a:solidFill>
                <a:effectLst/>
                <a:uFillTx/>
                <a:latin typeface="Trebuchet MS"/>
                <a:ea typeface="Trebuchet MS"/>
              </a:rPr>
              <a:t>Facial Expressions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2697480" y="1325880"/>
            <a:ext cx="3016800" cy="347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Smiling — friendliness &amp; warmth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Frowning — displeasure or confusion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Raised eyebrows — surprise or disbelief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Direct eye contact — confidence &amp; sincerity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Avoiding eye contact — nervousness or dishonesty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5897880" y="960120"/>
            <a:ext cx="36000" cy="3931200"/>
          </a:xfrm>
          <a:prstGeom prst="rect">
            <a:avLst/>
          </a:prstGeom>
          <a:solidFill>
            <a:srgbClr val="1AADAD">
              <a:alpha val="50000"/>
            </a:srgbClr>
          </a:solidFill>
          <a:ln w="12700">
            <a:solidFill>
              <a:srgbClr val="1AADAD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6080760" y="96012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A7A"/>
                </a:solidFill>
                <a:effectLst/>
                <a:uFillTx/>
                <a:latin typeface="Trebuchet MS"/>
                <a:ea typeface="Trebuchet MS"/>
              </a:rPr>
              <a:t>Gestures &amp; Posture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6080760" y="1325880"/>
            <a:ext cx="3016800" cy="347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Open arms — openness and receptivity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Crossed arms — defensiveness or discomfort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Firm handshake — confidence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Nodding — agreement and active listening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Leaning in — interest and engagement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152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Positive &amp; Negative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Body 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Positive &amp; Negative Body Language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2651760" y="960120"/>
            <a:ext cx="3016800" cy="3834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2651760" y="960120"/>
            <a:ext cx="30168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POSITIVE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2697480" y="1389960"/>
            <a:ext cx="2925360" cy="34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Maintaining eye contact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Upright, open posture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Genuine smile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Nodding while listening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Relaxed, open hand gestures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Leaning forward slightly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5897880" y="960120"/>
            <a:ext cx="3016800" cy="3834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5897880" y="960120"/>
            <a:ext cx="30168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NEGATIVE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5943600" y="1389960"/>
            <a:ext cx="2925360" cy="34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Avoiding eye contact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Slumped or closed posture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Forced or fake smile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Fidgeting or tapping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Crossed arms or legs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Looking at phone/watch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6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171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Etiquette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Concept &amp; Definition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Concept &amp; Definition of Etiquette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2651760" y="987480"/>
            <a:ext cx="6400080" cy="1188000"/>
          </a:xfrm>
          <a:prstGeom prst="rect">
            <a:avLst/>
          </a:prstGeom>
          <a:solidFill>
            <a:srgbClr val="D6F5F5"/>
          </a:solidFill>
          <a:ln w="1905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2834640" y="1024200"/>
            <a:ext cx="603432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0E7A7A"/>
                </a:solidFill>
                <a:effectLst/>
                <a:uFillTx/>
                <a:latin typeface="Calibri"/>
                <a:ea typeface="Calibri"/>
              </a:rPr>
              <a:t>"Etiquette is the set of rules and conventions governing correct or polite behavior in society or among members of a particular profession or group."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2697480" y="2304360"/>
            <a:ext cx="64000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A7A"/>
                </a:solidFill>
                <a:effectLst/>
                <a:uFillTx/>
                <a:latin typeface="Trebuchet MS"/>
                <a:ea typeface="Trebuchet MS"/>
              </a:rPr>
              <a:t>Key Concepts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2697480" y="2670120"/>
            <a:ext cx="6400080" cy="233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Etiquette originates from the French word meaning 'label' or 'ticket'.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It refers to expected behavior standards in social and professional settings.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Etiquette shows respect, consideration, and courtesy toward others.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It varies across cultures but universally promotes harmony and cooperation.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9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Picture 188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Need for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It Matters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Need for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2651760" y="987480"/>
            <a:ext cx="474840" cy="474840"/>
          </a:xfrm>
          <a:prstGeom prst="ellipse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2651760" y="987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3182040" y="98748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Builds Respect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3182040" y="1444680"/>
            <a:ext cx="2651040" cy="127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Etiquette helps earn respect and trust from colleagues, clients, and society.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5989320" y="987480"/>
            <a:ext cx="474840" cy="474840"/>
          </a:xfrm>
          <a:prstGeom prst="ellipse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5989320" y="987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6519600" y="98748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Creates Harmony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6519600" y="1444680"/>
            <a:ext cx="2651040" cy="127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Shared social rules reduce conflict and promote peaceful co-existence.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2651760" y="2953440"/>
            <a:ext cx="474840" cy="474840"/>
          </a:xfrm>
          <a:prstGeom prst="ellipse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2651760" y="29534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3182040" y="295344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Professional Image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3182040" y="3410640"/>
            <a:ext cx="2651040" cy="127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Good etiquette enhances your career prospects and professional reputation.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3"/>
          <p:cNvSpPr/>
          <p:nvPr/>
        </p:nvSpPr>
        <p:spPr>
          <a:xfrm>
            <a:off x="5989320" y="2953440"/>
            <a:ext cx="474840" cy="474840"/>
          </a:xfrm>
          <a:prstGeom prst="ellipse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5989320" y="29534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6519600" y="295344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Effective Communication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6519600" y="3410640"/>
            <a:ext cx="2651040" cy="127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Proper etiquette ensures messages are delivered and received respectfully.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3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Picture 217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 of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Types of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2651760" y="987480"/>
            <a:ext cx="6400080" cy="63936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2651760" y="987480"/>
            <a:ext cx="109080" cy="639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2880360" y="987480"/>
            <a:ext cx="60343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2.8.1  Social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2651760" y="1764720"/>
            <a:ext cx="6400080" cy="63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5"/>
          <p:cNvSpPr/>
          <p:nvPr/>
        </p:nvSpPr>
        <p:spPr>
          <a:xfrm>
            <a:off x="2651760" y="1764720"/>
            <a:ext cx="109080" cy="639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6"/>
          <p:cNvSpPr/>
          <p:nvPr/>
        </p:nvSpPr>
        <p:spPr>
          <a:xfrm>
            <a:off x="2880360" y="1764720"/>
            <a:ext cx="60343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2.8.2  Dress Code / Clothing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7"/>
          <p:cNvSpPr/>
          <p:nvPr/>
        </p:nvSpPr>
        <p:spPr>
          <a:xfrm>
            <a:off x="2651760" y="2541960"/>
            <a:ext cx="6400080" cy="63936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2651760" y="2541960"/>
            <a:ext cx="109080" cy="639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9"/>
          <p:cNvSpPr/>
          <p:nvPr/>
        </p:nvSpPr>
        <p:spPr>
          <a:xfrm>
            <a:off x="2880360" y="2541960"/>
            <a:ext cx="60343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2.8.3  Telephone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2651760" y="3319200"/>
            <a:ext cx="6400080" cy="63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2651760" y="3319200"/>
            <a:ext cx="109080" cy="639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2"/>
          <p:cNvSpPr/>
          <p:nvPr/>
        </p:nvSpPr>
        <p:spPr>
          <a:xfrm>
            <a:off x="2880360" y="3319200"/>
            <a:ext cx="60343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2.8.4  Interview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3"/>
          <p:cNvSpPr/>
          <p:nvPr/>
        </p:nvSpPr>
        <p:spPr>
          <a:xfrm>
            <a:off x="2651760" y="4096440"/>
            <a:ext cx="6400080" cy="63936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2651760" y="4096440"/>
            <a:ext cx="109080" cy="639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2880360" y="4096440"/>
            <a:ext cx="60343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2.8.5  Meeting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4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Picture 245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Social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Social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2697480" y="960120"/>
            <a:ext cx="6400080" cy="393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Greet others politely — use proper salutations such as 'Good morning' or 'Hello'.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Practice active listening — do not interrupt while others are speaking.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Maintain appropriate personal space during conversations.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Be punctual — respect others' time in social and professional settings.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 discussing sensitive or controversial topics in unfamiliar company.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Use polite language — say 'Please', 'Thank you', and 'Excuse me' regularly.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Put away your phone and give full attention during face-to-face interactions.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5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Picture 259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Dress Code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Dress Code / Clothing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2651760" y="960120"/>
            <a:ext cx="3108240" cy="3834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2"/>
          <p:cNvSpPr/>
          <p:nvPr/>
        </p:nvSpPr>
        <p:spPr>
          <a:xfrm>
            <a:off x="2651760" y="96012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Professional Settings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3"/>
          <p:cNvSpPr/>
          <p:nvPr/>
        </p:nvSpPr>
        <p:spPr>
          <a:xfrm>
            <a:off x="2697480" y="1417320"/>
            <a:ext cx="3016800" cy="33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Wear clean, ironed, and well-fitted clothing.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Choose formal attire for interviews and meetings.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 flashy colors or excessive accessories.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Ensure shoes are clean and appropriate.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5989320" y="960120"/>
            <a:ext cx="3108240" cy="3834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5"/>
          <p:cNvSpPr/>
          <p:nvPr/>
        </p:nvSpPr>
        <p:spPr>
          <a:xfrm>
            <a:off x="5989320" y="96012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General Rules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6"/>
          <p:cNvSpPr/>
          <p:nvPr/>
        </p:nvSpPr>
        <p:spPr>
          <a:xfrm>
            <a:off x="6035040" y="1417320"/>
            <a:ext cx="3016800" cy="33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Dress according to the occasion and venue.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Follow the organization's dress code policy.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Maintain personal hygiene alongside clothing.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Modesty and cultural sensitivity matter.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6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Picture 278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Telephone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Telephone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2697480" y="960120"/>
            <a:ext cx="6400080" cy="393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Answer calls promptly — within 2–3 rings whenever possible.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Greet the caller professionally: 'Good morning, this is [Name] speaking.'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Speak clearly and at a moderate pace — avoid mumbling.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Listen carefully and do not interrupt the caller.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Take notes during important calls and confirm key details.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Inform the caller before placing them on hold; do not keep them waiting long.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End calls politely: 'Thank you for calling, have a good day.'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 using phones in meetings, libraries, or places of worship.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7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Picture 292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Interview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Interview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2651760" y="987480"/>
            <a:ext cx="1005120" cy="1169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2651760" y="987480"/>
            <a:ext cx="100512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Before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3703320" y="987480"/>
            <a:ext cx="5348520" cy="116964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3840480" y="987480"/>
            <a:ext cx="511992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Research the company. Dress professionally. Arrive 10–15 minutes early. Bring required documents.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2651760" y="2313360"/>
            <a:ext cx="1005120" cy="1169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6"/>
          <p:cNvSpPr/>
          <p:nvPr/>
        </p:nvSpPr>
        <p:spPr>
          <a:xfrm>
            <a:off x="2651760" y="2313360"/>
            <a:ext cx="100512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During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7"/>
          <p:cNvSpPr/>
          <p:nvPr/>
        </p:nvSpPr>
        <p:spPr>
          <a:xfrm>
            <a:off x="3703320" y="2313360"/>
            <a:ext cx="5348520" cy="1169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3840480" y="2313360"/>
            <a:ext cx="511992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Greet with a firm handshake. Maintain eye contact. Listen carefully before answering. Speak clearly and confidently.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9"/>
          <p:cNvSpPr/>
          <p:nvPr/>
        </p:nvSpPr>
        <p:spPr>
          <a:xfrm>
            <a:off x="2651760" y="3639240"/>
            <a:ext cx="1005120" cy="1169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0"/>
          <p:cNvSpPr/>
          <p:nvPr/>
        </p:nvSpPr>
        <p:spPr>
          <a:xfrm>
            <a:off x="2651760" y="3639240"/>
            <a:ext cx="100512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After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1"/>
          <p:cNvSpPr/>
          <p:nvPr/>
        </p:nvSpPr>
        <p:spPr>
          <a:xfrm>
            <a:off x="3703320" y="3639240"/>
            <a:ext cx="5348520" cy="116964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2"/>
          <p:cNvSpPr/>
          <p:nvPr/>
        </p:nvSpPr>
        <p:spPr>
          <a:xfrm>
            <a:off x="3840480" y="3639240"/>
            <a:ext cx="5119920" cy="11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Thank the interviewer for their time. Send a follow-up thank-you note or email within 24 hours.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8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Picture 317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0"/>
          <p:cNvSpPr/>
          <p:nvPr/>
        </p:nvSpPr>
        <p:spPr>
          <a:xfrm>
            <a:off x="2377440" y="0"/>
            <a:ext cx="6765840" cy="907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"/>
          <p:cNvSpPr/>
          <p:nvPr/>
        </p:nvSpPr>
        <p:spPr>
          <a:xfrm>
            <a:off x="0" y="0"/>
            <a:ext cx="2376720" cy="51429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"/>
          <p:cNvSpPr/>
          <p:nvPr/>
        </p:nvSpPr>
        <p:spPr>
          <a:xfrm>
            <a:off x="0" y="4640760"/>
            <a:ext cx="2376720" cy="50220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4"/>
          <p:cNvSpPr/>
          <p:nvPr/>
        </p:nvSpPr>
        <p:spPr>
          <a:xfrm>
            <a:off x="228600" y="27432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5"/>
          <p:cNvSpPr/>
          <p:nvPr/>
        </p:nvSpPr>
        <p:spPr>
          <a:xfrm>
            <a:off x="822960" y="1554480"/>
            <a:ext cx="776520" cy="776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"/>
          <p:cNvSpPr/>
          <p:nvPr/>
        </p:nvSpPr>
        <p:spPr>
          <a:xfrm>
            <a:off x="822960" y="155448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137160" y="2423160"/>
            <a:ext cx="2102400" cy="16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Meeting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8"/>
          <p:cNvSpPr/>
          <p:nvPr/>
        </p:nvSpPr>
        <p:spPr>
          <a:xfrm>
            <a:off x="137160" y="466812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2697480" y="201240"/>
            <a:ext cx="6308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Meeting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2697480" y="822960"/>
            <a:ext cx="6262920" cy="266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2697480" y="960120"/>
            <a:ext cx="6400080" cy="393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Be on time — arriving late disrupts the flow and shows disrespect.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Prepare in advance — review the agenda and come with ideas or questions.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Silence your phone and avoid distractions during the meeting.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Participate actively — contribute your thoughts when appropriate.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Do not interrupt — wait for others to finish before speaking.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Respect differing opinions; engage in healthy, constructive discussion.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Take notes to remember key decisions and action items.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Follow up on assigned tasks and responsibilities after the meeting.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39"/>
          <p:cNvSpPr/>
          <p:nvPr/>
        </p:nvSpPr>
        <p:spPr>
          <a:xfrm>
            <a:off x="228960" y="274320"/>
            <a:ext cx="1919520" cy="1050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331"/>
          <p:cNvPicPr/>
          <p:nvPr/>
        </p:nvPicPr>
        <p:blipFill>
          <a:blip r:embed="rId3"/>
          <a:stretch/>
        </p:blipFill>
        <p:spPr>
          <a:xfrm>
            <a:off x="228960" y="274680"/>
            <a:ext cx="1449720" cy="109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"/>
          <p:cNvSpPr/>
          <p:nvPr/>
        </p:nvSpPr>
        <p:spPr>
          <a:xfrm>
            <a:off x="274320" y="0"/>
            <a:ext cx="859464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Dawood University of Engineering and Technology  |  Department of CyberSecurity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"/>
          <p:cNvSpPr/>
          <p:nvPr/>
        </p:nvSpPr>
        <p:spPr>
          <a:xfrm>
            <a:off x="1371600" y="1280160"/>
            <a:ext cx="6400080" cy="11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Thank You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1371600" y="242316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1AADAD"/>
                </a:solidFill>
                <a:effectLst/>
                <a:uFillTx/>
                <a:latin typeface="Calibri"/>
                <a:ea typeface="Calibri"/>
              </a:rPr>
              <a:t>for your attention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2286000" y="3154680"/>
            <a:ext cx="4571280" cy="36000"/>
          </a:xfrm>
          <a:prstGeom prst="rect">
            <a:avLst/>
          </a:prstGeom>
          <a:solidFill>
            <a:srgbClr val="1AADAD">
              <a:alpha val="50000"/>
            </a:srgbClr>
          </a:solidFill>
          <a:ln w="12700">
            <a:solidFill>
              <a:srgbClr val="1AADAD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457200" y="329184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457200" y="374904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Communication Skills  —  Miss Sunita Kumari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1124</Words>
  <Application>Microsoft Office PowerPoint</Application>
  <PresentationFormat>On-screen Show (16:9)</PresentationFormat>
  <Paragraphs>227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Body Language &amp; Etiquette</dc:title>
  <dc:subject>PptxGenJS Presentation</dc:subject>
  <dc:creator>PptxGenJS</dc:creator>
  <dc:description/>
  <cp:lastModifiedBy>zaidiaayan0@gmail.com</cp:lastModifiedBy>
  <cp:revision>5</cp:revision>
  <dcterms:created xsi:type="dcterms:W3CDTF">2026-04-07T12:50:45Z</dcterms:created>
  <dcterms:modified xsi:type="dcterms:W3CDTF">2026-04-14T09:01:48Z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