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64" r:id="rId2"/>
    <p:sldId id="256" r:id="rId3"/>
    <p:sldId id="257" r:id="rId4"/>
    <p:sldId id="258" r:id="rId5"/>
    <p:sldId id="282" r:id="rId6"/>
    <p:sldId id="283" r:id="rId7"/>
    <p:sldId id="284" r:id="rId8"/>
    <p:sldId id="285" r:id="rId9"/>
    <p:sldId id="286" r:id="rId10"/>
    <p:sldId id="259" r:id="rId11"/>
    <p:sldId id="260" r:id="rId12"/>
    <p:sldId id="265" r:id="rId13"/>
    <p:sldId id="261" r:id="rId14"/>
    <p:sldId id="262" r:id="rId15"/>
    <p:sldId id="263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9.svg"/><Relationship Id="rId1" Type="http://schemas.openxmlformats.org/officeDocument/2006/relationships/image" Target="../media/image2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9.svg"/><Relationship Id="rId1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F92DD7-4A21-4224-A253-7706C601BC1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55B2214-CAA8-4C2A-81E2-76DAE48ECD06}" type="pres">
      <dgm:prSet presAssocID="{F4F92DD7-4A21-4224-A253-7706C601BC1D}" presName="root" presStyleCnt="0">
        <dgm:presLayoutVars>
          <dgm:dir/>
          <dgm:resizeHandles val="exact"/>
        </dgm:presLayoutVars>
      </dgm:prSet>
      <dgm:spPr/>
    </dgm:pt>
  </dgm:ptLst>
  <dgm:cxnLst>
    <dgm:cxn modelId="{F4DDD82C-D732-4A0D-BD53-6A57C9DE2AE2}" type="presOf" srcId="{F4F92DD7-4A21-4224-A253-7706C601BC1D}" destId="{855B2214-CAA8-4C2A-81E2-76DAE48ECD06}" srcOrd="0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8D77E2-BF42-4136-A5BC-9B0B960FD73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A55B4A-4F96-4D81-B986-4350A02F5D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Avoid wars and conflicts</a:t>
          </a:r>
        </a:p>
      </dgm:t>
    </dgm:pt>
    <dgm:pt modelId="{5B9C73B7-25DA-43E5-A9F4-3DB22A958AAD}" type="parTrans" cxnId="{50A9619B-7786-4C50-ACCE-449A477F652E}">
      <dgm:prSet/>
      <dgm:spPr/>
      <dgm:t>
        <a:bodyPr/>
        <a:lstStyle/>
        <a:p>
          <a:endParaRPr lang="en-US"/>
        </a:p>
      </dgm:t>
    </dgm:pt>
    <dgm:pt modelId="{068A15B5-F3C1-44E3-BECD-78F456483472}" type="sibTrans" cxnId="{50A9619B-7786-4C50-ACCE-449A477F652E}">
      <dgm:prSet/>
      <dgm:spPr/>
      <dgm:t>
        <a:bodyPr/>
        <a:lstStyle/>
        <a:p>
          <a:endParaRPr lang="en-US"/>
        </a:p>
      </dgm:t>
    </dgm:pt>
    <dgm:pt modelId="{BFBCE968-AC35-4C25-97A8-710F190EB1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Promote dialogue and negotiations</a:t>
          </a:r>
        </a:p>
      </dgm:t>
    </dgm:pt>
    <dgm:pt modelId="{04DA77A6-D7AD-4230-AB03-DFD77CC718A5}" type="parTrans" cxnId="{DAF26DEA-EB25-49FA-88B0-24B684E4A31A}">
      <dgm:prSet/>
      <dgm:spPr/>
      <dgm:t>
        <a:bodyPr/>
        <a:lstStyle/>
        <a:p>
          <a:endParaRPr lang="en-US"/>
        </a:p>
      </dgm:t>
    </dgm:pt>
    <dgm:pt modelId="{FA4E2AA7-7548-4728-B0C9-4B961EF3038B}" type="sibTrans" cxnId="{DAF26DEA-EB25-49FA-88B0-24B684E4A31A}">
      <dgm:prSet/>
      <dgm:spPr/>
      <dgm:t>
        <a:bodyPr/>
        <a:lstStyle/>
        <a:p>
          <a:endParaRPr lang="en-US"/>
        </a:p>
      </dgm:t>
    </dgm:pt>
    <dgm:pt modelId="{2C454DA7-6CEB-4926-899E-FE3302AB1B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 peaceful resolution of disputes</a:t>
          </a:r>
        </a:p>
      </dgm:t>
    </dgm:pt>
    <dgm:pt modelId="{085492B6-73B9-4A91-8FA6-4274CEF77E29}" type="parTrans" cxnId="{84DF4B90-1F6A-45C8-B25B-233DE7103796}">
      <dgm:prSet/>
      <dgm:spPr/>
      <dgm:t>
        <a:bodyPr/>
        <a:lstStyle/>
        <a:p>
          <a:endParaRPr lang="en-US"/>
        </a:p>
      </dgm:t>
    </dgm:pt>
    <dgm:pt modelId="{C907949A-E993-4420-891F-E4829202996B}" type="sibTrans" cxnId="{84DF4B90-1F6A-45C8-B25B-233DE7103796}">
      <dgm:prSet/>
      <dgm:spPr/>
      <dgm:t>
        <a:bodyPr/>
        <a:lstStyle/>
        <a:p>
          <a:endParaRPr lang="en-US"/>
        </a:p>
      </dgm:t>
    </dgm:pt>
    <dgm:pt modelId="{9FB8546B-D42D-4E8F-9EFE-E1510874BD3E}" type="pres">
      <dgm:prSet presAssocID="{B58D77E2-BF42-4136-A5BC-9B0B960FD731}" presName="root" presStyleCnt="0">
        <dgm:presLayoutVars>
          <dgm:dir/>
          <dgm:resizeHandles val="exact"/>
        </dgm:presLayoutVars>
      </dgm:prSet>
      <dgm:spPr/>
    </dgm:pt>
    <dgm:pt modelId="{5651B7B3-4A51-4054-9DD9-E9F13D6671A1}" type="pres">
      <dgm:prSet presAssocID="{67A55B4A-4F96-4D81-B986-4350A02F5D66}" presName="compNode" presStyleCnt="0"/>
      <dgm:spPr/>
    </dgm:pt>
    <dgm:pt modelId="{3D902BA7-B5EB-47C8-AC6F-7773A1FA3B8E}" type="pres">
      <dgm:prSet presAssocID="{67A55B4A-4F96-4D81-B986-4350A02F5D66}" presName="bgRect" presStyleLbl="bgShp" presStyleIdx="0" presStyleCnt="3"/>
      <dgm:spPr/>
    </dgm:pt>
    <dgm:pt modelId="{20AF6BE0-3019-41D0-941D-C91D45AF847A}" type="pres">
      <dgm:prSet presAssocID="{67A55B4A-4F96-4D81-B986-4350A02F5D6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4B98674A-0321-4CC2-9672-006DF58C43DF}" type="pres">
      <dgm:prSet presAssocID="{67A55B4A-4F96-4D81-B986-4350A02F5D66}" presName="spaceRect" presStyleCnt="0"/>
      <dgm:spPr/>
    </dgm:pt>
    <dgm:pt modelId="{621E8C92-22FA-4974-9038-D213B42704F6}" type="pres">
      <dgm:prSet presAssocID="{67A55B4A-4F96-4D81-B986-4350A02F5D66}" presName="parTx" presStyleLbl="revTx" presStyleIdx="0" presStyleCnt="3">
        <dgm:presLayoutVars>
          <dgm:chMax val="0"/>
          <dgm:chPref val="0"/>
        </dgm:presLayoutVars>
      </dgm:prSet>
      <dgm:spPr/>
    </dgm:pt>
    <dgm:pt modelId="{C892AA0A-1A5A-432E-8B1D-055B978E4292}" type="pres">
      <dgm:prSet presAssocID="{068A15B5-F3C1-44E3-BECD-78F456483472}" presName="sibTrans" presStyleCnt="0"/>
      <dgm:spPr/>
    </dgm:pt>
    <dgm:pt modelId="{8A4051E9-EB49-4F53-B91B-6BD823F575C5}" type="pres">
      <dgm:prSet presAssocID="{BFBCE968-AC35-4C25-97A8-710F190EB16D}" presName="compNode" presStyleCnt="0"/>
      <dgm:spPr/>
    </dgm:pt>
    <dgm:pt modelId="{2135DCE8-B3AD-47BB-BC39-1510134B9602}" type="pres">
      <dgm:prSet presAssocID="{BFBCE968-AC35-4C25-97A8-710F190EB16D}" presName="bgRect" presStyleLbl="bgShp" presStyleIdx="1" presStyleCnt="3"/>
      <dgm:spPr/>
    </dgm:pt>
    <dgm:pt modelId="{EFA5F9E9-725D-4781-B53F-E2D8BD8B598D}" type="pres">
      <dgm:prSet presAssocID="{BFBCE968-AC35-4C25-97A8-710F190EB16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FFD05656-9C11-42B7-B3C0-2A7B15B95872}" type="pres">
      <dgm:prSet presAssocID="{BFBCE968-AC35-4C25-97A8-710F190EB16D}" presName="spaceRect" presStyleCnt="0"/>
      <dgm:spPr/>
    </dgm:pt>
    <dgm:pt modelId="{EF1B6FD7-B7FF-4E94-92BC-BB09F39BE0EF}" type="pres">
      <dgm:prSet presAssocID="{BFBCE968-AC35-4C25-97A8-710F190EB16D}" presName="parTx" presStyleLbl="revTx" presStyleIdx="1" presStyleCnt="3">
        <dgm:presLayoutVars>
          <dgm:chMax val="0"/>
          <dgm:chPref val="0"/>
        </dgm:presLayoutVars>
      </dgm:prSet>
      <dgm:spPr/>
    </dgm:pt>
    <dgm:pt modelId="{B794BC63-EDE0-436D-B645-74B616EA681A}" type="pres">
      <dgm:prSet presAssocID="{FA4E2AA7-7548-4728-B0C9-4B961EF3038B}" presName="sibTrans" presStyleCnt="0"/>
      <dgm:spPr/>
    </dgm:pt>
    <dgm:pt modelId="{4EDEF194-292E-4590-A7D0-CCD68FE10F1C}" type="pres">
      <dgm:prSet presAssocID="{2C454DA7-6CEB-4926-899E-FE3302AB1B5B}" presName="compNode" presStyleCnt="0"/>
      <dgm:spPr/>
    </dgm:pt>
    <dgm:pt modelId="{7CE8C311-CE80-4A7E-A1FF-25E302986A77}" type="pres">
      <dgm:prSet presAssocID="{2C454DA7-6CEB-4926-899E-FE3302AB1B5B}" presName="bgRect" presStyleLbl="bgShp" presStyleIdx="2" presStyleCnt="3"/>
      <dgm:spPr/>
    </dgm:pt>
    <dgm:pt modelId="{1BF915EE-FCC8-4BCD-9F1D-F60B3F7E9F06}" type="pres">
      <dgm:prSet presAssocID="{2C454DA7-6CEB-4926-899E-FE3302AB1B5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04DFE2CB-F89A-4419-B0B7-BAA37FFA6960}" type="pres">
      <dgm:prSet presAssocID="{2C454DA7-6CEB-4926-899E-FE3302AB1B5B}" presName="spaceRect" presStyleCnt="0"/>
      <dgm:spPr/>
    </dgm:pt>
    <dgm:pt modelId="{E8DA2622-6C41-45E9-93D3-F2F4AE08C2F9}" type="pres">
      <dgm:prSet presAssocID="{2C454DA7-6CEB-4926-899E-FE3302AB1B5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73DFE4B-1A38-41B2-AB1B-0652D735436D}" type="presOf" srcId="{B58D77E2-BF42-4136-A5BC-9B0B960FD731}" destId="{9FB8546B-D42D-4E8F-9EFE-E1510874BD3E}" srcOrd="0" destOrd="0" presId="urn:microsoft.com/office/officeart/2018/2/layout/IconVerticalSolidList"/>
    <dgm:cxn modelId="{857C5980-97F7-4BBD-8525-ADD8382052DB}" type="presOf" srcId="{2C454DA7-6CEB-4926-899E-FE3302AB1B5B}" destId="{E8DA2622-6C41-45E9-93D3-F2F4AE08C2F9}" srcOrd="0" destOrd="0" presId="urn:microsoft.com/office/officeart/2018/2/layout/IconVerticalSolidList"/>
    <dgm:cxn modelId="{84DF4B90-1F6A-45C8-B25B-233DE7103796}" srcId="{B58D77E2-BF42-4136-A5BC-9B0B960FD731}" destId="{2C454DA7-6CEB-4926-899E-FE3302AB1B5B}" srcOrd="2" destOrd="0" parTransId="{085492B6-73B9-4A91-8FA6-4274CEF77E29}" sibTransId="{C907949A-E993-4420-891F-E4829202996B}"/>
    <dgm:cxn modelId="{DA7FF797-EF67-4C3E-BC6A-8991A1774DED}" type="presOf" srcId="{BFBCE968-AC35-4C25-97A8-710F190EB16D}" destId="{EF1B6FD7-B7FF-4E94-92BC-BB09F39BE0EF}" srcOrd="0" destOrd="0" presId="urn:microsoft.com/office/officeart/2018/2/layout/IconVerticalSolidList"/>
    <dgm:cxn modelId="{50A9619B-7786-4C50-ACCE-449A477F652E}" srcId="{B58D77E2-BF42-4136-A5BC-9B0B960FD731}" destId="{67A55B4A-4F96-4D81-B986-4350A02F5D66}" srcOrd="0" destOrd="0" parTransId="{5B9C73B7-25DA-43E5-A9F4-3DB22A958AAD}" sibTransId="{068A15B5-F3C1-44E3-BECD-78F456483472}"/>
    <dgm:cxn modelId="{DAF26DEA-EB25-49FA-88B0-24B684E4A31A}" srcId="{B58D77E2-BF42-4136-A5BC-9B0B960FD731}" destId="{BFBCE968-AC35-4C25-97A8-710F190EB16D}" srcOrd="1" destOrd="0" parTransId="{04DA77A6-D7AD-4230-AB03-DFD77CC718A5}" sibTransId="{FA4E2AA7-7548-4728-B0C9-4B961EF3038B}"/>
    <dgm:cxn modelId="{2C390DFD-D0A4-4713-8522-A9056A13BF93}" type="presOf" srcId="{67A55B4A-4F96-4D81-B986-4350A02F5D66}" destId="{621E8C92-22FA-4974-9038-D213B42704F6}" srcOrd="0" destOrd="0" presId="urn:microsoft.com/office/officeart/2018/2/layout/IconVerticalSolidList"/>
    <dgm:cxn modelId="{19BBB51F-2E19-4B67-9AA9-B09367825871}" type="presParOf" srcId="{9FB8546B-D42D-4E8F-9EFE-E1510874BD3E}" destId="{5651B7B3-4A51-4054-9DD9-E9F13D6671A1}" srcOrd="0" destOrd="0" presId="urn:microsoft.com/office/officeart/2018/2/layout/IconVerticalSolidList"/>
    <dgm:cxn modelId="{A2F73212-7B47-40B9-8370-D69983A83660}" type="presParOf" srcId="{5651B7B3-4A51-4054-9DD9-E9F13D6671A1}" destId="{3D902BA7-B5EB-47C8-AC6F-7773A1FA3B8E}" srcOrd="0" destOrd="0" presId="urn:microsoft.com/office/officeart/2018/2/layout/IconVerticalSolidList"/>
    <dgm:cxn modelId="{58D3784E-B590-4171-BA15-EDCD5CA62841}" type="presParOf" srcId="{5651B7B3-4A51-4054-9DD9-E9F13D6671A1}" destId="{20AF6BE0-3019-41D0-941D-C91D45AF847A}" srcOrd="1" destOrd="0" presId="urn:microsoft.com/office/officeart/2018/2/layout/IconVerticalSolidList"/>
    <dgm:cxn modelId="{6A6B0FEF-1AA2-4FBB-87D6-7240A8B26523}" type="presParOf" srcId="{5651B7B3-4A51-4054-9DD9-E9F13D6671A1}" destId="{4B98674A-0321-4CC2-9672-006DF58C43DF}" srcOrd="2" destOrd="0" presId="urn:microsoft.com/office/officeart/2018/2/layout/IconVerticalSolidList"/>
    <dgm:cxn modelId="{90821D8D-B10B-4E4D-A8E0-BC153019D18A}" type="presParOf" srcId="{5651B7B3-4A51-4054-9DD9-E9F13D6671A1}" destId="{621E8C92-22FA-4974-9038-D213B42704F6}" srcOrd="3" destOrd="0" presId="urn:microsoft.com/office/officeart/2018/2/layout/IconVerticalSolidList"/>
    <dgm:cxn modelId="{D828E08A-8492-4D4A-B7A3-9B027A5CD8F2}" type="presParOf" srcId="{9FB8546B-D42D-4E8F-9EFE-E1510874BD3E}" destId="{C892AA0A-1A5A-432E-8B1D-055B978E4292}" srcOrd="1" destOrd="0" presId="urn:microsoft.com/office/officeart/2018/2/layout/IconVerticalSolidList"/>
    <dgm:cxn modelId="{80A2DD32-48C4-4133-B810-3B83EB79B40E}" type="presParOf" srcId="{9FB8546B-D42D-4E8F-9EFE-E1510874BD3E}" destId="{8A4051E9-EB49-4F53-B91B-6BD823F575C5}" srcOrd="2" destOrd="0" presId="urn:microsoft.com/office/officeart/2018/2/layout/IconVerticalSolidList"/>
    <dgm:cxn modelId="{2089AF09-93FA-4CB3-97C2-0601E77AA4ED}" type="presParOf" srcId="{8A4051E9-EB49-4F53-B91B-6BD823F575C5}" destId="{2135DCE8-B3AD-47BB-BC39-1510134B9602}" srcOrd="0" destOrd="0" presId="urn:microsoft.com/office/officeart/2018/2/layout/IconVerticalSolidList"/>
    <dgm:cxn modelId="{2D84C09C-47AF-45AC-B577-8389B8E4C85C}" type="presParOf" srcId="{8A4051E9-EB49-4F53-B91B-6BD823F575C5}" destId="{EFA5F9E9-725D-4781-B53F-E2D8BD8B598D}" srcOrd="1" destOrd="0" presId="urn:microsoft.com/office/officeart/2018/2/layout/IconVerticalSolidList"/>
    <dgm:cxn modelId="{F8738432-5C7A-4813-B07B-DB2C20CD4795}" type="presParOf" srcId="{8A4051E9-EB49-4F53-B91B-6BD823F575C5}" destId="{FFD05656-9C11-42B7-B3C0-2A7B15B95872}" srcOrd="2" destOrd="0" presId="urn:microsoft.com/office/officeart/2018/2/layout/IconVerticalSolidList"/>
    <dgm:cxn modelId="{ABCBF58C-B238-4257-9763-DE24A045F5E9}" type="presParOf" srcId="{8A4051E9-EB49-4F53-B91B-6BD823F575C5}" destId="{EF1B6FD7-B7FF-4E94-92BC-BB09F39BE0EF}" srcOrd="3" destOrd="0" presId="urn:microsoft.com/office/officeart/2018/2/layout/IconVerticalSolidList"/>
    <dgm:cxn modelId="{279A832D-5BAD-4809-A92A-C835EA31E776}" type="presParOf" srcId="{9FB8546B-D42D-4E8F-9EFE-E1510874BD3E}" destId="{B794BC63-EDE0-436D-B645-74B616EA681A}" srcOrd="3" destOrd="0" presId="urn:microsoft.com/office/officeart/2018/2/layout/IconVerticalSolidList"/>
    <dgm:cxn modelId="{807E34C9-245F-44C8-B382-C6DFA552CF56}" type="presParOf" srcId="{9FB8546B-D42D-4E8F-9EFE-E1510874BD3E}" destId="{4EDEF194-292E-4590-A7D0-CCD68FE10F1C}" srcOrd="4" destOrd="0" presId="urn:microsoft.com/office/officeart/2018/2/layout/IconVerticalSolidList"/>
    <dgm:cxn modelId="{C751463C-609A-47E7-A153-DDD15BB5B92F}" type="presParOf" srcId="{4EDEF194-292E-4590-A7D0-CCD68FE10F1C}" destId="{7CE8C311-CE80-4A7E-A1FF-25E302986A77}" srcOrd="0" destOrd="0" presId="urn:microsoft.com/office/officeart/2018/2/layout/IconVerticalSolidList"/>
    <dgm:cxn modelId="{793F7449-9242-4256-B5D6-1ADF987D55B1}" type="presParOf" srcId="{4EDEF194-292E-4590-A7D0-CCD68FE10F1C}" destId="{1BF915EE-FCC8-4BCD-9F1D-F60B3F7E9F06}" srcOrd="1" destOrd="0" presId="urn:microsoft.com/office/officeart/2018/2/layout/IconVerticalSolidList"/>
    <dgm:cxn modelId="{CD9524F9-9674-4B70-BB2F-A0A206C5B889}" type="presParOf" srcId="{4EDEF194-292E-4590-A7D0-CCD68FE10F1C}" destId="{04DFE2CB-F89A-4419-B0B7-BAA37FFA6960}" srcOrd="2" destOrd="0" presId="urn:microsoft.com/office/officeart/2018/2/layout/IconVerticalSolidList"/>
    <dgm:cxn modelId="{2515A530-250B-41A8-BD72-28F5E158ABA5}" type="presParOf" srcId="{4EDEF194-292E-4590-A7D0-CCD68FE10F1C}" destId="{E8DA2622-6C41-45E9-93D3-F2F4AE08C2F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8624EB-4114-4650-98E4-CE16A307DD90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2D9AACF-485D-44B4-A80F-E2FACAE82998}">
      <dgm:prSet/>
      <dgm:spPr/>
      <dgm:t>
        <a:bodyPr/>
        <a:lstStyle/>
        <a:p>
          <a:r>
            <a:rPr lang="en-US" dirty="0"/>
            <a:t>Pakistan maintains relations with many countries based on political, economic, and strategic interests.</a:t>
          </a:r>
        </a:p>
      </dgm:t>
    </dgm:pt>
    <dgm:pt modelId="{47D0F8D9-1E5B-469A-9F88-815823B42C0A}" type="parTrans" cxnId="{49A2A6A0-B02F-4061-9237-0D34D49D6843}">
      <dgm:prSet/>
      <dgm:spPr/>
      <dgm:t>
        <a:bodyPr/>
        <a:lstStyle/>
        <a:p>
          <a:endParaRPr lang="en-US"/>
        </a:p>
      </dgm:t>
    </dgm:pt>
    <dgm:pt modelId="{385B0F8C-153B-42ED-BDE1-452AB178560C}" type="sibTrans" cxnId="{49A2A6A0-B02F-4061-9237-0D34D49D6843}">
      <dgm:prSet/>
      <dgm:spPr/>
      <dgm:t>
        <a:bodyPr/>
        <a:lstStyle/>
        <a:p>
          <a:endParaRPr lang="en-US"/>
        </a:p>
      </dgm:t>
    </dgm:pt>
    <dgm:pt modelId="{57CCCCC3-CDDC-4A91-812C-CCB30D812116}">
      <dgm:prSet/>
      <dgm:spPr/>
      <dgm:t>
        <a:bodyPr/>
        <a:lstStyle/>
        <a:p>
          <a:r>
            <a:rPr lang="en-US" dirty="0"/>
            <a:t>These relations help Pakistan gain support, trade opportunities, and security cooperation.</a:t>
          </a:r>
        </a:p>
      </dgm:t>
    </dgm:pt>
    <dgm:pt modelId="{2CFE4BEC-AE30-42B7-83B5-E9DACD10F915}" type="parTrans" cxnId="{B7CDEDC6-297C-4CF2-8E73-E466B97C5593}">
      <dgm:prSet/>
      <dgm:spPr/>
      <dgm:t>
        <a:bodyPr/>
        <a:lstStyle/>
        <a:p>
          <a:endParaRPr lang="en-US"/>
        </a:p>
      </dgm:t>
    </dgm:pt>
    <dgm:pt modelId="{CCAB05EF-DC30-4CA9-ABD9-B8A7D5263839}" type="sibTrans" cxnId="{B7CDEDC6-297C-4CF2-8E73-E466B97C5593}">
      <dgm:prSet/>
      <dgm:spPr/>
      <dgm:t>
        <a:bodyPr/>
        <a:lstStyle/>
        <a:p>
          <a:endParaRPr lang="en-US"/>
        </a:p>
      </dgm:t>
    </dgm:pt>
    <dgm:pt modelId="{0980E85E-D928-44DE-A6FD-FB6C7DC1B7E7}" type="pres">
      <dgm:prSet presAssocID="{1D8624EB-4114-4650-98E4-CE16A307DD90}" presName="vert0" presStyleCnt="0">
        <dgm:presLayoutVars>
          <dgm:dir/>
          <dgm:animOne val="branch"/>
          <dgm:animLvl val="lvl"/>
        </dgm:presLayoutVars>
      </dgm:prSet>
      <dgm:spPr/>
    </dgm:pt>
    <dgm:pt modelId="{CBB5B659-1260-4624-8C10-D9F96DE662F7}" type="pres">
      <dgm:prSet presAssocID="{82D9AACF-485D-44B4-A80F-E2FACAE82998}" presName="thickLine" presStyleLbl="alignNode1" presStyleIdx="0" presStyleCnt="2"/>
      <dgm:spPr/>
    </dgm:pt>
    <dgm:pt modelId="{698570AB-78DC-4FE7-B445-C25243109183}" type="pres">
      <dgm:prSet presAssocID="{82D9AACF-485D-44B4-A80F-E2FACAE82998}" presName="horz1" presStyleCnt="0"/>
      <dgm:spPr/>
    </dgm:pt>
    <dgm:pt modelId="{42B9BAD8-6BC1-42D1-86DC-320B44579410}" type="pres">
      <dgm:prSet presAssocID="{82D9AACF-485D-44B4-A80F-E2FACAE82998}" presName="tx1" presStyleLbl="revTx" presStyleIdx="0" presStyleCnt="2"/>
      <dgm:spPr/>
    </dgm:pt>
    <dgm:pt modelId="{B1D34092-ED9E-4F60-BBF0-39CB79C5E07E}" type="pres">
      <dgm:prSet presAssocID="{82D9AACF-485D-44B4-A80F-E2FACAE82998}" presName="vert1" presStyleCnt="0"/>
      <dgm:spPr/>
    </dgm:pt>
    <dgm:pt modelId="{51E270EA-6FF1-46BB-A4CF-99017E62A29C}" type="pres">
      <dgm:prSet presAssocID="{57CCCCC3-CDDC-4A91-812C-CCB30D812116}" presName="thickLine" presStyleLbl="alignNode1" presStyleIdx="1" presStyleCnt="2"/>
      <dgm:spPr/>
    </dgm:pt>
    <dgm:pt modelId="{D4B43756-6699-4420-9FE0-7F3BB5F03915}" type="pres">
      <dgm:prSet presAssocID="{57CCCCC3-CDDC-4A91-812C-CCB30D812116}" presName="horz1" presStyleCnt="0"/>
      <dgm:spPr/>
    </dgm:pt>
    <dgm:pt modelId="{B32AD086-0E81-4DEE-83DB-61779907CAB7}" type="pres">
      <dgm:prSet presAssocID="{57CCCCC3-CDDC-4A91-812C-CCB30D812116}" presName="tx1" presStyleLbl="revTx" presStyleIdx="1" presStyleCnt="2"/>
      <dgm:spPr/>
    </dgm:pt>
    <dgm:pt modelId="{151CE393-3CED-4B52-8219-0D76300D86A3}" type="pres">
      <dgm:prSet presAssocID="{57CCCCC3-CDDC-4A91-812C-CCB30D812116}" presName="vert1" presStyleCnt="0"/>
      <dgm:spPr/>
    </dgm:pt>
  </dgm:ptLst>
  <dgm:cxnLst>
    <dgm:cxn modelId="{29D62D06-67F0-41CE-B753-D3361ED675CB}" type="presOf" srcId="{82D9AACF-485D-44B4-A80F-E2FACAE82998}" destId="{42B9BAD8-6BC1-42D1-86DC-320B44579410}" srcOrd="0" destOrd="0" presId="urn:microsoft.com/office/officeart/2008/layout/LinedList"/>
    <dgm:cxn modelId="{602D599D-36BE-4C9A-9138-38F5FCA1AE32}" type="presOf" srcId="{57CCCCC3-CDDC-4A91-812C-CCB30D812116}" destId="{B32AD086-0E81-4DEE-83DB-61779907CAB7}" srcOrd="0" destOrd="0" presId="urn:microsoft.com/office/officeart/2008/layout/LinedList"/>
    <dgm:cxn modelId="{49A2A6A0-B02F-4061-9237-0D34D49D6843}" srcId="{1D8624EB-4114-4650-98E4-CE16A307DD90}" destId="{82D9AACF-485D-44B4-A80F-E2FACAE82998}" srcOrd="0" destOrd="0" parTransId="{47D0F8D9-1E5B-469A-9F88-815823B42C0A}" sibTransId="{385B0F8C-153B-42ED-BDE1-452AB178560C}"/>
    <dgm:cxn modelId="{E24DB2C6-A654-4E64-825C-C80C0FBE6462}" type="presOf" srcId="{1D8624EB-4114-4650-98E4-CE16A307DD90}" destId="{0980E85E-D928-44DE-A6FD-FB6C7DC1B7E7}" srcOrd="0" destOrd="0" presId="urn:microsoft.com/office/officeart/2008/layout/LinedList"/>
    <dgm:cxn modelId="{B7CDEDC6-297C-4CF2-8E73-E466B97C5593}" srcId="{1D8624EB-4114-4650-98E4-CE16A307DD90}" destId="{57CCCCC3-CDDC-4A91-812C-CCB30D812116}" srcOrd="1" destOrd="0" parTransId="{2CFE4BEC-AE30-42B7-83B5-E9DACD10F915}" sibTransId="{CCAB05EF-DC30-4CA9-ABD9-B8A7D5263839}"/>
    <dgm:cxn modelId="{9764F1B3-AE25-4207-8226-16D4814B741B}" type="presParOf" srcId="{0980E85E-D928-44DE-A6FD-FB6C7DC1B7E7}" destId="{CBB5B659-1260-4624-8C10-D9F96DE662F7}" srcOrd="0" destOrd="0" presId="urn:microsoft.com/office/officeart/2008/layout/LinedList"/>
    <dgm:cxn modelId="{63AC748A-6834-49E8-B5E9-4946B80ED81D}" type="presParOf" srcId="{0980E85E-D928-44DE-A6FD-FB6C7DC1B7E7}" destId="{698570AB-78DC-4FE7-B445-C25243109183}" srcOrd="1" destOrd="0" presId="urn:microsoft.com/office/officeart/2008/layout/LinedList"/>
    <dgm:cxn modelId="{A789D468-F0FD-4E9A-80CC-F51FC24CE7BC}" type="presParOf" srcId="{698570AB-78DC-4FE7-B445-C25243109183}" destId="{42B9BAD8-6BC1-42D1-86DC-320B44579410}" srcOrd="0" destOrd="0" presId="urn:microsoft.com/office/officeart/2008/layout/LinedList"/>
    <dgm:cxn modelId="{3E137650-F446-40FA-AC57-B9468B420E8B}" type="presParOf" srcId="{698570AB-78DC-4FE7-B445-C25243109183}" destId="{B1D34092-ED9E-4F60-BBF0-39CB79C5E07E}" srcOrd="1" destOrd="0" presId="urn:microsoft.com/office/officeart/2008/layout/LinedList"/>
    <dgm:cxn modelId="{1248326F-80B7-4EE8-81A9-3D033A1956E5}" type="presParOf" srcId="{0980E85E-D928-44DE-A6FD-FB6C7DC1B7E7}" destId="{51E270EA-6FF1-46BB-A4CF-99017E62A29C}" srcOrd="2" destOrd="0" presId="urn:microsoft.com/office/officeart/2008/layout/LinedList"/>
    <dgm:cxn modelId="{5D151612-22C1-49B3-9225-FD26673F9826}" type="presParOf" srcId="{0980E85E-D928-44DE-A6FD-FB6C7DC1B7E7}" destId="{D4B43756-6699-4420-9FE0-7F3BB5F03915}" srcOrd="3" destOrd="0" presId="urn:microsoft.com/office/officeart/2008/layout/LinedList"/>
    <dgm:cxn modelId="{D79A9BB3-3576-4421-9B79-7998792C33E5}" type="presParOf" srcId="{D4B43756-6699-4420-9FE0-7F3BB5F03915}" destId="{B32AD086-0E81-4DEE-83DB-61779907CAB7}" srcOrd="0" destOrd="0" presId="urn:microsoft.com/office/officeart/2008/layout/LinedList"/>
    <dgm:cxn modelId="{1B409617-B0D6-44CF-B2EA-A1F04870A43F}" type="presParOf" srcId="{D4B43756-6699-4420-9FE0-7F3BB5F03915}" destId="{151CE393-3CED-4B52-8219-0D76300D86A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62F05BB-CD97-4142-BB51-35BEAD08EE3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401F82-B939-489C-ADFF-3A54CBBAC4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Reliance on loans and international support</a:t>
          </a:r>
        </a:p>
      </dgm:t>
    </dgm:pt>
    <dgm:pt modelId="{2FEC5F97-821E-48C7-9B6E-8CEE311512D9}" type="parTrans" cxnId="{A64ABC92-E2F1-4509-8FCB-1BF7F1F9266D}">
      <dgm:prSet/>
      <dgm:spPr/>
      <dgm:t>
        <a:bodyPr/>
        <a:lstStyle/>
        <a:p>
          <a:endParaRPr lang="en-US"/>
        </a:p>
      </dgm:t>
    </dgm:pt>
    <dgm:pt modelId="{0EA2B5F3-6BE8-4BCC-9424-53C671906E62}" type="sibTrans" cxnId="{A64ABC92-E2F1-4509-8FCB-1BF7F1F9266D}">
      <dgm:prSet/>
      <dgm:spPr/>
      <dgm:t>
        <a:bodyPr/>
        <a:lstStyle/>
        <a:p>
          <a:endParaRPr lang="en-US"/>
        </a:p>
      </dgm:t>
    </dgm:pt>
    <dgm:pt modelId="{85B549F6-C7FA-453D-B264-80B13C0D2C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Limits independent foreign policy decisions</a:t>
          </a:r>
        </a:p>
      </dgm:t>
    </dgm:pt>
    <dgm:pt modelId="{1FE1A48A-8445-4B08-87F6-C6E87D3B19B9}" type="parTrans" cxnId="{27953C1D-4F01-4030-A0EF-D8780C59E582}">
      <dgm:prSet/>
      <dgm:spPr/>
      <dgm:t>
        <a:bodyPr/>
        <a:lstStyle/>
        <a:p>
          <a:endParaRPr lang="en-US"/>
        </a:p>
      </dgm:t>
    </dgm:pt>
    <dgm:pt modelId="{9D246F7C-F517-467F-A278-908F43D92AF6}" type="sibTrans" cxnId="{27953C1D-4F01-4030-A0EF-D8780C59E582}">
      <dgm:prSet/>
      <dgm:spPr/>
      <dgm:t>
        <a:bodyPr/>
        <a:lstStyle/>
        <a:p>
          <a:endParaRPr lang="en-US"/>
        </a:p>
      </dgm:t>
    </dgm:pt>
    <dgm:pt modelId="{571B83DE-4F62-42A1-A483-3852D1E2ADF3}" type="pres">
      <dgm:prSet presAssocID="{962F05BB-CD97-4142-BB51-35BEAD08EE33}" presName="root" presStyleCnt="0">
        <dgm:presLayoutVars>
          <dgm:dir/>
          <dgm:resizeHandles val="exact"/>
        </dgm:presLayoutVars>
      </dgm:prSet>
      <dgm:spPr/>
    </dgm:pt>
    <dgm:pt modelId="{26D7FCCA-9427-4178-BB3D-777B41FAD8D7}" type="pres">
      <dgm:prSet presAssocID="{FB401F82-B939-489C-ADFF-3A54CBBAC401}" presName="compNode" presStyleCnt="0"/>
      <dgm:spPr/>
    </dgm:pt>
    <dgm:pt modelId="{02E166E7-CF20-48DF-A543-897C64D6CDB5}" type="pres">
      <dgm:prSet presAssocID="{FB401F82-B939-489C-ADFF-3A54CBBAC40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B71A5D88-9913-4E94-A116-56390B1798CF}" type="pres">
      <dgm:prSet presAssocID="{FB401F82-B939-489C-ADFF-3A54CBBAC401}" presName="spaceRect" presStyleCnt="0"/>
      <dgm:spPr/>
    </dgm:pt>
    <dgm:pt modelId="{B19ECC9A-C852-4DAD-9DC7-2C37CB0FD1A5}" type="pres">
      <dgm:prSet presAssocID="{FB401F82-B939-489C-ADFF-3A54CBBAC401}" presName="textRect" presStyleLbl="revTx" presStyleIdx="0" presStyleCnt="2">
        <dgm:presLayoutVars>
          <dgm:chMax val="1"/>
          <dgm:chPref val="1"/>
        </dgm:presLayoutVars>
      </dgm:prSet>
      <dgm:spPr/>
    </dgm:pt>
    <dgm:pt modelId="{F494ADA0-EA4F-45F1-AFD8-19A021080227}" type="pres">
      <dgm:prSet presAssocID="{0EA2B5F3-6BE8-4BCC-9424-53C671906E62}" presName="sibTrans" presStyleCnt="0"/>
      <dgm:spPr/>
    </dgm:pt>
    <dgm:pt modelId="{4E10DFFA-6BC9-4322-BCF8-C1E3DE5BE423}" type="pres">
      <dgm:prSet presAssocID="{85B549F6-C7FA-453D-B264-80B13C0D2C05}" presName="compNode" presStyleCnt="0"/>
      <dgm:spPr/>
    </dgm:pt>
    <dgm:pt modelId="{2FB08894-EB77-4A53-A016-CBC2BF069DC7}" type="pres">
      <dgm:prSet presAssocID="{85B549F6-C7FA-453D-B264-80B13C0D2C05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23954577-4CBF-4044-B8DE-54E25086F618}" type="pres">
      <dgm:prSet presAssocID="{85B549F6-C7FA-453D-B264-80B13C0D2C05}" presName="spaceRect" presStyleCnt="0"/>
      <dgm:spPr/>
    </dgm:pt>
    <dgm:pt modelId="{205C06CD-37A3-4ECE-B45D-307F77735527}" type="pres">
      <dgm:prSet presAssocID="{85B549F6-C7FA-453D-B264-80B13C0D2C0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7953C1D-4F01-4030-A0EF-D8780C59E582}" srcId="{962F05BB-CD97-4142-BB51-35BEAD08EE33}" destId="{85B549F6-C7FA-453D-B264-80B13C0D2C05}" srcOrd="1" destOrd="0" parTransId="{1FE1A48A-8445-4B08-87F6-C6E87D3B19B9}" sibTransId="{9D246F7C-F517-467F-A278-908F43D92AF6}"/>
    <dgm:cxn modelId="{12F7325A-4865-4313-9A8E-A0579DEE131C}" type="presOf" srcId="{FB401F82-B939-489C-ADFF-3A54CBBAC401}" destId="{B19ECC9A-C852-4DAD-9DC7-2C37CB0FD1A5}" srcOrd="0" destOrd="0" presId="urn:microsoft.com/office/officeart/2018/2/layout/IconLabelList"/>
    <dgm:cxn modelId="{2F9A8E7C-2D0C-4998-9ABA-E09A645BA78D}" type="presOf" srcId="{962F05BB-CD97-4142-BB51-35BEAD08EE33}" destId="{571B83DE-4F62-42A1-A483-3852D1E2ADF3}" srcOrd="0" destOrd="0" presId="urn:microsoft.com/office/officeart/2018/2/layout/IconLabelList"/>
    <dgm:cxn modelId="{A64ABC92-E2F1-4509-8FCB-1BF7F1F9266D}" srcId="{962F05BB-CD97-4142-BB51-35BEAD08EE33}" destId="{FB401F82-B939-489C-ADFF-3A54CBBAC401}" srcOrd="0" destOrd="0" parTransId="{2FEC5F97-821E-48C7-9B6E-8CEE311512D9}" sibTransId="{0EA2B5F3-6BE8-4BCC-9424-53C671906E62}"/>
    <dgm:cxn modelId="{1E44E69A-BA67-4560-8CE6-2EF38721F1E9}" type="presOf" srcId="{85B549F6-C7FA-453D-B264-80B13C0D2C05}" destId="{205C06CD-37A3-4ECE-B45D-307F77735527}" srcOrd="0" destOrd="0" presId="urn:microsoft.com/office/officeart/2018/2/layout/IconLabelList"/>
    <dgm:cxn modelId="{4EAD7FE8-E7D1-413B-8526-3710AAE5F4D2}" type="presParOf" srcId="{571B83DE-4F62-42A1-A483-3852D1E2ADF3}" destId="{26D7FCCA-9427-4178-BB3D-777B41FAD8D7}" srcOrd="0" destOrd="0" presId="urn:microsoft.com/office/officeart/2018/2/layout/IconLabelList"/>
    <dgm:cxn modelId="{7C890DA9-93B7-4EF5-85A5-7324AC7F5B3F}" type="presParOf" srcId="{26D7FCCA-9427-4178-BB3D-777B41FAD8D7}" destId="{02E166E7-CF20-48DF-A543-897C64D6CDB5}" srcOrd="0" destOrd="0" presId="urn:microsoft.com/office/officeart/2018/2/layout/IconLabelList"/>
    <dgm:cxn modelId="{63D158B7-00D3-46A4-8C76-3C0BE12A6491}" type="presParOf" srcId="{26D7FCCA-9427-4178-BB3D-777B41FAD8D7}" destId="{B71A5D88-9913-4E94-A116-56390B1798CF}" srcOrd="1" destOrd="0" presId="urn:microsoft.com/office/officeart/2018/2/layout/IconLabelList"/>
    <dgm:cxn modelId="{561E5BF6-AE31-464C-A8C5-490BE8AC194A}" type="presParOf" srcId="{26D7FCCA-9427-4178-BB3D-777B41FAD8D7}" destId="{B19ECC9A-C852-4DAD-9DC7-2C37CB0FD1A5}" srcOrd="2" destOrd="0" presId="urn:microsoft.com/office/officeart/2018/2/layout/IconLabelList"/>
    <dgm:cxn modelId="{99044972-5899-4B0B-AA3B-4B557D5BAEB8}" type="presParOf" srcId="{571B83DE-4F62-42A1-A483-3852D1E2ADF3}" destId="{F494ADA0-EA4F-45F1-AFD8-19A021080227}" srcOrd="1" destOrd="0" presId="urn:microsoft.com/office/officeart/2018/2/layout/IconLabelList"/>
    <dgm:cxn modelId="{64363A22-CFE7-4738-B784-DED6F0BA864B}" type="presParOf" srcId="{571B83DE-4F62-42A1-A483-3852D1E2ADF3}" destId="{4E10DFFA-6BC9-4322-BCF8-C1E3DE5BE423}" srcOrd="2" destOrd="0" presId="urn:microsoft.com/office/officeart/2018/2/layout/IconLabelList"/>
    <dgm:cxn modelId="{B1B7C8A8-9B05-449A-BB0B-8ADC4E72B26D}" type="presParOf" srcId="{4E10DFFA-6BC9-4322-BCF8-C1E3DE5BE423}" destId="{2FB08894-EB77-4A53-A016-CBC2BF069DC7}" srcOrd="0" destOrd="0" presId="urn:microsoft.com/office/officeart/2018/2/layout/IconLabelList"/>
    <dgm:cxn modelId="{1FB2E13D-2F6B-49D7-958F-B79479BA1787}" type="presParOf" srcId="{4E10DFFA-6BC9-4322-BCF8-C1E3DE5BE423}" destId="{23954577-4CBF-4044-B8DE-54E25086F618}" srcOrd="1" destOrd="0" presId="urn:microsoft.com/office/officeart/2018/2/layout/IconLabelList"/>
    <dgm:cxn modelId="{03FC9AD9-7FDA-44B7-9D96-03C04FD74CE2}" type="presParOf" srcId="{4E10DFFA-6BC9-4322-BCF8-C1E3DE5BE423}" destId="{205C06CD-37A3-4ECE-B45D-307F7773552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471AB09-7D51-4EBA-8325-48D80A6F6BE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135536-1700-414B-BD90-D2C4A303D9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Floods and climate disasters</a:t>
          </a:r>
        </a:p>
      </dgm:t>
    </dgm:pt>
    <dgm:pt modelId="{6FF5D942-7D9A-4196-90BE-15216C3B078C}" type="parTrans" cxnId="{1408F2B0-764E-401C-9AF9-2354CB1D16CB}">
      <dgm:prSet/>
      <dgm:spPr/>
      <dgm:t>
        <a:bodyPr/>
        <a:lstStyle/>
        <a:p>
          <a:endParaRPr lang="en-US"/>
        </a:p>
      </dgm:t>
    </dgm:pt>
    <dgm:pt modelId="{591B3DA5-5C32-4251-B44F-BCC8100E3544}" type="sibTrans" cxnId="{1408F2B0-764E-401C-9AF9-2354CB1D16CB}">
      <dgm:prSet/>
      <dgm:spPr/>
      <dgm:t>
        <a:bodyPr/>
        <a:lstStyle/>
        <a:p>
          <a:endParaRPr lang="en-US"/>
        </a:p>
      </dgm:t>
    </dgm:pt>
    <dgm:pt modelId="{DADE2728-6892-4594-8CBB-3A48A7A3E7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Need for global cooperation</a:t>
          </a:r>
        </a:p>
      </dgm:t>
    </dgm:pt>
    <dgm:pt modelId="{60B6B341-C832-4F84-B467-669BFE5FB828}" type="parTrans" cxnId="{8DCFE15E-E8FD-4F61-B9F3-C32589A6E2E6}">
      <dgm:prSet/>
      <dgm:spPr/>
      <dgm:t>
        <a:bodyPr/>
        <a:lstStyle/>
        <a:p>
          <a:endParaRPr lang="en-US"/>
        </a:p>
      </dgm:t>
    </dgm:pt>
    <dgm:pt modelId="{61714E58-8567-4D0E-8A79-097A5081AF24}" type="sibTrans" cxnId="{8DCFE15E-E8FD-4F61-B9F3-C32589A6E2E6}">
      <dgm:prSet/>
      <dgm:spPr/>
      <dgm:t>
        <a:bodyPr/>
        <a:lstStyle/>
        <a:p>
          <a:endParaRPr lang="en-US"/>
        </a:p>
      </dgm:t>
    </dgm:pt>
    <dgm:pt modelId="{13847621-161D-49C6-9789-B3CBA3EDEA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Affects foreign aid and international relations</a:t>
          </a:r>
        </a:p>
      </dgm:t>
    </dgm:pt>
    <dgm:pt modelId="{4E599B88-CA65-4524-9034-3ACD8B9D8F7D}" type="parTrans" cxnId="{5C627D0F-46EC-427C-8EB2-9E7D80B996CD}">
      <dgm:prSet/>
      <dgm:spPr/>
      <dgm:t>
        <a:bodyPr/>
        <a:lstStyle/>
        <a:p>
          <a:endParaRPr lang="en-US"/>
        </a:p>
      </dgm:t>
    </dgm:pt>
    <dgm:pt modelId="{6BC982E1-6609-48B9-A788-A5DB4FC145F6}" type="sibTrans" cxnId="{5C627D0F-46EC-427C-8EB2-9E7D80B996CD}">
      <dgm:prSet/>
      <dgm:spPr/>
      <dgm:t>
        <a:bodyPr/>
        <a:lstStyle/>
        <a:p>
          <a:endParaRPr lang="en-US"/>
        </a:p>
      </dgm:t>
    </dgm:pt>
    <dgm:pt modelId="{73FC110F-5196-4F43-B076-84DBA256A71F}" type="pres">
      <dgm:prSet presAssocID="{2471AB09-7D51-4EBA-8325-48D80A6F6BE0}" presName="root" presStyleCnt="0">
        <dgm:presLayoutVars>
          <dgm:dir/>
          <dgm:resizeHandles val="exact"/>
        </dgm:presLayoutVars>
      </dgm:prSet>
      <dgm:spPr/>
    </dgm:pt>
    <dgm:pt modelId="{C387A1A6-706A-4C2D-8281-B6E6E56185D0}" type="pres">
      <dgm:prSet presAssocID="{88135536-1700-414B-BD90-D2C4A303D92A}" presName="compNode" presStyleCnt="0"/>
      <dgm:spPr/>
    </dgm:pt>
    <dgm:pt modelId="{713213ED-98F7-4D52-AEEF-2B26FACDF564}" type="pres">
      <dgm:prSet presAssocID="{88135536-1700-414B-BD90-D2C4A303D92A}" presName="bgRect" presStyleLbl="bgShp" presStyleIdx="0" presStyleCnt="3"/>
      <dgm:spPr/>
    </dgm:pt>
    <dgm:pt modelId="{9C1846DA-FBF8-4776-8A73-319807E028E4}" type="pres">
      <dgm:prSet presAssocID="{88135536-1700-414B-BD90-D2C4A303D92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045DCFF4-4533-43BC-97B4-0F31C9BC3D31}" type="pres">
      <dgm:prSet presAssocID="{88135536-1700-414B-BD90-D2C4A303D92A}" presName="spaceRect" presStyleCnt="0"/>
      <dgm:spPr/>
    </dgm:pt>
    <dgm:pt modelId="{9717F051-ECBF-4D40-BB6B-751F1FFDB510}" type="pres">
      <dgm:prSet presAssocID="{88135536-1700-414B-BD90-D2C4A303D92A}" presName="parTx" presStyleLbl="revTx" presStyleIdx="0" presStyleCnt="3">
        <dgm:presLayoutVars>
          <dgm:chMax val="0"/>
          <dgm:chPref val="0"/>
        </dgm:presLayoutVars>
      </dgm:prSet>
      <dgm:spPr/>
    </dgm:pt>
    <dgm:pt modelId="{A4E0D16C-E76C-4A33-A678-D1F2C11A6BC6}" type="pres">
      <dgm:prSet presAssocID="{591B3DA5-5C32-4251-B44F-BCC8100E3544}" presName="sibTrans" presStyleCnt="0"/>
      <dgm:spPr/>
    </dgm:pt>
    <dgm:pt modelId="{BF0ADFEA-4AF4-4587-86B0-F574268A0C0F}" type="pres">
      <dgm:prSet presAssocID="{DADE2728-6892-4594-8CBB-3A48A7A3E77D}" presName="compNode" presStyleCnt="0"/>
      <dgm:spPr/>
    </dgm:pt>
    <dgm:pt modelId="{CCFED16D-0817-42CE-886A-9A6E36DFA97E}" type="pres">
      <dgm:prSet presAssocID="{DADE2728-6892-4594-8CBB-3A48A7A3E77D}" presName="bgRect" presStyleLbl="bgShp" presStyleIdx="1" presStyleCnt="3"/>
      <dgm:spPr/>
    </dgm:pt>
    <dgm:pt modelId="{CF5C0E13-8943-48F6-80DE-C45E803A0FB3}" type="pres">
      <dgm:prSet presAssocID="{DADE2728-6892-4594-8CBB-3A48A7A3E77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5CDCB140-5E8D-4F12-B1DC-99BEE086EEE2}" type="pres">
      <dgm:prSet presAssocID="{DADE2728-6892-4594-8CBB-3A48A7A3E77D}" presName="spaceRect" presStyleCnt="0"/>
      <dgm:spPr/>
    </dgm:pt>
    <dgm:pt modelId="{9FAD684B-BABC-4B29-AC8F-30C079464BA4}" type="pres">
      <dgm:prSet presAssocID="{DADE2728-6892-4594-8CBB-3A48A7A3E77D}" presName="parTx" presStyleLbl="revTx" presStyleIdx="1" presStyleCnt="3">
        <dgm:presLayoutVars>
          <dgm:chMax val="0"/>
          <dgm:chPref val="0"/>
        </dgm:presLayoutVars>
      </dgm:prSet>
      <dgm:spPr/>
    </dgm:pt>
    <dgm:pt modelId="{5DF73B1B-0537-4E46-A93F-C951FC9EA725}" type="pres">
      <dgm:prSet presAssocID="{61714E58-8567-4D0E-8A79-097A5081AF24}" presName="sibTrans" presStyleCnt="0"/>
      <dgm:spPr/>
    </dgm:pt>
    <dgm:pt modelId="{66ADCDE8-D022-4CF8-BD7C-FF1378E899DE}" type="pres">
      <dgm:prSet presAssocID="{13847621-161D-49C6-9789-B3CBA3EDEA79}" presName="compNode" presStyleCnt="0"/>
      <dgm:spPr/>
    </dgm:pt>
    <dgm:pt modelId="{3F17DA7C-DFB9-4357-995A-46F475820055}" type="pres">
      <dgm:prSet presAssocID="{13847621-161D-49C6-9789-B3CBA3EDEA79}" presName="bgRect" presStyleLbl="bgShp" presStyleIdx="2" presStyleCnt="3"/>
      <dgm:spPr/>
    </dgm:pt>
    <dgm:pt modelId="{DF4EFD5D-A9CD-4CAE-B62B-A893BEB3B727}" type="pres">
      <dgm:prSet presAssocID="{13847621-161D-49C6-9789-B3CBA3EDEA7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A1FF85A1-23DA-4861-9A4B-CCABB215D543}" type="pres">
      <dgm:prSet presAssocID="{13847621-161D-49C6-9789-B3CBA3EDEA79}" presName="spaceRect" presStyleCnt="0"/>
      <dgm:spPr/>
    </dgm:pt>
    <dgm:pt modelId="{297179FE-AFEF-4DAA-A9FD-86E55D8C5FA8}" type="pres">
      <dgm:prSet presAssocID="{13847621-161D-49C6-9789-B3CBA3EDEA7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C627D0F-46EC-427C-8EB2-9E7D80B996CD}" srcId="{2471AB09-7D51-4EBA-8325-48D80A6F6BE0}" destId="{13847621-161D-49C6-9789-B3CBA3EDEA79}" srcOrd="2" destOrd="0" parTransId="{4E599B88-CA65-4524-9034-3ACD8B9D8F7D}" sibTransId="{6BC982E1-6609-48B9-A788-A5DB4FC145F6}"/>
    <dgm:cxn modelId="{CD45F714-079B-48AE-B86E-966A3D828AF3}" type="presOf" srcId="{88135536-1700-414B-BD90-D2C4A303D92A}" destId="{9717F051-ECBF-4D40-BB6B-751F1FFDB510}" srcOrd="0" destOrd="0" presId="urn:microsoft.com/office/officeart/2018/2/layout/IconVerticalSolidList"/>
    <dgm:cxn modelId="{8DCFE15E-E8FD-4F61-B9F3-C32589A6E2E6}" srcId="{2471AB09-7D51-4EBA-8325-48D80A6F6BE0}" destId="{DADE2728-6892-4594-8CBB-3A48A7A3E77D}" srcOrd="1" destOrd="0" parTransId="{60B6B341-C832-4F84-B467-669BFE5FB828}" sibTransId="{61714E58-8567-4D0E-8A79-097A5081AF24}"/>
    <dgm:cxn modelId="{0EE132AF-44F9-489F-A364-EF7857F447EC}" type="presOf" srcId="{2471AB09-7D51-4EBA-8325-48D80A6F6BE0}" destId="{73FC110F-5196-4F43-B076-84DBA256A71F}" srcOrd="0" destOrd="0" presId="urn:microsoft.com/office/officeart/2018/2/layout/IconVerticalSolidList"/>
    <dgm:cxn modelId="{1408F2B0-764E-401C-9AF9-2354CB1D16CB}" srcId="{2471AB09-7D51-4EBA-8325-48D80A6F6BE0}" destId="{88135536-1700-414B-BD90-D2C4A303D92A}" srcOrd="0" destOrd="0" parTransId="{6FF5D942-7D9A-4196-90BE-15216C3B078C}" sibTransId="{591B3DA5-5C32-4251-B44F-BCC8100E3544}"/>
    <dgm:cxn modelId="{FEC84CD1-05E8-46A6-B160-CB6107B3AED4}" type="presOf" srcId="{13847621-161D-49C6-9789-B3CBA3EDEA79}" destId="{297179FE-AFEF-4DAA-A9FD-86E55D8C5FA8}" srcOrd="0" destOrd="0" presId="urn:microsoft.com/office/officeart/2018/2/layout/IconVerticalSolidList"/>
    <dgm:cxn modelId="{9B3251ED-5A2E-4D44-96C6-559F4C61258C}" type="presOf" srcId="{DADE2728-6892-4594-8CBB-3A48A7A3E77D}" destId="{9FAD684B-BABC-4B29-AC8F-30C079464BA4}" srcOrd="0" destOrd="0" presId="urn:microsoft.com/office/officeart/2018/2/layout/IconVerticalSolidList"/>
    <dgm:cxn modelId="{1E8139F9-7D61-4B43-B530-1101B9C3D770}" type="presParOf" srcId="{73FC110F-5196-4F43-B076-84DBA256A71F}" destId="{C387A1A6-706A-4C2D-8281-B6E6E56185D0}" srcOrd="0" destOrd="0" presId="urn:microsoft.com/office/officeart/2018/2/layout/IconVerticalSolidList"/>
    <dgm:cxn modelId="{F7A58654-DF03-4E6E-8995-75498985E6A5}" type="presParOf" srcId="{C387A1A6-706A-4C2D-8281-B6E6E56185D0}" destId="{713213ED-98F7-4D52-AEEF-2B26FACDF564}" srcOrd="0" destOrd="0" presId="urn:microsoft.com/office/officeart/2018/2/layout/IconVerticalSolidList"/>
    <dgm:cxn modelId="{35694175-72E9-47D6-9F66-8437637DE2FA}" type="presParOf" srcId="{C387A1A6-706A-4C2D-8281-B6E6E56185D0}" destId="{9C1846DA-FBF8-4776-8A73-319807E028E4}" srcOrd="1" destOrd="0" presId="urn:microsoft.com/office/officeart/2018/2/layout/IconVerticalSolidList"/>
    <dgm:cxn modelId="{D61722DB-FD69-484F-AF0F-C986B74C391E}" type="presParOf" srcId="{C387A1A6-706A-4C2D-8281-B6E6E56185D0}" destId="{045DCFF4-4533-43BC-97B4-0F31C9BC3D31}" srcOrd="2" destOrd="0" presId="urn:microsoft.com/office/officeart/2018/2/layout/IconVerticalSolidList"/>
    <dgm:cxn modelId="{215EA0E0-A68A-4000-817A-B2F0C9FC2A85}" type="presParOf" srcId="{C387A1A6-706A-4C2D-8281-B6E6E56185D0}" destId="{9717F051-ECBF-4D40-BB6B-751F1FFDB510}" srcOrd="3" destOrd="0" presId="urn:microsoft.com/office/officeart/2018/2/layout/IconVerticalSolidList"/>
    <dgm:cxn modelId="{53F8B7DD-074B-46A9-866B-FAC43EFFD5F2}" type="presParOf" srcId="{73FC110F-5196-4F43-B076-84DBA256A71F}" destId="{A4E0D16C-E76C-4A33-A678-D1F2C11A6BC6}" srcOrd="1" destOrd="0" presId="urn:microsoft.com/office/officeart/2018/2/layout/IconVerticalSolidList"/>
    <dgm:cxn modelId="{D07AD602-C70C-4409-807F-AD77F39EC48A}" type="presParOf" srcId="{73FC110F-5196-4F43-B076-84DBA256A71F}" destId="{BF0ADFEA-4AF4-4587-86B0-F574268A0C0F}" srcOrd="2" destOrd="0" presId="urn:microsoft.com/office/officeart/2018/2/layout/IconVerticalSolidList"/>
    <dgm:cxn modelId="{13680D20-99E5-4CD6-AF0A-69B6CCC63514}" type="presParOf" srcId="{BF0ADFEA-4AF4-4587-86B0-F574268A0C0F}" destId="{CCFED16D-0817-42CE-886A-9A6E36DFA97E}" srcOrd="0" destOrd="0" presId="urn:microsoft.com/office/officeart/2018/2/layout/IconVerticalSolidList"/>
    <dgm:cxn modelId="{B3BCC1B6-413D-41F7-BD4A-B3A95CCA59ED}" type="presParOf" srcId="{BF0ADFEA-4AF4-4587-86B0-F574268A0C0F}" destId="{CF5C0E13-8943-48F6-80DE-C45E803A0FB3}" srcOrd="1" destOrd="0" presId="urn:microsoft.com/office/officeart/2018/2/layout/IconVerticalSolidList"/>
    <dgm:cxn modelId="{771B0786-A6E7-4C5E-B9EE-5D42D041BE31}" type="presParOf" srcId="{BF0ADFEA-4AF4-4587-86B0-F574268A0C0F}" destId="{5CDCB140-5E8D-4F12-B1DC-99BEE086EEE2}" srcOrd="2" destOrd="0" presId="urn:microsoft.com/office/officeart/2018/2/layout/IconVerticalSolidList"/>
    <dgm:cxn modelId="{80566FAC-1F8D-4711-86FF-19D8CD51C979}" type="presParOf" srcId="{BF0ADFEA-4AF4-4587-86B0-F574268A0C0F}" destId="{9FAD684B-BABC-4B29-AC8F-30C079464BA4}" srcOrd="3" destOrd="0" presId="urn:microsoft.com/office/officeart/2018/2/layout/IconVerticalSolidList"/>
    <dgm:cxn modelId="{3441FF5A-BE81-4F1B-B988-165E227548C4}" type="presParOf" srcId="{73FC110F-5196-4F43-B076-84DBA256A71F}" destId="{5DF73B1B-0537-4E46-A93F-C951FC9EA725}" srcOrd="3" destOrd="0" presId="urn:microsoft.com/office/officeart/2018/2/layout/IconVerticalSolidList"/>
    <dgm:cxn modelId="{AB645299-2D93-4E2B-A3B1-8C8AD135B8F7}" type="presParOf" srcId="{73FC110F-5196-4F43-B076-84DBA256A71F}" destId="{66ADCDE8-D022-4CF8-BD7C-FF1378E899DE}" srcOrd="4" destOrd="0" presId="urn:microsoft.com/office/officeart/2018/2/layout/IconVerticalSolidList"/>
    <dgm:cxn modelId="{868264D2-C699-44C8-AFC0-436AD98EE6A0}" type="presParOf" srcId="{66ADCDE8-D022-4CF8-BD7C-FF1378E899DE}" destId="{3F17DA7C-DFB9-4357-995A-46F475820055}" srcOrd="0" destOrd="0" presId="urn:microsoft.com/office/officeart/2018/2/layout/IconVerticalSolidList"/>
    <dgm:cxn modelId="{2123C9CB-076B-45EE-ADBC-BC6B7369E9BA}" type="presParOf" srcId="{66ADCDE8-D022-4CF8-BD7C-FF1378E899DE}" destId="{DF4EFD5D-A9CD-4CAE-B62B-A893BEB3B727}" srcOrd="1" destOrd="0" presId="urn:microsoft.com/office/officeart/2018/2/layout/IconVerticalSolidList"/>
    <dgm:cxn modelId="{C7C6F49E-A4BF-4085-83B0-5135D8146D29}" type="presParOf" srcId="{66ADCDE8-D022-4CF8-BD7C-FF1378E899DE}" destId="{A1FF85A1-23DA-4861-9A4B-CCABB215D543}" srcOrd="2" destOrd="0" presId="urn:microsoft.com/office/officeart/2018/2/layout/IconVerticalSolidList"/>
    <dgm:cxn modelId="{B3CCB98F-1D8E-4517-BBD9-29A4F1155F28}" type="presParOf" srcId="{66ADCDE8-D022-4CF8-BD7C-FF1378E899DE}" destId="{297179FE-AFEF-4DAA-A9FD-86E55D8C5FA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902BA7-B5EB-47C8-AC6F-7773A1FA3B8E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F6BE0-3019-41D0-941D-C91D45AF847A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1E8C92-22FA-4974-9038-D213B42704F6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Avoid wars and conflicts</a:t>
          </a:r>
        </a:p>
      </dsp:txBody>
      <dsp:txXfrm>
        <a:off x="1493203" y="552"/>
        <a:ext cx="6736396" cy="1292816"/>
      </dsp:txXfrm>
    </dsp:sp>
    <dsp:sp modelId="{2135DCE8-B3AD-47BB-BC39-1510134B9602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A5F9E9-725D-4781-B53F-E2D8BD8B598D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1B6FD7-B7FF-4E94-92BC-BB09F39BE0EF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Promote dialogue and negotiations</a:t>
          </a:r>
        </a:p>
      </dsp:txBody>
      <dsp:txXfrm>
        <a:off x="1493203" y="1616573"/>
        <a:ext cx="6736396" cy="1292816"/>
      </dsp:txXfrm>
    </dsp:sp>
    <dsp:sp modelId="{7CE8C311-CE80-4A7E-A1FF-25E302986A77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F915EE-FCC8-4BCD-9F1D-F60B3F7E9F06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DA2622-6C41-45E9-93D3-F2F4AE08C2F9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Support peaceful resolution of disputes</a:t>
          </a:r>
        </a:p>
      </dsp:txBody>
      <dsp:txXfrm>
        <a:off x="1493203" y="3232593"/>
        <a:ext cx="6736396" cy="12928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B5B659-1260-4624-8C10-D9F96DE662F7}">
      <dsp:nvSpPr>
        <dsp:cNvPr id="0" name=""/>
        <dsp:cNvSpPr/>
      </dsp:nvSpPr>
      <dsp:spPr>
        <a:xfrm>
          <a:off x="0" y="0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B9BAD8-6BC1-42D1-86DC-320B44579410}">
      <dsp:nvSpPr>
        <dsp:cNvPr id="0" name=""/>
        <dsp:cNvSpPr/>
      </dsp:nvSpPr>
      <dsp:spPr>
        <a:xfrm>
          <a:off x="0" y="0"/>
          <a:ext cx="7886700" cy="2176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Pakistan maintains relations with many countries based on political, economic, and strategic interests.</a:t>
          </a:r>
        </a:p>
      </dsp:txBody>
      <dsp:txXfrm>
        <a:off x="0" y="0"/>
        <a:ext cx="7886700" cy="2176272"/>
      </dsp:txXfrm>
    </dsp:sp>
    <dsp:sp modelId="{51E270EA-6FF1-46BB-A4CF-99017E62A29C}">
      <dsp:nvSpPr>
        <dsp:cNvPr id="0" name=""/>
        <dsp:cNvSpPr/>
      </dsp:nvSpPr>
      <dsp:spPr>
        <a:xfrm>
          <a:off x="0" y="2176272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2AD086-0E81-4DEE-83DB-61779907CAB7}">
      <dsp:nvSpPr>
        <dsp:cNvPr id="0" name=""/>
        <dsp:cNvSpPr/>
      </dsp:nvSpPr>
      <dsp:spPr>
        <a:xfrm>
          <a:off x="0" y="2176272"/>
          <a:ext cx="7886700" cy="2176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These relations help Pakistan gain support, trade opportunities, and security cooperation.</a:t>
          </a:r>
        </a:p>
      </dsp:txBody>
      <dsp:txXfrm>
        <a:off x="0" y="2176272"/>
        <a:ext cx="7886700" cy="21762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E166E7-CF20-48DF-A543-897C64D6CDB5}">
      <dsp:nvSpPr>
        <dsp:cNvPr id="0" name=""/>
        <dsp:cNvSpPr/>
      </dsp:nvSpPr>
      <dsp:spPr>
        <a:xfrm>
          <a:off x="1052690" y="841797"/>
          <a:ext cx="1695937" cy="16959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9ECC9A-C852-4DAD-9DC7-2C37CB0FD1A5}">
      <dsp:nvSpPr>
        <dsp:cNvPr id="0" name=""/>
        <dsp:cNvSpPr/>
      </dsp:nvSpPr>
      <dsp:spPr>
        <a:xfrm>
          <a:off x="16284" y="2964165"/>
          <a:ext cx="37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Reliance on loans and international support</a:t>
          </a:r>
        </a:p>
      </dsp:txBody>
      <dsp:txXfrm>
        <a:off x="16284" y="2964165"/>
        <a:ext cx="3768750" cy="720000"/>
      </dsp:txXfrm>
    </dsp:sp>
    <dsp:sp modelId="{2FB08894-EB77-4A53-A016-CBC2BF069DC7}">
      <dsp:nvSpPr>
        <dsp:cNvPr id="0" name=""/>
        <dsp:cNvSpPr/>
      </dsp:nvSpPr>
      <dsp:spPr>
        <a:xfrm>
          <a:off x="5480971" y="841797"/>
          <a:ext cx="1695937" cy="16959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5C06CD-37A3-4ECE-B45D-307F77735527}">
      <dsp:nvSpPr>
        <dsp:cNvPr id="0" name=""/>
        <dsp:cNvSpPr/>
      </dsp:nvSpPr>
      <dsp:spPr>
        <a:xfrm>
          <a:off x="4444565" y="2964165"/>
          <a:ext cx="37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Limits independent foreign policy decisions</a:t>
          </a:r>
        </a:p>
      </dsp:txBody>
      <dsp:txXfrm>
        <a:off x="4444565" y="2964165"/>
        <a:ext cx="37687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3213ED-98F7-4D52-AEEF-2B26FACDF564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1846DA-FBF8-4776-8A73-319807E028E4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17F051-ECBF-4D40-BB6B-751F1FFDB510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Floods and climate disasters</a:t>
          </a:r>
        </a:p>
      </dsp:txBody>
      <dsp:txXfrm>
        <a:off x="1493203" y="552"/>
        <a:ext cx="6736396" cy="1292816"/>
      </dsp:txXfrm>
    </dsp:sp>
    <dsp:sp modelId="{CCFED16D-0817-42CE-886A-9A6E36DFA97E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5C0E13-8943-48F6-80DE-C45E803A0FB3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AD684B-BABC-4B29-AC8F-30C079464BA4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Need for global cooperation</a:t>
          </a:r>
        </a:p>
      </dsp:txBody>
      <dsp:txXfrm>
        <a:off x="1493203" y="1616573"/>
        <a:ext cx="6736396" cy="1292816"/>
      </dsp:txXfrm>
    </dsp:sp>
    <dsp:sp modelId="{3F17DA7C-DFB9-4357-995A-46F475820055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4EFD5D-A9CD-4CAE-B62B-A893BEB3B727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7179FE-AFEF-4DAA-A9FD-86E55D8C5FA8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Affects foreign aid and international relations</a:t>
          </a:r>
        </a:p>
      </dsp:txBody>
      <dsp:txXfrm>
        <a:off x="1493203" y="3232593"/>
        <a:ext cx="6736396" cy="12928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1DA68-065F-416F-AD7E-04EDC475F90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3E8E2-7896-4DE6-8BB4-16035AFCB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838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3E8E2-7896-4DE6-8BB4-16035AFCBE1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673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399CF-B32E-441E-A460-524D95CB131C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182BB-1291-4007-A659-0D0B211327C4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F36CD-D578-4293-910D-DCB7B4048CD4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2784C-3B65-494F-A742-9AA47717734C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053F6-059F-4D62-916D-9F2BB1B18E73}" type="datetime1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84962-085D-40BD-AFC8-491118FA5357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FBEA6-BD13-49DF-AE27-669081993051}" type="datetime1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C61A-E0F5-4AD3-BC9E-6A08864890D1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76264-61E3-459B-A493-406524EC97B4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0EAD-5544-4096-9006-9EB2DBE2E43D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28B48-B875-490B-BD0F-F1F0702B53E0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A2DF4-DB92-4A9F-A525-F080831A2EB4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9525-A9F2-2FC8-3B88-ABEEDF283E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0F3C2A5F-9D33-49A9-0723-59F284BB9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8F95AE-E365-4DF1-59B0-51BC3F7C5DD1}"/>
              </a:ext>
            </a:extLst>
          </p:cNvPr>
          <p:cNvSpPr txBox="1">
            <a:spLocks/>
          </p:cNvSpPr>
          <p:nvPr/>
        </p:nvSpPr>
        <p:spPr>
          <a:xfrm>
            <a:off x="627507" y="2210475"/>
            <a:ext cx="7886700" cy="18284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r>
              <a:rPr lang="en-US" sz="4500" dirty="0"/>
              <a:t>Foreign Policy of Pakistan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528B3A-BBFE-6AFE-411F-546404DA163D}"/>
              </a:ext>
            </a:extLst>
          </p:cNvPr>
          <p:cNvSpPr txBox="1"/>
          <p:nvPr/>
        </p:nvSpPr>
        <p:spPr>
          <a:xfrm>
            <a:off x="2946108" y="370823"/>
            <a:ext cx="3873484" cy="1414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Dawood University</a:t>
            </a:r>
            <a:br>
              <a:rPr lang="en-US" sz="2000" dirty="0"/>
            </a:br>
            <a:r>
              <a:rPr lang="en-US" sz="2000" dirty="0"/>
              <a:t>Department of Cyber Security</a:t>
            </a:r>
            <a:br>
              <a:rPr lang="en-US" sz="2000" dirty="0"/>
            </a:br>
            <a:r>
              <a:rPr lang="en-US" sz="2000" dirty="0"/>
              <a:t>Section A2</a:t>
            </a:r>
            <a:br>
              <a:rPr lang="en-US" sz="2000" dirty="0"/>
            </a:br>
            <a:r>
              <a:rPr lang="en-US" sz="2000" dirty="0"/>
              <a:t>Pakistan Studies</a:t>
            </a:r>
          </a:p>
        </p:txBody>
      </p:sp>
      <p:pic>
        <p:nvPicPr>
          <p:cNvPr id="7" name="Picture 2" descr="Dawood University of Engineering and Technology logo">
            <a:extLst>
              <a:ext uri="{FF2B5EF4-FFF2-40B4-BE49-F238E27FC236}">
                <a16:creationId xmlns:a16="http://schemas.microsoft.com/office/drawing/2014/main" id="{0B813BB2-96B1-B8EE-C9EB-2E7934ED5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75" y="66206"/>
            <a:ext cx="1313443" cy="1313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B330EC-EDB5-1F94-7492-ED9288703070}"/>
              </a:ext>
            </a:extLst>
          </p:cNvPr>
          <p:cNvSpPr txBox="1"/>
          <p:nvPr/>
        </p:nvSpPr>
        <p:spPr>
          <a:xfrm>
            <a:off x="5150225" y="5675072"/>
            <a:ext cx="3307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Teacher Name</a:t>
            </a:r>
            <a:r>
              <a:rPr lang="en-US" sz="2400" dirty="0"/>
              <a:t>: Faisal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FDF4C2-8926-65C8-38F1-41075A83B6FB}"/>
              </a:ext>
            </a:extLst>
          </p:cNvPr>
          <p:cNvSpPr txBox="1"/>
          <p:nvPr/>
        </p:nvSpPr>
        <p:spPr>
          <a:xfrm>
            <a:off x="4614559" y="3968888"/>
            <a:ext cx="43196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Students</a:t>
            </a:r>
          </a:p>
          <a:p>
            <a:pPr algn="ctr"/>
            <a:r>
              <a:rPr lang="en-US" sz="2400" dirty="0"/>
              <a:t>25F-CY-065 M Nabeel</a:t>
            </a:r>
          </a:p>
          <a:p>
            <a:pPr algn="ctr"/>
            <a:r>
              <a:rPr lang="en-US" sz="2400" dirty="0"/>
              <a:t>25F-CY-094 M Arif</a:t>
            </a:r>
            <a:br>
              <a:rPr lang="en-US" sz="2400" dirty="0"/>
            </a:br>
            <a:r>
              <a:rPr lang="en-US" sz="2400" dirty="0"/>
              <a:t>25F-CY-096 Syed Usman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268A8F5-64AF-EAA4-A444-5E338494D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2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0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221" y="479493"/>
            <a:ext cx="4094129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What is Foreign Policy? 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2" descr="The print cover for the Spring 2026 issue of FP: The World After Trump.">
            <a:extLst>
              <a:ext uri="{FF2B5EF4-FFF2-40B4-BE49-F238E27FC236}">
                <a16:creationId xmlns:a16="http://schemas.microsoft.com/office/drawing/2014/main" id="{28D1F4E8-1985-73FE-1BB2-0C8E48419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386" y="1039925"/>
            <a:ext cx="3583036" cy="460840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1221" y="1984443"/>
            <a:ext cx="4094129" cy="419252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000"/>
              <a:t>Foreign policy is a set of strategies and decisions through which a country manages its relations with other countries.</a:t>
            </a:r>
            <a:br>
              <a:rPr lang="en-US" sz="2000"/>
            </a:br>
            <a:r>
              <a:rPr lang="en-US" sz="2000"/>
              <a:t>It includes political, economic, military, and diplomatic interactions.</a:t>
            </a:r>
            <a:br>
              <a:rPr lang="en-US" sz="2000"/>
            </a:br>
            <a:r>
              <a:rPr lang="en-US" sz="2000"/>
              <a:t>It helps a country protect its national interests, ensure security, and promote development.</a:t>
            </a:r>
            <a:br>
              <a:rPr lang="en-US" sz="2000"/>
            </a:br>
            <a:br>
              <a:rPr lang="en-US" sz="2000"/>
            </a:br>
            <a:r>
              <a:rPr lang="en-US" sz="2000"/>
              <a:t>Example: Trade agreements, peace talks, and defense cooperation are all part of foreign policy.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FB57F-E2C7-8EAD-96D3-F6439A2EA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Overview of Pakistan’s Foreign Policy</a:t>
            </a:r>
          </a:p>
        </p:txBody>
      </p:sp>
      <p:pic>
        <p:nvPicPr>
          <p:cNvPr id="1032" name="Picture 8" descr="Insight Image">
            <a:extLst>
              <a:ext uri="{FF2B5EF4-FFF2-40B4-BE49-F238E27FC236}">
                <a16:creationId xmlns:a16="http://schemas.microsoft.com/office/drawing/2014/main" id="{CB417CED-6697-A928-DEE2-915EF1E4A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07" b="6711"/>
          <a:stretch>
            <a:fillRect/>
          </a:stretch>
        </p:blipFill>
        <p:spPr bwMode="auto"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/>
              <a:t>Pakistan’s foreign policy is based on peaceful coexistence, mutual respect, and cooperation.</a:t>
            </a:r>
            <a:br>
              <a:rPr lang="en-US" sz="1600"/>
            </a:br>
            <a:r>
              <a:rPr lang="en-US" sz="1600"/>
              <a:t>It aims to maintain strong relations with neighboring countries and major global powers.</a:t>
            </a:r>
            <a:br>
              <a:rPr lang="en-US" sz="1600"/>
            </a:br>
            <a:r>
              <a:rPr lang="en-US" sz="1600"/>
              <a:t>Pakistan also tries to balance relations between powerful countries like China and United States.</a:t>
            </a:r>
            <a:br>
              <a:rPr lang="en-US" sz="1600"/>
            </a:br>
            <a:r>
              <a:rPr lang="en-US" sz="1600"/>
              <a:t>It focuses on regional peace, economic development, and national security.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DDFBBC-3E00-FAD2-D5D9-D956638CA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84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1" name="Rectangle 513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D54C04DB-AEDA-9519-8542-12321C222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00"/>
          <a:stretch>
            <a:fillRect/>
          </a:stretch>
        </p:blipFill>
        <p:spPr bwMode="auto">
          <a:xfrm>
            <a:off x="20" y="10"/>
            <a:ext cx="9143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DD8703A-B6B1-0525-1933-F8861595D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66218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</a:rPr>
              <a:t>Objectives of Pakistan’s Foreign Policy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E995D-54C8-9F05-1109-1DEC1723D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000">
              <a:solidFill>
                <a:srgbClr val="FFFFFF"/>
              </a:solidFill>
            </a:endParaRPr>
          </a:p>
        </p:txBody>
      </p:sp>
      <p:graphicFrame>
        <p:nvGraphicFramePr>
          <p:cNvPr id="1044" name="Content Placeholder 2">
            <a:extLst>
              <a:ext uri="{FF2B5EF4-FFF2-40B4-BE49-F238E27FC236}">
                <a16:creationId xmlns:a16="http://schemas.microsoft.com/office/drawing/2014/main" id="{E2CE5C3B-199A-BC71-34DD-3E7F7FFEEA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947161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21E48-AC09-E304-9760-37F087C36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National Security</a:t>
            </a:r>
          </a:p>
        </p:txBody>
      </p:sp>
      <p:pic>
        <p:nvPicPr>
          <p:cNvPr id="1026" name="Picture 2" descr="National Security Agency sign on a building against a clear blue sky, symbolizing intelligence agency, cryptologic security, federal defense, government surveillance, national protection, and secrecy">
            <a:extLst>
              <a:ext uri="{FF2B5EF4-FFF2-40B4-BE49-F238E27FC236}">
                <a16:creationId xmlns:a16="http://schemas.microsoft.com/office/drawing/2014/main" id="{BC71D8D4-5A1B-08F5-F483-36740D184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13" b="8165"/>
          <a:stretch>
            <a:fillRect/>
          </a:stretch>
        </p:blipFill>
        <p:spPr bwMode="auto"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C9CF3-1FCF-A199-E854-BAB712650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/>
              <a:t>Protect the country from external threats</a:t>
            </a:r>
          </a:p>
          <a:p>
            <a:pPr marL="0" indent="0">
              <a:buNone/>
            </a:pPr>
            <a:r>
              <a:rPr lang="en-US" sz="1600"/>
              <a:t>Maintain a strong defense system</a:t>
            </a:r>
          </a:p>
          <a:p>
            <a:pPr marL="0" indent="0">
              <a:buNone/>
            </a:pPr>
            <a:r>
              <a:rPr lang="en-US" sz="1600"/>
              <a:t>Address conflicts such as with India</a:t>
            </a:r>
          </a:p>
          <a:p>
            <a:pPr marL="0" indent="0">
              <a:buNone/>
            </a:pPr>
            <a:r>
              <a:rPr lang="en-US" sz="1600"/>
              <a:t>Ensure safety of borders and citizens</a:t>
            </a:r>
            <a:br>
              <a:rPr lang="en-US" sz="1600"/>
            </a:br>
            <a:endParaRPr lang="en-US" sz="1600"/>
          </a:p>
          <a:p>
            <a:pPr marL="0" indent="0">
              <a:buNone/>
            </a:pPr>
            <a:endParaRPr lang="en-US" sz="1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837E-C56D-49B4-0C60-237A68C35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84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288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E48133-762C-1E3F-EB75-28AE79445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Economic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7DF22-6D0E-8F0B-B77A-8061E2A84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/>
              <a:t>Increase exports and improve trade relations</a:t>
            </a:r>
            <a:br>
              <a:rPr lang="en-US" sz="1700"/>
            </a:br>
            <a:r>
              <a:rPr lang="en-US" sz="1700"/>
              <a:t>Attract foreign investment (like CPEC projects)</a:t>
            </a:r>
            <a:br>
              <a:rPr lang="en-US" sz="1700"/>
            </a:br>
            <a:r>
              <a:rPr lang="en-US" sz="1700"/>
              <a:t>Build economic partnerships with developed countries</a:t>
            </a:r>
            <a:br>
              <a:rPr lang="en-US" sz="1700"/>
            </a:br>
            <a:r>
              <a:rPr lang="en-US" sz="1700"/>
              <a:t>Strengthen industries and reduce poverty</a:t>
            </a:r>
            <a:br>
              <a:rPr lang="en-US" sz="1700"/>
            </a:br>
            <a:endParaRPr lang="en-US" sz="1700"/>
          </a:p>
          <a:p>
            <a:endParaRPr lang="en-US" sz="1700"/>
          </a:p>
        </p:txBody>
      </p:sp>
      <p:pic>
        <p:nvPicPr>
          <p:cNvPr id="2050" name="Picture 2" descr="Business financial inflation economy accounting and coin Double exposure with arrow red on background. photo">
            <a:extLst>
              <a:ext uri="{FF2B5EF4-FFF2-40B4-BE49-F238E27FC236}">
                <a16:creationId xmlns:a16="http://schemas.microsoft.com/office/drawing/2014/main" id="{8FF3A102-9898-D80B-9259-1B2F6483A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18" r="29400"/>
          <a:stretch>
            <a:fillRect/>
          </a:stretch>
        </p:blipFill>
        <p:spPr bwMode="auto">
          <a:xfrm>
            <a:off x="4572000" y="1"/>
            <a:ext cx="457711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42B68-3DE4-EB02-75B7-D0AFE0507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49390" y="6356350"/>
            <a:ext cx="24003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817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83" name="Group 3082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3084" name="Oval 3083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5" name="Oval 3084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6" name="Oval 3085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7" name="Oval 3086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88" name="Oval 3087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9" name="Oval 3088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91" name="Rectangle 3090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93" name="Group 3092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094" name="Straight Connector 3093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5" name="Straight Connector 3094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6" name="Straight Connector 3095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7" name="Straight Connector 3096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74" name="Picture 2" descr="Concept of digital sovereignty represented by a glowing justice scale icon on a futuristic circuit board, embodying the balance between law and technology. Sovereignty abstract stock images, royalty-free photos and pictures">
            <a:extLst>
              <a:ext uri="{FF2B5EF4-FFF2-40B4-BE49-F238E27FC236}">
                <a16:creationId xmlns:a16="http://schemas.microsoft.com/office/drawing/2014/main" id="{2E62ACD9-392C-BA8D-46D8-E753ACA58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6" r="1" b="16275"/>
          <a:stretch>
            <a:fillRect/>
          </a:stretch>
        </p:blipFill>
        <p:spPr bwMode="auto">
          <a:xfrm>
            <a:off x="469942" y="317578"/>
            <a:ext cx="8138333" cy="350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99" name="Group 3098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3100" name="Straight Connector 3099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1" name="Straight Connector 3100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2" name="Straight Connector 3101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3" name="Straight Connector 3102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05" name="Rectangle 3104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07" name="Group 3106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108" name="Straight Connector 3107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9" name="Straight Connector 3108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0" name="Straight Connector 3109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1" name="Straight Connector 3110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7E9C4C1-36B8-2FB7-BBC5-A8B989C3D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018137"/>
            <a:ext cx="3426795" cy="2129586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Protection of Sovereignty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C3E39-F2D1-A752-7561-7C9F8B10B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560" y="4018143"/>
            <a:ext cx="4255578" cy="2129599"/>
          </a:xfrm>
          <a:noFill/>
        </p:spPr>
        <p:txBody>
          <a:bodyPr anchor="t">
            <a:normAutofit/>
          </a:bodyPr>
          <a:lstStyle/>
          <a:p>
            <a:pPr marL="0" lvl="0" indent="0">
              <a:buNone/>
            </a:pPr>
            <a:r>
              <a:rPr lang="en-US" sz="1600">
                <a:solidFill>
                  <a:schemeClr val="bg1"/>
                </a:solidFill>
              </a:rPr>
              <a:t>Maintain independence in decision-making</a:t>
            </a:r>
            <a:br>
              <a:rPr lang="en-US" sz="1600">
                <a:solidFill>
                  <a:schemeClr val="bg1"/>
                </a:solidFill>
              </a:rPr>
            </a:br>
            <a:r>
              <a:rPr lang="en-US" sz="1600">
                <a:solidFill>
                  <a:schemeClr val="bg1"/>
                </a:solidFill>
              </a:rPr>
              <a:t>Avoid foreign interference in internal matters</a:t>
            </a:r>
            <a:br>
              <a:rPr lang="en-US" sz="1600">
                <a:solidFill>
                  <a:schemeClr val="bg1"/>
                </a:solidFill>
              </a:rPr>
            </a:br>
            <a:r>
              <a:rPr lang="en-US" sz="1600">
                <a:solidFill>
                  <a:schemeClr val="bg1"/>
                </a:solidFill>
              </a:rPr>
              <a:t>Protect national identity and dignity</a:t>
            </a:r>
            <a:br>
              <a:rPr lang="en-US" sz="1600">
                <a:solidFill>
                  <a:schemeClr val="bg1"/>
                </a:solidFill>
              </a:rPr>
            </a:b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299F6-3CBC-3BD0-84F2-C6AF21490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09360"/>
            <a:ext cx="480060" cy="548640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7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463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F4B74-6FD1-F95C-0C71-1B5863BA8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Promotion of Peace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413B18E-D4BD-8743-B667-A90936D8061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784A4-C8AF-2AE9-48DB-F5E51BB30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168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65F93-F908-7A06-CEDB-8068518C9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Support for Muslim Countries</a:t>
            </a:r>
          </a:p>
        </p:txBody>
      </p:sp>
      <p:pic>
        <p:nvPicPr>
          <p:cNvPr id="4098" name="Picture 2" descr="r/MapPorn - Flag map of the Muslim-majority countries">
            <a:extLst>
              <a:ext uri="{FF2B5EF4-FFF2-40B4-BE49-F238E27FC236}">
                <a16:creationId xmlns:a16="http://schemas.microsoft.com/office/drawing/2014/main" id="{8CFCE3C1-3109-C5B1-C48D-2EA19BFBB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" b="32424"/>
          <a:stretch>
            <a:fillRect/>
          </a:stretch>
        </p:blipFill>
        <p:spPr bwMode="auto"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F97B0-6777-8546-F5C9-CD67DE75A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en-US" sz="1600"/>
              <a:t>Strengthen unity among Islamic nations</a:t>
            </a:r>
          </a:p>
          <a:p>
            <a:r>
              <a:rPr lang="en-US" sz="1600"/>
              <a:t>Raise voice for Muslim issues internationally</a:t>
            </a:r>
          </a:p>
          <a:p>
            <a:r>
              <a:rPr lang="en-US" sz="1600"/>
              <a:t>Active participation in Organization of Islamic Cooperation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DDB31-0B26-8E7F-9EDA-2BC634E49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84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387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Principles of Pakistan’s Foreign Policy</a:t>
            </a:r>
          </a:p>
        </p:txBody>
      </p:sp>
      <p:pic>
        <p:nvPicPr>
          <p:cNvPr id="2050" name="Picture 2" descr="Pakistan Foreign Policy">
            <a:extLst>
              <a:ext uri="{FF2B5EF4-FFF2-40B4-BE49-F238E27FC236}">
                <a16:creationId xmlns:a16="http://schemas.microsoft.com/office/drawing/2014/main" id="{AE1175FC-D6C8-A47D-ED3B-7355CCC0F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8" b="17009"/>
          <a:stretch>
            <a:fillRect/>
          </a:stretch>
        </p:blipFill>
        <p:spPr bwMode="auto"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en-US" sz="1600" dirty="0"/>
              <a:t>Respect for international law</a:t>
            </a:r>
          </a:p>
          <a:p>
            <a:r>
              <a:rPr lang="en-US" sz="1600" dirty="0"/>
              <a:t>Non-interference in internal affairs of other states</a:t>
            </a:r>
          </a:p>
          <a:p>
            <a:r>
              <a:rPr lang="en-US" sz="1600" dirty="0"/>
              <a:t>Peaceful coexistence</a:t>
            </a:r>
          </a:p>
          <a:p>
            <a:r>
              <a:rPr lang="en-US" sz="1600" dirty="0"/>
              <a:t>Mutual cooperation and benefit</a:t>
            </a:r>
          </a:p>
          <a:p>
            <a:r>
              <a:rPr lang="en-US" sz="1600" dirty="0"/>
              <a:t>Support for global peace and justice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E0C85-83F2-2347-DC3A-35F62B1E4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84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27" name="Rectangle 412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/>
              <a:t>Importance of Foreign Policy</a:t>
            </a:r>
          </a:p>
        </p:txBody>
      </p:sp>
      <p:sp>
        <p:nvSpPr>
          <p:cNvPr id="412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/>
              <a:t>Improves Pakistan’s global image</a:t>
            </a:r>
          </a:p>
          <a:p>
            <a:pPr marL="0" indent="0">
              <a:buNone/>
            </a:pPr>
            <a:r>
              <a:rPr lang="en-US" sz="1900"/>
              <a:t>Promotes trade and economic growth</a:t>
            </a:r>
          </a:p>
          <a:p>
            <a:pPr marL="0" indent="0">
              <a:buNone/>
            </a:pPr>
            <a:r>
              <a:rPr lang="en-US" sz="1900"/>
              <a:t>Helps build alliances and partnerships</a:t>
            </a:r>
          </a:p>
          <a:p>
            <a:pPr marL="0" indent="0">
              <a:buNone/>
            </a:pPr>
            <a:r>
              <a:rPr lang="en-US" sz="1900"/>
              <a:t>Helps resolve international conflicts peacefully</a:t>
            </a:r>
          </a:p>
          <a:p>
            <a:pPr marL="0" indent="0">
              <a:buNone/>
            </a:pPr>
            <a:r>
              <a:rPr lang="en-US" sz="1900"/>
              <a:t>Strengthens national security</a:t>
            </a:r>
          </a:p>
        </p:txBody>
      </p:sp>
      <p:pic>
        <p:nvPicPr>
          <p:cNvPr id="3074" name="Picture 2" descr="Americans’ views of key foreign policy goals depend on their attitudes toward international cooperation">
            <a:extLst>
              <a:ext uri="{FF2B5EF4-FFF2-40B4-BE49-F238E27FC236}">
                <a16:creationId xmlns:a16="http://schemas.microsoft.com/office/drawing/2014/main" id="{36B72360-CFD1-AAEC-CBB1-48D0FA7D9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73" r="25112"/>
          <a:stretch>
            <a:fillRect/>
          </a:stretch>
        </p:blipFill>
        <p:spPr bwMode="auto"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C39B7-1253-57E5-F4E1-A679EAD73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29550" y="6356350"/>
            <a:ext cx="685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5DE377-63F3-B65A-7324-40840CD0A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US" sz="4500"/>
              <a:t>Pakistan’s Foreign Relations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F5AB7-8EE8-E2D0-6602-DB18192CE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E7A3A1-638F-F277-2B9E-BB00942A03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5571226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506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9143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98" name="Picture 2" descr="Cracks in the China–Pakistan Partnership: Revealing the Illusion">
            <a:extLst>
              <a:ext uri="{FF2B5EF4-FFF2-40B4-BE49-F238E27FC236}">
                <a16:creationId xmlns:a16="http://schemas.microsoft.com/office/drawing/2014/main" id="{BA86AC03-2FAB-01C4-7093-73A2D9D72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99" b="-2"/>
          <a:stretch>
            <a:fillRect/>
          </a:stretch>
        </p:blipFill>
        <p:spPr bwMode="auto">
          <a:xfrm>
            <a:off x="20" y="-9107"/>
            <a:ext cx="91439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591344"/>
            <a:ext cx="2400300" cy="558561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Relations with China</a:t>
            </a:r>
          </a:p>
        </p:txBody>
      </p:sp>
      <p:sp>
        <p:nvSpPr>
          <p:cNvPr id="4105" name="Arc 410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China is Pakistan’s closest and most trusted ally</a:t>
            </a:r>
          </a:p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Cooperation in defense, technology, and infrastructure</a:t>
            </a:r>
          </a:p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Major project: China-Pakistan Economic Corridor (CPEC)</a:t>
            </a:r>
          </a:p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China supports Pakistan on international platforms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94EAD-C19D-EEB0-5A6C-384155CCA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64895" y="6356350"/>
            <a:ext cx="115045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Relations with United States</a:t>
            </a:r>
          </a:p>
        </p:txBody>
      </p:sp>
      <p:pic>
        <p:nvPicPr>
          <p:cNvPr id="5122" name="Picture 2" descr="US Pakistan cooperation">
            <a:extLst>
              <a:ext uri="{FF2B5EF4-FFF2-40B4-BE49-F238E27FC236}">
                <a16:creationId xmlns:a16="http://schemas.microsoft.com/office/drawing/2014/main" id="{F531959A-2C67-33C8-DD69-98DBC8453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21" b="8763"/>
          <a:stretch>
            <a:fillRect/>
          </a:stretch>
        </p:blipFill>
        <p:spPr bwMode="auto"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/>
              <a:t>USA is a global superpower</a:t>
            </a:r>
          </a:p>
          <a:p>
            <a:pPr marL="0" indent="0">
              <a:buNone/>
            </a:pPr>
            <a:r>
              <a:rPr lang="en-US" sz="1600"/>
              <a:t>Pakistan cooperated in the War on Terror</a:t>
            </a:r>
          </a:p>
          <a:p>
            <a:pPr marL="0" indent="0">
              <a:buNone/>
            </a:pPr>
            <a:r>
              <a:rPr lang="en-US" sz="1600"/>
              <a:t>Received military and economic aid</a:t>
            </a:r>
          </a:p>
          <a:p>
            <a:pPr marL="0" indent="0">
              <a:buNone/>
            </a:pPr>
            <a:r>
              <a:rPr lang="en-US" sz="1600"/>
              <a:t>Relationship has trust issues and fluctuations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0A0852-35BD-4AC1-8255-E68F36D0D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84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4" name="Rectangle 7183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5" name="Rectangle 7184">
            <a:extLst>
              <a:ext uri="{FF2B5EF4-FFF2-40B4-BE49-F238E27FC236}">
                <a16:creationId xmlns:a16="http://schemas.microsoft.com/office/drawing/2014/main" id="{F3768FD5-DD7A-43C7-8DEA-1F5DB3CB5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559" y="3703975"/>
            <a:ext cx="3253394" cy="2398713"/>
          </a:xfrm>
        </p:spPr>
        <p:txBody>
          <a:bodyPr>
            <a:normAutofit/>
          </a:bodyPr>
          <a:lstStyle/>
          <a:p>
            <a:r>
              <a:rPr lang="en-US" sz="3500"/>
              <a:t>Relations with India</a:t>
            </a:r>
            <a:endParaRPr lang="en-US" sz="3500" dirty="0"/>
          </a:p>
        </p:txBody>
      </p:sp>
      <p:pic>
        <p:nvPicPr>
          <p:cNvPr id="6146" name="Picture 2" descr="India vs Pakistan Flags on cracked wall National flags versus concept pakistan stock pictures, royalty-free photos &amp; images">
            <a:extLst>
              <a:ext uri="{FF2B5EF4-FFF2-40B4-BE49-F238E27FC236}">
                <a16:creationId xmlns:a16="http://schemas.microsoft.com/office/drawing/2014/main" id="{9A7CC53A-E4A2-3686-1755-498F00A87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54" b="15525"/>
          <a:stretch>
            <a:fillRect/>
          </a:stretch>
        </p:blipFill>
        <p:spPr bwMode="auto">
          <a:xfrm>
            <a:off x="1" y="10"/>
            <a:ext cx="9143999" cy="3154014"/>
          </a:xfrm>
          <a:custGeom>
            <a:avLst/>
            <a:gdLst/>
            <a:ahLst/>
            <a:cxnLst/>
            <a:rect l="l" t="t" r="r" b="b"/>
            <a:pathLst>
              <a:path w="12191999" h="3428999">
                <a:moveTo>
                  <a:pt x="0" y="0"/>
                </a:moveTo>
                <a:lnTo>
                  <a:pt x="12191999" y="0"/>
                </a:lnTo>
                <a:lnTo>
                  <a:pt x="12191999" y="920893"/>
                </a:lnTo>
                <a:lnTo>
                  <a:pt x="12191999" y="1514929"/>
                </a:lnTo>
                <a:lnTo>
                  <a:pt x="12191999" y="3130902"/>
                </a:lnTo>
                <a:lnTo>
                  <a:pt x="12188051" y="3131476"/>
                </a:lnTo>
                <a:cubicBezTo>
                  <a:pt x="12153000" y="3135813"/>
                  <a:pt x="12133655" y="3136025"/>
                  <a:pt x="12112012" y="3138906"/>
                </a:cubicBezTo>
                <a:cubicBezTo>
                  <a:pt x="12076970" y="3145595"/>
                  <a:pt x="12039899" y="3160769"/>
                  <a:pt x="12018752" y="3165642"/>
                </a:cubicBezTo>
                <a:lnTo>
                  <a:pt x="11985122" y="3168147"/>
                </a:lnTo>
                <a:lnTo>
                  <a:pt x="11986344" y="3172878"/>
                </a:lnTo>
                <a:lnTo>
                  <a:pt x="11973852" y="3173226"/>
                </a:lnTo>
                <a:lnTo>
                  <a:pt x="11945968" y="3173341"/>
                </a:lnTo>
                <a:cubicBezTo>
                  <a:pt x="11928568" y="3174057"/>
                  <a:pt x="11880184" y="3172923"/>
                  <a:pt x="11862470" y="3174654"/>
                </a:cubicBezTo>
                <a:cubicBezTo>
                  <a:pt x="11857360" y="3179700"/>
                  <a:pt x="11849473" y="3182451"/>
                  <a:pt x="11839688" y="3183726"/>
                </a:cubicBezTo>
                <a:lnTo>
                  <a:pt x="11818138" y="3183868"/>
                </a:lnTo>
                <a:lnTo>
                  <a:pt x="11693161" y="3196027"/>
                </a:lnTo>
                <a:lnTo>
                  <a:pt x="11675978" y="3196936"/>
                </a:lnTo>
                <a:lnTo>
                  <a:pt x="11666672" y="3201013"/>
                </a:lnTo>
                <a:cubicBezTo>
                  <a:pt x="11659568" y="3201827"/>
                  <a:pt x="11639160" y="3201301"/>
                  <a:pt x="11633348" y="3201823"/>
                </a:cubicBezTo>
                <a:lnTo>
                  <a:pt x="11631806" y="3204144"/>
                </a:lnTo>
                <a:cubicBezTo>
                  <a:pt x="11613292" y="3207852"/>
                  <a:pt x="11543654" y="3220200"/>
                  <a:pt x="11522270" y="3224070"/>
                </a:cubicBezTo>
                <a:cubicBezTo>
                  <a:pt x="11517998" y="3220503"/>
                  <a:pt x="11508432" y="3226137"/>
                  <a:pt x="11503503" y="3227361"/>
                </a:cubicBezTo>
                <a:cubicBezTo>
                  <a:pt x="11502740" y="3224959"/>
                  <a:pt x="11490808" y="3224226"/>
                  <a:pt x="11487288" y="3226364"/>
                </a:cubicBezTo>
                <a:cubicBezTo>
                  <a:pt x="11403406" y="3238085"/>
                  <a:pt x="11445394" y="3213864"/>
                  <a:pt x="11397514" y="3229209"/>
                </a:cubicBezTo>
                <a:cubicBezTo>
                  <a:pt x="11389044" y="3230225"/>
                  <a:pt x="11382180" y="3229256"/>
                  <a:pt x="11376160" y="3227461"/>
                </a:cubicBezTo>
                <a:lnTo>
                  <a:pt x="11367180" y="3223774"/>
                </a:lnTo>
                <a:lnTo>
                  <a:pt x="11332420" y="3230742"/>
                </a:lnTo>
                <a:cubicBezTo>
                  <a:pt x="11315298" y="3233171"/>
                  <a:pt x="11297277" y="3234781"/>
                  <a:pt x="11278786" y="3235517"/>
                </a:cubicBezTo>
                <a:cubicBezTo>
                  <a:pt x="11274637" y="3230607"/>
                  <a:pt x="11260123" y="3237582"/>
                  <a:pt x="11253295" y="3238964"/>
                </a:cubicBezTo>
                <a:cubicBezTo>
                  <a:pt x="11253224" y="3235757"/>
                  <a:pt x="11238096" y="3234220"/>
                  <a:pt x="11232727" y="3236871"/>
                </a:cubicBezTo>
                <a:cubicBezTo>
                  <a:pt x="11119903" y="3248332"/>
                  <a:pt x="11183388" y="3218382"/>
                  <a:pt x="11115682" y="3236341"/>
                </a:cubicBezTo>
                <a:cubicBezTo>
                  <a:pt x="11104356" y="3237278"/>
                  <a:pt x="11095858" y="3235671"/>
                  <a:pt x="11088768" y="3233017"/>
                </a:cubicBezTo>
                <a:lnTo>
                  <a:pt x="11076012" y="3226390"/>
                </a:lnTo>
                <a:lnTo>
                  <a:pt x="11066016" y="3228753"/>
                </a:lnTo>
                <a:cubicBezTo>
                  <a:pt x="11028292" y="3228939"/>
                  <a:pt x="11017169" y="3222147"/>
                  <a:pt x="10995221" y="3228989"/>
                </a:cubicBezTo>
                <a:cubicBezTo>
                  <a:pt x="10962786" y="3214768"/>
                  <a:pt x="10973708" y="3227571"/>
                  <a:pt x="10949038" y="3229747"/>
                </a:cubicBezTo>
                <a:cubicBezTo>
                  <a:pt x="10929576" y="3232582"/>
                  <a:pt x="10965306" y="3238039"/>
                  <a:pt x="10946231" y="3238844"/>
                </a:cubicBezTo>
                <a:cubicBezTo>
                  <a:pt x="10925596" y="3235173"/>
                  <a:pt x="10926566" y="3246575"/>
                  <a:pt x="10905107" y="3242085"/>
                </a:cubicBezTo>
                <a:cubicBezTo>
                  <a:pt x="10910320" y="3233495"/>
                  <a:pt x="10862761" y="3243750"/>
                  <a:pt x="10861282" y="3236246"/>
                </a:cubicBezTo>
                <a:cubicBezTo>
                  <a:pt x="10843055" y="3246977"/>
                  <a:pt x="10833897" y="3233757"/>
                  <a:pt x="10809627" y="3237064"/>
                </a:cubicBezTo>
                <a:cubicBezTo>
                  <a:pt x="10798198" y="3241124"/>
                  <a:pt x="10789952" y="3241821"/>
                  <a:pt x="10778718" y="3237455"/>
                </a:cubicBezTo>
                <a:cubicBezTo>
                  <a:pt x="10726069" y="3257219"/>
                  <a:pt x="10746866" y="3238339"/>
                  <a:pt x="10697595" y="3245939"/>
                </a:cubicBezTo>
                <a:cubicBezTo>
                  <a:pt x="10655146" y="3253933"/>
                  <a:pt x="10607026" y="3259119"/>
                  <a:pt x="10565970" y="3278201"/>
                </a:cubicBezTo>
                <a:cubicBezTo>
                  <a:pt x="10558434" y="3283608"/>
                  <a:pt x="10539930" y="3285654"/>
                  <a:pt x="10524645" y="3282773"/>
                </a:cubicBezTo>
                <a:cubicBezTo>
                  <a:pt x="10522018" y="3282276"/>
                  <a:pt x="10519582" y="3281649"/>
                  <a:pt x="10517421" y="3280913"/>
                </a:cubicBezTo>
                <a:cubicBezTo>
                  <a:pt x="10481928" y="3283832"/>
                  <a:pt x="10352108" y="3296870"/>
                  <a:pt x="10311683" y="3300288"/>
                </a:cubicBezTo>
                <a:cubicBezTo>
                  <a:pt x="10308410" y="3293342"/>
                  <a:pt x="10287968" y="3305875"/>
                  <a:pt x="10274873" y="3301423"/>
                </a:cubicBezTo>
                <a:cubicBezTo>
                  <a:pt x="10265494" y="3297516"/>
                  <a:pt x="10257104" y="3300407"/>
                  <a:pt x="10247307" y="3300714"/>
                </a:cubicBezTo>
                <a:cubicBezTo>
                  <a:pt x="10234401" y="3297643"/>
                  <a:pt x="10192308" y="3303190"/>
                  <a:pt x="10181334" y="3307168"/>
                </a:cubicBezTo>
                <a:cubicBezTo>
                  <a:pt x="10155109" y="3320992"/>
                  <a:pt x="10095518" y="3310726"/>
                  <a:pt x="10073729" y="3321318"/>
                </a:cubicBezTo>
                <a:cubicBezTo>
                  <a:pt x="10065823" y="3322872"/>
                  <a:pt x="10058087" y="3323501"/>
                  <a:pt x="10050495" y="3323554"/>
                </a:cubicBezTo>
                <a:lnTo>
                  <a:pt x="10029247" y="3322387"/>
                </a:lnTo>
                <a:lnTo>
                  <a:pt x="10023206" y="3319426"/>
                </a:lnTo>
                <a:lnTo>
                  <a:pt x="10010221" y="3320159"/>
                </a:lnTo>
                <a:lnTo>
                  <a:pt x="10006500" y="3319709"/>
                </a:lnTo>
                <a:cubicBezTo>
                  <a:pt x="9999392" y="3318836"/>
                  <a:pt x="9992376" y="3318075"/>
                  <a:pt x="9985433" y="3317775"/>
                </a:cubicBezTo>
                <a:cubicBezTo>
                  <a:pt x="9994564" y="3332623"/>
                  <a:pt x="9927872" y="3317665"/>
                  <a:pt x="9947096" y="3329673"/>
                </a:cubicBezTo>
                <a:cubicBezTo>
                  <a:pt x="9910530" y="3330603"/>
                  <a:pt x="9938422" y="3341787"/>
                  <a:pt x="9894468" y="3331125"/>
                </a:cubicBezTo>
                <a:cubicBezTo>
                  <a:pt x="9837697" y="3343266"/>
                  <a:pt x="9748207" y="3338748"/>
                  <a:pt x="9703741" y="3357170"/>
                </a:cubicBezTo>
                <a:cubicBezTo>
                  <a:pt x="9709264" y="3350136"/>
                  <a:pt x="9685337" y="3344679"/>
                  <a:pt x="9668763" y="3348169"/>
                </a:cubicBezTo>
                <a:cubicBezTo>
                  <a:pt x="9688139" y="3320571"/>
                  <a:pt x="9603232" y="3373038"/>
                  <a:pt x="9588644" y="3354205"/>
                </a:cubicBezTo>
                <a:cubicBezTo>
                  <a:pt x="9587925" y="3371689"/>
                  <a:pt x="9513642" y="3401336"/>
                  <a:pt x="9478680" y="3386990"/>
                </a:cubicBezTo>
                <a:cubicBezTo>
                  <a:pt x="9425416" y="3390492"/>
                  <a:pt x="9387699" y="3404944"/>
                  <a:pt x="9331856" y="3399166"/>
                </a:cubicBezTo>
                <a:cubicBezTo>
                  <a:pt x="9330123" y="3401505"/>
                  <a:pt x="9327283" y="3403463"/>
                  <a:pt x="9323679" y="3405145"/>
                </a:cubicBezTo>
                <a:lnTo>
                  <a:pt x="9311620" y="3409223"/>
                </a:lnTo>
                <a:lnTo>
                  <a:pt x="9309289" y="3408926"/>
                </a:lnTo>
                <a:cubicBezTo>
                  <a:pt x="9300131" y="3408873"/>
                  <a:pt x="9295442" y="3409859"/>
                  <a:pt x="9292731" y="3411301"/>
                </a:cubicBezTo>
                <a:lnTo>
                  <a:pt x="9290814" y="3413412"/>
                </a:lnTo>
                <a:lnTo>
                  <a:pt x="9279990" y="3415541"/>
                </a:lnTo>
                <a:lnTo>
                  <a:pt x="9260104" y="3421077"/>
                </a:lnTo>
                <a:lnTo>
                  <a:pt x="9255034" y="3420853"/>
                </a:lnTo>
                <a:lnTo>
                  <a:pt x="9222941" y="3427242"/>
                </a:lnTo>
                <a:lnTo>
                  <a:pt x="9221858" y="3426731"/>
                </a:lnTo>
                <a:cubicBezTo>
                  <a:pt x="9218700" y="3425733"/>
                  <a:pt x="9214983" y="3425271"/>
                  <a:pt x="9210014" y="3425917"/>
                </a:cubicBezTo>
                <a:cubicBezTo>
                  <a:pt x="9208256" y="3416158"/>
                  <a:pt x="9203342" y="3422957"/>
                  <a:pt x="9188839" y="3425728"/>
                </a:cubicBezTo>
                <a:cubicBezTo>
                  <a:pt x="9182870" y="3411188"/>
                  <a:pt x="9147335" y="3424352"/>
                  <a:pt x="9132080" y="3417886"/>
                </a:cubicBezTo>
                <a:cubicBezTo>
                  <a:pt x="9121557" y="3420249"/>
                  <a:pt x="9110321" y="3422482"/>
                  <a:pt x="9098549" y="3424480"/>
                </a:cubicBezTo>
                <a:lnTo>
                  <a:pt x="9003970" y="3425484"/>
                </a:lnTo>
                <a:lnTo>
                  <a:pt x="8904921" y="3413774"/>
                </a:lnTo>
                <a:cubicBezTo>
                  <a:pt x="8868284" y="3413519"/>
                  <a:pt x="8836559" y="3409171"/>
                  <a:pt x="8805551" y="3412237"/>
                </a:cubicBezTo>
                <a:cubicBezTo>
                  <a:pt x="8792955" y="3408854"/>
                  <a:pt x="8781083" y="3407488"/>
                  <a:pt x="8769572" y="3412551"/>
                </a:cubicBezTo>
                <a:cubicBezTo>
                  <a:pt x="8735382" y="3410862"/>
                  <a:pt x="8727105" y="3403632"/>
                  <a:pt x="8705440" y="3409271"/>
                </a:cubicBezTo>
                <a:cubicBezTo>
                  <a:pt x="8686231" y="3397576"/>
                  <a:pt x="8685094" y="3402040"/>
                  <a:pt x="8676067" y="3405389"/>
                </a:cubicBezTo>
                <a:lnTo>
                  <a:pt x="8674779" y="3405628"/>
                </a:lnTo>
                <a:lnTo>
                  <a:pt x="8672154" y="3403956"/>
                </a:lnTo>
                <a:lnTo>
                  <a:pt x="8666720" y="3403182"/>
                </a:lnTo>
                <a:lnTo>
                  <a:pt x="8651886" y="3403680"/>
                </a:lnTo>
                <a:lnTo>
                  <a:pt x="8646307" y="3404298"/>
                </a:lnTo>
                <a:cubicBezTo>
                  <a:pt x="8642465" y="3404565"/>
                  <a:pt x="8639912" y="3404534"/>
                  <a:pt x="8638145" y="3404287"/>
                </a:cubicBezTo>
                <a:lnTo>
                  <a:pt x="8637941" y="3404149"/>
                </a:lnTo>
                <a:lnTo>
                  <a:pt x="8630296" y="3404406"/>
                </a:lnTo>
                <a:cubicBezTo>
                  <a:pt x="8617394" y="3405155"/>
                  <a:pt x="8604838" y="3406180"/>
                  <a:pt x="8592887" y="3407398"/>
                </a:cubicBezTo>
                <a:cubicBezTo>
                  <a:pt x="8582781" y="3399722"/>
                  <a:pt x="8538622" y="3408789"/>
                  <a:pt x="8543455" y="3394319"/>
                </a:cubicBezTo>
                <a:cubicBezTo>
                  <a:pt x="8527334" y="3395534"/>
                  <a:pt x="8517583" y="3401542"/>
                  <a:pt x="8523012" y="3392051"/>
                </a:cubicBezTo>
                <a:cubicBezTo>
                  <a:pt x="8517705" y="3392178"/>
                  <a:pt x="8514435" y="3391372"/>
                  <a:pt x="8512093" y="3390108"/>
                </a:cubicBezTo>
                <a:lnTo>
                  <a:pt x="8511416" y="3389513"/>
                </a:lnTo>
                <a:lnTo>
                  <a:pt x="8475551" y="3392450"/>
                </a:lnTo>
                <a:lnTo>
                  <a:pt x="8470789" y="3391736"/>
                </a:lnTo>
                <a:lnTo>
                  <a:pt x="8447414" y="3395064"/>
                </a:lnTo>
                <a:lnTo>
                  <a:pt x="8435335" y="3396028"/>
                </a:lnTo>
                <a:lnTo>
                  <a:pt x="8431923" y="3397855"/>
                </a:lnTo>
                <a:cubicBezTo>
                  <a:pt x="8428239" y="3398965"/>
                  <a:pt x="8422959" y="3399444"/>
                  <a:pt x="8414099" y="3398491"/>
                </a:cubicBezTo>
                <a:lnTo>
                  <a:pt x="8412049" y="3397978"/>
                </a:lnTo>
                <a:lnTo>
                  <a:pt x="8397349" y="3400683"/>
                </a:lnTo>
                <a:cubicBezTo>
                  <a:pt x="8392615" y="3401933"/>
                  <a:pt x="8388424" y="3403524"/>
                  <a:pt x="8385030" y="3405585"/>
                </a:cubicBezTo>
                <a:cubicBezTo>
                  <a:pt x="8334977" y="3394568"/>
                  <a:pt x="8287750" y="3404648"/>
                  <a:pt x="8233422" y="3402742"/>
                </a:cubicBezTo>
                <a:cubicBezTo>
                  <a:pt x="8209936" y="3385601"/>
                  <a:pt x="8116056" y="3406588"/>
                  <a:pt x="8102569" y="3423208"/>
                </a:cubicBezTo>
                <a:cubicBezTo>
                  <a:pt x="8102264" y="3408645"/>
                  <a:pt x="8034186" y="3428475"/>
                  <a:pt x="8016625" y="3428989"/>
                </a:cubicBezTo>
                <a:cubicBezTo>
                  <a:pt x="8010771" y="3429161"/>
                  <a:pt x="8010530" y="3427186"/>
                  <a:pt x="8020284" y="3421076"/>
                </a:cubicBezTo>
                <a:cubicBezTo>
                  <a:pt x="8001623" y="3422777"/>
                  <a:pt x="7982361" y="3415208"/>
                  <a:pt x="7992871" y="3409037"/>
                </a:cubicBezTo>
                <a:cubicBezTo>
                  <a:pt x="7936181" y="3422244"/>
                  <a:pt x="7852511" y="3409112"/>
                  <a:pt x="7788452" y="3415110"/>
                </a:cubicBezTo>
                <a:cubicBezTo>
                  <a:pt x="7753529" y="3400598"/>
                  <a:pt x="7772461" y="3414025"/>
                  <a:pt x="7736237" y="3411311"/>
                </a:cubicBezTo>
                <a:cubicBezTo>
                  <a:pt x="7746145" y="3424670"/>
                  <a:pt x="7692261" y="3403816"/>
                  <a:pt x="7690279" y="3418893"/>
                </a:cubicBezTo>
                <a:cubicBezTo>
                  <a:pt x="7683750" y="3417921"/>
                  <a:pt x="7677487" y="3416505"/>
                  <a:pt x="7671219" y="3414970"/>
                </a:cubicBezTo>
                <a:lnTo>
                  <a:pt x="7667928" y="3414173"/>
                </a:lnTo>
                <a:lnTo>
                  <a:pt x="7654774" y="3413595"/>
                </a:lnTo>
                <a:lnTo>
                  <a:pt x="7651067" y="3410171"/>
                </a:lnTo>
                <a:lnTo>
                  <a:pt x="7631267" y="3406963"/>
                </a:lnTo>
                <a:cubicBezTo>
                  <a:pt x="7623851" y="3406267"/>
                  <a:pt x="7615871" y="3406106"/>
                  <a:pt x="7607053" y="3406809"/>
                </a:cubicBezTo>
                <a:cubicBezTo>
                  <a:pt x="7585359" y="3412784"/>
                  <a:pt x="7551579" y="3405461"/>
                  <a:pt x="7521027" y="3405904"/>
                </a:cubicBezTo>
                <a:lnTo>
                  <a:pt x="7506997" y="3407754"/>
                </a:lnTo>
                <a:lnTo>
                  <a:pt x="7461204" y="3404669"/>
                </a:lnTo>
                <a:cubicBezTo>
                  <a:pt x="7448169" y="3404071"/>
                  <a:pt x="7434640" y="3403756"/>
                  <a:pt x="7420396" y="3403975"/>
                </a:cubicBezTo>
                <a:lnTo>
                  <a:pt x="7393955" y="3405447"/>
                </a:lnTo>
                <a:lnTo>
                  <a:pt x="7387024" y="3404227"/>
                </a:lnTo>
                <a:cubicBezTo>
                  <a:pt x="7374952" y="3404363"/>
                  <a:pt x="7358975" y="3408656"/>
                  <a:pt x="7360398" y="3403441"/>
                </a:cubicBezTo>
                <a:lnTo>
                  <a:pt x="7346837" y="3405249"/>
                </a:lnTo>
                <a:lnTo>
                  <a:pt x="7333451" y="3401087"/>
                </a:lnTo>
                <a:cubicBezTo>
                  <a:pt x="7331985" y="3400120"/>
                  <a:pt x="7330882" y="3399091"/>
                  <a:pt x="7330179" y="3398037"/>
                </a:cubicBezTo>
                <a:lnTo>
                  <a:pt x="7311232" y="3399406"/>
                </a:lnTo>
                <a:lnTo>
                  <a:pt x="7295699" y="3396426"/>
                </a:lnTo>
                <a:lnTo>
                  <a:pt x="7282158" y="3398374"/>
                </a:lnTo>
                <a:lnTo>
                  <a:pt x="7276538" y="3397935"/>
                </a:lnTo>
                <a:lnTo>
                  <a:pt x="7262569" y="3396460"/>
                </a:lnTo>
                <a:cubicBezTo>
                  <a:pt x="7255407" y="3395426"/>
                  <a:pt x="7247392" y="3394180"/>
                  <a:pt x="7238468" y="3393183"/>
                </a:cubicBezTo>
                <a:lnTo>
                  <a:pt x="7230949" y="3392727"/>
                </a:lnTo>
                <a:lnTo>
                  <a:pt x="7214580" y="3387715"/>
                </a:lnTo>
                <a:cubicBezTo>
                  <a:pt x="7202670" y="3383926"/>
                  <a:pt x="7193296" y="3381373"/>
                  <a:pt x="7182893" y="3383429"/>
                </a:cubicBezTo>
                <a:cubicBezTo>
                  <a:pt x="7165160" y="3378534"/>
                  <a:pt x="7152772" y="3364815"/>
                  <a:pt x="7127104" y="3368475"/>
                </a:cubicBezTo>
                <a:cubicBezTo>
                  <a:pt x="7134894" y="3362260"/>
                  <a:pt x="7098599" y="3367723"/>
                  <a:pt x="7094311" y="3361339"/>
                </a:cubicBezTo>
                <a:cubicBezTo>
                  <a:pt x="7092331" y="3356198"/>
                  <a:pt x="7080860" y="3356657"/>
                  <a:pt x="7072124" y="3354762"/>
                </a:cubicBezTo>
                <a:cubicBezTo>
                  <a:pt x="7065898" y="3349511"/>
                  <a:pt x="7021942" y="3344717"/>
                  <a:pt x="7006638" y="3345473"/>
                </a:cubicBezTo>
                <a:cubicBezTo>
                  <a:pt x="6963504" y="3350697"/>
                  <a:pt x="6928807" y="3329559"/>
                  <a:pt x="6894320" y="3333192"/>
                </a:cubicBezTo>
                <a:cubicBezTo>
                  <a:pt x="6885290" y="3332697"/>
                  <a:pt x="6877803" y="3331507"/>
                  <a:pt x="6871318" y="3329892"/>
                </a:cubicBezTo>
                <a:lnTo>
                  <a:pt x="6855157" y="3324330"/>
                </a:lnTo>
                <a:cubicBezTo>
                  <a:pt x="6854956" y="3323109"/>
                  <a:pt x="6854755" y="3321887"/>
                  <a:pt x="6854555" y="3320665"/>
                </a:cubicBezTo>
                <a:lnTo>
                  <a:pt x="6842483" y="3318413"/>
                </a:lnTo>
                <a:lnTo>
                  <a:pt x="6840027" y="3317245"/>
                </a:lnTo>
                <a:cubicBezTo>
                  <a:pt x="6835354" y="3315001"/>
                  <a:pt x="6830588" y="3312868"/>
                  <a:pt x="6825185" y="3311114"/>
                </a:cubicBezTo>
                <a:cubicBezTo>
                  <a:pt x="6810331" y="3324866"/>
                  <a:pt x="6776772" y="3298463"/>
                  <a:pt x="6774755" y="3312168"/>
                </a:cubicBezTo>
                <a:cubicBezTo>
                  <a:pt x="6742477" y="3304924"/>
                  <a:pt x="6749024" y="3319870"/>
                  <a:pt x="6728129" y="3301832"/>
                </a:cubicBezTo>
                <a:cubicBezTo>
                  <a:pt x="6661764" y="3299056"/>
                  <a:pt x="6593104" y="3275946"/>
                  <a:pt x="6527587" y="3280829"/>
                </a:cubicBezTo>
                <a:cubicBezTo>
                  <a:pt x="6542935" y="3276465"/>
                  <a:pt x="6531033" y="3266920"/>
                  <a:pt x="6511742" y="3266067"/>
                </a:cubicBezTo>
                <a:cubicBezTo>
                  <a:pt x="6570025" y="3248440"/>
                  <a:pt x="6418649" y="3271458"/>
                  <a:pt x="6434953" y="3253360"/>
                </a:cubicBezTo>
                <a:cubicBezTo>
                  <a:pt x="6407781" y="3267048"/>
                  <a:pt x="6300040" y="3274313"/>
                  <a:pt x="6292331" y="3255322"/>
                </a:cubicBezTo>
                <a:cubicBezTo>
                  <a:pt x="6242057" y="3246469"/>
                  <a:pt x="6188266" y="3249680"/>
                  <a:pt x="6149913" y="3232917"/>
                </a:cubicBezTo>
                <a:cubicBezTo>
                  <a:pt x="6144898" y="3234391"/>
                  <a:pt x="6139526" y="3235322"/>
                  <a:pt x="6133930" y="3235867"/>
                </a:cubicBezTo>
                <a:lnTo>
                  <a:pt x="6117554" y="3236464"/>
                </a:lnTo>
                <a:lnTo>
                  <a:pt x="6116039" y="3235720"/>
                </a:lnTo>
                <a:cubicBezTo>
                  <a:pt x="6108393" y="3233681"/>
                  <a:pt x="6102936" y="3233437"/>
                  <a:pt x="6098459" y="3233988"/>
                </a:cubicBezTo>
                <a:lnTo>
                  <a:pt x="6093630" y="3235240"/>
                </a:lnTo>
                <a:lnTo>
                  <a:pt x="6081261" y="3234563"/>
                </a:lnTo>
                <a:lnTo>
                  <a:pt x="6056067" y="3234608"/>
                </a:lnTo>
                <a:lnTo>
                  <a:pt x="6052129" y="3233324"/>
                </a:lnTo>
                <a:lnTo>
                  <a:pt x="6015338" y="3231378"/>
                </a:lnTo>
                <a:cubicBezTo>
                  <a:pt x="6015291" y="3231165"/>
                  <a:pt x="6015245" y="3230951"/>
                  <a:pt x="6015198" y="3230737"/>
                </a:cubicBezTo>
                <a:cubicBezTo>
                  <a:pt x="6014048" y="3229257"/>
                  <a:pt x="6011617" y="3228081"/>
                  <a:pt x="6006436" y="3227508"/>
                </a:cubicBezTo>
                <a:cubicBezTo>
                  <a:pt x="6019781" y="3219395"/>
                  <a:pt x="6005305" y="3223709"/>
                  <a:pt x="5988851" y="3222735"/>
                </a:cubicBezTo>
                <a:cubicBezTo>
                  <a:pt x="6005907" y="3209918"/>
                  <a:pt x="5955918" y="3212588"/>
                  <a:pt x="5952863" y="3204137"/>
                </a:cubicBezTo>
                <a:cubicBezTo>
                  <a:pt x="5940395" y="3203711"/>
                  <a:pt x="5927517" y="3203028"/>
                  <a:pt x="5914548" y="3202041"/>
                </a:cubicBezTo>
                <a:lnTo>
                  <a:pt x="5907020" y="3201283"/>
                </a:lnTo>
                <a:cubicBezTo>
                  <a:pt x="5906995" y="3201231"/>
                  <a:pt x="5906969" y="3201180"/>
                  <a:pt x="5906944" y="3201129"/>
                </a:cubicBezTo>
                <a:cubicBezTo>
                  <a:pt x="5905471" y="3200668"/>
                  <a:pt x="5903056" y="3200308"/>
                  <a:pt x="5899155" y="3200053"/>
                </a:cubicBezTo>
                <a:lnTo>
                  <a:pt x="5893294" y="3199901"/>
                </a:lnTo>
                <a:lnTo>
                  <a:pt x="5878691" y="3198431"/>
                </a:lnTo>
                <a:lnTo>
                  <a:pt x="5874165" y="3197003"/>
                </a:lnTo>
                <a:lnTo>
                  <a:pt x="5873092" y="3195108"/>
                </a:lnTo>
                <a:lnTo>
                  <a:pt x="5871658" y="3195162"/>
                </a:lnTo>
                <a:cubicBezTo>
                  <a:pt x="5860152" y="3197097"/>
                  <a:pt x="5855231" y="3201097"/>
                  <a:pt x="5846928" y="3187725"/>
                </a:cubicBezTo>
                <a:cubicBezTo>
                  <a:pt x="5821379" y="3190142"/>
                  <a:pt x="5819686" y="3182343"/>
                  <a:pt x="5788468" y="3176316"/>
                </a:cubicBezTo>
                <a:cubicBezTo>
                  <a:pt x="5773119" y="3179521"/>
                  <a:pt x="5762947" y="3176704"/>
                  <a:pt x="5753823" y="3171919"/>
                </a:cubicBezTo>
                <a:cubicBezTo>
                  <a:pt x="5721557" y="3170726"/>
                  <a:pt x="5694983" y="3162549"/>
                  <a:pt x="5660194" y="3157536"/>
                </a:cubicBezTo>
                <a:cubicBezTo>
                  <a:pt x="5619608" y="3159495"/>
                  <a:pt x="5604384" y="3146636"/>
                  <a:pt x="5567188" y="3141325"/>
                </a:cubicBezTo>
                <a:cubicBezTo>
                  <a:pt x="5530345" y="3148235"/>
                  <a:pt x="5543868" y="3129416"/>
                  <a:pt x="5526178" y="3123274"/>
                </a:cubicBezTo>
                <a:lnTo>
                  <a:pt x="5520866" y="3122322"/>
                </a:lnTo>
                <a:lnTo>
                  <a:pt x="5506009" y="3122332"/>
                </a:lnTo>
                <a:lnTo>
                  <a:pt x="5500363" y="3122766"/>
                </a:lnTo>
                <a:cubicBezTo>
                  <a:pt x="5496497" y="3122905"/>
                  <a:pt x="5493953" y="3122792"/>
                  <a:pt x="5492228" y="3122486"/>
                </a:cubicBezTo>
                <a:lnTo>
                  <a:pt x="5492044" y="3122342"/>
                </a:lnTo>
                <a:lnTo>
                  <a:pt x="5484386" y="3122347"/>
                </a:lnTo>
                <a:cubicBezTo>
                  <a:pt x="5471420" y="3122670"/>
                  <a:pt x="5458764" y="3123280"/>
                  <a:pt x="5446679" y="3124105"/>
                </a:cubicBezTo>
                <a:cubicBezTo>
                  <a:pt x="5437659" y="3116107"/>
                  <a:pt x="5392392" y="3123709"/>
                  <a:pt x="5399188" y="3109418"/>
                </a:cubicBezTo>
                <a:cubicBezTo>
                  <a:pt x="5382948" y="3110102"/>
                  <a:pt x="5372407" y="3115781"/>
                  <a:pt x="5379117" y="3106482"/>
                </a:cubicBezTo>
                <a:cubicBezTo>
                  <a:pt x="5373809" y="3106435"/>
                  <a:pt x="5370660" y="3105521"/>
                  <a:pt x="5368499" y="3104181"/>
                </a:cubicBezTo>
                <a:lnTo>
                  <a:pt x="5367902" y="3103566"/>
                </a:lnTo>
                <a:lnTo>
                  <a:pt x="5331747" y="3105319"/>
                </a:lnTo>
                <a:lnTo>
                  <a:pt x="5327095" y="3104450"/>
                </a:lnTo>
                <a:lnTo>
                  <a:pt x="5303337" y="3107003"/>
                </a:lnTo>
                <a:lnTo>
                  <a:pt x="5291164" y="3107570"/>
                </a:lnTo>
                <a:lnTo>
                  <a:pt x="5287515" y="3109282"/>
                </a:lnTo>
                <a:cubicBezTo>
                  <a:pt x="5283689" y="3110269"/>
                  <a:pt x="5278356" y="3110573"/>
                  <a:pt x="5269654" y="3109330"/>
                </a:cubicBezTo>
                <a:lnTo>
                  <a:pt x="5267681" y="3108752"/>
                </a:lnTo>
                <a:lnTo>
                  <a:pt x="5252655" y="3110969"/>
                </a:lnTo>
                <a:cubicBezTo>
                  <a:pt x="5247766" y="3112062"/>
                  <a:pt x="5243369" y="3113511"/>
                  <a:pt x="5239703" y="3115460"/>
                </a:cubicBezTo>
                <a:cubicBezTo>
                  <a:pt x="5191311" y="3102811"/>
                  <a:pt x="5142849" y="3111324"/>
                  <a:pt x="5088947" y="3107634"/>
                </a:cubicBezTo>
                <a:cubicBezTo>
                  <a:pt x="5027989" y="3108214"/>
                  <a:pt x="4985627" y="3110432"/>
                  <a:pt x="4945514" y="3110162"/>
                </a:cubicBezTo>
                <a:cubicBezTo>
                  <a:pt x="4926678" y="3111245"/>
                  <a:pt x="4789238" y="3111826"/>
                  <a:pt x="4800559" y="3106010"/>
                </a:cubicBezTo>
                <a:cubicBezTo>
                  <a:pt x="4742239" y="3117333"/>
                  <a:pt x="4708324" y="3101468"/>
                  <a:pt x="4643642" y="3105351"/>
                </a:cubicBezTo>
                <a:cubicBezTo>
                  <a:pt x="4610808" y="3089712"/>
                  <a:pt x="4627845" y="3103743"/>
                  <a:pt x="4592107" y="3099840"/>
                </a:cubicBezTo>
                <a:cubicBezTo>
                  <a:pt x="4600157" y="3113506"/>
                  <a:pt x="4549287" y="3090911"/>
                  <a:pt x="4545249" y="3105899"/>
                </a:cubicBezTo>
                <a:cubicBezTo>
                  <a:pt x="4538872" y="3104716"/>
                  <a:pt x="4532825" y="3103094"/>
                  <a:pt x="4526782" y="3101355"/>
                </a:cubicBezTo>
                <a:lnTo>
                  <a:pt x="4523614" y="3100453"/>
                </a:lnTo>
                <a:lnTo>
                  <a:pt x="4510579" y="3099442"/>
                </a:lnTo>
                <a:lnTo>
                  <a:pt x="4507348" y="3095901"/>
                </a:lnTo>
                <a:lnTo>
                  <a:pt x="4348949" y="3090220"/>
                </a:lnTo>
                <a:cubicBezTo>
                  <a:pt x="4335046" y="3092487"/>
                  <a:pt x="4290056" y="3092155"/>
                  <a:pt x="4280362" y="3087618"/>
                </a:cubicBezTo>
                <a:cubicBezTo>
                  <a:pt x="4270739" y="3086627"/>
                  <a:pt x="4260237" y="3088220"/>
                  <a:pt x="4254634" y="3083366"/>
                </a:cubicBezTo>
                <a:cubicBezTo>
                  <a:pt x="4233731" y="3080512"/>
                  <a:pt x="4185859" y="3073948"/>
                  <a:pt x="4154942" y="3070490"/>
                </a:cubicBezTo>
                <a:cubicBezTo>
                  <a:pt x="4138280" y="3076599"/>
                  <a:pt x="4112117" y="3064194"/>
                  <a:pt x="4069131" y="3062612"/>
                </a:cubicBezTo>
                <a:cubicBezTo>
                  <a:pt x="4050897" y="3069679"/>
                  <a:pt x="4040160" y="3061449"/>
                  <a:pt x="4005249" y="3070810"/>
                </a:cubicBezTo>
                <a:cubicBezTo>
                  <a:pt x="4003818" y="3069842"/>
                  <a:pt x="4002032" y="3068943"/>
                  <a:pt x="3999945" y="3068139"/>
                </a:cubicBezTo>
                <a:cubicBezTo>
                  <a:pt x="3987818" y="3063468"/>
                  <a:pt x="3968381" y="3062958"/>
                  <a:pt x="3956529" y="3067000"/>
                </a:cubicBezTo>
                <a:cubicBezTo>
                  <a:pt x="3900898" y="3079382"/>
                  <a:pt x="3850463" y="3077929"/>
                  <a:pt x="3803031" y="3079823"/>
                </a:cubicBezTo>
                <a:cubicBezTo>
                  <a:pt x="3749421" y="3080464"/>
                  <a:pt x="3785521" y="3065630"/>
                  <a:pt x="3718229" y="3077134"/>
                </a:cubicBezTo>
                <a:cubicBezTo>
                  <a:pt x="3711244" y="3071611"/>
                  <a:pt x="3702770" y="3071184"/>
                  <a:pt x="3688357" y="3073468"/>
                </a:cubicBezTo>
                <a:cubicBezTo>
                  <a:pt x="3662326" y="3073378"/>
                  <a:pt x="3664937" y="3059899"/>
                  <a:pt x="3638298" y="3067494"/>
                </a:cubicBezTo>
                <a:cubicBezTo>
                  <a:pt x="3643333" y="3060328"/>
                  <a:pt x="3589079" y="3063658"/>
                  <a:pt x="3601443" y="3056355"/>
                </a:cubicBezTo>
                <a:cubicBezTo>
                  <a:pt x="3584797" y="3049384"/>
                  <a:pt x="3575923" y="3060108"/>
                  <a:pt x="3559361" y="3054005"/>
                </a:cubicBezTo>
                <a:cubicBezTo>
                  <a:pt x="3540444" y="3052269"/>
                  <a:pt x="3569896" y="3061996"/>
                  <a:pt x="3548859" y="3062094"/>
                </a:cubicBezTo>
                <a:cubicBezTo>
                  <a:pt x="3523419" y="3060901"/>
                  <a:pt x="3522848" y="3074222"/>
                  <a:pt x="3504082" y="3056779"/>
                </a:cubicBezTo>
                <a:lnTo>
                  <a:pt x="3436234" y="3047769"/>
                </a:lnTo>
                <a:cubicBezTo>
                  <a:pt x="3420764" y="3051629"/>
                  <a:pt x="3408644" y="3049227"/>
                  <a:pt x="3396914" y="3044803"/>
                </a:cubicBezTo>
                <a:cubicBezTo>
                  <a:pt x="3361398" y="3044955"/>
                  <a:pt x="3329425" y="3037856"/>
                  <a:pt x="3289720" y="3034278"/>
                </a:cubicBezTo>
                <a:cubicBezTo>
                  <a:pt x="3246348" y="3037943"/>
                  <a:pt x="3224942" y="3025667"/>
                  <a:pt x="3182509" y="3021890"/>
                </a:cubicBezTo>
                <a:cubicBezTo>
                  <a:pt x="3139731" y="3031583"/>
                  <a:pt x="3155749" y="3004773"/>
                  <a:pt x="3119879" y="3004134"/>
                </a:cubicBezTo>
                <a:cubicBezTo>
                  <a:pt x="3060941" y="3012153"/>
                  <a:pt x="3121880" y="2995117"/>
                  <a:pt x="3031656" y="2995077"/>
                </a:cubicBezTo>
                <a:cubicBezTo>
                  <a:pt x="3026453" y="2996603"/>
                  <a:pt x="3015685" y="2994367"/>
                  <a:pt x="3017018" y="2992034"/>
                </a:cubicBezTo>
                <a:cubicBezTo>
                  <a:pt x="2997245" y="2992118"/>
                  <a:pt x="2941342" y="2976346"/>
                  <a:pt x="2913012" y="2978042"/>
                </a:cubicBezTo>
                <a:cubicBezTo>
                  <a:pt x="2858481" y="2969139"/>
                  <a:pt x="2831094" y="2979433"/>
                  <a:pt x="2791382" y="2975899"/>
                </a:cubicBezTo>
                <a:cubicBezTo>
                  <a:pt x="2745836" y="2966063"/>
                  <a:pt x="2719288" y="2957529"/>
                  <a:pt x="2639738" y="2936567"/>
                </a:cubicBezTo>
                <a:lnTo>
                  <a:pt x="2369741" y="2876435"/>
                </a:lnTo>
                <a:cubicBezTo>
                  <a:pt x="2269614" y="2832081"/>
                  <a:pt x="2140023" y="2856176"/>
                  <a:pt x="2078755" y="2852909"/>
                </a:cubicBezTo>
                <a:cubicBezTo>
                  <a:pt x="2053362" y="2866100"/>
                  <a:pt x="2032778" y="2851474"/>
                  <a:pt x="2002128" y="2856835"/>
                </a:cubicBezTo>
                <a:cubicBezTo>
                  <a:pt x="1933939" y="2859736"/>
                  <a:pt x="1866254" y="2874726"/>
                  <a:pt x="1777746" y="2864566"/>
                </a:cubicBezTo>
                <a:cubicBezTo>
                  <a:pt x="1737851" y="2905864"/>
                  <a:pt x="1634115" y="2880970"/>
                  <a:pt x="1549425" y="2904556"/>
                </a:cubicBezTo>
                <a:cubicBezTo>
                  <a:pt x="1500265" y="2909373"/>
                  <a:pt x="1423030" y="2888862"/>
                  <a:pt x="1405992" y="2911144"/>
                </a:cubicBezTo>
                <a:cubicBezTo>
                  <a:pt x="1383494" y="2897507"/>
                  <a:pt x="1362438" y="2919536"/>
                  <a:pt x="1337848" y="2921491"/>
                </a:cubicBezTo>
                <a:cubicBezTo>
                  <a:pt x="1318218" y="2912820"/>
                  <a:pt x="1308478" y="2920319"/>
                  <a:pt x="1290645" y="2921985"/>
                </a:cubicBezTo>
                <a:cubicBezTo>
                  <a:pt x="1282569" y="2916637"/>
                  <a:pt x="1267476" y="2916916"/>
                  <a:pt x="1262341" y="2923190"/>
                </a:cubicBezTo>
                <a:cubicBezTo>
                  <a:pt x="1269627" y="2937654"/>
                  <a:pt x="1217209" y="2930439"/>
                  <a:pt x="1213314" y="2940415"/>
                </a:cubicBezTo>
                <a:cubicBezTo>
                  <a:pt x="1182890" y="2942495"/>
                  <a:pt x="1050782" y="2929830"/>
                  <a:pt x="1028405" y="2945799"/>
                </a:cubicBezTo>
                <a:cubicBezTo>
                  <a:pt x="966896" y="2953381"/>
                  <a:pt x="877997" y="2927977"/>
                  <a:pt x="851857" y="2928423"/>
                </a:cubicBezTo>
                <a:cubicBezTo>
                  <a:pt x="825919" y="2899251"/>
                  <a:pt x="699677" y="2976135"/>
                  <a:pt x="588681" y="2977769"/>
                </a:cubicBezTo>
                <a:cubicBezTo>
                  <a:pt x="573724" y="2974953"/>
                  <a:pt x="565729" y="2974991"/>
                  <a:pt x="561717" y="2981641"/>
                </a:cubicBezTo>
                <a:cubicBezTo>
                  <a:pt x="532860" y="2985482"/>
                  <a:pt x="475932" y="2991762"/>
                  <a:pt x="415541" y="3000819"/>
                </a:cubicBezTo>
                <a:cubicBezTo>
                  <a:pt x="370154" y="3008289"/>
                  <a:pt x="146634" y="3001788"/>
                  <a:pt x="86183" y="3009699"/>
                </a:cubicBezTo>
                <a:lnTo>
                  <a:pt x="0" y="304497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3703975"/>
            <a:ext cx="3943350" cy="239871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/>
              <a:t>Most challenging relationship</a:t>
            </a:r>
          </a:p>
          <a:p>
            <a:pPr marL="0" indent="0">
              <a:buNone/>
            </a:pPr>
            <a:r>
              <a:rPr lang="en-US" sz="1700"/>
              <a:t>Main issue: Kashmir dispute</a:t>
            </a:r>
          </a:p>
          <a:p>
            <a:pPr marL="0" indent="0">
              <a:buNone/>
            </a:pPr>
            <a:r>
              <a:rPr lang="en-US" sz="1700"/>
              <a:t>History of wars (1948, 1965, 1971)</a:t>
            </a:r>
          </a:p>
          <a:p>
            <a:pPr marL="0" indent="0">
              <a:buNone/>
            </a:pPr>
            <a:r>
              <a:rPr lang="en-US" sz="1700"/>
              <a:t>Frequent tensions and ceasefire violations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FEACB-3A87-A396-5ED4-18943F436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900"/>
              <a:pPr>
                <a:spcAft>
                  <a:spcPts val="600"/>
                </a:spcAft>
              </a:pPr>
              <a:t>15</a:t>
            </a:fld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2" name="Rectangle 7181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4" name="Rectangle 7183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271" y="-1"/>
            <a:ext cx="9144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62799D-9FF2-3CDC-6B46-CEBE9170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776" y="609600"/>
            <a:ext cx="2696758" cy="13308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Relations with Afghanistan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66FC5-8E0B-D9CF-CCD8-43671BDC7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48" y="2194102"/>
            <a:ext cx="3078886" cy="3908586"/>
          </a:xfrm>
        </p:spPr>
        <p:txBody>
          <a:bodyPr>
            <a:normAutofit/>
          </a:bodyPr>
          <a:lstStyle/>
          <a:p>
            <a:r>
              <a:rPr lang="en-US" sz="2000" dirty="0"/>
              <a:t>Important neighboring country</a:t>
            </a:r>
          </a:p>
          <a:p>
            <a:r>
              <a:rPr lang="en-US" sz="2000" dirty="0"/>
              <a:t>Issues: border security, terrorism, refugee crisis</a:t>
            </a:r>
          </a:p>
          <a:p>
            <a:r>
              <a:rPr lang="en-US" sz="2000" dirty="0"/>
              <a:t>Stability in Afghanistan directly affects Pakistan</a:t>
            </a:r>
          </a:p>
        </p:txBody>
      </p:sp>
      <p:pic>
        <p:nvPicPr>
          <p:cNvPr id="7170" name="Picture 2" descr="afghan and pakistani flag on cracked wall surface: afghanistan - pakistan relations: tensions, geopolitics crisis, - the afghan stock pictures, royalty-free photos &amp; images">
            <a:extLst>
              <a:ext uri="{FF2B5EF4-FFF2-40B4-BE49-F238E27FC236}">
                <a16:creationId xmlns:a16="http://schemas.microsoft.com/office/drawing/2014/main" id="{61237235-2762-3C06-FDC3-96BBA2DBC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14" r="28215" b="1"/>
          <a:stretch>
            <a:fillRect/>
          </a:stretch>
        </p:blipFill>
        <p:spPr bwMode="auto">
          <a:xfrm>
            <a:off x="3711141" y="1"/>
            <a:ext cx="5432859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40174-63AC-3F5E-4E78-F44056E33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9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982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F3768FD5-DD7A-43C7-8DEA-1F5DB3CB5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2284AC-8C1B-8D8F-C2B2-8A85BC721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559" y="3703975"/>
            <a:ext cx="3253394" cy="2398713"/>
          </a:xfrm>
        </p:spPr>
        <p:txBody>
          <a:bodyPr>
            <a:normAutofit/>
          </a:bodyPr>
          <a:lstStyle/>
          <a:p>
            <a:r>
              <a:rPr lang="en-US" sz="3500"/>
              <a:t>Relations with Middle Eastern Countries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68E9E9F-242E-BC04-EB9E-924C869AF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62" b="32367"/>
          <a:stretch>
            <a:fillRect/>
          </a:stretch>
        </p:blipFill>
        <p:spPr bwMode="auto">
          <a:xfrm>
            <a:off x="1" y="10"/>
            <a:ext cx="9143999" cy="3154014"/>
          </a:xfrm>
          <a:custGeom>
            <a:avLst/>
            <a:gdLst/>
            <a:ahLst/>
            <a:cxnLst/>
            <a:rect l="l" t="t" r="r" b="b"/>
            <a:pathLst>
              <a:path w="12191999" h="3428999">
                <a:moveTo>
                  <a:pt x="0" y="0"/>
                </a:moveTo>
                <a:lnTo>
                  <a:pt x="12191999" y="0"/>
                </a:lnTo>
                <a:lnTo>
                  <a:pt x="12191999" y="920893"/>
                </a:lnTo>
                <a:lnTo>
                  <a:pt x="12191999" y="1514929"/>
                </a:lnTo>
                <a:lnTo>
                  <a:pt x="12191999" y="3130902"/>
                </a:lnTo>
                <a:lnTo>
                  <a:pt x="12188051" y="3131476"/>
                </a:lnTo>
                <a:cubicBezTo>
                  <a:pt x="12153000" y="3135813"/>
                  <a:pt x="12133655" y="3136025"/>
                  <a:pt x="12112012" y="3138906"/>
                </a:cubicBezTo>
                <a:cubicBezTo>
                  <a:pt x="12076970" y="3145595"/>
                  <a:pt x="12039899" y="3160769"/>
                  <a:pt x="12018752" y="3165642"/>
                </a:cubicBezTo>
                <a:lnTo>
                  <a:pt x="11985122" y="3168147"/>
                </a:lnTo>
                <a:lnTo>
                  <a:pt x="11986344" y="3172878"/>
                </a:lnTo>
                <a:lnTo>
                  <a:pt x="11973852" y="3173226"/>
                </a:lnTo>
                <a:lnTo>
                  <a:pt x="11945968" y="3173341"/>
                </a:lnTo>
                <a:cubicBezTo>
                  <a:pt x="11928568" y="3174057"/>
                  <a:pt x="11880184" y="3172923"/>
                  <a:pt x="11862470" y="3174654"/>
                </a:cubicBezTo>
                <a:cubicBezTo>
                  <a:pt x="11857360" y="3179700"/>
                  <a:pt x="11849473" y="3182451"/>
                  <a:pt x="11839688" y="3183726"/>
                </a:cubicBezTo>
                <a:lnTo>
                  <a:pt x="11818138" y="3183868"/>
                </a:lnTo>
                <a:lnTo>
                  <a:pt x="11693161" y="3196027"/>
                </a:lnTo>
                <a:lnTo>
                  <a:pt x="11675978" y="3196936"/>
                </a:lnTo>
                <a:lnTo>
                  <a:pt x="11666672" y="3201013"/>
                </a:lnTo>
                <a:cubicBezTo>
                  <a:pt x="11659568" y="3201827"/>
                  <a:pt x="11639160" y="3201301"/>
                  <a:pt x="11633348" y="3201823"/>
                </a:cubicBezTo>
                <a:lnTo>
                  <a:pt x="11631806" y="3204144"/>
                </a:lnTo>
                <a:cubicBezTo>
                  <a:pt x="11613292" y="3207852"/>
                  <a:pt x="11543654" y="3220200"/>
                  <a:pt x="11522270" y="3224070"/>
                </a:cubicBezTo>
                <a:cubicBezTo>
                  <a:pt x="11517998" y="3220503"/>
                  <a:pt x="11508432" y="3226137"/>
                  <a:pt x="11503503" y="3227361"/>
                </a:cubicBezTo>
                <a:cubicBezTo>
                  <a:pt x="11502740" y="3224959"/>
                  <a:pt x="11490808" y="3224226"/>
                  <a:pt x="11487288" y="3226364"/>
                </a:cubicBezTo>
                <a:cubicBezTo>
                  <a:pt x="11403406" y="3238085"/>
                  <a:pt x="11445394" y="3213864"/>
                  <a:pt x="11397514" y="3229209"/>
                </a:cubicBezTo>
                <a:cubicBezTo>
                  <a:pt x="11389044" y="3230225"/>
                  <a:pt x="11382180" y="3229256"/>
                  <a:pt x="11376160" y="3227461"/>
                </a:cubicBezTo>
                <a:lnTo>
                  <a:pt x="11367180" y="3223774"/>
                </a:lnTo>
                <a:lnTo>
                  <a:pt x="11332420" y="3230742"/>
                </a:lnTo>
                <a:cubicBezTo>
                  <a:pt x="11315298" y="3233171"/>
                  <a:pt x="11297277" y="3234781"/>
                  <a:pt x="11278786" y="3235517"/>
                </a:cubicBezTo>
                <a:cubicBezTo>
                  <a:pt x="11274637" y="3230607"/>
                  <a:pt x="11260123" y="3237582"/>
                  <a:pt x="11253295" y="3238964"/>
                </a:cubicBezTo>
                <a:cubicBezTo>
                  <a:pt x="11253224" y="3235757"/>
                  <a:pt x="11238096" y="3234220"/>
                  <a:pt x="11232727" y="3236871"/>
                </a:cubicBezTo>
                <a:cubicBezTo>
                  <a:pt x="11119903" y="3248332"/>
                  <a:pt x="11183388" y="3218382"/>
                  <a:pt x="11115682" y="3236341"/>
                </a:cubicBezTo>
                <a:cubicBezTo>
                  <a:pt x="11104356" y="3237278"/>
                  <a:pt x="11095858" y="3235671"/>
                  <a:pt x="11088768" y="3233017"/>
                </a:cubicBezTo>
                <a:lnTo>
                  <a:pt x="11076012" y="3226390"/>
                </a:lnTo>
                <a:lnTo>
                  <a:pt x="11066016" y="3228753"/>
                </a:lnTo>
                <a:cubicBezTo>
                  <a:pt x="11028292" y="3228939"/>
                  <a:pt x="11017169" y="3222147"/>
                  <a:pt x="10995221" y="3228989"/>
                </a:cubicBezTo>
                <a:cubicBezTo>
                  <a:pt x="10962786" y="3214768"/>
                  <a:pt x="10973708" y="3227571"/>
                  <a:pt x="10949038" y="3229747"/>
                </a:cubicBezTo>
                <a:cubicBezTo>
                  <a:pt x="10929576" y="3232582"/>
                  <a:pt x="10965306" y="3238039"/>
                  <a:pt x="10946231" y="3238844"/>
                </a:cubicBezTo>
                <a:cubicBezTo>
                  <a:pt x="10925596" y="3235173"/>
                  <a:pt x="10926566" y="3246575"/>
                  <a:pt x="10905107" y="3242085"/>
                </a:cubicBezTo>
                <a:cubicBezTo>
                  <a:pt x="10910320" y="3233495"/>
                  <a:pt x="10862761" y="3243750"/>
                  <a:pt x="10861282" y="3236246"/>
                </a:cubicBezTo>
                <a:cubicBezTo>
                  <a:pt x="10843055" y="3246977"/>
                  <a:pt x="10833897" y="3233757"/>
                  <a:pt x="10809627" y="3237064"/>
                </a:cubicBezTo>
                <a:cubicBezTo>
                  <a:pt x="10798198" y="3241124"/>
                  <a:pt x="10789952" y="3241821"/>
                  <a:pt x="10778718" y="3237455"/>
                </a:cubicBezTo>
                <a:cubicBezTo>
                  <a:pt x="10726069" y="3257219"/>
                  <a:pt x="10746866" y="3238339"/>
                  <a:pt x="10697595" y="3245939"/>
                </a:cubicBezTo>
                <a:cubicBezTo>
                  <a:pt x="10655146" y="3253933"/>
                  <a:pt x="10607026" y="3259119"/>
                  <a:pt x="10565970" y="3278201"/>
                </a:cubicBezTo>
                <a:cubicBezTo>
                  <a:pt x="10558434" y="3283608"/>
                  <a:pt x="10539930" y="3285654"/>
                  <a:pt x="10524645" y="3282773"/>
                </a:cubicBezTo>
                <a:cubicBezTo>
                  <a:pt x="10522018" y="3282276"/>
                  <a:pt x="10519582" y="3281649"/>
                  <a:pt x="10517421" y="3280913"/>
                </a:cubicBezTo>
                <a:cubicBezTo>
                  <a:pt x="10481928" y="3283832"/>
                  <a:pt x="10352108" y="3296870"/>
                  <a:pt x="10311683" y="3300288"/>
                </a:cubicBezTo>
                <a:cubicBezTo>
                  <a:pt x="10308410" y="3293342"/>
                  <a:pt x="10287968" y="3305875"/>
                  <a:pt x="10274873" y="3301423"/>
                </a:cubicBezTo>
                <a:cubicBezTo>
                  <a:pt x="10265494" y="3297516"/>
                  <a:pt x="10257104" y="3300407"/>
                  <a:pt x="10247307" y="3300714"/>
                </a:cubicBezTo>
                <a:cubicBezTo>
                  <a:pt x="10234401" y="3297643"/>
                  <a:pt x="10192308" y="3303190"/>
                  <a:pt x="10181334" y="3307168"/>
                </a:cubicBezTo>
                <a:cubicBezTo>
                  <a:pt x="10155109" y="3320992"/>
                  <a:pt x="10095518" y="3310726"/>
                  <a:pt x="10073729" y="3321318"/>
                </a:cubicBezTo>
                <a:cubicBezTo>
                  <a:pt x="10065823" y="3322872"/>
                  <a:pt x="10058087" y="3323501"/>
                  <a:pt x="10050495" y="3323554"/>
                </a:cubicBezTo>
                <a:lnTo>
                  <a:pt x="10029247" y="3322387"/>
                </a:lnTo>
                <a:lnTo>
                  <a:pt x="10023206" y="3319426"/>
                </a:lnTo>
                <a:lnTo>
                  <a:pt x="10010221" y="3320159"/>
                </a:lnTo>
                <a:lnTo>
                  <a:pt x="10006500" y="3319709"/>
                </a:lnTo>
                <a:cubicBezTo>
                  <a:pt x="9999392" y="3318836"/>
                  <a:pt x="9992376" y="3318075"/>
                  <a:pt x="9985433" y="3317775"/>
                </a:cubicBezTo>
                <a:cubicBezTo>
                  <a:pt x="9994564" y="3332623"/>
                  <a:pt x="9927872" y="3317665"/>
                  <a:pt x="9947096" y="3329673"/>
                </a:cubicBezTo>
                <a:cubicBezTo>
                  <a:pt x="9910530" y="3330603"/>
                  <a:pt x="9938422" y="3341787"/>
                  <a:pt x="9894468" y="3331125"/>
                </a:cubicBezTo>
                <a:cubicBezTo>
                  <a:pt x="9837697" y="3343266"/>
                  <a:pt x="9748207" y="3338748"/>
                  <a:pt x="9703741" y="3357170"/>
                </a:cubicBezTo>
                <a:cubicBezTo>
                  <a:pt x="9709264" y="3350136"/>
                  <a:pt x="9685337" y="3344679"/>
                  <a:pt x="9668763" y="3348169"/>
                </a:cubicBezTo>
                <a:cubicBezTo>
                  <a:pt x="9688139" y="3320571"/>
                  <a:pt x="9603232" y="3373038"/>
                  <a:pt x="9588644" y="3354205"/>
                </a:cubicBezTo>
                <a:cubicBezTo>
                  <a:pt x="9587925" y="3371689"/>
                  <a:pt x="9513642" y="3401336"/>
                  <a:pt x="9478680" y="3386990"/>
                </a:cubicBezTo>
                <a:cubicBezTo>
                  <a:pt x="9425416" y="3390492"/>
                  <a:pt x="9387699" y="3404944"/>
                  <a:pt x="9331856" y="3399166"/>
                </a:cubicBezTo>
                <a:cubicBezTo>
                  <a:pt x="9330123" y="3401505"/>
                  <a:pt x="9327283" y="3403463"/>
                  <a:pt x="9323679" y="3405145"/>
                </a:cubicBezTo>
                <a:lnTo>
                  <a:pt x="9311620" y="3409223"/>
                </a:lnTo>
                <a:lnTo>
                  <a:pt x="9309289" y="3408926"/>
                </a:lnTo>
                <a:cubicBezTo>
                  <a:pt x="9300131" y="3408873"/>
                  <a:pt x="9295442" y="3409859"/>
                  <a:pt x="9292731" y="3411301"/>
                </a:cubicBezTo>
                <a:lnTo>
                  <a:pt x="9290814" y="3413412"/>
                </a:lnTo>
                <a:lnTo>
                  <a:pt x="9279990" y="3415541"/>
                </a:lnTo>
                <a:lnTo>
                  <a:pt x="9260104" y="3421077"/>
                </a:lnTo>
                <a:lnTo>
                  <a:pt x="9255034" y="3420853"/>
                </a:lnTo>
                <a:lnTo>
                  <a:pt x="9222941" y="3427242"/>
                </a:lnTo>
                <a:lnTo>
                  <a:pt x="9221858" y="3426731"/>
                </a:lnTo>
                <a:cubicBezTo>
                  <a:pt x="9218700" y="3425733"/>
                  <a:pt x="9214983" y="3425271"/>
                  <a:pt x="9210014" y="3425917"/>
                </a:cubicBezTo>
                <a:cubicBezTo>
                  <a:pt x="9208256" y="3416158"/>
                  <a:pt x="9203342" y="3422957"/>
                  <a:pt x="9188839" y="3425728"/>
                </a:cubicBezTo>
                <a:cubicBezTo>
                  <a:pt x="9182870" y="3411188"/>
                  <a:pt x="9147335" y="3424352"/>
                  <a:pt x="9132080" y="3417886"/>
                </a:cubicBezTo>
                <a:cubicBezTo>
                  <a:pt x="9121557" y="3420249"/>
                  <a:pt x="9110321" y="3422482"/>
                  <a:pt x="9098549" y="3424480"/>
                </a:cubicBezTo>
                <a:lnTo>
                  <a:pt x="9003970" y="3425484"/>
                </a:lnTo>
                <a:lnTo>
                  <a:pt x="8904921" y="3413774"/>
                </a:lnTo>
                <a:cubicBezTo>
                  <a:pt x="8868284" y="3413519"/>
                  <a:pt x="8836559" y="3409171"/>
                  <a:pt x="8805551" y="3412237"/>
                </a:cubicBezTo>
                <a:cubicBezTo>
                  <a:pt x="8792955" y="3408854"/>
                  <a:pt x="8781083" y="3407488"/>
                  <a:pt x="8769572" y="3412551"/>
                </a:cubicBezTo>
                <a:cubicBezTo>
                  <a:pt x="8735382" y="3410862"/>
                  <a:pt x="8727105" y="3403632"/>
                  <a:pt x="8705440" y="3409271"/>
                </a:cubicBezTo>
                <a:cubicBezTo>
                  <a:pt x="8686231" y="3397576"/>
                  <a:pt x="8685094" y="3402040"/>
                  <a:pt x="8676067" y="3405389"/>
                </a:cubicBezTo>
                <a:lnTo>
                  <a:pt x="8674779" y="3405628"/>
                </a:lnTo>
                <a:lnTo>
                  <a:pt x="8672154" y="3403956"/>
                </a:lnTo>
                <a:lnTo>
                  <a:pt x="8666720" y="3403182"/>
                </a:lnTo>
                <a:lnTo>
                  <a:pt x="8651886" y="3403680"/>
                </a:lnTo>
                <a:lnTo>
                  <a:pt x="8646307" y="3404298"/>
                </a:lnTo>
                <a:cubicBezTo>
                  <a:pt x="8642465" y="3404565"/>
                  <a:pt x="8639912" y="3404534"/>
                  <a:pt x="8638145" y="3404287"/>
                </a:cubicBezTo>
                <a:lnTo>
                  <a:pt x="8637941" y="3404149"/>
                </a:lnTo>
                <a:lnTo>
                  <a:pt x="8630296" y="3404406"/>
                </a:lnTo>
                <a:cubicBezTo>
                  <a:pt x="8617394" y="3405155"/>
                  <a:pt x="8604838" y="3406180"/>
                  <a:pt x="8592887" y="3407398"/>
                </a:cubicBezTo>
                <a:cubicBezTo>
                  <a:pt x="8582781" y="3399722"/>
                  <a:pt x="8538622" y="3408789"/>
                  <a:pt x="8543455" y="3394319"/>
                </a:cubicBezTo>
                <a:cubicBezTo>
                  <a:pt x="8527334" y="3395534"/>
                  <a:pt x="8517583" y="3401542"/>
                  <a:pt x="8523012" y="3392051"/>
                </a:cubicBezTo>
                <a:cubicBezTo>
                  <a:pt x="8517705" y="3392178"/>
                  <a:pt x="8514435" y="3391372"/>
                  <a:pt x="8512093" y="3390108"/>
                </a:cubicBezTo>
                <a:lnTo>
                  <a:pt x="8511416" y="3389513"/>
                </a:lnTo>
                <a:lnTo>
                  <a:pt x="8475551" y="3392450"/>
                </a:lnTo>
                <a:lnTo>
                  <a:pt x="8470789" y="3391736"/>
                </a:lnTo>
                <a:lnTo>
                  <a:pt x="8447414" y="3395064"/>
                </a:lnTo>
                <a:lnTo>
                  <a:pt x="8435335" y="3396028"/>
                </a:lnTo>
                <a:lnTo>
                  <a:pt x="8431923" y="3397855"/>
                </a:lnTo>
                <a:cubicBezTo>
                  <a:pt x="8428239" y="3398965"/>
                  <a:pt x="8422959" y="3399444"/>
                  <a:pt x="8414099" y="3398491"/>
                </a:cubicBezTo>
                <a:lnTo>
                  <a:pt x="8412049" y="3397978"/>
                </a:lnTo>
                <a:lnTo>
                  <a:pt x="8397349" y="3400683"/>
                </a:lnTo>
                <a:cubicBezTo>
                  <a:pt x="8392615" y="3401933"/>
                  <a:pt x="8388424" y="3403524"/>
                  <a:pt x="8385030" y="3405585"/>
                </a:cubicBezTo>
                <a:cubicBezTo>
                  <a:pt x="8334977" y="3394568"/>
                  <a:pt x="8287750" y="3404648"/>
                  <a:pt x="8233422" y="3402742"/>
                </a:cubicBezTo>
                <a:cubicBezTo>
                  <a:pt x="8209936" y="3385601"/>
                  <a:pt x="8116056" y="3406588"/>
                  <a:pt x="8102569" y="3423208"/>
                </a:cubicBezTo>
                <a:cubicBezTo>
                  <a:pt x="8102264" y="3408645"/>
                  <a:pt x="8034186" y="3428475"/>
                  <a:pt x="8016625" y="3428989"/>
                </a:cubicBezTo>
                <a:cubicBezTo>
                  <a:pt x="8010771" y="3429161"/>
                  <a:pt x="8010530" y="3427186"/>
                  <a:pt x="8020284" y="3421076"/>
                </a:cubicBezTo>
                <a:cubicBezTo>
                  <a:pt x="8001623" y="3422777"/>
                  <a:pt x="7982361" y="3415208"/>
                  <a:pt x="7992871" y="3409037"/>
                </a:cubicBezTo>
                <a:cubicBezTo>
                  <a:pt x="7936181" y="3422244"/>
                  <a:pt x="7852511" y="3409112"/>
                  <a:pt x="7788452" y="3415110"/>
                </a:cubicBezTo>
                <a:cubicBezTo>
                  <a:pt x="7753529" y="3400598"/>
                  <a:pt x="7772461" y="3414025"/>
                  <a:pt x="7736237" y="3411311"/>
                </a:cubicBezTo>
                <a:cubicBezTo>
                  <a:pt x="7746145" y="3424670"/>
                  <a:pt x="7692261" y="3403816"/>
                  <a:pt x="7690279" y="3418893"/>
                </a:cubicBezTo>
                <a:cubicBezTo>
                  <a:pt x="7683750" y="3417921"/>
                  <a:pt x="7677487" y="3416505"/>
                  <a:pt x="7671219" y="3414970"/>
                </a:cubicBezTo>
                <a:lnTo>
                  <a:pt x="7667928" y="3414173"/>
                </a:lnTo>
                <a:lnTo>
                  <a:pt x="7654774" y="3413595"/>
                </a:lnTo>
                <a:lnTo>
                  <a:pt x="7651067" y="3410171"/>
                </a:lnTo>
                <a:lnTo>
                  <a:pt x="7631267" y="3406963"/>
                </a:lnTo>
                <a:cubicBezTo>
                  <a:pt x="7623851" y="3406267"/>
                  <a:pt x="7615871" y="3406106"/>
                  <a:pt x="7607053" y="3406809"/>
                </a:cubicBezTo>
                <a:cubicBezTo>
                  <a:pt x="7585359" y="3412784"/>
                  <a:pt x="7551579" y="3405461"/>
                  <a:pt x="7521027" y="3405904"/>
                </a:cubicBezTo>
                <a:lnTo>
                  <a:pt x="7506997" y="3407754"/>
                </a:lnTo>
                <a:lnTo>
                  <a:pt x="7461204" y="3404669"/>
                </a:lnTo>
                <a:cubicBezTo>
                  <a:pt x="7448169" y="3404071"/>
                  <a:pt x="7434640" y="3403756"/>
                  <a:pt x="7420396" y="3403975"/>
                </a:cubicBezTo>
                <a:lnTo>
                  <a:pt x="7393955" y="3405447"/>
                </a:lnTo>
                <a:lnTo>
                  <a:pt x="7387024" y="3404227"/>
                </a:lnTo>
                <a:cubicBezTo>
                  <a:pt x="7374952" y="3404363"/>
                  <a:pt x="7358975" y="3408656"/>
                  <a:pt x="7360398" y="3403441"/>
                </a:cubicBezTo>
                <a:lnTo>
                  <a:pt x="7346837" y="3405249"/>
                </a:lnTo>
                <a:lnTo>
                  <a:pt x="7333451" y="3401087"/>
                </a:lnTo>
                <a:cubicBezTo>
                  <a:pt x="7331985" y="3400120"/>
                  <a:pt x="7330882" y="3399091"/>
                  <a:pt x="7330179" y="3398037"/>
                </a:cubicBezTo>
                <a:lnTo>
                  <a:pt x="7311232" y="3399406"/>
                </a:lnTo>
                <a:lnTo>
                  <a:pt x="7295699" y="3396426"/>
                </a:lnTo>
                <a:lnTo>
                  <a:pt x="7282158" y="3398374"/>
                </a:lnTo>
                <a:lnTo>
                  <a:pt x="7276538" y="3397935"/>
                </a:lnTo>
                <a:lnTo>
                  <a:pt x="7262569" y="3396460"/>
                </a:lnTo>
                <a:cubicBezTo>
                  <a:pt x="7255407" y="3395426"/>
                  <a:pt x="7247392" y="3394180"/>
                  <a:pt x="7238468" y="3393183"/>
                </a:cubicBezTo>
                <a:lnTo>
                  <a:pt x="7230949" y="3392727"/>
                </a:lnTo>
                <a:lnTo>
                  <a:pt x="7214580" y="3387715"/>
                </a:lnTo>
                <a:cubicBezTo>
                  <a:pt x="7202670" y="3383926"/>
                  <a:pt x="7193296" y="3381373"/>
                  <a:pt x="7182893" y="3383429"/>
                </a:cubicBezTo>
                <a:cubicBezTo>
                  <a:pt x="7165160" y="3378534"/>
                  <a:pt x="7152772" y="3364815"/>
                  <a:pt x="7127104" y="3368475"/>
                </a:cubicBezTo>
                <a:cubicBezTo>
                  <a:pt x="7134894" y="3362260"/>
                  <a:pt x="7098599" y="3367723"/>
                  <a:pt x="7094311" y="3361339"/>
                </a:cubicBezTo>
                <a:cubicBezTo>
                  <a:pt x="7092331" y="3356198"/>
                  <a:pt x="7080860" y="3356657"/>
                  <a:pt x="7072124" y="3354762"/>
                </a:cubicBezTo>
                <a:cubicBezTo>
                  <a:pt x="7065898" y="3349511"/>
                  <a:pt x="7021942" y="3344717"/>
                  <a:pt x="7006638" y="3345473"/>
                </a:cubicBezTo>
                <a:cubicBezTo>
                  <a:pt x="6963504" y="3350697"/>
                  <a:pt x="6928807" y="3329559"/>
                  <a:pt x="6894320" y="3333192"/>
                </a:cubicBezTo>
                <a:cubicBezTo>
                  <a:pt x="6885290" y="3332697"/>
                  <a:pt x="6877803" y="3331507"/>
                  <a:pt x="6871318" y="3329892"/>
                </a:cubicBezTo>
                <a:lnTo>
                  <a:pt x="6855157" y="3324330"/>
                </a:lnTo>
                <a:cubicBezTo>
                  <a:pt x="6854956" y="3323109"/>
                  <a:pt x="6854755" y="3321887"/>
                  <a:pt x="6854555" y="3320665"/>
                </a:cubicBezTo>
                <a:lnTo>
                  <a:pt x="6842483" y="3318413"/>
                </a:lnTo>
                <a:lnTo>
                  <a:pt x="6840027" y="3317245"/>
                </a:lnTo>
                <a:cubicBezTo>
                  <a:pt x="6835354" y="3315001"/>
                  <a:pt x="6830588" y="3312868"/>
                  <a:pt x="6825185" y="3311114"/>
                </a:cubicBezTo>
                <a:cubicBezTo>
                  <a:pt x="6810331" y="3324866"/>
                  <a:pt x="6776772" y="3298463"/>
                  <a:pt x="6774755" y="3312168"/>
                </a:cubicBezTo>
                <a:cubicBezTo>
                  <a:pt x="6742477" y="3304924"/>
                  <a:pt x="6749024" y="3319870"/>
                  <a:pt x="6728129" y="3301832"/>
                </a:cubicBezTo>
                <a:cubicBezTo>
                  <a:pt x="6661764" y="3299056"/>
                  <a:pt x="6593104" y="3275946"/>
                  <a:pt x="6527587" y="3280829"/>
                </a:cubicBezTo>
                <a:cubicBezTo>
                  <a:pt x="6542935" y="3276465"/>
                  <a:pt x="6531033" y="3266920"/>
                  <a:pt x="6511742" y="3266067"/>
                </a:cubicBezTo>
                <a:cubicBezTo>
                  <a:pt x="6570025" y="3248440"/>
                  <a:pt x="6418649" y="3271458"/>
                  <a:pt x="6434953" y="3253360"/>
                </a:cubicBezTo>
                <a:cubicBezTo>
                  <a:pt x="6407781" y="3267048"/>
                  <a:pt x="6300040" y="3274313"/>
                  <a:pt x="6292331" y="3255322"/>
                </a:cubicBezTo>
                <a:cubicBezTo>
                  <a:pt x="6242057" y="3246469"/>
                  <a:pt x="6188266" y="3249680"/>
                  <a:pt x="6149913" y="3232917"/>
                </a:cubicBezTo>
                <a:cubicBezTo>
                  <a:pt x="6144898" y="3234391"/>
                  <a:pt x="6139526" y="3235322"/>
                  <a:pt x="6133930" y="3235867"/>
                </a:cubicBezTo>
                <a:lnTo>
                  <a:pt x="6117554" y="3236464"/>
                </a:lnTo>
                <a:lnTo>
                  <a:pt x="6116039" y="3235720"/>
                </a:lnTo>
                <a:cubicBezTo>
                  <a:pt x="6108393" y="3233681"/>
                  <a:pt x="6102936" y="3233437"/>
                  <a:pt x="6098459" y="3233988"/>
                </a:cubicBezTo>
                <a:lnTo>
                  <a:pt x="6093630" y="3235240"/>
                </a:lnTo>
                <a:lnTo>
                  <a:pt x="6081261" y="3234563"/>
                </a:lnTo>
                <a:lnTo>
                  <a:pt x="6056067" y="3234608"/>
                </a:lnTo>
                <a:lnTo>
                  <a:pt x="6052129" y="3233324"/>
                </a:lnTo>
                <a:lnTo>
                  <a:pt x="6015338" y="3231378"/>
                </a:lnTo>
                <a:cubicBezTo>
                  <a:pt x="6015291" y="3231165"/>
                  <a:pt x="6015245" y="3230951"/>
                  <a:pt x="6015198" y="3230737"/>
                </a:cubicBezTo>
                <a:cubicBezTo>
                  <a:pt x="6014048" y="3229257"/>
                  <a:pt x="6011617" y="3228081"/>
                  <a:pt x="6006436" y="3227508"/>
                </a:cubicBezTo>
                <a:cubicBezTo>
                  <a:pt x="6019781" y="3219395"/>
                  <a:pt x="6005305" y="3223709"/>
                  <a:pt x="5988851" y="3222735"/>
                </a:cubicBezTo>
                <a:cubicBezTo>
                  <a:pt x="6005907" y="3209918"/>
                  <a:pt x="5955918" y="3212588"/>
                  <a:pt x="5952863" y="3204137"/>
                </a:cubicBezTo>
                <a:cubicBezTo>
                  <a:pt x="5940395" y="3203711"/>
                  <a:pt x="5927517" y="3203028"/>
                  <a:pt x="5914548" y="3202041"/>
                </a:cubicBezTo>
                <a:lnTo>
                  <a:pt x="5907020" y="3201283"/>
                </a:lnTo>
                <a:cubicBezTo>
                  <a:pt x="5906995" y="3201231"/>
                  <a:pt x="5906969" y="3201180"/>
                  <a:pt x="5906944" y="3201129"/>
                </a:cubicBezTo>
                <a:cubicBezTo>
                  <a:pt x="5905471" y="3200668"/>
                  <a:pt x="5903056" y="3200308"/>
                  <a:pt x="5899155" y="3200053"/>
                </a:cubicBezTo>
                <a:lnTo>
                  <a:pt x="5893294" y="3199901"/>
                </a:lnTo>
                <a:lnTo>
                  <a:pt x="5878691" y="3198431"/>
                </a:lnTo>
                <a:lnTo>
                  <a:pt x="5874165" y="3197003"/>
                </a:lnTo>
                <a:lnTo>
                  <a:pt x="5873092" y="3195108"/>
                </a:lnTo>
                <a:lnTo>
                  <a:pt x="5871658" y="3195162"/>
                </a:lnTo>
                <a:cubicBezTo>
                  <a:pt x="5860152" y="3197097"/>
                  <a:pt x="5855231" y="3201097"/>
                  <a:pt x="5846928" y="3187725"/>
                </a:cubicBezTo>
                <a:cubicBezTo>
                  <a:pt x="5821379" y="3190142"/>
                  <a:pt x="5819686" y="3182343"/>
                  <a:pt x="5788468" y="3176316"/>
                </a:cubicBezTo>
                <a:cubicBezTo>
                  <a:pt x="5773119" y="3179521"/>
                  <a:pt x="5762947" y="3176704"/>
                  <a:pt x="5753823" y="3171919"/>
                </a:cubicBezTo>
                <a:cubicBezTo>
                  <a:pt x="5721557" y="3170726"/>
                  <a:pt x="5694983" y="3162549"/>
                  <a:pt x="5660194" y="3157536"/>
                </a:cubicBezTo>
                <a:cubicBezTo>
                  <a:pt x="5619608" y="3159495"/>
                  <a:pt x="5604384" y="3146636"/>
                  <a:pt x="5567188" y="3141325"/>
                </a:cubicBezTo>
                <a:cubicBezTo>
                  <a:pt x="5530345" y="3148235"/>
                  <a:pt x="5543868" y="3129416"/>
                  <a:pt x="5526178" y="3123274"/>
                </a:cubicBezTo>
                <a:lnTo>
                  <a:pt x="5520866" y="3122322"/>
                </a:lnTo>
                <a:lnTo>
                  <a:pt x="5506009" y="3122332"/>
                </a:lnTo>
                <a:lnTo>
                  <a:pt x="5500363" y="3122766"/>
                </a:lnTo>
                <a:cubicBezTo>
                  <a:pt x="5496497" y="3122905"/>
                  <a:pt x="5493953" y="3122792"/>
                  <a:pt x="5492228" y="3122486"/>
                </a:cubicBezTo>
                <a:lnTo>
                  <a:pt x="5492044" y="3122342"/>
                </a:lnTo>
                <a:lnTo>
                  <a:pt x="5484386" y="3122347"/>
                </a:lnTo>
                <a:cubicBezTo>
                  <a:pt x="5471420" y="3122670"/>
                  <a:pt x="5458764" y="3123280"/>
                  <a:pt x="5446679" y="3124105"/>
                </a:cubicBezTo>
                <a:cubicBezTo>
                  <a:pt x="5437659" y="3116107"/>
                  <a:pt x="5392392" y="3123709"/>
                  <a:pt x="5399188" y="3109418"/>
                </a:cubicBezTo>
                <a:cubicBezTo>
                  <a:pt x="5382948" y="3110102"/>
                  <a:pt x="5372407" y="3115781"/>
                  <a:pt x="5379117" y="3106482"/>
                </a:cubicBezTo>
                <a:cubicBezTo>
                  <a:pt x="5373809" y="3106435"/>
                  <a:pt x="5370660" y="3105521"/>
                  <a:pt x="5368499" y="3104181"/>
                </a:cubicBezTo>
                <a:lnTo>
                  <a:pt x="5367902" y="3103566"/>
                </a:lnTo>
                <a:lnTo>
                  <a:pt x="5331747" y="3105319"/>
                </a:lnTo>
                <a:lnTo>
                  <a:pt x="5327095" y="3104450"/>
                </a:lnTo>
                <a:lnTo>
                  <a:pt x="5303337" y="3107003"/>
                </a:lnTo>
                <a:lnTo>
                  <a:pt x="5291164" y="3107570"/>
                </a:lnTo>
                <a:lnTo>
                  <a:pt x="5287515" y="3109282"/>
                </a:lnTo>
                <a:cubicBezTo>
                  <a:pt x="5283689" y="3110269"/>
                  <a:pt x="5278356" y="3110573"/>
                  <a:pt x="5269654" y="3109330"/>
                </a:cubicBezTo>
                <a:lnTo>
                  <a:pt x="5267681" y="3108752"/>
                </a:lnTo>
                <a:lnTo>
                  <a:pt x="5252655" y="3110969"/>
                </a:lnTo>
                <a:cubicBezTo>
                  <a:pt x="5247766" y="3112062"/>
                  <a:pt x="5243369" y="3113511"/>
                  <a:pt x="5239703" y="3115460"/>
                </a:cubicBezTo>
                <a:cubicBezTo>
                  <a:pt x="5191311" y="3102811"/>
                  <a:pt x="5142849" y="3111324"/>
                  <a:pt x="5088947" y="3107634"/>
                </a:cubicBezTo>
                <a:cubicBezTo>
                  <a:pt x="5027989" y="3108214"/>
                  <a:pt x="4985627" y="3110432"/>
                  <a:pt x="4945514" y="3110162"/>
                </a:cubicBezTo>
                <a:cubicBezTo>
                  <a:pt x="4926678" y="3111245"/>
                  <a:pt x="4789238" y="3111826"/>
                  <a:pt x="4800559" y="3106010"/>
                </a:cubicBezTo>
                <a:cubicBezTo>
                  <a:pt x="4742239" y="3117333"/>
                  <a:pt x="4708324" y="3101468"/>
                  <a:pt x="4643642" y="3105351"/>
                </a:cubicBezTo>
                <a:cubicBezTo>
                  <a:pt x="4610808" y="3089712"/>
                  <a:pt x="4627845" y="3103743"/>
                  <a:pt x="4592107" y="3099840"/>
                </a:cubicBezTo>
                <a:cubicBezTo>
                  <a:pt x="4600157" y="3113506"/>
                  <a:pt x="4549287" y="3090911"/>
                  <a:pt x="4545249" y="3105899"/>
                </a:cubicBezTo>
                <a:cubicBezTo>
                  <a:pt x="4538872" y="3104716"/>
                  <a:pt x="4532825" y="3103094"/>
                  <a:pt x="4526782" y="3101355"/>
                </a:cubicBezTo>
                <a:lnTo>
                  <a:pt x="4523614" y="3100453"/>
                </a:lnTo>
                <a:lnTo>
                  <a:pt x="4510579" y="3099442"/>
                </a:lnTo>
                <a:lnTo>
                  <a:pt x="4507348" y="3095901"/>
                </a:lnTo>
                <a:lnTo>
                  <a:pt x="4348949" y="3090220"/>
                </a:lnTo>
                <a:cubicBezTo>
                  <a:pt x="4335046" y="3092487"/>
                  <a:pt x="4290056" y="3092155"/>
                  <a:pt x="4280362" y="3087618"/>
                </a:cubicBezTo>
                <a:cubicBezTo>
                  <a:pt x="4270739" y="3086627"/>
                  <a:pt x="4260237" y="3088220"/>
                  <a:pt x="4254634" y="3083366"/>
                </a:cubicBezTo>
                <a:cubicBezTo>
                  <a:pt x="4233731" y="3080512"/>
                  <a:pt x="4185859" y="3073948"/>
                  <a:pt x="4154942" y="3070490"/>
                </a:cubicBezTo>
                <a:cubicBezTo>
                  <a:pt x="4138280" y="3076599"/>
                  <a:pt x="4112117" y="3064194"/>
                  <a:pt x="4069131" y="3062612"/>
                </a:cubicBezTo>
                <a:cubicBezTo>
                  <a:pt x="4050897" y="3069679"/>
                  <a:pt x="4040160" y="3061449"/>
                  <a:pt x="4005249" y="3070810"/>
                </a:cubicBezTo>
                <a:cubicBezTo>
                  <a:pt x="4003818" y="3069842"/>
                  <a:pt x="4002032" y="3068943"/>
                  <a:pt x="3999945" y="3068139"/>
                </a:cubicBezTo>
                <a:cubicBezTo>
                  <a:pt x="3987818" y="3063468"/>
                  <a:pt x="3968381" y="3062958"/>
                  <a:pt x="3956529" y="3067000"/>
                </a:cubicBezTo>
                <a:cubicBezTo>
                  <a:pt x="3900898" y="3079382"/>
                  <a:pt x="3850463" y="3077929"/>
                  <a:pt x="3803031" y="3079823"/>
                </a:cubicBezTo>
                <a:cubicBezTo>
                  <a:pt x="3749421" y="3080464"/>
                  <a:pt x="3785521" y="3065630"/>
                  <a:pt x="3718229" y="3077134"/>
                </a:cubicBezTo>
                <a:cubicBezTo>
                  <a:pt x="3711244" y="3071611"/>
                  <a:pt x="3702770" y="3071184"/>
                  <a:pt x="3688357" y="3073468"/>
                </a:cubicBezTo>
                <a:cubicBezTo>
                  <a:pt x="3662326" y="3073378"/>
                  <a:pt x="3664937" y="3059899"/>
                  <a:pt x="3638298" y="3067494"/>
                </a:cubicBezTo>
                <a:cubicBezTo>
                  <a:pt x="3643333" y="3060328"/>
                  <a:pt x="3589079" y="3063658"/>
                  <a:pt x="3601443" y="3056355"/>
                </a:cubicBezTo>
                <a:cubicBezTo>
                  <a:pt x="3584797" y="3049384"/>
                  <a:pt x="3575923" y="3060108"/>
                  <a:pt x="3559361" y="3054005"/>
                </a:cubicBezTo>
                <a:cubicBezTo>
                  <a:pt x="3540444" y="3052269"/>
                  <a:pt x="3569896" y="3061996"/>
                  <a:pt x="3548859" y="3062094"/>
                </a:cubicBezTo>
                <a:cubicBezTo>
                  <a:pt x="3523419" y="3060901"/>
                  <a:pt x="3522848" y="3074222"/>
                  <a:pt x="3504082" y="3056779"/>
                </a:cubicBezTo>
                <a:lnTo>
                  <a:pt x="3436234" y="3047769"/>
                </a:lnTo>
                <a:cubicBezTo>
                  <a:pt x="3420764" y="3051629"/>
                  <a:pt x="3408644" y="3049227"/>
                  <a:pt x="3396914" y="3044803"/>
                </a:cubicBezTo>
                <a:cubicBezTo>
                  <a:pt x="3361398" y="3044955"/>
                  <a:pt x="3329425" y="3037856"/>
                  <a:pt x="3289720" y="3034278"/>
                </a:cubicBezTo>
                <a:cubicBezTo>
                  <a:pt x="3246348" y="3037943"/>
                  <a:pt x="3224942" y="3025667"/>
                  <a:pt x="3182509" y="3021890"/>
                </a:cubicBezTo>
                <a:cubicBezTo>
                  <a:pt x="3139731" y="3031583"/>
                  <a:pt x="3155749" y="3004773"/>
                  <a:pt x="3119879" y="3004134"/>
                </a:cubicBezTo>
                <a:cubicBezTo>
                  <a:pt x="3060941" y="3012153"/>
                  <a:pt x="3121880" y="2995117"/>
                  <a:pt x="3031656" y="2995077"/>
                </a:cubicBezTo>
                <a:cubicBezTo>
                  <a:pt x="3026453" y="2996603"/>
                  <a:pt x="3015685" y="2994367"/>
                  <a:pt x="3017018" y="2992034"/>
                </a:cubicBezTo>
                <a:cubicBezTo>
                  <a:pt x="2997245" y="2992118"/>
                  <a:pt x="2941342" y="2976346"/>
                  <a:pt x="2913012" y="2978042"/>
                </a:cubicBezTo>
                <a:cubicBezTo>
                  <a:pt x="2858481" y="2969139"/>
                  <a:pt x="2831094" y="2979433"/>
                  <a:pt x="2791382" y="2975899"/>
                </a:cubicBezTo>
                <a:cubicBezTo>
                  <a:pt x="2745836" y="2966063"/>
                  <a:pt x="2719288" y="2957529"/>
                  <a:pt x="2639738" y="2936567"/>
                </a:cubicBezTo>
                <a:lnTo>
                  <a:pt x="2369741" y="2876435"/>
                </a:lnTo>
                <a:cubicBezTo>
                  <a:pt x="2269614" y="2832081"/>
                  <a:pt x="2140023" y="2856176"/>
                  <a:pt x="2078755" y="2852909"/>
                </a:cubicBezTo>
                <a:cubicBezTo>
                  <a:pt x="2053362" y="2866100"/>
                  <a:pt x="2032778" y="2851474"/>
                  <a:pt x="2002128" y="2856835"/>
                </a:cubicBezTo>
                <a:cubicBezTo>
                  <a:pt x="1933939" y="2859736"/>
                  <a:pt x="1866254" y="2874726"/>
                  <a:pt x="1777746" y="2864566"/>
                </a:cubicBezTo>
                <a:cubicBezTo>
                  <a:pt x="1737851" y="2905864"/>
                  <a:pt x="1634115" y="2880970"/>
                  <a:pt x="1549425" y="2904556"/>
                </a:cubicBezTo>
                <a:cubicBezTo>
                  <a:pt x="1500265" y="2909373"/>
                  <a:pt x="1423030" y="2888862"/>
                  <a:pt x="1405992" y="2911144"/>
                </a:cubicBezTo>
                <a:cubicBezTo>
                  <a:pt x="1383494" y="2897507"/>
                  <a:pt x="1362438" y="2919536"/>
                  <a:pt x="1337848" y="2921491"/>
                </a:cubicBezTo>
                <a:cubicBezTo>
                  <a:pt x="1318218" y="2912820"/>
                  <a:pt x="1308478" y="2920319"/>
                  <a:pt x="1290645" y="2921985"/>
                </a:cubicBezTo>
                <a:cubicBezTo>
                  <a:pt x="1282569" y="2916637"/>
                  <a:pt x="1267476" y="2916916"/>
                  <a:pt x="1262341" y="2923190"/>
                </a:cubicBezTo>
                <a:cubicBezTo>
                  <a:pt x="1269627" y="2937654"/>
                  <a:pt x="1217209" y="2930439"/>
                  <a:pt x="1213314" y="2940415"/>
                </a:cubicBezTo>
                <a:cubicBezTo>
                  <a:pt x="1182890" y="2942495"/>
                  <a:pt x="1050782" y="2929830"/>
                  <a:pt x="1028405" y="2945799"/>
                </a:cubicBezTo>
                <a:cubicBezTo>
                  <a:pt x="966896" y="2953381"/>
                  <a:pt x="877997" y="2927977"/>
                  <a:pt x="851857" y="2928423"/>
                </a:cubicBezTo>
                <a:cubicBezTo>
                  <a:pt x="825919" y="2899251"/>
                  <a:pt x="699677" y="2976135"/>
                  <a:pt x="588681" y="2977769"/>
                </a:cubicBezTo>
                <a:cubicBezTo>
                  <a:pt x="573724" y="2974953"/>
                  <a:pt x="565729" y="2974991"/>
                  <a:pt x="561717" y="2981641"/>
                </a:cubicBezTo>
                <a:cubicBezTo>
                  <a:pt x="532860" y="2985482"/>
                  <a:pt x="475932" y="2991762"/>
                  <a:pt x="415541" y="3000819"/>
                </a:cubicBezTo>
                <a:cubicBezTo>
                  <a:pt x="370154" y="3008289"/>
                  <a:pt x="146634" y="3001788"/>
                  <a:pt x="86183" y="3009699"/>
                </a:cubicBezTo>
                <a:lnTo>
                  <a:pt x="0" y="304497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9642F-E1C6-A06E-C9AB-DB3807AFF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3703975"/>
            <a:ext cx="3943350" cy="2398713"/>
          </a:xfrm>
        </p:spPr>
        <p:txBody>
          <a:bodyPr anchor="ctr">
            <a:normAutofit/>
          </a:bodyPr>
          <a:lstStyle/>
          <a:p>
            <a:r>
              <a:rPr lang="en-US" sz="1700"/>
              <a:t>Strong religious and cultural ties</a:t>
            </a:r>
          </a:p>
          <a:p>
            <a:r>
              <a:rPr lang="en-US" sz="1700"/>
              <a:t>Countries like Saudi Arabia and UAE are key partners</a:t>
            </a:r>
          </a:p>
          <a:p>
            <a:r>
              <a:rPr lang="en-US" sz="1700"/>
              <a:t>Provide oil and employment opportunities</a:t>
            </a:r>
          </a:p>
          <a:p>
            <a:r>
              <a:rPr lang="en-US" sz="1700"/>
              <a:t>Pakistan supports them diplomatically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607B1-16DF-B703-BC6F-90E5A096D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900"/>
              <a:pPr>
                <a:spcAft>
                  <a:spcPts val="600"/>
                </a:spcAft>
              </a:pPr>
              <a:t>17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431643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1390B-0B60-2893-3596-BE9F4D45C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/>
          </a:bodyPr>
          <a:lstStyle/>
          <a:p>
            <a:r>
              <a:rPr lang="en-US" sz="2800"/>
              <a:t>Role in International Organizations</a:t>
            </a:r>
          </a:p>
        </p:txBody>
      </p:sp>
      <p:sp>
        <p:nvSpPr>
          <p:cNvPr id="9225" name="Rectangle 9224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7" name="Rectangle 922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 descr="Organisation of Islamic Cooperation OIC">
            <a:extLst>
              <a:ext uri="{FF2B5EF4-FFF2-40B4-BE49-F238E27FC236}">
                <a16:creationId xmlns:a16="http://schemas.microsoft.com/office/drawing/2014/main" id="{2A099C44-797A-2D23-C806-8B689495D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69804" y="364142"/>
            <a:ext cx="6876432" cy="386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9" name="Rectangle 9228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1FA6D-3D2C-8A2E-D1FA-96086214C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2039" y="4883544"/>
            <a:ext cx="4940186" cy="1556907"/>
          </a:xfrm>
        </p:spPr>
        <p:txBody>
          <a:bodyPr anchor="ctr">
            <a:normAutofit/>
          </a:bodyPr>
          <a:lstStyle/>
          <a:p>
            <a:r>
              <a:rPr lang="en-US" sz="1600"/>
              <a:t>Active member of United Nations</a:t>
            </a:r>
          </a:p>
          <a:p>
            <a:r>
              <a:rPr lang="en-US" sz="1600"/>
              <a:t>Participates in peacekeeping missions</a:t>
            </a:r>
          </a:p>
          <a:p>
            <a:r>
              <a:rPr lang="en-US" sz="1600"/>
              <a:t>Member of Organization of Islamic Cooperation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C07AF-B0F1-F4A5-F770-50E221DB9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49224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13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Rectangle 10246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2" name="Picture 2" descr="foreign policy of pakistan 2019">
            <a:extLst>
              <a:ext uri="{FF2B5EF4-FFF2-40B4-BE49-F238E27FC236}">
                <a16:creationId xmlns:a16="http://schemas.microsoft.com/office/drawing/2014/main" id="{2D549491-31E7-5495-9C34-600703E7B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34"/>
          <a:stretch>
            <a:fillRect/>
          </a:stretch>
        </p:blipFill>
        <p:spPr bwMode="auto">
          <a:xfrm>
            <a:off x="20" y="1"/>
            <a:ext cx="9143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C194E8-F82C-D1F6-3EF4-BBE6FAFA0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22362"/>
            <a:ext cx="6858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000">
                <a:solidFill>
                  <a:srgbClr val="FFFFFF"/>
                </a:solidFill>
              </a:rPr>
              <a:t>Challenges of Pakistan’s Foreign Policy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5E14C-7DAE-1204-FEAD-315080CA7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C1FF6DA9-008F-8B48-92A6-B652298478BF}" type="slidenum">
              <a:rPr lang="en-US" sz="1000">
                <a:solidFill>
                  <a:srgbClr val="FFFFFF"/>
                </a:solidFill>
                <a:latin typeface="Calibri" panose="020F0502020204030204"/>
              </a:rPr>
              <a:pPr defTabSz="914400">
                <a:spcAft>
                  <a:spcPts val="600"/>
                </a:spcAft>
                <a:defRPr/>
              </a:pPr>
              <a:t>19</a:t>
            </a:fld>
            <a:endParaRPr lang="en-US" sz="10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03796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1" name="Rectangle 1127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FA7F15-7961-FADB-CF1F-991BD56E4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en-US" sz="4700"/>
              <a:t>Political Instability</a:t>
            </a:r>
          </a:p>
        </p:txBody>
      </p:sp>
      <p:sp>
        <p:nvSpPr>
          <p:cNvPr id="1127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FF389-211F-05E7-5A49-A5E266344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r>
              <a:rPr lang="en-US" sz="1900"/>
              <a:t>Frequent changes in government</a:t>
            </a:r>
          </a:p>
          <a:p>
            <a:r>
              <a:rPr lang="en-US" sz="1900"/>
              <a:t>Lack of long-term policies</a:t>
            </a:r>
          </a:p>
          <a:p>
            <a:r>
              <a:rPr lang="en-US" sz="1900"/>
              <a:t>Weak leadership affects international trust</a:t>
            </a:r>
          </a:p>
        </p:txBody>
      </p:sp>
      <p:pic>
        <p:nvPicPr>
          <p:cNvPr id="11266" name="Picture 2" descr="Five Best Memes About General Asim Munir Becoming The New COAS">
            <a:extLst>
              <a:ext uri="{FF2B5EF4-FFF2-40B4-BE49-F238E27FC236}">
                <a16:creationId xmlns:a16="http://schemas.microsoft.com/office/drawing/2014/main" id="{2116958C-B8AF-B155-E53E-DBDBF58EF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8" r="34538" b="-1"/>
          <a:stretch>
            <a:fillRect/>
          </a:stretch>
        </p:blipFill>
        <p:spPr bwMode="auto"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6E40F-461A-2E36-EC1E-F932BBE5E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29550" y="6356350"/>
            <a:ext cx="685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20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124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5" name="Rectangle 1229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2E9CEE-ED7E-A172-D2CB-746C03EC0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en-US" sz="4700"/>
              <a:t>Economic Problems</a:t>
            </a:r>
          </a:p>
        </p:txBody>
      </p:sp>
      <p:sp>
        <p:nvSpPr>
          <p:cNvPr id="1229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F15DF-CDC0-85BB-522A-B771D5052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r>
              <a:rPr lang="en-US" sz="1900"/>
              <a:t>Low GDP growth</a:t>
            </a:r>
          </a:p>
          <a:p>
            <a:r>
              <a:rPr lang="en-US" sz="1900"/>
              <a:t>Heavy debt and reliance on IMF</a:t>
            </a:r>
          </a:p>
          <a:p>
            <a:r>
              <a:rPr lang="en-US" sz="1900"/>
              <a:t>Trade imbalance (more imports than exports)</a:t>
            </a:r>
          </a:p>
          <a:p>
            <a:r>
              <a:rPr lang="en-US" sz="1900"/>
              <a:t>Weak currency</a:t>
            </a:r>
          </a:p>
        </p:txBody>
      </p:sp>
      <p:pic>
        <p:nvPicPr>
          <p:cNvPr id="12290" name="Picture 2" descr="Trending Memer|Hey Gurbat Trending Meme">
            <a:extLst>
              <a:ext uri="{FF2B5EF4-FFF2-40B4-BE49-F238E27FC236}">
                <a16:creationId xmlns:a16="http://schemas.microsoft.com/office/drawing/2014/main" id="{AFA33432-1168-F7E9-17E9-47C235498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6" r="11136"/>
          <a:stretch>
            <a:fillRect/>
          </a:stretch>
        </p:blipFill>
        <p:spPr bwMode="auto"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2EB7B-0520-9E7A-A948-529EF2E53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29550" y="6356350"/>
            <a:ext cx="685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07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Rectangle 13318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21" name="Rectangle 13320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323" name="Group 13322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3324" name="Oval 13323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25" name="Oval 13324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26" name="Oval 13325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27" name="Oval 13326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28" name="Oval 13327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29" name="Oval 13328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331" name="Rectangle 13330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333" name="Group 13332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13334" name="Straight Connector 13333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35" name="Straight Connector 13334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36" name="Straight Connector 13335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37" name="Straight Connector 13336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314" name="Picture 2" descr="Stop terrorism sign Bricked wall with stop terrorism sign terrorism stock pictures, royalty-free photos &amp; images">
            <a:extLst>
              <a:ext uri="{FF2B5EF4-FFF2-40B4-BE49-F238E27FC236}">
                <a16:creationId xmlns:a16="http://schemas.microsoft.com/office/drawing/2014/main" id="{ED179E95-3228-B9D2-25F0-CA6DDD5D5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23" r="1" b="15050"/>
          <a:stretch>
            <a:fillRect/>
          </a:stretch>
        </p:blipFill>
        <p:spPr bwMode="auto">
          <a:xfrm>
            <a:off x="469942" y="317578"/>
            <a:ext cx="8138333" cy="350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339" name="Group 13338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13340" name="Straight Connector 13339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41" name="Straight Connector 13340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42" name="Straight Connector 13341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43" name="Straight Connector 13342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45" name="Rectangle 13344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347" name="Group 13346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13348" name="Straight Connector 13347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49" name="Straight Connector 13348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50" name="Straight Connector 13349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51" name="Straight Connector 13350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524230-EDB8-5D16-11CB-C42454E2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018137"/>
            <a:ext cx="3426795" cy="2129586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Security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48547-BC49-28C3-08E0-BB9D934CC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560" y="4018143"/>
            <a:ext cx="4255578" cy="2129599"/>
          </a:xfrm>
          <a:noFill/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Terrorism and extremism</a:t>
            </a:r>
          </a:p>
          <a:p>
            <a:r>
              <a:rPr lang="en-US" sz="2000" dirty="0">
                <a:solidFill>
                  <a:schemeClr val="bg1"/>
                </a:solidFill>
              </a:rPr>
              <a:t>Internal instability</a:t>
            </a:r>
          </a:p>
          <a:p>
            <a:r>
              <a:rPr lang="en-US" sz="2000" dirty="0">
                <a:solidFill>
                  <a:schemeClr val="bg1"/>
                </a:solidFill>
              </a:rPr>
              <a:t>Border tensions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72337-1778-06EE-680B-C288A0BF2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09360"/>
            <a:ext cx="480060" cy="548640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22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291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48" name="Rectangle 14347">
            <a:extLst>
              <a:ext uri="{FF2B5EF4-FFF2-40B4-BE49-F238E27FC236}">
                <a16:creationId xmlns:a16="http://schemas.microsoft.com/office/drawing/2014/main" id="{80DF40B2-80F7-4E71-B46C-284163F3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66EADC-03B8-25C8-9019-3389C702C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48464"/>
            <a:ext cx="2855390" cy="2228074"/>
          </a:xfrm>
        </p:spPr>
        <p:txBody>
          <a:bodyPr>
            <a:normAutofit/>
          </a:bodyPr>
          <a:lstStyle/>
          <a:p>
            <a:r>
              <a:rPr lang="en-US" sz="3500"/>
              <a:t>Relations with Neighbors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335BA-9BD7-29D2-4108-A63CB469B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962279"/>
            <a:ext cx="2849569" cy="3143241"/>
          </a:xfrm>
        </p:spPr>
        <p:txBody>
          <a:bodyPr>
            <a:normAutofit/>
          </a:bodyPr>
          <a:lstStyle/>
          <a:p>
            <a:r>
              <a:rPr lang="en-US" sz="2000" dirty="0"/>
              <a:t>Conflict with India</a:t>
            </a:r>
          </a:p>
          <a:p>
            <a:r>
              <a:rPr lang="en-US" sz="2000" dirty="0"/>
              <a:t>Issues with Afghanistan</a:t>
            </a:r>
          </a:p>
          <a:p>
            <a:r>
              <a:rPr lang="en-US" sz="2000" dirty="0"/>
              <a:t>Regional instability</a:t>
            </a:r>
          </a:p>
        </p:txBody>
      </p:sp>
      <p:pic>
        <p:nvPicPr>
          <p:cNvPr id="14340" name="Picture 4" descr="23 - pakistan - vintage murena 10 - india afghanistan stock illustrations">
            <a:extLst>
              <a:ext uri="{FF2B5EF4-FFF2-40B4-BE49-F238E27FC236}">
                <a16:creationId xmlns:a16="http://schemas.microsoft.com/office/drawing/2014/main" id="{3D32FE58-161D-5100-0C3B-299825764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8"/>
          <a:stretch>
            <a:fillRect/>
          </a:stretch>
        </p:blipFill>
        <p:spPr bwMode="auto">
          <a:xfrm>
            <a:off x="3757789" y="10"/>
            <a:ext cx="5386210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75013-B179-2150-E7E9-7A29F0B3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50076" y="6356350"/>
            <a:ext cx="86527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23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112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67" name="Rectangle 1536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362" name="Picture 2" descr="Pakistani Prime Minister Shehbaz Sharif speaks next to U.S. President Donald Trump during world leaders' summit on ending the Gaza war, amid a U.S.-brokered prisoner-hostage swap and ceasefire deal between Israel and Hamas, in Sharm el-Sheikh, Egypt, October 13, 2025. REUTERS/Suzanne Plunkett/Pool">
            <a:extLst>
              <a:ext uri="{FF2B5EF4-FFF2-40B4-BE49-F238E27FC236}">
                <a16:creationId xmlns:a16="http://schemas.microsoft.com/office/drawing/2014/main" id="{4FC71BD3-9293-B7DB-0047-1CE23F75B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2" r="24045"/>
          <a:stretch>
            <a:fillRect/>
          </a:stretch>
        </p:blipFill>
        <p:spPr bwMode="auto">
          <a:xfrm>
            <a:off x="1891767" y="10"/>
            <a:ext cx="725223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9" name="Rectangle 1536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7E4A4E-7BC7-860F-ACFF-08C1B488F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US" sz="3500"/>
              <a:t>Global Pressure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9B4A3-3420-189E-81A9-A4E77F3BB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r>
              <a:rPr lang="en-US" sz="1700"/>
              <a:t>Influence of powerful countries like USA and China</a:t>
            </a:r>
          </a:p>
          <a:p>
            <a:r>
              <a:rPr lang="en-US" sz="1700"/>
              <a:t>Need to balance relationships</a:t>
            </a:r>
          </a:p>
          <a:p>
            <a:r>
              <a:rPr lang="en-US" sz="1700"/>
              <a:t>Pressure on defense and economic decisions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D78E2-1CFA-D726-E155-2198E2451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24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882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12564-A0D7-E9B6-5B2C-0D1074A3A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Dependence on Foreign Aid	</a:t>
            </a:r>
            <a:endParaRPr lang="en-US" dirty="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AA70DBA2-3C8A-AF2F-9376-480D595F4E4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DD141-05BA-9BC2-5FA7-E0E7BD835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3119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91" name="Rectangle 1639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386" name="Picture 2" descr="Graph Falling Down in Front Of Pakistan Flag. Crisis Concept Graph Falling Down in Front Of Pakistan Flag. Crisis Concept pakistan stock pictures, royalty-free photos &amp; images">
            <a:extLst>
              <a:ext uri="{FF2B5EF4-FFF2-40B4-BE49-F238E27FC236}">
                <a16:creationId xmlns:a16="http://schemas.microsoft.com/office/drawing/2014/main" id="{151FD715-1255-78FA-3635-CAEDBC2F7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66" r="26802" b="1"/>
          <a:stretch>
            <a:fillRect/>
          </a:stretch>
        </p:blipFill>
        <p:spPr bwMode="auto">
          <a:xfrm>
            <a:off x="1891767" y="10"/>
            <a:ext cx="725223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93" name="Rectangle 1639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56F164-B69D-7F3A-6EEC-7C807087A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US" sz="3500"/>
              <a:t>Negative Global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E4D9B-6AC3-F3E3-BC04-A6FEE0713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r>
              <a:rPr lang="en-US" sz="1700"/>
              <a:t>Due to terrorism and instability</a:t>
            </a:r>
          </a:p>
          <a:p>
            <a:r>
              <a:rPr lang="en-US" sz="1700"/>
              <a:t>Reduces foreign investment</a:t>
            </a:r>
          </a:p>
          <a:p>
            <a:r>
              <a:rPr lang="en-US" sz="1700"/>
              <a:t>Affects tourism and diplomacy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3928A-6078-BC8C-516C-7B4EF41CA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26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6738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0DF40B2-80F7-4E71-B46C-284163F3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CCEE44-9BFC-DACF-7131-F449D1F8E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48464"/>
            <a:ext cx="2855390" cy="2228074"/>
          </a:xfrm>
        </p:spPr>
        <p:txBody>
          <a:bodyPr>
            <a:normAutofit/>
          </a:bodyPr>
          <a:lstStyle/>
          <a:p>
            <a:r>
              <a:rPr lang="en-US" sz="3500"/>
              <a:t>Energy Crisis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B98AC-62CE-AD42-B162-2B962D5EC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30" y="2962279"/>
            <a:ext cx="3155490" cy="3143241"/>
          </a:xfrm>
        </p:spPr>
        <p:txBody>
          <a:bodyPr>
            <a:normAutofit/>
          </a:bodyPr>
          <a:lstStyle/>
          <a:p>
            <a:r>
              <a:rPr lang="en-US" sz="2000" dirty="0"/>
              <a:t>Heavy dependence on imported oil</a:t>
            </a:r>
          </a:p>
          <a:p>
            <a:r>
              <a:rPr lang="en-US" sz="2000" dirty="0"/>
              <a:t>Economic burden</a:t>
            </a:r>
          </a:p>
          <a:p>
            <a:r>
              <a:rPr lang="en-US" sz="2000" dirty="0"/>
              <a:t>Impacts relations with oil-producing countries</a:t>
            </a:r>
          </a:p>
        </p:txBody>
      </p:sp>
      <p:pic>
        <p:nvPicPr>
          <p:cNvPr id="15" name="Picture 14" descr="Offshore production platform">
            <a:extLst>
              <a:ext uri="{FF2B5EF4-FFF2-40B4-BE49-F238E27FC236}">
                <a16:creationId xmlns:a16="http://schemas.microsoft.com/office/drawing/2014/main" id="{37459E38-E882-9266-5BB8-0011CBC20C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82" r="25951" b="-1"/>
          <a:stretch>
            <a:fillRect/>
          </a:stretch>
        </p:blipFill>
        <p:spPr>
          <a:xfrm>
            <a:off x="3757789" y="10"/>
            <a:ext cx="5386210" cy="6857990"/>
          </a:xfrm>
          <a:prstGeom prst="rect">
            <a:avLst/>
          </a:prstGeom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20ED5-2758-3CCB-8B81-E656A0498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50076" y="6356350"/>
            <a:ext cx="86527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27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9672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F500F-28CE-4370-4747-92A36436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Climate and Environmental Challenges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E9F0BCD-7ADA-7009-8662-5F659CC264B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0632D-86C4-C798-325C-CEA5D1E9B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967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21" name="Rectangle 1742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410" name="Picture 2" descr="The Flag of Pakistan in the World Map. Pakistan map stock images, royalty-free photos and pictures">
            <a:extLst>
              <a:ext uri="{FF2B5EF4-FFF2-40B4-BE49-F238E27FC236}">
                <a16:creationId xmlns:a16="http://schemas.microsoft.com/office/drawing/2014/main" id="{7C35BDCA-A439-5C15-FCBE-667B4AF1C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" r="28680" b="-1"/>
          <a:stretch>
            <a:fillRect/>
          </a:stretch>
        </p:blipFill>
        <p:spPr bwMode="auto">
          <a:xfrm>
            <a:off x="1891767" y="10"/>
            <a:ext cx="725223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22" name="Rectangle 1742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DA382C-6FCA-27DB-827B-E1F63799D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US" sz="350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70A2E-A9B0-17D4-B286-163B0E00F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176" y="2434201"/>
            <a:ext cx="3845859" cy="3742762"/>
          </a:xfrm>
        </p:spPr>
        <p:txBody>
          <a:bodyPr>
            <a:normAutofit/>
          </a:bodyPr>
          <a:lstStyle/>
          <a:p>
            <a:r>
              <a:rPr lang="en-US" sz="2000" dirty="0"/>
              <a:t>Foreign policy is essential for Pakistan’s security and development</a:t>
            </a:r>
          </a:p>
          <a:p>
            <a:r>
              <a:rPr lang="en-US" sz="2000" dirty="0"/>
              <a:t>Requires political stability and strong economy</a:t>
            </a:r>
          </a:p>
          <a:p>
            <a:r>
              <a:rPr lang="en-US" sz="2000" dirty="0"/>
              <a:t>Must improve relations with neighbors</a:t>
            </a:r>
          </a:p>
          <a:p>
            <a:r>
              <a:rPr lang="en-US" sz="2000" dirty="0"/>
              <a:t>Focus on peace, diplomacy, and economic growth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ACD50-F5ED-1F05-4572-FA196C916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29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8659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443" name="Rectangle 18442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44" name="Rectangle 18443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9144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582516-A369-9AA6-8FD7-BE9C8FD5B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5" y="5279511"/>
            <a:ext cx="7261411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>
                <a:solidFill>
                  <a:schemeClr val="tx1">
                    <a:lumMod val="85000"/>
                    <a:lumOff val="15000"/>
                  </a:schemeClr>
                </a:solidFill>
              </a:rPr>
              <a:t>Thank you</a:t>
            </a:r>
          </a:p>
        </p:txBody>
      </p:sp>
      <p:pic>
        <p:nvPicPr>
          <p:cNvPr id="18434" name="Picture 2" descr="3D world digital glowing map animation of Pakistan.">
            <a:extLst>
              <a:ext uri="{FF2B5EF4-FFF2-40B4-BE49-F238E27FC236}">
                <a16:creationId xmlns:a16="http://schemas.microsoft.com/office/drawing/2014/main" id="{5CC8B294-EDAE-B064-D4C6-F1A8F14F6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622" b="-1"/>
          <a:stretch>
            <a:fillRect/>
          </a:stretch>
        </p:blipFill>
        <p:spPr bwMode="auto">
          <a:xfrm>
            <a:off x="20" y="10"/>
            <a:ext cx="9143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7C169-01A0-B634-4EF4-C2A3C2918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C1FF6DA9-008F-8B48-92A6-B652298478BF}" type="slidenum">
              <a:rPr lang="en-US" sz="9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</a:rPr>
              <a:pPr defTabSz="914400">
                <a:spcAft>
                  <a:spcPts val="600"/>
                </a:spcAft>
                <a:defRPr/>
              </a:pPr>
              <a:t>30</a:t>
            </a:fld>
            <a:endParaRPr lang="en-US" sz="90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69586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742</Words>
  <Application>Microsoft Office PowerPoint</Application>
  <PresentationFormat>On-screen Show (4:3)</PresentationFormat>
  <Paragraphs>145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Arial</vt:lpstr>
      <vt:lpstr>Calibri</vt:lpstr>
      <vt:lpstr>Office Theme</vt:lpstr>
      <vt:lpstr>PowerPoint Presentation</vt:lpstr>
      <vt:lpstr>What is Foreign Policy? </vt:lpstr>
      <vt:lpstr>Overview of Pakistan’s Foreign Policy</vt:lpstr>
      <vt:lpstr>Objectives of Pakistan’s Foreign Policy</vt:lpstr>
      <vt:lpstr>National Security</vt:lpstr>
      <vt:lpstr>Economic Development</vt:lpstr>
      <vt:lpstr>Protection of Sovereignty</vt:lpstr>
      <vt:lpstr>Promotion of Peace</vt:lpstr>
      <vt:lpstr>Support for Muslim Countries</vt:lpstr>
      <vt:lpstr>Principles of Pakistan’s Foreign Policy</vt:lpstr>
      <vt:lpstr>Importance of Foreign Policy</vt:lpstr>
      <vt:lpstr>Pakistan’s Foreign Relations</vt:lpstr>
      <vt:lpstr>Relations with China</vt:lpstr>
      <vt:lpstr>Relations with United States</vt:lpstr>
      <vt:lpstr>Relations with India</vt:lpstr>
      <vt:lpstr>Relations with Afghanistan</vt:lpstr>
      <vt:lpstr>Relations with Middle Eastern Countries</vt:lpstr>
      <vt:lpstr>Role in International Organizations</vt:lpstr>
      <vt:lpstr>Challenges of Pakistan’s Foreign Policy</vt:lpstr>
      <vt:lpstr>Political Instability</vt:lpstr>
      <vt:lpstr>Economic Problems</vt:lpstr>
      <vt:lpstr>Security Issues</vt:lpstr>
      <vt:lpstr>Relations with Neighbors</vt:lpstr>
      <vt:lpstr>Global Pressure</vt:lpstr>
      <vt:lpstr>Dependence on Foreign Aid </vt:lpstr>
      <vt:lpstr>Negative Global Image</vt:lpstr>
      <vt:lpstr>Energy Crisis</vt:lpstr>
      <vt:lpstr>Climate and Environmental Challenges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Shahmeer Raza</dc:creator>
  <cp:keywords/>
  <dc:description>generated using python-pptx</dc:description>
  <cp:lastModifiedBy>Shahmeer Raza</cp:lastModifiedBy>
  <cp:revision>14</cp:revision>
  <dcterms:created xsi:type="dcterms:W3CDTF">2013-01-27T09:14:16Z</dcterms:created>
  <dcterms:modified xsi:type="dcterms:W3CDTF">2026-04-13T17:04:19Z</dcterms:modified>
  <cp:category/>
</cp:coreProperties>
</file>