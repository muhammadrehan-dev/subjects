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Lato"/>
      <p:regular r:id="rId20"/>
      <p:bold r:id="rId21"/>
      <p:italic r:id="rId22"/>
      <p:boldItalic r:id="rId23"/>
    </p:embeddedFont>
    <p:embeddedFont>
      <p:font typeface="Merriweather"/>
      <p:regular r:id="rId24"/>
      <p:bold r:id="rId25"/>
      <p:italic r:id="rId26"/>
      <p:boldItalic r:id="rId27"/>
    </p:embeddedFont>
    <p:embeddedFont>
      <p:font typeface="DM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22" Type="http://schemas.openxmlformats.org/officeDocument/2006/relationships/font" Target="fonts/Lato-italic.fntdata"/><Relationship Id="rId21" Type="http://schemas.openxmlformats.org/officeDocument/2006/relationships/font" Target="fonts/Lato-bold.fntdata"/><Relationship Id="rId24" Type="http://schemas.openxmlformats.org/officeDocument/2006/relationships/font" Target="fonts/Merriweather-regular.fntdata"/><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italic.fntdata"/><Relationship Id="rId25" Type="http://schemas.openxmlformats.org/officeDocument/2006/relationships/font" Target="fonts/Merriweather-bold.fntdata"/><Relationship Id="rId28" Type="http://schemas.openxmlformats.org/officeDocument/2006/relationships/font" Target="fonts/DMSans-regular.fntdata"/><Relationship Id="rId27" Type="http://schemas.openxmlformats.org/officeDocument/2006/relationships/font" Target="fonts/Merriweather-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boldItalic.fntdata"/><Relationship Id="rId30" Type="http://schemas.openxmlformats.org/officeDocument/2006/relationships/font" Target="fonts/DM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6339f981c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d6339f981c_1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6339f981c_1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g3d6339f981c_1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6339f981c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d6339f981c_1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6339f981c_1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g3d6339f981c_1_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24.png"/><Relationship Id="rId6"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595437" y="1664940"/>
            <a:ext cx="9001125" cy="1676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250" u="none" cap="none" strike="noStrike">
                <a:solidFill>
                  <a:srgbClr val="01411C"/>
                </a:solidFill>
                <a:latin typeface="Merriweather"/>
                <a:ea typeface="Merriweather"/>
                <a:cs typeface="Merriweather"/>
                <a:sym typeface="Merriweather"/>
              </a:rPr>
              <a:t>Initial Problems of Pakistan</a:t>
            </a:r>
            <a:endParaRPr/>
          </a:p>
        </p:txBody>
      </p:sp>
      <p:sp>
        <p:nvSpPr>
          <p:cNvPr id="86" name="Google Shape;86;p13"/>
          <p:cNvSpPr txBox="1"/>
          <p:nvPr/>
        </p:nvSpPr>
        <p:spPr>
          <a:xfrm>
            <a:off x="1809750" y="3531840"/>
            <a:ext cx="85725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1E293B"/>
                </a:solidFill>
                <a:latin typeface="DM Sans"/>
                <a:ea typeface="DM Sans"/>
                <a:cs typeface="DM Sans"/>
                <a:sym typeface="DM Sans"/>
              </a:rPr>
              <a:t>Understanding the Challenges of a New Nation (1947–1950)</a:t>
            </a:r>
            <a:endParaRPr/>
          </a:p>
        </p:txBody>
      </p:sp>
      <p:sp>
        <p:nvSpPr>
          <p:cNvPr id="87" name="Google Shape;87;p13"/>
          <p:cNvSpPr txBox="1"/>
          <p:nvPr/>
        </p:nvSpPr>
        <p:spPr>
          <a:xfrm>
            <a:off x="1809750" y="4278510"/>
            <a:ext cx="8572500" cy="91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350" u="none" cap="none" strike="noStrike">
                <a:solidFill>
                  <a:srgbClr val="475569"/>
                </a:solidFill>
                <a:latin typeface="DM Sans"/>
                <a:ea typeface="DM Sans"/>
                <a:cs typeface="DM Sans"/>
                <a:sym typeface="DM Sans"/>
              </a:rPr>
              <a:t> Presented by:</a:t>
            </a:r>
            <a:br>
              <a:rPr b="0" i="0" lang="en-US" sz="1800" u="none" cap="none" strike="noStrike">
                <a:solidFill>
                  <a:schemeClr val="dk1"/>
                </a:solidFill>
                <a:latin typeface="Calibri"/>
                <a:ea typeface="Calibri"/>
                <a:cs typeface="Calibri"/>
                <a:sym typeface="Calibri"/>
              </a:rPr>
            </a:br>
            <a:r>
              <a:rPr b="0" i="1" lang="en-US" sz="1350" u="none" cap="none" strike="noStrike">
                <a:solidFill>
                  <a:srgbClr val="475569"/>
                </a:solidFill>
                <a:latin typeface="DM Sans"/>
                <a:ea typeface="DM Sans"/>
                <a:cs typeface="DM Sans"/>
                <a:sym typeface="DM Sans"/>
              </a:rPr>
              <a:t> 25F- CY-098 MUNAF AHMED KHAN</a:t>
            </a:r>
            <a:br>
              <a:rPr b="0" i="0" lang="en-US" sz="1800" u="none" cap="none" strike="noStrike">
                <a:solidFill>
                  <a:schemeClr val="dk1"/>
                </a:solidFill>
                <a:latin typeface="Calibri"/>
                <a:ea typeface="Calibri"/>
                <a:cs typeface="Calibri"/>
                <a:sym typeface="Calibri"/>
              </a:rPr>
            </a:br>
            <a:r>
              <a:rPr b="0" i="1" lang="en-US" sz="1350" u="none" cap="none" strike="noStrike">
                <a:solidFill>
                  <a:srgbClr val="475569"/>
                </a:solidFill>
                <a:latin typeface="DM Sans"/>
                <a:ea typeface="DM Sans"/>
                <a:cs typeface="DM Sans"/>
                <a:sym typeface="DM Sans"/>
              </a:rPr>
              <a:t> 25F-CY-074 MUHAMMAD SHAHMEER</a:t>
            </a:r>
            <a:br>
              <a:rPr b="0" i="0" lang="en-US" sz="1800" u="none" cap="none" strike="noStrike">
                <a:solidFill>
                  <a:schemeClr val="dk1"/>
                </a:solidFill>
                <a:latin typeface="Calibri"/>
                <a:ea typeface="Calibri"/>
                <a:cs typeface="Calibri"/>
                <a:sym typeface="Calibri"/>
              </a:rPr>
            </a:br>
            <a:r>
              <a:rPr b="0" i="1" lang="en-US" sz="1350" u="none" cap="none" strike="noStrike">
                <a:solidFill>
                  <a:srgbClr val="475569"/>
                </a:solidFill>
                <a:latin typeface="DM Sans"/>
                <a:ea typeface="DM Sans"/>
                <a:cs typeface="DM Sans"/>
                <a:sym typeface="DM Sans"/>
              </a:rPr>
              <a:t> 25F-CY-066 MUDASSIR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411C"/>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3" name="Google Shape;93;p14"/>
          <p:cNvSpPr/>
          <p:nvPr/>
        </p:nvSpPr>
        <p:spPr>
          <a:xfrm>
            <a:off x="5381625" y="2556569"/>
            <a:ext cx="1428750" cy="47625"/>
          </a:xfrm>
          <a:prstGeom prst="rect">
            <a:avLst/>
          </a:prstGeom>
          <a:solidFill>
            <a:srgbClr val="D4AF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14"/>
          <p:cNvSpPr txBox="1"/>
          <p:nvPr/>
        </p:nvSpPr>
        <p:spPr>
          <a:xfrm>
            <a:off x="2990611" y="2889944"/>
            <a:ext cx="6210776" cy="714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D4AF37"/>
                </a:solidFill>
                <a:latin typeface="Merriweather"/>
                <a:ea typeface="Merriweather"/>
                <a:cs typeface="Merriweather"/>
                <a:sym typeface="Merriweather"/>
              </a:rPr>
              <a:t>The Birth of a Nation</a:t>
            </a:r>
            <a:endParaRPr/>
          </a:p>
        </p:txBody>
      </p:sp>
      <p:sp>
        <p:nvSpPr>
          <p:cNvPr id="95" name="Google Shape;95;p14"/>
          <p:cNvSpPr txBox="1"/>
          <p:nvPr/>
        </p:nvSpPr>
        <p:spPr>
          <a:xfrm>
            <a:off x="2286000" y="3794819"/>
            <a:ext cx="7620000" cy="7923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950" u="none" cap="none" strike="noStrike">
                <a:solidFill>
                  <a:srgbClr val="F8FAF0"/>
                </a:solidFill>
                <a:latin typeface="DM Sans"/>
                <a:ea typeface="DM Sans"/>
                <a:cs typeface="DM Sans"/>
                <a:sym typeface="DM Sans"/>
              </a:rPr>
              <a:t>August 14, 1947: A Monumental Achievement Met With Unprecedented Challenges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99" name="Shape 99"/>
        <p:cNvGrpSpPr/>
        <p:nvPr/>
      </p:nvGrpSpPr>
      <p:grpSpPr>
        <a:xfrm>
          <a:off x="0" y="0"/>
          <a:ext cx="0" cy="0"/>
          <a:chOff x="0" y="0"/>
          <a:chExt cx="0" cy="0"/>
        </a:xfrm>
      </p:grpSpPr>
      <p:pic>
        <p:nvPicPr>
          <p:cNvPr descr="image.png" id="100" name="Google Shape;100;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1" name="Google Shape;101;p15"/>
          <p:cNvPicPr preferRelativeResize="0"/>
          <p:nvPr/>
        </p:nvPicPr>
        <p:blipFill rotWithShape="1">
          <a:blip r:embed="rId4">
            <a:alphaModFix/>
          </a:blip>
          <a:srcRect b="0" l="0" r="0" t="0"/>
          <a:stretch/>
        </p:blipFill>
        <p:spPr>
          <a:xfrm>
            <a:off x="571500" y="1905000"/>
            <a:ext cx="3492549" cy="3905250"/>
          </a:xfrm>
          <a:prstGeom prst="rect">
            <a:avLst/>
          </a:prstGeom>
          <a:noFill/>
          <a:ln>
            <a:noFill/>
          </a:ln>
        </p:spPr>
      </p:pic>
      <p:pic>
        <p:nvPicPr>
          <p:cNvPr descr="image.png" id="102" name="Google Shape;102;p15"/>
          <p:cNvPicPr preferRelativeResize="0"/>
          <p:nvPr/>
        </p:nvPicPr>
        <p:blipFill rotWithShape="1">
          <a:blip r:embed="rId5">
            <a:alphaModFix/>
          </a:blip>
          <a:srcRect b="0" l="0" r="0" t="0"/>
          <a:stretch/>
        </p:blipFill>
        <p:spPr>
          <a:xfrm>
            <a:off x="4349799" y="1905000"/>
            <a:ext cx="3492549" cy="3905250"/>
          </a:xfrm>
          <a:prstGeom prst="rect">
            <a:avLst/>
          </a:prstGeom>
          <a:noFill/>
          <a:ln>
            <a:noFill/>
          </a:ln>
        </p:spPr>
      </p:pic>
      <p:pic>
        <p:nvPicPr>
          <p:cNvPr descr="image.png" id="103" name="Google Shape;103;p15"/>
          <p:cNvPicPr preferRelativeResize="0"/>
          <p:nvPr/>
        </p:nvPicPr>
        <p:blipFill rotWithShape="1">
          <a:blip r:embed="rId6">
            <a:alphaModFix/>
          </a:blip>
          <a:srcRect b="0" l="0" r="0" t="0"/>
          <a:stretch/>
        </p:blipFill>
        <p:spPr>
          <a:xfrm>
            <a:off x="8128099" y="1905000"/>
            <a:ext cx="3492549" cy="3905250"/>
          </a:xfrm>
          <a:prstGeom prst="rect">
            <a:avLst/>
          </a:prstGeom>
          <a:noFill/>
          <a:ln>
            <a:noFill/>
          </a:ln>
        </p:spPr>
      </p:pic>
      <p:sp>
        <p:nvSpPr>
          <p:cNvPr id="104" name="Google Shape;104;p15"/>
          <p:cNvSpPr txBox="1"/>
          <p:nvPr/>
        </p:nvSpPr>
        <p:spPr>
          <a:xfrm>
            <a:off x="1187559" y="3228975"/>
            <a:ext cx="2260282" cy="38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01411C"/>
                </a:solidFill>
                <a:latin typeface="Merriweather"/>
                <a:ea typeface="Merriweather"/>
                <a:cs typeface="Merriweather"/>
                <a:sym typeface="Merriweather"/>
              </a:rPr>
              <a:t>Humanitarian</a:t>
            </a:r>
            <a:endParaRPr/>
          </a:p>
        </p:txBody>
      </p:sp>
      <p:sp>
        <p:nvSpPr>
          <p:cNvPr id="105" name="Google Shape;105;p15"/>
          <p:cNvSpPr txBox="1"/>
          <p:nvPr/>
        </p:nvSpPr>
        <p:spPr>
          <a:xfrm>
            <a:off x="866775" y="3752850"/>
            <a:ext cx="2901999" cy="1524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The influx of millions of traumatized refugees created an immediate and overwhelming disaster for a state with no infrastructure.</a:t>
            </a:r>
            <a:endParaRPr/>
          </a:p>
        </p:txBody>
      </p:sp>
      <p:sp>
        <p:nvSpPr>
          <p:cNvPr id="106" name="Google Shape;106;p15"/>
          <p:cNvSpPr txBox="1"/>
          <p:nvPr/>
        </p:nvSpPr>
        <p:spPr>
          <a:xfrm>
            <a:off x="4950856" y="3228975"/>
            <a:ext cx="2290286" cy="38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01411C"/>
                </a:solidFill>
                <a:latin typeface="Merriweather"/>
                <a:ea typeface="Merriweather"/>
                <a:cs typeface="Merriweather"/>
                <a:sym typeface="Merriweather"/>
              </a:rPr>
              <a:t>Asset Division</a:t>
            </a:r>
            <a:endParaRPr/>
          </a:p>
        </p:txBody>
      </p:sp>
      <p:sp>
        <p:nvSpPr>
          <p:cNvPr id="107" name="Google Shape;107;p15"/>
          <p:cNvSpPr txBox="1"/>
          <p:nvPr/>
        </p:nvSpPr>
        <p:spPr>
          <a:xfrm>
            <a:off x="4645074" y="3752850"/>
            <a:ext cx="2901999" cy="1524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India deliberately withheld critical financial and military assets, aiming to cripple Pakistan's foundation before it could settle.</a:t>
            </a:r>
            <a:endParaRPr/>
          </a:p>
        </p:txBody>
      </p:sp>
      <p:sp>
        <p:nvSpPr>
          <p:cNvPr id="108" name="Google Shape;108;p15"/>
          <p:cNvSpPr txBox="1"/>
          <p:nvPr/>
        </p:nvSpPr>
        <p:spPr>
          <a:xfrm>
            <a:off x="8974187" y="3228975"/>
            <a:ext cx="1800225" cy="38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01411C"/>
                </a:solidFill>
                <a:latin typeface="Merriweather"/>
                <a:ea typeface="Merriweather"/>
                <a:cs typeface="Merriweather"/>
                <a:sym typeface="Merriweather"/>
              </a:rPr>
              <a:t>Geographic</a:t>
            </a:r>
            <a:endParaRPr/>
          </a:p>
        </p:txBody>
      </p:sp>
      <p:sp>
        <p:nvSpPr>
          <p:cNvPr id="109" name="Google Shape;109;p15"/>
          <p:cNvSpPr txBox="1"/>
          <p:nvPr/>
        </p:nvSpPr>
        <p:spPr>
          <a:xfrm>
            <a:off x="8423374" y="3752850"/>
            <a:ext cx="290199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Separated by 1,600 km of hostile land, the nation faced the unjust Radcliffe Award, sparking the immediate Kashmir dispute.</a:t>
            </a:r>
            <a:endParaRPr/>
          </a:p>
        </p:txBody>
      </p:sp>
      <p:pic>
        <p:nvPicPr>
          <p:cNvPr descr="image.png" id="110" name="Google Shape;110;p15"/>
          <p:cNvPicPr preferRelativeResize="0"/>
          <p:nvPr/>
        </p:nvPicPr>
        <p:blipFill rotWithShape="1">
          <a:blip r:embed="rId7">
            <a:alphaModFix/>
          </a:blip>
          <a:srcRect b="0" l="0" r="0" t="0"/>
          <a:stretch/>
        </p:blipFill>
        <p:spPr>
          <a:xfrm>
            <a:off x="1984325" y="2362200"/>
            <a:ext cx="666750" cy="533400"/>
          </a:xfrm>
          <a:prstGeom prst="rect">
            <a:avLst/>
          </a:prstGeom>
          <a:noFill/>
          <a:ln>
            <a:noFill/>
          </a:ln>
        </p:spPr>
      </p:pic>
      <p:pic>
        <p:nvPicPr>
          <p:cNvPr descr="image.png" id="111" name="Google Shape;111;p15"/>
          <p:cNvPicPr preferRelativeResize="0"/>
          <p:nvPr/>
        </p:nvPicPr>
        <p:blipFill rotWithShape="1">
          <a:blip r:embed="rId8">
            <a:alphaModFix/>
          </a:blip>
          <a:srcRect b="0" l="0" r="0" t="0"/>
          <a:stretch/>
        </p:blipFill>
        <p:spPr>
          <a:xfrm>
            <a:off x="5762625" y="2362200"/>
            <a:ext cx="666750" cy="533400"/>
          </a:xfrm>
          <a:prstGeom prst="rect">
            <a:avLst/>
          </a:prstGeom>
          <a:noFill/>
          <a:ln>
            <a:noFill/>
          </a:ln>
        </p:spPr>
      </p:pic>
      <p:pic>
        <p:nvPicPr>
          <p:cNvPr descr="image.png" id="112" name="Google Shape;112;p15"/>
          <p:cNvPicPr preferRelativeResize="0"/>
          <p:nvPr/>
        </p:nvPicPr>
        <p:blipFill rotWithShape="1">
          <a:blip r:embed="rId9">
            <a:alphaModFix/>
          </a:blip>
          <a:srcRect b="0" l="0" r="0" t="0"/>
          <a:stretch/>
        </p:blipFill>
        <p:spPr>
          <a:xfrm>
            <a:off x="9574262" y="2362200"/>
            <a:ext cx="600075" cy="533400"/>
          </a:xfrm>
          <a:prstGeom prst="rect">
            <a:avLst/>
          </a:prstGeom>
          <a:noFill/>
          <a:ln>
            <a:noFill/>
          </a:ln>
        </p:spPr>
      </p:pic>
      <p:sp>
        <p:nvSpPr>
          <p:cNvPr id="113" name="Google Shape;113;p15"/>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1411C"/>
                </a:solidFill>
                <a:latin typeface="Merriweather"/>
                <a:ea typeface="Merriweather"/>
                <a:cs typeface="Merriweather"/>
                <a:sym typeface="Merriweather"/>
              </a:rPr>
              <a:t>Overview of Initial Crises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117" name="Shape 117"/>
        <p:cNvGrpSpPr/>
        <p:nvPr/>
      </p:nvGrpSpPr>
      <p:grpSpPr>
        <a:xfrm>
          <a:off x="0" y="0"/>
          <a:ext cx="0" cy="0"/>
          <a:chOff x="0" y="0"/>
          <a:chExt cx="0" cy="0"/>
        </a:xfrm>
      </p:grpSpPr>
      <p:pic>
        <p:nvPicPr>
          <p:cNvPr descr="image.png" id="118" name="Google Shape;118;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9" name="Google Shape;119;p16"/>
          <p:cNvSpPr txBox="1"/>
          <p:nvPr/>
        </p:nvSpPr>
        <p:spPr>
          <a:xfrm>
            <a:off x="571500" y="571500"/>
            <a:ext cx="5550693"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1411C"/>
                </a:solidFill>
                <a:latin typeface="Merriweather"/>
                <a:ea typeface="Merriweather"/>
                <a:cs typeface="Merriweather"/>
                <a:sym typeface="Merriweather"/>
              </a:rPr>
              <a:t>The Refugee Crisis</a:t>
            </a:r>
            <a:endParaRPr/>
          </a:p>
        </p:txBody>
      </p:sp>
      <p:pic>
        <p:nvPicPr>
          <p:cNvPr descr="image.png" id="120" name="Google Shape;120;p16"/>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121" name="Google Shape;121;p16"/>
          <p:cNvSpPr txBox="1"/>
          <p:nvPr/>
        </p:nvSpPr>
        <p:spPr>
          <a:xfrm>
            <a:off x="571500" y="1857375"/>
            <a:ext cx="5550693"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1411C"/>
                </a:solidFill>
                <a:latin typeface="Merriweather"/>
                <a:ea typeface="Merriweather"/>
                <a:cs typeface="Merriweather"/>
                <a:sym typeface="Merriweather"/>
              </a:rPr>
              <a:t>Mass Migration</a:t>
            </a:r>
            <a:endParaRPr/>
          </a:p>
        </p:txBody>
      </p:sp>
      <p:sp>
        <p:nvSpPr>
          <p:cNvPr id="122" name="Google Shape;122;p16"/>
          <p:cNvSpPr txBox="1"/>
          <p:nvPr/>
        </p:nvSpPr>
        <p:spPr>
          <a:xfrm>
            <a:off x="571500" y="2381250"/>
            <a:ext cx="52863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The partition triggered one of the largest and most tragic mass migrations in human history. Millions of Muslims left their ancestral homes, facing extreme violence and hardship.</a:t>
            </a:r>
            <a:endParaRPr/>
          </a:p>
        </p:txBody>
      </p:sp>
      <p:sp>
        <p:nvSpPr>
          <p:cNvPr id="123" name="Google Shape;123;p16"/>
          <p:cNvSpPr txBox="1"/>
          <p:nvPr/>
        </p:nvSpPr>
        <p:spPr>
          <a:xfrm>
            <a:off x="571500" y="3743325"/>
            <a:ext cx="52863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The nascent government was entirely overwhelmed. There was a desperate lack of food, shelter, and medical facilities to accommodate the population arriving by trains and foot convoys.</a:t>
            </a:r>
            <a:endParaRPr/>
          </a:p>
        </p:txBody>
      </p:sp>
      <p:sp>
        <p:nvSpPr>
          <p:cNvPr id="124" name="Google Shape;124;p16"/>
          <p:cNvSpPr txBox="1"/>
          <p:nvPr/>
        </p:nvSpPr>
        <p:spPr>
          <a:xfrm>
            <a:off x="571500" y="5105400"/>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Despite the lack of resources, the local population made immense sacrifices to shelter their incoming brethren.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128" name="Shape 128"/>
        <p:cNvGrpSpPr/>
        <p:nvPr/>
      </p:nvGrpSpPr>
      <p:grpSpPr>
        <a:xfrm>
          <a:off x="0" y="0"/>
          <a:ext cx="0" cy="0"/>
          <a:chOff x="0" y="0"/>
          <a:chExt cx="0" cy="0"/>
        </a:xfrm>
      </p:grpSpPr>
      <p:pic>
        <p:nvPicPr>
          <p:cNvPr descr="image.png" id="129" name="Google Shape;129;p17"/>
          <p:cNvPicPr preferRelativeResize="0"/>
          <p:nvPr/>
        </p:nvPicPr>
        <p:blipFill rotWithShape="1">
          <a:blip r:embed="rId3">
            <a:alphaModFix/>
          </a:blip>
          <a:srcRect b="0" l="0" r="0" t="0"/>
          <a:stretch/>
        </p:blipFill>
        <p:spPr>
          <a:xfrm>
            <a:off x="6334125" y="2228850"/>
            <a:ext cx="5286375" cy="3333750"/>
          </a:xfrm>
          <a:prstGeom prst="rect">
            <a:avLst/>
          </a:prstGeom>
          <a:noFill/>
          <a:ln>
            <a:noFill/>
          </a:ln>
        </p:spPr>
      </p:pic>
      <p:sp>
        <p:nvSpPr>
          <p:cNvPr id="130" name="Google Shape;130;p17"/>
          <p:cNvSpPr/>
          <p:nvPr/>
        </p:nvSpPr>
        <p:spPr>
          <a:xfrm>
            <a:off x="0" y="0"/>
            <a:ext cx="12192000" cy="76200"/>
          </a:xfrm>
          <a:prstGeom prst="rect">
            <a:avLst/>
          </a:prstGeom>
          <a:solidFill>
            <a:srgbClr val="0040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17"/>
          <p:cNvSpPr txBox="1"/>
          <p:nvPr/>
        </p:nvSpPr>
        <p:spPr>
          <a:xfrm>
            <a:off x="571500" y="2228850"/>
            <a:ext cx="5286300" cy="892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0" i="0" lang="en-US" sz="1450" u="none" cap="none" strike="noStrike">
                <a:solidFill>
                  <a:srgbClr val="333333"/>
                </a:solidFill>
                <a:latin typeface="Lato"/>
                <a:ea typeface="Lato"/>
                <a:cs typeface="Lato"/>
                <a:sym typeface="Lato"/>
              </a:rPr>
              <a:t>Pakistan was a geographically unusual nation at birth, comprising two halves—West Pakistan and East Pakistan—separated by over </a:t>
            </a:r>
            <a:r>
              <a:rPr b="1" i="0" lang="en-US" sz="1450" u="none" cap="none" strike="noStrike">
                <a:solidFill>
                  <a:srgbClr val="333333"/>
                </a:solidFill>
                <a:latin typeface="Lato"/>
                <a:ea typeface="Lato"/>
                <a:cs typeface="Lato"/>
                <a:sym typeface="Lato"/>
              </a:rPr>
              <a:t>1,600 kilometers </a:t>
            </a:r>
            <a:r>
              <a:rPr b="0" i="0" lang="en-US" sz="1450" u="none" cap="none" strike="noStrike">
                <a:solidFill>
                  <a:srgbClr val="333333"/>
                </a:solidFill>
                <a:latin typeface="Lato"/>
                <a:ea typeface="Lato"/>
                <a:cs typeface="Lato"/>
                <a:sym typeface="Lato"/>
              </a:rPr>
              <a:t>of hostile Indian territory.</a:t>
            </a:r>
            <a:endParaRPr b="0" i="0" sz="1500" u="none" cap="none" strike="noStrike">
              <a:solidFill>
                <a:srgbClr val="000000"/>
              </a:solidFill>
              <a:latin typeface="Arial"/>
              <a:ea typeface="Arial"/>
              <a:cs typeface="Arial"/>
              <a:sym typeface="Arial"/>
            </a:endParaRPr>
          </a:p>
        </p:txBody>
      </p:sp>
      <p:sp>
        <p:nvSpPr>
          <p:cNvPr id="132" name="Google Shape;132;p17"/>
          <p:cNvSpPr txBox="1"/>
          <p:nvPr/>
        </p:nvSpPr>
        <p:spPr>
          <a:xfrm>
            <a:off x="571500" y="3229059"/>
            <a:ext cx="5286300" cy="1562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0" i="0" lang="en-US" sz="1450" u="none" cap="none" strike="noStrike">
                <a:solidFill>
                  <a:srgbClr val="333333"/>
                </a:solidFill>
                <a:latin typeface="Lato"/>
                <a:ea typeface="Lato"/>
                <a:cs typeface="Lato"/>
                <a:sym typeface="Lato"/>
              </a:rPr>
              <a:t>This unnatural physical separation bred significant administrative nightmares. Defending both wings required enormous military and logistical resources. Furthermore, trade between the two wings was nearly impossible without lengthy detours around India.</a:t>
            </a:r>
            <a:endParaRPr b="0" i="0" sz="1500" u="none" cap="none" strike="noStrike">
              <a:solidFill>
                <a:srgbClr val="000000"/>
              </a:solidFill>
              <a:latin typeface="Arial"/>
              <a:ea typeface="Arial"/>
              <a:cs typeface="Arial"/>
              <a:sym typeface="Arial"/>
            </a:endParaRPr>
          </a:p>
        </p:txBody>
      </p:sp>
      <p:sp>
        <p:nvSpPr>
          <p:cNvPr id="133" name="Google Shape;133;p17"/>
          <p:cNvSpPr txBox="1"/>
          <p:nvPr/>
        </p:nvSpPr>
        <p:spPr>
          <a:xfrm>
            <a:off x="571500" y="4898846"/>
            <a:ext cx="5286300" cy="892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0" i="0" lang="en-US" sz="1450" u="none" cap="none" strike="noStrike">
                <a:solidFill>
                  <a:srgbClr val="333333"/>
                </a:solidFill>
                <a:latin typeface="Lato"/>
                <a:ea typeface="Lato"/>
                <a:cs typeface="Lato"/>
                <a:sym typeface="Lato"/>
              </a:rPr>
              <a:t>This geographical isolation inevitably bred economic neglect and deep resentment in East Pakistan, accelerating the path toward the 1971 war.</a:t>
            </a:r>
            <a:endParaRPr b="0" i="0" sz="1500" u="none" cap="none" strike="noStrike">
              <a:solidFill>
                <a:srgbClr val="000000"/>
              </a:solidFill>
              <a:latin typeface="Arial"/>
              <a:ea typeface="Arial"/>
              <a:cs typeface="Arial"/>
              <a:sym typeface="Arial"/>
            </a:endParaRPr>
          </a:p>
        </p:txBody>
      </p:sp>
      <p:pic>
        <p:nvPicPr>
          <p:cNvPr descr="image.png" id="134" name="Google Shape;134;p17"/>
          <p:cNvPicPr preferRelativeResize="0"/>
          <p:nvPr/>
        </p:nvPicPr>
        <p:blipFill rotWithShape="1">
          <a:blip r:embed="rId4">
            <a:alphaModFix/>
          </a:blip>
          <a:srcRect b="0" l="0" r="0" t="0"/>
          <a:stretch/>
        </p:blipFill>
        <p:spPr>
          <a:xfrm>
            <a:off x="6334125" y="2228850"/>
            <a:ext cx="5286375" cy="3333750"/>
          </a:xfrm>
          <a:prstGeom prst="rect">
            <a:avLst/>
          </a:prstGeom>
          <a:noFill/>
          <a:ln>
            <a:noFill/>
          </a:ln>
        </p:spPr>
      </p:pic>
      <p:sp>
        <p:nvSpPr>
          <p:cNvPr id="135" name="Google Shape;135;p17"/>
          <p:cNvSpPr txBox="1"/>
          <p:nvPr/>
        </p:nvSpPr>
        <p:spPr>
          <a:xfrm>
            <a:off x="571500" y="647700"/>
            <a:ext cx="11601450" cy="4762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401A"/>
                </a:solidFill>
                <a:latin typeface="Merriweather"/>
                <a:ea typeface="Merriweather"/>
                <a:cs typeface="Merriweather"/>
                <a:sym typeface="Merriweather"/>
              </a:rPr>
              <a:t>Geographical Divide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139" name="Shape 139"/>
        <p:cNvGrpSpPr/>
        <p:nvPr/>
      </p:nvGrpSpPr>
      <p:grpSpPr>
        <a:xfrm>
          <a:off x="0" y="0"/>
          <a:ext cx="0" cy="0"/>
          <a:chOff x="0" y="0"/>
          <a:chExt cx="0" cy="0"/>
        </a:xfrm>
      </p:grpSpPr>
      <p:pic>
        <p:nvPicPr>
          <p:cNvPr descr="image.png" id="140" name="Google Shape;140;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1" name="Google Shape;141;p18"/>
          <p:cNvSpPr txBox="1"/>
          <p:nvPr/>
        </p:nvSpPr>
        <p:spPr>
          <a:xfrm>
            <a:off x="571500" y="2233612"/>
            <a:ext cx="5286375" cy="1333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500" u="none" cap="none" strike="noStrike">
                <a:solidFill>
                  <a:srgbClr val="D4AF37"/>
                </a:solidFill>
                <a:latin typeface="Merriweather"/>
                <a:ea typeface="Merriweather"/>
                <a:cs typeface="Merriweather"/>
                <a:sym typeface="Merriweather"/>
              </a:rPr>
              <a:t>200M</a:t>
            </a:r>
            <a:endParaRPr/>
          </a:p>
        </p:txBody>
      </p:sp>
      <p:sp>
        <p:nvSpPr>
          <p:cNvPr id="142" name="Google Shape;142;p18"/>
          <p:cNvSpPr txBox="1"/>
          <p:nvPr/>
        </p:nvSpPr>
        <p:spPr>
          <a:xfrm>
            <a:off x="571500" y="3662362"/>
            <a:ext cx="5286375" cy="3524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1411C"/>
                </a:solidFill>
                <a:latin typeface="DM Sans"/>
                <a:ea typeface="DM Sans"/>
                <a:cs typeface="DM Sans"/>
                <a:sym typeface="DM Sans"/>
              </a:rPr>
              <a:t>Rupees Initially Paid</a:t>
            </a:r>
            <a:endParaRPr/>
          </a:p>
        </p:txBody>
      </p:sp>
      <p:sp>
        <p:nvSpPr>
          <p:cNvPr id="143" name="Google Shape;143;p18"/>
          <p:cNvSpPr txBox="1"/>
          <p:nvPr/>
        </p:nvSpPr>
        <p:spPr>
          <a:xfrm>
            <a:off x="6334125" y="2233612"/>
            <a:ext cx="5550693"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1411C"/>
                </a:solidFill>
                <a:latin typeface="Merriweather"/>
                <a:ea typeface="Merriweather"/>
                <a:cs typeface="Merriweather"/>
                <a:sym typeface="Merriweather"/>
              </a:rPr>
              <a:t>Financial Strangulation</a:t>
            </a:r>
            <a:endParaRPr/>
          </a:p>
        </p:txBody>
      </p:sp>
      <p:sp>
        <p:nvSpPr>
          <p:cNvPr id="144" name="Google Shape;144;p18"/>
          <p:cNvSpPr txBox="1"/>
          <p:nvPr/>
        </p:nvSpPr>
        <p:spPr>
          <a:xfrm>
            <a:off x="6334125" y="2757487"/>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At partition, it was agreed that Pakistan would receive Rs. 750 million as its rightful share of the cash balances from undivided India.</a:t>
            </a:r>
            <a:endParaRPr/>
          </a:p>
        </p:txBody>
      </p:sp>
      <p:sp>
        <p:nvSpPr>
          <p:cNvPr id="145" name="Google Shape;145;p18"/>
          <p:cNvSpPr txBox="1"/>
          <p:nvPr/>
        </p:nvSpPr>
        <p:spPr>
          <a:xfrm>
            <a:off x="6334125" y="3814762"/>
            <a:ext cx="528637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However, India initially paid only Rs. 200 million and deliberately withheld the remaining funds. This malicious delay was designed to cripple the nascent state financially and prevent it from running the daily affairs of the government.</a:t>
            </a:r>
            <a:endParaRPr/>
          </a:p>
        </p:txBody>
      </p:sp>
      <p:sp>
        <p:nvSpPr>
          <p:cNvPr id="146" name="Google Shape;146;p18"/>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1411C"/>
                </a:solidFill>
                <a:latin typeface="Merriweather"/>
                <a:ea typeface="Merriweather"/>
                <a:cs typeface="Merriweather"/>
                <a:sym typeface="Merriweather"/>
              </a:rPr>
              <a:t>Unjust Division of Assets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150" name="Shape 150"/>
        <p:cNvGrpSpPr/>
        <p:nvPr/>
      </p:nvGrpSpPr>
      <p:grpSpPr>
        <a:xfrm>
          <a:off x="0" y="0"/>
          <a:ext cx="0" cy="0"/>
          <a:chOff x="0" y="0"/>
          <a:chExt cx="0" cy="0"/>
        </a:xfrm>
      </p:grpSpPr>
      <p:pic>
        <p:nvPicPr>
          <p:cNvPr descr="image.png" id="151" name="Google Shape;151;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2" name="Google Shape;152;p19"/>
          <p:cNvPicPr preferRelativeResize="0"/>
          <p:nvPr/>
        </p:nvPicPr>
        <p:blipFill rotWithShape="1">
          <a:blip r:embed="rId4">
            <a:alphaModFix/>
          </a:blip>
          <a:srcRect b="0" l="0" r="0" t="0"/>
          <a:stretch/>
        </p:blipFill>
        <p:spPr>
          <a:xfrm>
            <a:off x="6334125" y="2228850"/>
            <a:ext cx="5286375" cy="3257550"/>
          </a:xfrm>
          <a:prstGeom prst="rect">
            <a:avLst/>
          </a:prstGeom>
          <a:noFill/>
          <a:ln>
            <a:noFill/>
          </a:ln>
        </p:spPr>
      </p:pic>
      <p:sp>
        <p:nvSpPr>
          <p:cNvPr id="153" name="Google Shape;153;p19"/>
          <p:cNvSpPr txBox="1"/>
          <p:nvPr/>
        </p:nvSpPr>
        <p:spPr>
          <a:xfrm>
            <a:off x="571500" y="2386012"/>
            <a:ext cx="5550693"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1411C"/>
                </a:solidFill>
                <a:latin typeface="Merriweather"/>
                <a:ea typeface="Merriweather"/>
                <a:cs typeface="Merriweather"/>
                <a:sym typeface="Merriweather"/>
              </a:rPr>
              <a:t>An Agrarian Economy</a:t>
            </a:r>
            <a:endParaRPr/>
          </a:p>
        </p:txBody>
      </p:sp>
      <p:sp>
        <p:nvSpPr>
          <p:cNvPr id="154" name="Google Shape;154;p19"/>
          <p:cNvSpPr txBox="1"/>
          <p:nvPr/>
        </p:nvSpPr>
        <p:spPr>
          <a:xfrm>
            <a:off x="571500" y="2909887"/>
            <a:ext cx="52863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Pakistan inherited an overwhelmingly agrarian economy with virtually no industrial backbone. Out of 394 major industrial units existing in undivided India, the new nation received a mere 34.</a:t>
            </a:r>
            <a:endParaRPr/>
          </a:p>
        </p:txBody>
      </p:sp>
      <p:sp>
        <p:nvSpPr>
          <p:cNvPr id="155" name="Google Shape;155;p19"/>
          <p:cNvSpPr txBox="1"/>
          <p:nvPr/>
        </p:nvSpPr>
        <p:spPr>
          <a:xfrm>
            <a:off x="571500" y="4271962"/>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This stark disparity meant a critical shortage of manufactured goods, raw materials, capital, and technical expertise, forcing heavy reliance on imports to survive.</a:t>
            </a:r>
            <a:endParaRPr/>
          </a:p>
        </p:txBody>
      </p:sp>
      <p:sp>
        <p:nvSpPr>
          <p:cNvPr id="156" name="Google Shape;156;p19"/>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1411C"/>
                </a:solidFill>
                <a:latin typeface="Merriweather"/>
                <a:ea typeface="Merriweather"/>
                <a:cs typeface="Merriweather"/>
                <a:sym typeface="Merriweather"/>
              </a:rPr>
              <a:t>The Industrial Void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160" name="Shape 160"/>
        <p:cNvGrpSpPr/>
        <p:nvPr/>
      </p:nvGrpSpPr>
      <p:grpSpPr>
        <a:xfrm>
          <a:off x="0" y="0"/>
          <a:ext cx="0" cy="0"/>
          <a:chOff x="0" y="0"/>
          <a:chExt cx="0" cy="0"/>
        </a:xfrm>
      </p:grpSpPr>
      <p:sp>
        <p:nvSpPr>
          <p:cNvPr id="161" name="Google Shape;161;p20"/>
          <p:cNvSpPr/>
          <p:nvPr/>
        </p:nvSpPr>
        <p:spPr>
          <a:xfrm>
            <a:off x="0" y="0"/>
            <a:ext cx="12192000" cy="76200"/>
          </a:xfrm>
          <a:prstGeom prst="rect">
            <a:avLst/>
          </a:prstGeom>
          <a:solidFill>
            <a:srgbClr val="0040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20"/>
          <p:cNvSpPr txBox="1"/>
          <p:nvPr/>
        </p:nvSpPr>
        <p:spPr>
          <a:xfrm>
            <a:off x="571500" y="647700"/>
            <a:ext cx="5550693" cy="4762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401A"/>
                </a:solidFill>
                <a:latin typeface="Merriweather"/>
                <a:ea typeface="Merriweather"/>
                <a:cs typeface="Merriweather"/>
                <a:sym typeface="Merriweather"/>
              </a:rPr>
              <a:t>Language Controversy</a:t>
            </a:r>
            <a:endParaRPr b="0" i="0" sz="1400" u="none" cap="none" strike="noStrike">
              <a:solidFill>
                <a:srgbClr val="000000"/>
              </a:solidFill>
              <a:latin typeface="Arial"/>
              <a:ea typeface="Arial"/>
              <a:cs typeface="Arial"/>
              <a:sym typeface="Arial"/>
            </a:endParaRPr>
          </a:p>
        </p:txBody>
      </p:sp>
      <p:pic>
        <p:nvPicPr>
          <p:cNvPr descr="image.png" id="163" name="Google Shape;163;p20"/>
          <p:cNvPicPr preferRelativeResize="0"/>
          <p:nvPr/>
        </p:nvPicPr>
        <p:blipFill rotWithShape="1">
          <a:blip r:embed="rId3">
            <a:alphaModFix/>
          </a:blip>
          <a:srcRect b="0" l="0" r="0" t="0"/>
          <a:stretch/>
        </p:blipFill>
        <p:spPr>
          <a:xfrm>
            <a:off x="6334125" y="76200"/>
            <a:ext cx="5857875" cy="6858000"/>
          </a:xfrm>
          <a:prstGeom prst="rect">
            <a:avLst/>
          </a:prstGeom>
          <a:noFill/>
          <a:ln>
            <a:noFill/>
          </a:ln>
        </p:spPr>
      </p:pic>
      <p:sp>
        <p:nvSpPr>
          <p:cNvPr id="164" name="Google Shape;164;p20"/>
          <p:cNvSpPr txBox="1"/>
          <p:nvPr/>
        </p:nvSpPr>
        <p:spPr>
          <a:xfrm>
            <a:off x="571500" y="1504950"/>
            <a:ext cx="5286300" cy="1294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0" i="0" lang="en-US" sz="1450" u="none" cap="none" strike="noStrike">
                <a:solidFill>
                  <a:srgbClr val="333333"/>
                </a:solidFill>
                <a:latin typeface="Lato"/>
                <a:ea typeface="Lato"/>
                <a:cs typeface="Lato"/>
                <a:sym typeface="Lato"/>
              </a:rPr>
              <a:t>East Pakistan (now Bangladesh) constituted over 54% of the population, predominantly speaking Bengali. When the central government declared Urdu as the sole national language, Bengalis felt their cultural identity was being erased.</a:t>
            </a:r>
            <a:endParaRPr b="0" i="0" sz="1500" u="none" cap="none" strike="noStrike">
              <a:solidFill>
                <a:srgbClr val="000000"/>
              </a:solidFill>
              <a:latin typeface="Arial"/>
              <a:ea typeface="Arial"/>
              <a:cs typeface="Arial"/>
              <a:sym typeface="Arial"/>
            </a:endParaRPr>
          </a:p>
        </p:txBody>
      </p:sp>
      <p:sp>
        <p:nvSpPr>
          <p:cNvPr id="165" name="Google Shape;165;p20"/>
          <p:cNvSpPr txBox="1"/>
          <p:nvPr/>
        </p:nvSpPr>
        <p:spPr>
          <a:xfrm>
            <a:off x="571500" y="2910135"/>
            <a:ext cx="5286300" cy="937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0" i="0" lang="en-US" sz="1450" u="none" cap="none" strike="noStrike">
                <a:solidFill>
                  <a:srgbClr val="333333"/>
                </a:solidFill>
                <a:latin typeface="Lato"/>
                <a:ea typeface="Lato"/>
                <a:cs typeface="Lato"/>
                <a:sym typeface="Lato"/>
              </a:rPr>
              <a:t>On February 21, 1952, student protests erupted in Dhaka. Police opened fire, resulting in tragic fatalities. This day is now globally recognized as International Mother Language Day.</a:t>
            </a:r>
            <a:endParaRPr b="0" i="0" sz="1500" u="none" cap="none" strike="noStrike">
              <a:solidFill>
                <a:srgbClr val="000000"/>
              </a:solidFill>
              <a:latin typeface="Arial"/>
              <a:ea typeface="Arial"/>
              <a:cs typeface="Arial"/>
              <a:sym typeface="Arial"/>
            </a:endParaRPr>
          </a:p>
        </p:txBody>
      </p:sp>
      <p:sp>
        <p:nvSpPr>
          <p:cNvPr id="166" name="Google Shape;166;p20"/>
          <p:cNvSpPr txBox="1"/>
          <p:nvPr/>
        </p:nvSpPr>
        <p:spPr>
          <a:xfrm>
            <a:off x="571500" y="4090856"/>
            <a:ext cx="5286300" cy="937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b="0" i="0" lang="en-US" sz="1450" u="none" cap="none" strike="noStrike">
                <a:solidFill>
                  <a:srgbClr val="333333"/>
                </a:solidFill>
                <a:latin typeface="Lato"/>
                <a:ea typeface="Lato"/>
                <a:cs typeface="Lato"/>
                <a:sym typeface="Lato"/>
              </a:rPr>
              <a:t>This controversy caused irreparable damage, deeply alienating East Pakistan and serving as a fundamental root cause for the eventual separation of Bangladesh in 1971.</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170" name="Shape 170"/>
        <p:cNvGrpSpPr/>
        <p:nvPr/>
      </p:nvGrpSpPr>
      <p:grpSpPr>
        <a:xfrm>
          <a:off x="0" y="0"/>
          <a:ext cx="0" cy="0"/>
          <a:chOff x="0" y="0"/>
          <a:chExt cx="0" cy="0"/>
        </a:xfrm>
      </p:grpSpPr>
      <p:pic>
        <p:nvPicPr>
          <p:cNvPr descr="image.png" id="171" name="Google Shape;171;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2" name="Google Shape;172;p21"/>
          <p:cNvPicPr preferRelativeResize="0"/>
          <p:nvPr/>
        </p:nvPicPr>
        <p:blipFill rotWithShape="1">
          <a:blip r:embed="rId4">
            <a:alphaModFix/>
          </a:blip>
          <a:srcRect b="0" l="0" r="0" t="0"/>
          <a:stretch/>
        </p:blipFill>
        <p:spPr>
          <a:xfrm>
            <a:off x="571500" y="1843087"/>
            <a:ext cx="5286375" cy="4029075"/>
          </a:xfrm>
          <a:prstGeom prst="rect">
            <a:avLst/>
          </a:prstGeom>
          <a:noFill/>
          <a:ln>
            <a:noFill/>
          </a:ln>
        </p:spPr>
      </p:pic>
      <p:pic>
        <p:nvPicPr>
          <p:cNvPr descr="image.png" id="173" name="Google Shape;173;p21"/>
          <p:cNvPicPr preferRelativeResize="0"/>
          <p:nvPr/>
        </p:nvPicPr>
        <p:blipFill rotWithShape="1">
          <a:blip r:embed="rId5">
            <a:alphaModFix/>
          </a:blip>
          <a:srcRect b="0" l="0" r="0" t="0"/>
          <a:stretch/>
        </p:blipFill>
        <p:spPr>
          <a:xfrm>
            <a:off x="6334125" y="1843087"/>
            <a:ext cx="5286375" cy="4029075"/>
          </a:xfrm>
          <a:prstGeom prst="rect">
            <a:avLst/>
          </a:prstGeom>
          <a:noFill/>
          <a:ln>
            <a:noFill/>
          </a:ln>
        </p:spPr>
      </p:pic>
      <p:sp>
        <p:nvSpPr>
          <p:cNvPr id="174" name="Google Shape;174;p21"/>
          <p:cNvSpPr txBox="1"/>
          <p:nvPr/>
        </p:nvSpPr>
        <p:spPr>
          <a:xfrm>
            <a:off x="962025" y="2233612"/>
            <a:ext cx="4730591"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1411C"/>
                </a:solidFill>
                <a:latin typeface="Merriweather"/>
                <a:ea typeface="Merriweather"/>
                <a:cs typeface="Merriweather"/>
                <a:sym typeface="Merriweather"/>
              </a:rPr>
              <a:t>Building from Scratch</a:t>
            </a:r>
            <a:endParaRPr/>
          </a:p>
        </p:txBody>
      </p:sp>
      <p:sp>
        <p:nvSpPr>
          <p:cNvPr id="175" name="Google Shape;175;p21"/>
          <p:cNvSpPr txBox="1"/>
          <p:nvPr/>
        </p:nvSpPr>
        <p:spPr>
          <a:xfrm>
            <a:off x="962025" y="2757487"/>
            <a:ext cx="45053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Karachi was chosen as the capital, but there were no adequate government buildings, stationery, or basic office supplies. Ministries operated out of barracks and tents.</a:t>
            </a:r>
            <a:endParaRPr/>
          </a:p>
        </p:txBody>
      </p:sp>
      <p:sp>
        <p:nvSpPr>
          <p:cNvPr id="176" name="Google Shape;176;p21"/>
          <p:cNvSpPr txBox="1"/>
          <p:nvPr/>
        </p:nvSpPr>
        <p:spPr>
          <a:xfrm>
            <a:off x="962025" y="4119562"/>
            <a:ext cx="45053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Furthermore, most senior civil servants in undivided India were Hindus or British. Pakistan faced a critical shortage of trained officers to run state departments.</a:t>
            </a:r>
            <a:endParaRPr/>
          </a:p>
        </p:txBody>
      </p:sp>
      <p:sp>
        <p:nvSpPr>
          <p:cNvPr id="177" name="Google Shape;177;p21"/>
          <p:cNvSpPr txBox="1"/>
          <p:nvPr/>
        </p:nvSpPr>
        <p:spPr>
          <a:xfrm>
            <a:off x="6724650" y="2233612"/>
            <a:ext cx="4730591"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1411C"/>
                </a:solidFill>
                <a:latin typeface="Merriweather"/>
                <a:ea typeface="Merriweather"/>
                <a:cs typeface="Merriweather"/>
                <a:sym typeface="Merriweather"/>
              </a:rPr>
              <a:t>Early Political Instability</a:t>
            </a:r>
            <a:endParaRPr/>
          </a:p>
        </p:txBody>
      </p:sp>
      <p:sp>
        <p:nvSpPr>
          <p:cNvPr id="178" name="Google Shape;178;p21"/>
          <p:cNvSpPr txBox="1"/>
          <p:nvPr/>
        </p:nvSpPr>
        <p:spPr>
          <a:xfrm>
            <a:off x="6724650" y="2757487"/>
            <a:ext cx="45053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The unnatural physical separation of East and West Pakistan by 1,600 km bred significant administrative nightmares and early economic neglect.</a:t>
            </a:r>
            <a:endParaRPr/>
          </a:p>
        </p:txBody>
      </p:sp>
      <p:sp>
        <p:nvSpPr>
          <p:cNvPr id="179" name="Google Shape;179;p21"/>
          <p:cNvSpPr txBox="1"/>
          <p:nvPr/>
        </p:nvSpPr>
        <p:spPr>
          <a:xfrm>
            <a:off x="6724650" y="4119562"/>
            <a:ext cx="45053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Coupled with language controversies (Urdu vs. Bengali) and severe delays in drafting the constitution, these issues led to deep ideological deadlocks and frequent changes in government.</a:t>
            </a:r>
            <a:endParaRPr/>
          </a:p>
        </p:txBody>
      </p:sp>
      <p:sp>
        <p:nvSpPr>
          <p:cNvPr id="180" name="Google Shape;180;p21"/>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1411C"/>
                </a:solidFill>
                <a:latin typeface="Merriweather"/>
                <a:ea typeface="Merriweather"/>
                <a:cs typeface="Merriweather"/>
                <a:sym typeface="Merriweather"/>
              </a:rPr>
              <a:t>Administrative Nightmares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184" name="Shape 184"/>
        <p:cNvGrpSpPr/>
        <p:nvPr/>
      </p:nvGrpSpPr>
      <p:grpSpPr>
        <a:xfrm>
          <a:off x="0" y="0"/>
          <a:ext cx="0" cy="0"/>
          <a:chOff x="0" y="0"/>
          <a:chExt cx="0" cy="0"/>
        </a:xfrm>
      </p:grpSpPr>
      <p:pic>
        <p:nvPicPr>
          <p:cNvPr descr="image.png" id="185" name="Google Shape;185;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6" name="Google Shape;186;p22"/>
          <p:cNvPicPr preferRelativeResize="0"/>
          <p:nvPr/>
        </p:nvPicPr>
        <p:blipFill rotWithShape="1">
          <a:blip r:embed="rId4">
            <a:alphaModFix/>
          </a:blip>
          <a:srcRect b="0" l="0" r="0" t="0"/>
          <a:stretch/>
        </p:blipFill>
        <p:spPr>
          <a:xfrm>
            <a:off x="6334125" y="1952625"/>
            <a:ext cx="5286375" cy="3810000"/>
          </a:xfrm>
          <a:prstGeom prst="rect">
            <a:avLst/>
          </a:prstGeom>
          <a:noFill/>
          <a:ln>
            <a:noFill/>
          </a:ln>
        </p:spPr>
      </p:pic>
      <p:sp>
        <p:nvSpPr>
          <p:cNvPr id="187" name="Google Shape;187;p22"/>
          <p:cNvSpPr txBox="1"/>
          <p:nvPr/>
        </p:nvSpPr>
        <p:spPr>
          <a:xfrm>
            <a:off x="857250" y="1552575"/>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The boundary commission, led by Sir Cyril Radcliffe, produced a notoriously biased award against Pakistan.</a:t>
            </a:r>
            <a:endParaRPr/>
          </a:p>
        </p:txBody>
      </p:sp>
      <p:sp>
        <p:nvSpPr>
          <p:cNvPr id="188" name="Google Shape;188;p22"/>
          <p:cNvSpPr txBox="1"/>
          <p:nvPr/>
        </p:nvSpPr>
        <p:spPr>
          <a:xfrm>
            <a:off x="857250" y="2352675"/>
            <a:ext cx="50006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The Muslim-majority district of Gurdaspur was unjustly handed over, providing India with a critical land route to Kashmir.</a:t>
            </a:r>
            <a:endParaRPr/>
          </a:p>
        </p:txBody>
      </p:sp>
      <p:sp>
        <p:nvSpPr>
          <p:cNvPr id="189" name="Google Shape;189;p22"/>
          <p:cNvSpPr txBox="1"/>
          <p:nvPr/>
        </p:nvSpPr>
        <p:spPr>
          <a:xfrm>
            <a:off x="857250" y="3457575"/>
            <a:ext cx="50006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Against the rules of partition and the demographic reality, the Hindu ruler of Muslim-majority Kashmir acceded to India.</a:t>
            </a:r>
            <a:endParaRPr/>
          </a:p>
        </p:txBody>
      </p:sp>
      <p:sp>
        <p:nvSpPr>
          <p:cNvPr id="190" name="Google Shape;190;p22"/>
          <p:cNvSpPr txBox="1"/>
          <p:nvPr/>
        </p:nvSpPr>
        <p:spPr>
          <a:xfrm>
            <a:off x="857250" y="4562475"/>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This sparked the first war in 1948, creating a deeply entrenched dispute that remains unresolved today.</a:t>
            </a:r>
            <a:endParaRPr/>
          </a:p>
        </p:txBody>
      </p:sp>
      <p:sp>
        <p:nvSpPr>
          <p:cNvPr id="191" name="Google Shape;191;p22"/>
          <p:cNvSpPr txBox="1"/>
          <p:nvPr/>
        </p:nvSpPr>
        <p:spPr>
          <a:xfrm>
            <a:off x="857250" y="5362575"/>
            <a:ext cx="5000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1E293B"/>
                </a:solidFill>
                <a:latin typeface="DM Sans"/>
                <a:ea typeface="DM Sans"/>
                <a:cs typeface="DM Sans"/>
                <a:sym typeface="DM Sans"/>
              </a:rPr>
              <a:t>India also seized critical headworks, temporarily cutting off Pakistan's agricultural water supply.</a:t>
            </a:r>
            <a:endParaRPr/>
          </a:p>
        </p:txBody>
      </p:sp>
      <p:pic>
        <p:nvPicPr>
          <p:cNvPr descr="image.png" id="192" name="Google Shape;192;p22"/>
          <p:cNvPicPr preferRelativeResize="0"/>
          <p:nvPr/>
        </p:nvPicPr>
        <p:blipFill rotWithShape="1">
          <a:blip r:embed="rId5">
            <a:alphaModFix/>
          </a:blip>
          <a:srcRect b="0" l="0" r="0" t="0"/>
          <a:stretch/>
        </p:blipFill>
        <p:spPr>
          <a:xfrm>
            <a:off x="6372225" y="1990725"/>
            <a:ext cx="5210175" cy="3733800"/>
          </a:xfrm>
          <a:prstGeom prst="rect">
            <a:avLst/>
          </a:prstGeom>
          <a:noFill/>
          <a:ln>
            <a:noFill/>
          </a:ln>
        </p:spPr>
      </p:pic>
      <p:sp>
        <p:nvSpPr>
          <p:cNvPr id="193" name="Google Shape;193;p22"/>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1411C"/>
                </a:solidFill>
                <a:latin typeface="Merriweather"/>
                <a:ea typeface="Merriweather"/>
                <a:cs typeface="Merriweather"/>
                <a:sym typeface="Merriweather"/>
              </a:rPr>
              <a:t>Radcliffe &amp; Kashmir</a:t>
            </a:r>
            <a:endParaRPr/>
          </a:p>
        </p:txBody>
      </p:sp>
      <p:pic>
        <p:nvPicPr>
          <p:cNvPr descr="image.png" id="194" name="Google Shape;194;p22"/>
          <p:cNvPicPr preferRelativeResize="0"/>
          <p:nvPr/>
        </p:nvPicPr>
        <p:blipFill rotWithShape="1">
          <a:blip r:embed="rId6">
            <a:alphaModFix/>
          </a:blip>
          <a:srcRect b="0" l="0" r="0" t="0"/>
          <a:stretch/>
        </p:blipFill>
        <p:spPr>
          <a:xfrm>
            <a:off x="571500" y="1552575"/>
            <a:ext cx="114300" cy="200025"/>
          </a:xfrm>
          <a:prstGeom prst="rect">
            <a:avLst/>
          </a:prstGeom>
          <a:noFill/>
          <a:ln>
            <a:noFill/>
          </a:ln>
        </p:spPr>
      </p:pic>
      <p:pic>
        <p:nvPicPr>
          <p:cNvPr descr="image.png" id="195" name="Google Shape;195;p22"/>
          <p:cNvPicPr preferRelativeResize="0"/>
          <p:nvPr/>
        </p:nvPicPr>
        <p:blipFill rotWithShape="1">
          <a:blip r:embed="rId6">
            <a:alphaModFix/>
          </a:blip>
          <a:srcRect b="0" l="0" r="0" t="0"/>
          <a:stretch/>
        </p:blipFill>
        <p:spPr>
          <a:xfrm>
            <a:off x="571500" y="2352675"/>
            <a:ext cx="114300" cy="200025"/>
          </a:xfrm>
          <a:prstGeom prst="rect">
            <a:avLst/>
          </a:prstGeom>
          <a:noFill/>
          <a:ln>
            <a:noFill/>
          </a:ln>
        </p:spPr>
      </p:pic>
      <p:pic>
        <p:nvPicPr>
          <p:cNvPr descr="image.png" id="196" name="Google Shape;196;p22"/>
          <p:cNvPicPr preferRelativeResize="0"/>
          <p:nvPr/>
        </p:nvPicPr>
        <p:blipFill rotWithShape="1">
          <a:blip r:embed="rId6">
            <a:alphaModFix/>
          </a:blip>
          <a:srcRect b="0" l="0" r="0" t="0"/>
          <a:stretch/>
        </p:blipFill>
        <p:spPr>
          <a:xfrm>
            <a:off x="571500" y="3457575"/>
            <a:ext cx="114300" cy="200025"/>
          </a:xfrm>
          <a:prstGeom prst="rect">
            <a:avLst/>
          </a:prstGeom>
          <a:noFill/>
          <a:ln>
            <a:noFill/>
          </a:ln>
        </p:spPr>
      </p:pic>
      <p:pic>
        <p:nvPicPr>
          <p:cNvPr descr="image.png" id="197" name="Google Shape;197;p22"/>
          <p:cNvPicPr preferRelativeResize="0"/>
          <p:nvPr/>
        </p:nvPicPr>
        <p:blipFill rotWithShape="1">
          <a:blip r:embed="rId6">
            <a:alphaModFix/>
          </a:blip>
          <a:srcRect b="0" l="0" r="0" t="0"/>
          <a:stretch/>
        </p:blipFill>
        <p:spPr>
          <a:xfrm>
            <a:off x="571500" y="4562475"/>
            <a:ext cx="114300" cy="200025"/>
          </a:xfrm>
          <a:prstGeom prst="rect">
            <a:avLst/>
          </a:prstGeom>
          <a:noFill/>
          <a:ln>
            <a:noFill/>
          </a:ln>
        </p:spPr>
      </p:pic>
      <p:pic>
        <p:nvPicPr>
          <p:cNvPr descr="image.png" id="198" name="Google Shape;198;p22"/>
          <p:cNvPicPr preferRelativeResize="0"/>
          <p:nvPr/>
        </p:nvPicPr>
        <p:blipFill rotWithShape="1">
          <a:blip r:embed="rId6">
            <a:alphaModFix/>
          </a:blip>
          <a:srcRect b="0" l="0" r="0" t="0"/>
          <a:stretch/>
        </p:blipFill>
        <p:spPr>
          <a:xfrm>
            <a:off x="571500" y="5362575"/>
            <a:ext cx="114300" cy="200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202" name="Shape 202"/>
        <p:cNvGrpSpPr/>
        <p:nvPr/>
      </p:nvGrpSpPr>
      <p:grpSpPr>
        <a:xfrm>
          <a:off x="0" y="0"/>
          <a:ext cx="0" cy="0"/>
          <a:chOff x="0" y="0"/>
          <a:chExt cx="0" cy="0"/>
        </a:xfrm>
      </p:grpSpPr>
      <p:pic>
        <p:nvPicPr>
          <p:cNvPr descr="image.png" id="203" name="Google Shape;203;p23"/>
          <p:cNvPicPr preferRelativeResize="0"/>
          <p:nvPr/>
        </p:nvPicPr>
        <p:blipFill rotWithShape="1">
          <a:blip r:embed="rId3">
            <a:alphaModFix/>
          </a:blip>
          <a:srcRect b="0" l="0" r="0" t="0"/>
          <a:stretch/>
        </p:blipFill>
        <p:spPr>
          <a:xfrm>
            <a:off x="6334125" y="2195512"/>
            <a:ext cx="5286375" cy="3333750"/>
          </a:xfrm>
          <a:prstGeom prst="rect">
            <a:avLst/>
          </a:prstGeom>
          <a:noFill/>
          <a:ln>
            <a:noFill/>
          </a:ln>
        </p:spPr>
      </p:pic>
      <p:sp>
        <p:nvSpPr>
          <p:cNvPr id="204" name="Google Shape;204;p23"/>
          <p:cNvSpPr/>
          <p:nvPr/>
        </p:nvSpPr>
        <p:spPr>
          <a:xfrm>
            <a:off x="0" y="0"/>
            <a:ext cx="12192000" cy="76200"/>
          </a:xfrm>
          <a:prstGeom prst="rect">
            <a:avLst/>
          </a:prstGeom>
          <a:solidFill>
            <a:srgbClr val="0040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23"/>
          <p:cNvSpPr txBox="1"/>
          <p:nvPr/>
        </p:nvSpPr>
        <p:spPr>
          <a:xfrm>
            <a:off x="571500" y="2195512"/>
            <a:ext cx="52863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0" i="0" lang="en-US" sz="1350" u="none" cap="none" strike="noStrike">
                <a:solidFill>
                  <a:srgbClr val="333333"/>
                </a:solidFill>
                <a:latin typeface="Lato"/>
                <a:ea typeface="Lato"/>
                <a:cs typeface="Lato"/>
                <a:sym typeface="Lato"/>
              </a:rPr>
              <a:t>For the first 9 years, Pakistan operated without a constitution, relying heavily on British-era laws. The drafting process was deeply complicated by fierce ideological debates.</a:t>
            </a:r>
            <a:endParaRPr b="0" i="0" sz="1400" u="none" cap="none" strike="noStrike">
              <a:solidFill>
                <a:srgbClr val="000000"/>
              </a:solidFill>
              <a:latin typeface="Arial"/>
              <a:ea typeface="Arial"/>
              <a:cs typeface="Arial"/>
              <a:sym typeface="Arial"/>
            </a:endParaRPr>
          </a:p>
        </p:txBody>
      </p:sp>
      <p:sp>
        <p:nvSpPr>
          <p:cNvPr id="206" name="Google Shape;206;p23"/>
          <p:cNvSpPr txBox="1"/>
          <p:nvPr/>
        </p:nvSpPr>
        <p:spPr>
          <a:xfrm>
            <a:off x="714375" y="3109912"/>
            <a:ext cx="95250" cy="2571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333333"/>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207" name="Google Shape;207;p23"/>
          <p:cNvSpPr txBox="1"/>
          <p:nvPr/>
        </p:nvSpPr>
        <p:spPr>
          <a:xfrm>
            <a:off x="809625" y="3109912"/>
            <a:ext cx="5048250" cy="771525"/>
          </a:xfrm>
          <a:prstGeom prst="rect">
            <a:avLst/>
          </a:prstGeom>
          <a:noFill/>
          <a:ln>
            <a:noFill/>
          </a:ln>
        </p:spPr>
        <p:txBody>
          <a:bodyPr anchorCtr="0" anchor="t" bIns="0" lIns="9525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1" i="0" lang="en-US" sz="1350" u="none" cap="none" strike="noStrike">
                <a:solidFill>
                  <a:srgbClr val="333333"/>
                </a:solidFill>
                <a:latin typeface="Lato"/>
                <a:ea typeface="Lato"/>
                <a:cs typeface="Lato"/>
                <a:sym typeface="Lato"/>
              </a:rPr>
              <a:t>Key Debates:</a:t>
            </a:r>
            <a:r>
              <a:rPr b="0" i="0" lang="en-US" sz="1350" u="none" cap="none" strike="noStrike">
                <a:solidFill>
                  <a:srgbClr val="333333"/>
                </a:solidFill>
                <a:latin typeface="Lato"/>
                <a:ea typeface="Lato"/>
                <a:cs typeface="Lato"/>
                <a:sym typeface="Lato"/>
              </a:rPr>
              <a:t> Bitter arguments emerged over whether Pakistan should be an Islamic state or a secular one, and whether it should have a federal or centralized system.</a:t>
            </a:r>
            <a:endParaRPr b="0" i="0" sz="1400" u="none" cap="none" strike="noStrike">
              <a:solidFill>
                <a:srgbClr val="000000"/>
              </a:solidFill>
              <a:latin typeface="Arial"/>
              <a:ea typeface="Arial"/>
              <a:cs typeface="Arial"/>
              <a:sym typeface="Arial"/>
            </a:endParaRPr>
          </a:p>
        </p:txBody>
      </p:sp>
      <p:sp>
        <p:nvSpPr>
          <p:cNvPr id="208" name="Google Shape;208;p23"/>
          <p:cNvSpPr txBox="1"/>
          <p:nvPr/>
        </p:nvSpPr>
        <p:spPr>
          <a:xfrm>
            <a:off x="714375" y="4024312"/>
            <a:ext cx="95250" cy="2571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333333"/>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209" name="Google Shape;209;p23"/>
          <p:cNvSpPr txBox="1"/>
          <p:nvPr/>
        </p:nvSpPr>
        <p:spPr>
          <a:xfrm>
            <a:off x="809625" y="4024312"/>
            <a:ext cx="5048250" cy="514350"/>
          </a:xfrm>
          <a:prstGeom prst="rect">
            <a:avLst/>
          </a:prstGeom>
          <a:noFill/>
          <a:ln>
            <a:noFill/>
          </a:ln>
        </p:spPr>
        <p:txBody>
          <a:bodyPr anchorCtr="0" anchor="t" bIns="0" lIns="9525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1" i="0" lang="en-US" sz="1350" u="none" cap="none" strike="noStrike">
                <a:solidFill>
                  <a:srgbClr val="333333"/>
                </a:solidFill>
                <a:latin typeface="Lato"/>
                <a:ea typeface="Lato"/>
                <a:cs typeface="Lato"/>
                <a:sym typeface="Lato"/>
              </a:rPr>
              <a:t>Political Chaos:</a:t>
            </a:r>
            <a:r>
              <a:rPr b="0" i="0" lang="en-US" sz="1350" u="none" cap="none" strike="noStrike">
                <a:solidFill>
                  <a:srgbClr val="333333"/>
                </a:solidFill>
                <a:latin typeface="Lato"/>
                <a:ea typeface="Lato"/>
                <a:cs typeface="Lato"/>
                <a:sym typeface="Lato"/>
              </a:rPr>
              <a:t> This ideological deadlock led to severe instability, resulting in 7 different Prime Ministers within the first 11 years.</a:t>
            </a:r>
            <a:endParaRPr b="0" i="0" sz="1400" u="none" cap="none" strike="noStrike">
              <a:solidFill>
                <a:srgbClr val="000000"/>
              </a:solidFill>
              <a:latin typeface="Arial"/>
              <a:ea typeface="Arial"/>
              <a:cs typeface="Arial"/>
              <a:sym typeface="Arial"/>
            </a:endParaRPr>
          </a:p>
        </p:txBody>
      </p:sp>
      <p:sp>
        <p:nvSpPr>
          <p:cNvPr id="210" name="Google Shape;210;p23"/>
          <p:cNvSpPr txBox="1"/>
          <p:nvPr/>
        </p:nvSpPr>
        <p:spPr>
          <a:xfrm>
            <a:off x="714375" y="4681537"/>
            <a:ext cx="95250" cy="2571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333333"/>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211" name="Google Shape;211;p23"/>
          <p:cNvSpPr txBox="1"/>
          <p:nvPr/>
        </p:nvSpPr>
        <p:spPr>
          <a:xfrm>
            <a:off x="809625" y="4681537"/>
            <a:ext cx="5048250" cy="771525"/>
          </a:xfrm>
          <a:prstGeom prst="rect">
            <a:avLst/>
          </a:prstGeom>
          <a:noFill/>
          <a:ln>
            <a:noFill/>
          </a:ln>
        </p:spPr>
        <p:txBody>
          <a:bodyPr anchorCtr="0" anchor="t" bIns="0" lIns="9525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1" i="0" lang="en-US" sz="1350" u="none" cap="none" strike="noStrike">
                <a:solidFill>
                  <a:srgbClr val="333333"/>
                </a:solidFill>
                <a:latin typeface="Lato"/>
                <a:ea typeface="Lato"/>
                <a:cs typeface="Lato"/>
                <a:sym typeface="Lato"/>
              </a:rPr>
              <a:t>Military Intervention:</a:t>
            </a:r>
            <a:r>
              <a:rPr b="0" i="0" lang="en-US" sz="1350" u="none" cap="none" strike="noStrike">
                <a:solidFill>
                  <a:srgbClr val="333333"/>
                </a:solidFill>
                <a:latin typeface="Lato"/>
                <a:ea typeface="Lato"/>
                <a:cs typeface="Lato"/>
                <a:sym typeface="Lato"/>
              </a:rPr>
              <a:t> In 1954, Governor-General Ghulam Mohammad dismissed the Constituent Assembly. By 1958, the chaos culminated in General Ayub Khan imposing martial law.</a:t>
            </a:r>
            <a:endParaRPr b="0" i="0" sz="1400" u="none" cap="none" strike="noStrike">
              <a:solidFill>
                <a:srgbClr val="000000"/>
              </a:solidFill>
              <a:latin typeface="Arial"/>
              <a:ea typeface="Arial"/>
              <a:cs typeface="Arial"/>
              <a:sym typeface="Arial"/>
            </a:endParaRPr>
          </a:p>
        </p:txBody>
      </p:sp>
      <p:pic>
        <p:nvPicPr>
          <p:cNvPr descr="image.png" id="212" name="Google Shape;212;p23"/>
          <p:cNvPicPr preferRelativeResize="0"/>
          <p:nvPr/>
        </p:nvPicPr>
        <p:blipFill rotWithShape="1">
          <a:blip r:embed="rId4">
            <a:alphaModFix/>
          </a:blip>
          <a:srcRect b="0" l="0" r="0" t="0"/>
          <a:stretch/>
        </p:blipFill>
        <p:spPr>
          <a:xfrm>
            <a:off x="6334125" y="2195512"/>
            <a:ext cx="5286375" cy="3333750"/>
          </a:xfrm>
          <a:prstGeom prst="rect">
            <a:avLst/>
          </a:prstGeom>
          <a:noFill/>
          <a:ln>
            <a:noFill/>
          </a:ln>
        </p:spPr>
      </p:pic>
      <p:sp>
        <p:nvSpPr>
          <p:cNvPr id="213" name="Google Shape;213;p23"/>
          <p:cNvSpPr txBox="1"/>
          <p:nvPr/>
        </p:nvSpPr>
        <p:spPr>
          <a:xfrm>
            <a:off x="571500" y="647700"/>
            <a:ext cx="11601450" cy="4762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401A"/>
                </a:solidFill>
                <a:latin typeface="Merriweather"/>
                <a:ea typeface="Merriweather"/>
                <a:cs typeface="Merriweather"/>
                <a:sym typeface="Merriweather"/>
              </a:rPr>
              <a:t>Constitutional Crisis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0"/>
        </a:solidFill>
      </p:bgPr>
    </p:bg>
    <p:spTree>
      <p:nvGrpSpPr>
        <p:cNvPr id="217" name="Shape 217"/>
        <p:cNvGrpSpPr/>
        <p:nvPr/>
      </p:nvGrpSpPr>
      <p:grpSpPr>
        <a:xfrm>
          <a:off x="0" y="0"/>
          <a:ext cx="0" cy="0"/>
          <a:chOff x="0" y="0"/>
          <a:chExt cx="0" cy="0"/>
        </a:xfrm>
      </p:grpSpPr>
      <p:pic>
        <p:nvPicPr>
          <p:cNvPr descr="image.png" id="218" name="Google Shape;218;p24"/>
          <p:cNvPicPr preferRelativeResize="0"/>
          <p:nvPr/>
        </p:nvPicPr>
        <p:blipFill rotWithShape="1">
          <a:blip r:embed="rId3">
            <a:alphaModFix/>
          </a:blip>
          <a:srcRect b="0" l="0" r="0" t="0"/>
          <a:stretch/>
        </p:blipFill>
        <p:spPr>
          <a:xfrm>
            <a:off x="1547812" y="2228701"/>
            <a:ext cx="3333750" cy="3333750"/>
          </a:xfrm>
          <a:prstGeom prst="rect">
            <a:avLst/>
          </a:prstGeom>
          <a:noFill/>
          <a:ln>
            <a:noFill/>
          </a:ln>
        </p:spPr>
      </p:pic>
      <p:pic>
        <p:nvPicPr>
          <p:cNvPr descr="image.png" id="219" name="Google Shape;219;p24"/>
          <p:cNvPicPr preferRelativeResize="0"/>
          <p:nvPr/>
        </p:nvPicPr>
        <p:blipFill rotWithShape="1">
          <a:blip r:embed="rId4">
            <a:alphaModFix/>
          </a:blip>
          <a:srcRect b="0" l="0" r="0" t="0"/>
          <a:stretch/>
        </p:blipFill>
        <p:spPr>
          <a:xfrm>
            <a:off x="6334125" y="3969990"/>
            <a:ext cx="5286375" cy="1489620"/>
          </a:xfrm>
          <a:prstGeom prst="rect">
            <a:avLst/>
          </a:prstGeom>
          <a:noFill/>
          <a:ln>
            <a:noFill/>
          </a:ln>
        </p:spPr>
      </p:pic>
      <p:sp>
        <p:nvSpPr>
          <p:cNvPr id="220" name="Google Shape;220;p24"/>
          <p:cNvSpPr/>
          <p:nvPr/>
        </p:nvSpPr>
        <p:spPr>
          <a:xfrm>
            <a:off x="0" y="0"/>
            <a:ext cx="12192000" cy="76200"/>
          </a:xfrm>
          <a:prstGeom prst="rect">
            <a:avLst/>
          </a:prstGeom>
          <a:solidFill>
            <a:srgbClr val="0040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24"/>
          <p:cNvSpPr txBox="1"/>
          <p:nvPr/>
        </p:nvSpPr>
        <p:spPr>
          <a:xfrm>
            <a:off x="6334125" y="2141190"/>
            <a:ext cx="52863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0" i="0" lang="en-US" sz="1350" u="none" cap="none" strike="noStrike">
                <a:solidFill>
                  <a:srgbClr val="333333"/>
                </a:solidFill>
                <a:latin typeface="Lato"/>
                <a:ea typeface="Lato"/>
                <a:cs typeface="Lato"/>
                <a:sym typeface="Lato"/>
              </a:rPr>
              <a:t>On September 11, 1948, barely a year after independence, the father of the nation, Quaid-e-Azam Muhammad Ali Jinnah, passed away. His death was a devastating blow to the fragile, newly born state.</a:t>
            </a:r>
            <a:endParaRPr b="0" i="0" sz="1400" u="none" cap="none" strike="noStrike">
              <a:solidFill>
                <a:srgbClr val="000000"/>
              </a:solidFill>
              <a:latin typeface="Arial"/>
              <a:ea typeface="Arial"/>
              <a:cs typeface="Arial"/>
              <a:sym typeface="Arial"/>
            </a:endParaRPr>
          </a:p>
        </p:txBody>
      </p:sp>
      <p:sp>
        <p:nvSpPr>
          <p:cNvPr id="222" name="Google Shape;222;p24"/>
          <p:cNvSpPr txBox="1"/>
          <p:nvPr/>
        </p:nvSpPr>
        <p:spPr>
          <a:xfrm>
            <a:off x="6334125" y="3055590"/>
            <a:ext cx="52863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0" i="0" lang="en-US" sz="1350" u="none" cap="none" strike="noStrike">
                <a:solidFill>
                  <a:srgbClr val="333333"/>
                </a:solidFill>
                <a:latin typeface="Lato"/>
                <a:ea typeface="Lato"/>
                <a:cs typeface="Lato"/>
                <a:sym typeface="Lato"/>
              </a:rPr>
              <a:t>His unwavering resolve had been the glue holding the nation together amidst immense crises. His passing created a sudden, profound leadership vacuum.</a:t>
            </a:r>
            <a:endParaRPr b="0" i="0" sz="1400" u="none" cap="none" strike="noStrike">
              <a:solidFill>
                <a:srgbClr val="000000"/>
              </a:solidFill>
              <a:latin typeface="Arial"/>
              <a:ea typeface="Arial"/>
              <a:cs typeface="Arial"/>
              <a:sym typeface="Arial"/>
            </a:endParaRPr>
          </a:p>
        </p:txBody>
      </p:sp>
      <p:pic>
        <p:nvPicPr>
          <p:cNvPr descr="image.png" id="223" name="Google Shape;223;p24"/>
          <p:cNvPicPr preferRelativeResize="0"/>
          <p:nvPr/>
        </p:nvPicPr>
        <p:blipFill rotWithShape="1">
          <a:blip r:embed="rId5">
            <a:alphaModFix/>
          </a:blip>
          <a:srcRect b="0" l="0" r="0" t="0"/>
          <a:stretch/>
        </p:blipFill>
        <p:spPr>
          <a:xfrm>
            <a:off x="1624012" y="2304901"/>
            <a:ext cx="3181350" cy="3181350"/>
          </a:xfrm>
          <a:prstGeom prst="rect">
            <a:avLst/>
          </a:prstGeom>
          <a:noFill/>
          <a:ln>
            <a:noFill/>
          </a:ln>
        </p:spPr>
      </p:pic>
      <p:sp>
        <p:nvSpPr>
          <p:cNvPr id="224" name="Google Shape;224;p24"/>
          <p:cNvSpPr txBox="1"/>
          <p:nvPr/>
        </p:nvSpPr>
        <p:spPr>
          <a:xfrm>
            <a:off x="6677025" y="4160490"/>
            <a:ext cx="4657725" cy="800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1" lang="en-US" sz="1500" u="none" cap="none" strike="noStrike">
                <a:solidFill>
                  <a:srgbClr val="1E2E21"/>
                </a:solidFill>
                <a:latin typeface="Merriweather"/>
                <a:ea typeface="Merriweather"/>
                <a:cs typeface="Merriweather"/>
                <a:sym typeface="Merriweather"/>
              </a:rPr>
              <a:t>"The foundation of your State has been laid, and it is now for you to build, and build as quickly and as well as you can."</a:t>
            </a:r>
            <a:endParaRPr b="0" i="0" sz="1400" u="none" cap="none" strike="noStrike">
              <a:solidFill>
                <a:srgbClr val="000000"/>
              </a:solidFill>
              <a:latin typeface="Arial"/>
              <a:ea typeface="Arial"/>
              <a:cs typeface="Arial"/>
              <a:sym typeface="Arial"/>
            </a:endParaRPr>
          </a:p>
        </p:txBody>
      </p:sp>
      <p:sp>
        <p:nvSpPr>
          <p:cNvPr id="225" name="Google Shape;225;p24"/>
          <p:cNvSpPr txBox="1"/>
          <p:nvPr/>
        </p:nvSpPr>
        <p:spPr>
          <a:xfrm>
            <a:off x="6677025" y="5055840"/>
            <a:ext cx="4657725" cy="213270"/>
          </a:xfrm>
          <a:prstGeom prst="rect">
            <a:avLst/>
          </a:prstGeom>
          <a:noFill/>
          <a:ln>
            <a:noFill/>
          </a:ln>
        </p:spPr>
        <p:txBody>
          <a:bodyPr anchorCtr="0" anchor="t" bIns="0" lIns="0" spcFirstLastPara="1" rIns="0" wrap="square" tIns="0">
            <a:spAutoFit/>
          </a:bodyPr>
          <a:lstStyle/>
          <a:p>
            <a:pPr indent="0" lvl="0" marL="0" marR="0" rtl="0" algn="r">
              <a:lnSpc>
                <a:spcPct val="139916"/>
              </a:lnSpc>
              <a:spcBef>
                <a:spcPts val="0"/>
              </a:spcBef>
              <a:spcAft>
                <a:spcPts val="0"/>
              </a:spcAft>
              <a:buClr>
                <a:srgbClr val="000000"/>
              </a:buClr>
              <a:buSzPts val="1200"/>
              <a:buFont typeface="Arial"/>
              <a:buNone/>
            </a:pPr>
            <a:r>
              <a:rPr b="1" i="0" lang="en-US" sz="1200" u="none" cap="none" strike="noStrike">
                <a:solidFill>
                  <a:srgbClr val="00401A"/>
                </a:solidFill>
                <a:latin typeface="Lato"/>
                <a:ea typeface="Lato"/>
                <a:cs typeface="Lato"/>
                <a:sym typeface="Lato"/>
              </a:rPr>
              <a:t>— Quaid's Last Message to the Nation</a:t>
            </a:r>
            <a:endParaRPr b="0" i="0" sz="1400" u="none" cap="none" strike="noStrike">
              <a:solidFill>
                <a:srgbClr val="000000"/>
              </a:solidFill>
              <a:latin typeface="Arial"/>
              <a:ea typeface="Arial"/>
              <a:cs typeface="Arial"/>
              <a:sym typeface="Arial"/>
            </a:endParaRPr>
          </a:p>
        </p:txBody>
      </p:sp>
      <p:sp>
        <p:nvSpPr>
          <p:cNvPr id="226" name="Google Shape;226;p24"/>
          <p:cNvSpPr txBox="1"/>
          <p:nvPr/>
        </p:nvSpPr>
        <p:spPr>
          <a:xfrm>
            <a:off x="571500" y="647700"/>
            <a:ext cx="11601450" cy="4762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00401A"/>
                </a:solidFill>
                <a:latin typeface="Merriweather"/>
                <a:ea typeface="Merriweather"/>
                <a:cs typeface="Merriweather"/>
                <a:sym typeface="Merriweather"/>
              </a:rPr>
              <a:t>A Nation Mourns (1948)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411C"/>
        </a:solidFill>
      </p:bgPr>
    </p:bg>
    <p:spTree>
      <p:nvGrpSpPr>
        <p:cNvPr id="230" name="Shape 230"/>
        <p:cNvGrpSpPr/>
        <p:nvPr/>
      </p:nvGrpSpPr>
      <p:grpSpPr>
        <a:xfrm>
          <a:off x="0" y="0"/>
          <a:ext cx="0" cy="0"/>
          <a:chOff x="0" y="0"/>
          <a:chExt cx="0" cy="0"/>
        </a:xfrm>
      </p:grpSpPr>
      <p:pic>
        <p:nvPicPr>
          <p:cNvPr descr="image.png" id="231" name="Google Shape;231;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2" name="Google Shape;232;p25"/>
          <p:cNvSpPr txBox="1"/>
          <p:nvPr/>
        </p:nvSpPr>
        <p:spPr>
          <a:xfrm>
            <a:off x="1971675" y="1838325"/>
            <a:ext cx="8248650" cy="18002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3150" u="none" cap="none" strike="noStrike">
                <a:solidFill>
                  <a:srgbClr val="F8FAF0"/>
                </a:solidFill>
                <a:latin typeface="Merriweather"/>
                <a:ea typeface="Merriweather"/>
                <a:cs typeface="Merriweather"/>
                <a:sym typeface="Merriweather"/>
              </a:rPr>
              <a:t>With faith, discipline and selfless devotion to duty, there is nothing worthwhile that you cannot achieve.</a:t>
            </a:r>
            <a:endParaRPr/>
          </a:p>
        </p:txBody>
      </p:sp>
      <p:sp>
        <p:nvSpPr>
          <p:cNvPr id="233" name="Google Shape;233;p25"/>
          <p:cNvSpPr txBox="1"/>
          <p:nvPr/>
        </p:nvSpPr>
        <p:spPr>
          <a:xfrm>
            <a:off x="3695700" y="4019550"/>
            <a:ext cx="4800600"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1" lang="en-US" sz="1950" u="none" cap="none" strike="noStrike">
                <a:solidFill>
                  <a:srgbClr val="F8FAF0"/>
                </a:solidFill>
                <a:latin typeface="DM Sans"/>
                <a:ea typeface="DM Sans"/>
                <a:cs typeface="DM Sans"/>
                <a:sym typeface="DM Sans"/>
              </a:rPr>
              <a:t>— Quaid-e-Azam Muhammad Ali Jinnah</a:t>
            </a:r>
            <a:endParaRPr/>
          </a:p>
        </p:txBody>
      </p:sp>
      <p:sp>
        <p:nvSpPr>
          <p:cNvPr id="234" name="Google Shape;234;p25"/>
          <p:cNvSpPr txBox="1"/>
          <p:nvPr/>
        </p:nvSpPr>
        <p:spPr>
          <a:xfrm>
            <a:off x="2286000" y="4819650"/>
            <a:ext cx="7620000"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F8FAF0"/>
                </a:solidFill>
                <a:latin typeface="DM Sans"/>
                <a:ea typeface="DM Sans"/>
                <a:cs typeface="DM Sans"/>
                <a:sym typeface="DM Sans"/>
              </a:rPr>
              <a:t>Despite failing health, Jinnah served as the glue holding the nation together. He secured the State Bank, established the capital's infrastructure, and united a fractured, vulnerable populace during its darkest hours.</a:t>
            </a:r>
            <a:endParaRPr/>
          </a:p>
        </p:txBody>
      </p:sp>
      <p:sp>
        <p:nvSpPr>
          <p:cNvPr id="235" name="Google Shape;235;p25"/>
          <p:cNvSpPr txBox="1"/>
          <p:nvPr/>
        </p:nvSpPr>
        <p:spPr>
          <a:xfrm>
            <a:off x="1304925" y="2219325"/>
            <a:ext cx="561975" cy="1438275"/>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9000" u="none" cap="none" strike="noStrike">
                <a:solidFill>
                  <a:srgbClr val="D4AF37"/>
                </a:solidFill>
                <a:latin typeface="Merriweather"/>
                <a:ea typeface="Merriweather"/>
                <a:cs typeface="Merriweather"/>
                <a:sym typeface="Merriweather"/>
              </a:rPr>
              <a:t>"</a:t>
            </a:r>
            <a:endParaRPr/>
          </a:p>
        </p:txBody>
      </p:sp>
      <p:sp>
        <p:nvSpPr>
          <p:cNvPr id="236" name="Google Shape;236;p25"/>
          <p:cNvSpPr txBox="1"/>
          <p:nvPr/>
        </p:nvSpPr>
        <p:spPr>
          <a:xfrm>
            <a:off x="10325100" y="3733800"/>
            <a:ext cx="561975" cy="1438275"/>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9000" u="none" cap="none" strike="noStrike">
                <a:solidFill>
                  <a:srgbClr val="D4AF37"/>
                </a:solidFill>
                <a:latin typeface="Merriweather"/>
                <a:ea typeface="Merriweather"/>
                <a:cs typeface="Merriweather"/>
                <a:sym typeface="Merriweather"/>
              </a:rPr>
              <a:t>"</a:t>
            </a:r>
            <a:endParaRPr/>
          </a:p>
        </p:txBody>
      </p:sp>
      <p:sp>
        <p:nvSpPr>
          <p:cNvPr id="237" name="Google Shape;237;p25"/>
          <p:cNvSpPr txBox="1"/>
          <p:nvPr/>
        </p:nvSpPr>
        <p:spPr>
          <a:xfrm>
            <a:off x="571500" y="571500"/>
            <a:ext cx="1160145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D4AF37"/>
                </a:solidFill>
                <a:latin typeface="Merriweather"/>
                <a:ea typeface="Merriweather"/>
                <a:cs typeface="Merriweather"/>
                <a:sym typeface="Merriweather"/>
              </a:rPr>
              <a:t>Decisive Leadership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image.png" id="242" name="Google Shape;242;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3" name="Google Shape;243;p26"/>
          <p:cNvSpPr txBox="1"/>
          <p:nvPr/>
        </p:nvSpPr>
        <p:spPr>
          <a:xfrm>
            <a:off x="1595437" y="1733698"/>
            <a:ext cx="9001125" cy="838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250" u="none" cap="none" strike="noStrike">
                <a:solidFill>
                  <a:srgbClr val="D4AF37"/>
                </a:solidFill>
                <a:latin typeface="Merriweather"/>
                <a:ea typeface="Merriweather"/>
                <a:cs typeface="Merriweather"/>
                <a:sym typeface="Merriweather"/>
              </a:rPr>
              <a:t>Enduring Resilience</a:t>
            </a:r>
            <a:endParaRPr/>
          </a:p>
        </p:txBody>
      </p:sp>
      <p:sp>
        <p:nvSpPr>
          <p:cNvPr id="244" name="Google Shape;244;p26"/>
          <p:cNvSpPr txBox="1"/>
          <p:nvPr/>
        </p:nvSpPr>
        <p:spPr>
          <a:xfrm>
            <a:off x="1809750" y="2857648"/>
            <a:ext cx="8572500" cy="7923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F8FAF0"/>
                </a:solidFill>
                <a:latin typeface="DM Sans"/>
                <a:ea typeface="DM Sans"/>
                <a:cs typeface="DM Sans"/>
                <a:sym typeface="DM Sans"/>
              </a:rPr>
              <a:t>Despite the overwhelming economic, administrative, geographic, and political hurdles of the initial years, the nation survived.</a:t>
            </a:r>
            <a:endParaRPr/>
          </a:p>
        </p:txBody>
      </p:sp>
      <p:sp>
        <p:nvSpPr>
          <p:cNvPr id="245" name="Google Shape;245;p26"/>
          <p:cNvSpPr txBox="1"/>
          <p:nvPr/>
        </p:nvSpPr>
        <p:spPr>
          <a:xfrm>
            <a:off x="1809750" y="3792884"/>
            <a:ext cx="8572500" cy="118854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950" u="none" cap="none" strike="noStrike">
                <a:solidFill>
                  <a:srgbClr val="F8FAF0"/>
                </a:solidFill>
                <a:latin typeface="DM Sans"/>
                <a:ea typeface="DM Sans"/>
                <a:cs typeface="DM Sans"/>
                <a:sym typeface="DM Sans"/>
              </a:rPr>
              <a:t>The strength to overcome these immense existential threats lay in the profound sacrifices of the people and the timeless vision of their leadership.</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