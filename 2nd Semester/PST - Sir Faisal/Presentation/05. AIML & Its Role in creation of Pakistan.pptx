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showGuides="1">
      <p:cViewPr varScale="1">
        <p:scale>
          <a:sx n="79" d="100"/>
          <a:sy n="79" d="100"/>
        </p:scale>
        <p:origin x="37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11E318-436C-4BB9-B53C-85A5A2C597C0}"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C45B8-BE40-4F88-A23A-C630D92D903C}" type="slidenum">
              <a:rPr lang="en-US" smtClean="0"/>
              <a:t>‹#›</a:t>
            </a:fld>
            <a:endParaRPr lang="en-US"/>
          </a:p>
        </p:txBody>
      </p:sp>
    </p:spTree>
    <p:extLst>
      <p:ext uri="{BB962C8B-B14F-4D97-AF65-F5344CB8AC3E}">
        <p14:creationId xmlns:p14="http://schemas.microsoft.com/office/powerpoint/2010/main" val="3811061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8C45B8-BE40-4F88-A23A-C630D92D903C}" type="slidenum">
              <a:rPr lang="en-US" smtClean="0"/>
              <a:t>11</a:t>
            </a:fld>
            <a:endParaRPr lang="en-US"/>
          </a:p>
        </p:txBody>
      </p:sp>
    </p:spTree>
    <p:extLst>
      <p:ext uri="{BB962C8B-B14F-4D97-AF65-F5344CB8AC3E}">
        <p14:creationId xmlns:p14="http://schemas.microsoft.com/office/powerpoint/2010/main" val="623009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BEF823-48A5-43FC-BE03-E79964288B41}" type="datetimeFigureOut">
              <a:rPr lang="en-US" smtClean="0"/>
              <a:t>3/15/2026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043957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291614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002611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870019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8" name="Footer Placeholder 7"/>
          <p:cNvSpPr>
            <a:spLocks noGrp="1"/>
          </p:cNvSpPr>
          <p:nvPr>
            <p:ph type="ftr" sz="quarter" idx="11"/>
          </p:nvPr>
        </p:nvSpPr>
        <p:spPr/>
        <p:txBody>
          <a:bodyPr/>
          <a:lstStyle/>
          <a:p>
            <a:pPr algn="l"/>
            <a:endParaRPr lang="en-US" dirty="0"/>
          </a:p>
        </p:txBody>
      </p:sp>
      <p:sp>
        <p:nvSpPr>
          <p:cNvPr id="9" name="Slide Number Placeholder 8"/>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652649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4" name="Footer Placeholder 3"/>
          <p:cNvSpPr>
            <a:spLocks noGrp="1"/>
          </p:cNvSpPr>
          <p:nvPr>
            <p:ph type="ftr" sz="quarter" idx="11"/>
          </p:nvPr>
        </p:nvSpPr>
        <p:spPr/>
        <p:txBody>
          <a:bodyPr/>
          <a:lstStyle/>
          <a:p>
            <a:pPr algn="l"/>
            <a:endParaRPr lang="en-US" dirty="0"/>
          </a:p>
        </p:txBody>
      </p:sp>
      <p:sp>
        <p:nvSpPr>
          <p:cNvPr id="5" name="Slide Number Placeholder 4"/>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072910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3" name="Footer Placeholder 2"/>
          <p:cNvSpPr>
            <a:spLocks noGrp="1"/>
          </p:cNvSpPr>
          <p:nvPr>
            <p:ph type="ftr" sz="quarter" idx="11"/>
          </p:nvPr>
        </p:nvSpPr>
        <p:spPr/>
        <p:txBody>
          <a:bodyPr/>
          <a:lstStyle/>
          <a:p>
            <a:pPr algn="l"/>
            <a:endParaRPr lang="en-US" dirty="0"/>
          </a:p>
        </p:txBody>
      </p:sp>
      <p:sp>
        <p:nvSpPr>
          <p:cNvPr id="4" name="Slide Number Placeholder 3"/>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462156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28552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40831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848292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76658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819864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080348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723084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56192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92395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870689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lgn="r"/>
            <a:fld id="{53BEF823-48A5-43FC-BE03-E79964288B41}" type="datetimeFigureOut">
              <a:rPr lang="en-US" smtClean="0"/>
              <a:pPr algn="r"/>
              <a:t>3/15/2026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lgn="l"/>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860204126"/>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260ACC13-B825-49F3-93DE-C8B8F2FA37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0" name="Freeform 6">
              <a:extLst>
                <a:ext uri="{FF2B5EF4-FFF2-40B4-BE49-F238E27FC236}">
                  <a16:creationId xmlns:a16="http://schemas.microsoft.com/office/drawing/2014/main" id="{F947B31F-CA03-4793-845D-FD86BABC1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7" name="Freeform 7">
              <a:extLst>
                <a:ext uri="{FF2B5EF4-FFF2-40B4-BE49-F238E27FC236}">
                  <a16:creationId xmlns:a16="http://schemas.microsoft.com/office/drawing/2014/main" id="{DCDDE94D-F78C-4A48-AEA6-E922FC99A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2" name="Freeform 8">
              <a:extLst>
                <a:ext uri="{FF2B5EF4-FFF2-40B4-BE49-F238E27FC236}">
                  <a16:creationId xmlns:a16="http://schemas.microsoft.com/office/drawing/2014/main" id="{3445A886-F3CA-4DE4-90D7-535F9707B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8" name="Freeform 9">
              <a:extLst>
                <a:ext uri="{FF2B5EF4-FFF2-40B4-BE49-F238E27FC236}">
                  <a16:creationId xmlns:a16="http://schemas.microsoft.com/office/drawing/2014/main" id="{A8999CB6-C053-418B-AE37-E470804D2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4" name="Freeform 10">
              <a:extLst>
                <a:ext uri="{FF2B5EF4-FFF2-40B4-BE49-F238E27FC236}">
                  <a16:creationId xmlns:a16="http://schemas.microsoft.com/office/drawing/2014/main" id="{81EA3E26-BFCD-4396-AE8A-2A9828BFF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6" name="Freeform 11">
              <a:extLst>
                <a:ext uri="{FF2B5EF4-FFF2-40B4-BE49-F238E27FC236}">
                  <a16:creationId xmlns:a16="http://schemas.microsoft.com/office/drawing/2014/main" id="{5F9BC582-73A6-4D8A-8738-E36476489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useBgFill="1">
        <p:nvSpPr>
          <p:cNvPr id="18" name="Rectangle 17">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7" descr="Admissions – Dawood University of Engineering &amp; Technology Karachi">
            <a:extLst>
              <a:ext uri="{FF2B5EF4-FFF2-40B4-BE49-F238E27FC236}">
                <a16:creationId xmlns:a16="http://schemas.microsoft.com/office/drawing/2014/main" id="{17D5F788-54FF-642C-3848-109D0882A8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812" r="17720" b="-1"/>
          <a:stretch>
            <a:fillRect/>
          </a:stretch>
        </p:blipFill>
        <p:spPr bwMode="auto">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8">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20"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1"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2"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3"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4"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5"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5314DAD1-90B9-6D88-C08E-3790CDC224EE}"/>
              </a:ext>
            </a:extLst>
          </p:cNvPr>
          <p:cNvSpPr>
            <a:spLocks noGrp="1"/>
          </p:cNvSpPr>
          <p:nvPr>
            <p:ph type="ctrTitle"/>
          </p:nvPr>
        </p:nvSpPr>
        <p:spPr>
          <a:xfrm>
            <a:off x="972080" y="685800"/>
            <a:ext cx="5260680" cy="1752599"/>
          </a:xfrm>
        </p:spPr>
        <p:txBody>
          <a:bodyPr vert="horz" lIns="91440" tIns="45720" rIns="91440" bIns="45720" rtlCol="0" anchor="ctr">
            <a:normAutofit/>
          </a:bodyPr>
          <a:lstStyle/>
          <a:p>
            <a:pPr algn="l">
              <a:lnSpc>
                <a:spcPct val="90000"/>
              </a:lnSpc>
            </a:pPr>
            <a:r>
              <a:rPr lang="en-US" altLang="en-US" sz="4000" b="1" i="1" spc="100" baseline="0"/>
              <a:t>Dawood University of Engineering and Technology</a:t>
            </a:r>
            <a:endParaRPr lang="en-US" sz="4000" i="1" spc="100" baseline="0"/>
          </a:p>
        </p:txBody>
      </p:sp>
      <p:sp>
        <p:nvSpPr>
          <p:cNvPr id="3" name="Subtitle 2">
            <a:extLst>
              <a:ext uri="{FF2B5EF4-FFF2-40B4-BE49-F238E27FC236}">
                <a16:creationId xmlns:a16="http://schemas.microsoft.com/office/drawing/2014/main" id="{30F12D50-D020-E908-E328-BA8486BFA7BF}"/>
              </a:ext>
            </a:extLst>
          </p:cNvPr>
          <p:cNvSpPr>
            <a:spLocks noGrp="1"/>
          </p:cNvSpPr>
          <p:nvPr>
            <p:ph type="subTitle" idx="1"/>
          </p:nvPr>
        </p:nvSpPr>
        <p:spPr>
          <a:xfrm>
            <a:off x="643468" y="2666999"/>
            <a:ext cx="5260680" cy="3124201"/>
          </a:xfrm>
        </p:spPr>
        <p:txBody>
          <a:bodyPr vert="horz" lIns="91440" tIns="45720" rIns="91440" bIns="45720" rtlCol="0" anchor="ctr">
            <a:normAutofit fontScale="92500" lnSpcReduction="20000"/>
          </a:bodyPr>
          <a:lstStyle/>
          <a:p>
            <a:pPr marL="182880" algn="l">
              <a:lnSpc>
                <a:spcPct val="90000"/>
              </a:lnSpc>
              <a:buFont typeface="Arial"/>
              <a:buChar char="•"/>
            </a:pPr>
            <a:r>
              <a:rPr lang="en-US" sz="1700" b="1" u="sng" dirty="0"/>
              <a:t>Instructor</a:t>
            </a:r>
          </a:p>
          <a:p>
            <a:pPr marL="182880" algn="l">
              <a:lnSpc>
                <a:spcPct val="90000"/>
              </a:lnSpc>
              <a:buFont typeface="Arial"/>
              <a:buChar char="•"/>
            </a:pPr>
            <a:r>
              <a:rPr lang="en-US" sz="1700" dirty="0"/>
              <a:t>Faisal </a:t>
            </a:r>
          </a:p>
          <a:p>
            <a:pPr marL="182880" algn="l">
              <a:lnSpc>
                <a:spcPct val="90000"/>
              </a:lnSpc>
              <a:buFont typeface="Arial"/>
              <a:buChar char="•"/>
            </a:pPr>
            <a:endParaRPr lang="en-US" sz="1700" dirty="0"/>
          </a:p>
          <a:p>
            <a:pPr marL="182880" algn="l">
              <a:lnSpc>
                <a:spcPct val="90000"/>
              </a:lnSpc>
              <a:buFont typeface="Arial"/>
              <a:buChar char="•"/>
            </a:pPr>
            <a:r>
              <a:rPr lang="en-US" sz="1700" b="1" u="sng" dirty="0"/>
              <a:t>Department</a:t>
            </a:r>
          </a:p>
          <a:p>
            <a:pPr marL="182880" algn="l">
              <a:lnSpc>
                <a:spcPct val="90000"/>
              </a:lnSpc>
              <a:buFont typeface="Arial"/>
              <a:buChar char="•"/>
            </a:pPr>
            <a:r>
              <a:rPr lang="en-US" sz="1700" dirty="0"/>
              <a:t> </a:t>
            </a:r>
            <a:r>
              <a:rPr lang="en-US" sz="1700" dirty="0" err="1"/>
              <a:t>CyberSecurity</a:t>
            </a:r>
            <a:r>
              <a:rPr lang="en-US" sz="1700" dirty="0"/>
              <a:t> – A2</a:t>
            </a:r>
          </a:p>
          <a:p>
            <a:pPr marL="182880" algn="l">
              <a:lnSpc>
                <a:spcPct val="90000"/>
              </a:lnSpc>
              <a:buFont typeface="Arial"/>
              <a:buChar char="•"/>
            </a:pPr>
            <a:endParaRPr lang="en-US" sz="1700" dirty="0"/>
          </a:p>
          <a:p>
            <a:pPr marL="182880" algn="l">
              <a:lnSpc>
                <a:spcPct val="90000"/>
              </a:lnSpc>
              <a:buFont typeface="Arial"/>
              <a:buChar char="•"/>
            </a:pPr>
            <a:r>
              <a:rPr lang="en-US" sz="1700" b="1" u="sng" dirty="0"/>
              <a:t>Presented by:</a:t>
            </a:r>
            <a:r>
              <a:rPr lang="en-US" sz="1700" dirty="0"/>
              <a:t> </a:t>
            </a:r>
          </a:p>
          <a:p>
            <a:pPr marL="182880" algn="l">
              <a:lnSpc>
                <a:spcPct val="90000"/>
              </a:lnSpc>
              <a:buFont typeface="Arial"/>
              <a:buChar char="•"/>
            </a:pPr>
            <a:r>
              <a:rPr lang="en-US" sz="1700" dirty="0"/>
              <a:t>Mubeen Ul Haq : 25F-CY-075</a:t>
            </a:r>
          </a:p>
          <a:p>
            <a:pPr marL="182880" algn="l">
              <a:lnSpc>
                <a:spcPct val="90000"/>
              </a:lnSpc>
              <a:buFont typeface="Arial"/>
              <a:buChar char="•"/>
            </a:pPr>
            <a:r>
              <a:rPr lang="en-US" sz="1700" dirty="0"/>
              <a:t>Arshad Ali : 25F-CY-071</a:t>
            </a:r>
          </a:p>
          <a:p>
            <a:pPr marL="182880" algn="l">
              <a:lnSpc>
                <a:spcPct val="90000"/>
              </a:lnSpc>
              <a:buFont typeface="Arial"/>
              <a:buChar char="•"/>
            </a:pPr>
            <a:r>
              <a:rPr lang="en-US" sz="1700" dirty="0" err="1"/>
              <a:t>AjeebUllah</a:t>
            </a:r>
            <a:r>
              <a:rPr lang="en-US" sz="1700" dirty="0"/>
              <a:t> : 25F-CY-092</a:t>
            </a:r>
          </a:p>
          <a:p>
            <a:pPr marL="182880" algn="l">
              <a:lnSpc>
                <a:spcPct val="90000"/>
              </a:lnSpc>
              <a:buFont typeface="Arial"/>
              <a:buChar char="•"/>
            </a:pPr>
            <a:endParaRPr lang="en-US" sz="1300" dirty="0"/>
          </a:p>
          <a:p>
            <a:pPr marL="182880" algn="l">
              <a:lnSpc>
                <a:spcPct val="90000"/>
              </a:lnSpc>
              <a:buFont typeface="Arial"/>
              <a:buChar char="•"/>
            </a:pPr>
            <a:endParaRPr lang="en-US" sz="1300" dirty="0"/>
          </a:p>
        </p:txBody>
      </p:sp>
    </p:spTree>
    <p:extLst>
      <p:ext uri="{BB962C8B-B14F-4D97-AF65-F5344CB8AC3E}">
        <p14:creationId xmlns:p14="http://schemas.microsoft.com/office/powerpoint/2010/main" val="2532312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24"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27"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8"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8"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9"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F257B28D-A46F-CDBC-DB8C-73234D7F62CB}"/>
              </a:ext>
            </a:extLst>
          </p:cNvPr>
          <p:cNvSpPr>
            <a:spLocks noGrp="1"/>
          </p:cNvSpPr>
          <p:nvPr>
            <p:ph type="title"/>
          </p:nvPr>
        </p:nvSpPr>
        <p:spPr>
          <a:xfrm>
            <a:off x="3962399" y="685800"/>
            <a:ext cx="7345891" cy="1413933"/>
          </a:xfrm>
        </p:spPr>
        <p:txBody>
          <a:bodyPr>
            <a:normAutofit/>
          </a:bodyPr>
          <a:lstStyle/>
          <a:p>
            <a:r>
              <a:rPr lang="en-US" b="1"/>
              <a:t>Introduction</a:t>
            </a:r>
            <a:endParaRPr lang="en-US" dirty="0"/>
          </a:p>
        </p:txBody>
      </p:sp>
      <p:pic>
        <p:nvPicPr>
          <p:cNvPr id="29" name="Picture 28" descr="hand holding ball">
            <a:extLst>
              <a:ext uri="{FF2B5EF4-FFF2-40B4-BE49-F238E27FC236}">
                <a16:creationId xmlns:a16="http://schemas.microsoft.com/office/drawing/2014/main" id="{A329C472-ECDC-DC4D-3448-D903224FCCB7}"/>
              </a:ext>
            </a:extLst>
          </p:cNvPr>
          <p:cNvPicPr>
            <a:picLocks noChangeAspect="1"/>
          </p:cNvPicPr>
          <p:nvPr/>
        </p:nvPicPr>
        <p:blipFill>
          <a:blip r:embed="rId3"/>
          <a:srcRect l="35105" r="31352"/>
          <a:stretch>
            <a:fillRect/>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5EEB6ADE-6B3D-B700-B634-1F8F02EC5551}"/>
              </a:ext>
            </a:extLst>
          </p:cNvPr>
          <p:cNvSpPr>
            <a:spLocks noGrp="1"/>
          </p:cNvSpPr>
          <p:nvPr>
            <p:ph idx="1"/>
          </p:nvPr>
        </p:nvSpPr>
        <p:spPr>
          <a:xfrm>
            <a:off x="3843867" y="2048933"/>
            <a:ext cx="7659156" cy="3742267"/>
          </a:xfrm>
        </p:spPr>
        <p:txBody>
          <a:bodyPr>
            <a:normAutofit/>
          </a:bodyPr>
          <a:lstStyle/>
          <a:p>
            <a:r>
              <a:rPr lang="en-US"/>
              <a:t>The All India Muslim League was an important political organization formed to protect the political, social, and economic rights of Muslims in British India. It was established at a time when Muslims felt that their interests were not properly represented in the political system. Over time, the Muslim League became the leading political voice of Muslims and played a decisive role in the struggle that eventually led to the creation of Pakistan in 1947.</a:t>
            </a:r>
          </a:p>
          <a:p>
            <a:pPr marL="0" indent="0">
              <a:buNone/>
            </a:pPr>
            <a:endParaRPr lang="en-US" dirty="0"/>
          </a:p>
        </p:txBody>
      </p:sp>
    </p:spTree>
    <p:extLst>
      <p:ext uri="{BB962C8B-B14F-4D97-AF65-F5344CB8AC3E}">
        <p14:creationId xmlns:p14="http://schemas.microsoft.com/office/powerpoint/2010/main" val="1620971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045" name="Rectangle 1044">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he Muslim League: A factional history - Pakistan - DAWN.COM">
            <a:extLst>
              <a:ext uri="{FF2B5EF4-FFF2-40B4-BE49-F238E27FC236}">
                <a16:creationId xmlns:a16="http://schemas.microsoft.com/office/drawing/2014/main" id="{CA931519-7647-0FF7-732A-428314025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952" r="24949" b="-1"/>
          <a:stretch>
            <a:fillRect/>
          </a:stretch>
        </p:blipFill>
        <p:spPr bwMode="auto">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a:noFill/>
          <a:extLst>
            <a:ext uri="{909E8E84-426E-40DD-AFC4-6F175D3DCCD1}">
              <a14:hiddenFill xmlns:a14="http://schemas.microsoft.com/office/drawing/2010/main">
                <a:solidFill>
                  <a:srgbClr val="FFFFFF"/>
                </a:solidFill>
              </a14:hiddenFill>
            </a:ext>
          </a:extLst>
        </p:spPr>
      </p:pic>
      <p:grpSp>
        <p:nvGrpSpPr>
          <p:cNvPr id="1046" name="Group 1045">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1047"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048"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36"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049"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050"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051"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6B36DF12-9DA8-0515-598D-3985B103E1B1}"/>
              </a:ext>
            </a:extLst>
          </p:cNvPr>
          <p:cNvSpPr>
            <a:spLocks noGrp="1"/>
          </p:cNvSpPr>
          <p:nvPr>
            <p:ph type="title"/>
          </p:nvPr>
        </p:nvSpPr>
        <p:spPr>
          <a:xfrm>
            <a:off x="972080" y="685800"/>
            <a:ext cx="5260680" cy="1752599"/>
          </a:xfrm>
        </p:spPr>
        <p:txBody>
          <a:bodyPr>
            <a:normAutofit/>
          </a:bodyPr>
          <a:lstStyle/>
          <a:p>
            <a:pPr algn="l"/>
            <a:r>
              <a:rPr lang="en-US" b="1" dirty="0"/>
              <a:t>Formation of All India Muslim League</a:t>
            </a:r>
            <a:endParaRPr lang="en-US"/>
          </a:p>
        </p:txBody>
      </p:sp>
      <p:sp>
        <p:nvSpPr>
          <p:cNvPr id="3" name="Content Placeholder 2">
            <a:extLst>
              <a:ext uri="{FF2B5EF4-FFF2-40B4-BE49-F238E27FC236}">
                <a16:creationId xmlns:a16="http://schemas.microsoft.com/office/drawing/2014/main" id="{60D85697-D56E-8F97-525F-24E8500B7B16}"/>
              </a:ext>
            </a:extLst>
          </p:cNvPr>
          <p:cNvSpPr>
            <a:spLocks noGrp="1"/>
          </p:cNvSpPr>
          <p:nvPr>
            <p:ph idx="1"/>
          </p:nvPr>
        </p:nvSpPr>
        <p:spPr>
          <a:xfrm>
            <a:off x="643468" y="2666999"/>
            <a:ext cx="5260680" cy="3124201"/>
          </a:xfrm>
        </p:spPr>
        <p:txBody>
          <a:bodyPr>
            <a:normAutofit/>
          </a:bodyPr>
          <a:lstStyle/>
          <a:p>
            <a:r>
              <a:rPr lang="en-US" sz="2000"/>
              <a:t>The All India Muslim League was founded on 30 December 1906 in Dhaka. It was created by Muslim leaders who wanted a separate political platform to represent Muslim interests. The main aim was to safeguard the political rights of Muslims and ensure that Muslims had proper representation in government and political institutions.</a:t>
            </a:r>
          </a:p>
          <a:p>
            <a:endParaRPr lang="en-US" sz="2000"/>
          </a:p>
        </p:txBody>
      </p:sp>
    </p:spTree>
    <p:extLst>
      <p:ext uri="{BB962C8B-B14F-4D97-AF65-F5344CB8AC3E}">
        <p14:creationId xmlns:p14="http://schemas.microsoft.com/office/powerpoint/2010/main" val="3026833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Formation of Muslim League and its Objectives – Ganesh ias Academy">
            <a:extLst>
              <a:ext uri="{FF2B5EF4-FFF2-40B4-BE49-F238E27FC236}">
                <a16:creationId xmlns:a16="http://schemas.microsoft.com/office/drawing/2014/main" id="{007DBA6C-BE28-2850-51F1-437E940012C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1081" r="34831" b="1"/>
          <a:stretch>
            <a:fillRect/>
          </a:stretch>
        </p:blipFill>
        <p:spPr bwMode="auto">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a:noFill/>
          <a:extLst>
            <a:ext uri="{909E8E84-426E-40DD-AFC4-6F175D3DCCD1}">
              <a14:hiddenFill xmlns:a14="http://schemas.microsoft.com/office/drawing/2010/main">
                <a:solidFill>
                  <a:srgbClr val="FFFFFF"/>
                </a:solidFill>
              </a14:hiddenFill>
            </a:ext>
          </a:extLst>
        </p:spPr>
      </p:pic>
      <p:grpSp>
        <p:nvGrpSpPr>
          <p:cNvPr id="3083" name="Group 3082">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3084"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085"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086"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087"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088"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089"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CA6EDCDA-7BBE-1580-A1FE-A1CF5EF21F55}"/>
              </a:ext>
            </a:extLst>
          </p:cNvPr>
          <p:cNvSpPr>
            <a:spLocks noGrp="1"/>
          </p:cNvSpPr>
          <p:nvPr>
            <p:ph type="title"/>
          </p:nvPr>
        </p:nvSpPr>
        <p:spPr>
          <a:xfrm>
            <a:off x="972080" y="685800"/>
            <a:ext cx="5260680" cy="1752599"/>
          </a:xfrm>
        </p:spPr>
        <p:txBody>
          <a:bodyPr vert="horz" lIns="91440" tIns="45720" rIns="91440" bIns="45720" rtlCol="0" anchor="ctr">
            <a:normAutofit/>
          </a:bodyPr>
          <a:lstStyle/>
          <a:p>
            <a:pPr algn="l"/>
            <a:r>
              <a:rPr lang="en-US" b="1"/>
              <a:t>Objectives of Muslim League</a:t>
            </a:r>
            <a:endParaRPr lang="en-US"/>
          </a:p>
        </p:txBody>
      </p:sp>
      <p:sp>
        <p:nvSpPr>
          <p:cNvPr id="5" name="TextBox 4">
            <a:extLst>
              <a:ext uri="{FF2B5EF4-FFF2-40B4-BE49-F238E27FC236}">
                <a16:creationId xmlns:a16="http://schemas.microsoft.com/office/drawing/2014/main" id="{07B12D92-5A77-4555-46A0-A9F894666FA2}"/>
              </a:ext>
            </a:extLst>
          </p:cNvPr>
          <p:cNvSpPr txBox="1"/>
          <p:nvPr/>
        </p:nvSpPr>
        <p:spPr>
          <a:xfrm>
            <a:off x="643468" y="2666999"/>
            <a:ext cx="5260680" cy="3124201"/>
          </a:xfrm>
          <a:prstGeom prst="rect">
            <a:avLst/>
          </a:prstGeom>
        </p:spPr>
        <p:txBody>
          <a:bodyPr vert="horz" lIns="91440" tIns="45720" rIns="91440" bIns="45720" rtlCol="0" anchor="ctr">
            <a:normAutofit/>
          </a:bodyPr>
          <a:lstStyle/>
          <a:p>
            <a:pPr>
              <a:spcBef>
                <a:spcPct val="20000"/>
              </a:spcBef>
              <a:spcAft>
                <a:spcPts val="600"/>
              </a:spcAft>
              <a:buClr>
                <a:schemeClr val="accent1">
                  <a:lumMod val="75000"/>
                </a:schemeClr>
              </a:buClr>
              <a:buSzPct val="145000"/>
              <a:buFont typeface="Arial"/>
              <a:buChar char="•"/>
            </a:pPr>
            <a:r>
              <a:rPr lang="en-US" sz="2000"/>
              <a:t>The Muslim League had several important objectives at the time of its creation: Protect the political rights and interests of Muslims in British India. Promote loyalty to the British government in the early years in order to gain political support. Develop a sense of unity, cooperation, and political awareness among Muslims of the subcontinent. Encourage Muslims to participate actively in politics.</a:t>
            </a:r>
          </a:p>
        </p:txBody>
      </p:sp>
    </p:spTree>
    <p:extLst>
      <p:ext uri="{BB962C8B-B14F-4D97-AF65-F5344CB8AC3E}">
        <p14:creationId xmlns:p14="http://schemas.microsoft.com/office/powerpoint/2010/main" val="4228735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9056-2911-468D-4951-171E7D1B1FC0}"/>
              </a:ext>
            </a:extLst>
          </p:cNvPr>
          <p:cNvSpPr>
            <a:spLocks noGrp="1"/>
          </p:cNvSpPr>
          <p:nvPr>
            <p:ph type="title"/>
          </p:nvPr>
        </p:nvSpPr>
        <p:spPr>
          <a:xfrm>
            <a:off x="1484311" y="685800"/>
            <a:ext cx="10018713" cy="1185333"/>
          </a:xfrm>
        </p:spPr>
        <p:txBody>
          <a:bodyPr>
            <a:normAutofit/>
          </a:bodyPr>
          <a:lstStyle/>
          <a:p>
            <a:pPr>
              <a:lnSpc>
                <a:spcPct val="90000"/>
              </a:lnSpc>
            </a:pPr>
            <a:r>
              <a:rPr lang="en-US" sz="3700" b="1"/>
              <a:t>Early Struggles</a:t>
            </a:r>
            <a:br>
              <a:rPr lang="en-US" sz="3700" b="1"/>
            </a:br>
            <a:endParaRPr lang="en-US" sz="3700"/>
          </a:p>
        </p:txBody>
      </p:sp>
      <p:sp>
        <p:nvSpPr>
          <p:cNvPr id="3" name="Content Placeholder 2">
            <a:extLst>
              <a:ext uri="{FF2B5EF4-FFF2-40B4-BE49-F238E27FC236}">
                <a16:creationId xmlns:a16="http://schemas.microsoft.com/office/drawing/2014/main" id="{306D67BE-5B90-1C12-192B-61415EF41D4C}"/>
              </a:ext>
            </a:extLst>
          </p:cNvPr>
          <p:cNvSpPr>
            <a:spLocks noGrp="1"/>
          </p:cNvSpPr>
          <p:nvPr>
            <p:ph idx="1"/>
          </p:nvPr>
        </p:nvSpPr>
        <p:spPr>
          <a:xfrm>
            <a:off x="1484311" y="1998133"/>
            <a:ext cx="6855356" cy="3793067"/>
          </a:xfrm>
        </p:spPr>
        <p:txBody>
          <a:bodyPr>
            <a:normAutofit/>
          </a:bodyPr>
          <a:lstStyle/>
          <a:p>
            <a:r>
              <a:rPr lang="en-US" dirty="0"/>
              <a:t>During the early years, Muslims in the subcontinent felt politically, socially, and economically weaker compared to other communities. They feared that in a democratic system dominated by the Hindu majority, Muslim rights might be ignored. The Muslim League therefore worked to ensure fair representation for Muslims in government jobs, educational institutions, and legislative councils.</a:t>
            </a:r>
          </a:p>
          <a:p>
            <a:endParaRPr lang="en-US" dirty="0"/>
          </a:p>
        </p:txBody>
      </p:sp>
      <p:pic>
        <p:nvPicPr>
          <p:cNvPr id="4098" name="Picture 2" descr="Establishment of All India Muslim League">
            <a:extLst>
              <a:ext uri="{FF2B5EF4-FFF2-40B4-BE49-F238E27FC236}">
                <a16:creationId xmlns:a16="http://schemas.microsoft.com/office/drawing/2014/main" id="{18C05AD7-404C-0381-C540-A32401092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852" r="18969" b="-2"/>
          <a:stretch>
            <a:fillRect/>
          </a:stretch>
        </p:blipFill>
        <p:spPr bwMode="auto">
          <a:xfrm>
            <a:off x="8785907" y="1998131"/>
            <a:ext cx="2717116" cy="3791517"/>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3675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1940s :: Muhammad Ali Jinnah Playing Billiards and Smoking a Cigar">
            <a:extLst>
              <a:ext uri="{FF2B5EF4-FFF2-40B4-BE49-F238E27FC236}">
                <a16:creationId xmlns:a16="http://schemas.microsoft.com/office/drawing/2014/main" id="{2D2141A9-99D9-6429-C1B6-BF921EC952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621" r="33256" b="-1"/>
          <a:stretch>
            <a:fillRect/>
          </a:stretch>
        </p:blipFill>
        <p:spPr bwMode="auto">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a:noFill/>
          <a:extLst>
            <a:ext uri="{909E8E84-426E-40DD-AFC4-6F175D3DCCD1}">
              <a14:hiddenFill xmlns:a14="http://schemas.microsoft.com/office/drawing/2010/main">
                <a:solidFill>
                  <a:srgbClr val="FFFFFF"/>
                </a:solidFill>
              </a14:hiddenFill>
            </a:ext>
          </a:extLst>
        </p:spPr>
      </p:pic>
      <p:grpSp>
        <p:nvGrpSpPr>
          <p:cNvPr id="5129" name="Group 5128">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5130"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131"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132"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133"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134"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135"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FD4523A6-625E-C91C-AD0C-D418A49AC2E7}"/>
              </a:ext>
            </a:extLst>
          </p:cNvPr>
          <p:cNvSpPr>
            <a:spLocks noGrp="1"/>
          </p:cNvSpPr>
          <p:nvPr>
            <p:ph type="title"/>
          </p:nvPr>
        </p:nvSpPr>
        <p:spPr>
          <a:xfrm>
            <a:off x="972080" y="685800"/>
            <a:ext cx="5260680" cy="1752599"/>
          </a:xfrm>
        </p:spPr>
        <p:txBody>
          <a:bodyPr>
            <a:normAutofit/>
          </a:bodyPr>
          <a:lstStyle/>
          <a:p>
            <a:pPr algn="l"/>
            <a:r>
              <a:rPr lang="en-US" b="1" dirty="0"/>
              <a:t>Leadership of Muhammad Ali Jinnah</a:t>
            </a:r>
            <a:endParaRPr lang="en-US"/>
          </a:p>
        </p:txBody>
      </p:sp>
      <p:sp>
        <p:nvSpPr>
          <p:cNvPr id="3" name="Content Placeholder 2">
            <a:extLst>
              <a:ext uri="{FF2B5EF4-FFF2-40B4-BE49-F238E27FC236}">
                <a16:creationId xmlns:a16="http://schemas.microsoft.com/office/drawing/2014/main" id="{36D962C7-5FC0-9C57-9082-FCE03A56C2FF}"/>
              </a:ext>
            </a:extLst>
          </p:cNvPr>
          <p:cNvSpPr>
            <a:spLocks noGrp="1"/>
          </p:cNvSpPr>
          <p:nvPr>
            <p:ph idx="1"/>
          </p:nvPr>
        </p:nvSpPr>
        <p:spPr>
          <a:xfrm>
            <a:off x="643468" y="2666999"/>
            <a:ext cx="5260680" cy="3124201"/>
          </a:xfrm>
        </p:spPr>
        <p:txBody>
          <a:bodyPr>
            <a:normAutofit/>
          </a:bodyPr>
          <a:lstStyle/>
          <a:p>
            <a:pPr>
              <a:lnSpc>
                <a:spcPct val="90000"/>
              </a:lnSpc>
            </a:pPr>
            <a:r>
              <a:rPr lang="en-US" sz="2000"/>
              <a:t>Muhammad Ali Jinnah later emerged as the most important leader of the Muslim League. Due to his strong leadership, political vision, and determination, he united Muslims under a single political platform. He argued that Muslims were a separate nation with their own culture, religion, and traditions, and therefore needed a separate homeland where they could live freely according to their beliefs.</a:t>
            </a:r>
          </a:p>
          <a:p>
            <a:pPr>
              <a:lnSpc>
                <a:spcPct val="90000"/>
              </a:lnSpc>
            </a:pPr>
            <a:endParaRPr lang="en-US" sz="2000"/>
          </a:p>
        </p:txBody>
      </p:sp>
    </p:spTree>
    <p:extLst>
      <p:ext uri="{BB962C8B-B14F-4D97-AF65-F5344CB8AC3E}">
        <p14:creationId xmlns:p14="http://schemas.microsoft.com/office/powerpoint/2010/main" val="1530070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A315A-3B7E-47D8-9CD9-0D30C020FB52}"/>
              </a:ext>
            </a:extLst>
          </p:cNvPr>
          <p:cNvSpPr>
            <a:spLocks noGrp="1"/>
          </p:cNvSpPr>
          <p:nvPr>
            <p:ph type="title"/>
          </p:nvPr>
        </p:nvSpPr>
        <p:spPr>
          <a:xfrm>
            <a:off x="1484311" y="685800"/>
            <a:ext cx="10018713" cy="1185333"/>
          </a:xfrm>
        </p:spPr>
        <p:txBody>
          <a:bodyPr>
            <a:normAutofit/>
          </a:bodyPr>
          <a:lstStyle/>
          <a:p>
            <a:r>
              <a:rPr lang="en-US" dirty="0"/>
              <a:t>Allama Iqbal's Vision for Muslims</a:t>
            </a:r>
          </a:p>
        </p:txBody>
      </p:sp>
      <p:pic>
        <p:nvPicPr>
          <p:cNvPr id="6146" name="Picture 2" descr="Art by Fazal | Allama Iqbal | Instagram">
            <a:extLst>
              <a:ext uri="{FF2B5EF4-FFF2-40B4-BE49-F238E27FC236}">
                <a16:creationId xmlns:a16="http://schemas.microsoft.com/office/drawing/2014/main" id="{967BDBEA-ED7C-3218-563F-ADCB1A8008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950" r="12815" b="-1"/>
          <a:stretch>
            <a:fillRect/>
          </a:stretch>
        </p:blipFill>
        <p:spPr bwMode="auto">
          <a:xfrm>
            <a:off x="1512452" y="1998131"/>
            <a:ext cx="2720881" cy="3791517"/>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C47F4C6-E8CE-F758-487B-35950559EF8F}"/>
              </a:ext>
            </a:extLst>
          </p:cNvPr>
          <p:cNvSpPr>
            <a:spLocks noGrp="1"/>
          </p:cNvSpPr>
          <p:nvPr>
            <p:ph idx="1"/>
          </p:nvPr>
        </p:nvSpPr>
        <p:spPr>
          <a:xfrm>
            <a:off x="4620985" y="1998133"/>
            <a:ext cx="6885215" cy="3793067"/>
          </a:xfrm>
        </p:spPr>
        <p:txBody>
          <a:bodyPr>
            <a:normAutofit/>
          </a:bodyPr>
          <a:lstStyle/>
          <a:p>
            <a:r>
              <a:rPr lang="en-US" sz="2200"/>
              <a:t>Before the demand for Pakistan became a mass political movement, the idea of a separate Muslim homeland was strongly supported by the philosopher and poet Allama Muhammad Iqbal. He believed that Muslims of the subcontinent had a unique culture, religion, and civilization that needed protection and development. Iqbal emphasized the importance of Muslim unity, self‑respect, and political independence. His ideas inspired many Muslim leaders and played an important intellectual role in shaping the future demand for Pakistan.</a:t>
            </a:r>
          </a:p>
        </p:txBody>
      </p:sp>
    </p:spTree>
    <p:extLst>
      <p:ext uri="{BB962C8B-B14F-4D97-AF65-F5344CB8AC3E}">
        <p14:creationId xmlns:p14="http://schemas.microsoft.com/office/powerpoint/2010/main" val="1583568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What was Allama Iqbal's vision as per the Allahabad address?">
            <a:extLst>
              <a:ext uri="{FF2B5EF4-FFF2-40B4-BE49-F238E27FC236}">
                <a16:creationId xmlns:a16="http://schemas.microsoft.com/office/drawing/2014/main" id="{3B82EC8A-CA0E-AE36-E324-739F67792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571" r="35965"/>
          <a:stretch>
            <a:fillRect/>
          </a:stretch>
        </p:blipFill>
        <p:spPr bwMode="auto">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a:noFill/>
          <a:extLst>
            <a:ext uri="{909E8E84-426E-40DD-AFC4-6F175D3DCCD1}">
              <a14:hiddenFill xmlns:a14="http://schemas.microsoft.com/office/drawing/2010/main">
                <a:solidFill>
                  <a:srgbClr val="FFFFFF"/>
                </a:solidFill>
              </a14:hiddenFill>
            </a:ext>
          </a:extLst>
        </p:spPr>
      </p:pic>
      <p:grpSp>
        <p:nvGrpSpPr>
          <p:cNvPr id="7177" name="Group 7176">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7178"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7179"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7180"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7181"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7182"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7183"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54D5F43B-73ED-9C64-E687-702189681064}"/>
              </a:ext>
            </a:extLst>
          </p:cNvPr>
          <p:cNvSpPr>
            <a:spLocks noGrp="1"/>
          </p:cNvSpPr>
          <p:nvPr>
            <p:ph type="title"/>
          </p:nvPr>
        </p:nvSpPr>
        <p:spPr>
          <a:xfrm>
            <a:off x="972080" y="685800"/>
            <a:ext cx="5260680" cy="1752599"/>
          </a:xfrm>
        </p:spPr>
        <p:txBody>
          <a:bodyPr>
            <a:normAutofit/>
          </a:bodyPr>
          <a:lstStyle/>
          <a:p>
            <a:pPr algn="l"/>
            <a:r>
              <a:rPr lang="en-US" dirty="0"/>
              <a:t>Allahabad Address (1930)</a:t>
            </a:r>
            <a:endParaRPr lang="en-US"/>
          </a:p>
        </p:txBody>
      </p:sp>
      <p:sp>
        <p:nvSpPr>
          <p:cNvPr id="3" name="Content Placeholder 2">
            <a:extLst>
              <a:ext uri="{FF2B5EF4-FFF2-40B4-BE49-F238E27FC236}">
                <a16:creationId xmlns:a16="http://schemas.microsoft.com/office/drawing/2014/main" id="{A8D892A4-8D00-FE6A-E954-CD0ACF62CD98}"/>
              </a:ext>
            </a:extLst>
          </p:cNvPr>
          <p:cNvSpPr>
            <a:spLocks noGrp="1"/>
          </p:cNvSpPr>
          <p:nvPr>
            <p:ph idx="1"/>
          </p:nvPr>
        </p:nvSpPr>
        <p:spPr>
          <a:xfrm>
            <a:off x="643468" y="2666999"/>
            <a:ext cx="5260680" cy="3124201"/>
          </a:xfrm>
        </p:spPr>
        <p:txBody>
          <a:bodyPr>
            <a:normAutofit/>
          </a:bodyPr>
          <a:lstStyle/>
          <a:p>
            <a:pPr>
              <a:lnSpc>
                <a:spcPct val="90000"/>
              </a:lnSpc>
            </a:pPr>
            <a:r>
              <a:rPr lang="en-US" sz="2000"/>
              <a:t>In 1930, Allama Iqbal delivered his famous presidential address at the annual session of the All‑India Muslim League in Allahabad. In this speech, he proposed the idea of a separate state for Muslims in the north‑western regions of India, including Punjab, Sindh, Balochistan, and the North‑West Frontier Province. This address is considered one of the earliest clear visions of what later became Pakistan and it greatly influenced Muslim political thinking.</a:t>
            </a:r>
          </a:p>
        </p:txBody>
      </p:sp>
    </p:spTree>
    <p:extLst>
      <p:ext uri="{BB962C8B-B14F-4D97-AF65-F5344CB8AC3E}">
        <p14:creationId xmlns:p14="http://schemas.microsoft.com/office/powerpoint/2010/main" val="987856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Revisiting the Resolution - Sp Supplements - DAWN.COM">
            <a:extLst>
              <a:ext uri="{FF2B5EF4-FFF2-40B4-BE49-F238E27FC236}">
                <a16:creationId xmlns:a16="http://schemas.microsoft.com/office/drawing/2014/main" id="{0237B524-D894-D160-C94D-9801B8989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683" r="30956"/>
          <a:stretch>
            <a:fillRect/>
          </a:stretch>
        </p:blipFill>
        <p:spPr bwMode="auto">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a:noFill/>
          <a:extLst>
            <a:ext uri="{909E8E84-426E-40DD-AFC4-6F175D3DCCD1}">
              <a14:hiddenFill xmlns:a14="http://schemas.microsoft.com/office/drawing/2010/main">
                <a:solidFill>
                  <a:srgbClr val="FFFFFF"/>
                </a:solidFill>
              </a14:hiddenFill>
            </a:ext>
          </a:extLst>
        </p:spPr>
      </p:pic>
      <p:grpSp>
        <p:nvGrpSpPr>
          <p:cNvPr id="8201" name="Group 8200">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8202"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8203"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8204"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8205"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8206"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8207"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AFD90AA1-A678-D79B-5D4C-0D0BE840A071}"/>
              </a:ext>
            </a:extLst>
          </p:cNvPr>
          <p:cNvSpPr>
            <a:spLocks noGrp="1"/>
          </p:cNvSpPr>
          <p:nvPr>
            <p:ph type="title"/>
          </p:nvPr>
        </p:nvSpPr>
        <p:spPr>
          <a:xfrm>
            <a:off x="972080" y="685800"/>
            <a:ext cx="5260680" cy="1752599"/>
          </a:xfrm>
        </p:spPr>
        <p:txBody>
          <a:bodyPr>
            <a:normAutofit/>
          </a:bodyPr>
          <a:lstStyle/>
          <a:p>
            <a:pPr algn="l"/>
            <a:r>
              <a:rPr lang="en-US" dirty="0"/>
              <a:t>Lahore Resolution (1940)</a:t>
            </a:r>
            <a:endParaRPr lang="en-US"/>
          </a:p>
        </p:txBody>
      </p:sp>
      <p:sp>
        <p:nvSpPr>
          <p:cNvPr id="3" name="Content Placeholder 2">
            <a:extLst>
              <a:ext uri="{FF2B5EF4-FFF2-40B4-BE49-F238E27FC236}">
                <a16:creationId xmlns:a16="http://schemas.microsoft.com/office/drawing/2014/main" id="{3A7F43DD-024E-473C-2A61-3A0958897E89}"/>
              </a:ext>
            </a:extLst>
          </p:cNvPr>
          <p:cNvSpPr>
            <a:spLocks noGrp="1"/>
          </p:cNvSpPr>
          <p:nvPr>
            <p:ph idx="1"/>
          </p:nvPr>
        </p:nvSpPr>
        <p:spPr>
          <a:xfrm>
            <a:off x="643468" y="2666999"/>
            <a:ext cx="5260680" cy="3124201"/>
          </a:xfrm>
        </p:spPr>
        <p:txBody>
          <a:bodyPr>
            <a:normAutofit/>
          </a:bodyPr>
          <a:lstStyle/>
          <a:p>
            <a:pPr>
              <a:lnSpc>
                <a:spcPct val="90000"/>
              </a:lnSpc>
            </a:pPr>
            <a:r>
              <a:rPr lang="en-US" sz="2000"/>
              <a:t>In March 1940, the Muslim League held an important meeting in Lahore where the historic Lahore Resolution was passed. This resolution demanded that independent states should be established in the Muslim-majority regions of the subcontinent. The Lahore Resolution later became the foundation of the demand for Pakistan and gave a clear direction to the Pakistan Movement.</a:t>
            </a:r>
          </a:p>
          <a:p>
            <a:pPr>
              <a:lnSpc>
                <a:spcPct val="90000"/>
              </a:lnSpc>
            </a:pPr>
            <a:endParaRPr lang="en-US" sz="2000"/>
          </a:p>
        </p:txBody>
      </p:sp>
    </p:spTree>
    <p:extLst>
      <p:ext uri="{BB962C8B-B14F-4D97-AF65-F5344CB8AC3E}">
        <p14:creationId xmlns:p14="http://schemas.microsoft.com/office/powerpoint/2010/main" val="806606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1199-2638-73C2-937A-FAFE3A56F57D}"/>
              </a:ext>
            </a:extLst>
          </p:cNvPr>
          <p:cNvSpPr>
            <a:spLocks noGrp="1"/>
          </p:cNvSpPr>
          <p:nvPr>
            <p:ph type="title"/>
          </p:nvPr>
        </p:nvSpPr>
        <p:spPr>
          <a:xfrm>
            <a:off x="1484311" y="685800"/>
            <a:ext cx="10018713" cy="1752599"/>
          </a:xfrm>
        </p:spPr>
        <p:txBody>
          <a:bodyPr>
            <a:normAutofit/>
          </a:bodyPr>
          <a:lstStyle/>
          <a:p>
            <a:r>
              <a:rPr lang="en-US" dirty="0"/>
              <a:t>Role in Pakistan Movement</a:t>
            </a:r>
          </a:p>
        </p:txBody>
      </p:sp>
      <p:pic>
        <p:nvPicPr>
          <p:cNvPr id="9218" name="Picture 2" descr="10 leaders who played pivotal roles in Pakistan Movement">
            <a:extLst>
              <a:ext uri="{FF2B5EF4-FFF2-40B4-BE49-F238E27FC236}">
                <a16:creationId xmlns:a16="http://schemas.microsoft.com/office/drawing/2014/main" id="{7B1D48C6-E439-E071-54EE-73402E7BB1E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52155" y="3292243"/>
            <a:ext cx="3959211" cy="1949911"/>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E3AB57A-CA5E-A243-6878-51AF3506630B}"/>
              </a:ext>
            </a:extLst>
          </p:cNvPr>
          <p:cNvSpPr>
            <a:spLocks noGrp="1"/>
          </p:cNvSpPr>
          <p:nvPr>
            <p:ph idx="1"/>
          </p:nvPr>
        </p:nvSpPr>
        <p:spPr>
          <a:xfrm>
            <a:off x="6016336" y="2666999"/>
            <a:ext cx="5486687" cy="3124201"/>
          </a:xfrm>
        </p:spPr>
        <p:txBody>
          <a:bodyPr anchor="t">
            <a:normAutofit/>
          </a:bodyPr>
          <a:lstStyle/>
          <a:p>
            <a:r>
              <a:rPr lang="en-US" sz="2200"/>
              <a:t>The Muslim League played a central role in organizing and leading the Pakistan Movement. It mobilized Muslims across the subcontinent and created political awareness about the need for a separate homeland. Through meetings, speeches, political campaigns, and negotiations with the British government, the Muslim League strengthened the demand for Pakistan.</a:t>
            </a:r>
          </a:p>
        </p:txBody>
      </p:sp>
    </p:spTree>
    <p:extLst>
      <p:ext uri="{BB962C8B-B14F-4D97-AF65-F5344CB8AC3E}">
        <p14:creationId xmlns:p14="http://schemas.microsoft.com/office/powerpoint/2010/main" val="3539690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49" name="Group 10248">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10250"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3">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251"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3">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53" name="Group 10252">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10254"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0255"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256"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0257"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0258"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0259"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80EC7364-E9D6-7A74-51C0-1B35C629D26C}"/>
              </a:ext>
            </a:extLst>
          </p:cNvPr>
          <p:cNvSpPr>
            <a:spLocks noGrp="1"/>
          </p:cNvSpPr>
          <p:nvPr>
            <p:ph type="title"/>
          </p:nvPr>
        </p:nvSpPr>
        <p:spPr>
          <a:xfrm>
            <a:off x="3962399" y="685800"/>
            <a:ext cx="7345891" cy="1413933"/>
          </a:xfrm>
        </p:spPr>
        <p:txBody>
          <a:bodyPr>
            <a:normAutofit/>
          </a:bodyPr>
          <a:lstStyle/>
          <a:p>
            <a:r>
              <a:rPr lang="en-US" dirty="0"/>
              <a:t>Creation of Pakistan</a:t>
            </a:r>
          </a:p>
        </p:txBody>
      </p:sp>
      <p:pic>
        <p:nvPicPr>
          <p:cNvPr id="10242" name="Picture 2" descr="muhammad ali, pakistan zindabad ...">
            <a:extLst>
              <a:ext uri="{FF2B5EF4-FFF2-40B4-BE49-F238E27FC236}">
                <a16:creationId xmlns:a16="http://schemas.microsoft.com/office/drawing/2014/main" id="{4310D7C2-4020-076B-72F2-757F4065FD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3187" r="14255" b="-2"/>
          <a:stretch>
            <a:fillRect/>
          </a:stretch>
        </p:blipFill>
        <p:spPr bwMode="auto">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noFill/>
          <a:ln w="38100">
            <a:noFill/>
          </a:ln>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BFCA2BA-4CB4-1835-0524-223628BF8A98}"/>
              </a:ext>
            </a:extLst>
          </p:cNvPr>
          <p:cNvSpPr>
            <a:spLocks noGrp="1"/>
          </p:cNvSpPr>
          <p:nvPr>
            <p:ph idx="1"/>
          </p:nvPr>
        </p:nvSpPr>
        <p:spPr>
          <a:xfrm>
            <a:off x="3843867" y="2048933"/>
            <a:ext cx="7659156" cy="3742267"/>
          </a:xfrm>
        </p:spPr>
        <p:txBody>
          <a:bodyPr>
            <a:normAutofit/>
          </a:bodyPr>
          <a:lstStyle/>
          <a:p>
            <a:r>
              <a:rPr lang="en-US" dirty="0"/>
              <a:t>After many years of political struggle, negotiations, and sacrifices, the dream of a separate Muslim state finally became a reality. On 14 August 1947, Pakistan was created as an independent country for Muslims of the subcontinent. The Muslim League successfully achieved its goal and became the driving force behind the establishment of Pakistan.</a:t>
            </a:r>
          </a:p>
        </p:txBody>
      </p:sp>
    </p:spTree>
    <p:extLst>
      <p:ext uri="{BB962C8B-B14F-4D97-AF65-F5344CB8AC3E}">
        <p14:creationId xmlns:p14="http://schemas.microsoft.com/office/powerpoint/2010/main" val="2153687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Facts About The Muslim League You Should Know">
            <a:extLst>
              <a:ext uri="{FF2B5EF4-FFF2-40B4-BE49-F238E27FC236}">
                <a16:creationId xmlns:a16="http://schemas.microsoft.com/office/drawing/2014/main" id="{304D6402-9D52-B0D3-52AA-DA7CF5EFA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483" r="33224"/>
          <a:stretch>
            <a:fillRect/>
          </a:stretch>
        </p:blipFill>
        <p:spPr bwMode="auto">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a:noFill/>
          <a:extLst>
            <a:ext uri="{909E8E84-426E-40DD-AFC4-6F175D3DCCD1}">
              <a14:hiddenFill xmlns:a14="http://schemas.microsoft.com/office/drawing/2010/main">
                <a:solidFill>
                  <a:srgbClr val="FFFFFF"/>
                </a:solidFill>
              </a14:hiddenFill>
            </a:ext>
          </a:extLst>
        </p:spPr>
      </p:pic>
      <p:grpSp>
        <p:nvGrpSpPr>
          <p:cNvPr id="11273" name="Group 11272">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11274"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1275"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1276"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277"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1278"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1279"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D28808AA-443A-5534-FDB9-6472358E0B1C}"/>
              </a:ext>
            </a:extLst>
          </p:cNvPr>
          <p:cNvSpPr>
            <a:spLocks noGrp="1"/>
          </p:cNvSpPr>
          <p:nvPr>
            <p:ph type="title"/>
          </p:nvPr>
        </p:nvSpPr>
        <p:spPr>
          <a:xfrm>
            <a:off x="972080" y="685800"/>
            <a:ext cx="5260680" cy="1752599"/>
          </a:xfrm>
        </p:spPr>
        <p:txBody>
          <a:bodyPr>
            <a:normAutofit/>
          </a:bodyPr>
          <a:lstStyle/>
          <a:p>
            <a:pPr algn="l"/>
            <a:r>
              <a:rPr lang="en-US" dirty="0"/>
              <a:t>Historical Significance</a:t>
            </a:r>
            <a:endParaRPr lang="en-US"/>
          </a:p>
        </p:txBody>
      </p:sp>
      <p:sp>
        <p:nvSpPr>
          <p:cNvPr id="3" name="Content Placeholder 2">
            <a:extLst>
              <a:ext uri="{FF2B5EF4-FFF2-40B4-BE49-F238E27FC236}">
                <a16:creationId xmlns:a16="http://schemas.microsoft.com/office/drawing/2014/main" id="{05626280-8088-7015-1A28-85A281625832}"/>
              </a:ext>
            </a:extLst>
          </p:cNvPr>
          <p:cNvSpPr>
            <a:spLocks noGrp="1"/>
          </p:cNvSpPr>
          <p:nvPr>
            <p:ph idx="1"/>
          </p:nvPr>
        </p:nvSpPr>
        <p:spPr>
          <a:xfrm>
            <a:off x="643468" y="2666999"/>
            <a:ext cx="5260680" cy="3124201"/>
          </a:xfrm>
        </p:spPr>
        <p:txBody>
          <a:bodyPr>
            <a:normAutofit/>
          </a:bodyPr>
          <a:lstStyle/>
          <a:p>
            <a:r>
              <a:rPr lang="en-US" sz="2000"/>
              <a:t>The efforts of the Muslim League changed the political history of South Asia. It provided Muslims with a strong political identity and united them under one leadership. The party's role in shaping the Pakistan Movement is considered one of the most significant political achievements in the history of the region.</a:t>
            </a:r>
          </a:p>
        </p:txBody>
      </p:sp>
    </p:spTree>
    <p:extLst>
      <p:ext uri="{BB962C8B-B14F-4D97-AF65-F5344CB8AC3E}">
        <p14:creationId xmlns:p14="http://schemas.microsoft.com/office/powerpoint/2010/main" val="166676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sp useBgFill="1">
        <p:nvSpPr>
          <p:cNvPr id="10" name="Freeform: Shape 9">
            <a:extLst>
              <a:ext uri="{FF2B5EF4-FFF2-40B4-BE49-F238E27FC236}">
                <a16:creationId xmlns:a16="http://schemas.microsoft.com/office/drawing/2014/main" id="{B1BDB70B-F0E6-4867-818F-C582494FB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7083" y="0"/>
            <a:ext cx="11134917" cy="6858000"/>
          </a:xfrm>
          <a:custGeom>
            <a:avLst/>
            <a:gdLst>
              <a:gd name="connsiteX0" fmla="*/ 7627977 w 11134917"/>
              <a:gd name="connsiteY0" fmla="*/ 0 h 6858000"/>
              <a:gd name="connsiteX1" fmla="*/ 8129873 w 11134917"/>
              <a:gd name="connsiteY1" fmla="*/ 0 h 6858000"/>
              <a:gd name="connsiteX2" fmla="*/ 11134917 w 11134917"/>
              <a:gd name="connsiteY2" fmla="*/ 0 h 6858000"/>
              <a:gd name="connsiteX3" fmla="*/ 11134917 w 11134917"/>
              <a:gd name="connsiteY3" fmla="*/ 6858000 h 6858000"/>
              <a:gd name="connsiteX4" fmla="*/ 8129873 w 11134917"/>
              <a:gd name="connsiteY4" fmla="*/ 6858000 h 6858000"/>
              <a:gd name="connsiteX5" fmla="*/ 7627977 w 11134917"/>
              <a:gd name="connsiteY5" fmla="*/ 6858000 h 6858000"/>
              <a:gd name="connsiteX6" fmla="*/ 7627977 w 11134917"/>
              <a:gd name="connsiteY6" fmla="*/ 6857419 h 6858000"/>
              <a:gd name="connsiteX7" fmla="*/ 1921931 w 11134917"/>
              <a:gd name="connsiteY7" fmla="*/ 6850814 h 6858000"/>
              <a:gd name="connsiteX8" fmla="*/ 0 w 11134917"/>
              <a:gd name="connsiteY8" fmla="*/ 5325357 h 6858000"/>
              <a:gd name="connsiteX9" fmla="*/ 838199 w 11134917"/>
              <a:gd name="connsiteY9" fmla="*/ 7331 h 6858000"/>
              <a:gd name="connsiteX10" fmla="*/ 7627977 w 11134917"/>
              <a:gd name="connsiteY10" fmla="*/ 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34917" h="6858000">
                <a:moveTo>
                  <a:pt x="7627977" y="0"/>
                </a:moveTo>
                <a:lnTo>
                  <a:pt x="8129873" y="0"/>
                </a:lnTo>
                <a:lnTo>
                  <a:pt x="11134917" y="0"/>
                </a:lnTo>
                <a:lnTo>
                  <a:pt x="11134917" y="6858000"/>
                </a:lnTo>
                <a:lnTo>
                  <a:pt x="8129873" y="6858000"/>
                </a:lnTo>
                <a:lnTo>
                  <a:pt x="7627977" y="6858000"/>
                </a:lnTo>
                <a:lnTo>
                  <a:pt x="7627977" y="6857419"/>
                </a:lnTo>
                <a:lnTo>
                  <a:pt x="1921931" y="6850814"/>
                </a:lnTo>
                <a:lnTo>
                  <a:pt x="0" y="5325357"/>
                </a:lnTo>
                <a:lnTo>
                  <a:pt x="838199" y="7331"/>
                </a:lnTo>
                <a:lnTo>
                  <a:pt x="7627977" y="50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1E52C707-F508-47B5-8864-8CC3EE0F0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025" y="0"/>
            <a:ext cx="2436813" cy="6858001"/>
            <a:chOff x="1320800" y="0"/>
            <a:chExt cx="2436813" cy="6858001"/>
          </a:xfrm>
        </p:grpSpPr>
        <p:sp>
          <p:nvSpPr>
            <p:cNvPr id="24" name="Freeform 6">
              <a:extLst>
                <a:ext uri="{FF2B5EF4-FFF2-40B4-BE49-F238E27FC236}">
                  <a16:creationId xmlns:a16="http://schemas.microsoft.com/office/drawing/2014/main" id="{066B5DD9-1C9B-4957-AF7C-8E11C7E88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4" name="Freeform 7">
              <a:extLst>
                <a:ext uri="{FF2B5EF4-FFF2-40B4-BE49-F238E27FC236}">
                  <a16:creationId xmlns:a16="http://schemas.microsoft.com/office/drawing/2014/main" id="{8DF9D480-2CEE-4037-8C1B-638068630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5" name="Freeform 8">
              <a:extLst>
                <a:ext uri="{FF2B5EF4-FFF2-40B4-BE49-F238E27FC236}">
                  <a16:creationId xmlns:a16="http://schemas.microsoft.com/office/drawing/2014/main" id="{EBF6F7B8-E51D-495D-B944-B8E2E84C5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6" name="Freeform 9">
              <a:extLst>
                <a:ext uri="{FF2B5EF4-FFF2-40B4-BE49-F238E27FC236}">
                  <a16:creationId xmlns:a16="http://schemas.microsoft.com/office/drawing/2014/main" id="{F43BB0F7-F9F4-4CFA-9277-2B671DC70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7" name="Freeform 10">
              <a:extLst>
                <a:ext uri="{FF2B5EF4-FFF2-40B4-BE49-F238E27FC236}">
                  <a16:creationId xmlns:a16="http://schemas.microsoft.com/office/drawing/2014/main" id="{D51F18A6-D926-4462-B110-63097184F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8" name="Freeform 11">
              <a:extLst>
                <a:ext uri="{FF2B5EF4-FFF2-40B4-BE49-F238E27FC236}">
                  <a16:creationId xmlns:a16="http://schemas.microsoft.com/office/drawing/2014/main" id="{ED77B4F5-55D8-444A-9EFF-CAAA8CD69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A9402944-7D18-0A32-78E2-322F6B07AA09}"/>
              </a:ext>
            </a:extLst>
          </p:cNvPr>
          <p:cNvSpPr>
            <a:spLocks noGrp="1"/>
          </p:cNvSpPr>
          <p:nvPr>
            <p:ph type="title"/>
          </p:nvPr>
        </p:nvSpPr>
        <p:spPr>
          <a:xfrm>
            <a:off x="1836013" y="1072609"/>
            <a:ext cx="3041557" cy="4522647"/>
          </a:xfrm>
          <a:effectLst/>
        </p:spPr>
        <p:txBody>
          <a:bodyPr anchor="ctr">
            <a:normAutofit/>
          </a:bodyPr>
          <a:lstStyle/>
          <a:p>
            <a:pPr algn="l"/>
            <a:r>
              <a:rPr lang="en-US" sz="3200" b="1">
                <a:solidFill>
                  <a:schemeClr val="tx2"/>
                </a:solidFill>
              </a:rPr>
              <a:t>Conclusion</a:t>
            </a:r>
            <a:br>
              <a:rPr lang="en-US" sz="3200" b="1">
                <a:solidFill>
                  <a:schemeClr val="tx2"/>
                </a:solidFill>
              </a:rPr>
            </a:br>
            <a:endParaRPr lang="en-US" sz="3200">
              <a:solidFill>
                <a:schemeClr val="tx2"/>
              </a:solidFill>
            </a:endParaRPr>
          </a:p>
        </p:txBody>
      </p:sp>
      <p:sp>
        <p:nvSpPr>
          <p:cNvPr id="3" name="Content Placeholder 2">
            <a:extLst>
              <a:ext uri="{FF2B5EF4-FFF2-40B4-BE49-F238E27FC236}">
                <a16:creationId xmlns:a16="http://schemas.microsoft.com/office/drawing/2014/main" id="{2F136FC8-5031-B7CF-E50B-A700E5503A56}"/>
              </a:ext>
            </a:extLst>
          </p:cNvPr>
          <p:cNvSpPr>
            <a:spLocks noGrp="1"/>
          </p:cNvSpPr>
          <p:nvPr>
            <p:ph idx="1"/>
          </p:nvPr>
        </p:nvSpPr>
        <p:spPr>
          <a:xfrm>
            <a:off x="5149032" y="1072609"/>
            <a:ext cx="6383207" cy="4522647"/>
          </a:xfrm>
        </p:spPr>
        <p:txBody>
          <a:bodyPr anchor="ctr">
            <a:normAutofit/>
          </a:bodyPr>
          <a:lstStyle/>
          <a:p>
            <a:r>
              <a:rPr lang="en-US" sz="2000" dirty="0"/>
              <a:t>In conclusion, the All India Muslim League played a vital and historic role in the creation of Pakistan. Through political leadership, unity among Muslims, and continuous struggle, the Muslim League succeeded in achieving a separate homeland for Muslims. Its contributions remain an important part of Pakistan's national history.</a:t>
            </a:r>
          </a:p>
        </p:txBody>
      </p:sp>
    </p:spTree>
    <p:extLst>
      <p:ext uri="{BB962C8B-B14F-4D97-AF65-F5344CB8AC3E}">
        <p14:creationId xmlns:p14="http://schemas.microsoft.com/office/powerpoint/2010/main" val="3800310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706FC-5B14-BEAE-EDB4-0A22112F6577}"/>
              </a:ext>
            </a:extLst>
          </p:cNvPr>
          <p:cNvSpPr>
            <a:spLocks noGrp="1"/>
          </p:cNvSpPr>
          <p:nvPr>
            <p:ph type="title"/>
          </p:nvPr>
        </p:nvSpPr>
        <p:spPr>
          <a:xfrm>
            <a:off x="1350199" y="1392936"/>
            <a:ext cx="10018713" cy="1752599"/>
          </a:xfrm>
        </p:spPr>
        <p:txBody>
          <a:bodyPr/>
          <a:lstStyle/>
          <a:p>
            <a:r>
              <a:rPr lang="en-US" b="1" dirty="0"/>
              <a:t>Thank You!</a:t>
            </a:r>
          </a:p>
        </p:txBody>
      </p:sp>
      <p:sp>
        <p:nvSpPr>
          <p:cNvPr id="3" name="Content Placeholder 2">
            <a:extLst>
              <a:ext uri="{FF2B5EF4-FFF2-40B4-BE49-F238E27FC236}">
                <a16:creationId xmlns:a16="http://schemas.microsoft.com/office/drawing/2014/main" id="{E799D9B0-6433-CC28-17DE-9FA0CB7CB21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789340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Parallax</Template>
  <TotalTime>28</TotalTime>
  <Words>871</Words>
  <Application>Microsoft Office PowerPoint</Application>
  <PresentationFormat>Widescreen</PresentationFormat>
  <Paragraphs>37</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Corbel</vt:lpstr>
      <vt:lpstr>Parallax</vt:lpstr>
      <vt:lpstr>Dawood University of Engineering and Technology</vt:lpstr>
      <vt:lpstr>Introduction</vt:lpstr>
      <vt:lpstr>Formation of All India Muslim League</vt:lpstr>
      <vt:lpstr>Objectives of Muslim League</vt:lpstr>
      <vt:lpstr>Early Struggles </vt:lpstr>
      <vt:lpstr>Leadership of Muhammad Ali Jinnah</vt:lpstr>
      <vt:lpstr>Allama Iqbal's Vision for Muslims</vt:lpstr>
      <vt:lpstr>Allahabad Address (1930)</vt:lpstr>
      <vt:lpstr>Lahore Resolution (1940)</vt:lpstr>
      <vt:lpstr>Role in Pakistan Movement</vt:lpstr>
      <vt:lpstr>Creation of Pakistan</vt:lpstr>
      <vt:lpstr>Historical Significance</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Mubeen Ul Haq</dc:creator>
  <cp:lastModifiedBy>Mubeen Ul Haq</cp:lastModifiedBy>
  <cp:revision>1</cp:revision>
  <dcterms:created xsi:type="dcterms:W3CDTF">2026-03-15T11:27:28Z</dcterms:created>
  <dcterms:modified xsi:type="dcterms:W3CDTF">2026-03-15T11:55:41Z</dcterms:modified>
</cp:coreProperties>
</file>