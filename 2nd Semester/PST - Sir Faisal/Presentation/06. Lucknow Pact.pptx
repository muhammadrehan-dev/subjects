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9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0752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6000"/>
            <a:lum/>
          </a:blip>
          <a:srcRect/>
          <a:stretch>
            <a:fillRect t="-83000" b="-8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Panel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3" name="GoldStripe"/>
          <p:cNvSpPr/>
          <p:nvPr/>
        </p:nvSpPr>
        <p:spPr>
          <a:xfrm>
            <a:off x="3200400" y="0"/>
            <a:ext cx="57150" cy="5143500"/>
          </a:xfrm>
          <a:prstGeom prst="rect">
            <a:avLst/>
          </a:prstGeom>
          <a:solidFill>
            <a:srgbClr val="C9913A"/>
          </a:solidFill>
          <a:ln>
            <a:noFill/>
          </a:ln>
        </p:spPr>
      </p:sp>
      <p:pic>
        <p:nvPicPr>
          <p:cNvPr id="20" name="DUETLogo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Diffused/>
                    </a14:imgEffect>
                    <a14:imgEffect>
                      <a14:sharpenSoften amount="-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3000" y="228600"/>
            <a:ext cx="914400" cy="762000"/>
          </a:xfrm>
          <a:prstGeom prst="rect">
            <a:avLst/>
          </a:prstGeom>
        </p:spPr>
      </p:pic>
      <p:sp>
        <p:nvSpPr>
          <p:cNvPr id="4" name="UnivName"/>
          <p:cNvSpPr/>
          <p:nvPr/>
        </p:nvSpPr>
        <p:spPr>
          <a:xfrm>
            <a:off x="114300" y="11430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DAWOOD UNIVERSITY OF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ENGINEERING &amp; TECHNOLOGY</a:t>
            </a:r>
          </a:p>
        </p:txBody>
      </p:sp>
      <p:sp>
        <p:nvSpPr>
          <p:cNvPr id="5" name="Div"/>
          <p:cNvSpPr/>
          <p:nvPr/>
        </p:nvSpPr>
        <p:spPr>
          <a:xfrm>
            <a:off x="457200" y="1676400"/>
            <a:ext cx="2286000" cy="19050"/>
          </a:xfrm>
          <a:prstGeom prst="rect">
            <a:avLst/>
          </a:prstGeom>
          <a:solidFill>
            <a:srgbClr val="C9913A"/>
          </a:solidFill>
          <a:ln>
            <a:noFill/>
          </a:ln>
        </p:spPr>
      </p:sp>
      <p:sp>
        <p:nvSpPr>
          <p:cNvPr id="6" name="MetaInfo"/>
          <p:cNvSpPr/>
          <p:nvPr/>
        </p:nvSpPr>
        <p:spPr>
          <a:xfrm>
            <a:off x="114300" y="1752600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>
              <a:buNone/>
            </a:pPr>
            <a:r>
              <a:rPr lang="en-US" sz="1200" b="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/>
              </a:rPr>
              <a:t>Subject: Pakistan Studies</a:t>
            </a:r>
          </a:p>
          <a:p>
            <a:pPr algn="ctr">
              <a:buNone/>
            </a:pPr>
            <a:r>
              <a:rPr lang="en-US" sz="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</a:p>
          <a:p>
            <a:pPr algn="ctr">
              <a:buNone/>
            </a:pPr>
            <a:r>
              <a:rPr lang="en-US" sz="12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/>
              </a:rPr>
              <a:t>Teacher: Faisal Charan</a:t>
            </a:r>
          </a:p>
          <a:p>
            <a:pPr algn="ctr">
              <a:buNone/>
            </a:pPr>
            <a:r>
              <a:rPr lang="en-US" sz="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</a:p>
          <a:p>
            <a:pPr algn="ctr">
              <a:buNone/>
            </a:pPr>
            <a:r>
              <a:rPr lang="en-US" sz="12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/>
              </a:rPr>
              <a:t>Section: A2  |  BS Cyber Security</a:t>
            </a:r>
            <a:endParaRPr lang="en-US" sz="1050" dirty="0">
              <a:solidFill>
                <a:schemeClr val="accent6">
                  <a:lumMod val="20000"/>
                  <a:lumOff val="80000"/>
                </a:schemeClr>
              </a:solidFill>
              <a:latin typeface="Calibri"/>
            </a:endParaRPr>
          </a:p>
        </p:txBody>
      </p:sp>
      <p:sp>
        <p:nvSpPr>
          <p:cNvPr id="7" name="PrepBy"/>
          <p:cNvSpPr/>
          <p:nvPr/>
        </p:nvSpPr>
        <p:spPr>
          <a:xfrm>
            <a:off x="114300" y="3200400"/>
            <a:ext cx="2971800" cy="1600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>
              <a:buNone/>
            </a:pPr>
            <a:r>
              <a:rPr lang="en-US" sz="1200" b="1" dirty="0">
                <a:solidFill>
                  <a:srgbClr val="C9913A"/>
                </a:solidFill>
                <a:latin typeface="Calibri"/>
              </a:rPr>
              <a:t>Prepared by:</a:t>
            </a:r>
          </a:p>
          <a:p>
            <a:pPr algn="ctr">
              <a:buNone/>
            </a:pPr>
            <a:r>
              <a:rPr lang="en-US" sz="600" dirty="0">
                <a:solidFill>
                  <a:srgbClr val="FFFFFF"/>
                </a:solidFill>
              </a:rPr>
              <a:t> 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>Asiya Shoaib (25F-CY-072)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>Syeada Fatima Numrah (25F-CY-056)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>Amna Muskan (25F-CY-109)</a:t>
            </a:r>
            <a:endParaRPr lang="en-US" sz="95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MainTitle"/>
          <p:cNvSpPr/>
          <p:nvPr/>
        </p:nvSpPr>
        <p:spPr>
          <a:xfrm>
            <a:off x="3428550" y="1371600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0" dirty="0">
                <a:solidFill>
                  <a:srgbClr val="C9913A"/>
                </a:solidFill>
                <a:latin typeface="Calibri"/>
              </a:rPr>
              <a:t>Pakistan Studies Presentation</a:t>
            </a:r>
          </a:p>
        </p:txBody>
      </p:sp>
      <p:sp>
        <p:nvSpPr>
          <p:cNvPr id="9" name="PactTitle"/>
          <p:cNvSpPr/>
          <p:nvPr/>
        </p:nvSpPr>
        <p:spPr>
          <a:xfrm>
            <a:off x="3428550" y="2057400"/>
            <a:ext cx="5486400" cy="1143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4332"/>
                </a:solidFill>
                <a:latin typeface="Calibri"/>
              </a:rPr>
              <a:t>Lucknow Pact</a:t>
            </a:r>
          </a:p>
        </p:txBody>
      </p:sp>
      <p:sp>
        <p:nvSpPr>
          <p:cNvPr id="10" name="YearBadge"/>
          <p:cNvSpPr/>
          <p:nvPr/>
        </p:nvSpPr>
        <p:spPr>
          <a:xfrm>
            <a:off x="3428550" y="320040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C9913A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/>
              </a:rPr>
              <a:t>1916</a:t>
            </a:r>
          </a:p>
        </p:txBody>
      </p:sp>
      <p:sp>
        <p:nvSpPr>
          <p:cNvPr id="900" name="FooterBg"/>
          <p:cNvSpPr/>
          <p:nvPr/>
        </p:nvSpPr>
        <p:spPr>
          <a:xfrm>
            <a:off x="0" y="4937040"/>
            <a:ext cx="9144000" cy="206208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1" name="FooterText"/>
          <p:cNvSpPr/>
          <p:nvPr/>
        </p:nvSpPr>
        <p:spPr>
          <a:xfrm>
            <a:off x="274320" y="4937040"/>
            <a:ext cx="8595360" cy="20620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Pakistan Studies  |  DUET  |  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D2146F-2B79-7926-C2B2-565619264277}"/>
              </a:ext>
            </a:extLst>
          </p:cNvPr>
          <p:cNvSpPr txBox="1"/>
          <p:nvPr/>
        </p:nvSpPr>
        <p:spPr>
          <a:xfrm>
            <a:off x="1371600" y="4654296"/>
            <a:ext cx="7219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Page No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HeaderBg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4" name="HeaderTitle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Index</a:t>
            </a:r>
          </a:p>
        </p:txBody>
      </p:sp>
      <p:sp>
        <p:nvSpPr>
          <p:cNvPr id="902" name="AccentLine"/>
          <p:cNvSpPr/>
          <p:nvPr/>
        </p:nvSpPr>
        <p:spPr>
          <a:xfrm>
            <a:off x="0" y="640080"/>
            <a:ext cx="9144000" cy="38100"/>
          </a:xfrm>
          <a:prstGeom prst="rect">
            <a:avLst/>
          </a:prstGeom>
          <a:solidFill>
            <a:srgbClr val="C9913A"/>
          </a:solidFill>
          <a:ln>
            <a:noFill/>
          </a:ln>
        </p:spPr>
      </p:sp>
      <p:sp>
        <p:nvSpPr>
          <p:cNvPr id="900" name="FooterBg"/>
          <p:cNvSpPr/>
          <p:nvPr/>
        </p:nvSpPr>
        <p:spPr>
          <a:xfrm>
            <a:off x="0" y="4937040"/>
            <a:ext cx="9144000" cy="206208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1" name="FooterText"/>
          <p:cNvSpPr/>
          <p:nvPr/>
        </p:nvSpPr>
        <p:spPr>
          <a:xfrm>
            <a:off x="274320" y="4937040"/>
            <a:ext cx="8595360" cy="20620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Lucknow Pact 1916  |  Pakistan Studies  |  DUET – BS Cyber Security</a:t>
            </a:r>
          </a:p>
        </p:txBody>
      </p:sp>
      <p:sp>
        <p:nvSpPr>
          <p:cNvPr id="5" name="Col1"/>
          <p:cNvSpPr/>
          <p:nvPr/>
        </p:nvSpPr>
        <p:spPr>
          <a:xfrm>
            <a:off x="274320" y="730000"/>
            <a:ext cx="4267200" cy="41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>
              <a:spcBef>
                <a:spcPts val="350"/>
              </a:spcBef>
              <a:buNone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1.  Introduction</a:t>
            </a:r>
          </a:p>
          <a:p>
            <a:pPr marL="0" indent="0">
              <a:spcBef>
                <a:spcPts val="350"/>
              </a:spcBef>
              <a:buNone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2.  Background of INC &amp; AIML</a:t>
            </a:r>
          </a:p>
          <a:p>
            <a:pPr marL="0" indent="0">
              <a:spcBef>
                <a:spcPts val="350"/>
              </a:spcBef>
              <a:buNone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3.  Key Leaders — Role, Methods &amp; Reasons</a:t>
            </a:r>
          </a:p>
          <a:p>
            <a:pPr marL="0" indent="0">
              <a:spcBef>
                <a:spcPts val="350"/>
              </a:spcBef>
              <a:buNone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4.  Need for the Lucknow Pact</a:t>
            </a:r>
          </a:p>
          <a:p>
            <a:pPr marL="0" indent="0">
              <a:spcBef>
                <a:spcPts val="350"/>
              </a:spcBef>
              <a:buNone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5.  Place, Year &amp; Parties Involved</a:t>
            </a:r>
          </a:p>
          <a:p>
            <a:pPr marL="0" indent="0">
              <a:spcBef>
                <a:spcPts val="350"/>
              </a:spcBef>
              <a:buNone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6.  Terms Accepted by Congress (INC)</a:t>
            </a:r>
          </a:p>
          <a:p>
            <a:pPr marL="0" indent="0">
              <a:spcBef>
                <a:spcPts val="350"/>
              </a:spcBef>
              <a:buNone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7.  Terms Accepted by Muslim League (AIML)</a:t>
            </a:r>
            <a:endParaRPr lang="en-US" sz="130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6" name="Divider"/>
          <p:cNvSpPr/>
          <p:nvPr/>
        </p:nvSpPr>
        <p:spPr>
          <a:xfrm>
            <a:off x="4609260" y="800000"/>
            <a:ext cx="19050" cy="3900000"/>
          </a:xfrm>
          <a:prstGeom prst="rect">
            <a:avLst/>
          </a:prstGeom>
          <a:solidFill>
            <a:srgbClr val="C9913A"/>
          </a:solidFill>
          <a:ln>
            <a:noFill/>
          </a:ln>
        </p:spPr>
      </p:sp>
      <p:sp>
        <p:nvSpPr>
          <p:cNvPr id="7" name="Col2"/>
          <p:cNvSpPr/>
          <p:nvPr/>
        </p:nvSpPr>
        <p:spPr>
          <a:xfrm>
            <a:off x="4723560" y="730000"/>
            <a:ext cx="4267200" cy="41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>
              <a:spcBef>
                <a:spcPts val="350"/>
              </a:spcBef>
              <a:buNone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8.  Speeches &amp; Reactions</a:t>
            </a:r>
          </a:p>
          <a:p>
            <a:pPr marL="0" indent="0">
              <a:spcBef>
                <a:spcPts val="350"/>
              </a:spcBef>
              <a:buNone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9.  Importance of the Pact</a:t>
            </a:r>
          </a:p>
          <a:p>
            <a:pPr marL="0" indent="0">
              <a:spcBef>
                <a:spcPts val="350"/>
              </a:spcBef>
              <a:buNone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10. Impact &amp; Results</a:t>
            </a:r>
          </a:p>
          <a:p>
            <a:pPr marL="0" indent="0">
              <a:spcBef>
                <a:spcPts val="350"/>
              </a:spcBef>
              <a:buNone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11. Weaknesses of the Pact</a:t>
            </a:r>
          </a:p>
          <a:p>
            <a:pPr marL="0" indent="0">
              <a:spcBef>
                <a:spcPts val="350"/>
              </a:spcBef>
              <a:buNone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12. End of Hindu–Muslim Unity</a:t>
            </a:r>
          </a:p>
          <a:p>
            <a:pPr marL="0" indent="0">
              <a:spcBef>
                <a:spcPts val="350"/>
              </a:spcBef>
              <a:buNone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13. Quaid-e-Azam &amp; Other Movements</a:t>
            </a:r>
          </a:p>
          <a:p>
            <a:pPr marL="0" indent="0">
              <a:spcBef>
                <a:spcPts val="350"/>
              </a:spcBef>
              <a:buNone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14. Conclusion</a:t>
            </a:r>
          </a:p>
        </p:txBody>
      </p:sp>
      <p:pic>
        <p:nvPicPr>
          <p:cNvPr id="810" name="DUET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968" y="4314220"/>
            <a:ext cx="865346" cy="5257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87DBA8-201C-9A27-A872-945535D5D60C}"/>
              </a:ext>
            </a:extLst>
          </p:cNvPr>
          <p:cNvSpPr txBox="1"/>
          <p:nvPr/>
        </p:nvSpPr>
        <p:spPr>
          <a:xfrm>
            <a:off x="1371600" y="4654296"/>
            <a:ext cx="7219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Page No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HeaderBg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4" name="HeaderTitle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902" name="AccentLine"/>
          <p:cNvSpPr/>
          <p:nvPr/>
        </p:nvSpPr>
        <p:spPr>
          <a:xfrm>
            <a:off x="0" y="640080"/>
            <a:ext cx="9144000" cy="38100"/>
          </a:xfrm>
          <a:prstGeom prst="rect">
            <a:avLst/>
          </a:prstGeom>
          <a:solidFill>
            <a:srgbClr val="C9913A"/>
          </a:solidFill>
          <a:ln>
            <a:noFill/>
          </a:ln>
        </p:spPr>
      </p:sp>
      <p:sp>
        <p:nvSpPr>
          <p:cNvPr id="900" name="FooterBg"/>
          <p:cNvSpPr/>
          <p:nvPr/>
        </p:nvSpPr>
        <p:spPr>
          <a:xfrm>
            <a:off x="0" y="4937040"/>
            <a:ext cx="9144000" cy="206208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1" name="FooterText"/>
          <p:cNvSpPr/>
          <p:nvPr/>
        </p:nvSpPr>
        <p:spPr>
          <a:xfrm>
            <a:off x="274320" y="4937040"/>
            <a:ext cx="8595360" cy="20620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Lucknow Pact 1916  |  Pakistan Studies  |  DUET – BS Cyber Security</a:t>
            </a:r>
          </a:p>
        </p:txBody>
      </p:sp>
      <p:sp>
        <p:nvSpPr>
          <p:cNvPr id="5" name="ContentText"/>
          <p:cNvSpPr/>
          <p:nvPr/>
        </p:nvSpPr>
        <p:spPr>
          <a:xfrm>
            <a:off x="274320" y="730000"/>
            <a:ext cx="8595360" cy="41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600" b="1" dirty="0">
                <a:solidFill>
                  <a:srgbClr val="1A1A1A"/>
                </a:solidFill>
                <a:latin typeface="Calibri"/>
              </a:rPr>
              <a:t>The Lucknow Pact of 1916 was a historic political agreement between the Indian National Congress (INC) and the All-India Muslim League (AIML).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600" b="1" dirty="0">
                <a:solidFill>
                  <a:srgbClr val="1A1A1A"/>
                </a:solidFill>
                <a:latin typeface="Calibri"/>
              </a:rPr>
              <a:t>It was the first time both major parties of British India came together on a common platform to demand constitutional reforms.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600" b="1" dirty="0">
                <a:solidFill>
                  <a:srgbClr val="1A1A1A"/>
                </a:solidFill>
                <a:latin typeface="Calibri"/>
              </a:rPr>
              <a:t>The Pact formally recognised Muslims as a distinct political community with constitutional rights and guaranteed representation.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600" b="1" dirty="0">
                <a:solidFill>
                  <a:srgbClr val="1A1A1A"/>
                </a:solidFill>
                <a:latin typeface="Calibri"/>
              </a:rPr>
              <a:t>It is remembered as a powerful symbol of Hindu–Muslim unity during the Indian freedom struggle.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600" b="1" dirty="0">
                <a:solidFill>
                  <a:srgbClr val="1A1A1A"/>
                </a:solidFill>
                <a:latin typeface="Calibri"/>
              </a:rPr>
              <a:t>Though it did not last, it shaped future constitutional politics — and ultimately the path to Pakistan.</a:t>
            </a:r>
          </a:p>
        </p:txBody>
      </p:sp>
      <p:pic>
        <p:nvPicPr>
          <p:cNvPr id="810" name="DUET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954080"/>
            <a:ext cx="152400" cy="152400"/>
          </a:xfrm>
          <a:prstGeom prst="rect">
            <a:avLst/>
          </a:prstGeom>
        </p:spPr>
      </p:pic>
      <p:pic>
        <p:nvPicPr>
          <p:cNvPr id="4" name="DUETLogo">
            <a:extLst>
              <a:ext uri="{FF2B5EF4-FFF2-40B4-BE49-F238E27FC236}">
                <a16:creationId xmlns:a16="http://schemas.microsoft.com/office/drawing/2014/main" id="{AC3083A1-8BF3-D8B3-DF97-88DADA47E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968" y="4314220"/>
            <a:ext cx="865346" cy="5257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8C7CE4-9347-10DA-1E33-506DD4B45FFC}"/>
              </a:ext>
            </a:extLst>
          </p:cNvPr>
          <p:cNvSpPr txBox="1"/>
          <p:nvPr/>
        </p:nvSpPr>
        <p:spPr>
          <a:xfrm>
            <a:off x="1371600" y="4654296"/>
            <a:ext cx="7219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Page No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HeaderBg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4" name="HeaderTitle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Background of the Indian National Congress (INC)</a:t>
            </a:r>
          </a:p>
        </p:txBody>
      </p:sp>
      <p:sp>
        <p:nvSpPr>
          <p:cNvPr id="902" name="AccentLine"/>
          <p:cNvSpPr/>
          <p:nvPr/>
        </p:nvSpPr>
        <p:spPr>
          <a:xfrm>
            <a:off x="0" y="640080"/>
            <a:ext cx="9144000" cy="38100"/>
          </a:xfrm>
          <a:prstGeom prst="rect">
            <a:avLst/>
          </a:prstGeom>
          <a:solidFill>
            <a:srgbClr val="C9913A"/>
          </a:solidFill>
          <a:ln>
            <a:noFill/>
          </a:ln>
        </p:spPr>
      </p:sp>
      <p:sp>
        <p:nvSpPr>
          <p:cNvPr id="900" name="FooterBg"/>
          <p:cNvSpPr/>
          <p:nvPr/>
        </p:nvSpPr>
        <p:spPr>
          <a:xfrm>
            <a:off x="0" y="4937040"/>
            <a:ext cx="9144000" cy="206208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1" name="FooterText"/>
          <p:cNvSpPr/>
          <p:nvPr/>
        </p:nvSpPr>
        <p:spPr>
          <a:xfrm>
            <a:off x="274320" y="4937040"/>
            <a:ext cx="8595360" cy="20620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Lucknow Pact 1916  |  Pakistan Studies  |  DUET – BS Cyber Security</a:t>
            </a:r>
          </a:p>
        </p:txBody>
      </p:sp>
      <p:sp>
        <p:nvSpPr>
          <p:cNvPr id="5" name="ContentText"/>
          <p:cNvSpPr/>
          <p:nvPr/>
        </p:nvSpPr>
        <p:spPr>
          <a:xfrm>
            <a:off x="274320" y="730000"/>
            <a:ext cx="5395830" cy="41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Founded in 1885 by A.O. Hume, Dadabhai Naoroji, and Dinshaw Wacha — originally a platform for educated Indians to raise political grievances.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Mainly represented Hindu upper-class and educated elites; in the eyes of Muslims, it was a Hindu party.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Split into Moderates (Gokhale) and Extremists (Tilak) by 1907 — later reunited at Lucknow in 1916.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Partition of Bengal (1905) and its annulment (1911) shaped Congress politics deeply.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By 1916, Congress was India’s largest party but needed Muslim support to present a truly all-India front.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British policy of ‘Divide and Rule’ made Congress realise unity with the Muslim League was essential.</a:t>
            </a:r>
          </a:p>
        </p:txBody>
      </p:sp>
      <p:pic>
        <p:nvPicPr>
          <p:cNvPr id="800" name="Content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650" y="730000"/>
            <a:ext cx="3108960" cy="3200000"/>
          </a:xfrm>
          <a:prstGeom prst="roundRect">
            <a:avLst>
              <a:gd name="adj" fmla="val 16667"/>
            </a:avLst>
          </a:prstGeom>
          <a:effectLst>
            <a:outerShdw blurRad="114300" dist="38100" dir="5400000" algn="t" rotWithShape="0">
              <a:srgbClr val="000000">
                <a:alpha val="20000"/>
              </a:srgbClr>
            </a:outerShdw>
          </a:effectLst>
        </p:spPr>
      </p:pic>
      <p:pic>
        <p:nvPicPr>
          <p:cNvPr id="810" name="DUET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4954080"/>
            <a:ext cx="152400" cy="152400"/>
          </a:xfrm>
          <a:prstGeom prst="rect">
            <a:avLst/>
          </a:prstGeom>
        </p:spPr>
      </p:pic>
      <p:pic>
        <p:nvPicPr>
          <p:cNvPr id="2" name="DUETLogo">
            <a:extLst>
              <a:ext uri="{FF2B5EF4-FFF2-40B4-BE49-F238E27FC236}">
                <a16:creationId xmlns:a16="http://schemas.microsoft.com/office/drawing/2014/main" id="{73887D4A-318E-F0D3-6A93-0F06C9875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9968" y="4314220"/>
            <a:ext cx="865346" cy="5257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87A14F-7ABF-8680-98F5-2E092A0D1CBD}"/>
              </a:ext>
            </a:extLst>
          </p:cNvPr>
          <p:cNvSpPr txBox="1"/>
          <p:nvPr/>
        </p:nvSpPr>
        <p:spPr>
          <a:xfrm>
            <a:off x="1371600" y="4654296"/>
            <a:ext cx="7219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Page No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HeaderBg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4" name="HeaderTitle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Background of the All India Muslim League (AIML)</a:t>
            </a:r>
          </a:p>
        </p:txBody>
      </p:sp>
      <p:sp>
        <p:nvSpPr>
          <p:cNvPr id="902" name="AccentLine"/>
          <p:cNvSpPr/>
          <p:nvPr/>
        </p:nvSpPr>
        <p:spPr>
          <a:xfrm>
            <a:off x="0" y="640080"/>
            <a:ext cx="9144000" cy="38100"/>
          </a:xfrm>
          <a:prstGeom prst="rect">
            <a:avLst/>
          </a:prstGeom>
          <a:solidFill>
            <a:srgbClr val="C9913A"/>
          </a:solidFill>
          <a:ln>
            <a:noFill/>
          </a:ln>
        </p:spPr>
      </p:sp>
      <p:sp>
        <p:nvSpPr>
          <p:cNvPr id="900" name="FooterBg"/>
          <p:cNvSpPr/>
          <p:nvPr/>
        </p:nvSpPr>
        <p:spPr>
          <a:xfrm>
            <a:off x="0" y="4937040"/>
            <a:ext cx="9144000" cy="206208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1" name="FooterText"/>
          <p:cNvSpPr/>
          <p:nvPr/>
        </p:nvSpPr>
        <p:spPr>
          <a:xfrm>
            <a:off x="274320" y="4937040"/>
            <a:ext cx="8595360" cy="20620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Lucknow Pact 1916  |  Pakistan Studies  |  DUET – BS Cyber Security</a:t>
            </a:r>
          </a:p>
        </p:txBody>
      </p:sp>
      <p:sp>
        <p:nvSpPr>
          <p:cNvPr id="5" name="ContentText"/>
          <p:cNvSpPr/>
          <p:nvPr/>
        </p:nvSpPr>
        <p:spPr>
          <a:xfrm>
            <a:off x="274320" y="730000"/>
            <a:ext cx="5395830" cy="41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Founded on 30 December 1906 at Dhaka — created after the Simla Deputation in which Muslims asked the Viceroy for separate political representation.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Key early leaders: Aga Khan III (first president), Nawab Salimullah, Nawab Mohsin-ul-Mulk.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Main aim: protect Muslim political, religious, and economic interests under British colonial rule.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Annulment of Partition of Bengal (1911) shook Muslim confidence in Britain’s promises.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By 1913, the League adopted self-government as a goal — bringing it closer to Congress aims.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Jinnah joined the Muslim League in 1913 while still a member of Congress — a critical turning point.</a:t>
            </a:r>
            <a:endParaRPr lang="en-US" sz="1350" b="1" dirty="0">
              <a:solidFill>
                <a:srgbClr val="1A1A1A"/>
              </a:solidFill>
              <a:latin typeface="Calibri"/>
            </a:endParaRPr>
          </a:p>
        </p:txBody>
      </p:sp>
      <p:pic>
        <p:nvPicPr>
          <p:cNvPr id="800" name="Content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650" y="730000"/>
            <a:ext cx="3108960" cy="3200000"/>
          </a:xfrm>
          <a:prstGeom prst="roundRect">
            <a:avLst>
              <a:gd name="adj" fmla="val 16667"/>
            </a:avLst>
          </a:prstGeom>
          <a:effectLst>
            <a:outerShdw blurRad="114300" dist="38100" dir="5400000" algn="t" rotWithShape="0">
              <a:srgbClr val="000000">
                <a:alpha val="20000"/>
              </a:srgbClr>
            </a:outerShdw>
          </a:effectLst>
        </p:spPr>
      </p:pic>
      <p:pic>
        <p:nvPicPr>
          <p:cNvPr id="810" name="DUET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4954080"/>
            <a:ext cx="152400" cy="152400"/>
          </a:xfrm>
          <a:prstGeom prst="rect">
            <a:avLst/>
          </a:prstGeom>
        </p:spPr>
      </p:pic>
      <p:pic>
        <p:nvPicPr>
          <p:cNvPr id="2" name="DUETLogo">
            <a:extLst>
              <a:ext uri="{FF2B5EF4-FFF2-40B4-BE49-F238E27FC236}">
                <a16:creationId xmlns:a16="http://schemas.microsoft.com/office/drawing/2014/main" id="{21D135F0-1C77-3BBC-D1A3-ABA6A662A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9968" y="4314220"/>
            <a:ext cx="865346" cy="5257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07F70B-AA82-5E5B-0738-F0A110CA1275}"/>
              </a:ext>
            </a:extLst>
          </p:cNvPr>
          <p:cNvSpPr txBox="1"/>
          <p:nvPr/>
        </p:nvSpPr>
        <p:spPr>
          <a:xfrm>
            <a:off x="1371600" y="4654296"/>
            <a:ext cx="7219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Page No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HeaderBg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4" name="HeaderTitle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Key Leaders — Role, Methods &amp; Reasons</a:t>
            </a:r>
          </a:p>
        </p:txBody>
      </p:sp>
      <p:sp>
        <p:nvSpPr>
          <p:cNvPr id="902" name="AccentLine"/>
          <p:cNvSpPr/>
          <p:nvPr/>
        </p:nvSpPr>
        <p:spPr>
          <a:xfrm>
            <a:off x="0" y="640080"/>
            <a:ext cx="9144000" cy="38100"/>
          </a:xfrm>
          <a:prstGeom prst="rect">
            <a:avLst/>
          </a:prstGeom>
          <a:solidFill>
            <a:srgbClr val="C9913A"/>
          </a:solidFill>
          <a:ln>
            <a:noFill/>
          </a:ln>
        </p:spPr>
      </p:sp>
      <p:sp>
        <p:nvSpPr>
          <p:cNvPr id="900" name="FooterBg"/>
          <p:cNvSpPr/>
          <p:nvPr/>
        </p:nvSpPr>
        <p:spPr>
          <a:xfrm>
            <a:off x="0" y="4937040"/>
            <a:ext cx="9144000" cy="206208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1" name="FooterText"/>
          <p:cNvSpPr/>
          <p:nvPr/>
        </p:nvSpPr>
        <p:spPr>
          <a:xfrm>
            <a:off x="274320" y="4937040"/>
            <a:ext cx="8595360" cy="20620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Lucknow Pact 1916  |  Pakistan Studies  |  DUET – BS Cyber Security</a:t>
            </a:r>
          </a:p>
        </p:txBody>
      </p:sp>
      <p:sp>
        <p:nvSpPr>
          <p:cNvPr id="5" name="ContentText"/>
          <p:cNvSpPr/>
          <p:nvPr/>
        </p:nvSpPr>
        <p:spPr>
          <a:xfrm>
            <a:off x="274320" y="730000"/>
            <a:ext cx="5395830" cy="41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Muhammad Ali Jinnah — Chief architect; member of both INC &amp; AIML. Called ‘Ambassador of Hindu-Muslim Unity’ by Sarojini Naidu.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Bal Gangadhar Tilak (INC) — Radical nationalist who pushed Congress to accept Muslim demands.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Annie Besant (INC) — Supported the Home Rule movement and backed the united constitutional demand.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Motilal Nehru (INC) — Senior Congress leader who actively backed the negotiations.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Maulana Mohammad Ali &amp; Maulana Shaukat Ali — Urged Muslim political unity and cooperation with Congress.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Strategy: Both parties presented one joint memorandum to the British — far harder to ignore than separate appeals.</a:t>
            </a:r>
          </a:p>
        </p:txBody>
      </p:sp>
      <p:pic>
        <p:nvPicPr>
          <p:cNvPr id="800" name="Content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650" y="730000"/>
            <a:ext cx="3108960" cy="3200000"/>
          </a:xfrm>
          <a:prstGeom prst="roundRect">
            <a:avLst>
              <a:gd name="adj" fmla="val 16667"/>
            </a:avLst>
          </a:prstGeom>
          <a:effectLst>
            <a:outerShdw blurRad="114300" dist="38100" dir="5400000" algn="t" rotWithShape="0">
              <a:srgbClr val="000000">
                <a:alpha val="20000"/>
              </a:srgbClr>
            </a:outerShdw>
          </a:effectLst>
        </p:spPr>
      </p:pic>
      <p:pic>
        <p:nvPicPr>
          <p:cNvPr id="810" name="DUET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4954080"/>
            <a:ext cx="152400" cy="152400"/>
          </a:xfrm>
          <a:prstGeom prst="rect">
            <a:avLst/>
          </a:prstGeom>
        </p:spPr>
      </p:pic>
      <p:pic>
        <p:nvPicPr>
          <p:cNvPr id="2" name="DUETLogo">
            <a:extLst>
              <a:ext uri="{FF2B5EF4-FFF2-40B4-BE49-F238E27FC236}">
                <a16:creationId xmlns:a16="http://schemas.microsoft.com/office/drawing/2014/main" id="{D6B32591-997C-4F25-19EB-B46F987CA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9968" y="4314220"/>
            <a:ext cx="865346" cy="5257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807654-9D17-04F4-75CB-5AEB10E2F70D}"/>
              </a:ext>
            </a:extLst>
          </p:cNvPr>
          <p:cNvSpPr txBox="1"/>
          <p:nvPr/>
        </p:nvSpPr>
        <p:spPr>
          <a:xfrm>
            <a:off x="1371600" y="4654296"/>
            <a:ext cx="7219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Page No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HeaderBg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4" name="HeaderTitle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Need for the Lucknow Pact</a:t>
            </a:r>
          </a:p>
        </p:txBody>
      </p:sp>
      <p:sp>
        <p:nvSpPr>
          <p:cNvPr id="902" name="AccentLine"/>
          <p:cNvSpPr/>
          <p:nvPr/>
        </p:nvSpPr>
        <p:spPr>
          <a:xfrm>
            <a:off x="0" y="640080"/>
            <a:ext cx="9144000" cy="38100"/>
          </a:xfrm>
          <a:prstGeom prst="rect">
            <a:avLst/>
          </a:prstGeom>
          <a:solidFill>
            <a:srgbClr val="C9913A"/>
          </a:solidFill>
          <a:ln>
            <a:noFill/>
          </a:ln>
        </p:spPr>
      </p:sp>
      <p:sp>
        <p:nvSpPr>
          <p:cNvPr id="900" name="FooterBg"/>
          <p:cNvSpPr/>
          <p:nvPr/>
        </p:nvSpPr>
        <p:spPr>
          <a:xfrm>
            <a:off x="0" y="4937040"/>
            <a:ext cx="9144000" cy="206208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1" name="FooterText"/>
          <p:cNvSpPr/>
          <p:nvPr/>
        </p:nvSpPr>
        <p:spPr>
          <a:xfrm>
            <a:off x="274320" y="4937040"/>
            <a:ext cx="8595360" cy="20620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Lucknow Pact 1916  |  Pakistan Studies  |  DUET – BS Cyber Security</a:t>
            </a:r>
          </a:p>
        </p:txBody>
      </p:sp>
      <p:sp>
        <p:nvSpPr>
          <p:cNvPr id="5" name="ContentText"/>
          <p:cNvSpPr/>
          <p:nvPr/>
        </p:nvSpPr>
        <p:spPr>
          <a:xfrm>
            <a:off x="274320" y="730000"/>
            <a:ext cx="5395830" cy="41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Indians wanted self-government — but divided demands gave Britain an excuse to delay reforms indefinitely.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Congress needed Muslim support to appear as a truly all-India national party representing all communities.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Muslim League wanted constitutional safeguards to formally protect Muslim minority rights.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World War I (1914–1918) weakened Britain — both parties saw this as the best opportunity to demand reforms.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Joint demands would put far stronger pressure on the British government than separate requests.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Fear of ‘Divide and Rule’: if separated, Britain would use community differences to deny both sides’ demands.</a:t>
            </a:r>
          </a:p>
        </p:txBody>
      </p:sp>
      <p:pic>
        <p:nvPicPr>
          <p:cNvPr id="800" name="Content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650" y="730000"/>
            <a:ext cx="3108960" cy="3200000"/>
          </a:xfrm>
          <a:prstGeom prst="roundRect">
            <a:avLst>
              <a:gd name="adj" fmla="val 16667"/>
            </a:avLst>
          </a:prstGeom>
          <a:effectLst>
            <a:outerShdw blurRad="114300" dist="38100" dir="5400000" algn="t" rotWithShape="0">
              <a:srgbClr val="000000">
                <a:alpha val="20000"/>
              </a:srgbClr>
            </a:outerShdw>
          </a:effectLst>
        </p:spPr>
      </p:pic>
      <p:pic>
        <p:nvPicPr>
          <p:cNvPr id="810" name="DUET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4954080"/>
            <a:ext cx="152400" cy="152400"/>
          </a:xfrm>
          <a:prstGeom prst="rect">
            <a:avLst/>
          </a:prstGeom>
        </p:spPr>
      </p:pic>
      <p:pic>
        <p:nvPicPr>
          <p:cNvPr id="2" name="DUETLogo">
            <a:extLst>
              <a:ext uri="{FF2B5EF4-FFF2-40B4-BE49-F238E27FC236}">
                <a16:creationId xmlns:a16="http://schemas.microsoft.com/office/drawing/2014/main" id="{3B76C327-D04A-20F9-B4EB-65A0EE976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9968" y="4314220"/>
            <a:ext cx="865346" cy="5257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D9CFEB-235A-2120-0D73-9BD6A0DD6999}"/>
              </a:ext>
            </a:extLst>
          </p:cNvPr>
          <p:cNvSpPr txBox="1"/>
          <p:nvPr/>
        </p:nvSpPr>
        <p:spPr>
          <a:xfrm>
            <a:off x="1371600" y="4654296"/>
            <a:ext cx="7219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Page No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HeaderBg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4" name="HeaderTitle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Place, Year &amp; Parties Involved</a:t>
            </a:r>
          </a:p>
        </p:txBody>
      </p:sp>
      <p:sp>
        <p:nvSpPr>
          <p:cNvPr id="902" name="AccentLine"/>
          <p:cNvSpPr/>
          <p:nvPr/>
        </p:nvSpPr>
        <p:spPr>
          <a:xfrm>
            <a:off x="0" y="640080"/>
            <a:ext cx="9144000" cy="38100"/>
          </a:xfrm>
          <a:prstGeom prst="rect">
            <a:avLst/>
          </a:prstGeom>
          <a:solidFill>
            <a:srgbClr val="C9913A"/>
          </a:solidFill>
          <a:ln>
            <a:noFill/>
          </a:ln>
        </p:spPr>
      </p:sp>
      <p:sp>
        <p:nvSpPr>
          <p:cNvPr id="900" name="FooterBg"/>
          <p:cNvSpPr/>
          <p:nvPr/>
        </p:nvSpPr>
        <p:spPr>
          <a:xfrm>
            <a:off x="0" y="4937040"/>
            <a:ext cx="9144000" cy="206208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1" name="FooterText"/>
          <p:cNvSpPr/>
          <p:nvPr/>
        </p:nvSpPr>
        <p:spPr>
          <a:xfrm>
            <a:off x="274320" y="4937040"/>
            <a:ext cx="8595360" cy="20620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Lucknow Pact 1916  |  Pakistan Studies  |  DUET – BS Cyber Security</a:t>
            </a:r>
          </a:p>
        </p:txBody>
      </p:sp>
      <p:sp>
        <p:nvSpPr>
          <p:cNvPr id="5" name="Box1Bg"/>
          <p:cNvSpPr/>
          <p:nvPr/>
        </p:nvSpPr>
        <p:spPr>
          <a:xfrm>
            <a:off x="274320" y="780000"/>
            <a:ext cx="3962400" cy="4010000"/>
          </a:xfrm>
          <a:prstGeom prst="roundRect">
            <a:avLst>
              <a:gd name="adj" fmla="val 5000"/>
            </a:avLst>
          </a:prstGeom>
          <a:solidFill>
            <a:srgbClr val="1B4332">
              <a:alpha val="8000"/>
            </a:srgbClr>
          </a:solidFill>
          <a:ln w="19050">
            <a:solidFill>
              <a:srgbClr val="1B4332"/>
            </a:solidFill>
          </a:ln>
        </p:spPr>
      </p:sp>
      <p:sp>
        <p:nvSpPr>
          <p:cNvPr id="6" name="Box1Title"/>
          <p:cNvSpPr/>
          <p:nvPr/>
        </p:nvSpPr>
        <p:spPr>
          <a:xfrm>
            <a:off x="274320" y="780000"/>
            <a:ext cx="3962400" cy="4572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b="1" dirty="0">
                <a:solidFill>
                  <a:srgbClr val="FFFFFF"/>
                </a:solidFill>
                <a:latin typeface="Calibri"/>
              </a:rPr>
              <a:t>📍  Place &amp; Year</a:t>
            </a:r>
          </a:p>
        </p:txBody>
      </p:sp>
      <p:sp>
        <p:nvSpPr>
          <p:cNvPr id="7" name="Box1Content"/>
          <p:cNvSpPr/>
          <p:nvPr/>
        </p:nvSpPr>
        <p:spPr>
          <a:xfrm>
            <a:off x="457200" y="1370000"/>
            <a:ext cx="3600000" cy="3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C9913A"/>
                </a:solidFill>
                <a:latin typeface="Calibri"/>
              </a:rPr>
              <a:t>Place: </a:t>
            </a:r>
            <a:r>
              <a:rPr lang="en-US" sz="1600" b="1" dirty="0">
                <a:solidFill>
                  <a:srgbClr val="1A1A1A"/>
                </a:solidFill>
                <a:latin typeface="Calibri"/>
              </a:rPr>
              <a:t>Lucknow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C9913A"/>
                </a:solidFill>
                <a:latin typeface="Calibri"/>
              </a:rPr>
              <a:t>Year: </a:t>
            </a:r>
            <a:r>
              <a:rPr lang="en-US" sz="1600" b="1" dirty="0">
                <a:solidFill>
                  <a:srgbClr val="1A1A1A"/>
                </a:solidFill>
                <a:latin typeface="Calibri"/>
              </a:rPr>
              <a:t>December 1916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b="1" i="1" dirty="0">
                <a:solidFill>
                  <a:srgbClr val="555555"/>
                </a:solidFill>
                <a:latin typeface="Calibri"/>
              </a:rPr>
              <a:t>Both Congress and the Muslim League held their annual sessions simultaneously in Lucknow — the Pact was finalised and signed here.</a:t>
            </a:r>
          </a:p>
        </p:txBody>
      </p:sp>
      <p:sp>
        <p:nvSpPr>
          <p:cNvPr id="8" name="Box2Bg"/>
          <p:cNvSpPr/>
          <p:nvPr/>
        </p:nvSpPr>
        <p:spPr>
          <a:xfrm>
            <a:off x="4572000" y="780000"/>
            <a:ext cx="4297920" cy="4010000"/>
          </a:xfrm>
          <a:prstGeom prst="roundRect">
            <a:avLst>
              <a:gd name="adj" fmla="val 5000"/>
            </a:avLst>
          </a:prstGeom>
          <a:solidFill>
            <a:srgbClr val="C9913A">
              <a:alpha val="8000"/>
            </a:srgbClr>
          </a:solidFill>
          <a:ln w="19050">
            <a:solidFill>
              <a:srgbClr val="C9913A"/>
            </a:solidFill>
          </a:ln>
        </p:spPr>
      </p:sp>
      <p:sp>
        <p:nvSpPr>
          <p:cNvPr id="9" name="Box2Title"/>
          <p:cNvSpPr/>
          <p:nvPr/>
        </p:nvSpPr>
        <p:spPr>
          <a:xfrm>
            <a:off x="4572000" y="780000"/>
            <a:ext cx="4297920" cy="457200"/>
          </a:xfrm>
          <a:prstGeom prst="rect">
            <a:avLst/>
          </a:prstGeom>
          <a:solidFill>
            <a:srgbClr val="C9913A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b="1" dirty="0">
                <a:solidFill>
                  <a:srgbClr val="FFFFFF"/>
                </a:solidFill>
                <a:latin typeface="Calibri"/>
              </a:rPr>
              <a:t>Parties Involved</a:t>
            </a:r>
          </a:p>
        </p:txBody>
      </p:sp>
      <p:sp>
        <p:nvSpPr>
          <p:cNvPr id="10" name="Box2Content"/>
          <p:cNvSpPr/>
          <p:nvPr/>
        </p:nvSpPr>
        <p:spPr>
          <a:xfrm>
            <a:off x="4750000" y="1370000"/>
            <a:ext cx="4000000" cy="3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spcBef>
                <a:spcPts val="400"/>
              </a:spcBef>
              <a:buChar char="▸"/>
            </a:pPr>
            <a:r>
              <a:rPr lang="en-US" sz="1600" dirty="0">
                <a:solidFill>
                  <a:srgbClr val="1B4332"/>
                </a:solidFill>
                <a:latin typeface="Calibri"/>
              </a:rPr>
              <a:t>Indian National Congress (INC)</a:t>
            </a:r>
          </a:p>
          <a:p>
            <a:pPr marL="342900" indent="-342900">
              <a:spcBef>
                <a:spcPts val="400"/>
              </a:spcBef>
              <a:buChar char="▸"/>
            </a:pPr>
            <a:r>
              <a:rPr lang="en-US" sz="1600" dirty="0">
                <a:solidFill>
                  <a:srgbClr val="1B4332"/>
                </a:solidFill>
                <a:latin typeface="Calibri"/>
              </a:rPr>
              <a:t>All-India Muslim League (AIML)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1400" i="1" dirty="0">
                <a:solidFill>
                  <a:srgbClr val="444444"/>
                </a:solidFill>
                <a:latin typeface="Calibri"/>
              </a:rPr>
              <a:t>This was the FIRST ever major formal political agreement between the two parties — a landmark in the history of the Indian subcontinent.</a:t>
            </a:r>
          </a:p>
        </p:txBody>
      </p:sp>
      <p:pic>
        <p:nvPicPr>
          <p:cNvPr id="810" name="DUET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954080"/>
            <a:ext cx="152400" cy="152400"/>
          </a:xfrm>
          <a:prstGeom prst="rect">
            <a:avLst/>
          </a:prstGeom>
        </p:spPr>
      </p:pic>
      <p:pic>
        <p:nvPicPr>
          <p:cNvPr id="2" name="DUETLogo">
            <a:extLst>
              <a:ext uri="{FF2B5EF4-FFF2-40B4-BE49-F238E27FC236}">
                <a16:creationId xmlns:a16="http://schemas.microsoft.com/office/drawing/2014/main" id="{23AF7103-3B85-5A57-1EC1-F334EE1C9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968" y="4314220"/>
            <a:ext cx="865346" cy="5257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8C1C37-D05A-8D0B-DBA6-8574AD771007}"/>
              </a:ext>
            </a:extLst>
          </p:cNvPr>
          <p:cNvSpPr txBox="1"/>
          <p:nvPr/>
        </p:nvSpPr>
        <p:spPr>
          <a:xfrm>
            <a:off x="1371600" y="4654296"/>
            <a:ext cx="7219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Page No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HeaderBg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4" name="HeaderTitle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Terms Accepted by the Congress (INC)</a:t>
            </a:r>
          </a:p>
        </p:txBody>
      </p:sp>
      <p:sp>
        <p:nvSpPr>
          <p:cNvPr id="902" name="AccentLine"/>
          <p:cNvSpPr/>
          <p:nvPr/>
        </p:nvSpPr>
        <p:spPr>
          <a:xfrm>
            <a:off x="0" y="640080"/>
            <a:ext cx="9144000" cy="38100"/>
          </a:xfrm>
          <a:prstGeom prst="rect">
            <a:avLst/>
          </a:prstGeom>
          <a:solidFill>
            <a:srgbClr val="C9913A"/>
          </a:solidFill>
          <a:ln>
            <a:noFill/>
          </a:ln>
        </p:spPr>
      </p:sp>
      <p:sp>
        <p:nvSpPr>
          <p:cNvPr id="900" name="FooterBg"/>
          <p:cNvSpPr/>
          <p:nvPr/>
        </p:nvSpPr>
        <p:spPr>
          <a:xfrm>
            <a:off x="0" y="4937040"/>
            <a:ext cx="9144000" cy="206208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1" name="FooterText"/>
          <p:cNvSpPr/>
          <p:nvPr/>
        </p:nvSpPr>
        <p:spPr>
          <a:xfrm>
            <a:off x="274320" y="4937040"/>
            <a:ext cx="8595360" cy="20620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Lucknow Pact 1916  |  Pakistan Studies  |  DUET – BS Cyber Security</a:t>
            </a:r>
          </a:p>
        </p:txBody>
      </p:sp>
      <p:sp>
        <p:nvSpPr>
          <p:cNvPr id="5" name="ContentText"/>
          <p:cNvSpPr/>
          <p:nvPr/>
        </p:nvSpPr>
        <p:spPr>
          <a:xfrm>
            <a:off x="274320" y="730000"/>
            <a:ext cx="5395830" cy="41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Agreed to separate electorates — Muslims would vote in their own lists and elect their own representatives.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Accepted that one-third (1/3) of Central Legislative Council seats be reserved for Muslims.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Formally recognised Muslims as a distinct political community with their own constitutional identity.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Agreed to provincial weightage for Muslims in provinces where they were a minority.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Accepted veto clause — no bill affecting one community could pass if 3/4 of that community’s reps opposed it.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Dropped earlier opposition to reserved seats — a major concession by Hindu leaders.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Tilak personally approved the terms, calling Muslim demands ‘just and reasonable.’</a:t>
            </a:r>
            <a:endParaRPr lang="en-US" sz="1280" b="1" dirty="0">
              <a:solidFill>
                <a:srgbClr val="1A1A1A"/>
              </a:solidFill>
              <a:latin typeface="Calibri"/>
            </a:endParaRPr>
          </a:p>
        </p:txBody>
      </p:sp>
      <p:pic>
        <p:nvPicPr>
          <p:cNvPr id="800" name="Content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650" y="730000"/>
            <a:ext cx="3108960" cy="3200000"/>
          </a:xfrm>
          <a:prstGeom prst="roundRect">
            <a:avLst>
              <a:gd name="adj" fmla="val 16667"/>
            </a:avLst>
          </a:prstGeom>
          <a:effectLst>
            <a:outerShdw blurRad="114300" dist="38100" dir="5400000" algn="t" rotWithShape="0">
              <a:srgbClr val="000000">
                <a:alpha val="20000"/>
              </a:srgbClr>
            </a:outerShdw>
          </a:effectLst>
        </p:spPr>
      </p:pic>
      <p:pic>
        <p:nvPicPr>
          <p:cNvPr id="810" name="DUET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4954080"/>
            <a:ext cx="152400" cy="152400"/>
          </a:xfrm>
          <a:prstGeom prst="rect">
            <a:avLst/>
          </a:prstGeom>
        </p:spPr>
      </p:pic>
      <p:pic>
        <p:nvPicPr>
          <p:cNvPr id="2" name="DUETLogo">
            <a:extLst>
              <a:ext uri="{FF2B5EF4-FFF2-40B4-BE49-F238E27FC236}">
                <a16:creationId xmlns:a16="http://schemas.microsoft.com/office/drawing/2014/main" id="{836E80E9-2D09-6540-70EC-D13AB5CF2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9968" y="4314220"/>
            <a:ext cx="865346" cy="5257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0382E4-713A-562E-726D-1CB8CC15C625}"/>
              </a:ext>
            </a:extLst>
          </p:cNvPr>
          <p:cNvSpPr txBox="1"/>
          <p:nvPr/>
        </p:nvSpPr>
        <p:spPr>
          <a:xfrm>
            <a:off x="1371600" y="4654296"/>
            <a:ext cx="7219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Page No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HeaderBg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4" name="HeaderTitle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Terms Accepted by the Muslim League (AIML)</a:t>
            </a:r>
          </a:p>
        </p:txBody>
      </p:sp>
      <p:sp>
        <p:nvSpPr>
          <p:cNvPr id="902" name="AccentLine"/>
          <p:cNvSpPr/>
          <p:nvPr/>
        </p:nvSpPr>
        <p:spPr>
          <a:xfrm>
            <a:off x="0" y="640080"/>
            <a:ext cx="9144000" cy="38100"/>
          </a:xfrm>
          <a:prstGeom prst="rect">
            <a:avLst/>
          </a:prstGeom>
          <a:solidFill>
            <a:srgbClr val="C9913A"/>
          </a:solidFill>
          <a:ln>
            <a:noFill/>
          </a:ln>
        </p:spPr>
      </p:sp>
      <p:sp>
        <p:nvSpPr>
          <p:cNvPr id="900" name="FooterBg"/>
          <p:cNvSpPr/>
          <p:nvPr/>
        </p:nvSpPr>
        <p:spPr>
          <a:xfrm>
            <a:off x="0" y="4937040"/>
            <a:ext cx="9144000" cy="206208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1" name="FooterText"/>
          <p:cNvSpPr/>
          <p:nvPr/>
        </p:nvSpPr>
        <p:spPr>
          <a:xfrm>
            <a:off x="274320" y="4937040"/>
            <a:ext cx="8595360" cy="20620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Lucknow Pact 1916  |  Pakistan Studies  |  DUET – BS Cyber Security</a:t>
            </a:r>
          </a:p>
        </p:txBody>
      </p:sp>
      <p:sp>
        <p:nvSpPr>
          <p:cNvPr id="5" name="ContentText"/>
          <p:cNvSpPr/>
          <p:nvPr/>
        </p:nvSpPr>
        <p:spPr>
          <a:xfrm>
            <a:off x="274320" y="730000"/>
            <a:ext cx="8595360" cy="41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Accepted reduced seats in Muslim-majority provinces as a sacrifice for the sake of unity.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Punjab: Accepted 50% seats despite Muslims being 55%+ of the population.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Bengal: Accepted 40% seats despite Muslims being the majority — to balance Hindu concerns.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Agreed to jointly demand self-government and constitutional reforms alongside Congress.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Accepted that Hindus would receive extra representation in Muslim-majority provinces.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Agreed to present one united Congress-League constitutional scheme to the British government.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Recognised that political unity was more valuable than strict proportional representation.</a:t>
            </a:r>
          </a:p>
        </p:txBody>
      </p:sp>
      <p:pic>
        <p:nvPicPr>
          <p:cNvPr id="810" name="DUET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954080"/>
            <a:ext cx="152400" cy="152400"/>
          </a:xfrm>
          <a:prstGeom prst="rect">
            <a:avLst/>
          </a:prstGeom>
        </p:spPr>
      </p:pic>
      <p:pic>
        <p:nvPicPr>
          <p:cNvPr id="2" name="DUETLogo">
            <a:extLst>
              <a:ext uri="{FF2B5EF4-FFF2-40B4-BE49-F238E27FC236}">
                <a16:creationId xmlns:a16="http://schemas.microsoft.com/office/drawing/2014/main" id="{882AC9C9-14CD-29F9-69A0-E16C62389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968" y="4314220"/>
            <a:ext cx="865346" cy="5257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837675-3879-0FE9-0E26-A7E15F7EC965}"/>
              </a:ext>
            </a:extLst>
          </p:cNvPr>
          <p:cNvSpPr txBox="1"/>
          <p:nvPr/>
        </p:nvSpPr>
        <p:spPr>
          <a:xfrm>
            <a:off x="1371600" y="4654296"/>
            <a:ext cx="7219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Page No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HeaderBg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4" name="HeaderTitle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Speeches, Statements &amp; Reactions</a:t>
            </a:r>
          </a:p>
        </p:txBody>
      </p:sp>
      <p:sp>
        <p:nvSpPr>
          <p:cNvPr id="902" name="AccentLine"/>
          <p:cNvSpPr/>
          <p:nvPr/>
        </p:nvSpPr>
        <p:spPr>
          <a:xfrm>
            <a:off x="0" y="640080"/>
            <a:ext cx="9144000" cy="38100"/>
          </a:xfrm>
          <a:prstGeom prst="rect">
            <a:avLst/>
          </a:prstGeom>
          <a:solidFill>
            <a:srgbClr val="C9913A"/>
          </a:solidFill>
          <a:ln>
            <a:noFill/>
          </a:ln>
        </p:spPr>
      </p:sp>
      <p:sp>
        <p:nvSpPr>
          <p:cNvPr id="900" name="FooterBg"/>
          <p:cNvSpPr/>
          <p:nvPr/>
        </p:nvSpPr>
        <p:spPr>
          <a:xfrm>
            <a:off x="0" y="4937040"/>
            <a:ext cx="9144000" cy="206208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1" name="FooterText"/>
          <p:cNvSpPr/>
          <p:nvPr/>
        </p:nvSpPr>
        <p:spPr>
          <a:xfrm>
            <a:off x="274320" y="4937040"/>
            <a:ext cx="8595360" cy="20620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Lucknow Pact 1916  |  Pakistan Studies  |  DUET – BS Cyber Security</a:t>
            </a:r>
          </a:p>
        </p:txBody>
      </p:sp>
      <p:sp>
        <p:nvSpPr>
          <p:cNvPr id="5" name="ContentText"/>
          <p:cNvSpPr/>
          <p:nvPr/>
        </p:nvSpPr>
        <p:spPr>
          <a:xfrm>
            <a:off x="274320" y="730000"/>
            <a:ext cx="5395830" cy="41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M.A. Jinnah (Dec 1916): Called the Pact ‘a great step toward national unity and self-government.’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Sarojini Naidu: Praised Jinnah as ‘the Ambassador of Hindu-Muslim Unity’ — a title that defined his era.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Bal Gangadhar Tilak: Publicly supported all terms, calling Muslim demands ‘just and reasonable.’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Maulana Mohammad Ali: Expressed hope that this marks the beginning of a truly unified India.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British officials: Alarmed — a united Indian demand was far harder to resist or divide.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Indian public: Celebrated as a sign that independence and self-rule were within reach.</a:t>
            </a:r>
            <a:endParaRPr lang="en-US" sz="1350" b="1" dirty="0">
              <a:solidFill>
                <a:srgbClr val="1A1A1A"/>
              </a:solidFill>
              <a:latin typeface="Calibri"/>
            </a:endParaRPr>
          </a:p>
        </p:txBody>
      </p:sp>
      <p:pic>
        <p:nvPicPr>
          <p:cNvPr id="800" name="Content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650" y="730000"/>
            <a:ext cx="3108960" cy="3200000"/>
          </a:xfrm>
          <a:prstGeom prst="roundRect">
            <a:avLst>
              <a:gd name="adj" fmla="val 16667"/>
            </a:avLst>
          </a:prstGeom>
          <a:effectLst>
            <a:outerShdw blurRad="114300" dist="38100" dir="5400000" algn="t" rotWithShape="0">
              <a:srgbClr val="000000">
                <a:alpha val="20000"/>
              </a:srgbClr>
            </a:outerShdw>
          </a:effectLst>
        </p:spPr>
      </p:pic>
      <p:pic>
        <p:nvPicPr>
          <p:cNvPr id="810" name="DUET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4954080"/>
            <a:ext cx="152400" cy="152400"/>
          </a:xfrm>
          <a:prstGeom prst="rect">
            <a:avLst/>
          </a:prstGeom>
        </p:spPr>
      </p:pic>
      <p:pic>
        <p:nvPicPr>
          <p:cNvPr id="2" name="DUETLogo">
            <a:extLst>
              <a:ext uri="{FF2B5EF4-FFF2-40B4-BE49-F238E27FC236}">
                <a16:creationId xmlns:a16="http://schemas.microsoft.com/office/drawing/2014/main" id="{752559A6-4C40-53D7-77F7-8B62BC4B0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9968" y="4314220"/>
            <a:ext cx="865346" cy="5257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A53E41-4E43-C641-D863-808DE892FA4A}"/>
              </a:ext>
            </a:extLst>
          </p:cNvPr>
          <p:cNvSpPr txBox="1"/>
          <p:nvPr/>
        </p:nvSpPr>
        <p:spPr>
          <a:xfrm>
            <a:off x="1371600" y="4654296"/>
            <a:ext cx="7219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Page No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HeaderBg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4" name="HeaderTitle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Importance of the Lucknow Pact</a:t>
            </a:r>
          </a:p>
        </p:txBody>
      </p:sp>
      <p:sp>
        <p:nvSpPr>
          <p:cNvPr id="902" name="AccentLine"/>
          <p:cNvSpPr/>
          <p:nvPr/>
        </p:nvSpPr>
        <p:spPr>
          <a:xfrm>
            <a:off x="0" y="640080"/>
            <a:ext cx="9144000" cy="38100"/>
          </a:xfrm>
          <a:prstGeom prst="rect">
            <a:avLst/>
          </a:prstGeom>
          <a:solidFill>
            <a:srgbClr val="C9913A"/>
          </a:solidFill>
          <a:ln>
            <a:noFill/>
          </a:ln>
        </p:spPr>
      </p:sp>
      <p:sp>
        <p:nvSpPr>
          <p:cNvPr id="900" name="FooterBg"/>
          <p:cNvSpPr/>
          <p:nvPr/>
        </p:nvSpPr>
        <p:spPr>
          <a:xfrm>
            <a:off x="0" y="4937040"/>
            <a:ext cx="9144000" cy="206208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1" name="FooterText"/>
          <p:cNvSpPr/>
          <p:nvPr/>
        </p:nvSpPr>
        <p:spPr>
          <a:xfrm>
            <a:off x="274320" y="4937040"/>
            <a:ext cx="8595360" cy="20620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Lucknow Pact 1916  |  Pakistan Studies  |  DUET – BS Cyber Security</a:t>
            </a:r>
          </a:p>
        </p:txBody>
      </p:sp>
      <p:sp>
        <p:nvSpPr>
          <p:cNvPr id="5" name="ContentText"/>
          <p:cNvSpPr/>
          <p:nvPr/>
        </p:nvSpPr>
        <p:spPr>
          <a:xfrm>
            <a:off x="274320" y="730000"/>
            <a:ext cx="8595360" cy="41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First ever formal agreement between INC and AIML — a historic landmark in Indian politics.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Strengthened the freedom movement by creating the first truly united all-India political front.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Promoted Hindu-Muslim unity on a formal, constitutional basis for the first time.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Increased Muslim confidence in Congress — felt their rights and identity would be respected.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Created a united front that put real, effective pressure on the British government.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Led directly to the Montagu–Chelmsford Reforms (1919) — a partial but significant British response.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Set a precedent for communal representation in all future Indian constitutional arrangements.</a:t>
            </a:r>
          </a:p>
        </p:txBody>
      </p:sp>
      <p:pic>
        <p:nvPicPr>
          <p:cNvPr id="810" name="DUET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954080"/>
            <a:ext cx="152400" cy="152400"/>
          </a:xfrm>
          <a:prstGeom prst="rect">
            <a:avLst/>
          </a:prstGeom>
        </p:spPr>
      </p:pic>
      <p:pic>
        <p:nvPicPr>
          <p:cNvPr id="2" name="DUETLogo">
            <a:extLst>
              <a:ext uri="{FF2B5EF4-FFF2-40B4-BE49-F238E27FC236}">
                <a16:creationId xmlns:a16="http://schemas.microsoft.com/office/drawing/2014/main" id="{6717895E-8A5E-FD60-995D-E2C6C3714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968" y="4314220"/>
            <a:ext cx="865346" cy="5257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C37B6E-B969-752C-D8C3-EFC17768DD1E}"/>
              </a:ext>
            </a:extLst>
          </p:cNvPr>
          <p:cNvSpPr txBox="1"/>
          <p:nvPr/>
        </p:nvSpPr>
        <p:spPr>
          <a:xfrm>
            <a:off x="1371600" y="4654296"/>
            <a:ext cx="7219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Page No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HeaderBg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4" name="HeaderTitle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Impact &amp; Results</a:t>
            </a:r>
          </a:p>
        </p:txBody>
      </p:sp>
      <p:sp>
        <p:nvSpPr>
          <p:cNvPr id="902" name="AccentLine"/>
          <p:cNvSpPr/>
          <p:nvPr/>
        </p:nvSpPr>
        <p:spPr>
          <a:xfrm>
            <a:off x="0" y="640080"/>
            <a:ext cx="9144000" cy="38100"/>
          </a:xfrm>
          <a:prstGeom prst="rect">
            <a:avLst/>
          </a:prstGeom>
          <a:solidFill>
            <a:srgbClr val="C9913A"/>
          </a:solidFill>
          <a:ln>
            <a:noFill/>
          </a:ln>
        </p:spPr>
      </p:sp>
      <p:sp>
        <p:nvSpPr>
          <p:cNvPr id="900" name="FooterBg"/>
          <p:cNvSpPr/>
          <p:nvPr/>
        </p:nvSpPr>
        <p:spPr>
          <a:xfrm>
            <a:off x="0" y="4937040"/>
            <a:ext cx="9144000" cy="206208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1" name="FooterText"/>
          <p:cNvSpPr/>
          <p:nvPr/>
        </p:nvSpPr>
        <p:spPr>
          <a:xfrm>
            <a:off x="274320" y="4937040"/>
            <a:ext cx="8595360" cy="20620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Lucknow Pact 1916  |  Pakistan Studies  |  DUET – BS Cyber Security</a:t>
            </a:r>
          </a:p>
        </p:txBody>
      </p:sp>
      <p:sp>
        <p:nvSpPr>
          <p:cNvPr id="5" name="ContentText"/>
          <p:cNvSpPr/>
          <p:nvPr/>
        </p:nvSpPr>
        <p:spPr>
          <a:xfrm>
            <a:off x="274320" y="730000"/>
            <a:ext cx="8595360" cy="41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British government formally recognised Indian political unity for the very first time.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Led to the Montagu–Chelmsford Reforms (1919) — limited self-governance granted to Indians.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Muslim League emerged as a strong, nationally recognised political force.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Established Muhammad Ali Jinnah as India’s most important political leader and bridge-builder.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Increased Indian self-confidence in demanding rights through peaceful, constitutional means.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Boosted the overall independence movement — Indians saw that united pressure worked.</a:t>
            </a:r>
          </a:p>
        </p:txBody>
      </p:sp>
      <p:pic>
        <p:nvPicPr>
          <p:cNvPr id="810" name="DUET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954080"/>
            <a:ext cx="152400" cy="152400"/>
          </a:xfrm>
          <a:prstGeom prst="rect">
            <a:avLst/>
          </a:prstGeom>
        </p:spPr>
      </p:pic>
      <p:pic>
        <p:nvPicPr>
          <p:cNvPr id="2" name="DUETLogo">
            <a:extLst>
              <a:ext uri="{FF2B5EF4-FFF2-40B4-BE49-F238E27FC236}">
                <a16:creationId xmlns:a16="http://schemas.microsoft.com/office/drawing/2014/main" id="{849E1566-9625-D3ED-5A1C-0612FAF59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968" y="4314220"/>
            <a:ext cx="865346" cy="5257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003B8A-6898-BDF1-10CD-0528262AF2FC}"/>
              </a:ext>
            </a:extLst>
          </p:cNvPr>
          <p:cNvSpPr txBox="1"/>
          <p:nvPr/>
        </p:nvSpPr>
        <p:spPr>
          <a:xfrm>
            <a:off x="1371600" y="4654296"/>
            <a:ext cx="7219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Page No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HeaderBg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4" name="HeaderTitle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Weaknesses of the Pact &amp; End of Hindu–Muslim Unity</a:t>
            </a:r>
          </a:p>
        </p:txBody>
      </p:sp>
      <p:sp>
        <p:nvSpPr>
          <p:cNvPr id="902" name="AccentLine"/>
          <p:cNvSpPr/>
          <p:nvPr/>
        </p:nvSpPr>
        <p:spPr>
          <a:xfrm>
            <a:off x="0" y="640080"/>
            <a:ext cx="9144000" cy="38100"/>
          </a:xfrm>
          <a:prstGeom prst="rect">
            <a:avLst/>
          </a:prstGeom>
          <a:solidFill>
            <a:srgbClr val="C9913A"/>
          </a:solidFill>
          <a:ln>
            <a:noFill/>
          </a:ln>
        </p:spPr>
      </p:sp>
      <p:sp>
        <p:nvSpPr>
          <p:cNvPr id="900" name="FooterBg"/>
          <p:cNvSpPr/>
          <p:nvPr/>
        </p:nvSpPr>
        <p:spPr>
          <a:xfrm>
            <a:off x="0" y="4937040"/>
            <a:ext cx="9144000" cy="206208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1" name="FooterText"/>
          <p:cNvSpPr/>
          <p:nvPr/>
        </p:nvSpPr>
        <p:spPr>
          <a:xfrm>
            <a:off x="274320" y="4937040"/>
            <a:ext cx="8595360" cy="20620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Lucknow Pact 1916  |  Pakistan Studies  |  DUET – BS Cyber Security</a:t>
            </a:r>
          </a:p>
        </p:txBody>
      </p:sp>
      <p:sp>
        <p:nvSpPr>
          <p:cNvPr id="5" name="ContentText"/>
          <p:cNvSpPr/>
          <p:nvPr/>
        </p:nvSpPr>
        <p:spPr>
          <a:xfrm>
            <a:off x="274320" y="730000"/>
            <a:ext cx="5395830" cy="41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Unity was temporary — built on political convenience, not deep community-level trust.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Separate electorates, while protecting Muslims short-term, deepened communal identities over time.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No enforcement mechanism — the agreement depended entirely on the goodwill of both parties.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Failure of the Khilafat Movement (1919–1924): Its collapse destroyed the goodwill built by the Pact.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Rise of communal politics — religion increasingly dominated political identity on both sides.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Nehru Report (1928): Congress rejected separate electorates — directly betrayed the spirit of the Pact.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Jinnah’s 14 Points (1929): Final breakdown of Congress-League unity.</a:t>
            </a:r>
          </a:p>
        </p:txBody>
      </p:sp>
      <p:pic>
        <p:nvPicPr>
          <p:cNvPr id="800" name="Content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650" y="730000"/>
            <a:ext cx="3108960" cy="3200000"/>
          </a:xfrm>
          <a:prstGeom prst="roundRect">
            <a:avLst>
              <a:gd name="adj" fmla="val 16667"/>
            </a:avLst>
          </a:prstGeom>
          <a:effectLst>
            <a:outerShdw blurRad="114300" dist="38100" dir="5400000" algn="t" rotWithShape="0">
              <a:srgbClr val="000000">
                <a:alpha val="20000"/>
              </a:srgbClr>
            </a:outerShdw>
          </a:effectLst>
        </p:spPr>
      </p:pic>
      <p:pic>
        <p:nvPicPr>
          <p:cNvPr id="810" name="DUET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4954080"/>
            <a:ext cx="152400" cy="152400"/>
          </a:xfrm>
          <a:prstGeom prst="rect">
            <a:avLst/>
          </a:prstGeom>
        </p:spPr>
      </p:pic>
      <p:pic>
        <p:nvPicPr>
          <p:cNvPr id="2" name="DUETLogo">
            <a:extLst>
              <a:ext uri="{FF2B5EF4-FFF2-40B4-BE49-F238E27FC236}">
                <a16:creationId xmlns:a16="http://schemas.microsoft.com/office/drawing/2014/main" id="{84F2D802-3D74-BF7A-3744-F4EE994478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9968" y="4314220"/>
            <a:ext cx="865346" cy="5257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7F25E7-7425-F091-17D9-B691F61AC8C1}"/>
              </a:ext>
            </a:extLst>
          </p:cNvPr>
          <p:cNvSpPr txBox="1"/>
          <p:nvPr/>
        </p:nvSpPr>
        <p:spPr>
          <a:xfrm>
            <a:off x="1371600" y="4654296"/>
            <a:ext cx="7219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Page No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HeaderBg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4" name="HeaderTitle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Quaid-e-Azam &amp; Other Movements</a:t>
            </a:r>
          </a:p>
        </p:txBody>
      </p:sp>
      <p:sp>
        <p:nvSpPr>
          <p:cNvPr id="902" name="AccentLine"/>
          <p:cNvSpPr/>
          <p:nvPr/>
        </p:nvSpPr>
        <p:spPr>
          <a:xfrm>
            <a:off x="0" y="640080"/>
            <a:ext cx="9144000" cy="38100"/>
          </a:xfrm>
          <a:prstGeom prst="rect">
            <a:avLst/>
          </a:prstGeom>
          <a:solidFill>
            <a:srgbClr val="C9913A"/>
          </a:solidFill>
          <a:ln>
            <a:noFill/>
          </a:ln>
        </p:spPr>
      </p:sp>
      <p:sp>
        <p:nvSpPr>
          <p:cNvPr id="900" name="FooterBg"/>
          <p:cNvSpPr/>
          <p:nvPr/>
        </p:nvSpPr>
        <p:spPr>
          <a:xfrm>
            <a:off x="0" y="4937040"/>
            <a:ext cx="9144000" cy="206208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1" name="FooterText"/>
          <p:cNvSpPr/>
          <p:nvPr/>
        </p:nvSpPr>
        <p:spPr>
          <a:xfrm>
            <a:off x="274320" y="4937040"/>
            <a:ext cx="8595360" cy="20620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Lucknow Pact 1916  |  Pakistan Studies  |  DUET – BS Cyber Security</a:t>
            </a:r>
          </a:p>
        </p:txBody>
      </p:sp>
      <p:sp>
        <p:nvSpPr>
          <p:cNvPr id="5" name="ContentText"/>
          <p:cNvSpPr/>
          <p:nvPr/>
        </p:nvSpPr>
        <p:spPr>
          <a:xfrm>
            <a:off x="274320" y="730000"/>
            <a:ext cx="5395830" cy="41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Jinnah’s departure from Congress (1920): Disagreed with Gandhi’s mass civil disobedience approach.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Khilafat Movement (1919–24): Temporarily extended Hindu-Muslim unity but introduced religion into mass politics.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Non-Cooperation Movement (1920–22): Brought masses in but alienated Muslim League’s educated leaders.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Hindu Mahasabha &amp; Shuddhi Movement: Hindu revivalism alarmed Muslims and deepened the communal divide.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Failure of Round Table Conferences (1930–32): Congress and AIML failed to revive cooperation.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Key lesson: The Pact’s collapse convinced Jinnah that Muslims needed a separate homeland — the seed for Pakistan Movement.</a:t>
            </a:r>
          </a:p>
        </p:txBody>
      </p:sp>
      <p:pic>
        <p:nvPicPr>
          <p:cNvPr id="800" name="Content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650" y="730000"/>
            <a:ext cx="3108960" cy="3200000"/>
          </a:xfrm>
          <a:prstGeom prst="roundRect">
            <a:avLst>
              <a:gd name="adj" fmla="val 16667"/>
            </a:avLst>
          </a:prstGeom>
          <a:effectLst>
            <a:outerShdw blurRad="114300" dist="38100" dir="5400000" algn="t" rotWithShape="0">
              <a:srgbClr val="000000">
                <a:alpha val="20000"/>
              </a:srgbClr>
            </a:outerShdw>
          </a:effectLst>
        </p:spPr>
      </p:pic>
      <p:pic>
        <p:nvPicPr>
          <p:cNvPr id="810" name="DUET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4954080"/>
            <a:ext cx="152400" cy="152400"/>
          </a:xfrm>
          <a:prstGeom prst="rect">
            <a:avLst/>
          </a:prstGeom>
        </p:spPr>
      </p:pic>
      <p:pic>
        <p:nvPicPr>
          <p:cNvPr id="2" name="DUETLogo">
            <a:extLst>
              <a:ext uri="{FF2B5EF4-FFF2-40B4-BE49-F238E27FC236}">
                <a16:creationId xmlns:a16="http://schemas.microsoft.com/office/drawing/2014/main" id="{20E68006-2CC3-1EE8-C516-42213B9AF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9968" y="4314220"/>
            <a:ext cx="865346" cy="5257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CC0E22-7C6F-D7E0-9078-9E17F609C46C}"/>
              </a:ext>
            </a:extLst>
          </p:cNvPr>
          <p:cNvSpPr txBox="1"/>
          <p:nvPr/>
        </p:nvSpPr>
        <p:spPr>
          <a:xfrm>
            <a:off x="1371600" y="4654296"/>
            <a:ext cx="7219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Page No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HeaderBg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4" name="HeaderTitle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902" name="AccentLine"/>
          <p:cNvSpPr/>
          <p:nvPr/>
        </p:nvSpPr>
        <p:spPr>
          <a:xfrm>
            <a:off x="0" y="640080"/>
            <a:ext cx="9144000" cy="38100"/>
          </a:xfrm>
          <a:prstGeom prst="rect">
            <a:avLst/>
          </a:prstGeom>
          <a:solidFill>
            <a:srgbClr val="C9913A"/>
          </a:solidFill>
          <a:ln>
            <a:noFill/>
          </a:ln>
        </p:spPr>
      </p:sp>
      <p:sp>
        <p:nvSpPr>
          <p:cNvPr id="900" name="FooterBg"/>
          <p:cNvSpPr/>
          <p:nvPr/>
        </p:nvSpPr>
        <p:spPr>
          <a:xfrm>
            <a:off x="0" y="4937040"/>
            <a:ext cx="9144000" cy="206208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901" name="FooterText"/>
          <p:cNvSpPr/>
          <p:nvPr/>
        </p:nvSpPr>
        <p:spPr>
          <a:xfrm>
            <a:off x="274320" y="4937040"/>
            <a:ext cx="8595360" cy="20620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Lucknow Pact 1916  |  Pakistan Studies  |  DUET – BS Cyber Security</a:t>
            </a:r>
          </a:p>
        </p:txBody>
      </p:sp>
      <p:sp>
        <p:nvSpPr>
          <p:cNvPr id="5" name="ContentText"/>
          <p:cNvSpPr/>
          <p:nvPr/>
        </p:nvSpPr>
        <p:spPr>
          <a:xfrm>
            <a:off x="274320" y="730000"/>
            <a:ext cx="5395830" cy="411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The Lucknow Pact of 1916 was a milestone in the Indian freedom struggle.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It proved that Hindus and Muslims could work together for a common cause — and used that unity to win the Montagu–Chelmsford Reforms (1919).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Although the unity did not last long, the Pact played a vital role in shaping future constitutional developments in both India and Pakistan.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SzPct val="100000"/>
              <a:buChar char="▸"/>
            </a:pPr>
            <a:r>
              <a:rPr lang="en-US" sz="1400" b="1" dirty="0">
                <a:solidFill>
                  <a:srgbClr val="1A1A1A"/>
                </a:solidFill>
                <a:latin typeface="Calibri"/>
              </a:rPr>
              <a:t>Its collapse convinced Quaid-e-Azam Jinnah that constitutional guarantees alone were not enough — a realisation that ultimately led to the demand for Pakistan in 1940 and independence in 1947.</a:t>
            </a:r>
          </a:p>
        </p:txBody>
      </p:sp>
      <p:pic>
        <p:nvPicPr>
          <p:cNvPr id="800" name="Content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650" y="730000"/>
            <a:ext cx="3108960" cy="3200000"/>
          </a:xfrm>
          <a:prstGeom prst="roundRect">
            <a:avLst>
              <a:gd name="adj" fmla="val 16667"/>
            </a:avLst>
          </a:prstGeom>
          <a:effectLst>
            <a:outerShdw blurRad="114300" dist="38100" dir="5400000" algn="t" rotWithShape="0">
              <a:srgbClr val="000000">
                <a:alpha val="20000"/>
              </a:srgbClr>
            </a:outerShdw>
          </a:effectLst>
        </p:spPr>
      </p:pic>
      <p:pic>
        <p:nvPicPr>
          <p:cNvPr id="810" name="DUET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4954080"/>
            <a:ext cx="152400" cy="152400"/>
          </a:xfrm>
          <a:prstGeom prst="rect">
            <a:avLst/>
          </a:prstGeom>
        </p:spPr>
      </p:pic>
      <p:pic>
        <p:nvPicPr>
          <p:cNvPr id="2" name="DUETLogo">
            <a:extLst>
              <a:ext uri="{FF2B5EF4-FFF2-40B4-BE49-F238E27FC236}">
                <a16:creationId xmlns:a16="http://schemas.microsoft.com/office/drawing/2014/main" id="{1D4B8943-F489-DFB6-F530-BA76BF8D0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9968" y="4314220"/>
            <a:ext cx="865346" cy="5257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339D2E-B88E-01BB-65FC-E641A700EFDC}"/>
              </a:ext>
            </a:extLst>
          </p:cNvPr>
          <p:cNvSpPr txBox="1"/>
          <p:nvPr/>
        </p:nvSpPr>
        <p:spPr>
          <a:xfrm>
            <a:off x="1371600" y="4654296"/>
            <a:ext cx="7219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Page </a:t>
            </a:r>
            <a:r>
              <a:rPr lang="en-US" sz="1200"/>
              <a:t>No 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1899</Words>
  <Application>Microsoft Office PowerPoint</Application>
  <PresentationFormat>On-screen Show (16:9)</PresentationFormat>
  <Paragraphs>179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Lucknow Pact 1916</dc:title>
  <dc:subject>PptxGenJS Presentation</dc:subject>
  <dc:creator>PptxGenJS</dc:creator>
  <cp:lastModifiedBy>MR</cp:lastModifiedBy>
  <cp:revision>13</cp:revision>
  <dcterms:created xsi:type="dcterms:W3CDTF">2026-03-14T10:58:19Z</dcterms:created>
  <dcterms:modified xsi:type="dcterms:W3CDTF">2026-04-15T22:07:39Z</dcterms:modified>
</cp:coreProperties>
</file>