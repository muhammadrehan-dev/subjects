
<file path=[Content_Types].xml><?xml version="1.0" encoding="utf-8"?>
<Types xmlns="http://schemas.openxmlformats.org/package/2006/content-types">
  <Default Extension="jfif" ContentType="image/jpeg"/>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notesMasterIdLst>
    <p:notesMasterId r:id="rId18"/>
  </p:notesMasterIdLst>
  <p:sldIdLst>
    <p:sldId id="258" r:id="rId2"/>
    <p:sldId id="257" r:id="rId3"/>
    <p:sldId id="259" r:id="rId4"/>
    <p:sldId id="260" r:id="rId5"/>
    <p:sldId id="261" r:id="rId6"/>
    <p:sldId id="262" r:id="rId7"/>
    <p:sldId id="256" r:id="rId8"/>
    <p:sldId id="264" r:id="rId9"/>
    <p:sldId id="263"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47" d="100"/>
          <a:sy n="47" d="100"/>
        </p:scale>
        <p:origin x="168" y="36"/>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57" d="100"/>
          <a:sy n="57" d="100"/>
        </p:scale>
        <p:origin x="2808" y="4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80269C-86A0-4976-B57A-1C17AFCCFAC9}" type="datetimeFigureOut">
              <a:rPr lang="en-US" smtClean="0"/>
              <a:t>9/29/2025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794569-BD4B-449D-A01D-0F557FE24739}" type="slidenum">
              <a:rPr lang="en-US" smtClean="0"/>
              <a:t>‹#›</a:t>
            </a:fld>
            <a:endParaRPr lang="en-US"/>
          </a:p>
        </p:txBody>
      </p:sp>
    </p:spTree>
    <p:extLst>
      <p:ext uri="{BB962C8B-B14F-4D97-AF65-F5344CB8AC3E}">
        <p14:creationId xmlns:p14="http://schemas.microsoft.com/office/powerpoint/2010/main" val="2183113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8794569-BD4B-449D-A01D-0F557FE24739}" type="slidenum">
              <a:rPr lang="en-US" smtClean="0"/>
              <a:t>7</a:t>
            </a:fld>
            <a:endParaRPr lang="en-US"/>
          </a:p>
        </p:txBody>
      </p:sp>
    </p:spTree>
    <p:extLst>
      <p:ext uri="{BB962C8B-B14F-4D97-AF65-F5344CB8AC3E}">
        <p14:creationId xmlns:p14="http://schemas.microsoft.com/office/powerpoint/2010/main" val="3476864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39625C1-0015-4106-8C07-D9B11892764C}" type="datetime1">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53A3FB-F41A-4F5C-A86E-7F28978B43C1}" type="slidenum">
              <a:rPr lang="en-US" smtClean="0"/>
              <a:t>‹#›</a:t>
            </a:fld>
            <a:endParaRPr lang="en-US"/>
          </a:p>
        </p:txBody>
      </p:sp>
    </p:spTree>
    <p:extLst>
      <p:ext uri="{BB962C8B-B14F-4D97-AF65-F5344CB8AC3E}">
        <p14:creationId xmlns:p14="http://schemas.microsoft.com/office/powerpoint/2010/main" val="629303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4371054-FF46-4F45-9B31-40A69D177522}" type="datetime1">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53A3FB-F41A-4F5C-A86E-7F28978B43C1}" type="slidenum">
              <a:rPr lang="en-US" smtClean="0"/>
              <a:t>‹#›</a:t>
            </a:fld>
            <a:endParaRPr lang="en-US"/>
          </a:p>
        </p:txBody>
      </p:sp>
    </p:spTree>
    <p:extLst>
      <p:ext uri="{BB962C8B-B14F-4D97-AF65-F5344CB8AC3E}">
        <p14:creationId xmlns:p14="http://schemas.microsoft.com/office/powerpoint/2010/main" val="3371500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03F2319-4E22-41CD-B13E-7A32421AB3E5}" type="datetime1">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53A3FB-F41A-4F5C-A86E-7F28978B43C1}" type="slidenum">
              <a:rPr lang="en-US" smtClean="0"/>
              <a:t>‹#›</a:t>
            </a:fld>
            <a:endParaRPr lang="en-US"/>
          </a:p>
        </p:txBody>
      </p:sp>
    </p:spTree>
    <p:extLst>
      <p:ext uri="{BB962C8B-B14F-4D97-AF65-F5344CB8AC3E}">
        <p14:creationId xmlns:p14="http://schemas.microsoft.com/office/powerpoint/2010/main" val="3824986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0B4CD81-38C2-46BB-8454-6B52A27C72EE}" type="datetime1">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53A3FB-F41A-4F5C-A86E-7F28978B43C1}" type="slidenum">
              <a:rPr lang="en-US" smtClean="0"/>
              <a:t>‹#›</a:t>
            </a:fld>
            <a:endParaRPr lang="en-US"/>
          </a:p>
        </p:txBody>
      </p:sp>
    </p:spTree>
    <p:extLst>
      <p:ext uri="{BB962C8B-B14F-4D97-AF65-F5344CB8AC3E}">
        <p14:creationId xmlns:p14="http://schemas.microsoft.com/office/powerpoint/2010/main" val="758500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EB13BAC-0C0E-4749-834F-9153D93F4DB1}" type="datetime1">
              <a:rPr lang="en-US" smtClean="0"/>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53A3FB-F41A-4F5C-A86E-7F28978B43C1}" type="slidenum">
              <a:rPr lang="en-US" smtClean="0"/>
              <a:t>‹#›</a:t>
            </a:fld>
            <a:endParaRPr lang="en-US"/>
          </a:p>
        </p:txBody>
      </p:sp>
    </p:spTree>
    <p:extLst>
      <p:ext uri="{BB962C8B-B14F-4D97-AF65-F5344CB8AC3E}">
        <p14:creationId xmlns:p14="http://schemas.microsoft.com/office/powerpoint/2010/main" val="1408170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6EC246B-B908-4E17-958B-E4F3CD7AD1B0}" type="datetime1">
              <a:rPr lang="en-US" smtClean="0"/>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53A3FB-F41A-4F5C-A86E-7F28978B43C1}" type="slidenum">
              <a:rPr lang="en-US" smtClean="0"/>
              <a:t>‹#›</a:t>
            </a:fld>
            <a:endParaRPr lang="en-US"/>
          </a:p>
        </p:txBody>
      </p:sp>
    </p:spTree>
    <p:extLst>
      <p:ext uri="{BB962C8B-B14F-4D97-AF65-F5344CB8AC3E}">
        <p14:creationId xmlns:p14="http://schemas.microsoft.com/office/powerpoint/2010/main" val="2607950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05AA73-A486-4CEE-B07A-C0A9AEE4ABDF}" type="datetime1">
              <a:rPr lang="en-US" smtClean="0"/>
              <a:t>9/29/2025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53A3FB-F41A-4F5C-A86E-7F28978B43C1}" type="slidenum">
              <a:rPr lang="en-US" smtClean="0"/>
              <a:t>‹#›</a:t>
            </a:fld>
            <a:endParaRPr lang="en-US"/>
          </a:p>
        </p:txBody>
      </p:sp>
    </p:spTree>
    <p:extLst>
      <p:ext uri="{BB962C8B-B14F-4D97-AF65-F5344CB8AC3E}">
        <p14:creationId xmlns:p14="http://schemas.microsoft.com/office/powerpoint/2010/main" val="421311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8F79FE-B382-4B47-B072-52C845E162B7}" type="datetime1">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53A3FB-F41A-4F5C-A86E-7F28978B43C1}" type="slidenum">
              <a:rPr lang="en-US" smtClean="0"/>
              <a:t>‹#›</a:t>
            </a:fld>
            <a:endParaRPr lang="en-US"/>
          </a:p>
        </p:txBody>
      </p:sp>
    </p:spTree>
    <p:extLst>
      <p:ext uri="{BB962C8B-B14F-4D97-AF65-F5344CB8AC3E}">
        <p14:creationId xmlns:p14="http://schemas.microsoft.com/office/powerpoint/2010/main" val="1563340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52A53F8-F459-47FA-8A47-56051A370645}" type="datetime1">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53A3FB-F41A-4F5C-A86E-7F28978B43C1}" type="slidenum">
              <a:rPr lang="en-US" smtClean="0"/>
              <a:t>‹#›</a:t>
            </a:fld>
            <a:endParaRPr lang="en-US"/>
          </a:p>
        </p:txBody>
      </p:sp>
    </p:spTree>
    <p:extLst>
      <p:ext uri="{BB962C8B-B14F-4D97-AF65-F5344CB8AC3E}">
        <p14:creationId xmlns:p14="http://schemas.microsoft.com/office/powerpoint/2010/main" val="3923242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CC74FED-37DA-4363-875F-DFA4C6FE6928}" type="datetime1">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53A3FB-F41A-4F5C-A86E-7F28978B43C1}" type="slidenum">
              <a:rPr lang="en-US" smtClean="0"/>
              <a:t>‹#›</a:t>
            </a:fld>
            <a:endParaRPr lang="en-US"/>
          </a:p>
        </p:txBody>
      </p:sp>
    </p:spTree>
    <p:extLst>
      <p:ext uri="{BB962C8B-B14F-4D97-AF65-F5344CB8AC3E}">
        <p14:creationId xmlns:p14="http://schemas.microsoft.com/office/powerpoint/2010/main" val="326187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89A7826-A86A-4B21-9FC2-3727281B4D8B}" type="datetime1">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53A3FB-F41A-4F5C-A86E-7F28978B43C1}"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130975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C3ACEF7-B7BE-4C5F-8041-BEAC3C01A094}" type="datetime1">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53A3FB-F41A-4F5C-A86E-7F28978B43C1}" type="slidenum">
              <a:rPr lang="en-US" smtClean="0"/>
              <a:t>‹#›</a:t>
            </a:fld>
            <a:endParaRPr lang="en-US"/>
          </a:p>
        </p:txBody>
      </p:sp>
    </p:spTree>
    <p:extLst>
      <p:ext uri="{BB962C8B-B14F-4D97-AF65-F5344CB8AC3E}">
        <p14:creationId xmlns:p14="http://schemas.microsoft.com/office/powerpoint/2010/main" val="25404155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2C21646-6297-4170-9002-B24A5082AFF9}" type="datetime1">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53A3FB-F41A-4F5C-A86E-7F28978B43C1}"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6854681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670EE2B-D8C2-48BD-B5D8-D46DEB2F542C}" type="datetime1">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53A3FB-F41A-4F5C-A86E-7F28978B43C1}" type="slidenum">
              <a:rPr lang="en-US" smtClean="0"/>
              <a:t>‹#›</a:t>
            </a:fld>
            <a:endParaRPr lang="en-US"/>
          </a:p>
        </p:txBody>
      </p:sp>
    </p:spTree>
    <p:extLst>
      <p:ext uri="{BB962C8B-B14F-4D97-AF65-F5344CB8AC3E}">
        <p14:creationId xmlns:p14="http://schemas.microsoft.com/office/powerpoint/2010/main" val="41810908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C017D80-1731-4B27-BB71-CB977A2B8733}" type="datetime1">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53A3FB-F41A-4F5C-A86E-7F28978B43C1}" type="slidenum">
              <a:rPr lang="en-US" smtClean="0"/>
              <a:t>‹#›</a:t>
            </a:fld>
            <a:endParaRPr lang="en-US"/>
          </a:p>
        </p:txBody>
      </p:sp>
    </p:spTree>
    <p:extLst>
      <p:ext uri="{BB962C8B-B14F-4D97-AF65-F5344CB8AC3E}">
        <p14:creationId xmlns:p14="http://schemas.microsoft.com/office/powerpoint/2010/main" val="1406903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223CC10-B894-4E3B-BBAD-D0DA29CD4597}" type="datetime1">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53A3FB-F41A-4F5C-A86E-7F28978B43C1}" type="slidenum">
              <a:rPr lang="en-US" smtClean="0"/>
              <a:t>‹#›</a:t>
            </a:fld>
            <a:endParaRPr lang="en-US"/>
          </a:p>
        </p:txBody>
      </p:sp>
    </p:spTree>
    <p:extLst>
      <p:ext uri="{BB962C8B-B14F-4D97-AF65-F5344CB8AC3E}">
        <p14:creationId xmlns:p14="http://schemas.microsoft.com/office/powerpoint/2010/main" val="2466359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A76E6F6-4BAB-4213-ACCA-B4A5DCCCFDB3}" type="datetime1">
              <a:rPr lang="en-US" smtClean="0"/>
              <a:t>9/29/2025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753A3FB-F41A-4F5C-A86E-7F28978B43C1}" type="slidenum">
              <a:rPr lang="en-US" smtClean="0"/>
              <a:t>‹#›</a:t>
            </a:fld>
            <a:endParaRPr lang="en-US"/>
          </a:p>
        </p:txBody>
      </p:sp>
    </p:spTree>
    <p:extLst>
      <p:ext uri="{BB962C8B-B14F-4D97-AF65-F5344CB8AC3E}">
        <p14:creationId xmlns:p14="http://schemas.microsoft.com/office/powerpoint/2010/main" val="3867014733"/>
      </p:ext>
    </p:extLst>
  </p:cSld>
  <p:clrMap bg1="dk1" tx1="lt1" bg2="dk2" tx2="lt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 id="2147483761"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1.xml"/><Relationship Id="rId4" Type="http://schemas.openxmlformats.org/officeDocument/2006/relationships/image" Target="../media/image10.jp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gi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1.xml"/><Relationship Id="rId4" Type="http://schemas.openxmlformats.org/officeDocument/2006/relationships/image" Target="../media/image24.jpg"/></Relationships>
</file>

<file path=ppt/slides/_rels/slide1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54557" y="128789"/>
            <a:ext cx="8551571" cy="1609860"/>
          </a:xfrm>
        </p:spPr>
        <p:txBody>
          <a:bodyPr/>
          <a:lstStyle/>
          <a:p>
            <a:pPr algn="ctr"/>
            <a:r>
              <a:rPr lang="en-US" dirty="0" err="1">
                <a:solidFill>
                  <a:schemeClr val="tx1"/>
                </a:solidFill>
                <a:latin typeface="Times New Roman" panose="02020603050405020304" pitchFamily="18" charset="0"/>
                <a:cs typeface="Times New Roman" panose="02020603050405020304" pitchFamily="18" charset="0"/>
              </a:rPr>
              <a:t>Dawood</a:t>
            </a:r>
            <a:r>
              <a:rPr lang="en-US" dirty="0">
                <a:solidFill>
                  <a:schemeClr val="tx1"/>
                </a:solidFill>
                <a:latin typeface="Times New Roman" panose="02020603050405020304" pitchFamily="18" charset="0"/>
                <a:cs typeface="Times New Roman" panose="02020603050405020304" pitchFamily="18" charset="0"/>
              </a:rPr>
              <a:t> University of Engineering &amp; Technology</a:t>
            </a:r>
            <a:endParaRPr lang="en-US" dirty="0"/>
          </a:p>
        </p:txBody>
      </p:sp>
      <p:sp>
        <p:nvSpPr>
          <p:cNvPr id="3" name="Subtitle 2"/>
          <p:cNvSpPr>
            <a:spLocks noGrp="1"/>
          </p:cNvSpPr>
          <p:nvPr>
            <p:ph type="subTitle" idx="1"/>
          </p:nvPr>
        </p:nvSpPr>
        <p:spPr>
          <a:xfrm>
            <a:off x="1893192" y="2261840"/>
            <a:ext cx="7611415" cy="3779522"/>
          </a:xfrm>
        </p:spPr>
        <p:txBody>
          <a:bodyPr>
            <a:normAutofit/>
          </a:bodyPr>
          <a:lstStyle/>
          <a:p>
            <a:pPr algn="ctr"/>
            <a:r>
              <a:rPr lang="en-US" sz="3200" dirty="0">
                <a:solidFill>
                  <a:schemeClr val="tx1"/>
                </a:solidFill>
                <a:latin typeface="Times New Roman" panose="02020603050405020304" pitchFamily="18" charset="0"/>
                <a:cs typeface="Times New Roman" panose="02020603050405020304" pitchFamily="18" charset="0"/>
              </a:rPr>
              <a:t>ARAB INVASION OF SINDH</a:t>
            </a:r>
            <a:br>
              <a:rPr lang="en-US" sz="3200" dirty="0">
                <a:solidFill>
                  <a:schemeClr val="tx1"/>
                </a:solidFill>
                <a:latin typeface="Times New Roman" panose="02020603050405020304" pitchFamily="18" charset="0"/>
                <a:cs typeface="Times New Roman" panose="02020603050405020304" pitchFamily="18" charset="0"/>
              </a:rPr>
            </a:br>
            <a:r>
              <a:rPr lang="en-US" sz="3200" dirty="0" smtClean="0">
                <a:solidFill>
                  <a:schemeClr val="tx1"/>
                </a:solidFill>
                <a:latin typeface="Times New Roman" panose="02020603050405020304" pitchFamily="18" charset="0"/>
                <a:cs typeface="Times New Roman" panose="02020603050405020304" pitchFamily="18" charset="0"/>
              </a:rPr>
              <a:t>711-715 </a:t>
            </a:r>
            <a:r>
              <a:rPr lang="en-US" sz="3200" dirty="0">
                <a:solidFill>
                  <a:schemeClr val="tx1"/>
                </a:solidFill>
                <a:latin typeface="Times New Roman" panose="02020603050405020304" pitchFamily="18" charset="0"/>
                <a:cs typeface="Times New Roman" panose="02020603050405020304" pitchFamily="18" charset="0"/>
              </a:rPr>
              <a:t>AD</a:t>
            </a:r>
            <a:r>
              <a:rPr lang="en-US" sz="3200" dirty="0" smtClean="0">
                <a:solidFill>
                  <a:schemeClr val="tx1"/>
                </a:solidFill>
                <a:latin typeface="Times New Roman" panose="02020603050405020304" pitchFamily="18" charset="0"/>
                <a:cs typeface="Times New Roman" panose="02020603050405020304" pitchFamily="18" charset="0"/>
              </a:rPr>
              <a:t>.</a:t>
            </a:r>
          </a:p>
          <a:p>
            <a:pPr algn="ctr"/>
            <a:endParaRPr lang="en-US" sz="3200" dirty="0">
              <a:solidFill>
                <a:schemeClr val="tx1"/>
              </a:solidFill>
              <a:latin typeface="Times New Roman" panose="02020603050405020304" pitchFamily="18" charset="0"/>
              <a:cs typeface="Times New Roman" panose="02020603050405020304" pitchFamily="18" charset="0"/>
            </a:endParaRPr>
          </a:p>
          <a:p>
            <a:pPr algn="l"/>
            <a:r>
              <a:rPr lang="en-US" sz="3200" dirty="0" smtClean="0">
                <a:solidFill>
                  <a:schemeClr val="tx1"/>
                </a:solidFill>
                <a:latin typeface="Times New Roman" panose="02020603050405020304" pitchFamily="18" charset="0"/>
                <a:cs typeface="Times New Roman" panose="02020603050405020304" pitchFamily="18" charset="0"/>
              </a:rPr>
              <a:t>Lecture # 2</a:t>
            </a:r>
          </a:p>
        </p:txBody>
      </p:sp>
      <p:sp>
        <p:nvSpPr>
          <p:cNvPr id="4" name="Slide Number Placeholder 3"/>
          <p:cNvSpPr>
            <a:spLocks noGrp="1"/>
          </p:cNvSpPr>
          <p:nvPr>
            <p:ph type="sldNum" sz="quarter" idx="12"/>
          </p:nvPr>
        </p:nvSpPr>
        <p:spPr/>
        <p:txBody>
          <a:bodyPr/>
          <a:lstStyle/>
          <a:p>
            <a:fld id="{8753A3FB-F41A-4F5C-A86E-7F28978B43C1}" type="slidenum">
              <a:rPr lang="en-US" sz="2000" smtClean="0"/>
              <a:t>1</a:t>
            </a:fld>
            <a:endParaRPr lang="en-US" sz="20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1910"/>
            <a:ext cx="2331076" cy="1761860"/>
          </a:xfrm>
          <a:prstGeom prst="rect">
            <a:avLst/>
          </a:prstGeom>
        </p:spPr>
      </p:pic>
    </p:spTree>
    <p:extLst>
      <p:ext uri="{BB962C8B-B14F-4D97-AF65-F5344CB8AC3E}">
        <p14:creationId xmlns:p14="http://schemas.microsoft.com/office/powerpoint/2010/main" val="17242625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97866" y="231820"/>
            <a:ext cx="10355525" cy="2923504"/>
          </a:xfrm>
        </p:spPr>
        <p:txBody>
          <a:bodyPr>
            <a:normAutofit lnSpcReduction="10000"/>
          </a:bodyPr>
          <a:lstStyle/>
          <a:p>
            <a:pPr algn="l"/>
            <a:r>
              <a:rPr lang="en-US" sz="2200" dirty="0" smtClean="0">
                <a:latin typeface="Times New Roman" panose="02020603050405020304" pitchFamily="18" charset="0"/>
                <a:cs typeface="Times New Roman" panose="02020603050405020304" pitchFamily="18" charset="0"/>
              </a:rPr>
              <a:t>SINDH BEFORE ISLAM:</a:t>
            </a: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caste system in ancient India was a social and religious system that divided people into four </a:t>
            </a:r>
            <a:r>
              <a:rPr lang="en-US" dirty="0" smtClean="0">
                <a:latin typeface="Times New Roman" panose="02020603050405020304" pitchFamily="18" charset="0"/>
                <a:cs typeface="Times New Roman" panose="02020603050405020304" pitchFamily="18" charset="0"/>
              </a:rPr>
              <a:t>main </a:t>
            </a:r>
            <a:r>
              <a:rPr lang="en-US" dirty="0">
                <a:latin typeface="Times New Roman" panose="02020603050405020304" pitchFamily="18" charset="0"/>
                <a:cs typeface="Times New Roman" panose="02020603050405020304" pitchFamily="18" charset="0"/>
              </a:rPr>
              <a:t>castes, each with its own specific duties and privileges. The four castes were</a:t>
            </a:r>
            <a:r>
              <a:rPr lang="en-US"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Brahmins: This was the highest caste, made up of priests and scholars who were responsible for performing religious rituals, studying and teaching the Vedas (sacred texts), and providing guidance to the rulers. Brahmins were believed to be the most spiritually pure and were accorded the highest respect in society.</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There are four Indo-Aryan Vedas: the Rig Veda contains h</a:t>
            </a:r>
            <a:r>
              <a:rPr lang="en-US" dirty="0" smtClean="0">
                <a:latin typeface="Times New Roman" panose="02020603050405020304" pitchFamily="18" charset="0"/>
                <a:cs typeface="Times New Roman" panose="02020603050405020304" pitchFamily="18" charset="0"/>
              </a:rPr>
              <a:t>ymns (</a:t>
            </a:r>
            <a:r>
              <a:rPr lang="en-US" dirty="0" err="1" smtClean="0">
                <a:latin typeface="Times New Roman" panose="02020603050405020304" pitchFamily="18" charset="0"/>
                <a:cs typeface="Times New Roman" panose="02020603050405020304" pitchFamily="18" charset="0"/>
              </a:rPr>
              <a:t>Mantars</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about their </a:t>
            </a:r>
            <a:r>
              <a:rPr lang="en-US" dirty="0" smtClean="0">
                <a:latin typeface="Times New Roman" panose="02020603050405020304" pitchFamily="18" charset="0"/>
                <a:cs typeface="Times New Roman" panose="02020603050405020304" pitchFamily="18" charset="0"/>
              </a:rPr>
              <a:t>Mythology</a:t>
            </a:r>
            <a:r>
              <a:rPr lang="en-US" dirty="0">
                <a:latin typeface="Times New Roman" panose="02020603050405020304" pitchFamily="18" charset="0"/>
                <a:cs typeface="Times New Roman" panose="02020603050405020304" pitchFamily="18" charset="0"/>
              </a:rPr>
              <a:t>; the </a:t>
            </a:r>
            <a:r>
              <a:rPr lang="en-US" dirty="0" err="1">
                <a:latin typeface="Times New Roman" panose="02020603050405020304" pitchFamily="18" charset="0"/>
                <a:cs typeface="Times New Roman" panose="02020603050405020304" pitchFamily="18" charset="0"/>
              </a:rPr>
              <a:t>Sama</a:t>
            </a:r>
            <a:r>
              <a:rPr lang="en-US" dirty="0">
                <a:latin typeface="Times New Roman" panose="02020603050405020304" pitchFamily="18" charset="0"/>
                <a:cs typeface="Times New Roman" panose="02020603050405020304" pitchFamily="18" charset="0"/>
              </a:rPr>
              <a:t> Veda consists mainly of </a:t>
            </a:r>
            <a:r>
              <a:rPr lang="en-US" dirty="0" smtClean="0">
                <a:latin typeface="Times New Roman" panose="02020603050405020304" pitchFamily="18" charset="0"/>
                <a:cs typeface="Times New Roman" panose="02020603050405020304" pitchFamily="18" charset="0"/>
              </a:rPr>
              <a:t>Hymns </a:t>
            </a:r>
            <a:r>
              <a:rPr lang="en-US" dirty="0">
                <a:latin typeface="Times New Roman" panose="02020603050405020304" pitchFamily="18" charset="0"/>
                <a:cs typeface="Times New Roman" panose="02020603050405020304" pitchFamily="18" charset="0"/>
              </a:rPr>
              <a:t>about religious rituals; the </a:t>
            </a:r>
            <a:r>
              <a:rPr lang="en-US" dirty="0" err="1">
                <a:latin typeface="Times New Roman" panose="02020603050405020304" pitchFamily="18" charset="0"/>
                <a:cs typeface="Times New Roman" panose="02020603050405020304" pitchFamily="18" charset="0"/>
              </a:rPr>
              <a:t>Yajur</a:t>
            </a:r>
            <a:r>
              <a:rPr lang="en-US" dirty="0">
                <a:latin typeface="Times New Roman" panose="02020603050405020304" pitchFamily="18" charset="0"/>
                <a:cs typeface="Times New Roman" panose="02020603050405020304" pitchFamily="18" charset="0"/>
              </a:rPr>
              <a:t> Veda contains instructions for </a:t>
            </a:r>
            <a:r>
              <a:rPr lang="en-US" dirty="0" smtClean="0">
                <a:latin typeface="Times New Roman" panose="02020603050405020304" pitchFamily="18" charset="0"/>
                <a:cs typeface="Times New Roman" panose="02020603050405020304" pitchFamily="18" charset="0"/>
              </a:rPr>
              <a:t>Religious </a:t>
            </a:r>
            <a:r>
              <a:rPr lang="en-US" dirty="0">
                <a:latin typeface="Times New Roman" panose="02020603050405020304" pitchFamily="18" charset="0"/>
                <a:cs typeface="Times New Roman" panose="02020603050405020304" pitchFamily="18" charset="0"/>
              </a:rPr>
              <a:t>R</a:t>
            </a:r>
            <a:r>
              <a:rPr lang="en-US" dirty="0" smtClean="0">
                <a:latin typeface="Times New Roman" panose="02020603050405020304" pitchFamily="18" charset="0"/>
                <a:cs typeface="Times New Roman" panose="02020603050405020304" pitchFamily="18" charset="0"/>
              </a:rPr>
              <a:t>ituals</a:t>
            </a:r>
            <a:r>
              <a:rPr lang="en-US" dirty="0">
                <a:latin typeface="Times New Roman" panose="02020603050405020304" pitchFamily="18" charset="0"/>
                <a:cs typeface="Times New Roman" panose="02020603050405020304" pitchFamily="18" charset="0"/>
              </a:rPr>
              <a:t>; and the </a:t>
            </a:r>
            <a:r>
              <a:rPr lang="en-US" dirty="0" err="1" smtClean="0">
                <a:latin typeface="Times New Roman" panose="02020603050405020304" pitchFamily="18" charset="0"/>
                <a:cs typeface="Times New Roman" panose="02020603050405020304" pitchFamily="18" charset="0"/>
              </a:rPr>
              <a:t>Atharva</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Veda consists of spells against </a:t>
            </a:r>
            <a:r>
              <a:rPr lang="en-US" dirty="0" smtClean="0">
                <a:latin typeface="Times New Roman" panose="02020603050405020304" pitchFamily="18" charset="0"/>
                <a:cs typeface="Times New Roman" panose="02020603050405020304" pitchFamily="18" charset="0"/>
              </a:rPr>
              <a:t>Enemies</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Sorcerers</a:t>
            </a:r>
            <a:r>
              <a:rPr lang="en-US" dirty="0">
                <a:latin typeface="Times New Roman" panose="02020603050405020304" pitchFamily="18" charset="0"/>
                <a:cs typeface="Times New Roman" panose="02020603050405020304" pitchFamily="18" charset="0"/>
              </a:rPr>
              <a:t>, and </a:t>
            </a:r>
            <a:r>
              <a:rPr lang="en-US" dirty="0" smtClean="0">
                <a:latin typeface="Times New Roman" panose="02020603050405020304" pitchFamily="18" charset="0"/>
                <a:cs typeface="Times New Roman" panose="02020603050405020304" pitchFamily="18" charset="0"/>
              </a:rPr>
              <a:t>Diseases</a:t>
            </a:r>
            <a:r>
              <a:rPr lang="en-US" dirty="0">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p:txBody>
          <a:bodyPr/>
          <a:lstStyle/>
          <a:p>
            <a:fld id="{8753A3FB-F41A-4F5C-A86E-7F28978B43C1}" type="slidenum">
              <a:rPr lang="en-US" smtClean="0"/>
              <a:t>2</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996" y="3260458"/>
            <a:ext cx="5300193" cy="350095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15644" y="3260458"/>
            <a:ext cx="5358067" cy="3500950"/>
          </a:xfrm>
          <a:prstGeom prst="rect">
            <a:avLst/>
          </a:prstGeom>
        </p:spPr>
      </p:pic>
    </p:spTree>
    <p:extLst>
      <p:ext uri="{BB962C8B-B14F-4D97-AF65-F5344CB8AC3E}">
        <p14:creationId xmlns:p14="http://schemas.microsoft.com/office/powerpoint/2010/main" val="41599325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34335" y="1088694"/>
            <a:ext cx="9800583" cy="1293898"/>
          </a:xfrm>
        </p:spPr>
        <p:txBody>
          <a:bodyPr/>
          <a:lstStyle/>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Kshatriyas: This caste was made up of warriors and rulers who were responsible for protecting society and maintaining law and order. Kshatriyas were expected to be brave, skilled in warfare, and committed to upholding the dharma (righteousness) of society.</a:t>
            </a:r>
          </a:p>
          <a:p>
            <a:pPr algn="l"/>
            <a:endParaRPr lang="en-US" dirty="0"/>
          </a:p>
        </p:txBody>
      </p:sp>
      <p:sp>
        <p:nvSpPr>
          <p:cNvPr id="4" name="Slide Number Placeholder 3"/>
          <p:cNvSpPr>
            <a:spLocks noGrp="1"/>
          </p:cNvSpPr>
          <p:nvPr>
            <p:ph type="sldNum" sz="quarter" idx="12"/>
          </p:nvPr>
        </p:nvSpPr>
        <p:spPr/>
        <p:txBody>
          <a:bodyPr/>
          <a:lstStyle/>
          <a:p>
            <a:fld id="{8753A3FB-F41A-4F5C-A86E-7F28978B43C1}" type="slidenum">
              <a:rPr lang="en-US" sz="1800" smtClean="0">
                <a:latin typeface="Times New Roman" panose="02020603050405020304" pitchFamily="18" charset="0"/>
                <a:cs typeface="Times New Roman" panose="02020603050405020304" pitchFamily="18" charset="0"/>
              </a:rPr>
              <a:t>3</a:t>
            </a:fld>
            <a:endParaRPr lang="en-US" sz="180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3851" y="2131052"/>
            <a:ext cx="4755591" cy="4444924"/>
          </a:xfrm>
          <a:prstGeom prst="rect">
            <a:avLst/>
          </a:prstGeom>
        </p:spPr>
      </p:pic>
    </p:spTree>
    <p:extLst>
      <p:ext uri="{BB962C8B-B14F-4D97-AF65-F5344CB8AC3E}">
        <p14:creationId xmlns:p14="http://schemas.microsoft.com/office/powerpoint/2010/main" val="15791678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56306" y="805356"/>
            <a:ext cx="9002094" cy="1796175"/>
          </a:xfrm>
        </p:spPr>
        <p:txBody>
          <a:bodyPr/>
          <a:lstStyle/>
          <a:p>
            <a:pPr marL="285750" indent="-285750" algn="just">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Vaishyas</a:t>
            </a:r>
            <a:r>
              <a:rPr lang="en-US" dirty="0">
                <a:latin typeface="Times New Roman" panose="02020603050405020304" pitchFamily="18" charset="0"/>
                <a:cs typeface="Times New Roman" panose="02020603050405020304" pitchFamily="18" charset="0"/>
              </a:rPr>
              <a:t>: This caste was made up of merchants, traders, and farmers who were responsible for producing and trading goods. </a:t>
            </a:r>
            <a:r>
              <a:rPr lang="en-US" dirty="0" err="1">
                <a:latin typeface="Times New Roman" panose="02020603050405020304" pitchFamily="18" charset="0"/>
                <a:cs typeface="Times New Roman" panose="02020603050405020304" pitchFamily="18" charset="0"/>
              </a:rPr>
              <a:t>Vaishyas</a:t>
            </a:r>
            <a:r>
              <a:rPr lang="en-US" dirty="0">
                <a:latin typeface="Times New Roman" panose="02020603050405020304" pitchFamily="18" charset="0"/>
                <a:cs typeface="Times New Roman" panose="02020603050405020304" pitchFamily="18" charset="0"/>
              </a:rPr>
              <a:t> were expected to be skilled in business and agriculture, and to contribute to the wealth of society.</a:t>
            </a:r>
          </a:p>
          <a:p>
            <a:pPr algn="l"/>
            <a:endParaRPr lang="en-US" dirty="0"/>
          </a:p>
        </p:txBody>
      </p:sp>
      <p:sp>
        <p:nvSpPr>
          <p:cNvPr id="4" name="Slide Number Placeholder 3"/>
          <p:cNvSpPr>
            <a:spLocks noGrp="1"/>
          </p:cNvSpPr>
          <p:nvPr>
            <p:ph type="sldNum" sz="quarter" idx="12"/>
          </p:nvPr>
        </p:nvSpPr>
        <p:spPr>
          <a:xfrm>
            <a:off x="9041423" y="6492875"/>
            <a:ext cx="683339" cy="365125"/>
          </a:xfrm>
        </p:spPr>
        <p:txBody>
          <a:bodyPr/>
          <a:lstStyle/>
          <a:p>
            <a:fld id="{8753A3FB-F41A-4F5C-A86E-7F28978B43C1}" type="slidenum">
              <a:rPr lang="en-US" sz="1800" smtClean="0"/>
              <a:t>4</a:t>
            </a:fld>
            <a:endParaRPr lang="en-US" sz="18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0006" y="2059911"/>
            <a:ext cx="3063800" cy="4268895"/>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13806" y="2059911"/>
            <a:ext cx="3163081" cy="4277535"/>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6887" y="2064002"/>
            <a:ext cx="3631418" cy="4264804"/>
          </a:xfrm>
          <a:prstGeom prst="rect">
            <a:avLst/>
          </a:prstGeom>
        </p:spPr>
      </p:pic>
    </p:spTree>
    <p:extLst>
      <p:ext uri="{BB962C8B-B14F-4D97-AF65-F5344CB8AC3E}">
        <p14:creationId xmlns:p14="http://schemas.microsoft.com/office/powerpoint/2010/main" val="7262525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53275" y="1037177"/>
            <a:ext cx="9800584" cy="1706023"/>
          </a:xfrm>
        </p:spPr>
        <p:txBody>
          <a:bodyPr/>
          <a:lstStyle/>
          <a:p>
            <a:pPr marL="285750" indent="-285750" algn="just">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Shudras</a:t>
            </a:r>
            <a:r>
              <a:rPr lang="en-US" dirty="0">
                <a:latin typeface="Times New Roman" panose="02020603050405020304" pitchFamily="18" charset="0"/>
                <a:cs typeface="Times New Roman" panose="02020603050405020304" pitchFamily="18" charset="0"/>
              </a:rPr>
              <a:t>: This was the lowest caste, made up of laborers and servants who performed manual labor and menial tasks. </a:t>
            </a:r>
            <a:r>
              <a:rPr lang="en-US" dirty="0" err="1">
                <a:latin typeface="Times New Roman" panose="02020603050405020304" pitchFamily="18" charset="0"/>
                <a:cs typeface="Times New Roman" panose="02020603050405020304" pitchFamily="18" charset="0"/>
              </a:rPr>
              <a:t>Shudras</a:t>
            </a:r>
            <a:r>
              <a:rPr lang="en-US" dirty="0">
                <a:latin typeface="Times New Roman" panose="02020603050405020304" pitchFamily="18" charset="0"/>
                <a:cs typeface="Times New Roman" panose="02020603050405020304" pitchFamily="18" charset="0"/>
              </a:rPr>
              <a:t> were expected to serve the higher castes and were not allowed to participate in religious or political activities.</a:t>
            </a:r>
          </a:p>
          <a:p>
            <a:pPr algn="l"/>
            <a:endParaRPr lang="en-US" dirty="0"/>
          </a:p>
        </p:txBody>
      </p:sp>
      <p:sp>
        <p:nvSpPr>
          <p:cNvPr id="4" name="Slide Number Placeholder 3"/>
          <p:cNvSpPr>
            <a:spLocks noGrp="1"/>
          </p:cNvSpPr>
          <p:nvPr>
            <p:ph type="sldNum" sz="quarter" idx="12"/>
          </p:nvPr>
        </p:nvSpPr>
        <p:spPr>
          <a:xfrm>
            <a:off x="9015665" y="6372784"/>
            <a:ext cx="683339" cy="365125"/>
          </a:xfrm>
        </p:spPr>
        <p:txBody>
          <a:bodyPr/>
          <a:lstStyle/>
          <a:p>
            <a:fld id="{8753A3FB-F41A-4F5C-A86E-7F28978B43C1}" type="slidenum">
              <a:rPr lang="en-US" sz="1800" smtClean="0"/>
              <a:t>5</a:t>
            </a:fld>
            <a:endParaRPr lang="en-US" sz="18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3814" y="2750870"/>
            <a:ext cx="3072510" cy="390625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6325" y="2740494"/>
            <a:ext cx="2634628" cy="3919338"/>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90953" y="2743200"/>
            <a:ext cx="2717441" cy="3929607"/>
          </a:xfrm>
          <a:prstGeom prst="rect">
            <a:avLst/>
          </a:prstGeom>
        </p:spPr>
      </p:pic>
    </p:spTree>
    <p:extLst>
      <p:ext uri="{BB962C8B-B14F-4D97-AF65-F5344CB8AC3E}">
        <p14:creationId xmlns:p14="http://schemas.microsoft.com/office/powerpoint/2010/main" val="40849958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14639" y="1346269"/>
            <a:ext cx="9040730" cy="3740886"/>
          </a:xfrm>
        </p:spPr>
        <p:txBody>
          <a:bodyPr/>
          <a:lstStyle/>
          <a:p>
            <a:pPr marL="285750" indent="-285750" algn="just">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There was also a group of people known as the untouchables, who were considered to be outside the caste system altogether. They were relegated to the lowest of the low and were responsible for performing tasks that were considered to be ritually impure, such as cleaning sewers and disposing of dead animals.</a:t>
            </a:r>
          </a:p>
          <a:p>
            <a:pPr marL="285750" indent="-285750" algn="just">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The caste system was based on the principle of karma, which held that a person's social status was determined by their actions in past lives. While the system was intended to provide order and stability to society, it also reinforced inequality and discrimination, with members of lower castes being denied access to education, political power, and social mobility.</a:t>
            </a:r>
          </a:p>
          <a:p>
            <a:pPr marL="285750" indent="-285750" algn="just">
              <a:buFont typeface="Wingdings" panose="05000000000000000000" pitchFamily="2" charset="2"/>
              <a:buChar char="Ø"/>
            </a:pPr>
            <a:endParaRPr lang="en-US"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8753A3FB-F41A-4F5C-A86E-7F28978B43C1}" type="slidenum">
              <a:rPr lang="en-US" smtClean="0"/>
              <a:t>6</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2797" y="3821000"/>
            <a:ext cx="4274871" cy="2748132"/>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0018" y="3821000"/>
            <a:ext cx="4205351" cy="2748131"/>
          </a:xfrm>
          <a:prstGeom prst="rect">
            <a:avLst/>
          </a:prstGeom>
        </p:spPr>
      </p:pic>
    </p:spTree>
    <p:extLst>
      <p:ext uri="{BB962C8B-B14F-4D97-AF65-F5344CB8AC3E}">
        <p14:creationId xmlns:p14="http://schemas.microsoft.com/office/powerpoint/2010/main" val="37955749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5662" y="169326"/>
            <a:ext cx="9144000" cy="1208713"/>
          </a:xfrm>
        </p:spPr>
        <p:txBody>
          <a:bodyPr>
            <a:normAutofit/>
          </a:bodyPr>
          <a:lstStyle/>
          <a:p>
            <a:pPr algn="ctr"/>
            <a:r>
              <a:rPr lang="en-US" sz="3600" dirty="0" smtClean="0">
                <a:solidFill>
                  <a:schemeClr val="bg1"/>
                </a:solidFill>
                <a:latin typeface="Times New Roman" panose="02020603050405020304" pitchFamily="18" charset="0"/>
                <a:cs typeface="Times New Roman" panose="02020603050405020304" pitchFamily="18" charset="0"/>
              </a:rPr>
              <a:t>ARAB INVASION OF SINDH</a:t>
            </a:r>
            <a:br>
              <a:rPr lang="en-US" sz="3600" dirty="0" smtClean="0">
                <a:solidFill>
                  <a:schemeClr val="bg1"/>
                </a:solidFill>
                <a:latin typeface="Times New Roman" panose="02020603050405020304" pitchFamily="18" charset="0"/>
                <a:cs typeface="Times New Roman" panose="02020603050405020304" pitchFamily="18" charset="0"/>
              </a:rPr>
            </a:br>
            <a:r>
              <a:rPr lang="en-US" sz="3600" dirty="0" smtClean="0">
                <a:solidFill>
                  <a:schemeClr val="bg1"/>
                </a:solidFill>
                <a:latin typeface="Times New Roman" panose="02020603050405020304" pitchFamily="18" charset="0"/>
                <a:cs typeface="Times New Roman" panose="02020603050405020304" pitchFamily="18" charset="0"/>
              </a:rPr>
              <a:t>712 AD.</a:t>
            </a:r>
            <a:endParaRPr lang="en-US" sz="36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585301" y="1244855"/>
            <a:ext cx="6708128" cy="5417202"/>
          </a:xfrm>
        </p:spPr>
        <p:txBody>
          <a:bodyPr>
            <a:normAutofit lnSpcReduction="10000"/>
          </a:bodyPr>
          <a:lstStyle/>
          <a:p>
            <a:pPr marL="342900" indent="-342900" algn="l">
              <a:buFont typeface="Arial" panose="020B0604020202020204" pitchFamily="34" charset="0"/>
              <a:buChar char="•"/>
            </a:pPr>
            <a:r>
              <a:rPr lang="en-US" sz="2400" b="1" dirty="0" smtClean="0">
                <a:solidFill>
                  <a:schemeClr val="bg1"/>
                </a:solidFill>
                <a:latin typeface="Times New Roman" panose="02020603050405020304" pitchFamily="18" charset="0"/>
                <a:cs typeface="Times New Roman" panose="02020603050405020304" pitchFamily="18" charset="0"/>
              </a:rPr>
              <a:t>Before Islam</a:t>
            </a:r>
            <a:r>
              <a:rPr lang="en-US" sz="2400" dirty="0" smtClean="0">
                <a:solidFill>
                  <a:schemeClr val="bg1"/>
                </a:solidFill>
              </a:rPr>
              <a:t>:</a:t>
            </a:r>
            <a:endParaRPr lang="en-US" sz="2000" dirty="0" smtClean="0">
              <a:solidFill>
                <a:schemeClr val="bg1"/>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000" dirty="0" smtClean="0">
                <a:solidFill>
                  <a:schemeClr val="bg1"/>
                </a:solidFill>
                <a:latin typeface="Times New Roman" panose="02020603050405020304" pitchFamily="18" charset="0"/>
                <a:cs typeface="Times New Roman" panose="02020603050405020304" pitchFamily="18" charset="0"/>
              </a:rPr>
              <a:t>Ray family ruled on Sindh almost 137 years. It’s founder was Raja Ray </a:t>
            </a:r>
            <a:r>
              <a:rPr lang="en-US" sz="2000" dirty="0" err="1" smtClean="0">
                <a:solidFill>
                  <a:schemeClr val="bg1"/>
                </a:solidFill>
                <a:latin typeface="Times New Roman" panose="02020603050405020304" pitchFamily="18" charset="0"/>
                <a:cs typeface="Times New Roman" panose="02020603050405020304" pitchFamily="18" charset="0"/>
              </a:rPr>
              <a:t>Dewach</a:t>
            </a:r>
            <a:r>
              <a:rPr lang="en-US" sz="2000" dirty="0" smtClean="0">
                <a:solidFill>
                  <a:schemeClr val="bg1"/>
                </a:solidFill>
                <a:latin typeface="Times New Roman" panose="02020603050405020304" pitchFamily="18" charset="0"/>
                <a:cs typeface="Times New Roman" panose="02020603050405020304" pitchFamily="18" charset="0"/>
              </a:rPr>
              <a:t> and last ruler was Raja Ray </a:t>
            </a:r>
            <a:r>
              <a:rPr lang="en-US" sz="2000" dirty="0" err="1" smtClean="0">
                <a:solidFill>
                  <a:schemeClr val="bg1"/>
                </a:solidFill>
                <a:latin typeface="Times New Roman" panose="02020603050405020304" pitchFamily="18" charset="0"/>
                <a:cs typeface="Times New Roman" panose="02020603050405020304" pitchFamily="18" charset="0"/>
              </a:rPr>
              <a:t>Sahasi</a:t>
            </a:r>
            <a:r>
              <a:rPr lang="en-US" sz="2000" dirty="0" smtClean="0">
                <a:solidFill>
                  <a:schemeClr val="bg1"/>
                </a:solidFill>
                <a:latin typeface="Times New Roman" panose="02020603050405020304" pitchFamily="18" charset="0"/>
                <a:cs typeface="Times New Roman" panose="02020603050405020304" pitchFamily="18" charset="0"/>
              </a:rPr>
              <a:t>.</a:t>
            </a:r>
          </a:p>
          <a:p>
            <a:pPr marL="342900" indent="-342900" algn="l">
              <a:buFont typeface="Arial" panose="020B0604020202020204" pitchFamily="34" charset="0"/>
              <a:buChar char="•"/>
            </a:pPr>
            <a:r>
              <a:rPr lang="en-US" sz="2000" dirty="0" smtClean="0">
                <a:solidFill>
                  <a:schemeClr val="bg1"/>
                </a:solidFill>
                <a:latin typeface="Times New Roman" panose="02020603050405020304" pitchFamily="18" charset="0"/>
                <a:cs typeface="Times New Roman" panose="02020603050405020304" pitchFamily="18" charset="0"/>
              </a:rPr>
              <a:t>Raja Ray </a:t>
            </a:r>
            <a:r>
              <a:rPr lang="en-US" sz="2000" dirty="0" err="1" smtClean="0">
                <a:solidFill>
                  <a:schemeClr val="bg1"/>
                </a:solidFill>
                <a:latin typeface="Times New Roman" panose="02020603050405020304" pitchFamily="18" charset="0"/>
                <a:cs typeface="Times New Roman" panose="02020603050405020304" pitchFamily="18" charset="0"/>
              </a:rPr>
              <a:t>Sahasi</a:t>
            </a:r>
            <a:r>
              <a:rPr lang="en-US" sz="2000" dirty="0" smtClean="0">
                <a:solidFill>
                  <a:schemeClr val="bg1"/>
                </a:solidFill>
                <a:latin typeface="Times New Roman" panose="02020603050405020304" pitchFamily="18" charset="0"/>
                <a:cs typeface="Times New Roman" panose="02020603050405020304" pitchFamily="18" charset="0"/>
              </a:rPr>
              <a:t> has a Minister, his name was </a:t>
            </a:r>
            <a:r>
              <a:rPr lang="en-US" sz="2000" i="1" dirty="0" err="1" smtClean="0">
                <a:solidFill>
                  <a:schemeClr val="bg1"/>
                </a:solidFill>
                <a:latin typeface="Times New Roman" panose="02020603050405020304" pitchFamily="18" charset="0"/>
                <a:cs typeface="Times New Roman" panose="02020603050405020304" pitchFamily="18" charset="0"/>
              </a:rPr>
              <a:t>Raam</a:t>
            </a:r>
            <a:r>
              <a:rPr lang="en-US" sz="2000" dirty="0" smtClean="0">
                <a:solidFill>
                  <a:schemeClr val="bg1"/>
                </a:solidFill>
                <a:latin typeface="Times New Roman" panose="02020603050405020304" pitchFamily="18" charset="0"/>
                <a:cs typeface="Times New Roman" panose="02020603050405020304" pitchFamily="18" charset="0"/>
              </a:rPr>
              <a:t>. With the passage of time a Brahman, </a:t>
            </a:r>
            <a:r>
              <a:rPr lang="en-US" sz="2000" dirty="0" err="1" smtClean="0">
                <a:solidFill>
                  <a:schemeClr val="bg1"/>
                </a:solidFill>
                <a:latin typeface="Times New Roman" panose="02020603050405020304" pitchFamily="18" charset="0"/>
                <a:cs typeface="Times New Roman" panose="02020603050405020304" pitchFamily="18" charset="0"/>
              </a:rPr>
              <a:t>Chach</a:t>
            </a:r>
            <a:r>
              <a:rPr lang="en-US" sz="2000" dirty="0" smtClean="0">
                <a:solidFill>
                  <a:schemeClr val="bg1"/>
                </a:solidFill>
                <a:latin typeface="Times New Roman" panose="02020603050405020304" pitchFamily="18" charset="0"/>
                <a:cs typeface="Times New Roman" panose="02020603050405020304" pitchFamily="18" charset="0"/>
              </a:rPr>
              <a:t> bin </a:t>
            </a:r>
            <a:r>
              <a:rPr lang="en-US" sz="2000" dirty="0" err="1" smtClean="0">
                <a:solidFill>
                  <a:schemeClr val="bg1"/>
                </a:solidFill>
                <a:latin typeface="Times New Roman" panose="02020603050405020304" pitchFamily="18" charset="0"/>
                <a:cs typeface="Times New Roman" panose="02020603050405020304" pitchFamily="18" charset="0"/>
              </a:rPr>
              <a:t>Sailaj</a:t>
            </a:r>
            <a:r>
              <a:rPr lang="en-US" sz="2000" dirty="0" smtClean="0">
                <a:solidFill>
                  <a:schemeClr val="bg1"/>
                </a:solidFill>
                <a:latin typeface="Times New Roman" panose="02020603050405020304" pitchFamily="18" charset="0"/>
                <a:cs typeface="Times New Roman" panose="02020603050405020304" pitchFamily="18" charset="0"/>
              </a:rPr>
              <a:t> meet with </a:t>
            </a:r>
            <a:r>
              <a:rPr lang="en-US" sz="2000" dirty="0" err="1" smtClean="0">
                <a:solidFill>
                  <a:schemeClr val="bg1"/>
                </a:solidFill>
                <a:latin typeface="Times New Roman" panose="02020603050405020304" pitchFamily="18" charset="0"/>
                <a:cs typeface="Times New Roman" panose="02020603050405020304" pitchFamily="18" charset="0"/>
              </a:rPr>
              <a:t>Raam</a:t>
            </a:r>
            <a:r>
              <a:rPr lang="en-US" sz="2000" dirty="0" smtClean="0">
                <a:solidFill>
                  <a:schemeClr val="bg1"/>
                </a:solidFill>
                <a:latin typeface="Times New Roman" panose="02020603050405020304" pitchFamily="18" charset="0"/>
                <a:cs typeface="Times New Roman" panose="02020603050405020304" pitchFamily="18" charset="0"/>
              </a:rPr>
              <a:t>.</a:t>
            </a:r>
          </a:p>
          <a:p>
            <a:pPr marL="342900" indent="-342900" algn="l">
              <a:buFont typeface="Arial" panose="020B0604020202020204" pitchFamily="34" charset="0"/>
              <a:buChar char="•"/>
            </a:pPr>
            <a:r>
              <a:rPr lang="en-US" sz="2000" dirty="0" err="1" smtClean="0">
                <a:solidFill>
                  <a:schemeClr val="bg1"/>
                </a:solidFill>
                <a:latin typeface="Times New Roman" panose="02020603050405020304" pitchFamily="18" charset="0"/>
                <a:cs typeface="Times New Roman" panose="02020603050405020304" pitchFamily="18" charset="0"/>
              </a:rPr>
              <a:t>Chach</a:t>
            </a:r>
            <a:r>
              <a:rPr lang="en-US" sz="2000" dirty="0" smtClean="0">
                <a:solidFill>
                  <a:schemeClr val="bg1"/>
                </a:solidFill>
                <a:latin typeface="Times New Roman" panose="02020603050405020304" pitchFamily="18" charset="0"/>
                <a:cs typeface="Times New Roman" panose="02020603050405020304" pitchFamily="18" charset="0"/>
              </a:rPr>
              <a:t> bin </a:t>
            </a:r>
            <a:r>
              <a:rPr lang="en-US" sz="2000" dirty="0" err="1" smtClean="0">
                <a:solidFill>
                  <a:schemeClr val="bg1"/>
                </a:solidFill>
                <a:latin typeface="Times New Roman" panose="02020603050405020304" pitchFamily="18" charset="0"/>
                <a:cs typeface="Times New Roman" panose="02020603050405020304" pitchFamily="18" charset="0"/>
              </a:rPr>
              <a:t>Sailaj</a:t>
            </a:r>
            <a:r>
              <a:rPr lang="en-US" sz="2000" dirty="0" smtClean="0">
                <a:solidFill>
                  <a:schemeClr val="bg1"/>
                </a:solidFill>
                <a:latin typeface="Times New Roman" panose="02020603050405020304" pitchFamily="18" charset="0"/>
                <a:cs typeface="Times New Roman" panose="02020603050405020304" pitchFamily="18" charset="0"/>
              </a:rPr>
              <a:t> inspire to </a:t>
            </a:r>
            <a:r>
              <a:rPr lang="en-US" sz="2000" dirty="0" err="1" smtClean="0">
                <a:solidFill>
                  <a:schemeClr val="bg1"/>
                </a:solidFill>
                <a:latin typeface="Times New Roman" panose="02020603050405020304" pitchFamily="18" charset="0"/>
                <a:cs typeface="Times New Roman" panose="02020603050405020304" pitchFamily="18" charset="0"/>
              </a:rPr>
              <a:t>Raam</a:t>
            </a:r>
            <a:r>
              <a:rPr lang="en-US" sz="2000" dirty="0" smtClean="0">
                <a:solidFill>
                  <a:schemeClr val="bg1"/>
                </a:solidFill>
                <a:latin typeface="Times New Roman" panose="02020603050405020304" pitchFamily="18" charset="0"/>
                <a:cs typeface="Times New Roman" panose="02020603050405020304" pitchFamily="18" charset="0"/>
              </a:rPr>
              <a:t> as well as Raja Ray </a:t>
            </a:r>
            <a:r>
              <a:rPr lang="en-US" sz="2000" dirty="0" err="1" smtClean="0">
                <a:solidFill>
                  <a:schemeClr val="bg1"/>
                </a:solidFill>
                <a:latin typeface="Times New Roman" panose="02020603050405020304" pitchFamily="18" charset="0"/>
                <a:cs typeface="Times New Roman" panose="02020603050405020304" pitchFamily="18" charset="0"/>
              </a:rPr>
              <a:t>Sahasi</a:t>
            </a:r>
            <a:r>
              <a:rPr lang="en-US" sz="2000" dirty="0" smtClean="0">
                <a:solidFill>
                  <a:schemeClr val="bg1"/>
                </a:solidFill>
                <a:latin typeface="Times New Roman" panose="02020603050405020304" pitchFamily="18" charset="0"/>
                <a:cs typeface="Times New Roman" panose="02020603050405020304" pitchFamily="18" charset="0"/>
              </a:rPr>
              <a:t>.</a:t>
            </a:r>
          </a:p>
          <a:p>
            <a:pPr marL="342900" indent="-342900" algn="l">
              <a:buFont typeface="Arial" panose="020B0604020202020204" pitchFamily="34" charset="0"/>
              <a:buChar char="•"/>
            </a:pPr>
            <a:r>
              <a:rPr lang="en-US" sz="2000" dirty="0" smtClean="0">
                <a:solidFill>
                  <a:schemeClr val="bg1"/>
                </a:solidFill>
                <a:latin typeface="Times New Roman" panose="02020603050405020304" pitchFamily="18" charset="0"/>
                <a:cs typeface="Times New Roman" panose="02020603050405020304" pitchFamily="18" charset="0"/>
              </a:rPr>
              <a:t>After the death of </a:t>
            </a:r>
            <a:r>
              <a:rPr lang="en-US" sz="2000" dirty="0" err="1" smtClean="0">
                <a:solidFill>
                  <a:schemeClr val="bg1"/>
                </a:solidFill>
                <a:latin typeface="Times New Roman" panose="02020603050405020304" pitchFamily="18" charset="0"/>
                <a:cs typeface="Times New Roman" panose="02020603050405020304" pitchFamily="18" charset="0"/>
              </a:rPr>
              <a:t>Raam</a:t>
            </a:r>
            <a:r>
              <a:rPr lang="en-US" sz="2000" dirty="0" smtClean="0">
                <a:solidFill>
                  <a:schemeClr val="bg1"/>
                </a:solidFill>
                <a:latin typeface="Times New Roman" panose="02020603050405020304" pitchFamily="18" charset="0"/>
                <a:cs typeface="Times New Roman" panose="02020603050405020304" pitchFamily="18" charset="0"/>
              </a:rPr>
              <a:t>  </a:t>
            </a:r>
            <a:r>
              <a:rPr lang="en-US" sz="2000" dirty="0" err="1" smtClean="0">
                <a:solidFill>
                  <a:schemeClr val="bg1"/>
                </a:solidFill>
                <a:latin typeface="Times New Roman" panose="02020603050405020304" pitchFamily="18" charset="0"/>
                <a:cs typeface="Times New Roman" panose="02020603050405020304" pitchFamily="18" charset="0"/>
              </a:rPr>
              <a:t>Chach</a:t>
            </a:r>
            <a:r>
              <a:rPr lang="en-US" sz="2000" dirty="0" smtClean="0">
                <a:solidFill>
                  <a:schemeClr val="bg1"/>
                </a:solidFill>
                <a:latin typeface="Times New Roman" panose="02020603050405020304" pitchFamily="18" charset="0"/>
                <a:cs typeface="Times New Roman" panose="02020603050405020304" pitchFamily="18" charset="0"/>
              </a:rPr>
              <a:t> bin </a:t>
            </a:r>
            <a:r>
              <a:rPr lang="en-US" sz="2000" dirty="0" err="1" smtClean="0">
                <a:solidFill>
                  <a:schemeClr val="bg1"/>
                </a:solidFill>
                <a:latin typeface="Times New Roman" panose="02020603050405020304" pitchFamily="18" charset="0"/>
                <a:cs typeface="Times New Roman" panose="02020603050405020304" pitchFamily="18" charset="0"/>
              </a:rPr>
              <a:t>Sailaj</a:t>
            </a:r>
            <a:r>
              <a:rPr lang="en-US" sz="2000" dirty="0" smtClean="0">
                <a:solidFill>
                  <a:schemeClr val="bg1"/>
                </a:solidFill>
                <a:latin typeface="Times New Roman" panose="02020603050405020304" pitchFamily="18" charset="0"/>
                <a:cs typeface="Times New Roman" panose="02020603050405020304" pitchFamily="18" charset="0"/>
              </a:rPr>
              <a:t> became minister of Raja Ray </a:t>
            </a:r>
            <a:r>
              <a:rPr lang="en-US" sz="2000" dirty="0" err="1" smtClean="0">
                <a:solidFill>
                  <a:schemeClr val="bg1"/>
                </a:solidFill>
                <a:latin typeface="Times New Roman" panose="02020603050405020304" pitchFamily="18" charset="0"/>
                <a:cs typeface="Times New Roman" panose="02020603050405020304" pitchFamily="18" charset="0"/>
              </a:rPr>
              <a:t>Sahasi</a:t>
            </a:r>
            <a:r>
              <a:rPr lang="en-US" sz="2000" dirty="0" smtClean="0">
                <a:solidFill>
                  <a:schemeClr val="bg1"/>
                </a:solidFill>
                <a:latin typeface="Times New Roman" panose="02020603050405020304" pitchFamily="18" charset="0"/>
                <a:cs typeface="Times New Roman" panose="02020603050405020304" pitchFamily="18" charset="0"/>
              </a:rPr>
              <a:t>. </a:t>
            </a:r>
          </a:p>
          <a:p>
            <a:pPr marL="342900" indent="-342900" algn="l">
              <a:buFont typeface="Arial" panose="020B0604020202020204" pitchFamily="34" charset="0"/>
              <a:buChar char="•"/>
            </a:pPr>
            <a:r>
              <a:rPr lang="en-US" sz="2000" dirty="0" smtClean="0">
                <a:solidFill>
                  <a:schemeClr val="bg1"/>
                </a:solidFill>
                <a:latin typeface="Times New Roman" panose="02020603050405020304" pitchFamily="18" charset="0"/>
                <a:cs typeface="Times New Roman" panose="02020603050405020304" pitchFamily="18" charset="0"/>
              </a:rPr>
              <a:t>After the death of Raja Ray </a:t>
            </a:r>
            <a:r>
              <a:rPr lang="en-US" sz="2000" dirty="0" err="1" smtClean="0">
                <a:solidFill>
                  <a:schemeClr val="bg1"/>
                </a:solidFill>
                <a:latin typeface="Times New Roman" panose="02020603050405020304" pitchFamily="18" charset="0"/>
                <a:cs typeface="Times New Roman" panose="02020603050405020304" pitchFamily="18" charset="0"/>
              </a:rPr>
              <a:t>Sahasi</a:t>
            </a:r>
            <a:r>
              <a:rPr lang="en-US" sz="2000" dirty="0" smtClean="0">
                <a:solidFill>
                  <a:schemeClr val="bg1"/>
                </a:solidFill>
                <a:latin typeface="Times New Roman" panose="02020603050405020304" pitchFamily="18" charset="0"/>
                <a:cs typeface="Times New Roman" panose="02020603050405020304" pitchFamily="18" charset="0"/>
              </a:rPr>
              <a:t>, </a:t>
            </a:r>
            <a:r>
              <a:rPr lang="en-US" sz="2000" dirty="0" err="1" smtClean="0">
                <a:solidFill>
                  <a:schemeClr val="bg1"/>
                </a:solidFill>
                <a:latin typeface="Times New Roman" panose="02020603050405020304" pitchFamily="18" charset="0"/>
                <a:cs typeface="Times New Roman" panose="02020603050405020304" pitchFamily="18" charset="0"/>
              </a:rPr>
              <a:t>Chach</a:t>
            </a:r>
            <a:r>
              <a:rPr lang="en-US" sz="2000" dirty="0" smtClean="0">
                <a:solidFill>
                  <a:schemeClr val="bg1"/>
                </a:solidFill>
                <a:latin typeface="Times New Roman" panose="02020603050405020304" pitchFamily="18" charset="0"/>
                <a:cs typeface="Times New Roman" panose="02020603050405020304" pitchFamily="18" charset="0"/>
              </a:rPr>
              <a:t> </a:t>
            </a:r>
            <a:r>
              <a:rPr lang="en-US" sz="2000" dirty="0" err="1" smtClean="0">
                <a:solidFill>
                  <a:schemeClr val="bg1"/>
                </a:solidFill>
                <a:latin typeface="Times New Roman" panose="02020603050405020304" pitchFamily="18" charset="0"/>
                <a:cs typeface="Times New Roman" panose="02020603050405020304" pitchFamily="18" charset="0"/>
              </a:rPr>
              <a:t>maariged</a:t>
            </a:r>
            <a:r>
              <a:rPr lang="en-US" sz="2000" dirty="0" smtClean="0">
                <a:solidFill>
                  <a:schemeClr val="bg1"/>
                </a:solidFill>
                <a:latin typeface="Times New Roman" panose="02020603050405020304" pitchFamily="18" charset="0"/>
                <a:cs typeface="Times New Roman" panose="02020603050405020304" pitchFamily="18" charset="0"/>
              </a:rPr>
              <a:t> with his wife as well as succeeded Raja of Sindh.</a:t>
            </a:r>
          </a:p>
          <a:p>
            <a:pPr marL="342900" indent="-342900" algn="l">
              <a:buFont typeface="Arial" panose="020B0604020202020204" pitchFamily="34" charset="0"/>
              <a:buChar char="•"/>
            </a:pPr>
            <a:r>
              <a:rPr lang="en-US" sz="2000" dirty="0" smtClean="0">
                <a:solidFill>
                  <a:schemeClr val="bg1"/>
                </a:solidFill>
                <a:latin typeface="Times New Roman" panose="02020603050405020304" pitchFamily="18" charset="0"/>
                <a:cs typeface="Times New Roman" panose="02020603050405020304" pitchFamily="18" charset="0"/>
              </a:rPr>
              <a:t>Raja </a:t>
            </a:r>
            <a:r>
              <a:rPr lang="en-US" sz="2000" dirty="0" err="1" smtClean="0">
                <a:solidFill>
                  <a:schemeClr val="bg1"/>
                </a:solidFill>
                <a:latin typeface="Times New Roman" panose="02020603050405020304" pitchFamily="18" charset="0"/>
                <a:cs typeface="Times New Roman" panose="02020603050405020304" pitchFamily="18" charset="0"/>
              </a:rPr>
              <a:t>Chach</a:t>
            </a:r>
            <a:r>
              <a:rPr lang="en-US" sz="2000" dirty="0" smtClean="0">
                <a:solidFill>
                  <a:schemeClr val="bg1"/>
                </a:solidFill>
                <a:latin typeface="Times New Roman" panose="02020603050405020304" pitchFamily="18" charset="0"/>
                <a:cs typeface="Times New Roman" panose="02020603050405020304" pitchFamily="18" charset="0"/>
              </a:rPr>
              <a:t> ruled (633-660). His wife name was Rani </a:t>
            </a:r>
            <a:r>
              <a:rPr lang="en-US" sz="2000" dirty="0" err="1" smtClean="0">
                <a:solidFill>
                  <a:schemeClr val="bg1"/>
                </a:solidFill>
                <a:latin typeface="Times New Roman" panose="02020603050405020304" pitchFamily="18" charset="0"/>
                <a:cs typeface="Times New Roman" panose="02020603050405020304" pitchFamily="18" charset="0"/>
              </a:rPr>
              <a:t>Soanh</a:t>
            </a:r>
            <a:r>
              <a:rPr lang="en-US" sz="2000" dirty="0" smtClean="0">
                <a:solidFill>
                  <a:schemeClr val="bg1"/>
                </a:solidFill>
                <a:latin typeface="Times New Roman" panose="02020603050405020304" pitchFamily="18" charset="0"/>
                <a:cs typeface="Times New Roman" panose="02020603050405020304" pitchFamily="18" charset="0"/>
              </a:rPr>
              <a:t> Devi. He has two sons; Raja </a:t>
            </a:r>
            <a:r>
              <a:rPr lang="en-US" sz="2000" dirty="0" err="1" smtClean="0">
                <a:solidFill>
                  <a:schemeClr val="bg1"/>
                </a:solidFill>
                <a:latin typeface="Times New Roman" panose="02020603050405020304" pitchFamily="18" charset="0"/>
                <a:cs typeface="Times New Roman" panose="02020603050405020304" pitchFamily="18" charset="0"/>
              </a:rPr>
              <a:t>Dahar</a:t>
            </a:r>
            <a:r>
              <a:rPr lang="en-US" sz="2000" dirty="0" smtClean="0">
                <a:solidFill>
                  <a:schemeClr val="bg1"/>
                </a:solidFill>
                <a:latin typeface="Times New Roman" panose="02020603050405020304" pitchFamily="18" charset="0"/>
                <a:cs typeface="Times New Roman" panose="02020603050405020304" pitchFamily="18" charset="0"/>
              </a:rPr>
              <a:t> </a:t>
            </a:r>
            <a:r>
              <a:rPr lang="en-US" sz="2000" dirty="0" err="1" smtClean="0">
                <a:solidFill>
                  <a:schemeClr val="bg1"/>
                </a:solidFill>
                <a:latin typeface="Times New Roman" panose="02020603050405020304" pitchFamily="18" charset="0"/>
                <a:cs typeface="Times New Roman" panose="02020603050405020304" pitchFamily="18" charset="0"/>
              </a:rPr>
              <a:t>Seana</a:t>
            </a:r>
            <a:r>
              <a:rPr lang="en-US" sz="2000" dirty="0" smtClean="0">
                <a:solidFill>
                  <a:schemeClr val="bg1"/>
                </a:solidFill>
                <a:latin typeface="Times New Roman" panose="02020603050405020304" pitchFamily="18" charset="0"/>
                <a:cs typeface="Times New Roman" panose="02020603050405020304" pitchFamily="18" charset="0"/>
              </a:rPr>
              <a:t> &amp; Raja </a:t>
            </a:r>
            <a:r>
              <a:rPr lang="en-US" sz="2000" dirty="0" err="1" smtClean="0">
                <a:solidFill>
                  <a:schemeClr val="bg1"/>
                </a:solidFill>
                <a:latin typeface="Times New Roman" panose="02020603050405020304" pitchFamily="18" charset="0"/>
                <a:cs typeface="Times New Roman" panose="02020603050405020304" pitchFamily="18" charset="0"/>
              </a:rPr>
              <a:t>Dahir</a:t>
            </a:r>
            <a:r>
              <a:rPr lang="en-US" sz="2000" dirty="0" smtClean="0">
                <a:solidFill>
                  <a:schemeClr val="bg1"/>
                </a:solidFill>
                <a:latin typeface="Times New Roman" panose="02020603050405020304" pitchFamily="18" charset="0"/>
                <a:cs typeface="Times New Roman" panose="02020603050405020304" pitchFamily="18" charset="0"/>
              </a:rPr>
              <a:t> as well as Daughter Rani </a:t>
            </a:r>
            <a:r>
              <a:rPr lang="en-US" sz="2000" dirty="0" err="1" smtClean="0">
                <a:solidFill>
                  <a:schemeClr val="bg1"/>
                </a:solidFill>
                <a:latin typeface="Times New Roman" panose="02020603050405020304" pitchFamily="18" charset="0"/>
                <a:cs typeface="Times New Roman" panose="02020603050405020304" pitchFamily="18" charset="0"/>
              </a:rPr>
              <a:t>Maeen</a:t>
            </a:r>
            <a:r>
              <a:rPr lang="en-US" sz="2000" dirty="0" smtClean="0">
                <a:solidFill>
                  <a:schemeClr val="bg1"/>
                </a:solidFill>
                <a:latin typeface="Times New Roman" panose="02020603050405020304" pitchFamily="18" charset="0"/>
                <a:cs typeface="Times New Roman" panose="02020603050405020304" pitchFamily="18" charset="0"/>
              </a:rPr>
              <a:t>. </a:t>
            </a:r>
            <a:r>
              <a:rPr lang="en-US" sz="2400" dirty="0" smtClean="0">
                <a:solidFill>
                  <a:schemeClr val="bg1"/>
                </a:solidFill>
                <a:latin typeface="Times New Roman" panose="02020603050405020304" pitchFamily="18" charset="0"/>
                <a:cs typeface="Times New Roman" panose="02020603050405020304" pitchFamily="18" charset="0"/>
              </a:rPr>
              <a:t>    </a:t>
            </a:r>
            <a:endParaRPr lang="en-US" sz="2400" dirty="0">
              <a:solidFill>
                <a:schemeClr val="bg1"/>
              </a:solidFill>
            </a:endParaRPr>
          </a:p>
        </p:txBody>
      </p:sp>
      <p:sp>
        <p:nvSpPr>
          <p:cNvPr id="6" name="Slide Number Placeholder 5"/>
          <p:cNvSpPr>
            <a:spLocks noGrp="1"/>
          </p:cNvSpPr>
          <p:nvPr>
            <p:ph type="sldNum" sz="quarter" idx="12"/>
          </p:nvPr>
        </p:nvSpPr>
        <p:spPr/>
        <p:txBody>
          <a:bodyPr/>
          <a:lstStyle/>
          <a:p>
            <a:r>
              <a:rPr lang="en-US" dirty="0" smtClean="0"/>
              <a:t>2</a:t>
            </a:r>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0132" y="596386"/>
            <a:ext cx="4579434" cy="6226629"/>
          </a:xfrm>
          <a:prstGeom prst="rect">
            <a:avLst/>
          </a:prstGeom>
        </p:spPr>
      </p:pic>
    </p:spTree>
    <p:extLst>
      <p:ext uri="{BB962C8B-B14F-4D97-AF65-F5344CB8AC3E}">
        <p14:creationId xmlns:p14="http://schemas.microsoft.com/office/powerpoint/2010/main" val="27025107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53276" y="343914"/>
            <a:ext cx="5511918" cy="1124278"/>
          </a:xfrm>
        </p:spPr>
        <p:txBody>
          <a:bodyPr/>
          <a:lstStyle/>
          <a:p>
            <a:pPr algn="l"/>
            <a:r>
              <a:rPr lang="en-US" sz="2800" dirty="0" smtClean="0">
                <a:solidFill>
                  <a:schemeClr val="tx1"/>
                </a:solidFill>
                <a:latin typeface="Times New Roman" panose="02020603050405020304" pitchFamily="18" charset="0"/>
                <a:cs typeface="Times New Roman" panose="02020603050405020304" pitchFamily="18" charset="0"/>
              </a:rPr>
              <a:t>ARABS: </a:t>
            </a:r>
            <a:endParaRPr lang="en-US" sz="2800" dirty="0">
              <a:solidFill>
                <a:schemeClr val="tx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823726" y="1835666"/>
            <a:ext cx="7534663" cy="4692426"/>
          </a:xfrm>
        </p:spPr>
        <p:txBody>
          <a:bodyPr/>
          <a:lstStyle/>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At the time of Sindh Annexation there was Umayyad Family rolled on Arabs. </a:t>
            </a:r>
            <a:r>
              <a:rPr lang="en-US" dirty="0" err="1" smtClean="0">
                <a:latin typeface="Times New Roman" panose="02020603050405020304" pitchFamily="18" charset="0"/>
                <a:cs typeface="Times New Roman" panose="02020603050405020304" pitchFamily="18" charset="0"/>
              </a:rPr>
              <a:t>Walid</a:t>
            </a:r>
            <a:r>
              <a:rPr lang="en-US" dirty="0" smtClean="0">
                <a:latin typeface="Times New Roman" panose="02020603050405020304" pitchFamily="18" charset="0"/>
                <a:cs typeface="Times New Roman" panose="02020603050405020304" pitchFamily="18" charset="0"/>
              </a:rPr>
              <a:t> bin Abdul Malik was Caliph of Umayyad Dynasty on that time.</a:t>
            </a:r>
          </a:p>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Their capital was Damascus Syria, more than 4000km away from Sindh</a:t>
            </a:r>
          </a:p>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Before the birth of  Islam Arabs Contact with this region in the face of Arab Traders/Sailors.</a:t>
            </a:r>
          </a:p>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In 644 A.D. the first Muslim expedition to the Subcontinent through </a:t>
            </a:r>
            <a:r>
              <a:rPr lang="en-US" dirty="0" err="1" smtClean="0">
                <a:latin typeface="Times New Roman" panose="02020603050405020304" pitchFamily="18" charset="0"/>
                <a:cs typeface="Times New Roman" panose="02020603050405020304" pitchFamily="18" charset="0"/>
              </a:rPr>
              <a:t>Balochistan</a:t>
            </a:r>
            <a:r>
              <a:rPr lang="en-US" dirty="0" smtClean="0">
                <a:latin typeface="Times New Roman" panose="02020603050405020304" pitchFamily="18" charset="0"/>
                <a:cs typeface="Times New Roman" panose="02020603050405020304" pitchFamily="18" charset="0"/>
              </a:rPr>
              <a:t> to Sindh. </a:t>
            </a:r>
          </a:p>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Arab send report by the leader of expedition stated that; </a:t>
            </a:r>
            <a:r>
              <a:rPr lang="en-US" b="1" i="1" dirty="0" smtClean="0">
                <a:latin typeface="Times New Roman" panose="02020603050405020304" pitchFamily="18" charset="0"/>
                <a:cs typeface="Times New Roman" panose="02020603050405020304" pitchFamily="18" charset="0"/>
              </a:rPr>
              <a:t>Water is scarce, the fruits are poor &amp; the robbers are bold, if few troops are send they will be killed, if many are send they will die of food scarcity.</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9530821" y="6162967"/>
            <a:ext cx="683339" cy="365125"/>
          </a:xfrm>
        </p:spPr>
        <p:txBody>
          <a:bodyPr/>
          <a:lstStyle/>
          <a:p>
            <a:fld id="{8753A3FB-F41A-4F5C-A86E-7F28978B43C1}" type="slidenum">
              <a:rPr lang="en-US" sz="1600" smtClean="0"/>
              <a:t>8</a:t>
            </a:fld>
            <a:endParaRPr lang="en-US" sz="16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58389" y="1835666"/>
            <a:ext cx="3833611" cy="3959827"/>
          </a:xfrm>
          <a:prstGeom prst="rect">
            <a:avLst/>
          </a:prstGeom>
        </p:spPr>
      </p:pic>
    </p:spTree>
    <p:extLst>
      <p:ext uri="{BB962C8B-B14F-4D97-AF65-F5344CB8AC3E}">
        <p14:creationId xmlns:p14="http://schemas.microsoft.com/office/powerpoint/2010/main" val="10818138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08577" y="618185"/>
            <a:ext cx="7057383" cy="643943"/>
          </a:xfrm>
        </p:spPr>
        <p:txBody>
          <a:bodyPr/>
          <a:lstStyle/>
          <a:p>
            <a:pPr algn="l"/>
            <a:r>
              <a:rPr lang="en-US" sz="2800" dirty="0" smtClean="0">
                <a:solidFill>
                  <a:schemeClr val="tx1"/>
                </a:solidFill>
                <a:latin typeface="Times New Roman" panose="02020603050405020304" pitchFamily="18" charset="0"/>
                <a:cs typeface="Times New Roman" panose="02020603050405020304" pitchFamily="18" charset="0"/>
              </a:rPr>
              <a:t>CAUSES OF ARAB INVASION OF SINDH:</a:t>
            </a:r>
            <a:endParaRPr lang="en-US" sz="2800" dirty="0">
              <a:solidFill>
                <a:schemeClr val="tx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901761" y="1500817"/>
            <a:ext cx="8847546" cy="5170439"/>
          </a:xfrm>
        </p:spPr>
        <p:txBody>
          <a:bodyPr>
            <a:normAutofit/>
          </a:bodyPr>
          <a:lstStyle/>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Arab invasion of Sindh in the 8th century CE was a significant event in the history of the Indian subcontinent, and its causes have been the subject of much scholarly debate. </a:t>
            </a:r>
            <a:endParaRPr lang="en-US" dirty="0" smtClean="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Several </a:t>
            </a:r>
            <a:r>
              <a:rPr lang="en-US" dirty="0">
                <a:latin typeface="Times New Roman" panose="02020603050405020304" pitchFamily="18" charset="0"/>
                <a:cs typeface="Times New Roman" panose="02020603050405020304" pitchFamily="18" charset="0"/>
              </a:rPr>
              <a:t>historical sources provide insights into the reasons behind the invasion</a:t>
            </a:r>
            <a:r>
              <a:rPr lang="en-US"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Due to strict policy of </a:t>
            </a:r>
            <a:r>
              <a:rPr lang="en-US" dirty="0" err="1">
                <a:latin typeface="Times New Roman" panose="02020603050405020304" pitchFamily="18" charset="0"/>
                <a:cs typeface="Times New Roman" panose="02020603050405020304" pitchFamily="18" charset="0"/>
              </a:rPr>
              <a:t>Hijjaj</a:t>
            </a:r>
            <a:r>
              <a:rPr lang="en-US" dirty="0">
                <a:latin typeface="Times New Roman" panose="02020603050405020304" pitchFamily="18" charset="0"/>
                <a:cs typeface="Times New Roman" panose="02020603050405020304" pitchFamily="18" charset="0"/>
              </a:rPr>
              <a:t> and the governor of eastern provinces, </a:t>
            </a:r>
            <a:r>
              <a:rPr lang="en-US" dirty="0" smtClean="0">
                <a:latin typeface="Times New Roman" panose="02020603050405020304" pitchFamily="18" charset="0"/>
                <a:cs typeface="Times New Roman" panose="02020603050405020304" pitchFamily="18" charset="0"/>
              </a:rPr>
              <a:t>Muhammad </a:t>
            </a:r>
            <a:r>
              <a:rPr lang="en-US" dirty="0" err="1" smtClean="0">
                <a:latin typeface="Times New Roman" panose="02020603050405020304" pitchFamily="18" charset="0"/>
                <a:cs typeface="Times New Roman" panose="02020603050405020304" pitchFamily="18" charset="0"/>
              </a:rPr>
              <a:t>Lafi</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anti- </a:t>
            </a:r>
            <a:r>
              <a:rPr lang="en-US" dirty="0" err="1">
                <a:latin typeface="Times New Roman" panose="02020603050405020304" pitchFamily="18" charset="0"/>
                <a:cs typeface="Times New Roman" panose="02020603050405020304" pitchFamily="18" charset="0"/>
              </a:rPr>
              <a:t>Hijjaj</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element) took shelter with his 500 Companions  in the land of Sindh (kingdom of Raja </a:t>
            </a:r>
            <a:r>
              <a:rPr lang="en-US" dirty="0" err="1" smtClean="0">
                <a:latin typeface="Times New Roman" panose="02020603050405020304" pitchFamily="18" charset="0"/>
                <a:cs typeface="Times New Roman" panose="02020603050405020304" pitchFamily="18" charset="0"/>
              </a:rPr>
              <a:t>Dahir</a:t>
            </a:r>
            <a:r>
              <a:rPr lang="en-US" dirty="0" smtClean="0">
                <a:latin typeface="Times New Roman" panose="02020603050405020304" pitchFamily="18" charset="0"/>
                <a:cs typeface="Times New Roman" panose="02020603050405020304" pitchFamily="18" charset="0"/>
              </a:rPr>
              <a:t>). </a:t>
            </a:r>
            <a:r>
              <a:rPr lang="en-US" i="1" dirty="0" smtClean="0">
                <a:latin typeface="Times New Roman" panose="02020603050405020304" pitchFamily="18" charset="0"/>
                <a:cs typeface="Times New Roman" panose="02020603050405020304" pitchFamily="18" charset="0"/>
              </a:rPr>
              <a:t>(</a:t>
            </a:r>
            <a:r>
              <a:rPr lang="en-US" i="1" dirty="0" err="1" smtClean="0">
                <a:latin typeface="Times New Roman" panose="02020603050405020304" pitchFamily="18" charset="0"/>
                <a:cs typeface="Times New Roman" panose="02020603050405020304" pitchFamily="18" charset="0"/>
              </a:rPr>
              <a:t>Chachnama</a:t>
            </a:r>
            <a:r>
              <a:rPr lang="en-US" i="1" dirty="0" smtClean="0">
                <a:latin typeface="Times New Roman" panose="02020603050405020304" pitchFamily="18" charset="0"/>
                <a:cs typeface="Times New Roman" panose="02020603050405020304" pitchFamily="18" charset="0"/>
              </a:rPr>
              <a:t> by Dr. </a:t>
            </a:r>
            <a:r>
              <a:rPr lang="en-US" i="1" dirty="0" err="1" smtClean="0">
                <a:latin typeface="Times New Roman" panose="02020603050405020304" pitchFamily="18" charset="0"/>
                <a:cs typeface="Times New Roman" panose="02020603050405020304" pitchFamily="18" charset="0"/>
              </a:rPr>
              <a:t>Nabi</a:t>
            </a:r>
            <a:r>
              <a:rPr lang="en-US" i="1" dirty="0" smtClean="0">
                <a:latin typeface="Times New Roman" panose="02020603050405020304" pitchFamily="18" charset="0"/>
                <a:cs typeface="Times New Roman" panose="02020603050405020304" pitchFamily="18" charset="0"/>
              </a:rPr>
              <a:t> </a:t>
            </a:r>
            <a:r>
              <a:rPr lang="en-US" i="1" dirty="0" err="1" smtClean="0">
                <a:latin typeface="Times New Roman" panose="02020603050405020304" pitchFamily="18" charset="0"/>
                <a:cs typeface="Times New Roman" panose="02020603050405020304" pitchFamily="18" charset="0"/>
              </a:rPr>
              <a:t>Bux</a:t>
            </a:r>
            <a:r>
              <a:rPr lang="en-US" i="1" dirty="0" smtClean="0">
                <a:latin typeface="Times New Roman" panose="02020603050405020304" pitchFamily="18" charset="0"/>
                <a:cs typeface="Times New Roman" panose="02020603050405020304" pitchFamily="18" charset="0"/>
              </a:rPr>
              <a:t> </a:t>
            </a:r>
            <a:r>
              <a:rPr lang="en-US" i="1" dirty="0" err="1" smtClean="0">
                <a:latin typeface="Times New Roman" panose="02020603050405020304" pitchFamily="18" charset="0"/>
                <a:cs typeface="Times New Roman" panose="02020603050405020304" pitchFamily="18" charset="0"/>
              </a:rPr>
              <a:t>Baloch</a:t>
            </a:r>
            <a:r>
              <a:rPr lang="en-US" i="1"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Raja </a:t>
            </a:r>
            <a:r>
              <a:rPr lang="en-US" dirty="0" err="1" smtClean="0">
                <a:latin typeface="Times New Roman" panose="02020603050405020304" pitchFamily="18" charset="0"/>
                <a:cs typeface="Times New Roman" panose="02020603050405020304" pitchFamily="18" charset="0"/>
              </a:rPr>
              <a:t>Dahir</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not only allowed a Muslim chieftain to take refuge who had murdered a Muslim governor of eastern province (Iraq), but also gave him an </a:t>
            </a:r>
            <a:r>
              <a:rPr lang="en-US" dirty="0" smtClean="0">
                <a:latin typeface="Times New Roman" panose="02020603050405020304" pitchFamily="18" charset="0"/>
                <a:cs typeface="Times New Roman" panose="02020603050405020304" pitchFamily="18" charset="0"/>
              </a:rPr>
              <a:t>important position in his army.</a:t>
            </a:r>
          </a:p>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Due to some circumstances Raja </a:t>
            </a:r>
            <a:r>
              <a:rPr lang="en-US" dirty="0" err="1" smtClean="0">
                <a:latin typeface="Times New Roman" panose="02020603050405020304" pitchFamily="18" charset="0"/>
                <a:cs typeface="Times New Roman" panose="02020603050405020304" pitchFamily="18" charset="0"/>
              </a:rPr>
              <a:t>Dahir</a:t>
            </a:r>
            <a:r>
              <a:rPr lang="en-US" dirty="0" smtClean="0">
                <a:latin typeface="Times New Roman" panose="02020603050405020304" pitchFamily="18" charset="0"/>
                <a:cs typeface="Times New Roman" panose="02020603050405020304" pitchFamily="18" charset="0"/>
              </a:rPr>
              <a:t> Married with Sister </a:t>
            </a:r>
            <a:r>
              <a:rPr lang="en-US" dirty="0" err="1" smtClean="0">
                <a:latin typeface="Times New Roman" panose="02020603050405020304" pitchFamily="18" charset="0"/>
                <a:cs typeface="Times New Roman" panose="02020603050405020304" pitchFamily="18" charset="0"/>
              </a:rPr>
              <a:t>Maeen</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though only symbolically</a:t>
            </a:r>
            <a:r>
              <a:rPr lang="en-US" dirty="0" smtClean="0">
                <a:latin typeface="Times New Roman" panose="02020603050405020304" pitchFamily="18" charset="0"/>
                <a:cs typeface="Times New Roman" panose="02020603050405020304" pitchFamily="18" charset="0"/>
              </a:rPr>
              <a:t>). The Citizen of Sindh were not happy with such a kind of act of Raja </a:t>
            </a:r>
            <a:r>
              <a:rPr lang="en-US" dirty="0" err="1" smtClean="0">
                <a:latin typeface="Times New Roman" panose="02020603050405020304" pitchFamily="18" charset="0"/>
                <a:cs typeface="Times New Roman" panose="02020603050405020304" pitchFamily="18" charset="0"/>
              </a:rPr>
              <a:t>Dahir</a:t>
            </a:r>
            <a:r>
              <a:rPr lang="en-US" dirty="0" smtClean="0">
                <a:latin typeface="Times New Roman" panose="02020603050405020304" pitchFamily="18" charset="0"/>
                <a:cs typeface="Times New Roman" panose="02020603050405020304" pitchFamily="18" charset="0"/>
              </a:rPr>
              <a:t>, &amp; wrote a letter to Muslim governor of  Iraq (Al-</a:t>
            </a:r>
            <a:r>
              <a:rPr lang="en-US" dirty="0" err="1" smtClean="0">
                <a:latin typeface="Times New Roman" panose="02020603050405020304" pitchFamily="18" charset="0"/>
                <a:cs typeface="Times New Roman" panose="02020603050405020304" pitchFamily="18" charset="0"/>
              </a:rPr>
              <a:t>Hijjaj</a:t>
            </a:r>
            <a:r>
              <a:rPr lang="en-US" dirty="0" smtClean="0">
                <a:latin typeface="Times New Roman" panose="02020603050405020304" pitchFamily="18" charset="0"/>
                <a:cs typeface="Times New Roman" panose="02020603050405020304" pitchFamily="18" charset="0"/>
              </a:rPr>
              <a:t> bin </a:t>
            </a:r>
            <a:r>
              <a:rPr lang="en-US" dirty="0" err="1" smtClean="0">
                <a:latin typeface="Times New Roman" panose="02020603050405020304" pitchFamily="18" charset="0"/>
                <a:cs typeface="Times New Roman" panose="02020603050405020304" pitchFamily="18" charset="0"/>
              </a:rPr>
              <a:t>Yousuf</a:t>
            </a:r>
            <a:r>
              <a:rPr lang="en-US"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Sindh had been a part of the </a:t>
            </a:r>
            <a:r>
              <a:rPr lang="en-US" dirty="0" err="1">
                <a:latin typeface="Times New Roman" panose="02020603050405020304" pitchFamily="18" charset="0"/>
                <a:cs typeface="Times New Roman" panose="02020603050405020304" pitchFamily="18" charset="0"/>
              </a:rPr>
              <a:t>Sasanid</a:t>
            </a:r>
            <a:r>
              <a:rPr lang="en-US" dirty="0">
                <a:latin typeface="Times New Roman" panose="02020603050405020304" pitchFamily="18" charset="0"/>
                <a:cs typeface="Times New Roman" panose="02020603050405020304" pitchFamily="18" charset="0"/>
              </a:rPr>
              <a:t> Empire of </a:t>
            </a:r>
            <a:r>
              <a:rPr lang="en-US" dirty="0" smtClean="0">
                <a:latin typeface="Times New Roman" panose="02020603050405020304" pitchFamily="18" charset="0"/>
                <a:cs typeface="Times New Roman" panose="02020603050405020304" pitchFamily="18" charset="0"/>
              </a:rPr>
              <a:t>Persia (</a:t>
            </a:r>
            <a:r>
              <a:rPr lang="en-US" dirty="0"/>
              <a:t> </a:t>
            </a:r>
            <a:r>
              <a:rPr lang="en-US" dirty="0">
                <a:latin typeface="Times New Roman" panose="02020603050405020304" pitchFamily="18" charset="0"/>
                <a:cs typeface="Times New Roman" panose="02020603050405020304" pitchFamily="18" charset="0"/>
              </a:rPr>
              <a:t>633–654</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which was now captured by the Muslims, so Muslim considered Sindh a part of their empire.</a:t>
            </a:r>
            <a:endParaRPr lang="en-US" dirty="0" smtClean="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9653096" y="6431166"/>
            <a:ext cx="683339" cy="365125"/>
          </a:xfrm>
        </p:spPr>
        <p:txBody>
          <a:bodyPr/>
          <a:lstStyle/>
          <a:p>
            <a:fld id="{8753A3FB-F41A-4F5C-A86E-7F28978B43C1}" type="slidenum">
              <a:rPr lang="en-US" sz="1800" smtClean="0"/>
              <a:t>9</a:t>
            </a:fld>
            <a:endParaRPr lang="en-US" sz="1800"/>
          </a:p>
        </p:txBody>
      </p:sp>
    </p:spTree>
    <p:extLst>
      <p:ext uri="{BB962C8B-B14F-4D97-AF65-F5344CB8AC3E}">
        <p14:creationId xmlns:p14="http://schemas.microsoft.com/office/powerpoint/2010/main" val="976815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85849" y="759854"/>
            <a:ext cx="7237689" cy="5988676"/>
          </a:xfrm>
        </p:spPr>
        <p:txBody>
          <a:bodyPr>
            <a:normAutofit/>
          </a:bodyPr>
          <a:lstStyle/>
          <a:p>
            <a:pPr marL="342900" indent="-34290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immediate cause of the Arab invasion of </a:t>
            </a:r>
            <a:r>
              <a:rPr lang="en-US" dirty="0" smtClean="0">
                <a:latin typeface="Times New Roman" panose="02020603050405020304" pitchFamily="18" charset="0"/>
                <a:cs typeface="Times New Roman" panose="02020603050405020304" pitchFamily="18" charset="0"/>
              </a:rPr>
              <a:t>Sindh </a:t>
            </a:r>
            <a:r>
              <a:rPr lang="en-US" dirty="0">
                <a:latin typeface="Times New Roman" panose="02020603050405020304" pitchFamily="18" charset="0"/>
                <a:cs typeface="Times New Roman" panose="02020603050405020304" pitchFamily="18" charset="0"/>
              </a:rPr>
              <a:t>was </a:t>
            </a: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looting of the eight Arab </a:t>
            </a:r>
            <a:r>
              <a:rPr lang="en-US" dirty="0" smtClean="0">
                <a:latin typeface="Times New Roman" panose="02020603050405020304" pitchFamily="18" charset="0"/>
                <a:cs typeface="Times New Roman" panose="02020603050405020304" pitchFamily="18" charset="0"/>
              </a:rPr>
              <a:t>ships by some Pirates of Maid Tribe, </a:t>
            </a:r>
            <a:r>
              <a:rPr lang="en-US" dirty="0">
                <a:latin typeface="Times New Roman" panose="02020603050405020304" pitchFamily="18" charset="0"/>
                <a:cs typeface="Times New Roman" panose="02020603050405020304" pitchFamily="18" charset="0"/>
              </a:rPr>
              <a:t>which carried the gifts and treasures sent by the king of Ceylon to the Caliph, at the port of </a:t>
            </a:r>
            <a:r>
              <a:rPr lang="en-US" dirty="0" err="1">
                <a:latin typeface="Times New Roman" panose="02020603050405020304" pitchFamily="18" charset="0"/>
                <a:cs typeface="Times New Roman" panose="02020603050405020304" pitchFamily="18" charset="0"/>
              </a:rPr>
              <a:t>Debal</a:t>
            </a:r>
            <a:r>
              <a:rPr lang="en-US" dirty="0">
                <a:latin typeface="Times New Roman" panose="02020603050405020304" pitchFamily="18" charset="0"/>
                <a:cs typeface="Times New Roman" panose="02020603050405020304" pitchFamily="18" charset="0"/>
              </a:rPr>
              <a:t> near </a:t>
            </a:r>
            <a:r>
              <a:rPr lang="en-US" dirty="0" smtClean="0">
                <a:latin typeface="Times New Roman" panose="02020603050405020304" pitchFamily="18" charset="0"/>
                <a:cs typeface="Times New Roman" panose="02020603050405020304" pitchFamily="18" charset="0"/>
              </a:rPr>
              <a:t>Sindh. </a:t>
            </a:r>
            <a:r>
              <a:rPr lang="en-US" dirty="0">
                <a:latin typeface="Times New Roman" panose="02020603050405020304" pitchFamily="18" charset="0"/>
                <a:cs typeface="Times New Roman" panose="02020603050405020304" pitchFamily="18" charset="0"/>
              </a:rPr>
              <a:t>Some Historians have opined that the ships were also carrying some beautiful women as well as valuable articles for the </a:t>
            </a:r>
            <a:r>
              <a:rPr lang="en-US" dirty="0" err="1">
                <a:latin typeface="Times New Roman" panose="02020603050405020304" pitchFamily="18" charset="0"/>
                <a:cs typeface="Times New Roman" panose="02020603050405020304" pitchFamily="18" charset="0"/>
              </a:rPr>
              <a:t>khalifa</a:t>
            </a:r>
            <a:r>
              <a:rPr lang="en-US" dirty="0">
                <a:latin typeface="Times New Roman" panose="02020603050405020304" pitchFamily="18" charset="0"/>
                <a:cs typeface="Times New Roman" panose="02020603050405020304" pitchFamily="18" charset="0"/>
              </a:rPr>
              <a:t>. This unlawful act of piracy was </a:t>
            </a:r>
            <a:r>
              <a:rPr lang="en-US" dirty="0" smtClean="0">
                <a:latin typeface="Times New Roman" panose="02020603050405020304" pitchFamily="18" charset="0"/>
                <a:cs typeface="Times New Roman" panose="02020603050405020304" pitchFamily="18" charset="0"/>
              </a:rPr>
              <a:t>strongly </a:t>
            </a:r>
            <a:r>
              <a:rPr lang="en-US" dirty="0">
                <a:latin typeface="Times New Roman" panose="02020603050405020304" pitchFamily="18" charset="0"/>
                <a:cs typeface="Times New Roman" panose="02020603050405020304" pitchFamily="18" charset="0"/>
              </a:rPr>
              <a:t>protested by </a:t>
            </a:r>
            <a:r>
              <a:rPr lang="en-US" dirty="0" err="1" smtClean="0">
                <a:latin typeface="Times New Roman" panose="02020603050405020304" pitchFamily="18" charset="0"/>
                <a:cs typeface="Times New Roman" panose="02020603050405020304" pitchFamily="18" charset="0"/>
              </a:rPr>
              <a:t>Hijjaj</a:t>
            </a:r>
            <a:r>
              <a:rPr lang="en-US" dirty="0">
                <a:latin typeface="Times New Roman" panose="02020603050405020304" pitchFamily="18" charset="0"/>
                <a:cs typeface="Times New Roman" panose="02020603050405020304" pitchFamily="18" charset="0"/>
              </a:rPr>
              <a:t>, the governor of Iraq</a:t>
            </a:r>
            <a:r>
              <a:rPr lang="en-US" dirty="0" smtClean="0">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Ø"/>
            </a:pPr>
            <a:endParaRPr lang="en-US" dirty="0" smtClean="0">
              <a:latin typeface="Times New Roman" panose="02020603050405020304" pitchFamily="18" charset="0"/>
              <a:cs typeface="Times New Roman" panose="02020603050405020304" pitchFamily="18" charset="0"/>
            </a:endParaRPr>
          </a:p>
          <a:p>
            <a:pPr algn="just"/>
            <a:r>
              <a:rPr lang="en-US" b="1" dirty="0" err="1" smtClean="0">
                <a:latin typeface="Times New Roman" panose="02020603050405020304" pitchFamily="18" charset="0"/>
                <a:cs typeface="Times New Roman" panose="02020603050405020304" pitchFamily="18" charset="0"/>
              </a:rPr>
              <a:t>Hijaj</a:t>
            </a:r>
            <a:r>
              <a:rPr lang="en-US" b="1" dirty="0" smtClean="0">
                <a:latin typeface="Times New Roman" panose="02020603050405020304" pitchFamily="18" charset="0"/>
                <a:cs typeface="Times New Roman" panose="02020603050405020304" pitchFamily="18" charset="0"/>
              </a:rPr>
              <a:t> wrote a letter to Raja </a:t>
            </a:r>
            <a:r>
              <a:rPr lang="en-US" b="1" dirty="0" err="1" smtClean="0">
                <a:latin typeface="Times New Roman" panose="02020603050405020304" pitchFamily="18" charset="0"/>
                <a:cs typeface="Times New Roman" panose="02020603050405020304" pitchFamily="18" charset="0"/>
              </a:rPr>
              <a:t>Dahir</a:t>
            </a:r>
            <a:r>
              <a:rPr lang="en-US" b="1"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r>
              <a:rPr lang="en-US" sz="2000" i="1" dirty="0">
                <a:latin typeface="Times New Roman" panose="02020603050405020304" pitchFamily="18" charset="0"/>
                <a:cs typeface="Times New Roman" panose="02020603050405020304" pitchFamily="18" charset="0"/>
              </a:rPr>
              <a:t>He demanded compensation from Raja </a:t>
            </a:r>
            <a:r>
              <a:rPr lang="en-US" sz="2000" i="1" dirty="0" err="1" smtClean="0">
                <a:latin typeface="Times New Roman" panose="02020603050405020304" pitchFamily="18" charset="0"/>
                <a:cs typeface="Times New Roman" panose="02020603050405020304" pitchFamily="18" charset="0"/>
              </a:rPr>
              <a:t>Dahir</a:t>
            </a:r>
            <a:r>
              <a:rPr lang="en-US" sz="2000" i="1" dirty="0" smtClean="0">
                <a:latin typeface="Times New Roman" panose="02020603050405020304" pitchFamily="18" charset="0"/>
                <a:cs typeface="Times New Roman" panose="02020603050405020304" pitchFamily="18" charset="0"/>
              </a:rPr>
              <a:t>, to return all the things &amp; people as well as gave the punishment those who involved.  </a:t>
            </a:r>
            <a:endParaRPr lang="en-US" sz="2000" b="1" i="1" dirty="0" smtClean="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000" i="1" dirty="0" smtClean="0">
                <a:latin typeface="Times New Roman" panose="02020603050405020304" pitchFamily="18" charset="0"/>
                <a:cs typeface="Times New Roman" panose="02020603050405020304" pitchFamily="18" charset="0"/>
              </a:rPr>
              <a:t>But </a:t>
            </a:r>
            <a:r>
              <a:rPr lang="en-US" sz="2000" i="1" dirty="0" err="1">
                <a:latin typeface="Times New Roman" panose="02020603050405020304" pitchFamily="18" charset="0"/>
                <a:cs typeface="Times New Roman" panose="02020603050405020304" pitchFamily="18" charset="0"/>
              </a:rPr>
              <a:t>Dahir</a:t>
            </a:r>
            <a:r>
              <a:rPr lang="en-US" sz="2000" i="1" dirty="0">
                <a:latin typeface="Times New Roman" panose="02020603050405020304" pitchFamily="18" charset="0"/>
                <a:cs typeface="Times New Roman" panose="02020603050405020304" pitchFamily="18" charset="0"/>
              </a:rPr>
              <a:t> refuted </a:t>
            </a:r>
            <a:r>
              <a:rPr lang="en-US" sz="2000" i="1" dirty="0" err="1" smtClean="0">
                <a:latin typeface="Times New Roman" panose="02020603050405020304" pitchFamily="18" charset="0"/>
                <a:cs typeface="Times New Roman" panose="02020603050405020304" pitchFamily="18" charset="0"/>
              </a:rPr>
              <a:t>Hijjaj’s</a:t>
            </a:r>
            <a:r>
              <a:rPr lang="en-US" sz="2000" i="1" dirty="0" smtClean="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demands by saying </a:t>
            </a:r>
            <a:r>
              <a:rPr lang="en-US" sz="2000" i="1" dirty="0" smtClean="0">
                <a:latin typeface="Times New Roman" panose="02020603050405020304" pitchFamily="18" charset="0"/>
                <a:cs typeface="Times New Roman" panose="02020603050405020304" pitchFamily="18" charset="0"/>
              </a:rPr>
              <a:t>that: “He </a:t>
            </a:r>
            <a:r>
              <a:rPr lang="en-US" sz="2000" i="1" dirty="0">
                <a:latin typeface="Times New Roman" panose="02020603050405020304" pitchFamily="18" charset="0"/>
                <a:cs typeface="Times New Roman" panose="02020603050405020304" pitchFamily="18" charset="0"/>
              </a:rPr>
              <a:t>had no control over </a:t>
            </a:r>
            <a:r>
              <a:rPr lang="en-US" sz="2000" i="1" dirty="0" smtClean="0">
                <a:latin typeface="Times New Roman" panose="02020603050405020304" pitchFamily="18" charset="0"/>
                <a:cs typeface="Times New Roman" panose="02020603050405020304" pitchFamily="18" charset="0"/>
              </a:rPr>
              <a:t>pirates, and they note came under my Kingdom</a:t>
            </a:r>
            <a:r>
              <a:rPr lang="en-US" sz="2000" i="1" dirty="0">
                <a:latin typeface="Times New Roman" panose="02020603050405020304" pitchFamily="18" charset="0"/>
                <a:cs typeface="Times New Roman" panose="02020603050405020304" pitchFamily="18" charset="0"/>
              </a:rPr>
              <a:t>.</a:t>
            </a:r>
            <a:r>
              <a:rPr lang="en-US" sz="2000" i="1" dirty="0" smtClean="0">
                <a:latin typeface="Times New Roman" panose="02020603050405020304" pitchFamily="18" charset="0"/>
                <a:cs typeface="Times New Roman" panose="02020603050405020304" pitchFamily="18" charset="0"/>
              </a:rPr>
              <a:t>”  </a:t>
            </a:r>
          </a:p>
          <a:p>
            <a:pPr marL="285750" indent="-285750" algn="just">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This </a:t>
            </a:r>
            <a:r>
              <a:rPr lang="en-US" sz="2000" dirty="0">
                <a:latin typeface="Times New Roman" panose="02020603050405020304" pitchFamily="18" charset="0"/>
                <a:cs typeface="Times New Roman" panose="02020603050405020304" pitchFamily="18" charset="0"/>
              </a:rPr>
              <a:t>infuriated </a:t>
            </a:r>
            <a:r>
              <a:rPr lang="en-US" sz="2000" dirty="0" err="1" smtClean="0">
                <a:latin typeface="Times New Roman" panose="02020603050405020304" pitchFamily="18" charset="0"/>
                <a:cs typeface="Times New Roman" panose="02020603050405020304" pitchFamily="18" charset="0"/>
              </a:rPr>
              <a:t>Hijjaj</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who decided to send military expeditions to </a:t>
            </a:r>
            <a:r>
              <a:rPr lang="en-US" sz="2000" dirty="0" smtClean="0">
                <a:latin typeface="Times New Roman" panose="02020603050405020304" pitchFamily="18" charset="0"/>
                <a:cs typeface="Times New Roman" panose="02020603050405020304" pitchFamily="18" charset="0"/>
              </a:rPr>
              <a:t>Sindh. </a:t>
            </a:r>
            <a:r>
              <a:rPr lang="en-US" sz="2000" dirty="0">
                <a:latin typeface="Times New Roman" panose="02020603050405020304" pitchFamily="18" charset="0"/>
                <a:cs typeface="Times New Roman" panose="02020603050405020304" pitchFamily="18" charset="0"/>
              </a:rPr>
              <a:t>He also obtained permission from the Caliph in this regard.</a:t>
            </a: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9639963" y="0"/>
            <a:ext cx="683339" cy="365125"/>
          </a:xfrm>
        </p:spPr>
        <p:txBody>
          <a:bodyPr/>
          <a:lstStyle/>
          <a:p>
            <a:fld id="{8753A3FB-F41A-4F5C-A86E-7F28978B43C1}" type="slidenum">
              <a:rPr lang="en-US" smtClean="0"/>
              <a:t>10</a:t>
            </a:fld>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3538" y="759854"/>
            <a:ext cx="3916191" cy="2193067"/>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47072" y="3065171"/>
            <a:ext cx="3892657" cy="3101027"/>
          </a:xfrm>
          <a:prstGeom prst="rect">
            <a:avLst/>
          </a:prstGeom>
        </p:spPr>
      </p:pic>
    </p:spTree>
    <p:extLst>
      <p:ext uri="{BB962C8B-B14F-4D97-AF65-F5344CB8AC3E}">
        <p14:creationId xmlns:p14="http://schemas.microsoft.com/office/powerpoint/2010/main" val="40092910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65395" y="1300766"/>
            <a:ext cx="8796792" cy="4559121"/>
          </a:xfrm>
        </p:spPr>
        <p:txBody>
          <a:bodyPr>
            <a:normAutofit/>
          </a:bodyPr>
          <a:lstStyle/>
          <a:p>
            <a:pPr marL="285750" indent="-285750" algn="just">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Hijjaj</a:t>
            </a:r>
            <a:r>
              <a:rPr lang="en-US" dirty="0">
                <a:latin typeface="Times New Roman" panose="02020603050405020304" pitchFamily="18" charset="0"/>
                <a:cs typeface="Times New Roman" panose="02020603050405020304" pitchFamily="18" charset="0"/>
              </a:rPr>
              <a:t> was </a:t>
            </a:r>
            <a:r>
              <a:rPr lang="en-US" dirty="0" smtClean="0">
                <a:latin typeface="Times New Roman" panose="02020603050405020304" pitchFamily="18" charset="0"/>
                <a:cs typeface="Times New Roman" panose="02020603050405020304" pitchFamily="18" charset="0"/>
              </a:rPr>
              <a:t>wise </a:t>
            </a:r>
            <a:r>
              <a:rPr lang="en-US" dirty="0">
                <a:latin typeface="Times New Roman" panose="02020603050405020304" pitchFamily="18" charset="0"/>
                <a:cs typeface="Times New Roman" panose="02020603050405020304" pitchFamily="18" charset="0"/>
              </a:rPr>
              <a:t>politician and never were his decision based on pure emotions. He always decided after carefully </a:t>
            </a:r>
            <a:r>
              <a:rPr lang="en-US" dirty="0" smtClean="0">
                <a:latin typeface="Times New Roman" panose="02020603050405020304" pitchFamily="18" charset="0"/>
                <a:cs typeface="Times New Roman" panose="02020603050405020304" pitchFamily="18" charset="0"/>
              </a:rPr>
              <a:t>assessing </a:t>
            </a:r>
            <a:r>
              <a:rPr lang="en-US" dirty="0">
                <a:latin typeface="Times New Roman" panose="02020603050405020304" pitchFamily="18" charset="0"/>
                <a:cs typeface="Times New Roman" panose="02020603050405020304" pitchFamily="18" charset="0"/>
              </a:rPr>
              <a:t>the pros &amp; cons. To him live of few people had no importance. So his decision to invade Sindh was not to help the helpless women and children but to get political and economic benefits or stability. </a:t>
            </a:r>
            <a:r>
              <a:rPr lang="en-US" i="1" dirty="0" smtClean="0">
                <a:latin typeface="Times New Roman" panose="02020603050405020304" pitchFamily="18" charset="0"/>
                <a:cs typeface="Times New Roman" panose="02020603050405020304" pitchFamily="18" charset="0"/>
              </a:rPr>
              <a:t>(In the Shadow of the History by Dr. </a:t>
            </a:r>
            <a:r>
              <a:rPr lang="en-US" i="1" dirty="0" err="1" smtClean="0">
                <a:latin typeface="Times New Roman" panose="02020603050405020304" pitchFamily="18" charset="0"/>
                <a:cs typeface="Times New Roman" panose="02020603050405020304" pitchFamily="18" charset="0"/>
              </a:rPr>
              <a:t>Mubark</a:t>
            </a:r>
            <a:r>
              <a:rPr lang="en-US" i="1" dirty="0" smtClean="0">
                <a:latin typeface="Times New Roman" panose="02020603050405020304" pitchFamily="18" charset="0"/>
                <a:cs typeface="Times New Roman" panose="02020603050405020304" pitchFamily="18" charset="0"/>
              </a:rPr>
              <a:t> Ali)   </a:t>
            </a:r>
            <a:endParaRPr lang="en-US" i="1" dirty="0">
              <a:latin typeface="Times New Roman" panose="02020603050405020304" pitchFamily="18" charset="0"/>
              <a:cs typeface="Times New Roman" panose="02020603050405020304" pitchFamily="18" charset="0"/>
            </a:endParaRPr>
          </a:p>
          <a:p>
            <a:pPr algn="just"/>
            <a:endParaRPr lang="en-US" dirty="0" smtClean="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However</a:t>
            </a:r>
            <a:r>
              <a:rPr lang="en-US" dirty="0">
                <a:latin typeface="Times New Roman" panose="02020603050405020304" pitchFamily="18" charset="0"/>
                <a:cs typeface="Times New Roman" panose="02020603050405020304" pitchFamily="18" charset="0"/>
              </a:rPr>
              <a:t>, the first two expeditions sent by </a:t>
            </a:r>
            <a:r>
              <a:rPr lang="en-US" dirty="0" err="1">
                <a:latin typeface="Times New Roman" panose="02020603050405020304" pitchFamily="18" charset="0"/>
                <a:cs typeface="Times New Roman" panose="02020603050405020304" pitchFamily="18" charset="0"/>
              </a:rPr>
              <a:t>Hijjaj</a:t>
            </a:r>
            <a:r>
              <a:rPr lang="en-US" dirty="0">
                <a:latin typeface="Times New Roman" panose="02020603050405020304" pitchFamily="18" charset="0"/>
                <a:cs typeface="Times New Roman" panose="02020603050405020304" pitchFamily="18" charset="0"/>
              </a:rPr>
              <a:t> under the leader ship of </a:t>
            </a:r>
            <a:r>
              <a:rPr lang="en-US" dirty="0" err="1" smtClean="0">
                <a:latin typeface="Times New Roman" panose="02020603050405020304" pitchFamily="18" charset="0"/>
                <a:cs typeface="Times New Roman" panose="02020603050405020304" pitchFamily="18" charset="0"/>
              </a:rPr>
              <a:t>Budhail</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ibn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Tehfatah</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&amp; </a:t>
            </a:r>
            <a:r>
              <a:rPr lang="en-US" dirty="0" err="1" smtClean="0">
                <a:latin typeface="Times New Roman" panose="02020603050405020304" pitchFamily="18" charset="0"/>
                <a:cs typeface="Times New Roman" panose="02020603050405020304" pitchFamily="18" charset="0"/>
              </a:rPr>
              <a:t>Ubeydullah</a:t>
            </a:r>
            <a:r>
              <a:rPr lang="en-US" dirty="0" smtClean="0">
                <a:latin typeface="Times New Roman" panose="02020603050405020304" pitchFamily="18" charset="0"/>
                <a:cs typeface="Times New Roman" panose="02020603050405020304" pitchFamily="18" charset="0"/>
              </a:rPr>
              <a:t> bin </a:t>
            </a:r>
            <a:r>
              <a:rPr lang="en-US" dirty="0" err="1" smtClean="0">
                <a:latin typeface="Times New Roman" panose="02020603050405020304" pitchFamily="18" charset="0"/>
                <a:cs typeface="Times New Roman" panose="02020603050405020304" pitchFamily="18" charset="0"/>
              </a:rPr>
              <a:t>Nahban</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against Sindh were beaten back by Raja </a:t>
            </a:r>
            <a:r>
              <a:rPr lang="en-US" dirty="0" err="1">
                <a:latin typeface="Times New Roman" panose="02020603050405020304" pitchFamily="18" charset="0"/>
                <a:cs typeface="Times New Roman" panose="02020603050405020304" pitchFamily="18" charset="0"/>
              </a:rPr>
              <a:t>Dahir</a:t>
            </a:r>
            <a:r>
              <a:rPr lang="en-US" dirty="0">
                <a:latin typeface="Times New Roman" panose="02020603050405020304" pitchFamily="18" charset="0"/>
                <a:cs typeface="Times New Roman" panose="02020603050405020304" pitchFamily="18" charset="0"/>
              </a:rPr>
              <a:t>. </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Enraged at the repeated failures, </a:t>
            </a:r>
            <a:r>
              <a:rPr lang="en-US" dirty="0" err="1">
                <a:latin typeface="Times New Roman" panose="02020603050405020304" pitchFamily="18" charset="0"/>
                <a:cs typeface="Times New Roman" panose="02020603050405020304" pitchFamily="18" charset="0"/>
              </a:rPr>
              <a:t>Hijjaj</a:t>
            </a:r>
            <a:r>
              <a:rPr lang="en-US" dirty="0">
                <a:latin typeface="Times New Roman" panose="02020603050405020304" pitchFamily="18" charset="0"/>
                <a:cs typeface="Times New Roman" panose="02020603050405020304" pitchFamily="18" charset="0"/>
              </a:rPr>
              <a:t> sent his </a:t>
            </a:r>
            <a:r>
              <a:rPr lang="en-US">
                <a:latin typeface="Times New Roman" panose="02020603050405020304" pitchFamily="18" charset="0"/>
                <a:cs typeface="Times New Roman" panose="02020603050405020304" pitchFamily="18" charset="0"/>
              </a:rPr>
              <a:t>nephew </a:t>
            </a:r>
            <a:r>
              <a:rPr lang="en-US" smtClean="0">
                <a:latin typeface="Times New Roman" panose="02020603050405020304" pitchFamily="18" charset="0"/>
                <a:cs typeface="Times New Roman" panose="02020603050405020304" pitchFamily="18" charset="0"/>
              </a:rPr>
              <a:t>as well as </a:t>
            </a:r>
            <a:r>
              <a:rPr lang="en-US" dirty="0">
                <a:latin typeface="Times New Roman" panose="02020603050405020304" pitchFamily="18" charset="0"/>
                <a:cs typeface="Times New Roman" panose="02020603050405020304" pitchFamily="18" charset="0"/>
              </a:rPr>
              <a:t>Son-in-law </a:t>
            </a:r>
            <a:r>
              <a:rPr lang="en-US" dirty="0" err="1">
                <a:latin typeface="Times New Roman" panose="02020603050405020304" pitchFamily="18" charset="0"/>
                <a:cs typeface="Times New Roman" panose="02020603050405020304" pitchFamily="18" charset="0"/>
              </a:rPr>
              <a:t>Imaduddin</a:t>
            </a:r>
            <a:r>
              <a:rPr lang="en-US" dirty="0">
                <a:latin typeface="Times New Roman" panose="02020603050405020304" pitchFamily="18" charset="0"/>
                <a:cs typeface="Times New Roman" panose="02020603050405020304" pitchFamily="18" charset="0"/>
              </a:rPr>
              <a:t> Muhammad- bin-</a:t>
            </a:r>
            <a:r>
              <a:rPr lang="en-US" dirty="0" err="1">
                <a:latin typeface="Times New Roman" panose="02020603050405020304" pitchFamily="18" charset="0"/>
                <a:cs typeface="Times New Roman" panose="02020603050405020304" pitchFamily="18" charset="0"/>
              </a:rPr>
              <a:t>Qasim</a:t>
            </a:r>
            <a:r>
              <a:rPr lang="en-US" dirty="0">
                <a:latin typeface="Times New Roman" panose="02020603050405020304" pitchFamily="18" charset="0"/>
                <a:cs typeface="Times New Roman" panose="02020603050405020304" pitchFamily="18" charset="0"/>
              </a:rPr>
              <a:t> at the head of a huge army to Sindh. Muhammad-bin- </a:t>
            </a:r>
            <a:r>
              <a:rPr lang="en-US" dirty="0" err="1">
                <a:latin typeface="Times New Roman" panose="02020603050405020304" pitchFamily="18" charset="0"/>
                <a:cs typeface="Times New Roman" panose="02020603050405020304" pitchFamily="18" charset="0"/>
              </a:rPr>
              <a:t>Qasim</a:t>
            </a:r>
            <a:r>
              <a:rPr lang="en-US" dirty="0">
                <a:latin typeface="Times New Roman" panose="02020603050405020304" pitchFamily="18" charset="0"/>
                <a:cs typeface="Times New Roman" panose="02020603050405020304" pitchFamily="18" charset="0"/>
              </a:rPr>
              <a:t> was an able and young commander-in-chief.</a:t>
            </a:r>
          </a:p>
          <a:p>
            <a:endParaRPr lang="en-US" dirty="0"/>
          </a:p>
        </p:txBody>
      </p:sp>
      <p:sp>
        <p:nvSpPr>
          <p:cNvPr id="4" name="Slide Number Placeholder 3"/>
          <p:cNvSpPr>
            <a:spLocks noGrp="1"/>
          </p:cNvSpPr>
          <p:nvPr>
            <p:ph type="sldNum" sz="quarter" idx="12"/>
          </p:nvPr>
        </p:nvSpPr>
        <p:spPr/>
        <p:txBody>
          <a:bodyPr/>
          <a:lstStyle/>
          <a:p>
            <a:fld id="{8753A3FB-F41A-4F5C-A86E-7F28978B43C1}" type="slidenum">
              <a:rPr lang="en-US" smtClean="0"/>
              <a:t>11</a:t>
            </a:fld>
            <a:endParaRPr lang="en-US"/>
          </a:p>
        </p:txBody>
      </p:sp>
    </p:spTree>
    <p:extLst>
      <p:ext uri="{BB962C8B-B14F-4D97-AF65-F5344CB8AC3E}">
        <p14:creationId xmlns:p14="http://schemas.microsoft.com/office/powerpoint/2010/main" val="14474667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08575" y="0"/>
            <a:ext cx="6748291" cy="512985"/>
          </a:xfrm>
        </p:spPr>
        <p:txBody>
          <a:bodyPr/>
          <a:lstStyle/>
          <a:p>
            <a:pPr algn="l"/>
            <a:r>
              <a:rPr lang="en-US" sz="2800" dirty="0" smtClean="0">
                <a:solidFill>
                  <a:schemeClr val="tx1"/>
                </a:solidFill>
                <a:latin typeface="Times New Roman" panose="02020603050405020304" pitchFamily="18" charset="0"/>
                <a:cs typeface="Times New Roman" panose="02020603050405020304" pitchFamily="18" charset="0"/>
              </a:rPr>
              <a:t>ATTACK OF MUHAMMAD BIN QASIM</a:t>
            </a:r>
            <a:endParaRPr lang="en-US" sz="2800" dirty="0">
              <a:solidFill>
                <a:schemeClr val="tx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708575" y="512985"/>
            <a:ext cx="9156642" cy="2861280"/>
          </a:xfrm>
        </p:spPr>
        <p:txBody>
          <a:bodyPr/>
          <a:lstStyle/>
          <a:p>
            <a:pPr marL="285750" indent="-285750" algn="l">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In 711 A.D. a serious attempt was made by Arabs under the command of </a:t>
            </a:r>
            <a:r>
              <a:rPr lang="en-US" dirty="0" err="1" smtClean="0">
                <a:latin typeface="Times New Roman" panose="02020603050405020304" pitchFamily="18" charset="0"/>
                <a:cs typeface="Times New Roman" panose="02020603050405020304" pitchFamily="18" charset="0"/>
              </a:rPr>
              <a:t>Imaduddin</a:t>
            </a:r>
            <a:r>
              <a:rPr lang="en-US" dirty="0" smtClean="0">
                <a:latin typeface="Times New Roman" panose="02020603050405020304" pitchFamily="18" charset="0"/>
                <a:cs typeface="Times New Roman" panose="02020603050405020304" pitchFamily="18" charset="0"/>
              </a:rPr>
              <a:t> Muhammad bin </a:t>
            </a:r>
            <a:r>
              <a:rPr lang="en-US" dirty="0" err="1" smtClean="0">
                <a:latin typeface="Times New Roman" panose="02020603050405020304" pitchFamily="18" charset="0"/>
                <a:cs typeface="Times New Roman" panose="02020603050405020304" pitchFamily="18" charset="0"/>
              </a:rPr>
              <a:t>Qasim</a:t>
            </a:r>
            <a:r>
              <a:rPr lang="en-US" dirty="0" smtClean="0">
                <a:latin typeface="Times New Roman" panose="02020603050405020304" pitchFamily="18" charset="0"/>
                <a:cs typeface="Times New Roman" panose="02020603050405020304" pitchFamily="18" charset="0"/>
              </a:rPr>
              <a:t> to Capturing Sindh.</a:t>
            </a:r>
          </a:p>
          <a:p>
            <a:pPr marL="285750" indent="-285750" algn="l">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His Army Consist of 6000 Syrian Horses and 6000 Iraqi camels as well as 3000 camels carry necessary goods with Bin </a:t>
            </a:r>
            <a:r>
              <a:rPr lang="en-US" dirty="0" err="1" smtClean="0">
                <a:latin typeface="Times New Roman" panose="02020603050405020304" pitchFamily="18" charset="0"/>
                <a:cs typeface="Times New Roman" panose="02020603050405020304" pitchFamily="18" charset="0"/>
              </a:rPr>
              <a:t>Qasim’s</a:t>
            </a:r>
            <a:r>
              <a:rPr lang="en-US" dirty="0" smtClean="0">
                <a:latin typeface="Times New Roman" panose="02020603050405020304" pitchFamily="18" charset="0"/>
                <a:cs typeface="Times New Roman" panose="02020603050405020304" pitchFamily="18" charset="0"/>
              </a:rPr>
              <a:t>. These all came the Bin </a:t>
            </a:r>
            <a:r>
              <a:rPr lang="en-US" dirty="0" err="1" smtClean="0">
                <a:latin typeface="Times New Roman" panose="02020603050405020304" pitchFamily="18" charset="0"/>
                <a:cs typeface="Times New Roman" panose="02020603050405020304" pitchFamily="18" charset="0"/>
              </a:rPr>
              <a:t>Qasim</a:t>
            </a:r>
            <a:r>
              <a:rPr lang="en-US" dirty="0" smtClean="0">
                <a:latin typeface="Times New Roman" panose="02020603050405020304" pitchFamily="18" charset="0"/>
                <a:cs typeface="Times New Roman" panose="02020603050405020304" pitchFamily="18" charset="0"/>
              </a:rPr>
              <a:t> by Land.</a:t>
            </a:r>
          </a:p>
          <a:p>
            <a:pPr marL="285750" indent="-285750" algn="l">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Al-</a:t>
            </a:r>
            <a:r>
              <a:rPr lang="en-US" dirty="0" err="1" smtClean="0">
                <a:latin typeface="Times New Roman" panose="02020603050405020304" pitchFamily="18" charset="0"/>
                <a:cs typeface="Times New Roman" panose="02020603050405020304" pitchFamily="18" charset="0"/>
              </a:rPr>
              <a:t>Hijjaj</a:t>
            </a:r>
            <a:r>
              <a:rPr lang="en-US" dirty="0" smtClean="0">
                <a:latin typeface="Times New Roman" panose="02020603050405020304" pitchFamily="18" charset="0"/>
                <a:cs typeface="Times New Roman" panose="02020603050405020304" pitchFamily="18" charset="0"/>
              </a:rPr>
              <a:t> also send five </a:t>
            </a:r>
            <a:r>
              <a:rPr lang="en-US" dirty="0"/>
              <a:t> </a:t>
            </a:r>
            <a:r>
              <a:rPr lang="en-US" dirty="0">
                <a:latin typeface="Times New Roman" panose="02020603050405020304" pitchFamily="18" charset="0"/>
                <a:cs typeface="Times New Roman" panose="02020603050405020304" pitchFamily="18" charset="0"/>
              </a:rPr>
              <a:t>catapult</a:t>
            </a:r>
            <a:r>
              <a:rPr lang="en-US" dirty="0" smtClean="0">
                <a:latin typeface="Times New Roman" panose="02020603050405020304" pitchFamily="18" charset="0"/>
                <a:cs typeface="Times New Roman" panose="02020603050405020304" pitchFamily="18" charset="0"/>
              </a:rPr>
              <a:t> (</a:t>
            </a:r>
            <a:r>
              <a:rPr lang="en-US" i="1" dirty="0" err="1" smtClean="0">
                <a:latin typeface="Times New Roman" panose="02020603050405020304" pitchFamily="18" charset="0"/>
                <a:cs typeface="Times New Roman" panose="02020603050405020304" pitchFamily="18" charset="0"/>
              </a:rPr>
              <a:t>Manjainiks</a:t>
            </a:r>
            <a:r>
              <a:rPr lang="en-US" i="1"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by sea, and each </a:t>
            </a:r>
            <a:r>
              <a:rPr lang="en-US" i="1" dirty="0" err="1" smtClean="0">
                <a:latin typeface="Times New Roman" panose="02020603050405020304" pitchFamily="18" charset="0"/>
                <a:cs typeface="Times New Roman" panose="02020603050405020304" pitchFamily="18" charset="0"/>
              </a:rPr>
              <a:t>Manjainiks</a:t>
            </a:r>
            <a:r>
              <a:rPr lang="en-US" dirty="0" smtClean="0">
                <a:latin typeface="Times New Roman" panose="02020603050405020304" pitchFamily="18" charset="0"/>
                <a:cs typeface="Times New Roman" panose="02020603050405020304" pitchFamily="18" charset="0"/>
              </a:rPr>
              <a:t> has 500 soldiers. Among them </a:t>
            </a:r>
            <a:r>
              <a:rPr lang="en-US" dirty="0" err="1" smtClean="0">
                <a:latin typeface="Times New Roman" panose="02020603050405020304" pitchFamily="18" charset="0"/>
                <a:cs typeface="Times New Roman" panose="02020603050405020304" pitchFamily="18" charset="0"/>
              </a:rPr>
              <a:t>Uroos</a:t>
            </a:r>
            <a:r>
              <a:rPr lang="en-US" dirty="0" smtClean="0">
                <a:latin typeface="Times New Roman" panose="02020603050405020304" pitchFamily="18" charset="0"/>
                <a:cs typeface="Times New Roman" panose="02020603050405020304" pitchFamily="18" charset="0"/>
              </a:rPr>
              <a:t> was one of them </a:t>
            </a:r>
            <a:r>
              <a:rPr lang="en-US" i="1" dirty="0" err="1" smtClean="0">
                <a:latin typeface="Times New Roman" panose="02020603050405020304" pitchFamily="18" charset="0"/>
                <a:cs typeface="Times New Roman" panose="02020603050405020304" pitchFamily="18" charset="0"/>
              </a:rPr>
              <a:t>Manjainik</a:t>
            </a:r>
            <a:r>
              <a:rPr lang="en-US" dirty="0" smtClean="0">
                <a:latin typeface="Times New Roman" panose="02020603050405020304" pitchFamily="18" charset="0"/>
                <a:cs typeface="Times New Roman" panose="02020603050405020304" pitchFamily="18" charset="0"/>
              </a:rPr>
              <a:t>. Its rider name was ‘</a:t>
            </a:r>
            <a:r>
              <a:rPr lang="en-US" dirty="0" err="1" smtClean="0">
                <a:latin typeface="Times New Roman" panose="02020603050405020304" pitchFamily="18" charset="0"/>
                <a:cs typeface="Times New Roman" panose="02020603050405020304" pitchFamily="18" charset="0"/>
              </a:rPr>
              <a:t>Joona</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Salemi</a:t>
            </a:r>
            <a:r>
              <a:rPr lang="en-US" dirty="0" smtClean="0">
                <a:latin typeface="Times New Roman" panose="02020603050405020304" pitchFamily="18" charset="0"/>
                <a:cs typeface="Times New Roman" panose="02020603050405020304" pitchFamily="18" charset="0"/>
              </a:rPr>
              <a:t>’.  </a:t>
            </a:r>
          </a:p>
          <a:p>
            <a:pPr marL="285750" indent="-285750" algn="l">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Muhammad bin </a:t>
            </a:r>
            <a:r>
              <a:rPr lang="en-US" dirty="0" err="1" smtClean="0">
                <a:latin typeface="Times New Roman" panose="02020603050405020304" pitchFamily="18" charset="0"/>
                <a:cs typeface="Times New Roman" panose="02020603050405020304" pitchFamily="18" charset="0"/>
              </a:rPr>
              <a:t>Qasim’s</a:t>
            </a:r>
            <a:r>
              <a:rPr lang="en-US" dirty="0" smtClean="0">
                <a:latin typeface="Times New Roman" panose="02020603050405020304" pitchFamily="18" charset="0"/>
                <a:cs typeface="Times New Roman" panose="02020603050405020304" pitchFamily="18" charset="0"/>
              </a:rPr>
              <a:t> Army Sieging the </a:t>
            </a:r>
            <a:r>
              <a:rPr lang="en-US" dirty="0" err="1" smtClean="0">
                <a:latin typeface="Times New Roman" panose="02020603050405020304" pitchFamily="18" charset="0"/>
                <a:cs typeface="Times New Roman" panose="02020603050405020304" pitchFamily="18" charset="0"/>
              </a:rPr>
              <a:t>Debal</a:t>
            </a:r>
            <a:r>
              <a:rPr lang="en-US" dirty="0" smtClean="0">
                <a:latin typeface="Times New Roman" panose="02020603050405020304" pitchFamily="18" charset="0"/>
                <a:cs typeface="Times New Roman" panose="02020603050405020304" pitchFamily="18" charset="0"/>
              </a:rPr>
              <a:t> almost 8 days, he not attacked on </a:t>
            </a:r>
            <a:r>
              <a:rPr lang="en-US" dirty="0" err="1">
                <a:latin typeface="Times New Roman" panose="02020603050405020304" pitchFamily="18" charset="0"/>
                <a:cs typeface="Times New Roman" panose="02020603050405020304" pitchFamily="18" charset="0"/>
              </a:rPr>
              <a:t>D</a:t>
            </a:r>
            <a:r>
              <a:rPr lang="en-US" dirty="0" err="1" smtClean="0">
                <a:latin typeface="Times New Roman" panose="02020603050405020304" pitchFamily="18" charset="0"/>
                <a:cs typeface="Times New Roman" panose="02020603050405020304" pitchFamily="18" charset="0"/>
              </a:rPr>
              <a:t>ebal</a:t>
            </a:r>
            <a:r>
              <a:rPr lang="en-US" dirty="0" smtClean="0">
                <a:latin typeface="Times New Roman" panose="02020603050405020304" pitchFamily="18" charset="0"/>
                <a:cs typeface="Times New Roman" panose="02020603050405020304" pitchFamily="18" charset="0"/>
              </a:rPr>
              <a:t> till received message from Al-</a:t>
            </a:r>
            <a:r>
              <a:rPr lang="en-US" dirty="0" err="1" smtClean="0">
                <a:latin typeface="Times New Roman" panose="02020603050405020304" pitchFamily="18" charset="0"/>
                <a:cs typeface="Times New Roman" panose="02020603050405020304" pitchFamily="18" charset="0"/>
              </a:rPr>
              <a:t>Hijjaj</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10118944" y="168684"/>
            <a:ext cx="683339" cy="365125"/>
          </a:xfrm>
        </p:spPr>
        <p:txBody>
          <a:bodyPr/>
          <a:lstStyle/>
          <a:p>
            <a:fld id="{8753A3FB-F41A-4F5C-A86E-7F28978B43C1}" type="slidenum">
              <a:rPr lang="en-US" sz="1800" smtClean="0"/>
              <a:t>12</a:t>
            </a:fld>
            <a:endParaRPr lang="en-US" sz="18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575" y="3274042"/>
            <a:ext cx="5923068" cy="331500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1643" y="3224217"/>
            <a:ext cx="4469185" cy="3364831"/>
          </a:xfrm>
          <a:prstGeom prst="rect">
            <a:avLst/>
          </a:prstGeom>
        </p:spPr>
      </p:pic>
    </p:spTree>
    <p:extLst>
      <p:ext uri="{BB962C8B-B14F-4D97-AF65-F5344CB8AC3E}">
        <p14:creationId xmlns:p14="http://schemas.microsoft.com/office/powerpoint/2010/main" val="35189743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91672" y="766721"/>
            <a:ext cx="8783394" cy="2749211"/>
          </a:xfrm>
        </p:spPr>
        <p:txBody>
          <a:bodyPr/>
          <a:lstStyle/>
          <a:p>
            <a:pPr marL="285750" indent="-285750" algn="just">
              <a:buFont typeface="Wingdings" panose="05000000000000000000" pitchFamily="2" charset="2"/>
              <a:buChar char="Ø"/>
            </a:pPr>
            <a:r>
              <a:rPr lang="en-US" dirty="0" smtClean="0">
                <a:solidFill>
                  <a:schemeClr val="tx1"/>
                </a:solidFill>
                <a:latin typeface="Times New Roman" panose="02020603050405020304" pitchFamily="18" charset="0"/>
                <a:cs typeface="Times New Roman" panose="02020603050405020304" pitchFamily="18" charset="0"/>
              </a:rPr>
              <a:t>M. bin </a:t>
            </a:r>
            <a:r>
              <a:rPr lang="en-US" dirty="0" err="1" smtClean="0">
                <a:solidFill>
                  <a:schemeClr val="tx1"/>
                </a:solidFill>
                <a:latin typeface="Times New Roman" panose="02020603050405020304" pitchFamily="18" charset="0"/>
                <a:cs typeface="Times New Roman" panose="02020603050405020304" pitchFamily="18" charset="0"/>
              </a:rPr>
              <a:t>Qasim’s</a:t>
            </a:r>
            <a:r>
              <a:rPr lang="en-US" dirty="0" smtClean="0">
                <a:solidFill>
                  <a:schemeClr val="tx1"/>
                </a:solidFill>
                <a:latin typeface="Times New Roman" panose="02020603050405020304" pitchFamily="18" charset="0"/>
                <a:cs typeface="Times New Roman" panose="02020603050405020304" pitchFamily="18" charset="0"/>
              </a:rPr>
              <a:t> first attack was not succeed, and people of </a:t>
            </a:r>
            <a:r>
              <a:rPr lang="en-US" dirty="0" err="1" smtClean="0">
                <a:solidFill>
                  <a:schemeClr val="tx1"/>
                </a:solidFill>
                <a:latin typeface="Times New Roman" panose="02020603050405020304" pitchFamily="18" charset="0"/>
                <a:cs typeface="Times New Roman" panose="02020603050405020304" pitchFamily="18" charset="0"/>
              </a:rPr>
              <a:t>Debal</a:t>
            </a:r>
            <a:r>
              <a:rPr lang="en-US" dirty="0" smtClean="0">
                <a:solidFill>
                  <a:schemeClr val="tx1"/>
                </a:solidFill>
                <a:latin typeface="Times New Roman" panose="02020603050405020304" pitchFamily="18" charset="0"/>
                <a:cs typeface="Times New Roman" panose="02020603050405020304" pitchFamily="18" charset="0"/>
              </a:rPr>
              <a:t> fought with </a:t>
            </a:r>
            <a:r>
              <a:rPr lang="en-US" dirty="0">
                <a:latin typeface="Times New Roman" panose="02020603050405020304" pitchFamily="18" charset="0"/>
                <a:cs typeface="Times New Roman" panose="02020603050405020304" pitchFamily="18" charset="0"/>
              </a:rPr>
              <a:t>courage</a:t>
            </a:r>
            <a:r>
              <a:rPr lang="en-US" dirty="0" smtClean="0">
                <a:solidFill>
                  <a:schemeClr val="tx1"/>
                </a:solidFill>
                <a:latin typeface="Times New Roman" panose="02020603050405020304" pitchFamily="18" charset="0"/>
                <a:cs typeface="Times New Roman" panose="02020603050405020304" pitchFamily="18" charset="0"/>
              </a:rPr>
              <a:t>.  </a:t>
            </a:r>
          </a:p>
          <a:p>
            <a:pPr marL="285750" indent="-285750" algn="just">
              <a:buFont typeface="Wingdings" panose="05000000000000000000" pitchFamily="2" charset="2"/>
              <a:buChar char="Ø"/>
            </a:pPr>
            <a:r>
              <a:rPr lang="en-US" dirty="0" smtClean="0">
                <a:solidFill>
                  <a:schemeClr val="tx1"/>
                </a:solidFill>
                <a:latin typeface="Times New Roman" panose="02020603050405020304" pitchFamily="18" charset="0"/>
                <a:cs typeface="Times New Roman" panose="02020603050405020304" pitchFamily="18" charset="0"/>
              </a:rPr>
              <a:t>In the </a:t>
            </a:r>
            <a:r>
              <a:rPr lang="en-US" dirty="0" err="1" smtClean="0">
                <a:solidFill>
                  <a:schemeClr val="tx1"/>
                </a:solidFill>
                <a:latin typeface="Times New Roman" panose="02020603050405020304" pitchFamily="18" charset="0"/>
                <a:cs typeface="Times New Roman" panose="02020603050405020304" pitchFamily="18" charset="0"/>
              </a:rPr>
              <a:t>centre</a:t>
            </a:r>
            <a:r>
              <a:rPr lang="en-US" dirty="0" smtClean="0">
                <a:solidFill>
                  <a:schemeClr val="tx1"/>
                </a:solidFill>
                <a:latin typeface="Times New Roman" panose="02020603050405020304" pitchFamily="18" charset="0"/>
                <a:cs typeface="Times New Roman" panose="02020603050405020304" pitchFamily="18" charset="0"/>
              </a:rPr>
              <a:t> of </a:t>
            </a:r>
            <a:r>
              <a:rPr lang="en-US" dirty="0" err="1" smtClean="0">
                <a:solidFill>
                  <a:schemeClr val="tx1"/>
                </a:solidFill>
                <a:latin typeface="Times New Roman" panose="02020603050405020304" pitchFamily="18" charset="0"/>
                <a:cs typeface="Times New Roman" panose="02020603050405020304" pitchFamily="18" charset="0"/>
              </a:rPr>
              <a:t>Debal</a:t>
            </a:r>
            <a:r>
              <a:rPr lang="en-US" dirty="0" smtClean="0">
                <a:solidFill>
                  <a:schemeClr val="tx1"/>
                </a:solidFill>
                <a:latin typeface="Times New Roman" panose="02020603050405020304" pitchFamily="18" charset="0"/>
                <a:cs typeface="Times New Roman" panose="02020603050405020304" pitchFamily="18" charset="0"/>
              </a:rPr>
              <a:t> city there was a Temple, which almost 120 feet height. In the </a:t>
            </a:r>
            <a:r>
              <a:rPr lang="en-US" dirty="0" err="1" smtClean="0">
                <a:solidFill>
                  <a:schemeClr val="tx1"/>
                </a:solidFill>
                <a:latin typeface="Times New Roman" panose="02020603050405020304" pitchFamily="18" charset="0"/>
                <a:cs typeface="Times New Roman" panose="02020603050405020304" pitchFamily="18" charset="0"/>
              </a:rPr>
              <a:t>centre</a:t>
            </a:r>
            <a:r>
              <a:rPr lang="en-US" dirty="0" smtClean="0">
                <a:solidFill>
                  <a:schemeClr val="tx1"/>
                </a:solidFill>
                <a:latin typeface="Times New Roman" panose="02020603050405020304" pitchFamily="18" charset="0"/>
                <a:cs typeface="Times New Roman" panose="02020603050405020304" pitchFamily="18" charset="0"/>
              </a:rPr>
              <a:t> of Temple, above the </a:t>
            </a:r>
            <a:r>
              <a:rPr lang="en-US" dirty="0" err="1" smtClean="0">
                <a:solidFill>
                  <a:schemeClr val="tx1"/>
                </a:solidFill>
                <a:latin typeface="Times New Roman" panose="02020603050405020304" pitchFamily="18" charset="0"/>
                <a:cs typeface="Times New Roman" panose="02020603050405020304" pitchFamily="18" charset="0"/>
              </a:rPr>
              <a:t>minar</a:t>
            </a:r>
            <a:r>
              <a:rPr lang="en-US" dirty="0" smtClean="0">
                <a:solidFill>
                  <a:schemeClr val="tx1"/>
                </a:solidFill>
                <a:latin typeface="Times New Roman" panose="02020603050405020304" pitchFamily="18" charset="0"/>
                <a:cs typeface="Times New Roman" panose="02020603050405020304" pitchFamily="18" charset="0"/>
              </a:rPr>
              <a:t> red flag. </a:t>
            </a:r>
          </a:p>
          <a:p>
            <a:pPr marL="285750" indent="-285750" algn="just">
              <a:buFont typeface="Wingdings" panose="05000000000000000000" pitchFamily="2" charset="2"/>
              <a:buChar char="Ø"/>
            </a:pPr>
            <a:r>
              <a:rPr lang="en-US" dirty="0" smtClean="0">
                <a:solidFill>
                  <a:schemeClr val="tx1"/>
                </a:solidFill>
                <a:latin typeface="Times New Roman" panose="02020603050405020304" pitchFamily="18" charset="0"/>
                <a:cs typeface="Times New Roman" panose="02020603050405020304" pitchFamily="18" charset="0"/>
              </a:rPr>
              <a:t>There were so many rooms in Temple, and also many Sculpture, among them </a:t>
            </a:r>
            <a:r>
              <a:rPr lang="en-US" dirty="0" err="1" smtClean="0">
                <a:solidFill>
                  <a:schemeClr val="tx1"/>
                </a:solidFill>
                <a:latin typeface="Times New Roman" panose="02020603050405020304" pitchFamily="18" charset="0"/>
                <a:cs typeface="Times New Roman" panose="02020603050405020304" pitchFamily="18" charset="0"/>
              </a:rPr>
              <a:t>Gautam</a:t>
            </a:r>
            <a:r>
              <a:rPr lang="en-US" dirty="0" smtClean="0">
                <a:solidFill>
                  <a:schemeClr val="tx1"/>
                </a:solidFill>
                <a:latin typeface="Times New Roman" panose="02020603050405020304" pitchFamily="18" charset="0"/>
                <a:cs typeface="Times New Roman" panose="02020603050405020304" pitchFamily="18" charset="0"/>
              </a:rPr>
              <a:t> </a:t>
            </a:r>
            <a:r>
              <a:rPr lang="en-US" dirty="0" err="1" smtClean="0">
                <a:solidFill>
                  <a:schemeClr val="tx1"/>
                </a:solidFill>
                <a:latin typeface="Times New Roman" panose="02020603050405020304" pitchFamily="18" charset="0"/>
                <a:cs typeface="Times New Roman" panose="02020603050405020304" pitchFamily="18" charset="0"/>
              </a:rPr>
              <a:t>Bhuddah’s</a:t>
            </a:r>
            <a:r>
              <a:rPr lang="en-US" dirty="0" smtClean="0">
                <a:solidFill>
                  <a:schemeClr val="tx1"/>
                </a:solidFill>
                <a:latin typeface="Times New Roman" panose="02020603050405020304" pitchFamily="18" charset="0"/>
                <a:cs typeface="Times New Roman" panose="02020603050405020304" pitchFamily="18" charset="0"/>
              </a:rPr>
              <a:t> Sculpture was biggest. </a:t>
            </a:r>
          </a:p>
          <a:p>
            <a:pPr marL="285750" indent="-285750" algn="just">
              <a:buFont typeface="Wingdings" panose="05000000000000000000" pitchFamily="2" charset="2"/>
              <a:buChar char="Ø"/>
            </a:pPr>
            <a:r>
              <a:rPr lang="en-US" dirty="0" smtClean="0">
                <a:solidFill>
                  <a:schemeClr val="tx1"/>
                </a:solidFill>
                <a:latin typeface="Times New Roman" panose="02020603050405020304" pitchFamily="18" charset="0"/>
                <a:cs typeface="Times New Roman" panose="02020603050405020304" pitchFamily="18" charset="0"/>
              </a:rPr>
              <a:t>There was a faith of </a:t>
            </a:r>
            <a:r>
              <a:rPr lang="en-US" dirty="0" err="1" smtClean="0">
                <a:solidFill>
                  <a:schemeClr val="tx1"/>
                </a:solidFill>
                <a:latin typeface="Times New Roman" panose="02020603050405020304" pitchFamily="18" charset="0"/>
                <a:cs typeface="Times New Roman" panose="02020603050405020304" pitchFamily="18" charset="0"/>
              </a:rPr>
              <a:t>Debal’s</a:t>
            </a:r>
            <a:r>
              <a:rPr lang="en-US" dirty="0" smtClean="0">
                <a:solidFill>
                  <a:schemeClr val="tx1"/>
                </a:solidFill>
                <a:latin typeface="Times New Roman" panose="02020603050405020304" pitchFamily="18" charset="0"/>
                <a:cs typeface="Times New Roman" panose="02020603050405020304" pitchFamily="18" charset="0"/>
              </a:rPr>
              <a:t> people that the flag will cover them from invaders. </a:t>
            </a:r>
          </a:p>
          <a:p>
            <a:pPr marL="285750" indent="-285750" algn="just">
              <a:buFont typeface="Wingdings" panose="05000000000000000000" pitchFamily="2" charset="2"/>
              <a:buChar char="Ø"/>
            </a:pPr>
            <a:r>
              <a:rPr lang="en-US" dirty="0" smtClean="0">
                <a:solidFill>
                  <a:schemeClr val="tx1"/>
                </a:solidFill>
                <a:latin typeface="Times New Roman" panose="02020603050405020304" pitchFamily="18" charset="0"/>
                <a:cs typeface="Times New Roman" panose="02020603050405020304" pitchFamily="18" charset="0"/>
              </a:rPr>
              <a:t>The whole story informed by a Brahman of </a:t>
            </a:r>
            <a:r>
              <a:rPr lang="en-US" dirty="0" err="1" smtClean="0">
                <a:solidFill>
                  <a:schemeClr val="tx1"/>
                </a:solidFill>
                <a:latin typeface="Times New Roman" panose="02020603050405020304" pitchFamily="18" charset="0"/>
                <a:cs typeface="Times New Roman" panose="02020603050405020304" pitchFamily="18" charset="0"/>
              </a:rPr>
              <a:t>Debal</a:t>
            </a:r>
            <a:r>
              <a:rPr lang="en-US" dirty="0" smtClean="0">
                <a:solidFill>
                  <a:schemeClr val="tx1"/>
                </a:solidFill>
                <a:latin typeface="Times New Roman" panose="02020603050405020304" pitchFamily="18" charset="0"/>
                <a:cs typeface="Times New Roman" panose="02020603050405020304" pitchFamily="18" charset="0"/>
              </a:rPr>
              <a:t> to bin </a:t>
            </a:r>
            <a:r>
              <a:rPr lang="en-US" dirty="0" err="1" smtClean="0">
                <a:solidFill>
                  <a:schemeClr val="tx1"/>
                </a:solidFill>
                <a:latin typeface="Times New Roman" panose="02020603050405020304" pitchFamily="18" charset="0"/>
                <a:cs typeface="Times New Roman" panose="02020603050405020304" pitchFamily="18" charset="0"/>
              </a:rPr>
              <a:t>Qasim</a:t>
            </a:r>
            <a:r>
              <a:rPr lang="en-US" dirty="0" smtClean="0">
                <a:solidFill>
                  <a:schemeClr val="tx1"/>
                </a:solidFill>
                <a:latin typeface="Times New Roman" panose="02020603050405020304" pitchFamily="18" charset="0"/>
                <a:cs typeface="Times New Roman" panose="02020603050405020304" pitchFamily="18" charset="0"/>
              </a:rPr>
              <a:t>.</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10136128" y="347728"/>
            <a:ext cx="683339" cy="365125"/>
          </a:xfrm>
        </p:spPr>
        <p:txBody>
          <a:bodyPr/>
          <a:lstStyle/>
          <a:p>
            <a:fld id="{8753A3FB-F41A-4F5C-A86E-7F28978B43C1}" type="slidenum">
              <a:rPr lang="en-US" sz="1800" smtClean="0"/>
              <a:t>13</a:t>
            </a:fld>
            <a:endParaRPr lang="en-US" sz="18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624" y="3515932"/>
            <a:ext cx="5570113" cy="3342068"/>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94737" y="3515932"/>
            <a:ext cx="4892787" cy="3342068"/>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6846" y="3515932"/>
            <a:ext cx="5165198" cy="3370992"/>
          </a:xfrm>
          <a:prstGeom prst="rect">
            <a:avLst/>
          </a:prstGeom>
        </p:spPr>
      </p:pic>
    </p:spTree>
    <p:extLst>
      <p:ext uri="{BB962C8B-B14F-4D97-AF65-F5344CB8AC3E}">
        <p14:creationId xmlns:p14="http://schemas.microsoft.com/office/powerpoint/2010/main" val="14360435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75242" y="470507"/>
            <a:ext cx="8951338" cy="2285572"/>
          </a:xfrm>
        </p:spPr>
        <p:txBody>
          <a:bodyPr/>
          <a:lstStyle/>
          <a:p>
            <a:pPr marL="285750" indent="-285750" algn="l">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After the conquered </a:t>
            </a:r>
            <a:r>
              <a:rPr lang="en-US" dirty="0" err="1" smtClean="0">
                <a:latin typeface="Times New Roman" panose="02020603050405020304" pitchFamily="18" charset="0"/>
                <a:cs typeface="Times New Roman" panose="02020603050405020304" pitchFamily="18" charset="0"/>
              </a:rPr>
              <a:t>Debal</a:t>
            </a:r>
            <a:r>
              <a:rPr lang="en-US" dirty="0" smtClean="0">
                <a:latin typeface="Times New Roman" panose="02020603050405020304" pitchFamily="18" charset="0"/>
                <a:cs typeface="Times New Roman" panose="02020603050405020304" pitchFamily="18" charset="0"/>
              </a:rPr>
              <a:t> City M. bin </a:t>
            </a:r>
            <a:r>
              <a:rPr lang="en-US" dirty="0" err="1" smtClean="0">
                <a:latin typeface="Times New Roman" panose="02020603050405020304" pitchFamily="18" charset="0"/>
                <a:cs typeface="Times New Roman" panose="02020603050405020304" pitchFamily="18" charset="0"/>
              </a:rPr>
              <a:t>Qasim</a:t>
            </a:r>
            <a:r>
              <a:rPr lang="en-US" dirty="0" smtClean="0">
                <a:latin typeface="Times New Roman" panose="02020603050405020304" pitchFamily="18" charset="0"/>
                <a:cs typeface="Times New Roman" panose="02020603050405020304" pitchFamily="18" charset="0"/>
              </a:rPr>
              <a:t> Moved </a:t>
            </a:r>
            <a:r>
              <a:rPr lang="en-US" dirty="0" err="1" smtClean="0">
                <a:latin typeface="Times New Roman" panose="02020603050405020304" pitchFamily="18" charset="0"/>
                <a:cs typeface="Times New Roman" panose="02020603050405020304" pitchFamily="18" charset="0"/>
              </a:rPr>
              <a:t>Neroon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Kot</a:t>
            </a:r>
            <a:r>
              <a:rPr lang="en-US" dirty="0" smtClean="0">
                <a:latin typeface="Times New Roman" panose="02020603050405020304" pitchFamily="18" charset="0"/>
                <a:cs typeface="Times New Roman" panose="02020603050405020304" pitchFamily="18" charset="0"/>
              </a:rPr>
              <a:t> (Hyderabad). The people of Hyderabad welcome to Arabs without and opposed.  </a:t>
            </a:r>
          </a:p>
          <a:p>
            <a:pPr marL="285750" indent="-285750" algn="l">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When no one opposed him in </a:t>
            </a:r>
            <a:r>
              <a:rPr lang="en-US" dirty="0" err="1" smtClean="0">
                <a:latin typeface="Times New Roman" panose="02020603050405020304" pitchFamily="18" charset="0"/>
                <a:cs typeface="Times New Roman" panose="02020603050405020304" pitchFamily="18" charset="0"/>
              </a:rPr>
              <a:t>Nerron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Kot</a:t>
            </a:r>
            <a:r>
              <a:rPr lang="en-US" dirty="0" smtClean="0">
                <a:latin typeface="Times New Roman" panose="02020603050405020304" pitchFamily="18" charset="0"/>
                <a:cs typeface="Times New Roman" panose="02020603050405020304" pitchFamily="18" charset="0"/>
              </a:rPr>
              <a:t>, he Gave them same highest administration positions. </a:t>
            </a:r>
          </a:p>
          <a:p>
            <a:pPr marL="285750" indent="-285750" algn="l">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Such act of bin </a:t>
            </a:r>
            <a:r>
              <a:rPr lang="en-US" dirty="0" err="1" smtClean="0">
                <a:latin typeface="Times New Roman" panose="02020603050405020304" pitchFamily="18" charset="0"/>
                <a:cs typeface="Times New Roman" panose="02020603050405020304" pitchFamily="18" charset="0"/>
              </a:rPr>
              <a:t>Qasim</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angred</a:t>
            </a:r>
            <a:r>
              <a:rPr lang="en-US" dirty="0" smtClean="0">
                <a:latin typeface="Times New Roman" panose="02020603050405020304" pitchFamily="18" charset="0"/>
                <a:cs typeface="Times New Roman" panose="02020603050405020304" pitchFamily="18" charset="0"/>
              </a:rPr>
              <a:t> to Al-</a:t>
            </a:r>
            <a:r>
              <a:rPr lang="en-US" dirty="0" err="1" smtClean="0">
                <a:latin typeface="Times New Roman" panose="02020603050405020304" pitchFamily="18" charset="0"/>
                <a:cs typeface="Times New Roman" panose="02020603050405020304" pitchFamily="18" charset="0"/>
              </a:rPr>
              <a:t>Hijjaj</a:t>
            </a:r>
            <a:r>
              <a:rPr lang="en-US" dirty="0" smtClean="0">
                <a:latin typeface="Times New Roman" panose="02020603050405020304" pitchFamily="18" charset="0"/>
                <a:cs typeface="Times New Roman" panose="02020603050405020304" pitchFamily="18" charset="0"/>
              </a:rPr>
              <a:t>, and Al-</a:t>
            </a:r>
            <a:r>
              <a:rPr lang="en-US" dirty="0" err="1">
                <a:latin typeface="Times New Roman" panose="02020603050405020304" pitchFamily="18" charset="0"/>
                <a:cs typeface="Times New Roman" panose="02020603050405020304" pitchFamily="18" charset="0"/>
              </a:rPr>
              <a:t>H</a:t>
            </a:r>
            <a:r>
              <a:rPr lang="en-US" dirty="0" err="1" smtClean="0">
                <a:latin typeface="Times New Roman" panose="02020603050405020304" pitchFamily="18" charset="0"/>
                <a:cs typeface="Times New Roman" panose="02020603050405020304" pitchFamily="18" charset="0"/>
              </a:rPr>
              <a:t>ijjaj</a:t>
            </a:r>
            <a:r>
              <a:rPr lang="en-US" dirty="0" smtClean="0">
                <a:latin typeface="Times New Roman" panose="02020603050405020304" pitchFamily="18" charset="0"/>
                <a:cs typeface="Times New Roman" panose="02020603050405020304" pitchFamily="18" charset="0"/>
              </a:rPr>
              <a:t> wrote a letter with anger, and asked to send </a:t>
            </a:r>
            <a:r>
              <a:rPr lang="en-US" i="1" dirty="0" smtClean="0">
                <a:latin typeface="Times New Roman" panose="02020603050405020304" pitchFamily="18" charset="0"/>
                <a:cs typeface="Times New Roman" panose="02020603050405020304" pitchFamily="18" charset="0"/>
              </a:rPr>
              <a:t>Mal-e-</a:t>
            </a:r>
            <a:r>
              <a:rPr lang="en-US" i="1" dirty="0" err="1" smtClean="0">
                <a:latin typeface="Times New Roman" panose="02020603050405020304" pitchFamily="18" charset="0"/>
                <a:cs typeface="Times New Roman" panose="02020603050405020304" pitchFamily="18" charset="0"/>
              </a:rPr>
              <a:t>Ganimat</a:t>
            </a: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10213401" y="287944"/>
            <a:ext cx="683339" cy="365125"/>
          </a:xfrm>
        </p:spPr>
        <p:txBody>
          <a:bodyPr/>
          <a:lstStyle/>
          <a:p>
            <a:fld id="{8753A3FB-F41A-4F5C-A86E-7F28978B43C1}" type="slidenum">
              <a:rPr lang="en-US" sz="1800" smtClean="0"/>
              <a:t>14</a:t>
            </a:fld>
            <a:endParaRPr lang="en-US" sz="180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027" y="3097502"/>
            <a:ext cx="5020457" cy="3760497"/>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2484" y="3097502"/>
            <a:ext cx="5030767" cy="3823383"/>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45817" y="3097502"/>
            <a:ext cx="4864100" cy="4254500"/>
          </a:xfrm>
          <a:prstGeom prst="rect">
            <a:avLst/>
          </a:prstGeom>
        </p:spPr>
      </p:pic>
    </p:spTree>
    <p:extLst>
      <p:ext uri="{BB962C8B-B14F-4D97-AF65-F5344CB8AC3E}">
        <p14:creationId xmlns:p14="http://schemas.microsoft.com/office/powerpoint/2010/main" val="7410900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2819" y="947024"/>
            <a:ext cx="9336944" cy="2015117"/>
          </a:xfrm>
        </p:spPr>
        <p:txBody>
          <a:bodyPr/>
          <a:lstStyle/>
          <a:p>
            <a:pPr marL="285750" indent="-285750" algn="l">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After the receiving the letter from Al-</a:t>
            </a:r>
            <a:r>
              <a:rPr lang="en-US" dirty="0" err="1" smtClean="0">
                <a:latin typeface="Times New Roman" panose="02020603050405020304" pitchFamily="18" charset="0"/>
                <a:cs typeface="Times New Roman" panose="02020603050405020304" pitchFamily="18" charset="0"/>
              </a:rPr>
              <a:t>Hijjaj</a:t>
            </a:r>
            <a:r>
              <a:rPr lang="en-US" dirty="0" smtClean="0">
                <a:latin typeface="Times New Roman" panose="02020603050405020304" pitchFamily="18" charset="0"/>
                <a:cs typeface="Times New Roman" panose="02020603050405020304" pitchFamily="18" charset="0"/>
              </a:rPr>
              <a:t> , Muhammad bin </a:t>
            </a:r>
            <a:r>
              <a:rPr lang="en-US" dirty="0" err="1" smtClean="0">
                <a:latin typeface="Times New Roman" panose="02020603050405020304" pitchFamily="18" charset="0"/>
                <a:cs typeface="Times New Roman" panose="02020603050405020304" pitchFamily="18" charset="0"/>
              </a:rPr>
              <a:t>Qasim</a:t>
            </a:r>
            <a:r>
              <a:rPr lang="en-US" dirty="0" smtClean="0">
                <a:latin typeface="Times New Roman" panose="02020603050405020304" pitchFamily="18" charset="0"/>
                <a:cs typeface="Times New Roman" panose="02020603050405020304" pitchFamily="18" charset="0"/>
              </a:rPr>
              <a:t> moved </a:t>
            </a:r>
            <a:r>
              <a:rPr lang="en-US" dirty="0" err="1" smtClean="0">
                <a:latin typeface="Times New Roman" panose="02020603050405020304" pitchFamily="18" charset="0"/>
                <a:cs typeface="Times New Roman" panose="02020603050405020304" pitchFamily="18" charset="0"/>
              </a:rPr>
              <a:t>Rawar</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Kot</a:t>
            </a:r>
            <a:r>
              <a:rPr lang="en-US" dirty="0" smtClean="0">
                <a:latin typeface="Times New Roman" panose="02020603050405020304" pitchFamily="18" charset="0"/>
                <a:cs typeface="Times New Roman" panose="02020603050405020304" pitchFamily="18" charset="0"/>
              </a:rPr>
              <a:t> , (currently near </a:t>
            </a:r>
            <a:r>
              <a:rPr lang="en-US" dirty="0" err="1" smtClean="0">
                <a:latin typeface="Times New Roman" panose="02020603050405020304" pitchFamily="18" charset="0"/>
                <a:cs typeface="Times New Roman" panose="02020603050405020304" pitchFamily="18" charset="0"/>
              </a:rPr>
              <a:t>Shidadpure</a:t>
            </a:r>
            <a:r>
              <a:rPr lang="en-US" dirty="0" smtClean="0">
                <a:latin typeface="Times New Roman" panose="02020603050405020304" pitchFamily="18" charset="0"/>
                <a:cs typeface="Times New Roman" panose="02020603050405020304" pitchFamily="18" charset="0"/>
              </a:rPr>
              <a:t> or </a:t>
            </a:r>
            <a:r>
              <a:rPr lang="en-US" dirty="0" err="1" smtClean="0">
                <a:latin typeface="Times New Roman" panose="02020603050405020304" pitchFamily="18" charset="0"/>
                <a:cs typeface="Times New Roman" panose="02020603050405020304" pitchFamily="18" charset="0"/>
              </a:rPr>
              <a:t>Brahmanabad</a:t>
            </a:r>
            <a:r>
              <a:rPr lang="en-US" dirty="0" smtClean="0">
                <a:latin typeface="Times New Roman" panose="02020603050405020304" pitchFamily="18" charset="0"/>
                <a:cs typeface="Times New Roman" panose="02020603050405020304" pitchFamily="18" charset="0"/>
              </a:rPr>
              <a:t>).</a:t>
            </a:r>
          </a:p>
          <a:p>
            <a:pPr marL="285750" indent="-285750" algn="l">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On the eve of 10</a:t>
            </a:r>
            <a:r>
              <a:rPr lang="en-US" baseline="30000" dirty="0" smtClean="0">
                <a:latin typeface="Times New Roman" panose="02020603050405020304" pitchFamily="18" charset="0"/>
                <a:cs typeface="Times New Roman" panose="02020603050405020304" pitchFamily="18" charset="0"/>
              </a:rPr>
              <a:t>th</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Ramzan</a:t>
            </a:r>
            <a:r>
              <a:rPr lang="en-US" dirty="0" smtClean="0">
                <a:latin typeface="Times New Roman" panose="02020603050405020304" pitchFamily="18" charset="0"/>
                <a:cs typeface="Times New Roman" panose="02020603050405020304" pitchFamily="18" charset="0"/>
              </a:rPr>
              <a:t> Muhammad bin </a:t>
            </a:r>
            <a:r>
              <a:rPr lang="en-US" dirty="0" err="1" smtClean="0">
                <a:latin typeface="Times New Roman" panose="02020603050405020304" pitchFamily="18" charset="0"/>
                <a:cs typeface="Times New Roman" panose="02020603050405020304" pitchFamily="18" charset="0"/>
              </a:rPr>
              <a:t>Qasim</a:t>
            </a:r>
            <a:r>
              <a:rPr lang="en-US" dirty="0" smtClean="0">
                <a:latin typeface="Times New Roman" panose="02020603050405020304" pitchFamily="18" charset="0"/>
                <a:cs typeface="Times New Roman" panose="02020603050405020304" pitchFamily="18" charset="0"/>
              </a:rPr>
              <a:t> and Raja </a:t>
            </a:r>
            <a:r>
              <a:rPr lang="en-US" dirty="0" err="1" smtClean="0">
                <a:latin typeface="Times New Roman" panose="02020603050405020304" pitchFamily="18" charset="0"/>
                <a:cs typeface="Times New Roman" panose="02020603050405020304" pitchFamily="18" charset="0"/>
              </a:rPr>
              <a:t>Dahir</a:t>
            </a:r>
            <a:r>
              <a:rPr lang="en-US" dirty="0" smtClean="0">
                <a:latin typeface="Times New Roman" panose="02020603050405020304" pitchFamily="18" charset="0"/>
                <a:cs typeface="Times New Roman" panose="02020603050405020304" pitchFamily="18" charset="0"/>
              </a:rPr>
              <a:t> Fought a War. </a:t>
            </a:r>
          </a:p>
          <a:p>
            <a:pPr marL="285750" indent="-285750" algn="l">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10019763" y="265192"/>
            <a:ext cx="683339" cy="365125"/>
          </a:xfrm>
        </p:spPr>
        <p:txBody>
          <a:bodyPr/>
          <a:lstStyle/>
          <a:p>
            <a:fld id="{8753A3FB-F41A-4F5C-A86E-7F28978B43C1}" type="slidenum">
              <a:rPr lang="en-US" sz="1800" smtClean="0"/>
              <a:t>15</a:t>
            </a:fld>
            <a:endParaRPr lang="en-US" sz="18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034" y="2490631"/>
            <a:ext cx="4740335" cy="4367369"/>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8369" y="2490631"/>
            <a:ext cx="6434236" cy="4367369"/>
          </a:xfrm>
          <a:prstGeom prst="rect">
            <a:avLst/>
          </a:prstGeom>
        </p:spPr>
      </p:pic>
    </p:spTree>
    <p:extLst>
      <p:ext uri="{BB962C8B-B14F-4D97-AF65-F5344CB8AC3E}">
        <p14:creationId xmlns:p14="http://schemas.microsoft.com/office/powerpoint/2010/main" val="19773980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53036" y="1223493"/>
            <a:ext cx="8963695" cy="4546242"/>
          </a:xfrm>
        </p:spPr>
        <p:txBody>
          <a:bodyPr>
            <a:normAutofit/>
          </a:bodyPr>
          <a:lstStyle/>
          <a:p>
            <a:pPr algn="l"/>
            <a:r>
              <a:rPr lang="en-US" sz="2000" dirty="0">
                <a:latin typeface="Times New Roman" panose="02020603050405020304" pitchFamily="18" charset="0"/>
                <a:cs typeface="Times New Roman" panose="02020603050405020304" pitchFamily="18" charset="0"/>
              </a:rPr>
              <a:t>References:</a:t>
            </a:r>
          </a:p>
          <a:p>
            <a:pPr marL="514350" indent="-514350" algn="just">
              <a:buFont typeface="+mj-lt"/>
              <a:buAutoNum type="arabicPeriod"/>
            </a:pPr>
            <a:r>
              <a:rPr lang="en-US" sz="2000" dirty="0" err="1">
                <a:latin typeface="Times New Roman" panose="02020603050405020304" pitchFamily="18" charset="0"/>
                <a:cs typeface="Times New Roman" panose="02020603050405020304" pitchFamily="18" charset="0"/>
              </a:rPr>
              <a:t>Chachnama</a:t>
            </a:r>
            <a:r>
              <a:rPr lang="en-US" sz="2000" dirty="0">
                <a:latin typeface="Times New Roman" panose="02020603050405020304" pitchFamily="18" charset="0"/>
                <a:cs typeface="Times New Roman" panose="02020603050405020304" pitchFamily="18" charset="0"/>
              </a:rPr>
              <a:t>: Translated from the Persian by </a:t>
            </a:r>
            <a:r>
              <a:rPr lang="en-US" sz="2000" dirty="0" err="1">
                <a:latin typeface="Times New Roman" panose="02020603050405020304" pitchFamily="18" charset="0"/>
                <a:cs typeface="Times New Roman" panose="02020603050405020304" pitchFamily="18" charset="0"/>
              </a:rPr>
              <a:t>Mirza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Kalichbeg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Fredunbeg</a:t>
            </a:r>
            <a:r>
              <a:rPr lang="en-US" sz="2000" dirty="0">
                <a:latin typeface="Times New Roman" panose="02020603050405020304" pitchFamily="18" charset="0"/>
                <a:cs typeface="Times New Roman" panose="02020603050405020304" pitchFamily="18" charset="0"/>
              </a:rPr>
              <a:t>, 1900.</a:t>
            </a:r>
          </a:p>
          <a:p>
            <a:pPr marL="514350" indent="-514350" algn="just">
              <a:buFont typeface="+mj-lt"/>
              <a:buAutoNum type="arabicPeriod"/>
            </a:pPr>
            <a:r>
              <a:rPr lang="en-US" sz="2000" dirty="0">
                <a:latin typeface="Times New Roman" panose="02020603050405020304" pitchFamily="18" charset="0"/>
                <a:cs typeface="Times New Roman" panose="02020603050405020304" pitchFamily="18" charset="0"/>
              </a:rPr>
              <a:t>The Arab Conquest of Sindh by Muhammad Ali </a:t>
            </a:r>
            <a:r>
              <a:rPr lang="en-US" sz="2000" dirty="0" err="1">
                <a:latin typeface="Times New Roman" panose="02020603050405020304" pitchFamily="18" charset="0"/>
                <a:cs typeface="Times New Roman" panose="02020603050405020304" pitchFamily="18" charset="0"/>
              </a:rPr>
              <a:t>Qasmi</a:t>
            </a:r>
            <a:r>
              <a:rPr lang="en-US" sz="2000" dirty="0">
                <a:latin typeface="Times New Roman" panose="02020603050405020304" pitchFamily="18" charset="0"/>
                <a:cs typeface="Times New Roman" panose="02020603050405020304" pitchFamily="18" charset="0"/>
              </a:rPr>
              <a:t>, 1993.</a:t>
            </a:r>
          </a:p>
          <a:p>
            <a:pPr marL="514350" indent="-514350" algn="just">
              <a:buFont typeface="+mj-lt"/>
              <a:buAutoNum type="arabicPeriod"/>
            </a:pP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Chachnama</a:t>
            </a:r>
            <a:r>
              <a:rPr lang="en-US" sz="2000" dirty="0">
                <a:latin typeface="Times New Roman" panose="02020603050405020304" pitchFamily="18" charset="0"/>
                <a:cs typeface="Times New Roman" panose="02020603050405020304" pitchFamily="18" charset="0"/>
              </a:rPr>
              <a:t> and the Arab Invasions of Sindh by P. M. Holt, 1961.</a:t>
            </a:r>
          </a:p>
          <a:p>
            <a:pPr marL="514350" indent="-514350" algn="just">
              <a:buFont typeface="+mj-lt"/>
              <a:buAutoNum type="arabicPeriod"/>
            </a:pPr>
            <a:r>
              <a:rPr lang="en-US" sz="2000" dirty="0">
                <a:latin typeface="Times New Roman" panose="02020603050405020304" pitchFamily="18" charset="0"/>
                <a:cs typeface="Times New Roman" panose="02020603050405020304" pitchFamily="18" charset="0"/>
              </a:rPr>
              <a:t>The Arabs in Sind: A Study in Medieval Arab History by G. M. Syed, 1950.</a:t>
            </a:r>
          </a:p>
          <a:p>
            <a:pPr algn="l"/>
            <a:endParaRPr lang="en-US" sz="2000" dirty="0">
              <a:solidFill>
                <a:schemeClr val="tx1"/>
              </a:solidFill>
              <a:latin typeface="Times New Roman" panose="02020603050405020304" pitchFamily="18" charset="0"/>
              <a:cs typeface="Times New Roman" panose="02020603050405020304" pitchFamily="18" charset="0"/>
            </a:endParaRPr>
          </a:p>
          <a:p>
            <a:pPr algn="l"/>
            <a:endParaRPr lang="en-US" sz="2000" dirty="0"/>
          </a:p>
        </p:txBody>
      </p:sp>
      <p:sp>
        <p:nvSpPr>
          <p:cNvPr id="4" name="Slide Number Placeholder 3"/>
          <p:cNvSpPr>
            <a:spLocks noGrp="1"/>
          </p:cNvSpPr>
          <p:nvPr>
            <p:ph type="sldNum" sz="quarter" idx="12"/>
          </p:nvPr>
        </p:nvSpPr>
        <p:spPr/>
        <p:txBody>
          <a:bodyPr/>
          <a:lstStyle/>
          <a:p>
            <a:fld id="{8753A3FB-F41A-4F5C-A86E-7F28978B43C1}" type="slidenum">
              <a:rPr lang="en-US" sz="1200" smtClean="0"/>
              <a:t>16</a:t>
            </a:fld>
            <a:endParaRPr lang="en-US" sz="1200" dirty="0"/>
          </a:p>
        </p:txBody>
      </p:sp>
    </p:spTree>
    <p:extLst>
      <p:ext uri="{BB962C8B-B14F-4D97-AF65-F5344CB8AC3E}">
        <p14:creationId xmlns:p14="http://schemas.microsoft.com/office/powerpoint/2010/main" val="3000916796"/>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1567</TotalTime>
  <Words>1510</Words>
  <Application>Microsoft Office PowerPoint</Application>
  <PresentationFormat>Widescreen</PresentationFormat>
  <Paragraphs>81</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Times New Roman</vt:lpstr>
      <vt:lpstr>Trebuchet MS</vt:lpstr>
      <vt:lpstr>Wingdings</vt:lpstr>
      <vt:lpstr>Wingdings 3</vt:lpstr>
      <vt:lpstr>Facet</vt:lpstr>
      <vt:lpstr>Dawood University of Engineering &amp; Technology</vt:lpstr>
      <vt:lpstr>PowerPoint Presentation</vt:lpstr>
      <vt:lpstr>PowerPoint Presentation</vt:lpstr>
      <vt:lpstr>PowerPoint Presentation</vt:lpstr>
      <vt:lpstr>PowerPoint Presentation</vt:lpstr>
      <vt:lpstr>PowerPoint Presentation</vt:lpstr>
      <vt:lpstr>ARAB INVASION OF SINDH 712 AD.</vt:lpstr>
      <vt:lpstr>ARABS: </vt:lpstr>
      <vt:lpstr>CAUSES OF ARAB INVASION OF SINDH:</vt:lpstr>
      <vt:lpstr>PowerPoint Presentation</vt:lpstr>
      <vt:lpstr>PowerPoint Presentation</vt:lpstr>
      <vt:lpstr>ATTACK OF MUHAMMAD BIN QASIM</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ARAB INVASION OF SINDH 712 AD.</dc:title>
  <dc:creator>Fahad</dc:creator>
  <cp:lastModifiedBy>Fahad</cp:lastModifiedBy>
  <cp:revision>93</cp:revision>
  <dcterms:created xsi:type="dcterms:W3CDTF">2022-10-31T09:12:18Z</dcterms:created>
  <dcterms:modified xsi:type="dcterms:W3CDTF">2025-09-29T11:22:50Z</dcterms:modified>
</cp:coreProperties>
</file>