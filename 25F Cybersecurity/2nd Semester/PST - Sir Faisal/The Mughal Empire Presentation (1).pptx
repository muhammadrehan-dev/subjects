
<file path=[Content_Types].xml><?xml version="1.0" encoding="utf-8"?>
<Types xmlns="http://schemas.openxmlformats.org/package/2006/content-types">
  <Default Extension="jfif" ContentType="image/jpeg"/>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79" r:id="rId2"/>
    <p:sldId id="256" r:id="rId3"/>
    <p:sldId id="257" r:id="rId4"/>
    <p:sldId id="291" r:id="rId5"/>
    <p:sldId id="275" r:id="rId6"/>
    <p:sldId id="280" r:id="rId7"/>
    <p:sldId id="281" r:id="rId8"/>
    <p:sldId id="289" r:id="rId9"/>
    <p:sldId id="276" r:id="rId10"/>
    <p:sldId id="258" r:id="rId11"/>
    <p:sldId id="259" r:id="rId12"/>
    <p:sldId id="260" r:id="rId13"/>
    <p:sldId id="264" r:id="rId14"/>
    <p:sldId id="261" r:id="rId15"/>
    <p:sldId id="262" r:id="rId16"/>
    <p:sldId id="263" r:id="rId17"/>
    <p:sldId id="266" r:id="rId18"/>
    <p:sldId id="267" r:id="rId19"/>
    <p:sldId id="268" r:id="rId20"/>
    <p:sldId id="269" r:id="rId21"/>
    <p:sldId id="270" r:id="rId22"/>
    <p:sldId id="271" r:id="rId23"/>
    <p:sldId id="272" r:id="rId24"/>
    <p:sldId id="273" r:id="rId25"/>
    <p:sldId id="274" r:id="rId26"/>
    <p:sldId id="286" r:id="rId27"/>
    <p:sldId id="288" r:id="rId28"/>
    <p:sldId id="290" r:id="rId29"/>
    <p:sldId id="278"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56" autoAdjust="0"/>
    <p:restoredTop sz="94660"/>
  </p:normalViewPr>
  <p:slideViewPr>
    <p:cSldViewPr snapToGrid="0">
      <p:cViewPr varScale="1">
        <p:scale>
          <a:sx n="64" d="100"/>
          <a:sy n="64" d="100"/>
        </p:scale>
        <p:origin x="78"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C550AB-F58A-4AC4-B80A-30209888AC62}" type="datetimeFigureOut">
              <a:rPr lang="en-US" smtClean="0"/>
              <a:t>9/15/2025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4EEB5E-F659-43C5-8CDD-959A481B8720}" type="slidenum">
              <a:rPr lang="en-US" smtClean="0"/>
              <a:t>‹#›</a:t>
            </a:fld>
            <a:endParaRPr lang="en-US"/>
          </a:p>
        </p:txBody>
      </p:sp>
    </p:spTree>
    <p:extLst>
      <p:ext uri="{BB962C8B-B14F-4D97-AF65-F5344CB8AC3E}">
        <p14:creationId xmlns:p14="http://schemas.microsoft.com/office/powerpoint/2010/main" val="1554942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14EEB5E-F659-43C5-8CDD-959A481B8720}" type="slidenum">
              <a:rPr lang="en-US" smtClean="0"/>
              <a:t>9</a:t>
            </a:fld>
            <a:endParaRPr lang="en-US"/>
          </a:p>
        </p:txBody>
      </p:sp>
    </p:spTree>
    <p:extLst>
      <p:ext uri="{BB962C8B-B14F-4D97-AF65-F5344CB8AC3E}">
        <p14:creationId xmlns:p14="http://schemas.microsoft.com/office/powerpoint/2010/main" val="739782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E1775B3-0CB1-41A1-AA82-D54DC7BFC201}" type="datetime1">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C71A67-3160-4DB7-B24F-A90E07C5C322}" type="slidenum">
              <a:rPr lang="en-US" smtClean="0"/>
              <a:t>‹#›</a:t>
            </a:fld>
            <a:endParaRPr lang="en-US"/>
          </a:p>
        </p:txBody>
      </p:sp>
    </p:spTree>
    <p:extLst>
      <p:ext uri="{BB962C8B-B14F-4D97-AF65-F5344CB8AC3E}">
        <p14:creationId xmlns:p14="http://schemas.microsoft.com/office/powerpoint/2010/main" val="1670630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7A9EFD7-E22C-4F70-9ACB-5CE1A96D10C0}" type="datetime1">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C71A67-3160-4DB7-B24F-A90E07C5C322}" type="slidenum">
              <a:rPr lang="en-US" smtClean="0"/>
              <a:t>‹#›</a:t>
            </a:fld>
            <a:endParaRPr lang="en-US"/>
          </a:p>
        </p:txBody>
      </p:sp>
    </p:spTree>
    <p:extLst>
      <p:ext uri="{BB962C8B-B14F-4D97-AF65-F5344CB8AC3E}">
        <p14:creationId xmlns:p14="http://schemas.microsoft.com/office/powerpoint/2010/main" val="775208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7B6197D-3B29-4CAD-ACE2-CBDA37B4908A}" type="datetime1">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C71A67-3160-4DB7-B24F-A90E07C5C322}" type="slidenum">
              <a:rPr lang="en-US" smtClean="0"/>
              <a:t>‹#›</a:t>
            </a:fld>
            <a:endParaRPr lang="en-US"/>
          </a:p>
        </p:txBody>
      </p:sp>
    </p:spTree>
    <p:extLst>
      <p:ext uri="{BB962C8B-B14F-4D97-AF65-F5344CB8AC3E}">
        <p14:creationId xmlns:p14="http://schemas.microsoft.com/office/powerpoint/2010/main" val="3816895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DB2DC05-7956-4095-9A0B-DC68BC10A168}" type="datetime1">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C71A67-3160-4DB7-B24F-A90E07C5C322}" type="slidenum">
              <a:rPr lang="en-US" smtClean="0"/>
              <a:t>‹#›</a:t>
            </a:fld>
            <a:endParaRPr lang="en-US"/>
          </a:p>
        </p:txBody>
      </p:sp>
    </p:spTree>
    <p:extLst>
      <p:ext uri="{BB962C8B-B14F-4D97-AF65-F5344CB8AC3E}">
        <p14:creationId xmlns:p14="http://schemas.microsoft.com/office/powerpoint/2010/main" val="3947026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D68FAA-B27D-4D08-BB4E-758E3E26165B}" type="datetime1">
              <a:rPr lang="en-US" smtClean="0"/>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C71A67-3160-4DB7-B24F-A90E07C5C322}" type="slidenum">
              <a:rPr lang="en-US" smtClean="0"/>
              <a:t>‹#›</a:t>
            </a:fld>
            <a:endParaRPr lang="en-US"/>
          </a:p>
        </p:txBody>
      </p:sp>
    </p:spTree>
    <p:extLst>
      <p:ext uri="{BB962C8B-B14F-4D97-AF65-F5344CB8AC3E}">
        <p14:creationId xmlns:p14="http://schemas.microsoft.com/office/powerpoint/2010/main" val="424359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16C2A8C-D845-4D88-9287-C05564D59B05}" type="datetime1">
              <a:rPr lang="en-US" smtClean="0"/>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C71A67-3160-4DB7-B24F-A90E07C5C322}" type="slidenum">
              <a:rPr lang="en-US" smtClean="0"/>
              <a:t>‹#›</a:t>
            </a:fld>
            <a:endParaRPr lang="en-US"/>
          </a:p>
        </p:txBody>
      </p:sp>
    </p:spTree>
    <p:extLst>
      <p:ext uri="{BB962C8B-B14F-4D97-AF65-F5344CB8AC3E}">
        <p14:creationId xmlns:p14="http://schemas.microsoft.com/office/powerpoint/2010/main" val="4217399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47B3AB-0D39-4810-9572-EA109724F55D}" type="datetime1">
              <a:rPr lang="en-US" smtClean="0"/>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C71A67-3160-4DB7-B24F-A90E07C5C322}" type="slidenum">
              <a:rPr lang="en-US" smtClean="0"/>
              <a:t>‹#›</a:t>
            </a:fld>
            <a:endParaRPr lang="en-US"/>
          </a:p>
        </p:txBody>
      </p:sp>
    </p:spTree>
    <p:extLst>
      <p:ext uri="{BB962C8B-B14F-4D97-AF65-F5344CB8AC3E}">
        <p14:creationId xmlns:p14="http://schemas.microsoft.com/office/powerpoint/2010/main" val="3581970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6821B91-0837-4FBC-B3CD-00EDC3E196F9}" type="datetime1">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C71A67-3160-4DB7-B24F-A90E07C5C322}" type="slidenum">
              <a:rPr lang="en-US" smtClean="0"/>
              <a:t>‹#›</a:t>
            </a:fld>
            <a:endParaRPr lang="en-US"/>
          </a:p>
        </p:txBody>
      </p:sp>
    </p:spTree>
    <p:extLst>
      <p:ext uri="{BB962C8B-B14F-4D97-AF65-F5344CB8AC3E}">
        <p14:creationId xmlns:p14="http://schemas.microsoft.com/office/powerpoint/2010/main" val="938057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976B0FC-5D75-448B-976C-52D9A0B8797B}" type="datetime1">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C71A67-3160-4DB7-B24F-A90E07C5C322}" type="slidenum">
              <a:rPr lang="en-US" smtClean="0"/>
              <a:t>‹#›</a:t>
            </a:fld>
            <a:endParaRPr lang="en-US"/>
          </a:p>
        </p:txBody>
      </p:sp>
    </p:spTree>
    <p:extLst>
      <p:ext uri="{BB962C8B-B14F-4D97-AF65-F5344CB8AC3E}">
        <p14:creationId xmlns:p14="http://schemas.microsoft.com/office/powerpoint/2010/main" val="3532340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B5B05D2-E0E0-443F-99C1-C315A9334FEF}" type="datetime1">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C71A67-3160-4DB7-B24F-A90E07C5C322}" type="slidenum">
              <a:rPr lang="en-US" smtClean="0"/>
              <a:t>‹#›</a:t>
            </a:fld>
            <a:endParaRPr lang="en-US"/>
          </a:p>
        </p:txBody>
      </p:sp>
    </p:spTree>
    <p:extLst>
      <p:ext uri="{BB962C8B-B14F-4D97-AF65-F5344CB8AC3E}">
        <p14:creationId xmlns:p14="http://schemas.microsoft.com/office/powerpoint/2010/main" val="4875073"/>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B5B05D2-E0E0-443F-99C1-C315A9334FEF}" type="datetime1">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C71A67-3160-4DB7-B24F-A90E07C5C322}"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234217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B5B05D2-E0E0-443F-99C1-C315A9334FEF}" type="datetime1">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C71A67-3160-4DB7-B24F-A90E07C5C322}" type="slidenum">
              <a:rPr lang="en-US" smtClean="0"/>
              <a:t>‹#›</a:t>
            </a:fld>
            <a:endParaRPr lang="en-US"/>
          </a:p>
        </p:txBody>
      </p:sp>
    </p:spTree>
    <p:extLst>
      <p:ext uri="{BB962C8B-B14F-4D97-AF65-F5344CB8AC3E}">
        <p14:creationId xmlns:p14="http://schemas.microsoft.com/office/powerpoint/2010/main" val="3741000329"/>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B5B05D2-E0E0-443F-99C1-C315A9334FEF}" type="datetime1">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C71A67-3160-4DB7-B24F-A90E07C5C322}"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3215018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B5B05D2-E0E0-443F-99C1-C315A9334FEF}" type="datetime1">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C71A67-3160-4DB7-B24F-A90E07C5C322}" type="slidenum">
              <a:rPr lang="en-US" smtClean="0"/>
              <a:t>‹#›</a:t>
            </a:fld>
            <a:endParaRPr lang="en-US"/>
          </a:p>
        </p:txBody>
      </p:sp>
    </p:spTree>
    <p:extLst>
      <p:ext uri="{BB962C8B-B14F-4D97-AF65-F5344CB8AC3E}">
        <p14:creationId xmlns:p14="http://schemas.microsoft.com/office/powerpoint/2010/main" val="2871674349"/>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7F149DE-4BEE-4772-B1A8-7B0A418402D5}" type="datetime1">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C71A67-3160-4DB7-B24F-A90E07C5C322}" type="slidenum">
              <a:rPr lang="en-US" smtClean="0"/>
              <a:t>‹#›</a:t>
            </a:fld>
            <a:endParaRPr lang="en-US"/>
          </a:p>
        </p:txBody>
      </p:sp>
    </p:spTree>
    <p:extLst>
      <p:ext uri="{BB962C8B-B14F-4D97-AF65-F5344CB8AC3E}">
        <p14:creationId xmlns:p14="http://schemas.microsoft.com/office/powerpoint/2010/main" val="20924916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6D90A4F-BC00-4BF6-ADBF-3F81CC40F561}" type="datetime1">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C71A67-3160-4DB7-B24F-A90E07C5C322}" type="slidenum">
              <a:rPr lang="en-US" smtClean="0"/>
              <a:t>‹#›</a:t>
            </a:fld>
            <a:endParaRPr lang="en-US"/>
          </a:p>
        </p:txBody>
      </p:sp>
    </p:spTree>
    <p:extLst>
      <p:ext uri="{BB962C8B-B14F-4D97-AF65-F5344CB8AC3E}">
        <p14:creationId xmlns:p14="http://schemas.microsoft.com/office/powerpoint/2010/main" val="2825028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B5B05D2-E0E0-443F-99C1-C315A9334FEF}" type="datetime1">
              <a:rPr lang="en-US" smtClean="0"/>
              <a:t>9/15/2025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CC71A67-3160-4DB7-B24F-A90E07C5C322}" type="slidenum">
              <a:rPr lang="en-US" smtClean="0"/>
              <a:t>‹#›</a:t>
            </a:fld>
            <a:endParaRPr lang="en-US"/>
          </a:p>
        </p:txBody>
      </p:sp>
    </p:spTree>
    <p:extLst>
      <p:ext uri="{BB962C8B-B14F-4D97-AF65-F5344CB8AC3E}">
        <p14:creationId xmlns:p14="http://schemas.microsoft.com/office/powerpoint/2010/main" val="6199355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6.xml"/><Relationship Id="rId4" Type="http://schemas.openxmlformats.org/officeDocument/2006/relationships/image" Target="../media/image32.jpg"/></Relationships>
</file>

<file path=ppt/slides/_rels/slide2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g"/><Relationship Id="rId1" Type="http://schemas.openxmlformats.org/officeDocument/2006/relationships/slideLayout" Target="../slideLayouts/slideLayout6.xml"/><Relationship Id="rId4" Type="http://schemas.openxmlformats.org/officeDocument/2006/relationships/image" Target="../media/image35.jpeg"/></Relationships>
</file>

<file path=ppt/slides/_rels/slide2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9408" y="609599"/>
            <a:ext cx="7084594" cy="1669961"/>
          </a:xfrm>
        </p:spPr>
        <p:txBody>
          <a:bodyPr/>
          <a:lstStyle/>
          <a:p>
            <a:pPr algn="ctr"/>
            <a:r>
              <a:rPr lang="en-US" dirty="0" err="1">
                <a:solidFill>
                  <a:schemeClr val="tx1"/>
                </a:solidFill>
                <a:latin typeface="Times New Roman" panose="02020603050405020304" pitchFamily="18" charset="0"/>
                <a:cs typeface="Times New Roman" panose="02020603050405020304" pitchFamily="18" charset="0"/>
              </a:rPr>
              <a:t>Dawood</a:t>
            </a:r>
            <a:r>
              <a:rPr lang="en-US" dirty="0">
                <a:solidFill>
                  <a:schemeClr val="tx1"/>
                </a:solidFill>
                <a:latin typeface="Times New Roman" panose="02020603050405020304" pitchFamily="18" charset="0"/>
                <a:cs typeface="Times New Roman" panose="02020603050405020304" pitchFamily="18" charset="0"/>
              </a:rPr>
              <a:t> University of Engineering &amp;</a:t>
            </a:r>
            <a:r>
              <a:rPr lang="en-US" dirty="0" smtClean="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Technology</a:t>
            </a:r>
            <a:endParaRPr lang="en-US" dirty="0">
              <a:solidFill>
                <a:schemeClr val="tx1"/>
              </a:solidFill>
            </a:endParaRPr>
          </a:p>
        </p:txBody>
      </p:sp>
      <p:sp>
        <p:nvSpPr>
          <p:cNvPr id="3" name="Content Placeholder 2"/>
          <p:cNvSpPr>
            <a:spLocks noGrp="1"/>
          </p:cNvSpPr>
          <p:nvPr>
            <p:ph idx="1"/>
          </p:nvPr>
        </p:nvSpPr>
        <p:spPr>
          <a:xfrm>
            <a:off x="1025063" y="2279560"/>
            <a:ext cx="8596668" cy="2591715"/>
          </a:xfrm>
        </p:spPr>
        <p:txBody>
          <a:bodyPr>
            <a:normAutofit/>
          </a:bodyPr>
          <a:lstStyle/>
          <a:p>
            <a:r>
              <a:rPr lang="en-US" sz="4000" dirty="0" smtClean="0">
                <a:latin typeface="Times New Roman" panose="02020603050405020304" pitchFamily="18" charset="0"/>
                <a:cs typeface="Times New Roman" panose="02020603050405020304" pitchFamily="18" charset="0"/>
              </a:rPr>
              <a:t>COURSE </a:t>
            </a:r>
            <a:r>
              <a:rPr lang="en-US" sz="4000" smtClean="0">
                <a:latin typeface="Times New Roman" panose="02020603050405020304" pitchFamily="18" charset="0"/>
                <a:cs typeface="Times New Roman" panose="02020603050405020304" pitchFamily="18" charset="0"/>
              </a:rPr>
              <a:t>: HS- </a:t>
            </a:r>
            <a:r>
              <a:rPr lang="en-US" sz="4000" dirty="0" smtClean="0">
                <a:latin typeface="Times New Roman" panose="02020603050405020304" pitchFamily="18" charset="0"/>
                <a:cs typeface="Times New Roman" panose="02020603050405020304" pitchFamily="18" charset="0"/>
              </a:rPr>
              <a:t>1002</a:t>
            </a:r>
          </a:p>
          <a:p>
            <a:r>
              <a:rPr lang="en-US" sz="4000" dirty="0" smtClean="0">
                <a:latin typeface="Times New Roman" panose="02020603050405020304" pitchFamily="18" charset="0"/>
                <a:cs typeface="Times New Roman" panose="02020603050405020304" pitchFamily="18" charset="0"/>
              </a:rPr>
              <a:t>PAKISTAN STUDIES</a:t>
            </a:r>
          </a:p>
          <a:p>
            <a:r>
              <a:rPr lang="en-US" sz="4000" dirty="0" smtClean="0">
                <a:latin typeface="Times New Roman" panose="02020603050405020304" pitchFamily="18" charset="0"/>
                <a:cs typeface="Times New Roman" panose="02020603050405020304" pitchFamily="18" charset="0"/>
              </a:rPr>
              <a:t>LECTURER: FAISAL</a:t>
            </a:r>
            <a:endParaRPr lang="en-US" sz="4000" dirty="0"/>
          </a:p>
        </p:txBody>
      </p:sp>
      <p:sp>
        <p:nvSpPr>
          <p:cNvPr id="4" name="Slide Number Placeholder 3"/>
          <p:cNvSpPr>
            <a:spLocks noGrp="1"/>
          </p:cNvSpPr>
          <p:nvPr>
            <p:ph type="sldNum" sz="quarter" idx="12"/>
          </p:nvPr>
        </p:nvSpPr>
        <p:spPr/>
        <p:txBody>
          <a:bodyPr/>
          <a:lstStyle/>
          <a:p>
            <a:fld id="{3CC71A67-3160-4DB7-B24F-A90E07C5C322}" type="slidenum">
              <a:rPr lang="en-US" smtClean="0"/>
              <a:t>1</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1911"/>
            <a:ext cx="2457450" cy="1857375"/>
          </a:xfrm>
          <a:prstGeom prst="rect">
            <a:avLst/>
          </a:prstGeom>
        </p:spPr>
      </p:pic>
    </p:spTree>
    <p:extLst>
      <p:ext uri="{BB962C8B-B14F-4D97-AF65-F5344CB8AC3E}">
        <p14:creationId xmlns:p14="http://schemas.microsoft.com/office/powerpoint/2010/main" val="2002342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65667" y="169326"/>
            <a:ext cx="9144000" cy="1466291"/>
          </a:xfrm>
        </p:spPr>
        <p:txBody>
          <a:bodyPr>
            <a:normAutofit/>
          </a:bodyPr>
          <a:lstStyle/>
          <a:p>
            <a:r>
              <a:rPr lang="en-US" sz="4000" dirty="0" smtClean="0">
                <a:latin typeface="Times New Roman" panose="02020603050405020304" pitchFamily="18" charset="0"/>
                <a:cs typeface="Times New Roman" panose="02020603050405020304" pitchFamily="18" charset="0"/>
              </a:rPr>
              <a:t>.</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43944" y="287749"/>
            <a:ext cx="9620518" cy="6409265"/>
          </a:xfrm>
        </p:spPr>
        <p:txBody>
          <a:bodyPr numCol="2">
            <a:normAutofit/>
          </a:bodyPr>
          <a:lstStyle/>
          <a:p>
            <a:pPr algn="ctr"/>
            <a:r>
              <a:rPr lang="en-US" sz="3200" b="1" dirty="0" smtClean="0">
                <a:latin typeface="Times New Roman" panose="02020603050405020304" pitchFamily="18" charset="0"/>
                <a:cs typeface="Times New Roman" panose="02020603050405020304" pitchFamily="18" charset="0"/>
              </a:rPr>
              <a:t>		Course Outline: </a:t>
            </a:r>
            <a:endParaRPr lang="en-US" sz="1200" b="1" dirty="0" smtClean="0">
              <a:latin typeface="Times New Roman" panose="02020603050405020304" pitchFamily="18" charset="0"/>
              <a:cs typeface="Times New Roman" panose="02020603050405020304" pitchFamily="18" charset="0"/>
            </a:endParaRPr>
          </a:p>
          <a:p>
            <a:pPr algn="ctr"/>
            <a:endParaRPr lang="en-US" sz="1000" b="1" dirty="0" smtClean="0">
              <a:latin typeface="Times New Roman" panose="02020603050405020304" pitchFamily="18" charset="0"/>
              <a:cs typeface="Times New Roman" panose="02020603050405020304" pitchFamily="18" charset="0"/>
            </a:endParaRPr>
          </a:p>
          <a:p>
            <a:pPr marL="514350" indent="-514350" algn="l">
              <a:buFont typeface="+mj-lt"/>
              <a:buAutoNum type="arabicPeriod"/>
            </a:pPr>
            <a:r>
              <a:rPr lang="en-US" sz="2000" b="1" dirty="0" smtClean="0">
                <a:latin typeface="Times New Roman" panose="02020603050405020304" pitchFamily="18" charset="0"/>
                <a:cs typeface="Times New Roman" panose="02020603050405020304" pitchFamily="18" charset="0"/>
              </a:rPr>
              <a:t>Indus Valley Civilization 	</a:t>
            </a:r>
          </a:p>
          <a:p>
            <a:pPr marL="514350" indent="-514350" algn="l">
              <a:buFont typeface="+mj-lt"/>
              <a:buAutoNum type="arabicPeriod"/>
            </a:pPr>
            <a:r>
              <a:rPr lang="en-US" sz="2000" b="1" dirty="0" smtClean="0">
                <a:latin typeface="Times New Roman" panose="02020603050405020304" pitchFamily="18" charset="0"/>
                <a:cs typeface="Times New Roman" panose="02020603050405020304" pitchFamily="18" charset="0"/>
              </a:rPr>
              <a:t>Arab Invasion 712 AD.</a:t>
            </a:r>
          </a:p>
          <a:p>
            <a:pPr marL="514350" indent="-514350" algn="l">
              <a:buFont typeface="+mj-lt"/>
              <a:buAutoNum type="arabicPeriod"/>
            </a:pPr>
            <a:r>
              <a:rPr lang="en-US" sz="2000" b="1" dirty="0" smtClean="0">
                <a:latin typeface="Times New Roman" panose="02020603050405020304" pitchFamily="18" charset="0"/>
                <a:cs typeface="Times New Roman" panose="02020603050405020304" pitchFamily="18" charset="0"/>
              </a:rPr>
              <a:t>Mahmud </a:t>
            </a:r>
            <a:r>
              <a:rPr lang="en-US" sz="2000" b="1" dirty="0" err="1" smtClean="0">
                <a:latin typeface="Times New Roman" panose="02020603050405020304" pitchFamily="18" charset="0"/>
                <a:cs typeface="Times New Roman" panose="02020603050405020304" pitchFamily="18" charset="0"/>
              </a:rPr>
              <a:t>Ghaznavi</a:t>
            </a:r>
            <a:r>
              <a:rPr lang="en-US" sz="2000" b="1" dirty="0" smtClean="0">
                <a:latin typeface="Times New Roman" panose="02020603050405020304" pitchFamily="18" charset="0"/>
                <a:cs typeface="Times New Roman" panose="02020603050405020304" pitchFamily="18" charset="0"/>
              </a:rPr>
              <a:t> 997-1030</a:t>
            </a:r>
          </a:p>
          <a:p>
            <a:pPr marL="514350" indent="-514350" algn="l">
              <a:buFont typeface="+mj-lt"/>
              <a:buAutoNum type="arabicPeriod"/>
            </a:pPr>
            <a:r>
              <a:rPr lang="en-US" sz="2000" b="1" dirty="0" smtClean="0">
                <a:latin typeface="Times New Roman" panose="02020603050405020304" pitchFamily="18" charset="0"/>
                <a:cs typeface="Times New Roman" panose="02020603050405020304" pitchFamily="18" charset="0"/>
              </a:rPr>
              <a:t>M. </a:t>
            </a:r>
            <a:r>
              <a:rPr lang="en-US" sz="2000" b="1" dirty="0" err="1" smtClean="0">
                <a:latin typeface="Times New Roman" panose="02020603050405020304" pitchFamily="18" charset="0"/>
                <a:cs typeface="Times New Roman" panose="02020603050405020304" pitchFamily="18" charset="0"/>
              </a:rPr>
              <a:t>Ghauri</a:t>
            </a:r>
            <a:r>
              <a:rPr lang="en-US" sz="2000" b="1" dirty="0" smtClean="0">
                <a:latin typeface="Times New Roman" panose="02020603050405020304" pitchFamily="18" charset="0"/>
                <a:cs typeface="Times New Roman" panose="02020603050405020304" pitchFamily="18" charset="0"/>
              </a:rPr>
              <a:t> 1173-1206</a:t>
            </a:r>
          </a:p>
          <a:p>
            <a:pPr marL="514350" indent="-514350" algn="l">
              <a:buFont typeface="+mj-lt"/>
              <a:buAutoNum type="arabicPeriod"/>
            </a:pPr>
            <a:r>
              <a:rPr lang="en-US" sz="2000" b="1" dirty="0" smtClean="0">
                <a:latin typeface="Times New Roman" panose="02020603050405020304" pitchFamily="18" charset="0"/>
                <a:cs typeface="Times New Roman" panose="02020603050405020304" pitchFamily="18" charset="0"/>
              </a:rPr>
              <a:t>Mughal Empire 1526-1857</a:t>
            </a:r>
          </a:p>
          <a:p>
            <a:pPr marL="457200" indent="-457200" algn="l">
              <a:buFont typeface="+mj-lt"/>
              <a:buAutoNum type="arabicPeriod"/>
            </a:pPr>
            <a:r>
              <a:rPr lang="en-US" sz="2000" b="1" dirty="0" smtClean="0">
                <a:latin typeface="Times New Roman" panose="02020603050405020304" pitchFamily="18" charset="0"/>
                <a:cs typeface="Times New Roman" panose="02020603050405020304" pitchFamily="18" charset="0"/>
              </a:rPr>
              <a:t>War of Independence 1857 </a:t>
            </a:r>
          </a:p>
          <a:p>
            <a:pPr marL="457200" indent="-457200" algn="l">
              <a:buFont typeface="+mj-lt"/>
              <a:buAutoNum type="arabicPeriod"/>
            </a:pPr>
            <a:r>
              <a:rPr lang="en-US" sz="2000" b="1" dirty="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Sir, Syed Ahmed Khan </a:t>
            </a:r>
          </a:p>
          <a:p>
            <a:pPr marL="457200" indent="-457200" algn="l">
              <a:buFont typeface="+mj-lt"/>
              <a:buAutoNum type="arabicPeriod"/>
            </a:pPr>
            <a:r>
              <a:rPr lang="en-US" sz="2000" b="1" dirty="0">
                <a:latin typeface="Times New Roman" panose="02020603050405020304" pitchFamily="18" charset="0"/>
                <a:cs typeface="Times New Roman" panose="02020603050405020304" pitchFamily="18" charset="0"/>
              </a:rPr>
              <a:t> </a:t>
            </a:r>
            <a:r>
              <a:rPr lang="en-US" sz="2000" b="1" dirty="0" err="1" smtClean="0">
                <a:latin typeface="Times New Roman" panose="02020603050405020304" pitchFamily="18" charset="0"/>
                <a:cs typeface="Times New Roman" panose="02020603050405020304" pitchFamily="18" charset="0"/>
              </a:rPr>
              <a:t>Allama</a:t>
            </a:r>
            <a:r>
              <a:rPr lang="en-US" sz="2000" b="1" dirty="0" smtClean="0">
                <a:latin typeface="Times New Roman" panose="02020603050405020304" pitchFamily="18" charset="0"/>
                <a:cs typeface="Times New Roman" panose="02020603050405020304" pitchFamily="18" charset="0"/>
              </a:rPr>
              <a:t> Muhammad Iqbal </a:t>
            </a:r>
          </a:p>
          <a:p>
            <a:pPr marL="457200" indent="-457200" algn="l">
              <a:buFont typeface="+mj-lt"/>
              <a:buAutoNum type="arabicPeriod"/>
            </a:pPr>
            <a:r>
              <a:rPr lang="en-US" sz="2000" b="1" dirty="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Quaid-e-</a:t>
            </a:r>
            <a:r>
              <a:rPr lang="en-US" sz="2000" b="1" dirty="0" err="1" smtClean="0">
                <a:latin typeface="Times New Roman" panose="02020603050405020304" pitchFamily="18" charset="0"/>
                <a:cs typeface="Times New Roman" panose="02020603050405020304" pitchFamily="18" charset="0"/>
              </a:rPr>
              <a:t>Azam</a:t>
            </a:r>
            <a:r>
              <a:rPr lang="en-US" sz="2000" b="1" dirty="0" smtClean="0">
                <a:latin typeface="Times New Roman" panose="02020603050405020304" pitchFamily="18" charset="0"/>
                <a:cs typeface="Times New Roman" panose="02020603050405020304" pitchFamily="18" charset="0"/>
              </a:rPr>
              <a:t> M. Ali Jinnah</a:t>
            </a:r>
          </a:p>
          <a:p>
            <a:pPr marL="457200" indent="-457200" algn="l">
              <a:buFont typeface="+mj-lt"/>
              <a:buAutoNum type="arabicPeriod"/>
            </a:pPr>
            <a:r>
              <a:rPr lang="en-US" sz="2000" b="1" dirty="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 Freedom Movement 1905-1947.</a:t>
            </a:r>
          </a:p>
          <a:p>
            <a:pPr marL="457200" indent="-457200" algn="l">
              <a:buFont typeface="+mj-lt"/>
              <a:buAutoNum type="arabicPeriod"/>
            </a:pPr>
            <a:r>
              <a:rPr lang="en-US" sz="2000" b="1" dirty="0" smtClean="0">
                <a:latin typeface="Times New Roman" panose="02020603050405020304" pitchFamily="18" charset="0"/>
                <a:cs typeface="Times New Roman" panose="02020603050405020304" pitchFamily="18" charset="0"/>
              </a:rPr>
              <a:t>  Political &amp; Constitutional History of </a:t>
            </a:r>
          </a:p>
          <a:p>
            <a:pPr marL="457200" indent="-457200" algn="l">
              <a:buFont typeface="+mj-lt"/>
              <a:buAutoNum type="arabicPeriod"/>
            </a:pPr>
            <a:r>
              <a:rPr lang="en-US" sz="2000" b="1" dirty="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 Pakistan: 1947-58, 1958-71, 1971-77</a:t>
            </a:r>
          </a:p>
          <a:p>
            <a:pPr algn="l"/>
            <a:r>
              <a:rPr lang="en-US" sz="2000" b="1" dirty="0" smtClean="0">
                <a:latin typeface="Times New Roman" panose="02020603050405020304" pitchFamily="18" charset="0"/>
                <a:cs typeface="Times New Roman" panose="02020603050405020304" pitchFamily="18" charset="0"/>
              </a:rPr>
              <a:t>1977-88, 1988-99, 1999-2008, 2008-25</a:t>
            </a:r>
          </a:p>
          <a:p>
            <a:pPr algn="l"/>
            <a:r>
              <a:rPr lang="en-US" sz="2000" b="1" dirty="0" smtClean="0">
                <a:latin typeface="Times New Roman" panose="02020603050405020304" pitchFamily="18" charset="0"/>
                <a:cs typeface="Times New Roman" panose="02020603050405020304" pitchFamily="18" charset="0"/>
              </a:rPr>
              <a:t>13.	Human Rights</a:t>
            </a:r>
          </a:p>
          <a:p>
            <a:pPr algn="l"/>
            <a:r>
              <a:rPr lang="en-US" sz="2000" b="1" dirty="0" smtClean="0">
                <a:latin typeface="Times New Roman" panose="02020603050405020304" pitchFamily="18" charset="0"/>
                <a:cs typeface="Times New Roman" panose="02020603050405020304" pitchFamily="18" charset="0"/>
              </a:rPr>
              <a:t>14.	Location &amp; Physical Features of Pakistan.</a:t>
            </a:r>
          </a:p>
          <a:p>
            <a:pPr algn="l"/>
            <a:r>
              <a:rPr lang="en-US" sz="2000" b="1" dirty="0" smtClean="0">
                <a:latin typeface="Times New Roman" panose="02020603050405020304" pitchFamily="18" charset="0"/>
                <a:cs typeface="Times New Roman" panose="02020603050405020304" pitchFamily="18" charset="0"/>
              </a:rPr>
              <a:t>15.	Foreign Policy of Pakistan &amp; Challenges</a:t>
            </a:r>
          </a:p>
          <a:p>
            <a:pPr algn="l"/>
            <a:endParaRPr lang="en-US" sz="20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CC71A67-3160-4DB7-B24F-A90E07C5C322}" type="slidenum">
              <a:rPr lang="en-US" smtClean="0"/>
              <a:t>2</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17615" cy="1071453"/>
          </a:xfrm>
          <a:prstGeom prst="rect">
            <a:avLst/>
          </a:prstGeom>
        </p:spPr>
      </p:pic>
    </p:spTree>
    <p:extLst>
      <p:ext uri="{BB962C8B-B14F-4D97-AF65-F5344CB8AC3E}">
        <p14:creationId xmlns:p14="http://schemas.microsoft.com/office/powerpoint/2010/main" val="14869084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Indus Valley Civilization?</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3CC71A67-3160-4DB7-B24F-A90E07C5C322}" type="slidenum">
              <a:rPr lang="en-US" smtClean="0"/>
              <a:t>3</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7485" y="1188411"/>
            <a:ext cx="7167651" cy="5381355"/>
          </a:xfrm>
          <a:prstGeom prst="rect">
            <a:avLst/>
          </a:prstGeom>
        </p:spPr>
      </p:pic>
    </p:spTree>
    <p:extLst>
      <p:ext uri="{BB962C8B-B14F-4D97-AF65-F5344CB8AC3E}">
        <p14:creationId xmlns:p14="http://schemas.microsoft.com/office/powerpoint/2010/main" val="7193609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84856" y="287407"/>
            <a:ext cx="4932609" cy="755781"/>
          </a:xfrm>
        </p:spPr>
        <p:txBody>
          <a:bodyPr/>
          <a:lstStyle/>
          <a:p>
            <a:pPr algn="l"/>
            <a:r>
              <a:rPr lang="en-US" sz="2800" b="1" dirty="0">
                <a:latin typeface="Times New Roman" panose="02020603050405020304" pitchFamily="18" charset="0"/>
                <a:cs typeface="Times New Roman" panose="02020603050405020304" pitchFamily="18" charset="0"/>
              </a:rPr>
              <a:t>W</a:t>
            </a:r>
            <a:r>
              <a:rPr lang="en-US" sz="2800" b="1" dirty="0" smtClean="0">
                <a:latin typeface="Times New Roman" panose="02020603050405020304" pitchFamily="18" charset="0"/>
                <a:cs typeface="Times New Roman" panose="02020603050405020304" pitchFamily="18" charset="0"/>
              </a:rPr>
              <a:t>HAT </a:t>
            </a:r>
            <a:r>
              <a:rPr lang="en-US" sz="2800" b="1" dirty="0">
                <a:latin typeface="Times New Roman" panose="02020603050405020304" pitchFamily="18" charset="0"/>
                <a:cs typeface="Times New Roman" panose="02020603050405020304" pitchFamily="18" charset="0"/>
              </a:rPr>
              <a:t>IS CIVILISATION? </a:t>
            </a:r>
            <a:endParaRPr lang="en-US" sz="2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772733" y="1674255"/>
            <a:ext cx="6954592" cy="4533362"/>
          </a:xfrm>
        </p:spPr>
        <p:txBody>
          <a:bodyPr/>
          <a:lstStyle/>
          <a:p>
            <a:pPr algn="l"/>
            <a:r>
              <a:rPr lang="en-US" b="1" dirty="0"/>
              <a:t> </a:t>
            </a:r>
            <a:r>
              <a:rPr lang="en-US" dirty="0">
                <a:latin typeface="Times New Roman" panose="02020603050405020304" pitchFamily="18" charset="0"/>
                <a:cs typeface="Times New Roman" panose="02020603050405020304" pitchFamily="18" charset="0"/>
              </a:rPr>
              <a:t>The stage of human social development and </a:t>
            </a:r>
            <a:r>
              <a:rPr lang="en-US" dirty="0" smtClean="0">
                <a:latin typeface="Times New Roman" panose="02020603050405020304" pitchFamily="18" charset="0"/>
                <a:cs typeface="Times New Roman" panose="02020603050405020304" pitchFamily="18" charset="0"/>
              </a:rPr>
              <a:t>organization </a:t>
            </a:r>
            <a:r>
              <a:rPr lang="en-US" dirty="0">
                <a:latin typeface="Times New Roman" panose="02020603050405020304" pitchFamily="18" charset="0"/>
                <a:cs typeface="Times New Roman" panose="02020603050405020304" pitchFamily="18" charset="0"/>
              </a:rPr>
              <a:t>which is considered most advanced. </a:t>
            </a:r>
            <a:endParaRPr lang="en-US" dirty="0" smtClean="0">
              <a:latin typeface="Times New Roman" panose="02020603050405020304" pitchFamily="18" charset="0"/>
              <a:cs typeface="Times New Roman" panose="02020603050405020304" pitchFamily="18" charset="0"/>
            </a:endParaRPr>
          </a:p>
          <a:p>
            <a:pPr algn="l"/>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Or simply, the society, culture and lifestyle of people in a particular area</a:t>
            </a:r>
          </a:p>
        </p:txBody>
      </p:sp>
      <p:sp>
        <p:nvSpPr>
          <p:cNvPr id="4" name="Slide Number Placeholder 3"/>
          <p:cNvSpPr>
            <a:spLocks noGrp="1"/>
          </p:cNvSpPr>
          <p:nvPr>
            <p:ph type="sldNum" sz="quarter" idx="12"/>
          </p:nvPr>
        </p:nvSpPr>
        <p:spPr/>
        <p:txBody>
          <a:bodyPr/>
          <a:lstStyle/>
          <a:p>
            <a:fld id="{3CC71A67-3160-4DB7-B24F-A90E07C5C322}" type="slidenum">
              <a:rPr lang="en-US" smtClean="0"/>
              <a:t>4</a:t>
            </a:fld>
            <a:endParaRPr lang="en-US"/>
          </a:p>
        </p:txBody>
      </p:sp>
      <p:pic>
        <p:nvPicPr>
          <p:cNvPr id="5" name="Picture 4"/>
          <p:cNvPicPr>
            <a:picLocks noChangeAspect="1"/>
          </p:cNvPicPr>
          <p:nvPr/>
        </p:nvPicPr>
        <p:blipFill>
          <a:blip r:embed="rId2"/>
          <a:stretch>
            <a:fillRect/>
          </a:stretch>
        </p:blipFill>
        <p:spPr>
          <a:xfrm>
            <a:off x="788830" y="2847370"/>
            <a:ext cx="2862330" cy="3087606"/>
          </a:xfrm>
          <a:prstGeom prst="rect">
            <a:avLst/>
          </a:prstGeom>
        </p:spPr>
      </p:pic>
      <p:pic>
        <p:nvPicPr>
          <p:cNvPr id="6" name="Picture 5"/>
          <p:cNvPicPr>
            <a:picLocks noChangeAspect="1"/>
          </p:cNvPicPr>
          <p:nvPr/>
        </p:nvPicPr>
        <p:blipFill>
          <a:blip r:embed="rId3"/>
          <a:stretch>
            <a:fillRect/>
          </a:stretch>
        </p:blipFill>
        <p:spPr>
          <a:xfrm>
            <a:off x="3667257" y="2847369"/>
            <a:ext cx="4515210" cy="3087607"/>
          </a:xfrm>
          <a:prstGeom prst="rect">
            <a:avLst/>
          </a:prstGeom>
        </p:spPr>
      </p:pic>
    </p:spTree>
    <p:extLst>
      <p:ext uri="{BB962C8B-B14F-4D97-AF65-F5344CB8AC3E}">
        <p14:creationId xmlns:p14="http://schemas.microsoft.com/office/powerpoint/2010/main" val="1813609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405351" cy="5640946"/>
          </a:xfrm>
        </p:spPr>
        <p:txBody>
          <a:bodyPr>
            <a:normAutofit/>
          </a:bodyPr>
          <a:lstStyle/>
          <a:p>
            <a:r>
              <a:rPr lang="en-US" sz="2000" dirty="0" smtClean="0">
                <a:solidFill>
                  <a:schemeClr val="tx1"/>
                </a:solidFill>
                <a:latin typeface="Times New Roman" panose="02020603050405020304" pitchFamily="18" charset="0"/>
                <a:cs typeface="Times New Roman" panose="02020603050405020304" pitchFamily="18" charset="0"/>
              </a:rPr>
              <a:t>Some of the earliest settlement in the world are found Pakistan. Early Stone age live </a:t>
            </a:r>
            <a:r>
              <a:rPr lang="en-US" sz="2000" dirty="0" err="1" smtClean="0">
                <a:solidFill>
                  <a:schemeClr val="tx1"/>
                </a:solidFill>
                <a:latin typeface="Times New Roman" panose="02020603050405020304" pitchFamily="18" charset="0"/>
                <a:cs typeface="Times New Roman" panose="02020603050405020304" pitchFamily="18" charset="0"/>
              </a:rPr>
              <a:t>Potwar</a:t>
            </a:r>
            <a:r>
              <a:rPr lang="en-US" sz="2000" dirty="0" smtClean="0">
                <a:solidFill>
                  <a:schemeClr val="tx1"/>
                </a:solidFill>
                <a:latin typeface="Times New Roman" panose="02020603050405020304" pitchFamily="18" charset="0"/>
                <a:cs typeface="Times New Roman" panose="02020603050405020304" pitchFamily="18" charset="0"/>
              </a:rPr>
              <a:t>, near </a:t>
            </a:r>
            <a:r>
              <a:rPr lang="en-US" sz="2000" dirty="0" err="1" smtClean="0">
                <a:solidFill>
                  <a:schemeClr val="tx1"/>
                </a:solidFill>
                <a:latin typeface="Times New Roman" panose="02020603050405020304" pitchFamily="18" charset="0"/>
                <a:cs typeface="Times New Roman" panose="02020603050405020304" pitchFamily="18" charset="0"/>
              </a:rPr>
              <a:t>Soan</a:t>
            </a:r>
            <a:r>
              <a:rPr lang="en-US" sz="2000" dirty="0" smtClean="0">
                <a:solidFill>
                  <a:schemeClr val="tx1"/>
                </a:solidFill>
                <a:latin typeface="Times New Roman" panose="02020603050405020304" pitchFamily="18" charset="0"/>
                <a:cs typeface="Times New Roman" panose="02020603050405020304" pitchFamily="18" charset="0"/>
              </a:rPr>
              <a:t> river &amp; site of </a:t>
            </a:r>
            <a:r>
              <a:rPr lang="en-US" sz="2000" dirty="0" err="1" smtClean="0">
                <a:solidFill>
                  <a:schemeClr val="tx1"/>
                </a:solidFill>
                <a:latin typeface="Times New Roman" panose="02020603050405020304" pitchFamily="18" charset="0"/>
                <a:cs typeface="Times New Roman" panose="02020603050405020304" pitchFamily="18" charset="0"/>
              </a:rPr>
              <a:t>Seria</a:t>
            </a:r>
            <a:r>
              <a:rPr lang="en-US" sz="2000" dirty="0" smtClean="0">
                <a:solidFill>
                  <a:schemeClr val="tx1"/>
                </a:solidFill>
                <a:latin typeface="Times New Roman" panose="02020603050405020304" pitchFamily="18" charset="0"/>
                <a:cs typeface="Times New Roman" panose="02020603050405020304" pitchFamily="18" charset="0"/>
              </a:rPr>
              <a:t> </a:t>
            </a:r>
            <a:r>
              <a:rPr lang="en-US" sz="2000" dirty="0" err="1" smtClean="0">
                <a:solidFill>
                  <a:schemeClr val="tx1"/>
                </a:solidFill>
                <a:latin typeface="Times New Roman" panose="02020603050405020304" pitchFamily="18" charset="0"/>
                <a:cs typeface="Times New Roman" panose="02020603050405020304" pitchFamily="18" charset="0"/>
              </a:rPr>
              <a:t>Khola</a:t>
            </a:r>
            <a:r>
              <a:rPr lang="en-US" sz="2000" dirty="0" smtClean="0">
                <a:solidFill>
                  <a:schemeClr val="tx1"/>
                </a:solidFill>
                <a:latin typeface="Times New Roman" panose="02020603050405020304" pitchFamily="18" charset="0"/>
                <a:cs typeface="Times New Roman" panose="02020603050405020304" pitchFamily="18" charset="0"/>
              </a:rPr>
              <a:t> in Punjab, </a:t>
            </a:r>
            <a:r>
              <a:rPr lang="en-US" sz="2000" dirty="0" err="1" smtClean="0">
                <a:solidFill>
                  <a:schemeClr val="tx1"/>
                </a:solidFill>
                <a:latin typeface="Times New Roman" panose="02020603050405020304" pitchFamily="18" charset="0"/>
                <a:cs typeface="Times New Roman" panose="02020603050405020304" pitchFamily="18" charset="0"/>
              </a:rPr>
              <a:t>Mehrgarh</a:t>
            </a:r>
            <a:r>
              <a:rPr lang="en-US" sz="2000" dirty="0" smtClean="0">
                <a:solidFill>
                  <a:schemeClr val="tx1"/>
                </a:solidFill>
                <a:latin typeface="Times New Roman" panose="02020603050405020304" pitchFamily="18" charset="0"/>
                <a:cs typeface="Times New Roman" panose="02020603050405020304" pitchFamily="18" charset="0"/>
              </a:rPr>
              <a:t> in </a:t>
            </a:r>
            <a:r>
              <a:rPr lang="en-US" sz="2000" dirty="0" err="1" smtClean="0">
                <a:solidFill>
                  <a:schemeClr val="tx1"/>
                </a:solidFill>
                <a:latin typeface="Times New Roman" panose="02020603050405020304" pitchFamily="18" charset="0"/>
                <a:cs typeface="Times New Roman" panose="02020603050405020304" pitchFamily="18" charset="0"/>
              </a:rPr>
              <a:t>Balochistan</a:t>
            </a:r>
            <a:r>
              <a:rPr lang="en-US" sz="2000" dirty="0" smtClean="0">
                <a:solidFill>
                  <a:schemeClr val="tx1"/>
                </a:solidFill>
                <a:latin typeface="Times New Roman" panose="02020603050405020304" pitchFamily="18" charset="0"/>
                <a:cs typeface="Times New Roman" panose="02020603050405020304" pitchFamily="18" charset="0"/>
              </a:rPr>
              <a:t> &amp; </a:t>
            </a:r>
            <a:r>
              <a:rPr lang="en-US" sz="2000" dirty="0" err="1" smtClean="0">
                <a:solidFill>
                  <a:schemeClr val="tx1"/>
                </a:solidFill>
                <a:latin typeface="Times New Roman" panose="02020603050405020304" pitchFamily="18" charset="0"/>
                <a:cs typeface="Times New Roman" panose="02020603050405020304" pitchFamily="18" charset="0"/>
              </a:rPr>
              <a:t>Kot</a:t>
            </a:r>
            <a:r>
              <a:rPr lang="en-US" sz="2000" dirty="0" smtClean="0">
                <a:solidFill>
                  <a:schemeClr val="tx1"/>
                </a:solidFill>
                <a:latin typeface="Times New Roman" panose="02020603050405020304" pitchFamily="18" charset="0"/>
                <a:cs typeface="Times New Roman" panose="02020603050405020304" pitchFamily="18" charset="0"/>
              </a:rPr>
              <a:t> </a:t>
            </a:r>
            <a:r>
              <a:rPr lang="en-US" sz="2000" dirty="0" err="1" smtClean="0">
                <a:solidFill>
                  <a:schemeClr val="tx1"/>
                </a:solidFill>
                <a:latin typeface="Times New Roman" panose="02020603050405020304" pitchFamily="18" charset="0"/>
                <a:cs typeface="Times New Roman" panose="02020603050405020304" pitchFamily="18" charset="0"/>
              </a:rPr>
              <a:t>Daji</a:t>
            </a:r>
            <a:r>
              <a:rPr lang="en-US" sz="2000" dirty="0" smtClean="0">
                <a:solidFill>
                  <a:schemeClr val="tx1"/>
                </a:solidFill>
                <a:latin typeface="Times New Roman" panose="02020603050405020304" pitchFamily="18" charset="0"/>
                <a:cs typeface="Times New Roman" panose="02020603050405020304" pitchFamily="18" charset="0"/>
              </a:rPr>
              <a:t> in Sindh.  </a:t>
            </a:r>
            <a:br>
              <a:rPr lang="en-US" sz="2000" dirty="0" smtClean="0">
                <a:solidFill>
                  <a:schemeClr val="tx1"/>
                </a:solidFill>
                <a:latin typeface="Times New Roman" panose="02020603050405020304" pitchFamily="18" charset="0"/>
                <a:cs typeface="Times New Roman" panose="02020603050405020304" pitchFamily="18" charset="0"/>
              </a:rPr>
            </a:br>
            <a:r>
              <a:rPr lang="en-US" sz="2000" dirty="0" smtClean="0">
                <a:solidFill>
                  <a:schemeClr val="tx1"/>
                </a:solidFill>
                <a:latin typeface="Times New Roman" panose="02020603050405020304" pitchFamily="18" charset="0"/>
                <a:cs typeface="Times New Roman" panose="02020603050405020304" pitchFamily="18" charset="0"/>
              </a:rPr>
              <a:t/>
            </a:r>
            <a:br>
              <a:rPr lang="en-US" sz="2000" dirty="0" smtClean="0">
                <a:solidFill>
                  <a:schemeClr val="tx1"/>
                </a:solidFill>
                <a:latin typeface="Times New Roman" panose="02020603050405020304" pitchFamily="18" charset="0"/>
                <a:cs typeface="Times New Roman" panose="02020603050405020304" pitchFamily="18" charset="0"/>
              </a:rPr>
            </a:br>
            <a:r>
              <a:rPr lang="en-US" sz="2000" dirty="0" smtClean="0">
                <a:solidFill>
                  <a:schemeClr val="tx1"/>
                </a:solidFill>
                <a:latin typeface="Times New Roman" panose="02020603050405020304" pitchFamily="18" charset="0"/>
                <a:cs typeface="Times New Roman" panose="02020603050405020304" pitchFamily="18" charset="0"/>
              </a:rPr>
              <a:t>Around 4000 B.C. People moved from hills to plains. &amp; Urban Culture formed like </a:t>
            </a:r>
            <a:r>
              <a:rPr lang="en-US" sz="2000" dirty="0" err="1" smtClean="0">
                <a:solidFill>
                  <a:schemeClr val="tx1"/>
                </a:solidFill>
                <a:latin typeface="Times New Roman" panose="02020603050405020304" pitchFamily="18" charset="0"/>
                <a:cs typeface="Times New Roman" panose="02020603050405020304" pitchFamily="18" charset="0"/>
              </a:rPr>
              <a:t>Kot</a:t>
            </a:r>
            <a:r>
              <a:rPr lang="en-US" sz="2000" dirty="0" smtClean="0">
                <a:solidFill>
                  <a:schemeClr val="tx1"/>
                </a:solidFill>
                <a:latin typeface="Times New Roman" panose="02020603050405020304" pitchFamily="18" charset="0"/>
                <a:cs typeface="Times New Roman" panose="02020603050405020304" pitchFamily="18" charset="0"/>
              </a:rPr>
              <a:t> </a:t>
            </a:r>
            <a:r>
              <a:rPr lang="en-US" sz="2000" dirty="0" err="1" smtClean="0">
                <a:solidFill>
                  <a:schemeClr val="tx1"/>
                </a:solidFill>
                <a:latin typeface="Times New Roman" panose="02020603050405020304" pitchFamily="18" charset="0"/>
                <a:cs typeface="Times New Roman" panose="02020603050405020304" pitchFamily="18" charset="0"/>
              </a:rPr>
              <a:t>Daji</a:t>
            </a:r>
            <a:r>
              <a:rPr lang="en-US" sz="2000" dirty="0" smtClean="0">
                <a:solidFill>
                  <a:schemeClr val="tx1"/>
                </a:solidFill>
                <a:latin typeface="Times New Roman" panose="02020603050405020304" pitchFamily="18" charset="0"/>
                <a:cs typeface="Times New Roman" panose="02020603050405020304" pitchFamily="18" charset="0"/>
              </a:rPr>
              <a:t> &amp; </a:t>
            </a:r>
            <a:r>
              <a:rPr lang="en-US" sz="2000" dirty="0" err="1" smtClean="0">
                <a:solidFill>
                  <a:schemeClr val="tx1"/>
                </a:solidFill>
                <a:latin typeface="Times New Roman" panose="02020603050405020304" pitchFamily="18" charset="0"/>
                <a:cs typeface="Times New Roman" panose="02020603050405020304" pitchFamily="18" charset="0"/>
              </a:rPr>
              <a:t>Mehargarh</a:t>
            </a:r>
            <a:r>
              <a:rPr lang="en-US" sz="2000" dirty="0">
                <a:solidFill>
                  <a:schemeClr val="tx1"/>
                </a:solidFill>
                <a:latin typeface="Times New Roman" panose="02020603050405020304" pitchFamily="18" charset="0"/>
                <a:cs typeface="Times New Roman" panose="02020603050405020304" pitchFamily="18" charset="0"/>
              </a:rPr>
              <a:t>.</a:t>
            </a:r>
            <a:r>
              <a:rPr lang="en-US" sz="2000" dirty="0" smtClean="0">
                <a:solidFill>
                  <a:schemeClr val="tx1"/>
                </a:solidFill>
                <a:latin typeface="Times New Roman" panose="02020603050405020304" pitchFamily="18" charset="0"/>
                <a:cs typeface="Times New Roman" panose="02020603050405020304" pitchFamily="18" charset="0"/>
              </a:rPr>
              <a:t>  </a:t>
            </a:r>
            <a:br>
              <a:rPr lang="en-US" sz="2000" dirty="0" smtClean="0">
                <a:solidFill>
                  <a:schemeClr val="tx1"/>
                </a:solidFill>
                <a:latin typeface="Times New Roman" panose="02020603050405020304" pitchFamily="18" charset="0"/>
                <a:cs typeface="Times New Roman" panose="02020603050405020304" pitchFamily="18" charset="0"/>
              </a:rPr>
            </a:br>
            <a:r>
              <a:rPr lang="en-US" sz="2000" dirty="0" smtClean="0">
                <a:solidFill>
                  <a:schemeClr val="tx1"/>
                </a:solidFill>
                <a:latin typeface="Times New Roman" panose="02020603050405020304" pitchFamily="18" charset="0"/>
                <a:cs typeface="Times New Roman" panose="02020603050405020304" pitchFamily="18" charset="0"/>
              </a:rPr>
              <a:t/>
            </a:r>
            <a:br>
              <a:rPr lang="en-US" sz="2000" dirty="0" smtClean="0">
                <a:solidFill>
                  <a:schemeClr val="tx1"/>
                </a:solidFill>
                <a:latin typeface="Times New Roman" panose="02020603050405020304" pitchFamily="18" charset="0"/>
                <a:cs typeface="Times New Roman" panose="02020603050405020304" pitchFamily="18" charset="0"/>
              </a:rPr>
            </a:br>
            <a:r>
              <a:rPr lang="en-US" sz="2000" dirty="0" smtClean="0">
                <a:solidFill>
                  <a:schemeClr val="tx1"/>
                </a:solidFill>
                <a:latin typeface="Times New Roman" panose="02020603050405020304" pitchFamily="18" charset="0"/>
                <a:cs typeface="Times New Roman" panose="02020603050405020304" pitchFamily="18" charset="0"/>
              </a:rPr>
              <a:t>The Indus Valley Civilization was the one of the world’s  great urban civilization. (2800 sites) Indus Valley Civilization was a Bronze age Civilization    (3000-1300 BC), It was first Discovered in 1842 by Charles Masson. </a:t>
            </a:r>
            <a:r>
              <a:rPr lang="en-US" sz="2000" dirty="0">
                <a:solidFill>
                  <a:schemeClr val="tx1"/>
                </a:solidFill>
                <a:latin typeface="Times New Roman" panose="02020603050405020304" pitchFamily="18" charset="0"/>
                <a:cs typeface="Times New Roman" panose="02020603050405020304" pitchFamily="18" charset="0"/>
              </a:rPr>
              <a:t> It covered an area of </a:t>
            </a:r>
            <a:r>
              <a:rPr lang="en-US" sz="2000" dirty="0" smtClean="0">
                <a:solidFill>
                  <a:schemeClr val="tx1"/>
                </a:solidFill>
                <a:latin typeface="Times New Roman" panose="02020603050405020304" pitchFamily="18" charset="0"/>
                <a:cs typeface="Times New Roman" panose="02020603050405020304" pitchFamily="18" charset="0"/>
              </a:rPr>
              <a:t>12,99,600 </a:t>
            </a:r>
            <a:r>
              <a:rPr lang="en-US" sz="2000" dirty="0" err="1" smtClean="0">
                <a:solidFill>
                  <a:schemeClr val="tx1"/>
                </a:solidFill>
                <a:latin typeface="Times New Roman" panose="02020603050405020304" pitchFamily="18" charset="0"/>
                <a:cs typeface="Times New Roman" panose="02020603050405020304" pitchFamily="18" charset="0"/>
              </a:rPr>
              <a:t>Sq.metre</a:t>
            </a:r>
            <a:r>
              <a:rPr lang="en-US" sz="2000" dirty="0" smtClean="0">
                <a:solidFill>
                  <a:schemeClr val="tx1"/>
                </a:solidFill>
                <a:latin typeface="Times New Roman" panose="02020603050405020304" pitchFamily="18" charset="0"/>
                <a:cs typeface="Times New Roman" panose="02020603050405020304" pitchFamily="18" charset="0"/>
              </a:rPr>
              <a:t> </a:t>
            </a:r>
            <a:br>
              <a:rPr lang="en-US" sz="2000" dirty="0" smtClean="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First serious efforts were made by </a:t>
            </a:r>
            <a:r>
              <a:rPr lang="en-US" sz="2000" dirty="0" err="1">
                <a:solidFill>
                  <a:schemeClr val="tx1"/>
                </a:solidFill>
                <a:latin typeface="Times New Roman" panose="02020603050405020304" pitchFamily="18" charset="0"/>
                <a:cs typeface="Times New Roman" panose="02020603050405020304" pitchFamily="18" charset="0"/>
              </a:rPr>
              <a:t>Daya</a:t>
            </a:r>
            <a:r>
              <a:rPr lang="en-US" sz="2000" dirty="0">
                <a:solidFill>
                  <a:schemeClr val="tx1"/>
                </a:solidFill>
                <a:latin typeface="Times New Roman" panose="02020603050405020304" pitchFamily="18" charset="0"/>
                <a:cs typeface="Times New Roman" panose="02020603050405020304" pitchFamily="18" charset="0"/>
              </a:rPr>
              <a:t> Ram </a:t>
            </a:r>
            <a:r>
              <a:rPr lang="en-US" sz="2000" dirty="0" err="1">
                <a:solidFill>
                  <a:schemeClr val="tx1"/>
                </a:solidFill>
                <a:latin typeface="Times New Roman" panose="02020603050405020304" pitchFamily="18" charset="0"/>
                <a:cs typeface="Times New Roman" panose="02020603050405020304" pitchFamily="18" charset="0"/>
              </a:rPr>
              <a:t>Sahani</a:t>
            </a:r>
            <a:r>
              <a:rPr lang="en-US" sz="2000" dirty="0">
                <a:solidFill>
                  <a:schemeClr val="tx1"/>
                </a:solidFill>
                <a:latin typeface="Times New Roman" panose="02020603050405020304" pitchFamily="18" charset="0"/>
                <a:cs typeface="Times New Roman" panose="02020603050405020304" pitchFamily="18" charset="0"/>
              </a:rPr>
              <a:t> under the leadership of John Marshall </a:t>
            </a:r>
            <a:r>
              <a:rPr lang="en-US" sz="2000" dirty="0" smtClean="0">
                <a:solidFill>
                  <a:schemeClr val="tx1"/>
                </a:solidFill>
                <a:latin typeface="Times New Roman" panose="02020603050405020304" pitchFamily="18" charset="0"/>
                <a:cs typeface="Times New Roman" panose="02020603050405020304" pitchFamily="18" charset="0"/>
              </a:rPr>
              <a:t>and Finally, an excavation campaign was started under Sir John Hubert Marshall in 1921-1922. </a:t>
            </a:r>
            <a:br>
              <a:rPr lang="en-US" sz="2000" dirty="0" smtClean="0">
                <a:solidFill>
                  <a:schemeClr val="tx1"/>
                </a:solidFill>
                <a:latin typeface="Times New Roman" panose="02020603050405020304" pitchFamily="18" charset="0"/>
                <a:cs typeface="Times New Roman" panose="02020603050405020304" pitchFamily="18" charset="0"/>
              </a:rPr>
            </a:br>
            <a:r>
              <a:rPr lang="en-US" sz="2000" dirty="0" smtClean="0">
                <a:solidFill>
                  <a:schemeClr val="tx1"/>
                </a:solidFill>
                <a:latin typeface="Times New Roman" panose="02020603050405020304" pitchFamily="18" charset="0"/>
                <a:cs typeface="Times New Roman" panose="02020603050405020304" pitchFamily="18" charset="0"/>
              </a:rPr>
              <a:t/>
            </a:r>
            <a:br>
              <a:rPr lang="en-US" sz="2000" dirty="0" smtClean="0">
                <a:solidFill>
                  <a:schemeClr val="tx1"/>
                </a:solidFill>
                <a:latin typeface="Times New Roman" panose="02020603050405020304" pitchFamily="18" charset="0"/>
                <a:cs typeface="Times New Roman" panose="02020603050405020304" pitchFamily="18" charset="0"/>
              </a:rPr>
            </a:br>
            <a:r>
              <a:rPr lang="en-US" sz="2000" dirty="0" err="1" smtClean="0">
                <a:solidFill>
                  <a:schemeClr val="tx1"/>
                </a:solidFill>
                <a:latin typeface="Times New Roman" panose="02020603050405020304" pitchFamily="18" charset="0"/>
                <a:cs typeface="Times New Roman" panose="02020603050405020304" pitchFamily="18" charset="0"/>
              </a:rPr>
              <a:t>Mohen</a:t>
            </a:r>
            <a:r>
              <a:rPr lang="en-US" sz="2000" dirty="0" smtClean="0">
                <a:solidFill>
                  <a:schemeClr val="tx1"/>
                </a:solidFill>
                <a:latin typeface="Times New Roman" panose="02020603050405020304" pitchFamily="18" charset="0"/>
                <a:cs typeface="Times New Roman" panose="02020603050405020304" pitchFamily="18" charset="0"/>
              </a:rPr>
              <a:t> </a:t>
            </a:r>
            <a:r>
              <a:rPr lang="en-US" sz="2000" dirty="0" err="1" smtClean="0">
                <a:solidFill>
                  <a:schemeClr val="tx1"/>
                </a:solidFill>
                <a:latin typeface="Times New Roman" panose="02020603050405020304" pitchFamily="18" charset="0"/>
                <a:cs typeface="Times New Roman" panose="02020603050405020304" pitchFamily="18" charset="0"/>
              </a:rPr>
              <a:t>jo</a:t>
            </a:r>
            <a:r>
              <a:rPr lang="en-US" sz="2000" dirty="0" smtClean="0">
                <a:solidFill>
                  <a:schemeClr val="tx1"/>
                </a:solidFill>
                <a:latin typeface="Times New Roman" panose="02020603050405020304" pitchFamily="18" charset="0"/>
                <a:cs typeface="Times New Roman" panose="02020603050405020304" pitchFamily="18" charset="0"/>
              </a:rPr>
              <a:t> </a:t>
            </a:r>
            <a:r>
              <a:rPr lang="en-US" sz="2000" dirty="0" err="1" smtClean="0">
                <a:solidFill>
                  <a:schemeClr val="tx1"/>
                </a:solidFill>
                <a:latin typeface="Times New Roman" panose="02020603050405020304" pitchFamily="18" charset="0"/>
                <a:cs typeface="Times New Roman" panose="02020603050405020304" pitchFamily="18" charset="0"/>
              </a:rPr>
              <a:t>Daro</a:t>
            </a:r>
            <a:r>
              <a:rPr lang="en-US" sz="2000" dirty="0" smtClean="0">
                <a:solidFill>
                  <a:schemeClr val="tx1"/>
                </a:solidFill>
                <a:latin typeface="Times New Roman" panose="02020603050405020304" pitchFamily="18" charset="0"/>
                <a:cs typeface="Times New Roman" panose="02020603050405020304" pitchFamily="18" charset="0"/>
              </a:rPr>
              <a:t> is about 45 feet above the plain. </a:t>
            </a:r>
            <a:r>
              <a:rPr lang="en-US" sz="2000" dirty="0" err="1" smtClean="0">
                <a:solidFill>
                  <a:schemeClr val="tx1"/>
                </a:solidFill>
                <a:latin typeface="Times New Roman" panose="02020603050405020304" pitchFamily="18" charset="0"/>
                <a:cs typeface="Times New Roman" panose="02020603050405020304" pitchFamily="18" charset="0"/>
              </a:rPr>
              <a:t>Mohen</a:t>
            </a:r>
            <a:r>
              <a:rPr lang="en-US" sz="2000" dirty="0" smtClean="0">
                <a:solidFill>
                  <a:schemeClr val="tx1"/>
                </a:solidFill>
                <a:latin typeface="Times New Roman" panose="02020603050405020304" pitchFamily="18" charset="0"/>
                <a:cs typeface="Times New Roman" panose="02020603050405020304" pitchFamily="18" charset="0"/>
              </a:rPr>
              <a:t> </a:t>
            </a:r>
            <a:r>
              <a:rPr lang="en-US" sz="2000" dirty="0" err="1" smtClean="0">
                <a:solidFill>
                  <a:schemeClr val="tx1"/>
                </a:solidFill>
                <a:latin typeface="Times New Roman" panose="02020603050405020304" pitchFamily="18" charset="0"/>
                <a:cs typeface="Times New Roman" panose="02020603050405020304" pitchFamily="18" charset="0"/>
              </a:rPr>
              <a:t>jo</a:t>
            </a:r>
            <a:r>
              <a:rPr lang="en-US" sz="2000" dirty="0" smtClean="0">
                <a:solidFill>
                  <a:schemeClr val="tx1"/>
                </a:solidFill>
                <a:latin typeface="Times New Roman" panose="02020603050405020304" pitchFamily="18" charset="0"/>
                <a:cs typeface="Times New Roman" panose="02020603050405020304" pitchFamily="18" charset="0"/>
              </a:rPr>
              <a:t> </a:t>
            </a:r>
            <a:r>
              <a:rPr lang="en-US" sz="2000" dirty="0" err="1" smtClean="0">
                <a:solidFill>
                  <a:schemeClr val="tx1"/>
                </a:solidFill>
                <a:latin typeface="Times New Roman" panose="02020603050405020304" pitchFamily="18" charset="0"/>
                <a:cs typeface="Times New Roman" panose="02020603050405020304" pitchFamily="18" charset="0"/>
              </a:rPr>
              <a:t>Daro</a:t>
            </a:r>
            <a:r>
              <a:rPr lang="en-US" sz="2000" dirty="0" smtClean="0">
                <a:solidFill>
                  <a:schemeClr val="tx1"/>
                </a:solidFill>
                <a:latin typeface="Times New Roman" panose="02020603050405020304" pitchFamily="18" charset="0"/>
                <a:cs typeface="Times New Roman" panose="02020603050405020304" pitchFamily="18" charset="0"/>
              </a:rPr>
              <a:t> covers 250 acres.</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CC71A67-3160-4DB7-B24F-A90E07C5C322}" type="slidenum">
              <a:rPr lang="en-US" smtClean="0"/>
              <a:t>5</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0" y="0"/>
            <a:ext cx="4572000" cy="5280660"/>
          </a:xfrm>
          <a:prstGeom prst="rect">
            <a:avLst/>
          </a:prstGeom>
        </p:spPr>
      </p:pic>
    </p:spTree>
    <p:extLst>
      <p:ext uri="{BB962C8B-B14F-4D97-AF65-F5344CB8AC3E}">
        <p14:creationId xmlns:p14="http://schemas.microsoft.com/office/powerpoint/2010/main" val="24068594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797666" y="108755"/>
            <a:ext cx="8596668" cy="1320800"/>
          </a:xfrm>
        </p:spPr>
        <p:txBody>
          <a:bodyPr/>
          <a:lstStyle/>
          <a:p>
            <a:r>
              <a:rPr lang="en-US" dirty="0" smtClean="0">
                <a:solidFill>
                  <a:schemeClr val="tx1"/>
                </a:solidFill>
                <a:latin typeface="Times New Roman" panose="02020603050405020304" pitchFamily="18" charset="0"/>
                <a:cs typeface="Times New Roman" panose="02020603050405020304" pitchFamily="18" charset="0"/>
              </a:rPr>
              <a:t>Four Phases of Indus Valley Civilization</a:t>
            </a:r>
            <a:br>
              <a:rPr lang="en-US" dirty="0" smtClean="0">
                <a:solidFill>
                  <a:schemeClr val="tx1"/>
                </a:solidFill>
                <a:latin typeface="Times New Roman" panose="02020603050405020304" pitchFamily="18" charset="0"/>
                <a:cs typeface="Times New Roman" panose="02020603050405020304" pitchFamily="18" charset="0"/>
              </a:rPr>
            </a:br>
            <a:r>
              <a:rPr lang="en-US" sz="2000" dirty="0" smtClean="0">
                <a:solidFill>
                  <a:schemeClr val="tx1"/>
                </a:solidFill>
                <a:latin typeface="Times New Roman" panose="02020603050405020304" pitchFamily="18" charset="0"/>
                <a:cs typeface="Times New Roman" panose="02020603050405020304" pitchFamily="18" charset="0"/>
              </a:rPr>
              <a:t>Historian Divided Indus Valley Civilization into four phase: </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120332" y="1429555"/>
            <a:ext cx="9274002" cy="4976932"/>
          </a:xfrm>
        </p:spPr>
        <p:txBody>
          <a:bodyPr>
            <a:normAutofit/>
          </a:bodyPr>
          <a:lstStyle/>
          <a:p>
            <a:r>
              <a:rPr lang="en-US" dirty="0">
                <a:latin typeface="Times New Roman" panose="02020603050405020304" pitchFamily="18" charset="0"/>
                <a:cs typeface="Times New Roman" panose="02020603050405020304" pitchFamily="18" charset="0"/>
              </a:rPr>
              <a:t>T</a:t>
            </a:r>
            <a:r>
              <a:rPr lang="en-US" dirty="0" smtClean="0">
                <a:latin typeface="Times New Roman" panose="02020603050405020304" pitchFamily="18" charset="0"/>
                <a:cs typeface="Times New Roman" panose="02020603050405020304" pitchFamily="18" charset="0"/>
              </a:rPr>
              <a:t>he Pre-</a:t>
            </a:r>
            <a:r>
              <a:rPr lang="en-US" dirty="0" err="1" smtClean="0">
                <a:latin typeface="Times New Roman" panose="02020603050405020304" pitchFamily="18" charset="0"/>
                <a:cs typeface="Times New Roman" panose="02020603050405020304" pitchFamily="18" charset="0"/>
              </a:rPr>
              <a:t>Harappan</a:t>
            </a:r>
            <a:r>
              <a:rPr lang="en-US" dirty="0" smtClean="0">
                <a:latin typeface="Times New Roman" panose="02020603050405020304" pitchFamily="18" charset="0"/>
                <a:cs typeface="Times New Roman" panose="02020603050405020304" pitchFamily="18" charset="0"/>
              </a:rPr>
              <a:t> (Indus Valley Civilization) </a:t>
            </a:r>
            <a:r>
              <a:rPr lang="en-US" dirty="0">
                <a:latin typeface="Times New Roman" panose="02020603050405020304" pitchFamily="18" charset="0"/>
                <a:cs typeface="Times New Roman" panose="02020603050405020304" pitchFamily="18" charset="0"/>
              </a:rPr>
              <a:t>from 3300 </a:t>
            </a:r>
            <a:r>
              <a:rPr lang="en-US" dirty="0" smtClean="0">
                <a:latin typeface="Times New Roman" panose="02020603050405020304" pitchFamily="18" charset="0"/>
                <a:cs typeface="Times New Roman" panose="02020603050405020304" pitchFamily="18" charset="0"/>
              </a:rPr>
              <a:t>to 3000 BCE</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 Nomadic people started living, settled  and picked up agriculture. </a:t>
            </a: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Early </a:t>
            </a:r>
            <a:r>
              <a:rPr lang="en-US" dirty="0" err="1">
                <a:latin typeface="Times New Roman" panose="02020603050405020304" pitchFamily="18" charset="0"/>
                <a:cs typeface="Times New Roman" panose="02020603050405020304" pitchFamily="18" charset="0"/>
              </a:rPr>
              <a:t>Harappan</a:t>
            </a:r>
            <a:r>
              <a:rPr lang="en-US" dirty="0">
                <a:latin typeface="Times New Roman" panose="02020603050405020304" pitchFamily="18" charset="0"/>
                <a:cs typeface="Times New Roman" panose="02020603050405020304" pitchFamily="18" charset="0"/>
              </a:rPr>
              <a:t> (Indus Valley Civilization) from </a:t>
            </a:r>
            <a:r>
              <a:rPr lang="en-US" dirty="0" smtClean="0">
                <a:latin typeface="Times New Roman" panose="02020603050405020304" pitchFamily="18" charset="0"/>
                <a:cs typeface="Times New Roman" panose="02020603050405020304" pitchFamily="18" charset="0"/>
              </a:rPr>
              <a:t>3000 </a:t>
            </a:r>
            <a:r>
              <a:rPr lang="en-US" dirty="0">
                <a:latin typeface="Times New Roman" panose="02020603050405020304" pitchFamily="18" charset="0"/>
                <a:cs typeface="Times New Roman" panose="02020603050405020304" pitchFamily="18" charset="0"/>
              </a:rPr>
              <a:t>to 2600 BCE</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Villages &amp; Urban centers' emerged in Indus Valley Civilization. </a:t>
            </a:r>
          </a:p>
          <a:p>
            <a:pPr>
              <a:buFont typeface="Wingdings" panose="05000000000000000000" pitchFamily="2" charset="2"/>
              <a:buChar char="§"/>
            </a:pP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Mature </a:t>
            </a:r>
            <a:r>
              <a:rPr lang="en-US" dirty="0" err="1">
                <a:latin typeface="Times New Roman" panose="02020603050405020304" pitchFamily="18" charset="0"/>
                <a:cs typeface="Times New Roman" panose="02020603050405020304" pitchFamily="18" charset="0"/>
              </a:rPr>
              <a:t>Harappan</a:t>
            </a:r>
            <a:r>
              <a:rPr lang="en-US" dirty="0">
                <a:latin typeface="Times New Roman" panose="02020603050405020304" pitchFamily="18" charset="0"/>
                <a:cs typeface="Times New Roman" panose="02020603050405020304" pitchFamily="18" charset="0"/>
              </a:rPr>
              <a:t> (Indus Valley Civilization)</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from 2600 to 1900 </a:t>
            </a:r>
            <a:r>
              <a:rPr lang="en-US" dirty="0" smtClean="0">
                <a:latin typeface="Times New Roman" panose="02020603050405020304" pitchFamily="18" charset="0"/>
                <a:cs typeface="Times New Roman" panose="02020603050405020304" pitchFamily="18" charset="0"/>
              </a:rPr>
              <a:t>BCE.</a:t>
            </a: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Urban center flourished in the Indus Valley Civilization. </a:t>
            </a: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a:t>
            </a:r>
            <a:r>
              <a:rPr lang="en-US" dirty="0" smtClean="0">
                <a:latin typeface="Times New Roman" panose="02020603050405020304" pitchFamily="18" charset="0"/>
                <a:cs typeface="Times New Roman" panose="02020603050405020304" pitchFamily="18" charset="0"/>
              </a:rPr>
              <a:t>he </a:t>
            </a:r>
            <a:r>
              <a:rPr lang="en-US" dirty="0">
                <a:latin typeface="Times New Roman" panose="02020603050405020304" pitchFamily="18" charset="0"/>
                <a:cs typeface="Times New Roman" panose="02020603050405020304" pitchFamily="18" charset="0"/>
              </a:rPr>
              <a:t>Late </a:t>
            </a:r>
            <a:r>
              <a:rPr lang="en-US" dirty="0" err="1">
                <a:latin typeface="Times New Roman" panose="02020603050405020304" pitchFamily="18" charset="0"/>
                <a:cs typeface="Times New Roman" panose="02020603050405020304" pitchFamily="18" charset="0"/>
              </a:rPr>
              <a:t>Harappan</a:t>
            </a:r>
            <a:r>
              <a:rPr lang="en-US" dirty="0">
                <a:latin typeface="Times New Roman" panose="02020603050405020304" pitchFamily="18" charset="0"/>
                <a:cs typeface="Times New Roman" panose="02020603050405020304" pitchFamily="18" charset="0"/>
              </a:rPr>
              <a:t> (Indus Valley Civilization)</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from 1900 to 1300 BCE</a:t>
            </a:r>
            <a:r>
              <a:rPr lang="en-US" dirty="0" smtClean="0">
                <a:latin typeface="Times New Roman" panose="02020603050405020304" pitchFamily="18" charset="0"/>
                <a:cs typeface="Times New Roman" panose="02020603050405020304" pitchFamily="18" charset="0"/>
              </a:rPr>
              <a:t>.</a:t>
            </a:r>
            <a:endParaRPr lang="en-US" dirty="0" smtClean="0">
              <a:solidFill>
                <a:schemeClr val="tx1"/>
              </a:solidFill>
            </a:endParaRPr>
          </a:p>
          <a:p>
            <a:pPr>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In this phases Decline of Civilization were observed.</a:t>
            </a:r>
            <a:endParaRPr lang="en-US"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3CC71A67-3160-4DB7-B24F-A90E07C5C322}" type="slidenum">
              <a:rPr lang="en-US" smtClean="0"/>
              <a:t>6</a:t>
            </a:fld>
            <a:endParaRPr lang="en-US"/>
          </a:p>
        </p:txBody>
      </p:sp>
    </p:spTree>
    <p:extLst>
      <p:ext uri="{BB962C8B-B14F-4D97-AF65-F5344CB8AC3E}">
        <p14:creationId xmlns:p14="http://schemas.microsoft.com/office/powerpoint/2010/main" val="26931609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72892"/>
            <a:ext cx="8596668" cy="651814"/>
          </a:xfrm>
        </p:spPr>
        <p:txBody>
          <a:bodyPr/>
          <a:lstStyle/>
          <a:p>
            <a:r>
              <a:rPr lang="en-US" dirty="0" smtClean="0">
                <a:solidFill>
                  <a:schemeClr val="tx1"/>
                </a:solidFill>
                <a:latin typeface="Times New Roman" panose="02020603050405020304" pitchFamily="18" charset="0"/>
                <a:cs typeface="Times New Roman" panose="02020603050405020304" pitchFamily="18" charset="0"/>
              </a:rPr>
              <a:t>HARAPPA</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35664" y="1270000"/>
            <a:ext cx="5704528" cy="5491408"/>
          </a:xfrm>
        </p:spPr>
        <p:txBody>
          <a:bodyPr/>
          <a:lstStyle/>
          <a:p>
            <a:r>
              <a:rPr lang="en-US" dirty="0" smtClean="0">
                <a:solidFill>
                  <a:schemeClr val="tx1"/>
                </a:solidFill>
                <a:latin typeface="Times New Roman" panose="02020603050405020304" pitchFamily="18" charset="0"/>
                <a:cs typeface="Times New Roman" panose="02020603050405020304" pitchFamily="18" charset="0"/>
              </a:rPr>
              <a:t>Harappa (</a:t>
            </a:r>
            <a:r>
              <a:rPr lang="en-US" dirty="0" err="1" smtClean="0">
                <a:solidFill>
                  <a:schemeClr val="tx1"/>
                </a:solidFill>
                <a:latin typeface="Times New Roman" panose="02020603050405020304" pitchFamily="18" charset="0"/>
                <a:cs typeface="Times New Roman" panose="02020603050405020304" pitchFamily="18" charset="0"/>
              </a:rPr>
              <a:t>Sahiwal</a:t>
            </a:r>
            <a:r>
              <a:rPr lang="en-US" dirty="0" smtClean="0">
                <a:solidFill>
                  <a:schemeClr val="tx1"/>
                </a:solidFill>
                <a:latin typeface="Times New Roman" panose="02020603050405020304" pitchFamily="18" charset="0"/>
                <a:cs typeface="Times New Roman" panose="02020603050405020304" pitchFamily="18" charset="0"/>
              </a:rPr>
              <a:t>, Punjab) was the other major city in the Indus Valley Civilization.</a:t>
            </a:r>
          </a:p>
          <a:p>
            <a:r>
              <a:rPr lang="en-US" dirty="0" smtClean="0">
                <a:solidFill>
                  <a:schemeClr val="tx1"/>
                </a:solidFill>
                <a:latin typeface="Times New Roman" panose="02020603050405020304" pitchFamily="18" charset="0"/>
                <a:cs typeface="Times New Roman" panose="02020603050405020304" pitchFamily="18" charset="0"/>
              </a:rPr>
              <a:t>It was identified on the bank of the Ravi river in 1920-1921.</a:t>
            </a:r>
          </a:p>
          <a:p>
            <a:r>
              <a:rPr lang="en-US" dirty="0" smtClean="0">
                <a:solidFill>
                  <a:schemeClr val="tx1"/>
                </a:solidFill>
                <a:latin typeface="Times New Roman" panose="02020603050405020304" pitchFamily="18" charset="0"/>
                <a:cs typeface="Times New Roman" panose="02020603050405020304" pitchFamily="18" charset="0"/>
              </a:rPr>
              <a:t>It was the trading </a:t>
            </a:r>
            <a:r>
              <a:rPr lang="en-US" dirty="0" err="1" smtClean="0">
                <a:solidFill>
                  <a:schemeClr val="tx1"/>
                </a:solidFill>
                <a:latin typeface="Times New Roman" panose="02020603050405020304" pitchFamily="18" charset="0"/>
                <a:cs typeface="Times New Roman" panose="02020603050405020304" pitchFamily="18" charset="0"/>
              </a:rPr>
              <a:t>centre</a:t>
            </a:r>
            <a:r>
              <a:rPr lang="en-US" dirty="0" smtClean="0">
                <a:solidFill>
                  <a:schemeClr val="tx1"/>
                </a:solidFill>
                <a:latin typeface="Times New Roman" panose="02020603050405020304" pitchFamily="18" charset="0"/>
                <a:cs typeface="Times New Roman" panose="02020603050405020304" pitchFamily="18" charset="0"/>
              </a:rPr>
              <a:t> of the state. They show the government plans to counter attacks of invaders on the city. The city was similar in construction to Mohan-</a:t>
            </a:r>
            <a:r>
              <a:rPr lang="en-US" dirty="0" err="1" smtClean="0">
                <a:solidFill>
                  <a:schemeClr val="tx1"/>
                </a:solidFill>
                <a:latin typeface="Times New Roman" panose="02020603050405020304" pitchFamily="18" charset="0"/>
                <a:cs typeface="Times New Roman" panose="02020603050405020304" pitchFamily="18" charset="0"/>
              </a:rPr>
              <a:t>jo</a:t>
            </a:r>
            <a:r>
              <a:rPr lang="en-US" dirty="0" smtClean="0">
                <a:solidFill>
                  <a:schemeClr val="tx1"/>
                </a:solidFill>
                <a:latin typeface="Times New Roman" panose="02020603050405020304" pitchFamily="18" charset="0"/>
                <a:cs typeface="Times New Roman" panose="02020603050405020304" pitchFamily="18" charset="0"/>
              </a:rPr>
              <a:t>-</a:t>
            </a:r>
            <a:r>
              <a:rPr lang="en-US" dirty="0" err="1" smtClean="0">
                <a:solidFill>
                  <a:schemeClr val="tx1"/>
                </a:solidFill>
                <a:latin typeface="Times New Roman" panose="02020603050405020304" pitchFamily="18" charset="0"/>
                <a:cs typeface="Times New Roman" panose="02020603050405020304" pitchFamily="18" charset="0"/>
              </a:rPr>
              <a:t>Daro</a:t>
            </a:r>
            <a:r>
              <a:rPr lang="en-US" dirty="0" smtClean="0">
                <a:solidFill>
                  <a:schemeClr val="tx1"/>
                </a:solidFill>
                <a:latin typeface="Times New Roman" panose="02020603050405020304" pitchFamily="18" charset="0"/>
                <a:cs typeface="Times New Roman" panose="02020603050405020304" pitchFamily="18" charset="0"/>
              </a:rPr>
              <a:t>.</a:t>
            </a:r>
          </a:p>
          <a:p>
            <a:r>
              <a:rPr lang="en-US" dirty="0" smtClean="0">
                <a:solidFill>
                  <a:schemeClr val="tx1"/>
                </a:solidFill>
                <a:latin typeface="Times New Roman" panose="02020603050405020304" pitchFamily="18" charset="0"/>
                <a:cs typeface="Times New Roman" panose="02020603050405020304" pitchFamily="18" charset="0"/>
              </a:rPr>
              <a:t>During the excavation many things were discovered such as solid clay pots, measuring &amp; weighing tools, copper, silver &amp; clay seals portraits &amp; elephants made of bronze. </a:t>
            </a:r>
          </a:p>
          <a:p>
            <a:r>
              <a:rPr lang="en-US" dirty="0" smtClean="0">
                <a:solidFill>
                  <a:schemeClr val="tx1"/>
                </a:solidFill>
                <a:latin typeface="Times New Roman" panose="02020603050405020304" pitchFamily="18" charset="0"/>
                <a:cs typeface="Times New Roman" panose="02020603050405020304" pitchFamily="18" charset="0"/>
              </a:rPr>
              <a:t>Tools, such as knives, saws, Chisels, &amp; ornaments like bangles showed their living standards &amp; advancement of their culture.</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CC71A67-3160-4DB7-B24F-A90E07C5C322}" type="slidenum">
              <a:rPr lang="en-US" smtClean="0"/>
              <a:t>7</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2769" y="4013472"/>
            <a:ext cx="4524678" cy="2784029"/>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2769" y="1270000"/>
            <a:ext cx="4524678" cy="2714807"/>
          </a:xfrm>
          <a:prstGeom prst="rect">
            <a:avLst/>
          </a:prstGeom>
        </p:spPr>
      </p:pic>
    </p:spTree>
    <p:extLst>
      <p:ext uri="{BB962C8B-B14F-4D97-AF65-F5344CB8AC3E}">
        <p14:creationId xmlns:p14="http://schemas.microsoft.com/office/powerpoint/2010/main" val="13564430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CC71A67-3160-4DB7-B24F-A90E07C5C322}" type="slidenum">
              <a:rPr lang="en-US" smtClean="0"/>
              <a:t>8</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9575"/>
            <a:ext cx="6767733" cy="5129033"/>
          </a:xfrm>
          <a:prstGeom prst="rect">
            <a:avLst/>
          </a:prstGeom>
        </p:spPr>
      </p:pic>
      <p:pic>
        <p:nvPicPr>
          <p:cNvPr id="4" name="Picture 3"/>
          <p:cNvPicPr>
            <a:picLocks noChangeAspect="1"/>
          </p:cNvPicPr>
          <p:nvPr/>
        </p:nvPicPr>
        <p:blipFill>
          <a:blip r:embed="rId3"/>
          <a:stretch>
            <a:fillRect/>
          </a:stretch>
        </p:blipFill>
        <p:spPr>
          <a:xfrm>
            <a:off x="6555346" y="283336"/>
            <a:ext cx="5636654" cy="4921512"/>
          </a:xfrm>
          <a:prstGeom prst="rect">
            <a:avLst/>
          </a:prstGeom>
        </p:spPr>
      </p:pic>
      <p:sp>
        <p:nvSpPr>
          <p:cNvPr id="5" name="Rectangle 4"/>
          <p:cNvSpPr/>
          <p:nvPr/>
        </p:nvSpPr>
        <p:spPr>
          <a:xfrm>
            <a:off x="265108" y="5573558"/>
            <a:ext cx="4546735" cy="369332"/>
          </a:xfrm>
          <a:prstGeom prst="rect">
            <a:avLst/>
          </a:prstGeom>
        </p:spPr>
        <p:txBody>
          <a:bodyPr wrap="square">
            <a:spAutoFit/>
          </a:bodyPr>
          <a:lstStyle/>
          <a:p>
            <a:r>
              <a:rPr lang="en-US" dirty="0" smtClean="0">
                <a:latin typeface="Times New Roman" panose="02020603050405020304" pitchFamily="18" charset="0"/>
                <a:cs typeface="Times New Roman" panose="02020603050405020304" pitchFamily="18" charset="0"/>
              </a:rPr>
              <a:t>Citadel/Religious </a:t>
            </a:r>
            <a:r>
              <a:rPr lang="en-US" dirty="0">
                <a:latin typeface="Times New Roman" panose="02020603050405020304" pitchFamily="18" charset="0"/>
                <a:cs typeface="Times New Roman" panose="02020603050405020304" pitchFamily="18" charset="0"/>
              </a:rPr>
              <a:t>Town  </a:t>
            </a:r>
            <a:r>
              <a:rPr lang="en-US" dirty="0" smtClean="0">
                <a:latin typeface="Times New Roman" panose="02020603050405020304" pitchFamily="18" charset="0"/>
                <a:cs typeface="Times New Roman" panose="02020603050405020304" pitchFamily="18" charset="0"/>
              </a:rPr>
              <a:t>and Resident Town </a:t>
            </a:r>
            <a:endParaRPr lang="en-US" dirty="0"/>
          </a:p>
        </p:txBody>
      </p:sp>
    </p:spTree>
    <p:extLst>
      <p:ext uri="{BB962C8B-B14F-4D97-AF65-F5344CB8AC3E}">
        <p14:creationId xmlns:p14="http://schemas.microsoft.com/office/powerpoint/2010/main" val="31011109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4700" y="957553"/>
            <a:ext cx="4507604" cy="4052330"/>
          </a:xfrm>
        </p:spPr>
        <p:txBody>
          <a:bodyPr/>
          <a:lstStyle/>
          <a:p>
            <a:pPr algn="just"/>
            <a:r>
              <a:rPr lang="en-US" dirty="0" smtClean="0">
                <a:solidFill>
                  <a:schemeClr val="tx1"/>
                </a:solidFill>
                <a:latin typeface="Times New Roman" panose="02020603050405020304" pitchFamily="18" charset="0"/>
                <a:cs typeface="Times New Roman" panose="02020603050405020304" pitchFamily="18" charset="0"/>
              </a:rPr>
              <a:t>Planned Cities:</a:t>
            </a:r>
            <a:br>
              <a:rPr lang="en-US" dirty="0" smtClean="0">
                <a:solidFill>
                  <a:schemeClr val="tx1"/>
                </a:solidFill>
                <a:latin typeface="Times New Roman" panose="02020603050405020304" pitchFamily="18" charset="0"/>
                <a:cs typeface="Times New Roman" panose="02020603050405020304" pitchFamily="18" charset="0"/>
              </a:rPr>
            </a:br>
            <a:r>
              <a:rPr lang="en-US" sz="2400" dirty="0" smtClean="0">
                <a:solidFill>
                  <a:schemeClr val="tx1"/>
                </a:solidFill>
                <a:latin typeface="Times New Roman" panose="02020603050405020304" pitchFamily="18" charset="0"/>
                <a:cs typeface="Times New Roman" panose="02020603050405020304" pitchFamily="18" charset="0"/>
              </a:rPr>
              <a:t>The cities of IVC were well organized and solidly built out of bricks and stones.</a:t>
            </a:r>
            <a:br>
              <a:rPr lang="en-US" sz="2400" dirty="0" smtClean="0">
                <a:solidFill>
                  <a:schemeClr val="tx1"/>
                </a:solidFill>
                <a:latin typeface="Times New Roman" panose="02020603050405020304" pitchFamily="18" charset="0"/>
                <a:cs typeface="Times New Roman" panose="02020603050405020304" pitchFamily="18" charset="0"/>
              </a:rPr>
            </a:br>
            <a:r>
              <a:rPr lang="en-US" sz="2400" dirty="0" smtClean="0">
                <a:solidFill>
                  <a:schemeClr val="tx1"/>
                </a:solidFill>
                <a:latin typeface="Times New Roman" panose="02020603050405020304" pitchFamily="18" charset="0"/>
                <a:cs typeface="Times New Roman" panose="02020603050405020304" pitchFamily="18" charset="0"/>
              </a:rPr>
              <a:t>The people of the Indus Valley civilization are considered to be the first ever town planners of the human history. </a:t>
            </a:r>
            <a:br>
              <a:rPr lang="en-US" sz="2400" dirty="0" smtClean="0">
                <a:solidFill>
                  <a:schemeClr val="tx1"/>
                </a:solidFill>
                <a:latin typeface="Times New Roman" panose="02020603050405020304" pitchFamily="18" charset="0"/>
                <a:cs typeface="Times New Roman" panose="02020603050405020304" pitchFamily="18" charset="0"/>
              </a:rPr>
            </a:br>
            <a:r>
              <a:rPr lang="en-US" sz="2400" dirty="0" smtClean="0">
                <a:solidFill>
                  <a:schemeClr val="tx1"/>
                </a:solidFill>
                <a:latin typeface="Times New Roman" panose="02020603050405020304" pitchFamily="18" charset="0"/>
                <a:cs typeface="Times New Roman" panose="02020603050405020304" pitchFamily="18" charset="0"/>
              </a:rPr>
              <a:t>Citadel Religious Town </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CC71A67-3160-4DB7-B24F-A90E07C5C322}" type="slidenum">
              <a:rPr lang="en-US" smtClean="0"/>
              <a:t>9</a:t>
            </a:fld>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1092" y="1197735"/>
            <a:ext cx="5718167" cy="4439070"/>
          </a:xfrm>
          <a:prstGeom prst="rect">
            <a:avLst/>
          </a:prstGeom>
        </p:spPr>
      </p:pic>
    </p:spTree>
    <p:extLst>
      <p:ext uri="{BB962C8B-B14F-4D97-AF65-F5344CB8AC3E}">
        <p14:creationId xmlns:p14="http://schemas.microsoft.com/office/powerpoint/2010/main" val="9819920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634" y="171719"/>
            <a:ext cx="8841367" cy="2236630"/>
          </a:xfrm>
        </p:spPr>
        <p:txBody>
          <a:bodyPr>
            <a:normAutofit/>
          </a:bodyPr>
          <a:lstStyle/>
          <a:p>
            <a:r>
              <a:rPr lang="en-US" sz="3200" dirty="0" smtClean="0">
                <a:solidFill>
                  <a:schemeClr val="tx1"/>
                </a:solidFill>
                <a:latin typeface="Times New Roman" panose="02020603050405020304" pitchFamily="18" charset="0"/>
                <a:cs typeface="Times New Roman" panose="02020603050405020304" pitchFamily="18" charset="0"/>
              </a:rPr>
              <a:t>Pots and Weapons:</a:t>
            </a:r>
            <a:br>
              <a:rPr lang="en-US" sz="3200" dirty="0" smtClean="0">
                <a:solidFill>
                  <a:schemeClr val="tx1"/>
                </a:solidFill>
                <a:latin typeface="Times New Roman" panose="02020603050405020304" pitchFamily="18" charset="0"/>
                <a:cs typeface="Times New Roman" panose="02020603050405020304" pitchFamily="18" charset="0"/>
              </a:rPr>
            </a:br>
            <a:r>
              <a:rPr lang="en-US" sz="2400" dirty="0" smtClean="0">
                <a:solidFill>
                  <a:schemeClr val="tx1"/>
                </a:solidFill>
                <a:latin typeface="Times New Roman" panose="02020603050405020304" pitchFamily="18" charset="0"/>
                <a:cs typeface="Times New Roman" panose="02020603050405020304" pitchFamily="18" charset="0"/>
              </a:rPr>
              <a:t>The Indus Valley Civilization had craftsmen skilled in woodcraft. They were highly skilled in pottery, weaving &amp; metalwork. </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CC71A67-3160-4DB7-B24F-A90E07C5C322}" type="slidenum">
              <a:rPr lang="en-US" smtClean="0"/>
              <a:t>10</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4302" y="2172659"/>
            <a:ext cx="8841367" cy="3563101"/>
          </a:xfrm>
          <a:prstGeom prst="rect">
            <a:avLst/>
          </a:prstGeom>
        </p:spPr>
      </p:pic>
    </p:spTree>
    <p:extLst>
      <p:ext uri="{BB962C8B-B14F-4D97-AF65-F5344CB8AC3E}">
        <p14:creationId xmlns:p14="http://schemas.microsoft.com/office/powerpoint/2010/main" val="34783275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572" y="446823"/>
            <a:ext cx="9896221" cy="2326783"/>
          </a:xfrm>
        </p:spPr>
        <p:txBody>
          <a:bodyPr>
            <a:normAutofit/>
          </a:bodyPr>
          <a:lstStyle/>
          <a:p>
            <a:r>
              <a:rPr lang="en-US" dirty="0" err="1" smtClean="0">
                <a:solidFill>
                  <a:schemeClr val="tx1"/>
                </a:solidFill>
                <a:latin typeface="Times New Roman" panose="02020603050405020304" pitchFamily="18" charset="0"/>
                <a:cs typeface="Times New Roman" panose="02020603050405020304" pitchFamily="18" charset="0"/>
              </a:rPr>
              <a:t>Mohen</a:t>
            </a:r>
            <a:r>
              <a:rPr lang="en-US" dirty="0" smtClean="0">
                <a:solidFill>
                  <a:schemeClr val="tx1"/>
                </a:solidFill>
                <a:latin typeface="Times New Roman" panose="02020603050405020304" pitchFamily="18" charset="0"/>
                <a:cs typeface="Times New Roman" panose="02020603050405020304" pitchFamily="18" charset="0"/>
              </a:rPr>
              <a:t> Jo </a:t>
            </a:r>
            <a:r>
              <a:rPr lang="en-US" dirty="0" err="1" smtClean="0">
                <a:solidFill>
                  <a:schemeClr val="tx1"/>
                </a:solidFill>
                <a:latin typeface="Times New Roman" panose="02020603050405020304" pitchFamily="18" charset="0"/>
                <a:cs typeface="Times New Roman" panose="02020603050405020304" pitchFamily="18" charset="0"/>
              </a:rPr>
              <a:t>Daro</a:t>
            </a:r>
            <a:r>
              <a:rPr lang="en-US" dirty="0" smtClean="0">
                <a:solidFill>
                  <a:schemeClr val="tx1"/>
                </a:solidFill>
                <a:latin typeface="Times New Roman" panose="02020603050405020304" pitchFamily="18" charset="0"/>
                <a:cs typeface="Times New Roman" panose="02020603050405020304" pitchFamily="18" charset="0"/>
              </a:rPr>
              <a:t>:</a:t>
            </a:r>
            <a:br>
              <a:rPr lang="en-US" dirty="0" smtClean="0">
                <a:solidFill>
                  <a:schemeClr val="tx1"/>
                </a:solidFill>
                <a:latin typeface="Times New Roman" panose="02020603050405020304" pitchFamily="18" charset="0"/>
                <a:cs typeface="Times New Roman" panose="02020603050405020304" pitchFamily="18" charset="0"/>
              </a:rPr>
            </a:br>
            <a:r>
              <a:rPr lang="en-US" sz="2400" dirty="0" err="1" smtClean="0">
                <a:solidFill>
                  <a:schemeClr val="tx1"/>
                </a:solidFill>
                <a:latin typeface="Times New Roman" panose="02020603050405020304" pitchFamily="18" charset="0"/>
                <a:cs typeface="Times New Roman" panose="02020603050405020304" pitchFamily="18" charset="0"/>
              </a:rPr>
              <a:t>Mohen</a:t>
            </a:r>
            <a:r>
              <a:rPr lang="en-US" sz="2400" dirty="0" smtClean="0">
                <a:solidFill>
                  <a:schemeClr val="tx1"/>
                </a:solidFill>
                <a:latin typeface="Times New Roman" panose="02020603050405020304" pitchFamily="18" charset="0"/>
                <a:cs typeface="Times New Roman" panose="02020603050405020304" pitchFamily="18" charset="0"/>
              </a:rPr>
              <a:t> </a:t>
            </a:r>
            <a:r>
              <a:rPr lang="en-US" sz="2400" dirty="0" err="1" smtClean="0">
                <a:solidFill>
                  <a:schemeClr val="tx1"/>
                </a:solidFill>
                <a:latin typeface="Times New Roman" panose="02020603050405020304" pitchFamily="18" charset="0"/>
                <a:cs typeface="Times New Roman" panose="02020603050405020304" pitchFamily="18" charset="0"/>
              </a:rPr>
              <a:t>jo</a:t>
            </a:r>
            <a:r>
              <a:rPr lang="en-US" sz="2400" dirty="0" smtClean="0">
                <a:solidFill>
                  <a:schemeClr val="tx1"/>
                </a:solidFill>
                <a:latin typeface="Times New Roman" panose="02020603050405020304" pitchFamily="18" charset="0"/>
                <a:cs typeface="Times New Roman" panose="02020603050405020304" pitchFamily="18" charset="0"/>
              </a:rPr>
              <a:t> </a:t>
            </a:r>
            <a:r>
              <a:rPr lang="en-US" sz="2400" dirty="0" err="1" smtClean="0">
                <a:solidFill>
                  <a:schemeClr val="tx1"/>
                </a:solidFill>
                <a:latin typeface="Times New Roman" panose="02020603050405020304" pitchFamily="18" charset="0"/>
                <a:cs typeface="Times New Roman" panose="02020603050405020304" pitchFamily="18" charset="0"/>
              </a:rPr>
              <a:t>Daro</a:t>
            </a:r>
            <a:r>
              <a:rPr lang="en-US" sz="2400" dirty="0" smtClean="0">
                <a:solidFill>
                  <a:schemeClr val="tx1"/>
                </a:solidFill>
                <a:latin typeface="Times New Roman" panose="02020603050405020304" pitchFamily="18" charset="0"/>
                <a:cs typeface="Times New Roman" panose="02020603050405020304" pitchFamily="18" charset="0"/>
              </a:rPr>
              <a:t> is divided in two sites</a:t>
            </a:r>
            <a:br>
              <a:rPr lang="en-US" sz="2400" dirty="0" smtClean="0">
                <a:solidFill>
                  <a:schemeClr val="tx1"/>
                </a:solidFill>
                <a:latin typeface="Times New Roman" panose="02020603050405020304" pitchFamily="18" charset="0"/>
                <a:cs typeface="Times New Roman" panose="02020603050405020304" pitchFamily="18" charset="0"/>
              </a:rPr>
            </a:br>
            <a:r>
              <a:rPr lang="en-US" sz="2400" dirty="0" smtClean="0">
                <a:solidFill>
                  <a:schemeClr val="tx1"/>
                </a:solidFill>
                <a:latin typeface="Times New Roman" panose="02020603050405020304" pitchFamily="18" charset="0"/>
                <a:cs typeface="Times New Roman" panose="02020603050405020304" pitchFamily="18" charset="0"/>
              </a:rPr>
              <a:t/>
            </a:r>
            <a:br>
              <a:rPr lang="en-US" sz="2400" dirty="0" smtClean="0">
                <a:solidFill>
                  <a:schemeClr val="tx1"/>
                </a:solidFill>
                <a:latin typeface="Times New Roman" panose="02020603050405020304" pitchFamily="18" charset="0"/>
                <a:cs typeface="Times New Roman" panose="02020603050405020304" pitchFamily="18" charset="0"/>
              </a:rPr>
            </a:br>
            <a:r>
              <a:rPr lang="en-US" sz="2400" dirty="0" smtClean="0">
                <a:solidFill>
                  <a:schemeClr val="tx1"/>
                </a:solidFill>
                <a:latin typeface="Times New Roman" panose="02020603050405020304" pitchFamily="18" charset="0"/>
                <a:cs typeface="Times New Roman" panose="02020603050405020304" pitchFamily="18" charset="0"/>
              </a:rPr>
              <a:t>Religious Town                                                                 Lower Town (City)</a:t>
            </a:r>
            <a:br>
              <a:rPr lang="en-US" sz="2400" dirty="0" smtClean="0">
                <a:solidFill>
                  <a:schemeClr val="tx1"/>
                </a:solidFill>
                <a:latin typeface="Times New Roman" panose="02020603050405020304" pitchFamily="18" charset="0"/>
                <a:cs typeface="Times New Roman" panose="02020603050405020304" pitchFamily="18" charset="0"/>
              </a:rPr>
            </a:br>
            <a:r>
              <a:rPr lang="en-US" sz="2400" dirty="0" smtClean="0">
                <a:solidFill>
                  <a:schemeClr val="tx1"/>
                </a:solidFill>
                <a:latin typeface="Times New Roman" panose="02020603050405020304" pitchFamily="18" charset="0"/>
                <a:cs typeface="Times New Roman" panose="02020603050405020304" pitchFamily="18" charset="0"/>
              </a:rPr>
              <a:t>Used commercial and religious 							 Resident area</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3CC71A67-3160-4DB7-B24F-A90E07C5C322}" type="slidenum">
              <a:rPr lang="en-US" smtClean="0"/>
              <a:t>11</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87263"/>
            <a:ext cx="5862591" cy="3746319"/>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5283" y="3087264"/>
            <a:ext cx="5150760" cy="3746319"/>
          </a:xfrm>
          <a:prstGeom prst="rect">
            <a:avLst/>
          </a:prstGeom>
        </p:spPr>
      </p:pic>
    </p:spTree>
    <p:extLst>
      <p:ext uri="{BB962C8B-B14F-4D97-AF65-F5344CB8AC3E}">
        <p14:creationId xmlns:p14="http://schemas.microsoft.com/office/powerpoint/2010/main" val="15069518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093" y="365125"/>
            <a:ext cx="7431110" cy="1695495"/>
          </a:xfrm>
        </p:spPr>
        <p:txBody>
          <a:bodyPr>
            <a:normAutofit/>
          </a:bodyPr>
          <a:lstStyle/>
          <a:p>
            <a:r>
              <a:rPr lang="en-US" dirty="0" smtClean="0">
                <a:solidFill>
                  <a:schemeClr val="tx1"/>
                </a:solidFill>
                <a:latin typeface="Times New Roman" panose="02020603050405020304" pitchFamily="18" charset="0"/>
                <a:cs typeface="Times New Roman" panose="02020603050405020304" pitchFamily="18" charset="0"/>
              </a:rPr>
              <a:t>Streets: </a:t>
            </a:r>
            <a:br>
              <a:rPr lang="en-US" dirty="0" smtClean="0">
                <a:solidFill>
                  <a:schemeClr val="tx1"/>
                </a:solidFill>
                <a:latin typeface="Times New Roman" panose="02020603050405020304" pitchFamily="18" charset="0"/>
                <a:cs typeface="Times New Roman" panose="02020603050405020304" pitchFamily="18" charset="0"/>
              </a:rPr>
            </a:br>
            <a:r>
              <a:rPr lang="en-US" sz="2400" dirty="0" smtClean="0">
                <a:solidFill>
                  <a:schemeClr val="tx1"/>
                </a:solidFill>
                <a:latin typeface="Times New Roman" panose="02020603050405020304" pitchFamily="18" charset="0"/>
                <a:cs typeface="Times New Roman" panose="02020603050405020304" pitchFamily="18" charset="0"/>
              </a:rPr>
              <a:t>Streets intersected one another at a 90-degree angle.</a:t>
            </a:r>
            <a:br>
              <a:rPr lang="en-US" sz="2400" dirty="0" smtClean="0">
                <a:solidFill>
                  <a:schemeClr val="tx1"/>
                </a:solidFill>
                <a:latin typeface="Times New Roman" panose="02020603050405020304" pitchFamily="18" charset="0"/>
                <a:cs typeface="Times New Roman" panose="02020603050405020304" pitchFamily="18" charset="0"/>
              </a:rPr>
            </a:br>
            <a:r>
              <a:rPr lang="en-US" sz="2400" dirty="0" smtClean="0">
                <a:solidFill>
                  <a:schemeClr val="tx1"/>
                </a:solidFill>
                <a:latin typeface="Times New Roman" panose="02020603050405020304" pitchFamily="18" charset="0"/>
                <a:cs typeface="Times New Roman" panose="02020603050405020304" pitchFamily="18" charset="0"/>
              </a:rPr>
              <a:t> 30 feet wide average of Street.</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3CC71A67-3160-4DB7-B24F-A90E07C5C322}" type="slidenum">
              <a:rPr lang="en-US" smtClean="0"/>
              <a:t>12</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1440" y="732665"/>
            <a:ext cx="3985123" cy="5983668"/>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650" y="2919905"/>
            <a:ext cx="7008790" cy="3796428"/>
          </a:xfrm>
          <a:prstGeom prst="rect">
            <a:avLst/>
          </a:prstGeom>
        </p:spPr>
      </p:pic>
    </p:spTree>
    <p:extLst>
      <p:ext uri="{BB962C8B-B14F-4D97-AF65-F5344CB8AC3E}">
        <p14:creationId xmlns:p14="http://schemas.microsoft.com/office/powerpoint/2010/main" val="14051141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874" y="120426"/>
            <a:ext cx="2986825" cy="1325563"/>
          </a:xfrm>
        </p:spPr>
        <p:txBody>
          <a:bodyPr/>
          <a:lstStyle/>
          <a:p>
            <a:r>
              <a:rPr lang="en-US" dirty="0" smtClean="0">
                <a:solidFill>
                  <a:schemeClr val="tx1"/>
                </a:solidFill>
                <a:latin typeface="Times New Roman" panose="02020603050405020304" pitchFamily="18" charset="0"/>
                <a:cs typeface="Times New Roman" panose="02020603050405020304" pitchFamily="18" charset="0"/>
              </a:rPr>
              <a:t>Main Street:</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3CC71A67-3160-4DB7-B24F-A90E07C5C322}" type="slidenum">
              <a:rPr lang="en-US" smtClean="0"/>
              <a:t>13</a:t>
            </a:fld>
            <a:endParaRPr lang="en-US"/>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5874" y="1027905"/>
            <a:ext cx="6652496" cy="5553199"/>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8370" y="1027906"/>
            <a:ext cx="5211651" cy="5553198"/>
          </a:xfrm>
          <a:prstGeom prst="rect">
            <a:avLst/>
          </a:prstGeom>
        </p:spPr>
      </p:pic>
    </p:spTree>
    <p:extLst>
      <p:ext uri="{BB962C8B-B14F-4D97-AF65-F5344CB8AC3E}">
        <p14:creationId xmlns:p14="http://schemas.microsoft.com/office/powerpoint/2010/main" val="11636112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48991"/>
            <a:ext cx="8596668" cy="2262389"/>
          </a:xfrm>
        </p:spPr>
        <p:txBody>
          <a:bodyPr>
            <a:normAutofit fontScale="90000"/>
          </a:bodyPr>
          <a:lstStyle/>
          <a:p>
            <a:pPr algn="just"/>
            <a:r>
              <a:rPr lang="en-US" dirty="0" smtClean="0">
                <a:solidFill>
                  <a:schemeClr val="tx1"/>
                </a:solidFill>
                <a:latin typeface="Times New Roman" panose="02020603050405020304" pitchFamily="18" charset="0"/>
                <a:cs typeface="Times New Roman" panose="02020603050405020304" pitchFamily="18" charset="0"/>
              </a:rPr>
              <a:t>Great Bath:</a:t>
            </a:r>
            <a:br>
              <a:rPr lang="en-US" dirty="0" smtClean="0">
                <a:solidFill>
                  <a:schemeClr val="tx1"/>
                </a:solidFill>
                <a:latin typeface="Times New Roman" panose="02020603050405020304" pitchFamily="18" charset="0"/>
                <a:cs typeface="Times New Roman" panose="02020603050405020304" pitchFamily="18" charset="0"/>
              </a:rPr>
            </a:br>
            <a:r>
              <a:rPr lang="en-US" sz="2400" dirty="0" smtClean="0">
                <a:solidFill>
                  <a:schemeClr val="tx1"/>
                </a:solidFill>
                <a:latin typeface="Times New Roman" panose="02020603050405020304" pitchFamily="18" charset="0"/>
                <a:cs typeface="Times New Roman" panose="02020603050405020304" pitchFamily="18" charset="0"/>
              </a:rPr>
              <a:t>Many baths were found in the ruins </a:t>
            </a:r>
            <a:r>
              <a:rPr lang="en-US" sz="2400" dirty="0">
                <a:solidFill>
                  <a:schemeClr val="tx1"/>
                </a:solidFill>
                <a:latin typeface="Times New Roman" panose="02020603050405020304" pitchFamily="18" charset="0"/>
                <a:cs typeface="Times New Roman" panose="02020603050405020304" pitchFamily="18" charset="0"/>
              </a:rPr>
              <a:t>w</a:t>
            </a:r>
            <a:r>
              <a:rPr lang="en-US" sz="2400" dirty="0" smtClean="0">
                <a:solidFill>
                  <a:schemeClr val="tx1"/>
                </a:solidFill>
                <a:latin typeface="Times New Roman" panose="02020603050405020304" pitchFamily="18" charset="0"/>
                <a:cs typeface="Times New Roman" panose="02020603050405020304" pitchFamily="18" charset="0"/>
              </a:rPr>
              <a:t>hich shows their cleanliness &amp; hygienic practices. The great </a:t>
            </a:r>
            <a:r>
              <a:rPr lang="en-US" sz="2400" dirty="0">
                <a:solidFill>
                  <a:schemeClr val="tx1"/>
                </a:solidFill>
                <a:latin typeface="Times New Roman" panose="02020603050405020304" pitchFamily="18" charset="0"/>
                <a:cs typeface="Times New Roman" panose="02020603050405020304" pitchFamily="18" charset="0"/>
              </a:rPr>
              <a:t>bath (12x7 m </a:t>
            </a:r>
            <a:r>
              <a:rPr lang="en-US" sz="2400" dirty="0" smtClean="0">
                <a:solidFill>
                  <a:schemeClr val="tx1"/>
                </a:solidFill>
                <a:latin typeface="Times New Roman" panose="02020603050405020304" pitchFamily="18" charset="0"/>
                <a:cs typeface="Times New Roman" panose="02020603050405020304" pitchFamily="18" charset="0"/>
              </a:rPr>
              <a:t>wide and Its </a:t>
            </a:r>
            <a:r>
              <a:rPr lang="en-US" sz="2400" dirty="0" err="1" smtClean="0">
                <a:solidFill>
                  <a:schemeClr val="tx1"/>
                </a:solidFill>
                <a:latin typeface="Times New Roman" panose="02020603050405020304" pitchFamily="18" charset="0"/>
                <a:cs typeface="Times New Roman" panose="02020603050405020304" pitchFamily="18" charset="0"/>
              </a:rPr>
              <a:t>depath</a:t>
            </a:r>
            <a:r>
              <a:rPr lang="en-US" sz="2400" dirty="0" smtClean="0">
                <a:solidFill>
                  <a:schemeClr val="tx1"/>
                </a:solidFill>
                <a:latin typeface="Times New Roman" panose="02020603050405020304" pitchFamily="18" charset="0"/>
                <a:cs typeface="Times New Roman" panose="02020603050405020304" pitchFamily="18" charset="0"/>
              </a:rPr>
              <a:t> is maximum 2.4 m) of Mohan-</a:t>
            </a:r>
            <a:r>
              <a:rPr lang="en-US" sz="2400" dirty="0" err="1" smtClean="0">
                <a:solidFill>
                  <a:schemeClr val="tx1"/>
                </a:solidFill>
                <a:latin typeface="Times New Roman" panose="02020603050405020304" pitchFamily="18" charset="0"/>
                <a:cs typeface="Times New Roman" panose="02020603050405020304" pitchFamily="18" charset="0"/>
              </a:rPr>
              <a:t>jo</a:t>
            </a:r>
            <a:r>
              <a:rPr lang="en-US" sz="2400" dirty="0" smtClean="0">
                <a:solidFill>
                  <a:schemeClr val="tx1"/>
                </a:solidFill>
                <a:latin typeface="Times New Roman" panose="02020603050405020304" pitchFamily="18" charset="0"/>
                <a:cs typeface="Times New Roman" panose="02020603050405020304" pitchFamily="18" charset="0"/>
              </a:rPr>
              <a:t>-</a:t>
            </a:r>
            <a:r>
              <a:rPr lang="en-US" sz="2400" dirty="0" err="1" smtClean="0">
                <a:solidFill>
                  <a:schemeClr val="tx1"/>
                </a:solidFill>
                <a:latin typeface="Times New Roman" panose="02020603050405020304" pitchFamily="18" charset="0"/>
                <a:cs typeface="Times New Roman" panose="02020603050405020304" pitchFamily="18" charset="0"/>
              </a:rPr>
              <a:t>Daro</a:t>
            </a:r>
            <a:r>
              <a:rPr lang="en-US" sz="2400" dirty="0" smtClean="0">
                <a:solidFill>
                  <a:schemeClr val="tx1"/>
                </a:solidFill>
                <a:latin typeface="Times New Roman" panose="02020603050405020304" pitchFamily="18" charset="0"/>
                <a:cs typeface="Times New Roman" panose="02020603050405020304" pitchFamily="18" charset="0"/>
              </a:rPr>
              <a:t> was also used for rituals &amp; bathing purpose. Small rooms around the great bath were also discovered, which might be the changing rooms or small bathrooms. </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CC71A67-3160-4DB7-B24F-A90E07C5C322}" type="slidenum">
              <a:rPr lang="en-US" smtClean="0"/>
              <a:t>14</a:t>
            </a:fld>
            <a:endParaRPr lang="en-US"/>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7334" y="2511380"/>
            <a:ext cx="8440908" cy="4265565"/>
          </a:xfrm>
          <a:prstGeom prst="rect">
            <a:avLst/>
          </a:prstGeom>
        </p:spPr>
      </p:pic>
    </p:spTree>
    <p:extLst>
      <p:ext uri="{BB962C8B-B14F-4D97-AF65-F5344CB8AC3E}">
        <p14:creationId xmlns:p14="http://schemas.microsoft.com/office/powerpoint/2010/main" val="2514343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Great Bath:</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3CC71A67-3160-4DB7-B24F-A90E07C5C322}" type="slidenum">
              <a:rPr lang="en-US" smtClean="0"/>
              <a:t>15</a:t>
            </a:fld>
            <a:endParaRPr lang="en-US"/>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6500" y="1448743"/>
            <a:ext cx="8607502" cy="4957744"/>
          </a:xfrm>
          <a:prstGeom prst="rect">
            <a:avLst/>
          </a:prstGeom>
        </p:spPr>
      </p:pic>
    </p:spTree>
    <p:extLst>
      <p:ext uri="{BB962C8B-B14F-4D97-AF65-F5344CB8AC3E}">
        <p14:creationId xmlns:p14="http://schemas.microsoft.com/office/powerpoint/2010/main" val="5585753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954" y="1438977"/>
            <a:ext cx="5395176" cy="4765184"/>
          </a:xfrm>
        </p:spPr>
        <p:txBody>
          <a:bodyPr>
            <a:normAutofit/>
          </a:bodyPr>
          <a:lstStyle/>
          <a:p>
            <a:pPr algn="just"/>
            <a:r>
              <a:rPr lang="en-US" dirty="0" smtClean="0">
                <a:solidFill>
                  <a:schemeClr val="tx1"/>
                </a:solidFill>
              </a:rPr>
              <a:t>Government:</a:t>
            </a:r>
            <a:br>
              <a:rPr lang="en-US" dirty="0" smtClean="0">
                <a:solidFill>
                  <a:schemeClr val="tx1"/>
                </a:solidFill>
              </a:rPr>
            </a:br>
            <a:r>
              <a:rPr lang="en-US" sz="2800" dirty="0" smtClean="0">
                <a:solidFill>
                  <a:schemeClr val="tx1"/>
                </a:solidFill>
                <a:latin typeface="Times New Roman" panose="02020603050405020304" pitchFamily="18" charset="0"/>
                <a:cs typeface="Times New Roman" panose="02020603050405020304" pitchFamily="18" charset="0"/>
              </a:rPr>
              <a:t>There was no single ruler but several: The People of IVC enjoyed equal status. </a:t>
            </a:r>
            <a:br>
              <a:rPr lang="en-US" sz="2800" dirty="0" smtClean="0">
                <a:solidFill>
                  <a:schemeClr val="tx1"/>
                </a:solidFill>
                <a:latin typeface="Times New Roman" panose="02020603050405020304" pitchFamily="18" charset="0"/>
                <a:cs typeface="Times New Roman" panose="02020603050405020304" pitchFamily="18" charset="0"/>
              </a:rPr>
            </a:br>
            <a:r>
              <a:rPr lang="en-US" sz="2800" dirty="0" smtClean="0">
                <a:solidFill>
                  <a:schemeClr val="tx1"/>
                </a:solidFill>
                <a:latin typeface="Times New Roman" panose="02020603050405020304" pitchFamily="18" charset="0"/>
                <a:cs typeface="Times New Roman" panose="02020603050405020304" pitchFamily="18" charset="0"/>
              </a:rPr>
              <a:t>Sculpture founded from </a:t>
            </a:r>
            <a:r>
              <a:rPr lang="en-US" sz="2800" dirty="0" err="1" smtClean="0">
                <a:solidFill>
                  <a:schemeClr val="tx1"/>
                </a:solidFill>
                <a:latin typeface="Times New Roman" panose="02020603050405020304" pitchFamily="18" charset="0"/>
                <a:cs typeface="Times New Roman" panose="02020603050405020304" pitchFamily="18" charset="0"/>
              </a:rPr>
              <a:t>Mohen-jo-Daro</a:t>
            </a:r>
            <a:r>
              <a:rPr lang="en-US" sz="2800" dirty="0" smtClean="0">
                <a:solidFill>
                  <a:schemeClr val="tx1"/>
                </a:solidFill>
                <a:latin typeface="Times New Roman" panose="02020603050405020304" pitchFamily="18" charset="0"/>
                <a:cs typeface="Times New Roman" panose="02020603050405020304" pitchFamily="18" charset="0"/>
              </a:rPr>
              <a:t> called that Priest-King. </a:t>
            </a:r>
            <a:br>
              <a:rPr lang="en-US" sz="2800" dirty="0" smtClean="0">
                <a:solidFill>
                  <a:schemeClr val="tx1"/>
                </a:solidFill>
                <a:latin typeface="Times New Roman" panose="02020603050405020304" pitchFamily="18" charset="0"/>
                <a:cs typeface="Times New Roman" panose="02020603050405020304" pitchFamily="18" charset="0"/>
              </a:rPr>
            </a:br>
            <a:r>
              <a:rPr lang="en-US" sz="2800" dirty="0" smtClean="0">
                <a:solidFill>
                  <a:schemeClr val="tx1"/>
                </a:solidFill>
                <a:latin typeface="Times New Roman" panose="02020603050405020304" pitchFamily="18" charset="0"/>
                <a:cs typeface="Times New Roman" panose="02020603050405020304" pitchFamily="18" charset="0"/>
              </a:rPr>
              <a:t>Its height is 17.5 cm.</a:t>
            </a:r>
            <a:br>
              <a:rPr lang="en-US" sz="2800" dirty="0" smtClean="0">
                <a:solidFill>
                  <a:schemeClr val="tx1"/>
                </a:solidFill>
                <a:latin typeface="Times New Roman" panose="02020603050405020304" pitchFamily="18" charset="0"/>
                <a:cs typeface="Times New Roman" panose="02020603050405020304" pitchFamily="18" charset="0"/>
              </a:rPr>
            </a:br>
            <a:r>
              <a:rPr lang="en-US" sz="2800" dirty="0" smtClean="0">
                <a:solidFill>
                  <a:schemeClr val="tx1"/>
                </a:solidFill>
                <a:latin typeface="Times New Roman" panose="02020603050405020304" pitchFamily="18" charset="0"/>
                <a:cs typeface="Times New Roman" panose="02020603050405020304" pitchFamily="18" charset="0"/>
              </a:rPr>
              <a:t>Discovered in 1931.</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3CC71A67-3160-4DB7-B24F-A90E07C5C322}" type="slidenum">
              <a:rPr lang="en-US" smtClean="0"/>
              <a:t>16</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5244" y="1438977"/>
            <a:ext cx="5328556" cy="4536104"/>
          </a:xfrm>
          <a:prstGeom prst="rect">
            <a:avLst/>
          </a:prstGeom>
        </p:spPr>
      </p:pic>
    </p:spTree>
    <p:extLst>
      <p:ext uri="{BB962C8B-B14F-4D97-AF65-F5344CB8AC3E}">
        <p14:creationId xmlns:p14="http://schemas.microsoft.com/office/powerpoint/2010/main" val="20161398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3656527" cy="1325563"/>
          </a:xfrm>
        </p:spPr>
        <p:txBody>
          <a:bodyPr>
            <a:normAutofit fontScale="90000"/>
          </a:bodyPr>
          <a:lstStyle/>
          <a:p>
            <a:r>
              <a:rPr lang="en-US" dirty="0" err="1" smtClean="0">
                <a:solidFill>
                  <a:schemeClr val="tx1"/>
                </a:solidFill>
              </a:rPr>
              <a:t>Sambara</a:t>
            </a:r>
            <a:r>
              <a:rPr lang="en-US" dirty="0" smtClean="0">
                <a:solidFill>
                  <a:schemeClr val="tx1"/>
                </a:solidFill>
              </a:rPr>
              <a:t>:</a:t>
            </a:r>
            <a:br>
              <a:rPr lang="en-US" dirty="0" smtClean="0">
                <a:solidFill>
                  <a:schemeClr val="tx1"/>
                </a:solidFill>
              </a:rPr>
            </a:br>
            <a:r>
              <a:rPr lang="en-US" sz="2800" dirty="0" smtClean="0">
                <a:solidFill>
                  <a:schemeClr val="tx1"/>
                </a:solidFill>
                <a:latin typeface="Times New Roman" panose="02020603050405020304" pitchFamily="18" charset="0"/>
                <a:cs typeface="Times New Roman" panose="02020603050405020304" pitchFamily="18" charset="0"/>
              </a:rPr>
              <a:t>Its height is 10.5cm</a:t>
            </a:r>
            <a:br>
              <a:rPr lang="en-US" sz="2800" dirty="0" smtClean="0">
                <a:solidFill>
                  <a:schemeClr val="tx1"/>
                </a:solidFill>
                <a:latin typeface="Times New Roman" panose="02020603050405020304" pitchFamily="18" charset="0"/>
                <a:cs typeface="Times New Roman" panose="02020603050405020304" pitchFamily="18" charset="0"/>
              </a:rPr>
            </a:br>
            <a:r>
              <a:rPr lang="en-US" sz="2800" dirty="0" smtClean="0">
                <a:solidFill>
                  <a:schemeClr val="tx1"/>
                </a:solidFill>
                <a:latin typeface="Times New Roman" panose="02020603050405020304" pitchFamily="18" charset="0"/>
                <a:cs typeface="Times New Roman" panose="02020603050405020304" pitchFamily="18" charset="0"/>
              </a:rPr>
              <a:t>founded in 1926.</a:t>
            </a:r>
            <a:endParaRPr lang="en-US" dirty="0">
              <a:solidFill>
                <a:schemeClr val="tx1"/>
              </a:solidFill>
            </a:endParaRPr>
          </a:p>
        </p:txBody>
      </p:sp>
      <p:sp>
        <p:nvSpPr>
          <p:cNvPr id="5" name="Slide Number Placeholder 4"/>
          <p:cNvSpPr>
            <a:spLocks noGrp="1"/>
          </p:cNvSpPr>
          <p:nvPr>
            <p:ph type="sldNum" sz="quarter" idx="12"/>
          </p:nvPr>
        </p:nvSpPr>
        <p:spPr/>
        <p:txBody>
          <a:bodyPr/>
          <a:lstStyle/>
          <a:p>
            <a:fld id="{3CC71A67-3160-4DB7-B24F-A90E07C5C322}" type="slidenum">
              <a:rPr lang="en-US" smtClean="0"/>
              <a:t>17</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760" y="1813500"/>
            <a:ext cx="6061523" cy="4207999"/>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8260" y="579548"/>
            <a:ext cx="3865540" cy="6013063"/>
          </a:xfrm>
          <a:prstGeom prst="rect">
            <a:avLst/>
          </a:prstGeom>
        </p:spPr>
      </p:pic>
    </p:spTree>
    <p:extLst>
      <p:ext uri="{BB962C8B-B14F-4D97-AF65-F5344CB8AC3E}">
        <p14:creationId xmlns:p14="http://schemas.microsoft.com/office/powerpoint/2010/main" val="239810416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104" y="154545"/>
            <a:ext cx="5343659" cy="2253804"/>
          </a:xfrm>
        </p:spPr>
        <p:txBody>
          <a:bodyPr>
            <a:normAutofit fontScale="90000"/>
          </a:bodyPr>
          <a:lstStyle/>
          <a:p>
            <a:r>
              <a:rPr lang="en-US" dirty="0" smtClean="0">
                <a:solidFill>
                  <a:schemeClr val="tx1"/>
                </a:solidFill>
              </a:rPr>
              <a:t>Scale:</a:t>
            </a:r>
            <a:br>
              <a:rPr lang="en-US" dirty="0" smtClean="0">
                <a:solidFill>
                  <a:schemeClr val="tx1"/>
                </a:solidFill>
              </a:rPr>
            </a:br>
            <a:r>
              <a:rPr lang="en-US" sz="2400" dirty="0" smtClean="0">
                <a:solidFill>
                  <a:schemeClr val="tx1"/>
                </a:solidFill>
                <a:latin typeface="Times New Roman" panose="02020603050405020304" pitchFamily="18" charset="0"/>
                <a:cs typeface="Times New Roman" panose="02020603050405020304" pitchFamily="18" charset="0"/>
              </a:rPr>
              <a:t>The people of IVC achieved great accuracy in measuring length, mass and time.</a:t>
            </a:r>
            <a:br>
              <a:rPr lang="en-US" sz="2400" dirty="0" smtClean="0">
                <a:solidFill>
                  <a:schemeClr val="tx1"/>
                </a:solidFill>
                <a:latin typeface="Times New Roman" panose="02020603050405020304" pitchFamily="18" charset="0"/>
                <a:cs typeface="Times New Roman" panose="02020603050405020304" pitchFamily="18" charset="0"/>
              </a:rPr>
            </a:br>
            <a:r>
              <a:rPr lang="en-US" sz="2400" dirty="0" smtClean="0">
                <a:solidFill>
                  <a:schemeClr val="tx1"/>
                </a:solidFill>
                <a:latin typeface="Times New Roman" panose="02020603050405020304" pitchFamily="18" charset="0"/>
                <a:cs typeface="Times New Roman" panose="02020603050405020304" pitchFamily="18" charset="0"/>
              </a:rPr>
              <a:t>They were among the first to developed a system of uniform weights and measure.</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3CC71A67-3160-4DB7-B24F-A90E07C5C322}" type="slidenum">
              <a:rPr lang="en-US" smtClean="0"/>
              <a:t>18</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9236" y="477759"/>
            <a:ext cx="5675811" cy="5768495"/>
          </a:xfrm>
          <a:prstGeom prst="rect">
            <a:avLst/>
          </a:prstGeom>
        </p:spPr>
      </p:pic>
    </p:spTree>
    <p:extLst>
      <p:ext uri="{BB962C8B-B14F-4D97-AF65-F5344CB8AC3E}">
        <p14:creationId xmlns:p14="http://schemas.microsoft.com/office/powerpoint/2010/main" val="24820169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4751231" cy="4090965"/>
          </a:xfrm>
        </p:spPr>
        <p:txBody>
          <a:bodyPr>
            <a:normAutofit/>
          </a:bodyPr>
          <a:lstStyle/>
          <a:p>
            <a:r>
              <a:rPr lang="en-US" dirty="0" smtClean="0">
                <a:solidFill>
                  <a:schemeClr val="tx1"/>
                </a:solidFill>
              </a:rPr>
              <a:t>Writing:</a:t>
            </a:r>
            <a:br>
              <a:rPr lang="en-US" dirty="0" smtClean="0">
                <a:solidFill>
                  <a:schemeClr val="tx1"/>
                </a:solidFill>
              </a:rPr>
            </a:br>
            <a:r>
              <a:rPr lang="en-US" sz="2200" dirty="0" smtClean="0">
                <a:solidFill>
                  <a:schemeClr val="tx1"/>
                </a:solidFill>
                <a:latin typeface="Times New Roman" panose="02020603050405020304" pitchFamily="18" charset="0"/>
                <a:cs typeface="Times New Roman" panose="02020603050405020304" pitchFamily="18" charset="0"/>
              </a:rPr>
              <a:t>Between 400 and as many 600 distinct Indus symbols have been founded on seals, small tablets, ceramic pots and more then a dozen other materials. </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CC71A67-3160-4DB7-B24F-A90E07C5C322}" type="slidenum">
              <a:rPr lang="en-US" smtClean="0"/>
              <a:t>19</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1113" y="1690688"/>
            <a:ext cx="5572443" cy="4541541"/>
          </a:xfrm>
          <a:prstGeom prst="rect">
            <a:avLst/>
          </a:prstGeom>
        </p:spPr>
      </p:pic>
    </p:spTree>
    <p:extLst>
      <p:ext uri="{BB962C8B-B14F-4D97-AF65-F5344CB8AC3E}">
        <p14:creationId xmlns:p14="http://schemas.microsoft.com/office/powerpoint/2010/main" val="146223737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latin typeface="Times New Roman" panose="02020603050405020304" pitchFamily="18" charset="0"/>
                <a:cs typeface="Times New Roman" panose="02020603050405020304" pitchFamily="18" charset="0"/>
              </a:rPr>
              <a:t>Seals</a:t>
            </a:r>
            <a:br>
              <a:rPr lang="en-US" dirty="0" smtClean="0">
                <a:solidFill>
                  <a:schemeClr val="tx1"/>
                </a:solidFill>
                <a:latin typeface="Times New Roman" panose="02020603050405020304" pitchFamily="18" charset="0"/>
                <a:cs typeface="Times New Roman" panose="02020603050405020304" pitchFamily="18" charset="0"/>
              </a:rPr>
            </a:br>
            <a:r>
              <a:rPr lang="en-US" dirty="0" smtClean="0">
                <a:solidFill>
                  <a:schemeClr val="tx1"/>
                </a:solidFill>
                <a:latin typeface="Times New Roman" panose="02020603050405020304" pitchFamily="18" charset="0"/>
                <a:cs typeface="Times New Roman" panose="02020603050405020304" pitchFamily="18" charset="0"/>
              </a:rPr>
              <a:t>There were 891 Seal found. </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3CC71A67-3160-4DB7-B24F-A90E07C5C322}" type="slidenum">
              <a:rPr lang="en-US" smtClean="0"/>
              <a:t>20</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904" y="1690689"/>
            <a:ext cx="4466674" cy="4239692"/>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29578" y="1690689"/>
            <a:ext cx="5453016" cy="4088550"/>
          </a:xfrm>
          <a:prstGeom prst="rect">
            <a:avLst/>
          </a:prstGeom>
        </p:spPr>
      </p:pic>
    </p:spTree>
    <p:extLst>
      <p:ext uri="{BB962C8B-B14F-4D97-AF65-F5344CB8AC3E}">
        <p14:creationId xmlns:p14="http://schemas.microsoft.com/office/powerpoint/2010/main" val="25382522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5820177" cy="4374300"/>
          </a:xfrm>
        </p:spPr>
        <p:txBody>
          <a:bodyPr>
            <a:normAutofit/>
          </a:bodyPr>
          <a:lstStyle/>
          <a:p>
            <a:pPr algn="just"/>
            <a:r>
              <a:rPr lang="en-US" dirty="0">
                <a:solidFill>
                  <a:schemeClr val="tx1"/>
                </a:solidFill>
              </a:rPr>
              <a:t>J</a:t>
            </a:r>
            <a:r>
              <a:rPr lang="en-US" dirty="0" smtClean="0">
                <a:solidFill>
                  <a:schemeClr val="tx1"/>
                </a:solidFill>
              </a:rPr>
              <a:t>ewelry:</a:t>
            </a:r>
            <a:br>
              <a:rPr lang="en-US" dirty="0" smtClean="0">
                <a:solidFill>
                  <a:schemeClr val="tx1"/>
                </a:solidFill>
              </a:rPr>
            </a:br>
            <a:r>
              <a:rPr lang="en-US" sz="2400" dirty="0" smtClean="0">
                <a:solidFill>
                  <a:schemeClr val="tx1"/>
                </a:solidFill>
                <a:latin typeface="Times New Roman" panose="02020603050405020304" pitchFamily="18" charset="0"/>
                <a:cs typeface="Times New Roman" panose="02020603050405020304" pitchFamily="18" charset="0"/>
              </a:rPr>
              <a:t>Various Sculptures and Women and Men were founded wearing different kind of Jewelry. </a:t>
            </a:r>
            <a:r>
              <a:rPr lang="en-US" sz="2400" dirty="0">
                <a:solidFill>
                  <a:schemeClr val="tx1"/>
                </a:solidFill>
                <a:latin typeface="Times New Roman" panose="02020603050405020304" pitchFamily="18" charset="0"/>
                <a:cs typeface="Times New Roman" panose="02020603050405020304" pitchFamily="18" charset="0"/>
              </a:rPr>
              <a:t>Archaeologists have found evidence that Indus Valley people wore lots of </a:t>
            </a:r>
            <a:r>
              <a:rPr lang="en-US" sz="2400" dirty="0" smtClean="0">
                <a:solidFill>
                  <a:schemeClr val="tx1"/>
                </a:solidFill>
                <a:latin typeface="Times New Roman" panose="02020603050405020304" pitchFamily="18" charset="0"/>
                <a:cs typeface="Times New Roman" panose="02020603050405020304" pitchFamily="18" charset="0"/>
              </a:rPr>
              <a:t>jewelry, </a:t>
            </a:r>
            <a:r>
              <a:rPr lang="en-US" sz="2400" dirty="0">
                <a:solidFill>
                  <a:schemeClr val="tx1"/>
                </a:solidFill>
                <a:latin typeface="Times New Roman" panose="02020603050405020304" pitchFamily="18" charset="0"/>
                <a:cs typeface="Times New Roman" panose="02020603050405020304" pitchFamily="18" charset="0"/>
              </a:rPr>
              <a:t>especially beads, necklaces, ear-rings and ear-studs, amulets, bangles and brooches.</a:t>
            </a:r>
          </a:p>
        </p:txBody>
      </p:sp>
      <p:sp>
        <p:nvSpPr>
          <p:cNvPr id="3" name="Slide Number Placeholder 2"/>
          <p:cNvSpPr>
            <a:spLocks noGrp="1"/>
          </p:cNvSpPr>
          <p:nvPr>
            <p:ph type="sldNum" sz="quarter" idx="12"/>
          </p:nvPr>
        </p:nvSpPr>
        <p:spPr/>
        <p:txBody>
          <a:bodyPr/>
          <a:lstStyle/>
          <a:p>
            <a:fld id="{3CC71A67-3160-4DB7-B24F-A90E07C5C322}" type="slidenum">
              <a:rPr lang="en-US" smtClean="0"/>
              <a:t>21</a:t>
            </a:fld>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021" y="3224492"/>
            <a:ext cx="4932534" cy="3633508"/>
          </a:xfrm>
          <a:prstGeom prst="rect">
            <a:avLst/>
          </a:prstGeom>
        </p:spPr>
      </p:pic>
    </p:spTree>
    <p:extLst>
      <p:ext uri="{BB962C8B-B14F-4D97-AF65-F5344CB8AC3E}">
        <p14:creationId xmlns:p14="http://schemas.microsoft.com/office/powerpoint/2010/main" val="6486269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925" y="2009103"/>
            <a:ext cx="4995930" cy="1390918"/>
          </a:xfrm>
        </p:spPr>
        <p:txBody>
          <a:bodyPr>
            <a:normAutofit fontScale="90000"/>
          </a:bodyPr>
          <a:lstStyle/>
          <a:p>
            <a:r>
              <a:rPr lang="en-US" dirty="0" smtClean="0">
                <a:solidFill>
                  <a:schemeClr val="tx1"/>
                </a:solidFill>
              </a:rPr>
              <a:t>Bull and Cart:</a:t>
            </a:r>
            <a:br>
              <a:rPr lang="en-US" dirty="0" smtClean="0">
                <a:solidFill>
                  <a:schemeClr val="tx1"/>
                </a:solidFill>
              </a:rPr>
            </a:br>
            <a:r>
              <a:rPr lang="en-US" sz="2400" dirty="0" smtClean="0">
                <a:solidFill>
                  <a:schemeClr val="tx1"/>
                </a:solidFill>
                <a:latin typeface="Times New Roman" panose="02020603050405020304" pitchFamily="18" charset="0"/>
                <a:cs typeface="Times New Roman" panose="02020603050405020304" pitchFamily="18" charset="0"/>
              </a:rPr>
              <a:t>Indus Valley Civilization has been  the first Civilization to used Wheel Transport.</a:t>
            </a:r>
            <a:endParaRPr lang="en-US" dirty="0">
              <a:solidFill>
                <a:schemeClr val="tx1"/>
              </a:solidFill>
            </a:endParaRPr>
          </a:p>
        </p:txBody>
      </p:sp>
      <p:sp>
        <p:nvSpPr>
          <p:cNvPr id="5" name="Slide Number Placeholder 4"/>
          <p:cNvSpPr>
            <a:spLocks noGrp="1"/>
          </p:cNvSpPr>
          <p:nvPr>
            <p:ph type="sldNum" sz="quarter" idx="12"/>
          </p:nvPr>
        </p:nvSpPr>
        <p:spPr/>
        <p:txBody>
          <a:bodyPr/>
          <a:lstStyle/>
          <a:p>
            <a:fld id="{3CC71A67-3160-4DB7-B24F-A90E07C5C322}" type="slidenum">
              <a:rPr lang="en-US" smtClean="0"/>
              <a:t>22</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7783" y="1008816"/>
            <a:ext cx="4557082" cy="283967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5163" y="3912734"/>
            <a:ext cx="4408637" cy="2945266"/>
          </a:xfrm>
          <a:prstGeom prst="rect">
            <a:avLst/>
          </a:prstGeom>
        </p:spPr>
      </p:pic>
    </p:spTree>
    <p:extLst>
      <p:ext uri="{BB962C8B-B14F-4D97-AF65-F5344CB8AC3E}">
        <p14:creationId xmlns:p14="http://schemas.microsoft.com/office/powerpoint/2010/main" val="347350563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Wells</a:t>
            </a:r>
            <a:r>
              <a:rPr lang="en-US" dirty="0" smtClean="0"/>
              <a:t> </a:t>
            </a:r>
            <a:endParaRPr lang="en-US" dirty="0"/>
          </a:p>
        </p:txBody>
      </p:sp>
      <p:sp>
        <p:nvSpPr>
          <p:cNvPr id="6" name="Slide Number Placeholder 5"/>
          <p:cNvSpPr>
            <a:spLocks noGrp="1"/>
          </p:cNvSpPr>
          <p:nvPr>
            <p:ph type="sldNum" sz="quarter" idx="12"/>
          </p:nvPr>
        </p:nvSpPr>
        <p:spPr/>
        <p:txBody>
          <a:bodyPr/>
          <a:lstStyle/>
          <a:p>
            <a:fld id="{3CC71A67-3160-4DB7-B24F-A90E07C5C322}" type="slidenum">
              <a:rPr lang="en-US" smtClean="0"/>
              <a:t>23</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622" y="2129246"/>
            <a:ext cx="4702107" cy="3529715"/>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46468" y="365125"/>
            <a:ext cx="4371701" cy="3278776"/>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38604" y="3643900"/>
            <a:ext cx="3148149" cy="3148149"/>
          </a:xfrm>
          <a:prstGeom prst="rect">
            <a:avLst/>
          </a:prstGeom>
        </p:spPr>
      </p:pic>
    </p:spTree>
    <p:extLst>
      <p:ext uri="{BB962C8B-B14F-4D97-AF65-F5344CB8AC3E}">
        <p14:creationId xmlns:p14="http://schemas.microsoft.com/office/powerpoint/2010/main" val="172953161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103" y="584066"/>
            <a:ext cx="4963570" cy="1450796"/>
          </a:xfrm>
        </p:spPr>
        <p:txBody>
          <a:bodyPr>
            <a:normAutofit fontScale="90000"/>
          </a:bodyPr>
          <a:lstStyle/>
          <a:p>
            <a:r>
              <a:rPr lang="en-US" dirty="0" smtClean="0">
                <a:solidFill>
                  <a:schemeClr val="tx1"/>
                </a:solidFill>
              </a:rPr>
              <a:t>Drainage:</a:t>
            </a:r>
            <a:br>
              <a:rPr lang="en-US" dirty="0" smtClean="0">
                <a:solidFill>
                  <a:schemeClr val="tx1"/>
                </a:solidFill>
              </a:rPr>
            </a:br>
            <a:r>
              <a:rPr lang="en-US" sz="2400" dirty="0" smtClean="0">
                <a:solidFill>
                  <a:schemeClr val="tx1"/>
                </a:solidFill>
                <a:latin typeface="Times New Roman" panose="02020603050405020304" pitchFamily="18" charset="0"/>
                <a:cs typeface="Times New Roman" panose="02020603050405020304" pitchFamily="18" charset="0"/>
              </a:rPr>
              <a:t>There Drainage system was the most significant in the ancient world. </a:t>
            </a:r>
            <a:r>
              <a:rPr lang="en-US" dirty="0" smtClean="0">
                <a:solidFill>
                  <a:schemeClr val="tx1"/>
                </a:solidFill>
              </a:rPr>
              <a:t> </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3CC71A67-3160-4DB7-B24F-A90E07C5C322}" type="slidenum">
              <a:rPr lang="en-US" smtClean="0"/>
              <a:t>24</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457" y="2107090"/>
            <a:ext cx="4178353" cy="4616662"/>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88810" y="584066"/>
            <a:ext cx="3755945" cy="2816958"/>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88810" y="3354734"/>
            <a:ext cx="3755945" cy="3513147"/>
          </a:xfrm>
          <a:prstGeom prst="rect">
            <a:avLst/>
          </a:prstGeom>
        </p:spPr>
      </p:pic>
    </p:spTree>
    <p:extLst>
      <p:ext uri="{BB962C8B-B14F-4D97-AF65-F5344CB8AC3E}">
        <p14:creationId xmlns:p14="http://schemas.microsoft.com/office/powerpoint/2010/main" val="7594740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chemeClr val="tx1"/>
                </a:solidFill>
              </a:rPr>
              <a:t>DustBin</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3CC71A67-3160-4DB7-B24F-A90E07C5C322}" type="slidenum">
              <a:rPr lang="en-US" smtClean="0"/>
              <a:t>25</a:t>
            </a:fld>
            <a:endParaRPr lang="en-US"/>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3371" y="1863633"/>
            <a:ext cx="8247018" cy="4856577"/>
          </a:xfrm>
          <a:prstGeom prst="rect">
            <a:avLst/>
          </a:prstGeom>
        </p:spPr>
      </p:pic>
    </p:spTree>
    <p:extLst>
      <p:ext uri="{BB962C8B-B14F-4D97-AF65-F5344CB8AC3E}">
        <p14:creationId xmlns:p14="http://schemas.microsoft.com/office/powerpoint/2010/main" val="244123339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72971" y="14758"/>
            <a:ext cx="5769497" cy="848127"/>
          </a:xfrm>
        </p:spPr>
        <p:txBody>
          <a:bodyPr/>
          <a:lstStyle/>
          <a:p>
            <a:pPr algn="l"/>
            <a:r>
              <a:rPr lang="en-US" sz="1800" b="1" dirty="0" smtClean="0">
                <a:solidFill>
                  <a:schemeClr val="tx1"/>
                </a:solidFill>
                <a:latin typeface="Times New Roman" panose="02020603050405020304" pitchFamily="18" charset="0"/>
                <a:cs typeface="Times New Roman" panose="02020603050405020304" pitchFamily="18" charset="0"/>
              </a:rPr>
              <a:t>Decline of Indus Valley Civilization: </a:t>
            </a:r>
            <a:r>
              <a:rPr lang="en-US" sz="1800" b="1" dirty="0"/>
              <a:t/>
            </a:r>
            <a:br>
              <a:rPr lang="en-US" sz="1800" b="1" dirty="0"/>
            </a:br>
            <a:endParaRPr lang="en-US" sz="1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43944" y="605307"/>
            <a:ext cx="8886661" cy="5178477"/>
          </a:xfrm>
        </p:spPr>
        <p:txBody>
          <a:bodyPr>
            <a:noAutofit/>
          </a:bodyPr>
          <a:lstStyle/>
          <a:p>
            <a:pPr marL="342900" indent="-342900" algn="just">
              <a:buFont typeface="Wingdings" panose="05000000000000000000" pitchFamily="2" charset="2"/>
              <a:buChar char="Ø"/>
            </a:pPr>
            <a:endParaRPr lang="en-US" sz="2000" dirty="0" smtClean="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smtClean="0">
                <a:solidFill>
                  <a:schemeClr val="tx1"/>
                </a:solidFill>
                <a:latin typeface="Times New Roman" panose="02020603050405020304" pitchFamily="18" charset="0"/>
                <a:cs typeface="Times New Roman" panose="02020603050405020304" pitchFamily="18" charset="0"/>
              </a:rPr>
              <a:t>Historian </a:t>
            </a:r>
            <a:r>
              <a:rPr lang="en-US" sz="2000" dirty="0">
                <a:solidFill>
                  <a:schemeClr val="tx1"/>
                </a:solidFill>
                <a:latin typeface="Times New Roman" panose="02020603050405020304" pitchFamily="18" charset="0"/>
                <a:cs typeface="Times New Roman" panose="02020603050405020304" pitchFamily="18" charset="0"/>
              </a:rPr>
              <a:t>wrote that the Mohan-Jo-</a:t>
            </a:r>
            <a:r>
              <a:rPr lang="en-US" sz="2000" dirty="0" err="1">
                <a:solidFill>
                  <a:schemeClr val="tx1"/>
                </a:solidFill>
                <a:latin typeface="Times New Roman" panose="02020603050405020304" pitchFamily="18" charset="0"/>
                <a:cs typeface="Times New Roman" panose="02020603050405020304" pitchFamily="18" charset="0"/>
              </a:rPr>
              <a:t>Daro</a:t>
            </a:r>
            <a:r>
              <a:rPr lang="en-US" sz="2000" dirty="0">
                <a:solidFill>
                  <a:schemeClr val="tx1"/>
                </a:solidFill>
                <a:latin typeface="Times New Roman" panose="02020603050405020304" pitchFamily="18" charset="0"/>
                <a:cs typeface="Times New Roman" panose="02020603050405020304" pitchFamily="18" charset="0"/>
              </a:rPr>
              <a:t> destroyed Seven </a:t>
            </a:r>
            <a:r>
              <a:rPr lang="en-US" sz="2000" dirty="0" smtClean="0">
                <a:solidFill>
                  <a:schemeClr val="tx1"/>
                </a:solidFill>
                <a:latin typeface="Times New Roman" panose="02020603050405020304" pitchFamily="18" charset="0"/>
                <a:cs typeface="Times New Roman" panose="02020603050405020304" pitchFamily="18" charset="0"/>
              </a:rPr>
              <a:t>time!</a:t>
            </a:r>
          </a:p>
          <a:p>
            <a:pPr marL="342900" indent="-342900" algn="just">
              <a:buFont typeface="Wingdings" panose="05000000000000000000" pitchFamily="2" charset="2"/>
              <a:buChar char="Ø"/>
            </a:pPr>
            <a:r>
              <a:rPr lang="en-US" sz="2000" dirty="0" smtClean="0">
                <a:solidFill>
                  <a:schemeClr val="tx1"/>
                </a:solidFill>
                <a:latin typeface="Times New Roman" panose="02020603050405020304" pitchFamily="18" charset="0"/>
                <a:cs typeface="Times New Roman" panose="02020603050405020304" pitchFamily="18" charset="0"/>
              </a:rPr>
              <a:t>They </a:t>
            </a:r>
            <a:r>
              <a:rPr lang="en-US" sz="2000" dirty="0">
                <a:solidFill>
                  <a:schemeClr val="tx1"/>
                </a:solidFill>
                <a:latin typeface="Times New Roman" panose="02020603050405020304" pitchFamily="18" charset="0"/>
                <a:cs typeface="Times New Roman" panose="02020603050405020304" pitchFamily="18" charset="0"/>
              </a:rPr>
              <a:t>also believe that it was a combined of various factors</a:t>
            </a:r>
            <a:r>
              <a:rPr lang="en-US" sz="2000" dirty="0" smtClean="0">
                <a:solidFill>
                  <a:schemeClr val="tx1"/>
                </a:solidFill>
                <a:latin typeface="Times New Roman" panose="02020603050405020304" pitchFamily="18" charset="0"/>
                <a:cs typeface="Times New Roman" panose="02020603050405020304" pitchFamily="18" charset="0"/>
              </a:rPr>
              <a:t>:</a:t>
            </a:r>
            <a:endParaRPr lang="en-US" sz="2000" b="1"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b="1" dirty="0" smtClean="0">
                <a:solidFill>
                  <a:schemeClr val="tx1"/>
                </a:solidFill>
                <a:latin typeface="Times New Roman" panose="02020603050405020304" pitchFamily="18" charset="0"/>
                <a:cs typeface="Times New Roman" panose="02020603050405020304" pitchFamily="18" charset="0"/>
              </a:rPr>
              <a:t>Natural </a:t>
            </a:r>
            <a:r>
              <a:rPr lang="en-US" sz="2000" b="1" dirty="0">
                <a:solidFill>
                  <a:schemeClr val="tx1"/>
                </a:solidFill>
                <a:latin typeface="Times New Roman" panose="02020603050405020304" pitchFamily="18" charset="0"/>
                <a:cs typeface="Times New Roman" panose="02020603050405020304" pitchFamily="18" charset="0"/>
              </a:rPr>
              <a:t>disasters, </a:t>
            </a:r>
            <a:r>
              <a:rPr lang="en-US" sz="2000" dirty="0" smtClean="0">
                <a:solidFill>
                  <a:schemeClr val="tx1"/>
                </a:solidFill>
                <a:latin typeface="Times New Roman" panose="02020603050405020304" pitchFamily="18" charset="0"/>
                <a:cs typeface="Times New Roman" panose="02020603050405020304" pitchFamily="18" charset="0"/>
              </a:rPr>
              <a:t>although </a:t>
            </a:r>
            <a:r>
              <a:rPr lang="en-US" sz="2000" dirty="0">
                <a:solidFill>
                  <a:schemeClr val="tx1"/>
                </a:solidFill>
                <a:latin typeface="Times New Roman" panose="02020603050405020304" pitchFamily="18" charset="0"/>
                <a:cs typeface="Times New Roman" panose="02020603050405020304" pitchFamily="18" charset="0"/>
              </a:rPr>
              <a:t>not always immediate or singular, may have a role.</a:t>
            </a:r>
          </a:p>
          <a:p>
            <a:pPr marL="285750" indent="-285750" algn="just">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There are silt </a:t>
            </a:r>
            <a:r>
              <a:rPr lang="en-US" sz="2000" dirty="0" smtClean="0">
                <a:solidFill>
                  <a:schemeClr val="tx1"/>
                </a:solidFill>
                <a:latin typeface="Times New Roman" panose="02020603050405020304" pitchFamily="18" charset="0"/>
                <a:cs typeface="Times New Roman" panose="02020603050405020304" pitchFamily="18" charset="0"/>
              </a:rPr>
              <a:t>waste </a:t>
            </a:r>
            <a:r>
              <a:rPr lang="en-US" sz="2000" dirty="0">
                <a:solidFill>
                  <a:schemeClr val="tx1"/>
                </a:solidFill>
                <a:latin typeface="Times New Roman" panose="02020603050405020304" pitchFamily="18" charset="0"/>
                <a:cs typeface="Times New Roman" panose="02020603050405020304" pitchFamily="18" charset="0"/>
              </a:rPr>
              <a:t>intervening between eras of settlement at numerous Indus towns, including </a:t>
            </a:r>
            <a:r>
              <a:rPr lang="en-US" sz="2000" b="1" dirty="0" err="1">
                <a:solidFill>
                  <a:schemeClr val="tx1"/>
                </a:solidFill>
                <a:latin typeface="Times New Roman" panose="02020603050405020304" pitchFamily="18" charset="0"/>
                <a:cs typeface="Times New Roman" panose="02020603050405020304" pitchFamily="18" charset="0"/>
              </a:rPr>
              <a:t>Mohenjodaro</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Chanhudaro</a:t>
            </a:r>
            <a:r>
              <a:rPr lang="en-US" sz="2000" b="1" dirty="0" smtClean="0">
                <a:solidFill>
                  <a:schemeClr val="tx1"/>
                </a:solidFill>
                <a:latin typeface="Times New Roman" panose="02020603050405020304" pitchFamily="18" charset="0"/>
                <a:cs typeface="Times New Roman" panose="02020603050405020304" pitchFamily="18" charset="0"/>
              </a:rPr>
              <a:t>, (Discovered in </a:t>
            </a:r>
            <a:r>
              <a:rPr lang="en-US" sz="2000" dirty="0" smtClean="0">
                <a:solidFill>
                  <a:schemeClr val="tx1"/>
                </a:solidFill>
                <a:latin typeface="Times New Roman" panose="02020603050405020304" pitchFamily="18" charset="0"/>
                <a:cs typeface="Times New Roman" panose="02020603050405020304" pitchFamily="18" charset="0"/>
              </a:rPr>
              <a:t>1931 </a:t>
            </a:r>
            <a:r>
              <a:rPr lang="en-US" sz="2000" dirty="0">
                <a:solidFill>
                  <a:schemeClr val="tx1"/>
                </a:solidFill>
                <a:latin typeface="Times New Roman" panose="02020603050405020304" pitchFamily="18" charset="0"/>
                <a:cs typeface="Times New Roman" panose="02020603050405020304" pitchFamily="18" charset="0"/>
              </a:rPr>
              <a:t>by the Indian archaeologist N. G. </a:t>
            </a:r>
            <a:r>
              <a:rPr lang="en-US" sz="2000" dirty="0" err="1">
                <a:solidFill>
                  <a:schemeClr val="tx1"/>
                </a:solidFill>
                <a:latin typeface="Times New Roman" panose="02020603050405020304" pitchFamily="18" charset="0"/>
                <a:cs typeface="Times New Roman" panose="02020603050405020304" pitchFamily="18" charset="0"/>
              </a:rPr>
              <a:t>Majumdar</a:t>
            </a:r>
            <a:r>
              <a:rPr lang="en-US" sz="2000" dirty="0">
                <a:solidFill>
                  <a:schemeClr val="tx1"/>
                </a:solidFill>
                <a:latin typeface="Times New Roman" panose="02020603050405020304" pitchFamily="18" charset="0"/>
                <a:cs typeface="Times New Roman" panose="02020603050405020304" pitchFamily="18" charset="0"/>
              </a:rPr>
              <a:t>.</a:t>
            </a:r>
            <a:r>
              <a:rPr lang="en-US" sz="2000" b="1" dirty="0" smtClean="0">
                <a:solidFill>
                  <a:schemeClr val="tx1"/>
                </a:solidFill>
                <a:latin typeface="Times New Roman" panose="02020603050405020304" pitchFamily="18" charset="0"/>
                <a:cs typeface="Times New Roman" panose="02020603050405020304" pitchFamily="18" charset="0"/>
              </a:rPr>
              <a:t>) </a:t>
            </a:r>
            <a:r>
              <a:rPr lang="en-US" sz="2000" b="1" dirty="0">
                <a:solidFill>
                  <a:schemeClr val="tx1"/>
                </a:solidFill>
                <a:latin typeface="Times New Roman" panose="02020603050405020304" pitchFamily="18" charset="0"/>
                <a:cs typeface="Times New Roman" panose="02020603050405020304" pitchFamily="18" charset="0"/>
              </a:rPr>
              <a:t>and </a:t>
            </a:r>
            <a:r>
              <a:rPr lang="en-US" sz="2000" b="1" dirty="0" err="1">
                <a:solidFill>
                  <a:schemeClr val="tx1"/>
                </a:solidFill>
                <a:latin typeface="Times New Roman" panose="02020603050405020304" pitchFamily="18" charset="0"/>
                <a:cs typeface="Times New Roman" panose="02020603050405020304" pitchFamily="18" charset="0"/>
              </a:rPr>
              <a:t>Lothal</a:t>
            </a:r>
            <a:r>
              <a:rPr lang="en-US" sz="2000" b="1"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highlighting the likelihood of devastation caused by swelling rivers.</a:t>
            </a:r>
          </a:p>
          <a:p>
            <a:pPr marL="285750" indent="-285750" algn="just">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Several layers of silt at</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Mohenjodaro</a:t>
            </a:r>
            <a:r>
              <a:rPr lang="en-US" sz="2000" dirty="0">
                <a:solidFill>
                  <a:schemeClr val="tx1"/>
                </a:solidFill>
                <a:latin typeface="Times New Roman" panose="02020603050405020304" pitchFamily="18" charset="0"/>
                <a:cs typeface="Times New Roman" panose="02020603050405020304" pitchFamily="18" charset="0"/>
              </a:rPr>
              <a:t> show that the city was impacted by successive Indus floods, which led to the collapse of </a:t>
            </a:r>
            <a:r>
              <a:rPr lang="en-US" sz="2000" dirty="0" err="1">
                <a:solidFill>
                  <a:schemeClr val="tx1"/>
                </a:solidFill>
                <a:latin typeface="Times New Roman" panose="02020603050405020304" pitchFamily="18" charset="0"/>
                <a:cs typeface="Times New Roman" panose="02020603050405020304" pitchFamily="18" charset="0"/>
              </a:rPr>
              <a:t>Harappan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smtClean="0">
                <a:solidFill>
                  <a:schemeClr val="tx1"/>
                </a:solidFill>
                <a:latin typeface="Times New Roman" panose="02020603050405020304" pitchFamily="18" charset="0"/>
                <a:cs typeface="Times New Roman" panose="02020603050405020304" pitchFamily="18" charset="0"/>
              </a:rPr>
              <a:t>civilization.</a:t>
            </a:r>
            <a:endParaRPr lang="en-US" sz="20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Evidence of significant flooding appears to have separated distinct periods of occupancy in</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Mohenjodaro</a:t>
            </a:r>
            <a:r>
              <a:rPr lang="en-US" sz="2000" b="1" smtClean="0">
                <a:solidFill>
                  <a:schemeClr val="tx1"/>
                </a:solidFill>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This type of catastrophic flooding and subsequent reconstruction appears to have occurred at least three times.</a:t>
            </a:r>
          </a:p>
          <a:p>
            <a:pPr marL="285750" indent="-285750" algn="just">
              <a:buFont typeface="Wingdings" panose="05000000000000000000" pitchFamily="2" charset="2"/>
              <a:buChar char="Ø"/>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CC71A67-3160-4DB7-B24F-A90E07C5C322}" type="slidenum">
              <a:rPr lang="en-US" smtClean="0"/>
              <a:t>26</a:t>
            </a:fld>
            <a:endParaRPr lang="en-US"/>
          </a:p>
        </p:txBody>
      </p:sp>
    </p:spTree>
    <p:extLst>
      <p:ext uri="{BB962C8B-B14F-4D97-AF65-F5344CB8AC3E}">
        <p14:creationId xmlns:p14="http://schemas.microsoft.com/office/powerpoint/2010/main" val="15243114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74584" y="1056067"/>
            <a:ext cx="7727324" cy="4423893"/>
          </a:xfrm>
        </p:spPr>
        <p:txBody>
          <a:bodyPr>
            <a:normAutofit/>
          </a:bodyPr>
          <a:lstStyle/>
          <a:p>
            <a:pPr marL="285750" indent="-285750" algn="just">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rPr>
              <a:t>Climatic </a:t>
            </a:r>
            <a:r>
              <a:rPr lang="en-US" b="1" dirty="0" smtClean="0">
                <a:solidFill>
                  <a:schemeClr val="tx1"/>
                </a:solidFill>
                <a:latin typeface="Times New Roman" panose="02020603050405020304" pitchFamily="18" charset="0"/>
                <a:cs typeface="Times New Roman" panose="02020603050405020304" pitchFamily="18" charset="0"/>
              </a:rPr>
              <a:t>Change</a:t>
            </a:r>
            <a:endParaRPr lang="en-US"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According to </a:t>
            </a:r>
            <a:r>
              <a:rPr lang="en-US" b="1" dirty="0">
                <a:solidFill>
                  <a:schemeClr val="tx1"/>
                </a:solidFill>
                <a:latin typeface="Times New Roman" panose="02020603050405020304" pitchFamily="18" charset="0"/>
                <a:cs typeface="Times New Roman" panose="02020603050405020304" pitchFamily="18" charset="0"/>
              </a:rPr>
              <a:t>D.P. Agarwal</a:t>
            </a:r>
            <a:r>
              <a:rPr lang="en-US" dirty="0">
                <a:solidFill>
                  <a:schemeClr val="tx1"/>
                </a:solidFill>
                <a:latin typeface="Times New Roman" panose="02020603050405020304" pitchFamily="18" charset="0"/>
                <a:cs typeface="Times New Roman" panose="02020603050405020304" pitchFamily="18" charset="0"/>
              </a:rPr>
              <a:t> and </a:t>
            </a:r>
            <a:r>
              <a:rPr lang="en-US" dirty="0" err="1">
                <a:solidFill>
                  <a:schemeClr val="tx1"/>
                </a:solidFill>
                <a:latin typeface="Times New Roman" panose="02020603050405020304" pitchFamily="18" charset="0"/>
                <a:cs typeface="Times New Roman" panose="02020603050405020304" pitchFamily="18" charset="0"/>
              </a:rPr>
              <a:t>Sood</a:t>
            </a:r>
            <a:r>
              <a:rPr lang="en-US" dirty="0">
                <a:solidFill>
                  <a:schemeClr val="tx1"/>
                </a:solidFill>
                <a:latin typeface="Times New Roman" panose="02020603050405020304" pitchFamily="18" charset="0"/>
                <a:cs typeface="Times New Roman" panose="02020603050405020304" pitchFamily="18" charset="0"/>
              </a:rPr>
              <a:t>, the </a:t>
            </a:r>
            <a:r>
              <a:rPr lang="en-US" b="1" dirty="0" err="1">
                <a:solidFill>
                  <a:schemeClr val="tx1"/>
                </a:solidFill>
                <a:latin typeface="Times New Roman" panose="02020603050405020304" pitchFamily="18" charset="0"/>
                <a:cs typeface="Times New Roman" panose="02020603050405020304" pitchFamily="18" charset="0"/>
              </a:rPr>
              <a:t>Harappan</a:t>
            </a:r>
            <a:r>
              <a:rPr lang="en-US" b="1" dirty="0">
                <a:solidFill>
                  <a:schemeClr val="tx1"/>
                </a:solidFill>
                <a:latin typeface="Times New Roman" panose="02020603050405020304" pitchFamily="18" charset="0"/>
                <a:cs typeface="Times New Roman" panose="02020603050405020304" pitchFamily="18" charset="0"/>
              </a:rPr>
              <a:t> </a:t>
            </a:r>
            <a:r>
              <a:rPr lang="en-US" b="1" dirty="0" err="1">
                <a:solidFill>
                  <a:schemeClr val="tx1"/>
                </a:solidFill>
                <a:latin typeface="Times New Roman" panose="02020603050405020304" pitchFamily="18" charset="0"/>
                <a:cs typeface="Times New Roman" panose="02020603050405020304" pitchFamily="18" charset="0"/>
              </a:rPr>
              <a:t>C</a:t>
            </a:r>
            <a:r>
              <a:rPr lang="en-US" b="1" dirty="0" err="1" smtClean="0">
                <a:solidFill>
                  <a:schemeClr val="tx1"/>
                </a:solidFill>
                <a:latin typeface="Times New Roman" panose="02020603050405020304" pitchFamily="18" charset="0"/>
                <a:cs typeface="Times New Roman" panose="02020603050405020304" pitchFamily="18" charset="0"/>
              </a:rPr>
              <a:t>ivilisation</a:t>
            </a:r>
            <a:r>
              <a:rPr lang="en-US" dirty="0">
                <a:solidFill>
                  <a:schemeClr val="tx1"/>
                </a:solidFill>
                <a:latin typeface="Times New Roman" panose="02020603050405020304" pitchFamily="18" charset="0"/>
                <a:cs typeface="Times New Roman" panose="02020603050405020304" pitchFamily="18" charset="0"/>
              </a:rPr>
              <a:t> fell when the region became more arid and the river </a:t>
            </a:r>
            <a:r>
              <a:rPr lang="en-US" b="1" dirty="0" err="1">
                <a:solidFill>
                  <a:schemeClr val="tx1"/>
                </a:solidFill>
                <a:latin typeface="Times New Roman" panose="02020603050405020304" pitchFamily="18" charset="0"/>
                <a:cs typeface="Times New Roman" panose="02020603050405020304" pitchFamily="18" charset="0"/>
              </a:rPr>
              <a:t>Ghaggar-Hakra</a:t>
            </a:r>
            <a:r>
              <a:rPr lang="en-US" b="1" dirty="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dried up.</a:t>
            </a:r>
          </a:p>
          <a:p>
            <a:pPr marL="285750" indent="-285750" algn="just">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They discovered that by the middle of the second millennium B.C., dry conditions had increased.</a:t>
            </a:r>
          </a:p>
          <a:p>
            <a:pPr marL="285750" indent="-285750" algn="just">
              <a:buFont typeface="Wingdings" panose="05000000000000000000" pitchFamily="2" charset="2"/>
              <a:buChar char="Ø"/>
            </a:pPr>
            <a:r>
              <a:rPr lang="en-US" dirty="0" smtClean="0">
                <a:solidFill>
                  <a:schemeClr val="tx1"/>
                </a:solidFill>
                <a:latin typeface="Times New Roman" panose="02020603050405020304" pitchFamily="18" charset="0"/>
                <a:cs typeface="Times New Roman" panose="02020603050405020304" pitchFamily="18" charset="0"/>
              </a:rPr>
              <a:t>It </a:t>
            </a:r>
            <a:r>
              <a:rPr lang="en-US" dirty="0">
                <a:solidFill>
                  <a:schemeClr val="tx1"/>
                </a:solidFill>
                <a:latin typeface="Times New Roman" panose="02020603050405020304" pitchFamily="18" charset="0"/>
                <a:cs typeface="Times New Roman" panose="02020603050405020304" pitchFamily="18" charset="0"/>
              </a:rPr>
              <a:t>would have an impact on agricultural productivity, putting city economies under </a:t>
            </a:r>
            <a:r>
              <a:rPr lang="en-US" dirty="0" smtClean="0">
                <a:solidFill>
                  <a:schemeClr val="tx1"/>
                </a:solidFill>
                <a:latin typeface="Times New Roman" panose="02020603050405020304" pitchFamily="18" charset="0"/>
                <a:cs typeface="Times New Roman" panose="02020603050405020304" pitchFamily="18" charset="0"/>
              </a:rPr>
              <a:t>strain.</a:t>
            </a:r>
          </a:p>
          <a:p>
            <a:pPr marL="285750" indent="-285750" algn="just">
              <a:buFont typeface="Wingdings" panose="05000000000000000000" pitchFamily="2" charset="2"/>
              <a:buChar char="Ø"/>
            </a:pPr>
            <a:r>
              <a:rPr lang="en-US" b="1" dirty="0" smtClean="0">
                <a:solidFill>
                  <a:schemeClr val="tx1"/>
                </a:solidFill>
                <a:latin typeface="Times New Roman" panose="02020603050405020304" pitchFamily="18" charset="0"/>
                <a:cs typeface="Times New Roman" panose="02020603050405020304" pitchFamily="18" charset="0"/>
              </a:rPr>
              <a:t>Decline </a:t>
            </a:r>
            <a:r>
              <a:rPr lang="en-US" b="1" dirty="0">
                <a:solidFill>
                  <a:schemeClr val="tx1"/>
                </a:solidFill>
                <a:latin typeface="Times New Roman" panose="02020603050405020304" pitchFamily="18" charset="0"/>
                <a:cs typeface="Times New Roman" panose="02020603050405020304" pitchFamily="18" charset="0"/>
              </a:rPr>
              <a:t>of Trade</a:t>
            </a:r>
          </a:p>
          <a:p>
            <a:pPr marL="285750" indent="-285750" algn="just">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The fall of the</a:t>
            </a:r>
            <a:r>
              <a:rPr lang="en-US" b="1" dirty="0">
                <a:solidFill>
                  <a:schemeClr val="tx1"/>
                </a:solidFill>
                <a:latin typeface="Times New Roman" panose="02020603050405020304" pitchFamily="18" charset="0"/>
                <a:cs typeface="Times New Roman" panose="02020603050405020304" pitchFamily="18" charset="0"/>
              </a:rPr>
              <a:t> lapis lazuli</a:t>
            </a:r>
            <a:r>
              <a:rPr lang="en-US" dirty="0">
                <a:solidFill>
                  <a:schemeClr val="tx1"/>
                </a:solidFill>
                <a:latin typeface="Times New Roman" panose="02020603050405020304" pitchFamily="18" charset="0"/>
                <a:cs typeface="Times New Roman" panose="02020603050405020304" pitchFamily="18" charset="0"/>
              </a:rPr>
              <a:t> commerce with</a:t>
            </a:r>
            <a:r>
              <a:rPr lang="en-US" b="1" dirty="0">
                <a:solidFill>
                  <a:schemeClr val="tx1"/>
                </a:solidFill>
                <a:latin typeface="Times New Roman" panose="02020603050405020304" pitchFamily="18" charset="0"/>
                <a:cs typeface="Times New Roman" panose="02020603050405020304" pitchFamily="18" charset="0"/>
              </a:rPr>
              <a:t> Mesopotamia</a:t>
            </a:r>
            <a:r>
              <a:rPr lang="en-US" dirty="0">
                <a:solidFill>
                  <a:schemeClr val="tx1"/>
                </a:solidFill>
                <a:latin typeface="Times New Roman" panose="02020603050405020304" pitchFamily="18" charset="0"/>
                <a:cs typeface="Times New Roman" panose="02020603050405020304" pitchFamily="18" charset="0"/>
              </a:rPr>
              <a:t>, according to </a:t>
            </a:r>
            <a:r>
              <a:rPr lang="en-US" b="1" dirty="0" err="1">
                <a:solidFill>
                  <a:schemeClr val="tx1"/>
                </a:solidFill>
                <a:latin typeface="Times New Roman" panose="02020603050405020304" pitchFamily="18" charset="0"/>
                <a:cs typeface="Times New Roman" panose="02020603050405020304" pitchFamily="18" charset="0"/>
              </a:rPr>
              <a:t>Shereen</a:t>
            </a:r>
            <a:r>
              <a:rPr lang="en-US" b="1" dirty="0">
                <a:solidFill>
                  <a:schemeClr val="tx1"/>
                </a:solidFill>
                <a:latin typeface="Times New Roman" panose="02020603050405020304" pitchFamily="18" charset="0"/>
                <a:cs typeface="Times New Roman" panose="02020603050405020304" pitchFamily="18" charset="0"/>
              </a:rPr>
              <a:t> </a:t>
            </a:r>
            <a:r>
              <a:rPr lang="en-US" b="1" dirty="0" err="1">
                <a:solidFill>
                  <a:schemeClr val="tx1"/>
                </a:solidFill>
                <a:latin typeface="Times New Roman" panose="02020603050405020304" pitchFamily="18" charset="0"/>
                <a:cs typeface="Times New Roman" panose="02020603050405020304" pitchFamily="18" charset="0"/>
              </a:rPr>
              <a:t>Ratnagar</a:t>
            </a:r>
            <a:r>
              <a:rPr lang="en-US" b="1" dirty="0">
                <a:solidFill>
                  <a:schemeClr val="tx1"/>
                </a:solidFill>
                <a:latin typeface="Times New Roman" panose="02020603050405020304" pitchFamily="18" charset="0"/>
                <a:cs typeface="Times New Roman" panose="02020603050405020304" pitchFamily="18" charset="0"/>
              </a:rPr>
              <a:t>,</a:t>
            </a:r>
            <a:r>
              <a:rPr lang="en-US" dirty="0">
                <a:solidFill>
                  <a:schemeClr val="tx1"/>
                </a:solidFill>
                <a:latin typeface="Times New Roman" panose="02020603050405020304" pitchFamily="18" charset="0"/>
                <a:cs typeface="Times New Roman" panose="02020603050405020304" pitchFamily="18" charset="0"/>
              </a:rPr>
              <a:t> was a factor in the </a:t>
            </a:r>
            <a:r>
              <a:rPr lang="en-US" dirty="0" err="1">
                <a:solidFill>
                  <a:schemeClr val="tx1"/>
                </a:solidFill>
                <a:latin typeface="Times New Roman" panose="02020603050405020304" pitchFamily="18" charset="0"/>
                <a:cs typeface="Times New Roman" panose="02020603050405020304" pitchFamily="18" charset="0"/>
              </a:rPr>
              <a:t>Harappan</a:t>
            </a:r>
            <a:r>
              <a:rPr lang="en-US" dirty="0">
                <a:solidFill>
                  <a:schemeClr val="tx1"/>
                </a:solidFill>
                <a:latin typeface="Times New Roman" panose="02020603050405020304" pitchFamily="18" charset="0"/>
                <a:cs typeface="Times New Roman" panose="02020603050405020304" pitchFamily="18" charset="0"/>
              </a:rPr>
              <a:t> civilization's demise.</a:t>
            </a:r>
          </a:p>
          <a:p>
            <a:pPr marL="285750" indent="-285750" algn="just">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However, whether this </a:t>
            </a:r>
            <a:r>
              <a:rPr lang="en-US" b="1" dirty="0">
                <a:solidFill>
                  <a:schemeClr val="tx1"/>
                </a:solidFill>
                <a:latin typeface="Times New Roman" panose="02020603050405020304" pitchFamily="18" charset="0"/>
                <a:cs typeface="Times New Roman" panose="02020603050405020304" pitchFamily="18" charset="0"/>
              </a:rPr>
              <a:t>commerce</a:t>
            </a:r>
            <a:r>
              <a:rPr lang="en-US" dirty="0">
                <a:solidFill>
                  <a:schemeClr val="tx1"/>
                </a:solidFill>
                <a:latin typeface="Times New Roman" panose="02020603050405020304" pitchFamily="18" charset="0"/>
                <a:cs typeface="Times New Roman" panose="02020603050405020304" pitchFamily="18" charset="0"/>
              </a:rPr>
              <a:t> was extremely important to the </a:t>
            </a:r>
            <a:r>
              <a:rPr lang="en-US" dirty="0" err="1">
                <a:solidFill>
                  <a:schemeClr val="tx1"/>
                </a:solidFill>
                <a:latin typeface="Times New Roman" panose="02020603050405020304" pitchFamily="18" charset="0"/>
                <a:cs typeface="Times New Roman" panose="02020603050405020304" pitchFamily="18" charset="0"/>
              </a:rPr>
              <a:t>Harappans</a:t>
            </a:r>
            <a:r>
              <a:rPr lang="en-US" dirty="0">
                <a:solidFill>
                  <a:schemeClr val="tx1"/>
                </a:solidFill>
                <a:latin typeface="Times New Roman" panose="02020603050405020304" pitchFamily="18" charset="0"/>
                <a:cs typeface="Times New Roman" panose="02020603050405020304" pitchFamily="18" charset="0"/>
              </a:rPr>
              <a:t> is questionable; hence, it could not have been a role in their demise.</a:t>
            </a:r>
          </a:p>
          <a:p>
            <a:pPr marL="285750" indent="-285750" algn="just">
              <a:buFont typeface="Wingdings" panose="05000000000000000000" pitchFamily="2" charset="2"/>
              <a:buChar char="Ø"/>
            </a:pPr>
            <a:endParaRPr lang="en-US"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11089164" y="6492875"/>
            <a:ext cx="683339" cy="365125"/>
          </a:xfrm>
        </p:spPr>
        <p:txBody>
          <a:bodyPr/>
          <a:lstStyle/>
          <a:p>
            <a:fld id="{3CC71A67-3160-4DB7-B24F-A90E07C5C322}" type="slidenum">
              <a:rPr lang="en-US" smtClean="0">
                <a:solidFill>
                  <a:schemeClr val="tx1"/>
                </a:solidFill>
              </a:rPr>
              <a:t>27</a:t>
            </a:fld>
            <a:endParaRPr lang="en-US" dirty="0">
              <a:solidFill>
                <a:schemeClr val="tx1"/>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92060" y="1307205"/>
            <a:ext cx="3590092" cy="4172755"/>
          </a:xfrm>
          <a:prstGeom prst="rect">
            <a:avLst/>
          </a:prstGeom>
        </p:spPr>
      </p:pic>
    </p:spTree>
    <p:extLst>
      <p:ext uri="{BB962C8B-B14F-4D97-AF65-F5344CB8AC3E}">
        <p14:creationId xmlns:p14="http://schemas.microsoft.com/office/powerpoint/2010/main" val="229195252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08577" y="721216"/>
            <a:ext cx="6632381" cy="824248"/>
          </a:xfrm>
        </p:spPr>
        <p:txBody>
          <a:bodyPr/>
          <a:lstStyle/>
          <a:p>
            <a:pPr algn="l"/>
            <a:r>
              <a:rPr lang="en-US" sz="2800" b="1" dirty="0">
                <a:latin typeface="Times New Roman" panose="02020603050405020304" pitchFamily="18" charset="0"/>
                <a:cs typeface="Times New Roman" panose="02020603050405020304" pitchFamily="18" charset="0"/>
              </a:rPr>
              <a:t>Decline of Indus </a:t>
            </a:r>
            <a:r>
              <a:rPr lang="en-US" sz="2800" dirty="0">
                <a:latin typeface="Times New Roman" panose="02020603050405020304" pitchFamily="18" charset="0"/>
                <a:cs typeface="Times New Roman" panose="02020603050405020304" pitchFamily="18" charset="0"/>
              </a:rPr>
              <a:t>Valley Civilization(cont.) </a:t>
            </a:r>
            <a:br>
              <a:rPr lang="en-US" sz="2800" dirty="0">
                <a:latin typeface="Times New Roman" panose="02020603050405020304" pitchFamily="18" charset="0"/>
                <a:cs typeface="Times New Roman" panose="02020603050405020304" pitchFamily="18" charset="0"/>
              </a:rPr>
            </a:br>
            <a:endParaRPr lang="en-US" sz="2800" dirty="0"/>
          </a:p>
        </p:txBody>
      </p:sp>
      <p:sp>
        <p:nvSpPr>
          <p:cNvPr id="3" name="Subtitle 2"/>
          <p:cNvSpPr>
            <a:spLocks noGrp="1"/>
          </p:cNvSpPr>
          <p:nvPr>
            <p:ph type="subTitle" idx="1"/>
          </p:nvPr>
        </p:nvSpPr>
        <p:spPr>
          <a:xfrm>
            <a:off x="553792" y="1545464"/>
            <a:ext cx="9311425" cy="4971245"/>
          </a:xfrm>
        </p:spPr>
        <p:txBody>
          <a:bodyPr/>
          <a:lstStyle/>
          <a:p>
            <a:pPr marL="285750" indent="-285750" algn="l">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Evidence Of Natural </a:t>
            </a:r>
            <a:r>
              <a:rPr lang="en-US" dirty="0" smtClean="0">
                <a:latin typeface="Times New Roman" panose="02020603050405020304" pitchFamily="18" charset="0"/>
                <a:cs typeface="Times New Roman" panose="02020603050405020304" pitchFamily="18" charset="0"/>
              </a:rPr>
              <a:t>Disaster: </a:t>
            </a:r>
            <a:r>
              <a:rPr lang="en-US" dirty="0">
                <a:latin typeface="Times New Roman" panose="02020603050405020304" pitchFamily="18" charset="0"/>
                <a:cs typeface="Times New Roman" panose="02020603050405020304" pitchFamily="18" charset="0"/>
              </a:rPr>
              <a:t>The most common held theory used to explain the decline of the </a:t>
            </a:r>
            <a:r>
              <a:rPr lang="en-US" dirty="0" err="1">
                <a:latin typeface="Times New Roman" panose="02020603050405020304" pitchFamily="18" charset="0"/>
                <a:cs typeface="Times New Roman" panose="02020603050405020304" pitchFamily="18" charset="0"/>
              </a:rPr>
              <a:t>Harrapan</a:t>
            </a:r>
            <a:r>
              <a:rPr lang="en-US" dirty="0">
                <a:latin typeface="Times New Roman" panose="02020603050405020304" pitchFamily="18" charset="0"/>
                <a:cs typeface="Times New Roman" panose="02020603050405020304" pitchFamily="18" charset="0"/>
              </a:rPr>
              <a:t> culture is that climatic changes lead to a long term drought. This environmental disaster, coupled with repeated floods that devastated the arable land. </a:t>
            </a:r>
            <a:endParaRPr lang="en-US" dirty="0" smtClean="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Possibility Of An Ancient </a:t>
            </a:r>
            <a:r>
              <a:rPr lang="en-US" dirty="0" smtClean="0">
                <a:latin typeface="Times New Roman" panose="02020603050405020304" pitchFamily="18" charset="0"/>
                <a:cs typeface="Times New Roman" panose="02020603050405020304" pitchFamily="18" charset="0"/>
              </a:rPr>
              <a:t>Tsunami: </a:t>
            </a:r>
            <a:r>
              <a:rPr lang="en-US" dirty="0">
                <a:latin typeface="Times New Roman" panose="02020603050405020304" pitchFamily="18" charset="0"/>
                <a:cs typeface="Times New Roman" panose="02020603050405020304" pitchFamily="18" charset="0"/>
              </a:rPr>
              <a:t>Some geophysicists have begun to theorize that such a disaster could have been responsible for the end of </a:t>
            </a:r>
            <a:r>
              <a:rPr lang="en-US" dirty="0" err="1">
                <a:latin typeface="Times New Roman" panose="02020603050405020304" pitchFamily="18" charset="0"/>
                <a:cs typeface="Times New Roman" panose="02020603050405020304" pitchFamily="18" charset="0"/>
              </a:rPr>
              <a:t>Harrapan</a:t>
            </a:r>
            <a:r>
              <a:rPr lang="en-US" dirty="0">
                <a:latin typeface="Times New Roman" panose="02020603050405020304" pitchFamily="18" charset="0"/>
                <a:cs typeface="Times New Roman" panose="02020603050405020304" pitchFamily="18" charset="0"/>
              </a:rPr>
              <a:t> civilization. This theory is based upon the premise that a massive wave could have reached inland, traveling up the Indus and </a:t>
            </a:r>
            <a:r>
              <a:rPr lang="en-US" dirty="0" err="1">
                <a:latin typeface="Times New Roman" panose="02020603050405020304" pitchFamily="18" charset="0"/>
                <a:cs typeface="Times New Roman" panose="02020603050405020304" pitchFamily="18" charset="0"/>
              </a:rPr>
              <a:t>Saraswati</a:t>
            </a:r>
            <a:r>
              <a:rPr lang="en-US" dirty="0">
                <a:latin typeface="Times New Roman" panose="02020603050405020304" pitchFamily="18" charset="0"/>
                <a:cs typeface="Times New Roman" panose="02020603050405020304" pitchFamily="18" charset="0"/>
              </a:rPr>
              <a:t> Rivers simultaneously. </a:t>
            </a:r>
            <a:endParaRPr lang="en-US" dirty="0" smtClean="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Saraswati</a:t>
            </a:r>
            <a:r>
              <a:rPr lang="en-US" dirty="0">
                <a:latin typeface="Times New Roman" panose="02020603050405020304" pitchFamily="18" charset="0"/>
                <a:cs typeface="Times New Roman" panose="02020603050405020304" pitchFamily="18" charset="0"/>
              </a:rPr>
              <a:t> River Runs </a:t>
            </a:r>
            <a:r>
              <a:rPr lang="en-US" dirty="0" smtClean="0">
                <a:latin typeface="Times New Roman" panose="02020603050405020304" pitchFamily="18" charset="0"/>
                <a:cs typeface="Times New Roman" panose="02020603050405020304" pitchFamily="18" charset="0"/>
              </a:rPr>
              <a:t>Dry: </a:t>
            </a:r>
            <a:r>
              <a:rPr lang="en-US" dirty="0">
                <a:latin typeface="Times New Roman" panose="02020603050405020304" pitchFamily="18" charset="0"/>
                <a:cs typeface="Times New Roman" panose="02020603050405020304" pitchFamily="18" charset="0"/>
              </a:rPr>
              <a:t>The geological record does show that the </a:t>
            </a:r>
            <a:r>
              <a:rPr lang="en-US" dirty="0" err="1">
                <a:latin typeface="Times New Roman" panose="02020603050405020304" pitchFamily="18" charset="0"/>
                <a:cs typeface="Times New Roman" panose="02020603050405020304" pitchFamily="18" charset="0"/>
              </a:rPr>
              <a:t>Saraswati</a:t>
            </a:r>
            <a:r>
              <a:rPr lang="en-US" dirty="0">
                <a:latin typeface="Times New Roman" panose="02020603050405020304" pitchFamily="18" charset="0"/>
                <a:cs typeface="Times New Roman" panose="02020603050405020304" pitchFamily="18" charset="0"/>
              </a:rPr>
              <a:t> River, one of the main arteries of trade for the </a:t>
            </a:r>
            <a:r>
              <a:rPr lang="en-US" dirty="0" err="1">
                <a:latin typeface="Times New Roman" panose="02020603050405020304" pitchFamily="18" charset="0"/>
                <a:cs typeface="Times New Roman" panose="02020603050405020304" pitchFamily="18" charset="0"/>
              </a:rPr>
              <a:t>Harrapans</a:t>
            </a:r>
            <a:r>
              <a:rPr lang="en-US" dirty="0">
                <a:latin typeface="Times New Roman" panose="02020603050405020304" pitchFamily="18" charset="0"/>
                <a:cs typeface="Times New Roman" panose="02020603050405020304" pitchFamily="18" charset="0"/>
              </a:rPr>
              <a:t>, dried up completely sometime during the early 20th century B.C.E.</a:t>
            </a:r>
          </a:p>
          <a:p>
            <a:pPr algn="l"/>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CC71A67-3160-4DB7-B24F-A90E07C5C322}" type="slidenum">
              <a:rPr lang="en-US" smtClean="0"/>
              <a:t>28</a:t>
            </a:fld>
            <a:endParaRPr lang="en-US"/>
          </a:p>
        </p:txBody>
      </p:sp>
    </p:spTree>
    <p:extLst>
      <p:ext uri="{BB962C8B-B14F-4D97-AF65-F5344CB8AC3E}">
        <p14:creationId xmlns:p14="http://schemas.microsoft.com/office/powerpoint/2010/main" val="36247893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331" y="115909"/>
            <a:ext cx="3727241" cy="618187"/>
          </a:xfrm>
        </p:spPr>
        <p:txBody>
          <a:bodyPr>
            <a:normAutofit fontScale="90000"/>
          </a:bodyPr>
          <a:lstStyle/>
          <a:p>
            <a:r>
              <a:rPr lang="en-US" dirty="0" smtClean="0">
                <a:solidFill>
                  <a:schemeClr val="tx1"/>
                </a:solidFill>
                <a:latin typeface="Times New Roman" panose="02020603050405020304" pitchFamily="18" charset="0"/>
                <a:cs typeface="Times New Roman" panose="02020603050405020304" pitchFamily="18" charset="0"/>
              </a:rPr>
              <a:t>Conclusion: </a:t>
            </a:r>
            <a:r>
              <a:rPr lang="en-US" dirty="0" smtClean="0"/>
              <a:t/>
            </a:r>
            <a:br>
              <a:rPr lang="en-US" dirty="0" smtClean="0"/>
            </a:br>
            <a:endParaRPr lang="en-US" dirty="0"/>
          </a:p>
        </p:txBody>
      </p:sp>
      <p:sp>
        <p:nvSpPr>
          <p:cNvPr id="4" name="Content Placeholder 3"/>
          <p:cNvSpPr>
            <a:spLocks noGrp="1"/>
          </p:cNvSpPr>
          <p:nvPr>
            <p:ph idx="1"/>
          </p:nvPr>
        </p:nvSpPr>
        <p:spPr>
          <a:xfrm>
            <a:off x="902333" y="975733"/>
            <a:ext cx="8512123" cy="5430754"/>
          </a:xfrm>
        </p:spPr>
        <p:txBody>
          <a:bodyPr/>
          <a:lstStyle/>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River Indus altering its course, &amp; weather patterns.</a:t>
            </a: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A climate change, resulting in the spread </a:t>
            </a:r>
            <a:r>
              <a:rPr lang="en-US" dirty="0">
                <a:latin typeface="Times New Roman" panose="02020603050405020304" pitchFamily="18" charset="0"/>
                <a:cs typeface="Times New Roman" panose="02020603050405020304" pitchFamily="18" charset="0"/>
              </a:rPr>
              <a:t>o</a:t>
            </a:r>
            <a:r>
              <a:rPr lang="en-US" dirty="0" smtClean="0">
                <a:latin typeface="Times New Roman" panose="02020603050405020304" pitchFamily="18" charset="0"/>
                <a:cs typeface="Times New Roman" panose="02020603050405020304" pitchFamily="18" charset="0"/>
              </a:rPr>
              <a:t>f drought condition.</a:t>
            </a: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rise in the water table and Salinity and Water Logging were threatening the volume ruins at Mohan-Jo-</a:t>
            </a:r>
            <a:r>
              <a:rPr lang="en-US" dirty="0" err="1" smtClean="0">
                <a:latin typeface="Times New Roman" panose="02020603050405020304" pitchFamily="18" charset="0"/>
                <a:cs typeface="Times New Roman" panose="02020603050405020304" pitchFamily="18" charset="0"/>
              </a:rPr>
              <a:t>Daro</a:t>
            </a:r>
            <a:r>
              <a:rPr lang="en-US" dirty="0" smtClean="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Regular invasions by Aryan Tribes from Central Asia and Persia.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Many experts think that climatic change was to blame for the fall of the Indus Valley Civilization. Most </a:t>
            </a:r>
            <a:r>
              <a:rPr lang="en-US" dirty="0" err="1">
                <a:latin typeface="Times New Roman" panose="02020603050405020304" pitchFamily="18" charset="0"/>
                <a:cs typeface="Times New Roman" panose="02020603050405020304" pitchFamily="18" charset="0"/>
              </a:rPr>
              <a:t>Harappan</a:t>
            </a:r>
            <a:r>
              <a:rPr lang="en-US" dirty="0">
                <a:latin typeface="Times New Roman" panose="02020603050405020304" pitchFamily="18" charset="0"/>
                <a:cs typeface="Times New Roman" panose="02020603050405020304" pitchFamily="18" charset="0"/>
              </a:rPr>
              <a:t> towns had been nearly totally abandoned by 1800 BCE. The communities in the foothills eventually declined as well. Some scholars believe that the drying of the </a:t>
            </a:r>
            <a:r>
              <a:rPr lang="en-US" dirty="0" err="1">
                <a:latin typeface="Times New Roman" panose="02020603050405020304" pitchFamily="18" charset="0"/>
                <a:cs typeface="Times New Roman" panose="02020603050405020304" pitchFamily="18" charset="0"/>
              </a:rPr>
              <a:t>Saraswati</a:t>
            </a:r>
            <a:r>
              <a:rPr lang="en-US" dirty="0">
                <a:latin typeface="Times New Roman" panose="02020603050405020304" pitchFamily="18" charset="0"/>
                <a:cs typeface="Times New Roman" panose="02020603050405020304" pitchFamily="18" charset="0"/>
              </a:rPr>
              <a:t> River, which began approximately 1900 BCE, was the primary cause of climatic change, while others believe that a large flood hit the area.</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Note: Mohan-Jo-</a:t>
            </a:r>
            <a:r>
              <a:rPr lang="en-US" dirty="0" err="1" smtClean="0">
                <a:latin typeface="Times New Roman" panose="02020603050405020304" pitchFamily="18" charset="0"/>
                <a:cs typeface="Times New Roman" panose="02020603050405020304" pitchFamily="18" charset="0"/>
              </a:rPr>
              <a:t>Daro</a:t>
            </a:r>
            <a:r>
              <a:rPr lang="en-US" dirty="0" smtClean="0">
                <a:latin typeface="Times New Roman" panose="02020603050405020304" pitchFamily="18" charset="0"/>
                <a:cs typeface="Times New Roman" panose="02020603050405020304" pitchFamily="18" charset="0"/>
              </a:rPr>
              <a:t> included in World Heritage Site in 1980 by UNESCO.</a:t>
            </a:r>
          </a:p>
        </p:txBody>
      </p:sp>
      <p:sp>
        <p:nvSpPr>
          <p:cNvPr id="3" name="Slide Number Placeholder 2"/>
          <p:cNvSpPr>
            <a:spLocks noGrp="1"/>
          </p:cNvSpPr>
          <p:nvPr>
            <p:ph type="sldNum" sz="quarter" idx="12"/>
          </p:nvPr>
        </p:nvSpPr>
        <p:spPr/>
        <p:txBody>
          <a:bodyPr/>
          <a:lstStyle/>
          <a:p>
            <a:fld id="{3CC71A67-3160-4DB7-B24F-A90E07C5C322}" type="slidenum">
              <a:rPr lang="en-US" smtClean="0"/>
              <a:t>29</a:t>
            </a:fld>
            <a:endParaRPr lang="en-US"/>
          </a:p>
        </p:txBody>
      </p:sp>
    </p:spTree>
    <p:extLst>
      <p:ext uri="{BB962C8B-B14F-4D97-AF65-F5344CB8AC3E}">
        <p14:creationId xmlns:p14="http://schemas.microsoft.com/office/powerpoint/2010/main" val="3058241721"/>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2434</TotalTime>
  <Words>675</Words>
  <Application>Microsoft Office PowerPoint</Application>
  <PresentationFormat>Widescreen</PresentationFormat>
  <Paragraphs>121</Paragraphs>
  <Slides>29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Times New Roman</vt:lpstr>
      <vt:lpstr>Trebuchet MS</vt:lpstr>
      <vt:lpstr>Wingdings</vt:lpstr>
      <vt:lpstr>Wingdings 3</vt:lpstr>
      <vt:lpstr>Facet</vt:lpstr>
      <vt:lpstr>Dawood University of Engineering &amp; Technology</vt:lpstr>
      <vt:lpstr>.</vt:lpstr>
      <vt:lpstr>Indus Valley Civilization?</vt:lpstr>
      <vt:lpstr>WHAT IS CIVILISATION? </vt:lpstr>
      <vt:lpstr>Some of the earliest settlement in the world are found Pakistan. Early Stone age live Potwar, near Soan river &amp; site of Seria Khola in Punjab, Mehrgarh in Balochistan &amp; Kot Daji in Sindh.    Around 4000 B.C. People moved from hills to plains. &amp; Urban Culture formed like Kot Daji &amp; Mehargarh.    The Indus Valley Civilization was the one of the world’s  great urban civilization. (2800 sites) Indus Valley Civilization was a Bronze age Civilization    (3000-1300 BC), It was first Discovered in 1842 by Charles Masson.  It covered an area of 12,99,600 Sq.metre   First serious efforts were made by Daya Ram Sahani under the leadership of John Marshall and Finally, an excavation campaign was started under Sir John Hubert Marshall in 1921-1922.   Mohen jo Daro is about 45 feet above the plain. Mohen jo Daro covers 250 acres.</vt:lpstr>
      <vt:lpstr>Four Phases of Indus Valley Civilization Historian Divided Indus Valley Civilization into four phase: </vt:lpstr>
      <vt:lpstr>HARAPPA</vt:lpstr>
      <vt:lpstr>PowerPoint Presentation</vt:lpstr>
      <vt:lpstr>Planned Cities: The cities of IVC were well organized and solidly built out of bricks and stones. The people of the Indus Valley civilization are considered to be the first ever town planners of the human history.  Citadel Religious Town </vt:lpstr>
      <vt:lpstr>Pots and Weapons: The Indus Valley Civilization had craftsmen skilled in woodcraft. They were highly skilled in pottery, weaving &amp; metalwork. </vt:lpstr>
      <vt:lpstr>Mohen Jo Daro: Mohen jo Daro is divided in two sites  Religious Town                                                                 Lower Town (City) Used commercial and religious         Resident area</vt:lpstr>
      <vt:lpstr>Streets:  Streets intersected one another at a 90-degree angle.  30 feet wide average of Street.</vt:lpstr>
      <vt:lpstr>Main Street:</vt:lpstr>
      <vt:lpstr>Great Bath: Many baths were found in the ruins which shows their cleanliness &amp; hygienic practices. The great bath (12x7 m wide and Its depath is maximum 2.4 m) of Mohan-jo-Daro was also used for rituals &amp; bathing purpose. Small rooms around the great bath were also discovered, which might be the changing rooms or small bathrooms. </vt:lpstr>
      <vt:lpstr>Great Bath:</vt:lpstr>
      <vt:lpstr>Government: There was no single ruler but several: The People of IVC enjoyed equal status.  Sculpture founded from Mohen-jo-Daro called that Priest-King.  Its height is 17.5 cm. Discovered in 1931.</vt:lpstr>
      <vt:lpstr>Sambara: Its height is 10.5cm founded in 1926.</vt:lpstr>
      <vt:lpstr>Scale: The people of IVC achieved great accuracy in measuring length, mass and time. They were among the first to developed a system of uniform weights and measure.</vt:lpstr>
      <vt:lpstr>Writing: Between 400 and as many 600 distinct Indus symbols have been founded on seals, small tablets, ceramic pots and more then a dozen other materials. </vt:lpstr>
      <vt:lpstr>Seals There were 891 Seal found. </vt:lpstr>
      <vt:lpstr>Jewelry: Various Sculptures and Women and Men were founded wearing different kind of Jewelry. Archaeologists have found evidence that Indus Valley people wore lots of jewelry, especially beads, necklaces, ear-rings and ear-studs, amulets, bangles and brooches.</vt:lpstr>
      <vt:lpstr>Bull and Cart: Indus Valley Civilization has been  the first Civilization to used Wheel Transport.</vt:lpstr>
      <vt:lpstr>Wells </vt:lpstr>
      <vt:lpstr>Drainage: There Drainage system was the most significant in the ancient world.  </vt:lpstr>
      <vt:lpstr>DustBin</vt:lpstr>
      <vt:lpstr>Decline of Indus Valley Civilization:  </vt:lpstr>
      <vt:lpstr>PowerPoint Presentation</vt:lpstr>
      <vt:lpstr>Decline of Indus Valley Civilization(cont.)  </vt:lpstr>
      <vt:lpstr>Conclusion: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Lib-001</dc:creator>
  <cp:lastModifiedBy>Fahad</cp:lastModifiedBy>
  <cp:revision>195</cp:revision>
  <dcterms:created xsi:type="dcterms:W3CDTF">2021-11-27T09:24:48Z</dcterms:created>
  <dcterms:modified xsi:type="dcterms:W3CDTF">2025-09-15T07:17:48Z</dcterms:modified>
</cp:coreProperties>
</file>