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89" r:id="rId2"/>
    <p:sldId id="256" r:id="rId3"/>
    <p:sldId id="257" r:id="rId4"/>
    <p:sldId id="29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handoutMaster" Target="handoutMasters/handout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notesMaster" Target="notesMasters/notesMaster1.xml" /><Relationship Id="rId40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7B92CC-2703-2B11-9CAB-49D2BD6E2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B900B-DE3C-05BA-B24B-655AC67093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FF631-3D5D-4231-AE4E-E93C847D8A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2991F-C86B-9728-60F4-9B2FA66A6D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111111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574F1-0549-70FC-7885-1A3E991124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E6960-C37E-4FC5-87A2-65E88FD2A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4921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19805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4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9.jpeg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6952A6-73E2-7918-D383-E7FC6361C265}"/>
              </a:ext>
            </a:extLst>
          </p:cNvPr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6032C-80C7-29B4-22ED-068E185911BD}"/>
              </a:ext>
            </a:extLst>
          </p:cNvPr>
          <p:cNvSpPr txBox="1"/>
          <p:nvPr/>
        </p:nvSpPr>
        <p:spPr>
          <a:xfrm>
            <a:off x="234042" y="1346981"/>
            <a:ext cx="5420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9A84C"/>
                </a:solidFill>
                <a:latin typeface="Georgia" pitchFamily="34" charset="0"/>
              </a:rPr>
              <a:t>Student’s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083E2-DC66-B224-9D82-70471FF0F3FD}"/>
              </a:ext>
            </a:extLst>
          </p:cNvPr>
          <p:cNvSpPr txBox="1"/>
          <p:nvPr/>
        </p:nvSpPr>
        <p:spPr>
          <a:xfrm>
            <a:off x="234042" y="1858220"/>
            <a:ext cx="1819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Manal Fatima </a:t>
            </a:r>
          </a:p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25F-CY-062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63607-5CE9-AE3A-7A06-9DB134C06FAD}"/>
              </a:ext>
            </a:extLst>
          </p:cNvPr>
          <p:cNvSpPr txBox="1"/>
          <p:nvPr/>
        </p:nvSpPr>
        <p:spPr>
          <a:xfrm>
            <a:off x="234042" y="2416963"/>
            <a:ext cx="1819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Taha Khan</a:t>
            </a:r>
          </a:p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25F-CY-088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7F9942-16E1-1993-02BB-7C8736EB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939" y="1019168"/>
            <a:ext cx="4103739" cy="31051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A9B753-EAEF-4774-2F07-B5F60F19695E}"/>
              </a:ext>
            </a:extLst>
          </p:cNvPr>
          <p:cNvSpPr txBox="1"/>
          <p:nvPr/>
        </p:nvSpPr>
        <p:spPr>
          <a:xfrm>
            <a:off x="272506" y="4124331"/>
            <a:ext cx="1819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Subject Teacher</a:t>
            </a:r>
          </a:p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Sir Faisal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30DA30-566D-7B28-608E-2C01A1BC393D}"/>
              </a:ext>
            </a:extLst>
          </p:cNvPr>
          <p:cNvSpPr txBox="1"/>
          <p:nvPr/>
        </p:nvSpPr>
        <p:spPr>
          <a:xfrm>
            <a:off x="234042" y="2940806"/>
            <a:ext cx="1754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Noor Fatima </a:t>
            </a:r>
          </a:p>
          <a:p>
            <a:r>
              <a:rPr lang="en-US" sz="1200" b="1" dirty="0">
                <a:solidFill>
                  <a:schemeClr val="bg1"/>
                </a:solidFill>
                <a:latin typeface="Georgia" pitchFamily="34" charset="0"/>
              </a:rPr>
              <a:t>25F-CY-108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F801FE-1D51-8D71-3837-455D335E8760}"/>
              </a:ext>
            </a:extLst>
          </p:cNvPr>
          <p:cNvSpPr txBox="1"/>
          <p:nvPr/>
        </p:nvSpPr>
        <p:spPr>
          <a:xfrm>
            <a:off x="6638829" y="210848"/>
            <a:ext cx="4575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itchFamily="34" charset="0"/>
              </a:rPr>
              <a:t>Date: 15-04-2026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88FABB-14D7-0F48-C2F7-B974C6A63E3D}"/>
              </a:ext>
            </a:extLst>
          </p:cNvPr>
          <p:cNvSpPr txBox="1"/>
          <p:nvPr/>
        </p:nvSpPr>
        <p:spPr>
          <a:xfrm>
            <a:off x="2685114" y="210848"/>
            <a:ext cx="161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eorgia" pitchFamily="34" charset="0"/>
              </a:rPr>
              <a:t>CYBER A2</a:t>
            </a:r>
            <a:endParaRPr lang="en-US" dirty="0"/>
          </a:p>
        </p:txBody>
      </p:sp>
      <p:sp>
        <p:nvSpPr>
          <p:cNvPr id="9001" name="SlideNumber1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>
                <a:solidFill>
                  <a:srgbClr val="33333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622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228600" cy="49971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731520"/>
            <a:ext cx="1920240" cy="192024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100584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0" y="128016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0" y="15544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&amp;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CONSTITUTIONAL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OF PAKISTAN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Independence to the Modern Democratic Era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1947 — 2025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Eras • Seven Constitutions • One Nation's Journey</a:t>
            </a:r>
            <a:endParaRPr lang="en-US" sz="1100" dirty="0"/>
          </a:p>
        </p:txBody>
      </p:sp>
      <p:sp>
        <p:nvSpPr>
          <p:cNvPr id="9001" name="SlideNumber2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Seven Political Eras —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1947–1958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115568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&amp; Instability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99616"/>
            <a:ext cx="1828800" cy="47548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1958–1971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700784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499616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Khan's Military Rule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1828800" cy="475488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1971–1977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2286000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2084832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Democratic Era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1828800" cy="47548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670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1977–1988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2871216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670048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ul-Haq's Islamization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182880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255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1988–1999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3456432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51760" y="3255264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Decade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182880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1999–2008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94560" y="4041648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51760" y="38404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Musharraf's Technocracy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425696"/>
            <a:ext cx="182880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425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2008–2025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94560" y="4626864"/>
            <a:ext cx="365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4425696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Democracy</a:t>
            </a:r>
            <a:endParaRPr lang="en-US" sz="1400" dirty="0"/>
          </a:p>
        </p:txBody>
      </p:sp>
      <p:sp>
        <p:nvSpPr>
          <p:cNvPr id="9001" name="SlideNumber3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82930"/>
          </a:xfrm>
          <a:prstGeom prst="rect">
            <a:avLst/>
          </a:prstGeom>
          <a:solidFill>
            <a:srgbClr val="1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05740" y="68581"/>
            <a:ext cx="6172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</a:rPr>
              <a:t>Lahore Resolution &amp; Basic Principles Committee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8092440" y="68580"/>
            <a:ext cx="891540" cy="377190"/>
          </a:xfrm>
          <a:prstGeom prst="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8092440" y="82297"/>
            <a:ext cx="8915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1940–1952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50" y="720090"/>
            <a:ext cx="4251960" cy="404622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171450" y="720090"/>
            <a:ext cx="48006" cy="40462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08610" y="788670"/>
            <a:ext cx="404622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1">
                <a:solidFill>
                  <a:srgbClr val="2C5F2D"/>
                </a:solidFill>
              </a:rPr>
              <a:t>Lahore Resolution — March 23, 1940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610" y="1131570"/>
            <a:ext cx="4011930" cy="270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Passed at the All-India Muslim League session in Lahore on March 23, 1940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Demanded independent states for Muslim-majority areas of northwestern and eastern India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Moved by A.K. Fazlul Haq (Premier of Bengal); presided over by Quaid-e-Azam Jinnah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Did not explicitly use 'Pakistan' — but became foundational document of Pakistan Movement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Declared that no constitutional plan would be acceptable unless Muslim-majority areas were grouped into independent states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Constituent units to be autonomous and sovereign; minorities' rights guaranteed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Later called 'Pakistan Resolution' — celebrated annually as Pakistan Day (March 23)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Rejected the concept of a united India under a single federal constitution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Galvanized Muslim political identity; gave the demand for Pakistan formal constitutional expression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730" y="720090"/>
            <a:ext cx="4251960" cy="404622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697730" y="720090"/>
            <a:ext cx="48006" cy="40462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4834890" y="788670"/>
            <a:ext cx="404622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1">
                <a:solidFill>
                  <a:srgbClr val="2C5F2D"/>
                </a:solidFill>
              </a:rPr>
              <a:t>Basic Principles Committee — 1947–1952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1131570"/>
            <a:ext cx="4011930" cy="285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Constituent Assembly of Pakistan formed a Basic Principles Committee (BPC) in March 1949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Tasked with drafting the basic principles of the future constitution of Pakistan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Chaired by Liaquat Ali Khan; sub-committees on franchise, federal structure, and fundamental rights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First BPC Report (1950): proposed unicameral legislature; equal representation for provinces — sparked East Pakistan controversy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East Pakistan rejected report — Bengali leaders demanded proportional representation based on population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Second BPC Report (1952): proposed bicameral legislature — House of Units and House of People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Recommended strong centre; federal structure with limited provincial autonomy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Controversy over parity vs. population representation between East and West Pakistan remained unresolved</a:t>
            </a:r>
          </a:p>
          <a:p>
            <a:pPr>
              <a:spcAft>
                <a:spcPts val="300"/>
              </a:spcAft>
            </a:pPr>
            <a:r>
              <a:rPr sz="938">
                <a:solidFill>
                  <a:srgbClr val="282828"/>
                </a:solidFill>
              </a:rPr>
              <a:t>• BPC reports laid groundwork for the Constitution of 1956 — though process took 9 years due to political deadlock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" y="4869180"/>
            <a:ext cx="9143771" cy="274320"/>
          </a:xfrm>
          <a:prstGeom prst="rect">
            <a:avLst/>
          </a:prstGeom>
          <a:solidFill>
            <a:srgbClr val="1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205740" y="4882896"/>
            <a:ext cx="61722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</a:rPr>
              <a:t>Political &amp; Constitutional History of Pakistan  |  Pre-Independence &amp; Early Constitution-Making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4882896"/>
            <a:ext cx="17145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B48C32"/>
                </a:solidFill>
              </a:rPr>
              <a:t>Era I  |  1940–1952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02A36F-EB4E-43DD-F0EC-AAA59CF3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D013821-DB2A-6E77-6DA9-08E15A9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111111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9B6624F-4338-4038-2811-0B04E5B4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B7A0BF-2851-9CA1-DA94-212892F3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34" y="3809026"/>
            <a:ext cx="2081026" cy="966171"/>
          </a:xfrm>
          <a:prstGeom prst="rect">
            <a:avLst/>
          </a:prstGeom>
        </p:spPr>
      </p:pic>
      <p:sp>
        <p:nvSpPr>
          <p:cNvPr id="9001" name="SlideNumber4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1947 – 1958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Independence, Constitution-Making &amp; Early Political Instability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E233C-6752-9D3F-9BC5-A30AA5349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178" y="1005840"/>
            <a:ext cx="3105509" cy="1645920"/>
          </a:xfrm>
          <a:prstGeom prst="rect">
            <a:avLst/>
          </a:prstGeom>
        </p:spPr>
      </p:pic>
      <p:sp>
        <p:nvSpPr>
          <p:cNvPr id="9001" name="SlideNumber5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of a Nation — Independence &amp; Early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1947–1958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&amp; Partition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achieved independence on August 14, 1947 under the leadership of Muhammad Ali Jinnah (Quaid-e-Azam)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from British India under the Indian Independence Act 1947, comprising West Pakistan and East Pakistan (separated by 1,600 km of Indian territory)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Jinnah became first Governor-General; Liaquat Ali Khan became first Prime Minister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Act 1935 adopted as interim constitution pending a new 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led to one of history's largest mass migrations — 14 million displaced, widespread violence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established at Karachi; no treasury, army, or civil service of its own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Constituent Assembly (elected 1946) tasked with drafting a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Resolution passed March 1949 — declared Pakistan an Islamic state; foundational for all future constitutions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Jinnah died September 1948 — enormous leadership vacuum created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Liaquat Ali Khan assassinated October 1951 — political chaos deepened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 PMs: Nazimuddin, Bogra, Chaudhry Mohammad Ali — rapid turnover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Governor-General Ghulam Mohammad dismissed PM Nazimuddin in 1953 — setting precedent for executive overreach</a:t>
            </a:r>
            <a:endParaRPr lang="en-US" sz="1150" dirty="0"/>
          </a:p>
        </p:txBody>
      </p:sp>
      <p:sp>
        <p:nvSpPr>
          <p:cNvPr id="9001" name="SlideNumber6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 of 1956 &amp; Political Breakdown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1947–1958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of 1956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constitution of Pakistan enacted on March 23, 1956 — Pakistan declared an Islamic Republic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system with bicameral legislature; President as constitutional head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declared state religion; fundamental rights guaranteed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scheme (1955) merged all West Pakistan provinces into one unit to balance East Pakistan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Iskander Mirza became first President under the new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structure with division of powers between center and provinces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Instability &amp; Coup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1947–1958, Pakistan had 7 Prime Ministers — democratic institutions never stabilized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parties, especially Muslim League, plagued by factionalism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Landlord-dominated politics resisted land reforms and mass participation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difficulties, refugee crises, and lack of administrative machinery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Iskander Mirza abrogated the 1956 Constitution on October 7, 1958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Ayub Khan declared Martial Law; within 20 days ousted Mirza himself — First Military Coup</a:t>
            </a:r>
            <a:endParaRPr lang="en-US" sz="1150" dirty="0"/>
          </a:p>
        </p:txBody>
      </p:sp>
      <p:sp>
        <p:nvSpPr>
          <p:cNvPr id="9001" name="SlideNumber7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dirty="0"/>
              <a:t>7</a:t>
            </a:r>
            <a:endParaRPr lang="en-US" sz="14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1947–1958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Muhammad Ali Jinnah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Gov-General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1947–1948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Quaid-e-Azam, founder of Pakistan. Led Muslim League's demand for a separate homeland. Died in office Sept 1948.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Liaquat Ali Khan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1947–1951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PM of Pakistan. Passed Objectives Resolution 1949. Assassinated Oct 1951 in Rawalpindi.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Ghulam Mohammad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Governor-General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1951–1955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Controversial G-G who dismissed elected PMs and undermined parliamentary democracy.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Iskander Mirza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1956–1958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President under 1956 Constitution. Abrogated it himself in Oct 1958; was then exiled by Ayub Khan.</a:t>
            </a:r>
            <a:endParaRPr lang="en-US" sz="1000" dirty="0"/>
          </a:p>
        </p:txBody>
      </p:sp>
      <p:sp>
        <p:nvSpPr>
          <p:cNvPr id="9001" name="SlideNumber8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1958 – 1971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Khan's Martial Law, Basic Democracies &amp; the 1962 Constitution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DD1C69-CF87-CDA8-0CD3-0B91481A8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37744"/>
            <a:ext cx="2505456" cy="2505456"/>
          </a:xfrm>
          <a:prstGeom prst="rect">
            <a:avLst/>
          </a:prstGeom>
        </p:spPr>
      </p:pic>
      <p:sp>
        <p:nvSpPr>
          <p:cNvPr id="9001" name="SlideNumber9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Ayub Khan's Military Government &amp; 1962 Constitution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1958–1971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Takeover &amp; Governance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Ayub Khan seized power October 27, 1958 — suspended constitution, dissolved assemblies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Imposed Martial Law Regulations; political parties banned until 1962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Basic Democracies Order 1959 — 80,000 elected 'Basic Democrats' at local level served as electoral college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 Referendum: Ayub given presidential mandate by Basic Democrats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reforms (1959) attempted to reduce feudal landholdings — partially implemented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industrialization and economic growth in 1960s earned label 'Decade of Development'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of 1962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constitution promulgated June 8, 1962 — Presidential system replacing parliamentary democracy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strong executive president; indirect elections through Basic Democrats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Assembly of 156 members; Provincial Assemblies created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 curtailed compared to 1956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named 'Republic of Pakistan' (Islamic removed from title initially)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scheme maintained; Dhaka declared second capital and seat of National Assembly</a:t>
            </a:r>
            <a:endParaRPr lang="en-US" sz="1150" dirty="0"/>
          </a:p>
        </p:txBody>
      </p:sp>
      <p:sp>
        <p:nvSpPr>
          <p:cNvPr id="9001" name="SlideNumber10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Decline of Ayub Khan &amp; the Road to East Pakistan Crisis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1958–1971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Opposition &amp; Agos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 Indo-Pak War ended in stalemate; Tashkent Declaration (January 1966) deeply unpopular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Zulfikar Ali Bhutto left cabinet; founded Pakistan People's Party (PPP) in 1967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Mujibur Rahman's Awami League demanded autonomy under Six-Point Programme (1966)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agitation movement in West Pakistan 1968–69 led by students and labor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Jinnah opposed Ayub in 1965 presidential election — lost in contested result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resigned March 25, 1969 — handed power to Army Chief Gen. Yahya Khan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Yahya Khan &amp; 1970 Elections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Yahya Khan declared Martial Law; abrogated 1962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Order (LFO) 1970 set rules for first general elections based on one-person-one-vote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elections held December 1970 — Awami League won absolute majority nationally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Awami League: 160/162 seats in East Pakistan; PPP: 81/138 in West Pakistan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of power refused by Yahya and Bhutto — triggering East Pakistan crisis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Searchlight launched March 25, 1971 — military crackdown in East Pakistan</a:t>
            </a:r>
            <a:endParaRPr lang="en-US" sz="1150" dirty="0"/>
          </a:p>
        </p:txBody>
      </p:sp>
      <p:sp>
        <p:nvSpPr>
          <p:cNvPr id="9001" name="SlideNumber11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1958–1971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Gen. Ayub Khan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/ CMLA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1958–1969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military ruler. Modernized economy but suppressed democracy. Resigned amid mass protests.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Z.A. Bhutto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/ PPP Founder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1963–1971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Minister under Ayub. Founded PPP 1967. Rose to power after 1971 breakup of Pakistan.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Sheikh Mujibur Rahman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Awami League Chief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1966–1971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East Pakistan's demand for autonomy. Won 1970 elections decisively. Became Bangladesh's founding father.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Gen. Yahya Khan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/ CMLA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1969–1971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1970 elections but refused to transfer power. Oversaw East Pakistan military operation; resigned after 1971 war.</a:t>
            </a:r>
            <a:endParaRPr lang="en-US" sz="1000" dirty="0"/>
          </a:p>
        </p:txBody>
      </p:sp>
      <p:sp>
        <p:nvSpPr>
          <p:cNvPr id="9001" name="SlideNumber12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1971 – 1977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Era — Constitution of 1973 &amp; Civilian Democracy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770AB8-6551-82A5-EFEE-69B71B83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972" y="1200152"/>
            <a:ext cx="2571745" cy="1543048"/>
          </a:xfrm>
          <a:prstGeom prst="rect">
            <a:avLst/>
          </a:prstGeom>
        </p:spPr>
      </p:pic>
      <p:sp>
        <p:nvSpPr>
          <p:cNvPr id="9001" name="SlideNumber13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1971 War, Dismemberment &amp; Bhutto's Rise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1971–1977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 War &amp; Bangladesh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military intervened December 3, 1971; Pakistani forces in East Pakistan surrendered December 16, 1971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93,000 Pakistani soldiers became POWs — largest military surrender since World War II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Pakistan became independent Bangladesh — Pakistan lost more than half its population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Yahya Khan resigned; Zulfikar Ali Bhutto became President and Chief Martial Law Administrator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Simla Agreement (July 1972) signed with India — normalized relations; POWs returned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trauma redefined Pakistan's identity; military's prestige shattered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Democratic Socialism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 introduced sweeping nationalization: banks, industries, schools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reforms (1972) — ceiling on individual landholdings reduced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reforms, free education policy, expanded social services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concept of 'Islamic Socialism'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with major powers reoriented; 1974 Islamic Summit hosted in Lahore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nuclear weapons program initiated after India's 1974 nuclear test</a:t>
            </a:r>
            <a:endParaRPr lang="en-US" sz="1150" dirty="0"/>
          </a:p>
        </p:txBody>
      </p:sp>
      <p:sp>
        <p:nvSpPr>
          <p:cNvPr id="9001" name="SlideNumber14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 of 1973 — Pakistan's Enduring Charter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1971–1977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1973 Constitution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by consensus of all major parties — April 12, 1973; came into effect August 14, 1973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democracy restored — PM as chief executive; President as constitutional head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Bicameral parliament: National Assembly (lower) + Senate (upper, representing provinces)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as state religion; Quran and Sunnah as supreme law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 with strong provisions on equality, expression, assembly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structure with Concurrent Legislative List for center-province shared powers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force today — though amended 25+ times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Decline &amp; Fall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 general elections — PPP won landslide; opposition Pakistan National Alliance (PNA) alleged massive rigging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protests paralyzed the country for months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 agreed to negotiate with PNA but military stepped 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Zia ul-Haq ousted Bhutto on July 5, 1977 — Third Martial Law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 arrested and tried for alleged murder of a political opponent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April 4, 1979 — most controversial judicial execution in Pakistani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and Bhutto's legacy dominated Pakistani politics for decades after</a:t>
            </a:r>
            <a:endParaRPr lang="en-US" sz="1150" dirty="0"/>
          </a:p>
        </p:txBody>
      </p:sp>
      <p:sp>
        <p:nvSpPr>
          <p:cNvPr id="9001" name="SlideNumber15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1971–1977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Z.A. Bhutto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/ PM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1971–1977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charismatic Pakistani leader. Gave Pakistan its 1973 constitution. Overthrown by Zia; executed 1979.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Nurul Amin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(briefly)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1971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PM under Yahya's martial law. In office only a few weeks during the 1971 war's final days.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FBZ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Begum Nusrat Bhutto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Leader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1977–1988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PPP after ZAB's imprisonment and execution. Kept party alive through Zia's repression.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Fazlur Rehman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Negotiator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scholars and multiple parties negotiated the 1973 constitution — a rare moment of consensus.</a:t>
            </a:r>
            <a:endParaRPr lang="en-US" sz="1000" dirty="0"/>
          </a:p>
        </p:txBody>
      </p:sp>
      <p:sp>
        <p:nvSpPr>
          <p:cNvPr id="9001" name="SlideNumber16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1977 – 1988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Zia ul-Haq — Islamization, Afghan War &amp; Constitutional Amendments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3BE5D3-934B-4578-751B-3E94E306C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221" y="691515"/>
            <a:ext cx="3419475" cy="2051685"/>
          </a:xfrm>
          <a:prstGeom prst="rect">
            <a:avLst/>
          </a:prstGeom>
        </p:spPr>
      </p:pic>
      <p:sp>
        <p:nvSpPr>
          <p:cNvPr id="9001" name="SlideNumber17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Zia's Martial Law &amp; Islamization Program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1977–1988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Rule &amp; Political Suppression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Muhammad Zia ul-Haq declared Martial Law July 5, 1977 — suspended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elections in 90 days — elections postponed repeatedly for 11 years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parties banned, press censored; public floggings and amputation as punishments introduced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Bhutto's trial and execution (1979) deeply polarized the nation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for Restoration of Democracy (MRD) launched 1981 — Sind became center of resistance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Non-party elections held 1985 under Zia's new constitutional framework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Islamization Policies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Hudood Ordinances (1979): punishment for adultery, theft, alcohol under Sharia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Blasphemy laws significantly strengthened (Section 295-C added 1986)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and Ushr Ordinance (1980): compulsory Islamic wealth tax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Shariat Court established to review laws against Quran and Sunnah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electorates for non-Muslims — minorities marginalized in politics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Islamization of education curriculum — textbooks rewritten with religious emphasis</a:t>
            </a:r>
            <a:endParaRPr lang="en-US" sz="1150" dirty="0"/>
          </a:p>
        </p:txBody>
      </p:sp>
      <p:sp>
        <p:nvSpPr>
          <p:cNvPr id="9001" name="SlideNumber18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Afghan Jihad, 8th Amendment &amp; Zia's Legacy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1977–1988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Afghan War &amp; Geopolitics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invasion of Afghanistan (Dec 1979) transformed Pakistan into a frontline state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became conduit for US/Saudi arms to Afghan Mujahideen via ISI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million Afghan refugees arrived in Pakistan — largest refugee population at the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received massive military and economic aid from USA ($3.2 billion in 1980s)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Kalashnikov culture and narcotics trade entered Pakistan as side effects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weapons program accelerated under A.Q. Khan — Pakistan tested cold devices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Amendment &amp; Constitutional Legacy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Revival of Constitution Order 1985 — 1973 constitution restored with major amendments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Amendment (1985): President given power to dismiss PM and dissolve assemblies (Article 58-2b)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'Troika' system: President, PM, and Army Chief sharing power informally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Zia died in air crash August 17, 1988 along with US Ambassador and senior military officers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crash remains disputed — sabotage never conclusively proven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Zia's Islamization irreversibly changed Pakistani society, law, and politics</a:t>
            </a:r>
            <a:endParaRPr lang="en-US" sz="1150" dirty="0"/>
          </a:p>
        </p:txBody>
      </p:sp>
      <p:sp>
        <p:nvSpPr>
          <p:cNvPr id="9001" name="SlideNumber19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1977–1988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Gen. Zia ul-Haq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CMLA / President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1977–1988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Longest-ruling military dictator. Islamized Pakistan's legal system. Died in mysterious air crash 1988.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Ghulam Ishaq Khan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Senate Chairman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1985–1988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bureaucrat-turned-politician. Became President after Zia's death; used 8th Amendment to dismiss PMs.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Muhammad Khan Junejo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1985–1988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 PM under Zia. Dismissed by Zia for signing Geneva Accords on Afghanistan independently.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Benazir Bhutto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Leader / Exiled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1984–1988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from exile 1986 to massive crowds. Led PPP to election victory after Zia's death in 1988.</a:t>
            </a:r>
            <a:endParaRPr lang="en-US" sz="1000" dirty="0"/>
          </a:p>
        </p:txBody>
      </p:sp>
      <p:sp>
        <p:nvSpPr>
          <p:cNvPr id="9001" name="SlideNumber20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1988 – 1999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Decade — Benazir &amp; Nawaz, the 8th Amendment Carousel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9C4130-26BE-E324-88B6-88DC54B19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741" y="830036"/>
            <a:ext cx="3068004" cy="1753145"/>
          </a:xfrm>
          <a:prstGeom prst="rect">
            <a:avLst/>
          </a:prstGeom>
        </p:spPr>
      </p:pic>
      <p:sp>
        <p:nvSpPr>
          <p:cNvPr id="9001" name="SlideNumber21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Democratic Decade — Alternating Governments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1988–1999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Benazir's First Term (1988–1990)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won November 1988 elections — Benazir Bhutto became PM, first female PM in Muslim world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weak — dependent on MQM alliance; military and President constrained 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Ghulam Ishaq Khan dismissed her government Aug 1990 under 8th Amendment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of corruption and incompetence; fresh elections called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Sharif's First Term (1990–1993)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Sharif (IJI) won Oct 1990 elections with large majority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liberalization, privatization, infrastructure development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with President GIK and Army Chief Gen. Asif Nawaz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PM Nawaz and President GIK dismissed each other in 1993 constitutional crisis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brokered both resignations; caretaker government installed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initially restored Nawaz but he ultimately resigned under pressure</a:t>
            </a:r>
            <a:endParaRPr lang="en-US" sz="1150" dirty="0"/>
          </a:p>
        </p:txBody>
      </p:sp>
      <p:sp>
        <p:nvSpPr>
          <p:cNvPr id="9001" name="SlideNumber22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Instability &amp; Kargil Crisis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1988–1999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Benazir's 2nd Term &amp; Nawaz's 2nd Term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won 1993 elections — second term as PM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Farooq Leghari (PPP nominee) became President but dismissed BB's govt in 1996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Charges: corruption, extra-judicial killings (Karachi operation), husband Asif Zardari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Sharif won Feb 1997 elections with massive 2/3 majority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Amendment (1997): abolished President's power to dismiss PM under 58-2b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declared Pakistan a nuclear power after India's 1998 Pokhran tests — massive popular support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Kargil War &amp; Military Coup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Kargil War (May–July 1999): Pakistani soldiers/militants occupied Indian positions in Kashmir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claimed he was not informed of operation — civil-military tensions peaked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intervention forced withdrawal; Nawaz blamed Army; Gen. Musharraf blamed civilian interference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 attempted to dismiss Gen. Musharraf while he was airborne returning from Sri Lanka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stopped plane at Karachi airport; October 12, 1999 — Gen. Musharraf declared emergency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military coup — Nawaz arrested, tried, exiled to Saudi Arabia</a:t>
            </a:r>
            <a:endParaRPr lang="en-US" sz="1150" dirty="0"/>
          </a:p>
        </p:txBody>
      </p:sp>
      <p:sp>
        <p:nvSpPr>
          <p:cNvPr id="9001" name="SlideNumber23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1988–1999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BBZ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Benazir Bhutto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1988–90, 93–96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elected PM. Navigated constant civilian-military tension. Assassinated 2007 on return from exile.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Nawaz Sharif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1990–93, 97–99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Pakistan's nuclear tests 1998. Dismissed twice. Exiled by Musharraf 1999; returned 2007.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Ghulam Ishaq Khan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1988–1993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8th Amendment to dismiss two elected PMs. Eventually resigned amid constitutional standoff.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Farooq Leghari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1993–1997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nominee who dismissed his own party's PM Benazir Bhutto in 1996 on corruption charges.</a:t>
            </a:r>
            <a:endParaRPr lang="en-US" sz="1000" dirty="0"/>
          </a:p>
        </p:txBody>
      </p:sp>
      <p:sp>
        <p:nvSpPr>
          <p:cNvPr id="9001" name="SlideNumber24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 – 2008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Musharraf — Enlightened Moderation, War on Terror &amp; 17th Amendment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90536A-7C71-958E-DAD2-B100FF6F4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527" y="1536061"/>
            <a:ext cx="1810473" cy="1207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53CB17-1BCC-7D6B-4CB8-D3CDC04B5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703" y="336176"/>
            <a:ext cx="1459096" cy="1683572"/>
          </a:xfrm>
          <a:prstGeom prst="rect">
            <a:avLst/>
          </a:prstGeom>
        </p:spPr>
      </p:pic>
      <p:sp>
        <p:nvSpPr>
          <p:cNvPr id="9001" name="SlideNumber25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Musharraf's Military Government &amp; Reforms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of Power &amp; Early Reforms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Pervez Musharraf declared himself Chief Executive Oct 12, 1999; later President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Constitutional Order (PCO) 1999 suspended constitution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Accountability Bureau (NAB) established — anti-corruption accountability courts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Devolution Plan: Local Government Ordinance 2001 created elected district government system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revolution — private TV channels and FM radio licensed for first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macroeconomic stabilization, debt rescheduling after 9/11 dividend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Post-9/11 Alignment &amp; War on Terror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joined US-led War on Terror after September 11, 2001 — US sanctions lifted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aid; army deployed to FATA to fight Al-Qaeda and Taliban affiliates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in South Waziristan, North Waziristan; hundreds of Al-Qaeda leaders captured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Terrorism blowback: major attacks in Pakistani cities; suicide bombings became routine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Musharraf survived multiple assassination attempts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Afghan Taliban leadership sheltered in Quetta (Quetta Shura) — double game allegations</a:t>
            </a:r>
            <a:endParaRPr lang="en-US" sz="1150" dirty="0"/>
          </a:p>
        </p:txBody>
      </p:sp>
      <p:sp>
        <p:nvSpPr>
          <p:cNvPr id="9001" name="SlideNumber26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17th Amendment, Judicial Crisis &amp; Return of Democracy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17th Amendment &amp; Constitutional Changes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Order (LFO) 2002: constitutional amendments via decree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17th Constitutional Amendment (Dec 2003): legitimized Musharraf's changes; NSC institutionalized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58-2b restored — President could again dismiss PM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elections under new political engineering — MMA (religious alliance) won large bloc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Zafarullah Khan Jamali, then Shaukat Aziz as PM; power really with Musharraf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 Crisis &amp; Fall of Musharraf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2007: Musharraf suspended Chief Justice Iftikhar Chaudhry — lawyers' movement erupted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Lawyers' Long March — nationwide civil society movement demanding judicial independence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declared November 3, 2007 — judges sacked, new PCO imposed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returned from exile Oct 2007; assassinated December 27, 2007 in Rawalpindi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2008 elections: PPP won; Asif Ali Zardari became President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Musharraf resigned August 18, 2008 under impeachment threat — went into exile</a:t>
            </a:r>
            <a:endParaRPr lang="en-US" sz="1150" dirty="0"/>
          </a:p>
        </p:txBody>
      </p:sp>
      <p:sp>
        <p:nvSpPr>
          <p:cNvPr id="9001" name="SlideNumber27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1999–2008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VI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Gen. Pervez Musharraf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 / President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last military ruler. 'Enlightened moderation' doctrine. Resigned 2008; convicted in absentia 2019.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ZAJ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Zafarullah Jamali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2002–2004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PM from Balochistan. Resigned under pressure; replaced by more Musharraf-friendly Shaukat Aziz.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SAZ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Shaukat Aziz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Ex-Citibank banker. Managed economic growth period. Faced growing terrorism and political challenges.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CJ Iftikhar Chaudhry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Justice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2005–2013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figure of lawyers' movement. Reinstated 2009; led activist Supreme Court era.</a:t>
            </a:r>
            <a:endParaRPr lang="en-US" sz="1000" dirty="0"/>
          </a:p>
        </p:txBody>
      </p:sp>
      <p:sp>
        <p:nvSpPr>
          <p:cNvPr id="9001" name="SlideNumber28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54864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 – 2025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of Democracy, 18th Amendment, PTI Revolution &amp; Hybrid Regime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3E18F-B6A0-6910-6491-490A1735E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496" y="3393759"/>
            <a:ext cx="3176200" cy="1670681"/>
          </a:xfrm>
          <a:prstGeom prst="rect">
            <a:avLst/>
          </a:prstGeom>
        </p:spPr>
      </p:pic>
      <p:sp>
        <p:nvSpPr>
          <p:cNvPr id="9001" name="SlideNumber29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PPP Government &amp; 18th Amendment (2008–2013)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PPP's Democratic Governance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won Feb 2008 elections; Yousuf Raza Gilani became PM; Asif Zardari became President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civilian government to complete full 5-year term since independence (2008–2013)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Judges' Restoration: Chief Justice Iftikhar Chaudhry restored March 2009 after Long March pressure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became assertive — contempt cases, suo motu actions, PM dismissal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Gilani disqualified by Supreme Court 2012 for contempt; PM Raja Pervaiz Ashraf continued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terrorism, energy crisis, floods of 2010 (affecting 20 million) challenged governance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18th Amendment — Constitutional Watershed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18th Constitutional Amendment (April 2010): most comprehensive amendment in Pakistan's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Presidential power to dissolve assembly (58-2b) abolished — restored parliamentary supremacy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Legislative List abolished — major devolution of power to provinces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NWFP to Khyber Pakhtunkhwa (KPK)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Senate and provincial governments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PM's term limits removed, federalism significantly strengthened</a:t>
            </a:r>
            <a:endParaRPr lang="en-US" sz="1150" dirty="0"/>
          </a:p>
        </p:txBody>
      </p:sp>
      <p:sp>
        <p:nvSpPr>
          <p:cNvPr id="9001" name="SlideNumber30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Nawaz Sharif's Third Term &amp; PTI Rise (2013–2018)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Nawaz's Third Term &amp; Panama Papers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PML-N won May 2013 elections — first democratic transfer of power between two civilian governments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Nawaz Sharif focused on infrastructure: CPEC, motorways, Lahore Orange Line Metro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CPEC (China-Pakistan Economic Corridor): $62 billion investments announced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Panama Papers leaks (2016) revealed offshore accounts of Nawaz family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disqualified Nawaz Sharif in July 2017 (Panamagate verdict)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Khaqan Abbasi completed remainder of term as PM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PTI's Rise &amp; 2018 Elections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Khan's PTI had emerged as third force through 2011 Lahore jalsa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elections contested — PTI won with military backing allegations from opposition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 became PM August 2018; promised 'Naya Pakistan' — anti-corruption, welfare state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crisis, IMF bailout, rupee devaluation marked PTI's tenure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grey-listing; crackdown on militant financing; relations with US deteriorated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united under PDM (Pakistan Democratic Movement) in 2020</a:t>
            </a:r>
            <a:endParaRPr lang="en-US" sz="1150" dirty="0"/>
          </a:p>
        </p:txBody>
      </p:sp>
      <p:sp>
        <p:nvSpPr>
          <p:cNvPr id="9001" name="SlideNumber31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Imran Khan's Ouster, Hybrid Regime &amp; 2024 Elections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82296" cy="3977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of No-Confidence &amp; Political Crisis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2022: Imran Khan removed through vote of no-confidence — first PM to be so removed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Shehbaz Sharif (PML-N) became PM; coalition PDM government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 launched massive protest movement; May 9, 2023 — military installations attacked after his arrest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 leaders arrested en masse; party declared terrorist organization by some provincial govts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 arrested Aug 2023; multiple cases including cipher case, iddat case filed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crisis deepened — inflation over 38%, rupee at record lows; IMF program renegotiated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Elections &amp; Current Period (2024–2025)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elections February 8, 2024 — PTI (as independents) won most seats but denied majority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PML-N and PPP formed coalition government; Shehbaz Sharif returned as PM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 Ali Zardari elected President for second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26th Constitutional Amendment (Oct 2024): judiciary restructured; constitutional benches established — highly controversial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 continued protests; Imran Khan remained imprisoned; political polarization at historic high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stabilized somewhat with IMF Extended Fund Facility; inflation easing but challenges remain (2025)</a:t>
            </a:r>
            <a:endParaRPr lang="en-US" sz="1150" dirty="0"/>
          </a:p>
        </p:txBody>
      </p:sp>
      <p:sp>
        <p:nvSpPr>
          <p:cNvPr id="9001" name="SlideNumber32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— 2008–2025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VII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Asif Ali Zardari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/ PPP Co-Chair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2008–2013, 2024–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President after Benazir's assassination. Oversaw 18th Amendment. Elected President again in 2024.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Nawaz Sharif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PM tenure ended by Supreme Court's Panamagate verdict. Returned from exile 2023; son Maryam now leads PML-N.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960120"/>
            <a:ext cx="822960" cy="82296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Imran Khan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 / PTI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legend turned PM. Ousted by no-confidence vote 2022. Imprisoned 2023; became center of mass political movement.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1920240" cy="4023360"/>
          </a:xfrm>
          <a:prstGeom prst="rect">
            <a:avLst/>
          </a:prstGeom>
          <a:solidFill>
            <a:srgbClr val="F0F7F4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960120"/>
            <a:ext cx="822960" cy="82296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2376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Shehbaz Sharif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Minister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2022–23, 2024–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2004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PM heading PML-N led coalition. Focused on economic stabilization and IMF program continuity.</a:t>
            </a:r>
            <a:endParaRPr lang="en-US" sz="1000" dirty="0"/>
          </a:p>
        </p:txBody>
      </p:sp>
      <p:sp>
        <p:nvSpPr>
          <p:cNvPr id="9001" name="SlideNumber33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Constitutional Milestones — Comparative Overview</a:t>
            </a:r>
            <a:endParaRPr lang="en-US" sz="17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502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/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Govt. of India Act 1935 (adapted)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Governor-General/PM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constitution; British framework retained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Constitution 1956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of 1956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Parliamentary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Islamic Republic; PM supreme; provincial autonomy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Ayub's coup 1958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of 1962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Democracies; indirect elections; strong presidency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Yahya's Martial Law 1969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of 1973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Parliamentary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Senate created; Islam as state religion; still in 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Zia's Martial Law 1977 (suspended)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 1981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Martial Law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Zia's constitutional orders; 8th Amendment 1985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 Revival of Constitution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8th Amendment 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Semi-Presidential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 could dismiss PM; Troika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13th Amendment 1997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 1999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Military/CE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Musharraf's constitutional order; LFO 2002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18th Amendment era 2008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18th Amendment (1973 restored)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Parliamentary (devolved)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Provinces empowered; presidential power curtailed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(26th Amendment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01" name="SlideNumber34"/>
          <p:cNvSpPr txBox="1"/>
          <p:nvPr/>
        </p:nvSpPr>
        <p:spPr>
          <a:xfrm>
            <a:off x="3657600" y="4800000"/>
            <a:ext cx="1828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/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Themes in Pakistan's Political History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Civil-Military Imbalance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intervened 4 times; even civilian govts operated under military influence — the 'hybrid' model.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Constitutional Fragility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constitutions in 25 years; the 1973 constitution survived through 26 amendments by 2025.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 &amp; the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Objectives Resolution (1949) to Zia's Islamization — religion's role in state fiercely contested.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Democratic Struggle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PM completed a full term until 2013. First peaceful transfer between civilian govts occurred in 2013.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92608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Geopolitical Pressures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4015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War, Afghan Jihad, War on Terror, CPEC — external factors repeatedly shaped domestic politics.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2926080"/>
            <a:ext cx="265176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Judiciary's Evolving Role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4015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rubber stamp to activist — lawyers' movement and 18th Amendment transformed judicial independence.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"Democracy is the best revenge." — Benazir Bhutto  |  Pakistan — A Nation Resilient in Pursuit of Constitutional Governance</a:t>
            </a:r>
            <a:endParaRPr lang="en-US" sz="900" dirty="0"/>
          </a:p>
        </p:txBody>
      </p:sp>
      <p:sp>
        <p:nvSpPr>
          <p:cNvPr id="9001" name="SlideNumber35"/>
          <p:cNvSpPr txBox="1"/>
          <p:nvPr/>
        </p:nvSpPr>
        <p:spPr>
          <a:xfrm>
            <a:off x="8503920" y="4498848"/>
            <a:ext cx="640080" cy="557784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0" dirty="0">
                <a:solidFill>
                  <a:srgbClr val="FFFFFF"/>
                </a:solidFill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4137</Words>
  <Application>Microsoft Office PowerPoint</Application>
  <PresentationFormat>On-screen Show (16:9)</PresentationFormat>
  <Paragraphs>572</Paragraphs>
  <Slides>35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Political &amp; Constitutional History of Pakistan</dc:title>
  <dc:subject>PptxGenJS Presentation</dc:subject>
  <dc:creator>PptxGenJS</dc:creator>
  <cp:lastModifiedBy>Noor Bhatti</cp:lastModifiedBy>
  <cp:revision>8</cp:revision>
  <dcterms:created xsi:type="dcterms:W3CDTF">2026-04-07T09:31:31Z</dcterms:created>
  <dcterms:modified xsi:type="dcterms:W3CDTF">2026-04-15T03:57:19Z</dcterms:modified>
</cp:coreProperties>
</file>