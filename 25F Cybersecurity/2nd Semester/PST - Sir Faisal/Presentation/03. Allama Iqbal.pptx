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  <p:sldMasterId id="2147483683" r:id="rId3"/>
    <p:sldMasterId id="2147483695" r:id="rId4"/>
  </p:sldMasterIdLst>
  <p:notesMasterIdLst>
    <p:notesMasterId r:id="rId34"/>
  </p:notesMasterIdLst>
  <p:sldIdLst>
    <p:sldId id="256" r:id="rId5"/>
    <p:sldId id="257" r:id="rId6"/>
    <p:sldId id="296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3" r:id="rId32"/>
    <p:sldId id="282" r:id="rId33"/>
  </p:sldIdLst>
  <p:sldSz cx="9144000" cy="6858000" type="screen4x3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rtl="0" eaLnBrk="1" fontAlgn="base" latinLnBrk="0" hangingPunct="1">
      <a:lnSpc>
        <a:spcPct val="100000"/>
      </a:lnSpc>
      <a:spcBef>
        <a:spcPts val="0"/>
      </a:spcBef>
      <a:spcAft>
        <a:spcPts val="0"/>
      </a:spcAft>
      <a:buNone/>
      <a:defRPr sz="1800" b="0" i="0" u="none" baseline="0">
        <a:solidFill>
          <a:schemeClr val="tx1"/>
        </a:solidFill>
        <a:latin typeface="Rockwell" pitchFamily="18" charset="0"/>
        <a:ea typeface="宋体" charset="0"/>
        <a:cs typeface="Rockwell" pitchFamily="18" charset="0"/>
      </a:defRPr>
    </a:lvl1pPr>
    <a:lvl2pPr marL="457200" indent="0" algn="l" defTabSz="914400" rtl="0" eaLnBrk="1" fontAlgn="base" latinLnBrk="0" hangingPunct="1">
      <a:lnSpc>
        <a:spcPct val="100000"/>
      </a:lnSpc>
      <a:spcBef>
        <a:spcPts val="0"/>
      </a:spcBef>
      <a:spcAft>
        <a:spcPts val="0"/>
      </a:spcAft>
      <a:buNone/>
      <a:defRPr sz="1800" b="0" i="0" u="none" baseline="0">
        <a:solidFill>
          <a:schemeClr val="tx1"/>
        </a:solidFill>
        <a:latin typeface="Rockwell" pitchFamily="18" charset="0"/>
        <a:ea typeface="宋体" charset="0"/>
        <a:cs typeface="Rockwell" pitchFamily="18" charset="0"/>
      </a:defRPr>
    </a:lvl2pPr>
    <a:lvl3pPr marL="914400" indent="0" algn="l" defTabSz="914400" rtl="0" eaLnBrk="1" fontAlgn="base" latinLnBrk="0" hangingPunct="1">
      <a:lnSpc>
        <a:spcPct val="100000"/>
      </a:lnSpc>
      <a:spcBef>
        <a:spcPts val="0"/>
      </a:spcBef>
      <a:spcAft>
        <a:spcPts val="0"/>
      </a:spcAft>
      <a:buNone/>
      <a:defRPr sz="1800" b="0" i="0" u="none" baseline="0">
        <a:solidFill>
          <a:schemeClr val="tx1"/>
        </a:solidFill>
        <a:latin typeface="Rockwell" pitchFamily="18" charset="0"/>
        <a:ea typeface="宋体" charset="0"/>
        <a:cs typeface="Rockwell" pitchFamily="18" charset="0"/>
      </a:defRPr>
    </a:lvl3pPr>
    <a:lvl4pPr marL="1371600" indent="0" algn="l" defTabSz="914400" rtl="0" eaLnBrk="1" fontAlgn="base" latinLnBrk="0" hangingPunct="1">
      <a:lnSpc>
        <a:spcPct val="100000"/>
      </a:lnSpc>
      <a:spcBef>
        <a:spcPts val="0"/>
      </a:spcBef>
      <a:spcAft>
        <a:spcPts val="0"/>
      </a:spcAft>
      <a:buNone/>
      <a:defRPr sz="1800" b="0" i="0" u="none" baseline="0">
        <a:solidFill>
          <a:schemeClr val="tx1"/>
        </a:solidFill>
        <a:latin typeface="Rockwell" pitchFamily="18" charset="0"/>
        <a:ea typeface="宋体" charset="0"/>
        <a:cs typeface="Rockwell" pitchFamily="18" charset="0"/>
      </a:defRPr>
    </a:lvl4pPr>
    <a:lvl5pPr marL="1828800" indent="0" algn="l" defTabSz="914400" rtl="0" eaLnBrk="1" fontAlgn="base" latinLnBrk="0" hangingPunct="1">
      <a:lnSpc>
        <a:spcPct val="100000"/>
      </a:lnSpc>
      <a:spcBef>
        <a:spcPts val="0"/>
      </a:spcBef>
      <a:spcAft>
        <a:spcPts val="0"/>
      </a:spcAft>
      <a:buNone/>
      <a:defRPr sz="1800" b="0" i="0" u="none" baseline="0">
        <a:solidFill>
          <a:schemeClr val="tx1"/>
        </a:solidFill>
        <a:latin typeface="Rockwell" pitchFamily="18" charset="0"/>
        <a:ea typeface="宋体" charset="0"/>
        <a:cs typeface="Rockwell" pitchFamily="18" charset="0"/>
      </a:defRPr>
    </a:lvl5pPr>
    <a:lvl6pPr marL="1828800" indent="0" algn="l" defTabSz="914400" rtl="0" eaLnBrk="1" fontAlgn="base" latinLnBrk="0" hangingPunct="1">
      <a:lnSpc>
        <a:spcPct val="100000"/>
      </a:lnSpc>
      <a:spcBef>
        <a:spcPts val="0"/>
      </a:spcBef>
      <a:spcAft>
        <a:spcPts val="0"/>
      </a:spcAft>
      <a:buNone/>
      <a:defRPr sz="1800" b="0" i="0" u="none" baseline="0">
        <a:solidFill>
          <a:schemeClr val="tx1"/>
        </a:solidFill>
        <a:latin typeface="Rockwell" pitchFamily="18" charset="0"/>
        <a:ea typeface="宋体" charset="0"/>
        <a:cs typeface="Rockwell" pitchFamily="18" charset="0"/>
      </a:defRPr>
    </a:lvl6pPr>
    <a:lvl7pPr marL="1828800" indent="0" algn="l" defTabSz="914400" rtl="0" eaLnBrk="1" fontAlgn="base" latinLnBrk="0" hangingPunct="1">
      <a:lnSpc>
        <a:spcPct val="100000"/>
      </a:lnSpc>
      <a:spcBef>
        <a:spcPts val="0"/>
      </a:spcBef>
      <a:spcAft>
        <a:spcPts val="0"/>
      </a:spcAft>
      <a:buNone/>
      <a:defRPr sz="1800" b="0" i="0" u="none" baseline="0">
        <a:solidFill>
          <a:schemeClr val="tx1"/>
        </a:solidFill>
        <a:latin typeface="Rockwell" pitchFamily="18" charset="0"/>
        <a:ea typeface="宋体" charset="0"/>
        <a:cs typeface="Rockwell" pitchFamily="18" charset="0"/>
      </a:defRPr>
    </a:lvl7pPr>
    <a:lvl8pPr marL="1828800" indent="0" algn="l" defTabSz="914400" rtl="0" eaLnBrk="1" fontAlgn="base" latinLnBrk="0" hangingPunct="1">
      <a:lnSpc>
        <a:spcPct val="100000"/>
      </a:lnSpc>
      <a:spcBef>
        <a:spcPts val="0"/>
      </a:spcBef>
      <a:spcAft>
        <a:spcPts val="0"/>
      </a:spcAft>
      <a:buNone/>
      <a:defRPr sz="1800" b="0" i="0" u="none" baseline="0">
        <a:solidFill>
          <a:schemeClr val="tx1"/>
        </a:solidFill>
        <a:latin typeface="Rockwell" pitchFamily="18" charset="0"/>
        <a:ea typeface="宋体" charset="0"/>
        <a:cs typeface="Rockwell" pitchFamily="18" charset="0"/>
      </a:defRPr>
    </a:lvl8pPr>
    <a:lvl9pPr marL="1828800" indent="0" algn="l" defTabSz="914400" rtl="0" eaLnBrk="1" fontAlgn="base" latinLnBrk="0" hangingPunct="1">
      <a:lnSpc>
        <a:spcPct val="100000"/>
      </a:lnSpc>
      <a:spcBef>
        <a:spcPts val="0"/>
      </a:spcBef>
      <a:spcAft>
        <a:spcPts val="0"/>
      </a:spcAft>
      <a:buNone/>
      <a:defRPr sz="1800" b="0" i="0" u="none" baseline="0">
        <a:solidFill>
          <a:schemeClr val="tx1"/>
        </a:solidFill>
        <a:latin typeface="Rockwell" pitchFamily="18" charset="0"/>
        <a:ea typeface="宋体" charset="0"/>
        <a:cs typeface="Rockwell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dt"/>
          </p:nvPr>
        </p:nvSpPr>
        <p:spPr>
          <a:xfrm>
            <a:off x="3884612" y="0"/>
            <a:ext cx="2971799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2">
              <a:rPr lang="zh-CN" altLang="en-US" sz="1200" b="0" i="0" u="none" strike="noStrike" kern="0" cap="none" spc="0" baseline="0">
                <a:solidFill>
                  <a:schemeClr val="tx1"/>
                </a:solidFill>
                <a:latin typeface="Calibri" pitchFamily="34" charset="0"/>
                <a:ea typeface="宋体" charset="0"/>
                <a:cs typeface="Calibri" pitchFamily="34" charset="0"/>
              </a:rPr>
              <a:t>2026年3月16日</a:t>
            </a:fld>
            <a:endParaRPr lang="zh-CN" altLang="en-US" sz="120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/>
          </a:ln>
        </p:spPr>
      </p:sp>
      <p:sp>
        <p:nvSpPr>
          <p:cNvPr id="5" name="文本框"/>
          <p:cNvSpPr>
            <a:spLocks noGrp="1"/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/>
          </p:nvPr>
        </p:nvSpPr>
        <p:spPr>
          <a:xfrm>
            <a:off x="3884612" y="8685213"/>
            <a:ext cx="2971799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Calibri" pitchFamily="34" charset="0"/>
                <a:ea typeface="宋体" charset="0"/>
                <a:cs typeface="Calibri" pitchFamily="34" charset="0"/>
              </a:rPr>
              <a:t>‹#›</a:t>
            </a:fld>
            <a:endParaRPr lang="zh-CN" altLang="en-US" sz="120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31430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indent="0" algn="l" defTabSz="914400" rtl="0" eaLnBrk="1" fontAlgn="base" latinLnBrk="0" hangingPunct="1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0" cap="none" spc="0" baseline="0">
        <a:solidFill>
          <a:schemeClr val="tx1"/>
        </a:solidFill>
        <a:latin typeface="Calibri" pitchFamily="34" charset="0"/>
        <a:ea typeface="宋体" charset="0"/>
        <a:cs typeface="Calibri" pitchFamily="34" charset="0"/>
      </a:defRPr>
    </a:lvl1pPr>
    <a:lvl2pPr marL="457200" indent="0" algn="l" defTabSz="914400" rtl="0" eaLnBrk="1" fontAlgn="base" latinLnBrk="0" hangingPunct="1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0" cap="none" spc="0" baseline="0">
        <a:solidFill>
          <a:schemeClr val="tx1"/>
        </a:solidFill>
        <a:latin typeface="Calibri" pitchFamily="34" charset="0"/>
        <a:ea typeface="宋体" charset="0"/>
        <a:cs typeface="Calibri" pitchFamily="34" charset="0"/>
      </a:defRPr>
    </a:lvl2pPr>
    <a:lvl3pPr marL="914400" indent="0" algn="l" defTabSz="914400" rtl="0" eaLnBrk="1" fontAlgn="base" latinLnBrk="0" hangingPunct="1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0" cap="none" spc="0" baseline="0">
        <a:solidFill>
          <a:schemeClr val="tx1"/>
        </a:solidFill>
        <a:latin typeface="Calibri" pitchFamily="34" charset="0"/>
        <a:ea typeface="宋体" charset="0"/>
        <a:cs typeface="Calibri" pitchFamily="34" charset="0"/>
      </a:defRPr>
    </a:lvl3pPr>
    <a:lvl4pPr marL="1371600" indent="0" algn="l" defTabSz="914400" rtl="0" eaLnBrk="1" fontAlgn="base" latinLnBrk="0" hangingPunct="1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0" cap="none" spc="0" baseline="0">
        <a:solidFill>
          <a:schemeClr val="tx1"/>
        </a:solidFill>
        <a:latin typeface="Calibri" pitchFamily="34" charset="0"/>
        <a:ea typeface="宋体" charset="0"/>
        <a:cs typeface="Calibri" pitchFamily="34" charset="0"/>
      </a:defRPr>
    </a:lvl4pPr>
    <a:lvl5pPr marL="1828800" indent="0" algn="l" defTabSz="914400" rtl="0" eaLnBrk="1" fontAlgn="base" latinLnBrk="0" hangingPunct="1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0" cap="none" spc="0" baseline="0">
        <a:solidFill>
          <a:schemeClr val="tx1"/>
        </a:solidFill>
        <a:latin typeface="Calibri" pitchFamily="34" charset="0"/>
        <a:ea typeface="宋体" charset="0"/>
        <a:cs typeface="Calibri" pitchFamily="34" charset="0"/>
      </a:defRPr>
    </a:lvl5pPr>
    <a:lvl6pPr marL="1828800" indent="0" algn="l" defTabSz="914400" rtl="0" eaLnBrk="1" fontAlgn="base" latinLnBrk="0" hangingPunct="1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0" cap="none" spc="0" baseline="0">
        <a:solidFill>
          <a:schemeClr val="tx1"/>
        </a:solidFill>
        <a:latin typeface="Calibri" pitchFamily="34" charset="0"/>
        <a:ea typeface="宋体" charset="0"/>
        <a:cs typeface="Calibri" pitchFamily="34" charset="0"/>
      </a:defRPr>
    </a:lvl6pPr>
    <a:lvl7pPr marL="1828800" indent="0" algn="l" defTabSz="914400" rtl="0" eaLnBrk="1" fontAlgn="base" latinLnBrk="0" hangingPunct="1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0" cap="none" spc="0" baseline="0">
        <a:solidFill>
          <a:schemeClr val="tx1"/>
        </a:solidFill>
        <a:latin typeface="Calibri" pitchFamily="34" charset="0"/>
        <a:ea typeface="宋体" charset="0"/>
        <a:cs typeface="Calibri" pitchFamily="34" charset="0"/>
      </a:defRPr>
    </a:lvl7pPr>
    <a:lvl8pPr marL="1828800" indent="0" algn="l" defTabSz="914400" rtl="0" eaLnBrk="1" fontAlgn="base" latinLnBrk="0" hangingPunct="1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0" cap="none" spc="0" baseline="0">
        <a:solidFill>
          <a:schemeClr val="tx1"/>
        </a:solidFill>
        <a:latin typeface="Calibri" pitchFamily="34" charset="0"/>
        <a:ea typeface="宋体" charset="0"/>
        <a:cs typeface="Calibri" pitchFamily="34" charset="0"/>
      </a:defRPr>
    </a:lvl8pPr>
    <a:lvl9pPr marL="1828800" indent="0" algn="l" defTabSz="914400" rtl="0" eaLnBrk="1" fontAlgn="base" latinLnBrk="0" hangingPunct="1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0" cap="none" spc="0" baseline="0">
        <a:solidFill>
          <a:schemeClr val="tx1"/>
        </a:solidFill>
        <a:latin typeface="Calibri" pitchFamily="34" charset="0"/>
        <a:ea typeface="宋体" charset="0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对象"/>
          <p:cNvSpPr>
            <a:spLocks noGrp="1" noRot="1" noChangeAspect="1"/>
          </p:cNvSpPr>
          <p:nvPr>
            <p:ph type="sldImg"/>
          </p:nvPr>
        </p:nvSpPr>
        <p:spPr>
          <a:xfrm>
            <a:off x="1371600" y="3048000"/>
            <a:ext cx="10972800" cy="82296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/>
          </a:ln>
        </p:spPr>
      </p:sp>
      <p:sp>
        <p:nvSpPr>
          <p:cNvPr id="101" name="文本框"/>
          <p:cNvSpPr>
            <a:spLocks noGrp="1"/>
          </p:cNvSpPr>
          <p:nvPr>
            <p:ph type="body" idx="1"/>
          </p:nvPr>
        </p:nvSpPr>
        <p:spPr>
          <a:xfrm>
            <a:off x="1371600" y="11734801"/>
            <a:ext cx="10972800" cy="9601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4879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对象"/>
          <p:cNvSpPr>
            <a:spLocks noGrp="1" noRot="1" noChangeAspect="1"/>
          </p:cNvSpPr>
          <p:nvPr>
            <p:ph type="sldImg"/>
          </p:nvPr>
        </p:nvSpPr>
        <p:spPr>
          <a:xfrm>
            <a:off x="1371600" y="3048000"/>
            <a:ext cx="10972800" cy="82296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/>
          </a:ln>
        </p:spPr>
      </p:sp>
      <p:sp>
        <p:nvSpPr>
          <p:cNvPr id="103" name="文本框"/>
          <p:cNvSpPr>
            <a:spLocks noGrp="1"/>
          </p:cNvSpPr>
          <p:nvPr>
            <p:ph type="body" idx="1"/>
          </p:nvPr>
        </p:nvSpPr>
        <p:spPr>
          <a:xfrm>
            <a:off x="1371600" y="11734801"/>
            <a:ext cx="10972800" cy="9601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430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3886199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630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267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28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106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422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762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244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098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039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95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333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3886199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09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8880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1971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833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328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4408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673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2421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25786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14067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8270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3886199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7165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7722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190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4558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2620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611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7724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316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1941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696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0453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3886199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0445108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797129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417060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2863378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529470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702785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9429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84894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804747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4813488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8361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64462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body" idx="1"/>
          </p:nvPr>
        </p:nvSpPr>
        <p:spPr>
          <a:xfrm>
            <a:off x="685800" y="2095500"/>
            <a:ext cx="7764462" cy="36957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0" name="文本框"/>
          <p:cNvSpPr>
            <a:spLocks noGrp="1"/>
          </p:cNvSpPr>
          <p:nvPr>
            <p:ph type="dt"/>
          </p:nvPr>
        </p:nvSpPr>
        <p:spPr>
          <a:xfrm>
            <a:off x="5759450" y="5883275"/>
            <a:ext cx="20574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endParaRPr lang="zh-CN" altLang="en-US" sz="1000">
              <a:solidFill>
                <a:srgbClr val="FFFFFF"/>
              </a:solidFill>
            </a:endParaRPr>
          </a:p>
        </p:txBody>
      </p:sp>
      <p:sp>
        <p:nvSpPr>
          <p:cNvPr id="11" name="文本框"/>
          <p:cNvSpPr>
            <a:spLocks noGrp="1"/>
          </p:cNvSpPr>
          <p:nvPr>
            <p:ph type="ftr"/>
          </p:nvPr>
        </p:nvSpPr>
        <p:spPr>
          <a:xfrm>
            <a:off x="685800" y="5883275"/>
            <a:ext cx="50038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endParaRPr lang="zh-CN" altLang="en-US" sz="1000">
              <a:solidFill>
                <a:srgbClr val="FFFFFF"/>
              </a:solidFill>
            </a:endParaRPr>
          </a:p>
        </p:txBody>
      </p:sp>
      <p:sp>
        <p:nvSpPr>
          <p:cNvPr id="12" name="文本框"/>
          <p:cNvSpPr>
            <a:spLocks noGrp="1"/>
          </p:cNvSpPr>
          <p:nvPr>
            <p:ph type="sldNum"/>
          </p:nvPr>
        </p:nvSpPr>
        <p:spPr>
          <a:xfrm>
            <a:off x="7885113" y="5883275"/>
            <a:ext cx="565149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000" b="0" i="0" u="none" strike="noStrike" kern="0" cap="none" spc="0" baseline="0">
                <a:solidFill>
                  <a:srgbClr val="FFFFFF"/>
                </a:solidFill>
                <a:latin typeface="Rockwell" pitchFamily="18" charset="0"/>
                <a:ea typeface="宋体" charset="0"/>
                <a:cs typeface="Lucida Sans"/>
              </a:rPr>
              <a:t>‹#›</a:t>
            </a:fld>
            <a:endParaRPr lang="zh-CN" altLang="en-US" sz="1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282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marL="0" indent="0" algn="ctr" defTabSz="914400" rtl="0" eaLnBrk="1" fontAlgn="base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400" b="1" i="0" u="none" baseline="0">
          <a:solidFill>
            <a:schemeClr val="tx1"/>
          </a:solidFill>
          <a:latin typeface="Bookman Old Style" pitchFamily="18" charset="0"/>
          <a:ea typeface="宋体" charset="0"/>
          <a:cs typeface="Bookman Old Style" pitchFamily="18" charset="0"/>
        </a:defRPr>
      </a:lvl1pPr>
    </p:titleStyle>
    <p:bodyStyle>
      <a:lvl1pPr marL="228600" indent="-228600" algn="l" defTabSz="914400" rtl="0" eaLnBrk="1" fontAlgn="base" latinLnBrk="0" hangingPunct="1">
        <a:lnSpc>
          <a:spcPct val="120000"/>
        </a:lnSpc>
        <a:spcBef>
          <a:spcPts val="1000"/>
        </a:spcBef>
        <a:spcAft>
          <a:spcPts val="0"/>
        </a:spcAft>
        <a:buSzPct val="100000"/>
        <a:buFont typeface="Arial" charset="0"/>
        <a:buChar char="•"/>
        <a:defRPr sz="20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1pPr>
      <a:lvl2pPr marL="6858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8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2pPr>
      <a:lvl3pPr marL="11430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6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3pPr>
      <a:lvl4pPr marL="16002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4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4pPr>
      <a:lvl5pPr marL="20574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2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5pPr>
      <a:lvl6pPr marL="20574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2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6pPr>
      <a:lvl7pPr marL="20574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2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7pPr>
      <a:lvl8pPr marL="20574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2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8pPr>
      <a:lvl9pPr marL="20574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2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 txBox="1">
            <a:spLocks/>
          </p:cNvSpPr>
          <p:nvPr/>
        </p:nvSpPr>
        <p:spPr>
          <a:xfrm>
            <a:off x="504825" y="641350"/>
            <a:ext cx="457200" cy="585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“</a:t>
            </a:r>
            <a:endParaRPr lang="zh-CN" altLang="en-US" sz="8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  <p:sp>
        <p:nvSpPr>
          <p:cNvPr id="14" name="文本框"/>
          <p:cNvSpPr txBox="1">
            <a:spLocks/>
          </p:cNvSpPr>
          <p:nvPr/>
        </p:nvSpPr>
        <p:spPr>
          <a:xfrm>
            <a:off x="7947025" y="3073400"/>
            <a:ext cx="457200" cy="58419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”</a:t>
            </a:r>
            <a:endParaRPr lang="zh-CN" altLang="en-US" sz="8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  <p:sp>
        <p:nvSpPr>
          <p:cNvPr id="15" name="文本框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64462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6" name="文本框"/>
          <p:cNvSpPr>
            <a:spLocks noGrp="1"/>
          </p:cNvSpPr>
          <p:nvPr>
            <p:ph type="body" idx="1"/>
          </p:nvPr>
        </p:nvSpPr>
        <p:spPr>
          <a:xfrm>
            <a:off x="685800" y="2095500"/>
            <a:ext cx="7764462" cy="36957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7" name="文本框"/>
          <p:cNvSpPr>
            <a:spLocks noGrp="1"/>
          </p:cNvSpPr>
          <p:nvPr>
            <p:ph type="dt"/>
          </p:nvPr>
        </p:nvSpPr>
        <p:spPr>
          <a:xfrm>
            <a:off x="5759450" y="5883275"/>
            <a:ext cx="20574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endParaRPr lang="zh-CN" altLang="en-US" sz="1000">
              <a:solidFill>
                <a:srgbClr val="FFFFFF"/>
              </a:solidFill>
            </a:endParaRPr>
          </a:p>
        </p:txBody>
      </p:sp>
      <p:sp>
        <p:nvSpPr>
          <p:cNvPr id="18" name="文本框"/>
          <p:cNvSpPr>
            <a:spLocks noGrp="1"/>
          </p:cNvSpPr>
          <p:nvPr>
            <p:ph type="ftr"/>
          </p:nvPr>
        </p:nvSpPr>
        <p:spPr>
          <a:xfrm>
            <a:off x="685800" y="5883275"/>
            <a:ext cx="50038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endParaRPr lang="zh-CN" altLang="en-US" sz="1000">
              <a:solidFill>
                <a:srgbClr val="FFFFFF"/>
              </a:solidFill>
            </a:endParaRPr>
          </a:p>
        </p:txBody>
      </p:sp>
      <p:sp>
        <p:nvSpPr>
          <p:cNvPr id="19" name="文本框"/>
          <p:cNvSpPr>
            <a:spLocks noGrp="1"/>
          </p:cNvSpPr>
          <p:nvPr>
            <p:ph type="sldNum"/>
          </p:nvPr>
        </p:nvSpPr>
        <p:spPr>
          <a:xfrm>
            <a:off x="7885113" y="5883275"/>
            <a:ext cx="565149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000" b="0" i="0" u="none" strike="noStrike" kern="0" cap="none" spc="0" baseline="0">
                <a:solidFill>
                  <a:srgbClr val="FFFFFF"/>
                </a:solidFill>
                <a:latin typeface="Rockwell" pitchFamily="18" charset="0"/>
                <a:ea typeface="宋体" charset="0"/>
                <a:cs typeface="Lucida Sans"/>
              </a:rPr>
              <a:t>‹#›</a:t>
            </a:fld>
            <a:endParaRPr lang="zh-CN" altLang="en-US" sz="1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29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marL="0" indent="0" algn="ctr" defTabSz="914400" rtl="0" eaLnBrk="1" fontAlgn="base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400" b="1" i="0" u="none" baseline="0">
          <a:solidFill>
            <a:schemeClr val="tx1"/>
          </a:solidFill>
          <a:latin typeface="Bookman Old Style" pitchFamily="18" charset="0"/>
          <a:ea typeface="宋体" charset="0"/>
          <a:cs typeface="Bookman Old Style" pitchFamily="18" charset="0"/>
        </a:defRPr>
      </a:lvl1pPr>
    </p:titleStyle>
    <p:bodyStyle>
      <a:lvl1pPr marL="228600" indent="-228600" algn="l" defTabSz="914400" rtl="0" eaLnBrk="1" fontAlgn="base" latinLnBrk="0" hangingPunct="1">
        <a:lnSpc>
          <a:spcPct val="120000"/>
        </a:lnSpc>
        <a:spcBef>
          <a:spcPts val="1000"/>
        </a:spcBef>
        <a:spcAft>
          <a:spcPts val="0"/>
        </a:spcAft>
        <a:buSzPct val="100000"/>
        <a:buFont typeface="Arial" charset="0"/>
        <a:buChar char="•"/>
        <a:defRPr sz="20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1pPr>
      <a:lvl2pPr marL="6858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8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2pPr>
      <a:lvl3pPr marL="11430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6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3pPr>
      <a:lvl4pPr marL="16002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4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4pPr>
      <a:lvl5pPr marL="20574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2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5pPr>
      <a:lvl6pPr marL="20574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2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6pPr>
      <a:lvl7pPr marL="20574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2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7pPr>
      <a:lvl8pPr marL="20574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2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8pPr>
      <a:lvl9pPr marL="20574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2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" descr="&quot;&quot;"/>
          <p:cNvGrpSpPr>
            <a:grpSpLocks/>
          </p:cNvGrpSpPr>
          <p:nvPr/>
        </p:nvGrpSpPr>
        <p:grpSpPr>
          <a:xfrm>
            <a:off x="4838626" y="3405135"/>
            <a:ext cx="4305234" cy="3467047"/>
            <a:chOff x="4838626" y="3405135"/>
            <a:chExt cx="4305234" cy="3467047"/>
          </a:xfrm>
        </p:grpSpPr>
        <p:sp>
          <p:nvSpPr>
            <p:cNvPr id="20" name="曲线"/>
            <p:cNvSpPr>
              <a:spLocks/>
            </p:cNvSpPr>
            <p:nvPr/>
          </p:nvSpPr>
          <p:spPr>
            <a:xfrm>
              <a:off x="4838626" y="3405135"/>
              <a:ext cx="2162142" cy="346704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cxnLst/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noFill/>
              <a:prstDash val="solid"/>
              <a:miter/>
            </a:ln>
          </p:spPr>
        </p:sp>
        <p:sp>
          <p:nvSpPr>
            <p:cNvPr id="21" name="曲线"/>
            <p:cNvSpPr>
              <a:spLocks/>
            </p:cNvSpPr>
            <p:nvPr/>
          </p:nvSpPr>
          <p:spPr>
            <a:xfrm>
              <a:off x="6988862" y="3405135"/>
              <a:ext cx="2154998" cy="346704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cxn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12700" cap="flat" cmpd="sng">
              <a:noFill/>
              <a:prstDash val="solid"/>
              <a:miter/>
            </a:ln>
          </p:spPr>
        </p:sp>
      </p:grpSp>
      <p:grpSp>
        <p:nvGrpSpPr>
          <p:cNvPr id="25" name="组合" descr="&quot;&quot;"/>
          <p:cNvGrpSpPr>
            <a:grpSpLocks/>
          </p:cNvGrpSpPr>
          <p:nvPr/>
        </p:nvGrpSpPr>
        <p:grpSpPr>
          <a:xfrm flipH="1" flipV="1">
            <a:off x="4849937" y="0"/>
            <a:ext cx="4303448" cy="3468237"/>
            <a:chOff x="4849937" y="0"/>
            <a:chExt cx="4303448" cy="3468237"/>
          </a:xfrm>
        </p:grpSpPr>
        <p:sp>
          <p:nvSpPr>
            <p:cNvPr id="23" name="曲线"/>
            <p:cNvSpPr>
              <a:spLocks/>
            </p:cNvSpPr>
            <p:nvPr/>
          </p:nvSpPr>
          <p:spPr>
            <a:xfrm>
              <a:off x="4849937" y="0"/>
              <a:ext cx="2161546" cy="346823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cxnLst/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9A66CA"/>
            </a:solidFill>
            <a:ln w="12700" cap="flat" cmpd="sng">
              <a:noFill/>
              <a:prstDash val="solid"/>
              <a:miter/>
            </a:ln>
          </p:spPr>
        </p:sp>
        <p:sp>
          <p:nvSpPr>
            <p:cNvPr id="24" name="曲线"/>
            <p:cNvSpPr>
              <a:spLocks/>
            </p:cNvSpPr>
            <p:nvPr/>
          </p:nvSpPr>
          <p:spPr>
            <a:xfrm>
              <a:off x="6998387" y="0"/>
              <a:ext cx="2154998" cy="346823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cxn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4F71"/>
            </a:solidFill>
            <a:ln w="12700" cap="flat" cmpd="sng">
              <a:noFill/>
              <a:prstDash val="solid"/>
              <a:miter/>
            </a:ln>
          </p:spPr>
        </p:sp>
      </p:grpSp>
      <p:sp>
        <p:nvSpPr>
          <p:cNvPr id="26" name="曲线" descr="&quot;&quot;"/>
          <p:cNvSpPr>
            <a:spLocks/>
          </p:cNvSpPr>
          <p:nvPr/>
        </p:nvSpPr>
        <p:spPr>
          <a:xfrm>
            <a:off x="5732462" y="4578350"/>
            <a:ext cx="580730" cy="774618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10800" y="21600"/>
                </a:move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lnTo>
                  <a:pt x="10800" y="21600"/>
                </a:lnTo>
                <a:close/>
              </a:path>
            </a:pathLst>
          </a:custGeom>
          <a:solidFill>
            <a:srgbClr val="DE9C3C"/>
          </a:solidFill>
          <a:ln w="3801" cap="flat" cmpd="sng">
            <a:noFill/>
            <a:prstDash val="solid"/>
            <a:miter/>
          </a:ln>
        </p:spPr>
      </p:sp>
      <p:sp>
        <p:nvSpPr>
          <p:cNvPr id="27" name="文本框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64462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8" name="文本框"/>
          <p:cNvSpPr>
            <a:spLocks noGrp="1"/>
          </p:cNvSpPr>
          <p:nvPr>
            <p:ph type="body" idx="1"/>
          </p:nvPr>
        </p:nvSpPr>
        <p:spPr>
          <a:xfrm>
            <a:off x="685800" y="2095500"/>
            <a:ext cx="7764462" cy="36957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29" name="文本框"/>
          <p:cNvSpPr>
            <a:spLocks noGrp="1"/>
          </p:cNvSpPr>
          <p:nvPr>
            <p:ph type="sldNum"/>
          </p:nvPr>
        </p:nvSpPr>
        <p:spPr>
          <a:xfrm>
            <a:off x="7769225" y="457200"/>
            <a:ext cx="800100" cy="4714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FFFFFF"/>
                </a:solidFill>
                <a:latin typeface="Bookman Old Style" pitchFamily="18" charset="0"/>
                <a:ea typeface="宋体" charset="0"/>
                <a:cs typeface="Bookman Old Style" pitchFamily="18" charset="0"/>
              </a:rPr>
              <a:t>‹#›</a:t>
            </a:fld>
            <a:endParaRPr lang="zh-CN" altLang="en-US" sz="1200">
              <a:solidFill>
                <a:srgbClr val="FFFFFF"/>
              </a:solidFill>
              <a:latin typeface="Bookman Old Style" pitchFamily="18" charset="0"/>
              <a:cs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48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sldNum="0" hdr="0" ftr="0" dt="0"/>
  <p:txStyles>
    <p:titleStyle>
      <a:lvl1pPr marL="0" indent="0" algn="ctr" defTabSz="914400" rtl="0" eaLnBrk="1" fontAlgn="base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400" b="1" i="0" u="none" baseline="0">
          <a:solidFill>
            <a:schemeClr val="tx1"/>
          </a:solidFill>
          <a:latin typeface="Bookman Old Style" pitchFamily="18" charset="0"/>
          <a:ea typeface="宋体" charset="0"/>
          <a:cs typeface="Bookman Old Style" pitchFamily="18" charset="0"/>
        </a:defRPr>
      </a:lvl1pPr>
    </p:titleStyle>
    <p:bodyStyle>
      <a:lvl1pPr marL="228600" indent="-228600" algn="l" defTabSz="914400" rtl="0" eaLnBrk="1" fontAlgn="base" latinLnBrk="0" hangingPunct="1">
        <a:lnSpc>
          <a:spcPct val="120000"/>
        </a:lnSpc>
        <a:spcBef>
          <a:spcPts val="1000"/>
        </a:spcBef>
        <a:spcAft>
          <a:spcPts val="0"/>
        </a:spcAft>
        <a:buSzPct val="100000"/>
        <a:buFont typeface="Arial" charset="0"/>
        <a:buChar char="•"/>
        <a:defRPr sz="20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1pPr>
      <a:lvl2pPr marL="6858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8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2pPr>
      <a:lvl3pPr marL="11430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6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3pPr>
      <a:lvl4pPr marL="16002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4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4pPr>
      <a:lvl5pPr marL="20574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2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5pPr>
      <a:lvl6pPr marL="20574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2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6pPr>
      <a:lvl7pPr marL="20574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2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7pPr>
      <a:lvl8pPr marL="20574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2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8pPr>
      <a:lvl9pPr marL="20574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2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" descr="&quot;&quot;"/>
          <p:cNvSpPr>
            <a:spLocks/>
          </p:cNvSpPr>
          <p:nvPr/>
        </p:nvSpPr>
        <p:spPr>
          <a:xfrm>
            <a:off x="-17462" y="3390900"/>
            <a:ext cx="9161463" cy="3467100"/>
          </a:xfrm>
          <a:prstGeom prst="rect">
            <a:avLst/>
          </a:prstGeom>
          <a:solidFill>
            <a:srgbClr val="9A66CA"/>
          </a:solidFill>
          <a:ln w="1905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300" b="0" i="0" u="none" strike="noStrike" kern="0" cap="none" spc="0" baseline="0">
              <a:solidFill>
                <a:srgbClr val="FFFFFF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  <p:sp>
        <p:nvSpPr>
          <p:cNvPr id="31" name="矩形" descr="&quot;&quot;"/>
          <p:cNvSpPr>
            <a:spLocks/>
          </p:cNvSpPr>
          <p:nvPr/>
        </p:nvSpPr>
        <p:spPr>
          <a:xfrm>
            <a:off x="331787" y="331787"/>
            <a:ext cx="8480425" cy="6027738"/>
          </a:xfrm>
          <a:prstGeom prst="rect">
            <a:avLst/>
          </a:prstGeom>
          <a:solidFill>
            <a:schemeClr val="bg1"/>
          </a:solidFill>
          <a:ln w="1905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0" cap="none" spc="0" baseline="0">
              <a:solidFill>
                <a:srgbClr val="FFFFFF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  <p:grpSp>
        <p:nvGrpSpPr>
          <p:cNvPr id="35" name="组合" descr="&quot;&quot;"/>
          <p:cNvGrpSpPr>
            <a:grpSpLocks/>
          </p:cNvGrpSpPr>
          <p:nvPr/>
        </p:nvGrpSpPr>
        <p:grpSpPr>
          <a:xfrm rot="21600000" flipH="1">
            <a:off x="7015163" y="0"/>
            <a:ext cx="2128698" cy="2857456"/>
            <a:chOff x="7015163" y="0"/>
            <a:chExt cx="2128698" cy="2857456"/>
          </a:xfrm>
        </p:grpSpPr>
        <p:sp>
          <p:nvSpPr>
            <p:cNvPr id="32" name="曲线" descr="&quot;&quot;"/>
            <p:cNvSpPr>
              <a:spLocks/>
            </p:cNvSpPr>
            <p:nvPr/>
          </p:nvSpPr>
          <p:spPr>
            <a:xfrm>
              <a:off x="7015163" y="0"/>
              <a:ext cx="2128698" cy="285745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cxnLst/>
              <a:rect l="T1" t="T2" r="T3" b="T4"/>
              <a:pathLst>
                <a:path w="21600" h="21600">
                  <a:moveTo>
                    <a:pt x="14998" y="0"/>
                  </a:moveTo>
                  <a:lnTo>
                    <a:pt x="21600" y="0"/>
                  </a:lnTo>
                  <a:lnTo>
                    <a:pt x="21600" y="54"/>
                  </a:lnTo>
                  <a:cubicBezTo>
                    <a:pt x="21600" y="11215"/>
                    <a:pt x="13065" y="20390"/>
                    <a:pt x="2122" y="21493"/>
                  </a:cubicBezTo>
                  <a:lnTo>
                    <a:pt x="0" y="21600"/>
                  </a:lnTo>
                  <a:lnTo>
                    <a:pt x="0" y="15044"/>
                  </a:lnTo>
                  <a:lnTo>
                    <a:pt x="1448" y="14971"/>
                  </a:lnTo>
                  <a:cubicBezTo>
                    <a:pt x="8557" y="14247"/>
                    <a:pt x="14201" y="8584"/>
                    <a:pt x="14922" y="1514"/>
                  </a:cubicBezTo>
                  <a:lnTo>
                    <a:pt x="14998" y="0"/>
                  </a:lnTo>
                  <a:lnTo>
                    <a:pt x="14998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noFill/>
              <a:prstDash val="solid"/>
              <a:miter/>
            </a:ln>
          </p:spPr>
        </p:sp>
        <p:sp>
          <p:nvSpPr>
            <p:cNvPr id="33" name="曲线" descr="&quot;&quot;"/>
            <p:cNvSpPr>
              <a:spLocks/>
            </p:cNvSpPr>
            <p:nvPr/>
          </p:nvSpPr>
          <p:spPr>
            <a:xfrm>
              <a:off x="7015163" y="0"/>
              <a:ext cx="752504" cy="101290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cxn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489" y="2145"/>
                  </a:lnTo>
                  <a:cubicBezTo>
                    <a:pt x="20436" y="12298"/>
                    <a:pt x="12199" y="20458"/>
                    <a:pt x="1951" y="21501"/>
                  </a:cubicBezTo>
                  <a:lnTo>
                    <a:pt x="0" y="2160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00" cap="flat" cmpd="sng">
              <a:noFill/>
              <a:prstDash val="solid"/>
              <a:miter/>
            </a:ln>
          </p:spPr>
        </p:sp>
        <p:sp>
          <p:nvSpPr>
            <p:cNvPr id="34" name="曲线" descr="&quot;&quot;"/>
            <p:cNvSpPr>
              <a:spLocks/>
            </p:cNvSpPr>
            <p:nvPr/>
          </p:nvSpPr>
          <p:spPr>
            <a:xfrm>
              <a:off x="8108777" y="590020"/>
              <a:ext cx="581165" cy="77486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cxnLst/>
              <a:rect l="T1" t="T2" r="T3" b="T4"/>
              <a:pathLst>
                <a:path w="21600" h="21600">
                  <a:moveTo>
                    <a:pt x="10800" y="21600"/>
                  </a:move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800" y="21600"/>
                  </a:cubicBezTo>
                  <a:lnTo>
                    <a:pt x="10800" y="21600"/>
                  </a:lnTo>
                  <a:close/>
                </a:path>
              </a:pathLst>
            </a:custGeom>
            <a:solidFill>
              <a:srgbClr val="DE9C3C"/>
            </a:solidFill>
            <a:ln w="3801" cap="flat" cmpd="sng">
              <a:noFill/>
              <a:prstDash val="solid"/>
              <a:miter/>
            </a:ln>
          </p:spPr>
        </p:sp>
      </p:grpSp>
      <p:sp>
        <p:nvSpPr>
          <p:cNvPr id="36" name="文本框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64462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7" name="文本框"/>
          <p:cNvSpPr>
            <a:spLocks noGrp="1"/>
          </p:cNvSpPr>
          <p:nvPr>
            <p:ph type="body" idx="1"/>
          </p:nvPr>
        </p:nvSpPr>
        <p:spPr>
          <a:xfrm>
            <a:off x="685800" y="2095500"/>
            <a:ext cx="7764462" cy="36957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5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sldNum="0" hdr="0" ftr="0" dt="0"/>
  <p:txStyles>
    <p:titleStyle>
      <a:lvl1pPr marL="0" indent="0" algn="ctr" defTabSz="914400" rtl="0" eaLnBrk="1" fontAlgn="base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400" b="1" i="0" u="none" baseline="0">
          <a:solidFill>
            <a:schemeClr val="tx1"/>
          </a:solidFill>
          <a:latin typeface="Bookman Old Style" pitchFamily="18" charset="0"/>
          <a:ea typeface="宋体" charset="0"/>
          <a:cs typeface="Bookman Old Style" pitchFamily="18" charset="0"/>
        </a:defRPr>
      </a:lvl1pPr>
    </p:titleStyle>
    <p:bodyStyle>
      <a:lvl1pPr marL="228600" indent="-228600" algn="l" defTabSz="914400" rtl="0" eaLnBrk="1" fontAlgn="base" latinLnBrk="0" hangingPunct="1">
        <a:lnSpc>
          <a:spcPct val="120000"/>
        </a:lnSpc>
        <a:spcBef>
          <a:spcPts val="1000"/>
        </a:spcBef>
        <a:spcAft>
          <a:spcPts val="0"/>
        </a:spcAft>
        <a:buSzPct val="100000"/>
        <a:buFont typeface="Arial" charset="0"/>
        <a:buChar char="•"/>
        <a:defRPr sz="20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1pPr>
      <a:lvl2pPr marL="6858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8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2pPr>
      <a:lvl3pPr marL="11430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6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3pPr>
      <a:lvl4pPr marL="16002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4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4pPr>
      <a:lvl5pPr marL="20574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2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5pPr>
      <a:lvl6pPr marL="20574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2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6pPr>
      <a:lvl7pPr marL="20574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2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7pPr>
      <a:lvl8pPr marL="20574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2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8pPr>
      <a:lvl9pPr marL="2057400" indent="-228600" algn="l" defTabSz="914400" rtl="0" eaLnBrk="1" fontAlgn="base" latinLnBrk="0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charset="0"/>
        <a:buChar char="•"/>
        <a:defRPr sz="1200" b="0" i="0" u="none" baseline="0">
          <a:solidFill>
            <a:schemeClr val="tx1"/>
          </a:solidFill>
          <a:latin typeface="Rockwell" pitchFamily="18" charset="0"/>
          <a:ea typeface="宋体" charset="0"/>
          <a:cs typeface="Rockwell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"/>
          <p:cNvSpPr>
            <a:spLocks noGrp="1"/>
          </p:cNvSpPr>
          <p:nvPr>
            <p:ph/>
          </p:nvPr>
        </p:nvSpPr>
        <p:spPr>
          <a:xfrm>
            <a:off x="0" y="784225"/>
            <a:ext cx="7078662" cy="5160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0" rIns="91440" bIns="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Bookman Old Style" pitchFamily="18" charset="0"/>
              </a:rPr>
              <a:t>     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Bookman Old Style" pitchFamily="18" charset="0"/>
              </a:rPr>
              <a:t>   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Bookman Old Style" pitchFamily="18" charset="0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Bookman Old Style" pitchFamily="18" charset="0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Bookman Old Style" pitchFamily="18" charset="0"/>
              </a:rPr>
              <a:t>                                    Respected Sir: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b="0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Bookman Old Style" pitchFamily="18" charset="0"/>
              </a:rPr>
              <a:t>                                                     Faisal         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Bookman Old Style" pitchFamily="18" charset="0"/>
              </a:rPr>
              <a:t>                                   Groups Members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Bookman Old Style" pitchFamily="18" charset="0"/>
              </a:rPr>
              <a:t>                             Muhmmad Raza: 25F-CY-084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Bookman Old Style" pitchFamily="18" charset="0"/>
              </a:rPr>
              <a:t>                             Ankeet Kumar:     25F-CY-097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Bookman Old Style" pitchFamily="18" charset="0"/>
              </a:rPr>
              <a:t>                             Sagar Ali:              25F-CY-106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Bookman Old Style" pitchFamily="18" charset="0"/>
              </a:rPr>
              <a:t>                                Date: 16/03/2026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Bookman Old Style" pitchFamily="18" charset="0"/>
            </a:endParaRPr>
          </a:p>
        </p:txBody>
      </p:sp>
      <p:pic>
        <p:nvPicPr>
          <p:cNvPr id="39" name="图片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66725" y="730250"/>
            <a:ext cx="1825625" cy="15462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40" name="文本框"/>
          <p:cNvSpPr txBox="1">
            <a:spLocks/>
          </p:cNvSpPr>
          <p:nvPr/>
        </p:nvSpPr>
        <p:spPr>
          <a:xfrm>
            <a:off x="2317750" y="1196975"/>
            <a:ext cx="4778375" cy="6819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sng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Calibri" pitchFamily="34" charset="0"/>
                <a:cs typeface="Bookman Old Style" pitchFamily="18" charset="0"/>
              </a:rPr>
              <a:t>DAWOOD UNIVERSITY OF ENGINEERING AND TECHNOLOGY</a:t>
            </a:r>
            <a:endParaRPr lang="zh-CN" altLang="en-US" sz="2000" b="0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20365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"/>
          <p:cNvSpPr>
            <a:spLocks noGrp="1"/>
          </p:cNvSpPr>
          <p:nvPr>
            <p:ph type="title"/>
          </p:nvPr>
        </p:nvSpPr>
        <p:spPr>
          <a:xfrm>
            <a:off x="3671887" y="1704975"/>
            <a:ext cx="4897438" cy="350361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0" rIns="91440" bIns="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ALLAMA MUHAMMAD     IQBAL</a:t>
            </a:r>
            <a:br>
              <a:rPr lang="zh-CN" altLang="en-US" sz="2700" b="0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</a:br>
            <a:r>
              <a:rPr lang="en-US" altLang="zh-CN" sz="2700" b="0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  (</a:t>
            </a:r>
            <a:r>
              <a:rPr lang="en-US" altLang="zh-CN" sz="13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Rockwell" pitchFamily="18" charset="0"/>
              </a:rPr>
              <a:t>PHILOSOPHER AND POET)</a:t>
            </a:r>
            <a:br>
              <a:rPr lang="zh-CN" altLang="en-US" sz="2700" b="0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</a:br>
            <a:br>
              <a:rPr lang="zh-CN" altLang="en-US" sz="27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</a:br>
            <a:br>
              <a:rPr lang="zh-CN" altLang="en-US" sz="2700" b="0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</a:br>
            <a:br>
              <a:rPr lang="zh-CN" altLang="en-US" sz="27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</a:br>
            <a:endParaRPr lang="zh-CN" altLang="en-US" sz="2700" b="1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Lucida Sans"/>
            </a:endParaRPr>
          </a:p>
        </p:txBody>
      </p:sp>
      <p:pic>
        <p:nvPicPr>
          <p:cNvPr id="42" name="图片" descr="A Brief Sketch Of Allama Iqbal's Life - Allama Muhammad Iqbal"/>
          <p:cNvPicPr>
            <a:picLocks noChangeAspect="1"/>
          </p:cNvPicPr>
          <p:nvPr/>
        </p:nvPicPr>
        <p:blipFill>
          <a:blip r:embed="rId4" cstate="print"/>
          <a:srcRect l="3803" r="3803"/>
          <a:stretch>
            <a:fillRect/>
          </a:stretch>
        </p:blipFill>
        <p:spPr>
          <a:xfrm>
            <a:off x="550862" y="476250"/>
            <a:ext cx="3651250" cy="57610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767720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FA2D9F79-559A-B6C1-993E-FBD936FE0F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139112" cy="803275"/>
          </a:xfrm>
        </p:spPr>
        <p:txBody>
          <a:bodyPr/>
          <a:lstStyle/>
          <a:p>
            <a:r>
              <a:rPr lang="en-US" altLang="en-US" b="1" u="sng"/>
              <a:t>Context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21A5B7-56AF-82C9-6B47-C9198B0588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1019323"/>
              </p:ext>
            </p:extLst>
          </p:nvPr>
        </p:nvGraphicFramePr>
        <p:xfrm>
          <a:off x="467430" y="1052669"/>
          <a:ext cx="669693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5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442">
                <a:tc>
                  <a:txBody>
                    <a:bodyPr/>
                    <a:lstStyle/>
                    <a:p>
                      <a:r>
                        <a:rPr lang="en-US" altLang="en-US" dirty="0"/>
                        <a:t>LIFE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442">
                <a:tc>
                  <a:txBody>
                    <a:bodyPr/>
                    <a:lstStyle/>
                    <a:p>
                      <a:r>
                        <a:rPr lang="en-US" altLang="en-US" dirty="0">
                          <a:solidFill>
                            <a:schemeClr val="bg1"/>
                          </a:solidFill>
                        </a:rPr>
                        <a:t>Education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442">
                <a:tc>
                  <a:txBody>
                    <a:bodyPr/>
                    <a:lstStyle/>
                    <a:p>
                      <a:r>
                        <a:rPr lang="en-US" altLang="en-US" dirty="0">
                          <a:solidFill>
                            <a:schemeClr val="bg1"/>
                          </a:solidFill>
                        </a:rPr>
                        <a:t>Career Life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442">
                <a:tc>
                  <a:txBody>
                    <a:bodyPr/>
                    <a:lstStyle/>
                    <a:p>
                      <a:r>
                        <a:rPr lang="en-US" altLang="en-US" dirty="0">
                          <a:solidFill>
                            <a:schemeClr val="bg1"/>
                          </a:solidFill>
                        </a:rPr>
                        <a:t>Iqbal’s Ideas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442">
                <a:tc>
                  <a:txBody>
                    <a:bodyPr/>
                    <a:lstStyle/>
                    <a:p>
                      <a:r>
                        <a:rPr lang="en-US" altLang="en-US" dirty="0">
                          <a:solidFill>
                            <a:schemeClr val="bg1"/>
                          </a:solidFill>
                        </a:rPr>
                        <a:t>Works in Persian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442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bg1"/>
                          </a:solidFill>
                        </a:rPr>
                        <a:t>Major Urdu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442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bg1"/>
                          </a:solidFill>
                        </a:rPr>
                        <a:t>English &amp; Prose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442">
                <a:tc>
                  <a:txBody>
                    <a:bodyPr/>
                    <a:lstStyle/>
                    <a:p>
                      <a:r>
                        <a:rPr lang="ar-AE" b="0" dirty="0">
                          <a:solidFill>
                            <a:schemeClr val="bg1"/>
                          </a:solidFill>
                        </a:rPr>
                        <a:t>بال جبریل</a:t>
                      </a: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442"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bg1"/>
                          </a:solidFill>
                        </a:rPr>
                        <a:t>Allahabad Address (1930)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2442">
                <a:tc>
                  <a:txBody>
                    <a:bodyPr/>
                    <a:lstStyle/>
                    <a:p>
                      <a:r>
                        <a:rPr lang="en-US" altLang="en-US" dirty="0">
                          <a:solidFill>
                            <a:schemeClr val="bg1"/>
                          </a:solidFill>
                        </a:rPr>
                        <a:t>POLITICAL PHILOSOPHY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2442">
                <a:tc>
                  <a:txBody>
                    <a:bodyPr/>
                    <a:lstStyle/>
                    <a:p>
                      <a:r>
                        <a:rPr lang="en-US" altLang="en-US" dirty="0">
                          <a:solidFill>
                            <a:schemeClr val="bg1"/>
                          </a:solidFill>
                        </a:rPr>
                        <a:t>Towards the Muslim Identity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2442">
                <a:tc>
                  <a:txBody>
                    <a:bodyPr/>
                    <a:lstStyle/>
                    <a:p>
                      <a:r>
                        <a:rPr lang="en-US" altLang="en-US" dirty="0">
                          <a:solidFill>
                            <a:schemeClr val="bg1"/>
                          </a:solidFill>
                        </a:rPr>
                        <a:t>Iqbal and Jinnah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2442">
                <a:tc>
                  <a:txBody>
                    <a:bodyPr/>
                    <a:lstStyle/>
                    <a:p>
                      <a:r>
                        <a:rPr lang="en-US" altLang="en-US" b="0" i="0" dirty="0">
                          <a:solidFill>
                            <a:schemeClr val="bg1"/>
                          </a:solidFill>
                        </a:rPr>
                        <a:t>Iqbal’s Influence on</a:t>
                      </a:r>
                      <a:endParaRPr lang="en-US" b="0" i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2442">
                <a:tc>
                  <a:txBody>
                    <a:bodyPr/>
                    <a:lstStyle/>
                    <a:p>
                      <a:r>
                        <a:rPr lang="en-US" altLang="en-US" dirty="0">
                          <a:solidFill>
                            <a:schemeClr val="bg1"/>
                          </a:solidFill>
                        </a:rPr>
                        <a:t>Final years and Death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2442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"/>
          <p:cNvSpPr>
            <a:spLocks noGrp="1"/>
          </p:cNvSpPr>
          <p:nvPr>
            <p:ph type="title"/>
          </p:nvPr>
        </p:nvSpPr>
        <p:spPr>
          <a:xfrm>
            <a:off x="457200" y="714375"/>
            <a:ext cx="8229600" cy="9286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LIFE</a:t>
            </a:r>
            <a:endParaRPr lang="zh-CN" altLang="en-US" sz="3400" b="1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Lucida Sans"/>
            </a:endParaRPr>
          </a:p>
        </p:txBody>
      </p:sp>
      <p:sp>
        <p:nvSpPr>
          <p:cNvPr id="44" name="矩形"/>
          <p:cNvSpPr>
            <a:spLocks noGrp="1"/>
          </p:cNvSpPr>
          <p:nvPr>
            <p:ph/>
          </p:nvPr>
        </p:nvSpPr>
        <p:spPr>
          <a:xfrm>
            <a:off x="457200" y="2000250"/>
            <a:ext cx="8229600" cy="45735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64998" indent="-255524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Early life and Family</a:t>
            </a:r>
          </a:p>
          <a:p>
            <a:pPr marL="364998" indent="-255524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He was born in Sialkot, Punjab on November 9, 1877.</a:t>
            </a: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endParaRPr lang="en-US" altLang="zh-CN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He is the eldest among five siblings.</a:t>
            </a: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endParaRPr lang="en-US" altLang="zh-CN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His father Shaikh Nur Muhammad was a prosperous tailor, well-known for his devotion to Islam.</a:t>
            </a: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endParaRPr lang="zh-CN" altLang="en-US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992942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"/>
          <p:cNvSpPr>
            <a:spLocks noGrp="1"/>
          </p:cNvSpPr>
          <p:nvPr>
            <p:ph/>
          </p:nvPr>
        </p:nvSpPr>
        <p:spPr>
          <a:xfrm>
            <a:off x="457200" y="1000125"/>
            <a:ext cx="8229600" cy="51260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His ancestors were Hindu Brahmins; his forefather Sahaj Ram Sapru embraced Islam. </a:t>
            </a: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endParaRPr lang="en-US" altLang="zh-CN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At the age of 15, Iqbal married Karim Bibi who was the daughter of an affluent Gujarati physician.</a:t>
            </a: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endParaRPr lang="en-US" altLang="zh-CN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zh-CN" altLang="en-US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75405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框"/>
          <p:cNvSpPr>
            <a:spLocks noGrp="1"/>
          </p:cNvSpPr>
          <p:nvPr>
            <p:ph type="title"/>
          </p:nvPr>
        </p:nvSpPr>
        <p:spPr>
          <a:xfrm>
            <a:off x="457200" y="785812"/>
            <a:ext cx="8229600" cy="12144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EDUCATION</a:t>
            </a:r>
            <a:endParaRPr lang="zh-CN" altLang="en-US" sz="3400" b="1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Lucida Sans"/>
            </a:endParaRPr>
          </a:p>
        </p:txBody>
      </p:sp>
      <p:sp>
        <p:nvSpPr>
          <p:cNvPr id="47" name="矩形"/>
          <p:cNvSpPr>
            <a:spLocks noGrp="1"/>
          </p:cNvSpPr>
          <p:nvPr>
            <p:ph/>
          </p:nvPr>
        </p:nvSpPr>
        <p:spPr>
          <a:xfrm>
            <a:off x="457200" y="1928812"/>
            <a:ext cx="8229600" cy="464502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Initially, Iqbal was educated by tutors in languages and writing, history, poetry and religion.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16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He continued to study at the Scotch Mission College in Sialkot. 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16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He then entered the Government College in Lahore to study Philosophy, English literature and Arabic, and obtained a Bachelor of Arts degree.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endParaRPr lang="en-US" altLang="zh-CN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endParaRPr lang="zh-CN" altLang="en-US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33896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"/>
          <p:cNvSpPr>
            <a:spLocks noGrp="1"/>
          </p:cNvSpPr>
          <p:nvPr>
            <p:ph/>
          </p:nvPr>
        </p:nvSpPr>
        <p:spPr>
          <a:xfrm>
            <a:off x="457200" y="1714500"/>
            <a:ext cx="8229600" cy="44116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Later, he obtained a Bachelor of Arts degree from Trinity College at Cambridge in 1907. 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endParaRPr lang="en-US" altLang="zh-CN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He traveled to Germany to pursue his doctoral studies at Ludwig-Maximilians-Universityat Munich.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endParaRPr lang="en-US" altLang="zh-CN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He studied law at Lincoln’s Inn in England and qualified for the bar in 1908.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endParaRPr lang="zh-CN" altLang="en-US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78929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文本框"/>
          <p:cNvSpPr>
            <a:spLocks noGrp="1"/>
          </p:cNvSpPr>
          <p:nvPr>
            <p:ph type="title"/>
          </p:nvPr>
        </p:nvSpPr>
        <p:spPr>
          <a:xfrm>
            <a:off x="457200" y="500062"/>
            <a:ext cx="8229600" cy="8572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CAREER LIFE</a:t>
            </a:r>
            <a:endParaRPr lang="zh-CN" altLang="en-US" sz="3400" b="1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Lucida Sans"/>
            </a:endParaRPr>
          </a:p>
        </p:txBody>
      </p:sp>
      <p:sp>
        <p:nvSpPr>
          <p:cNvPr id="50" name="矩形"/>
          <p:cNvSpPr>
            <a:spLocks noGrp="1"/>
          </p:cNvSpPr>
          <p:nvPr>
            <p:ph/>
          </p:nvPr>
        </p:nvSpPr>
        <p:spPr>
          <a:xfrm>
            <a:off x="457200" y="1571625"/>
            <a:ext cx="8229600" cy="478631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22860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21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He is a leading Muslim poet, philosopher and political theorist. </a:t>
            </a:r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21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He taught History, Philosophy and Political Science at Oriental College, Lahore.</a:t>
            </a:r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21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While pursuing his Honors Degree, he taught Arabic at Cambridge University to substitute for Prof. Arnold. </a:t>
            </a:r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21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Upon returning to India in 1908, Iqbal took up assistant professorship at the Government College in Lahore.</a:t>
            </a:r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21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He also practiced law.</a:t>
            </a:r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21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He was a very strong supporter of the revival of Islam around the world. He delivered a famous set of lectures in India, which was later compiled and published as </a:t>
            </a:r>
            <a:r>
              <a:rPr lang="en-US" altLang="zh-CN" sz="2100" b="0" i="1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The</a:t>
            </a:r>
            <a:r>
              <a:rPr lang="en-US" altLang="zh-CN" sz="21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</a:t>
            </a:r>
            <a:r>
              <a:rPr lang="en-US" altLang="zh-CN" sz="2100" b="0" i="1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Reconstruction of Religious Thought in Islam </a:t>
            </a:r>
            <a:r>
              <a:rPr lang="en-US" altLang="zh-CN" sz="21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(1930).</a:t>
            </a:r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21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He worked in close collaboration with Mohammad Ali Jinnah (1876-1948).</a:t>
            </a:r>
          </a:p>
          <a:p>
            <a:pPr marL="2286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endParaRPr lang="zh-CN" altLang="en-US" sz="21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838892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文本框"/>
          <p:cNvSpPr>
            <a:spLocks noGrp="1"/>
          </p:cNvSpPr>
          <p:nvPr>
            <p:ph type="title"/>
          </p:nvPr>
        </p:nvSpPr>
        <p:spPr>
          <a:xfrm>
            <a:off x="457200" y="857250"/>
            <a:ext cx="8229600" cy="12144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FINAL YEARS AND DEATH</a:t>
            </a:r>
            <a:endParaRPr lang="zh-CN" altLang="en-US" sz="3400" b="1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Lucida Sans"/>
            </a:endParaRPr>
          </a:p>
        </p:txBody>
      </p:sp>
      <p:sp>
        <p:nvSpPr>
          <p:cNvPr id="52" name="矩形"/>
          <p:cNvSpPr>
            <a:spLocks noGrp="1"/>
          </p:cNvSpPr>
          <p:nvPr>
            <p:ph/>
          </p:nvPr>
        </p:nvSpPr>
        <p:spPr>
          <a:xfrm>
            <a:off x="457200" y="2071687"/>
            <a:ext cx="8229600" cy="45386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In 1933, Iqbal began suffering from a mysterious throat illness.</a:t>
            </a: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He spent his final years working to establish the Idara Dar-ul-Islam, an institution for studies in classical Islam and contemporary social science.</a:t>
            </a: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He stopped practicing law in 1934.</a:t>
            </a: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Died in Lahore on April 21, 1938.</a:t>
            </a: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Iqbal is the namesake of many public institutions including Allama Iqbal Open University and the Allama Iqbal International Airport in Lahore in what is now Pakistan. 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endParaRPr lang="zh-CN" altLang="en-US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894961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"/>
          <p:cNvSpPr>
            <a:spLocks noGrp="1"/>
          </p:cNvSpPr>
          <p:nvPr>
            <p:ph type="title"/>
          </p:nvPr>
        </p:nvSpPr>
        <p:spPr>
          <a:xfrm>
            <a:off x="457200" y="785812"/>
            <a:ext cx="8229600" cy="1000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IQBAL’S IDEAS</a:t>
            </a:r>
            <a:endParaRPr lang="zh-CN" altLang="en-US" sz="3400" b="1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Lucida Sans"/>
            </a:endParaRPr>
          </a:p>
        </p:txBody>
      </p:sp>
      <p:sp>
        <p:nvSpPr>
          <p:cNvPr id="54" name="矩形"/>
          <p:cNvSpPr>
            <a:spLocks noGrp="1"/>
          </p:cNvSpPr>
          <p:nvPr>
            <p:ph/>
          </p:nvPr>
        </p:nvSpPr>
        <p:spPr>
          <a:xfrm>
            <a:off x="457200" y="2060575"/>
            <a:ext cx="8229600" cy="352901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64998" indent="-255524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The idea of Pakistan was presented by Allama Muhammad Iqbal in 1930.He believed that Muslims of the subcontinent needed a separate homeland. In his Allahabad Address, he suggested a separate Muslim state. Later, this idea was supported and led by Muhammad Ali Jinnah, which resulted in the creation of Pakistan in 1947.</a:t>
            </a: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zh-CN" altLang="en-US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36061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框"/>
          <p:cNvSpPr>
            <a:spLocks noGrp="1"/>
          </p:cNvSpPr>
          <p:nvPr>
            <p:ph type="title"/>
          </p:nvPr>
        </p:nvSpPr>
        <p:spPr>
          <a:xfrm>
            <a:off x="2339975" y="404812"/>
            <a:ext cx="5402263" cy="7921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 START OF POETRY</a:t>
            </a:r>
            <a:endParaRPr lang="zh-CN" altLang="en-US" sz="3200" b="1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Lucida Sans"/>
            </a:endParaRPr>
          </a:p>
        </p:txBody>
      </p:sp>
      <p:sp>
        <p:nvSpPr>
          <p:cNvPr id="56" name="文本框"/>
          <p:cNvSpPr>
            <a:spLocks noGrp="1"/>
          </p:cNvSpPr>
          <p:nvPr>
            <p:ph type="body" idx="4294967295"/>
          </p:nvPr>
        </p:nvSpPr>
        <p:spPr>
          <a:xfrm>
            <a:off x="539750" y="1268412"/>
            <a:ext cx="7632700" cy="51847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557149" lvl="1" indent="-21424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18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Iqbal started writing poetry at a young age.</a:t>
            </a:r>
          </a:p>
          <a:p>
            <a:pPr marL="557149" lvl="1" indent="-21424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18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He wrote poetry mainly in Urdu and Persian</a:t>
            </a:r>
          </a:p>
          <a:p>
            <a:pPr marL="557149" lvl="1" indent="-21424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Bookman Old Style" pitchFamily="18" charset="0"/>
              </a:rPr>
              <a:t>Famous Works Of Iqbal:</a:t>
            </a:r>
          </a:p>
          <a:p>
            <a:pPr marL="557149" lvl="1" indent="-21424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altLang="zh-CN" sz="1800" b="1" i="0" u="sng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Bookman Old Style" pitchFamily="18" charset="0"/>
              </a:rPr>
              <a:t>Persian Books:</a:t>
            </a:r>
          </a:p>
          <a:p>
            <a:pPr marL="557149" lvl="1" indent="-21424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18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Asrar-e-Khudi</a:t>
            </a:r>
          </a:p>
          <a:p>
            <a:pPr marL="557149" lvl="1" indent="-21424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18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Rumuz-i-Bekhudi</a:t>
            </a:r>
          </a:p>
          <a:p>
            <a:pPr marL="557149" lvl="1" indent="-21424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18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Payam-i-Mashriq</a:t>
            </a:r>
          </a:p>
          <a:p>
            <a:pPr marL="557149" lvl="1" indent="-21424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18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Zabur-i-Ajam</a:t>
            </a:r>
          </a:p>
          <a:p>
            <a:pPr marL="557149" lvl="1" indent="-21424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Urdu works</a:t>
            </a:r>
          </a:p>
          <a:p>
            <a:pPr marL="557149" lvl="1" indent="-21424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Bang-i-Dara</a:t>
            </a:r>
          </a:p>
          <a:p>
            <a:pPr marL="557149" lvl="1" indent="-21424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Bal-i-Jibril</a:t>
            </a:r>
          </a:p>
          <a:p>
            <a:pPr marL="557149" lvl="1" indent="-21424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Zarb-i Kalim</a:t>
            </a:r>
          </a:p>
          <a:p>
            <a:pPr marL="557149" lvl="1" indent="-21424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Armughan-e-Hijaz</a:t>
            </a:r>
            <a:endParaRPr lang="zh-CN" altLang="en-US" sz="18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  <p:sp>
        <p:nvSpPr>
          <p:cNvPr id="57" name="文本框"/>
          <p:cNvSpPr txBox="1">
            <a:spLocks/>
          </p:cNvSpPr>
          <p:nvPr/>
        </p:nvSpPr>
        <p:spPr>
          <a:xfrm>
            <a:off x="7885113" y="5883275"/>
            <a:ext cx="565149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000" b="0" i="0" u="none" strike="noStrike" kern="0" cap="none" spc="0" baseline="0">
                <a:solidFill>
                  <a:srgbClr val="FFFFFF"/>
                </a:solidFill>
                <a:latin typeface="Rockwell" pitchFamily="18" charset="0"/>
                <a:ea typeface="宋体" charset="0"/>
                <a:cs typeface="Lucida Sans"/>
              </a:rPr>
              <a:t>11</a:t>
            </a:fld>
            <a:endParaRPr lang="zh-CN" altLang="en-US" sz="1000" b="0" i="0" u="none" strike="noStrike" kern="0" cap="none" spc="0" baseline="0">
              <a:solidFill>
                <a:srgbClr val="FFFFFF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770734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"/>
          <p:cNvSpPr>
            <a:spLocks noGrp="1"/>
          </p:cNvSpPr>
          <p:nvPr>
            <p:ph type="title"/>
          </p:nvPr>
        </p:nvSpPr>
        <p:spPr>
          <a:xfrm>
            <a:off x="468312" y="115887"/>
            <a:ext cx="7835900" cy="82391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FAMOUS POETRY BOOKS</a:t>
            </a:r>
            <a:endParaRPr lang="zh-CN" altLang="en-US" sz="3400" b="1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Lucida Sans"/>
            </a:endParaRPr>
          </a:p>
        </p:txBody>
      </p:sp>
      <p:sp>
        <p:nvSpPr>
          <p:cNvPr id="59" name="文本框"/>
          <p:cNvSpPr>
            <a:spLocks noGrp="1"/>
          </p:cNvSpPr>
          <p:nvPr>
            <p:ph type="body" idx="4294967295"/>
          </p:nvPr>
        </p:nvSpPr>
        <p:spPr>
          <a:xfrm>
            <a:off x="2843212" y="1222375"/>
            <a:ext cx="3168650" cy="82391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800" b="1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Bookman Old Style" pitchFamily="18" charset="0"/>
            </a:endParaRPr>
          </a:p>
          <a:p>
            <a:pPr marL="0" indent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800" b="1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Bookman Old Style" pitchFamily="18" charset="0"/>
            </a:endParaRPr>
          </a:p>
          <a:p>
            <a:pPr marL="0" indent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9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Bookman Old Style" pitchFamily="18" charset="0"/>
              </a:rPr>
              <a:t>      Bal-i-Jibril</a:t>
            </a:r>
          </a:p>
          <a:p>
            <a:pPr marL="0" indent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zh-CN" altLang="en-US" sz="800" b="1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  <p:sp>
        <p:nvSpPr>
          <p:cNvPr id="60" name="矩形"/>
          <p:cNvSpPr>
            <a:spLocks noGrp="1"/>
          </p:cNvSpPr>
          <p:nvPr>
            <p:ph/>
          </p:nvPr>
        </p:nvSpPr>
        <p:spPr>
          <a:xfrm>
            <a:off x="179387" y="2205037"/>
            <a:ext cx="4337050" cy="44640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جبرئیل: ہمدمِ دیرینہ کیسا ہے جہانِ رنگ و بو؟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ترجمہ: اے میرے پرانے ساتھی! بتاؤ زمین کی اس رنگین اور خوشبودار دنیا کا کیا حال ہے؟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جبرئیل: ہر گھڑی افلاک پر رہتی ہے تیری گفتگو، کیا نہیں ممکن کہ تیرا چاکِ دامن ہو رفو؟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ترجمہ: آسمانوں میں ہر وقت تمہارا ذکر رہتا ہے، کیا اب بھی کوئی صورت نہیں کہ تم اپنی غلطی درست کر لو اور توبہ کر لو؟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endParaRPr lang="zh-CN" altLang="en-US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  <p:pic>
        <p:nvPicPr>
          <p:cNvPr id="61" name="图片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16462" y="2232025"/>
            <a:ext cx="4168775" cy="44370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624933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文本框"/>
          <p:cNvSpPr>
            <a:spLocks noGrp="1"/>
          </p:cNvSpPr>
          <p:nvPr>
            <p:ph type="title"/>
          </p:nvPr>
        </p:nvSpPr>
        <p:spPr>
          <a:xfrm>
            <a:off x="324064" y="189049"/>
            <a:ext cx="7991878" cy="215996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>
                <a:cs typeface="Droid Sans"/>
              </a:rPr>
              <a:t> The Reconstruction of Religious Thought in Islam</a:t>
            </a:r>
          </a:p>
          <a:p>
            <a:r>
              <a:rPr lang="en-US" altLang="zh-CN">
                <a:cs typeface="Droid Sans"/>
              </a:rPr>
              <a:t>Author: Allama Muhammad Iqbal (1930)</a:t>
            </a:r>
            <a:endParaRPr lang="zh-CN" altLang="en-US"/>
          </a:p>
        </p:txBody>
      </p:sp>
      <p:sp>
        <p:nvSpPr>
          <p:cNvPr id="105" name="文本框"/>
          <p:cNvSpPr>
            <a:spLocks noGrp="1"/>
          </p:cNvSpPr>
          <p:nvPr>
            <p:ph type="body" idx="1"/>
          </p:nvPr>
        </p:nvSpPr>
        <p:spPr>
          <a:xfrm>
            <a:off x="252065" y="2493014"/>
            <a:ext cx="8711867" cy="417593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This refers to the presidential address delivered by Allama Muhammad Iqbal on December 29, 1930, at the annual session of the All-India Muslim League. It is considered a milestone in South Asian history because:</a:t>
            </a:r>
          </a:p>
          <a:p>
            <a:r>
              <a:rPr lang="en-US" altLang="zh-CN"/>
              <a:t>The Vision: Iqbal proposed the idea of an independent state for Muslim-majority provinces in northwestern India (Punjab, NWFP/Khyber Pakhtunkhwa, Sindh, and Balochistan).</a:t>
            </a:r>
          </a:p>
          <a:p>
            <a:r>
              <a:rPr lang="en-US" altLang="zh-CN"/>
              <a:t>Two-Nation Theory: It laid the intellectual groundwork for the concept that Hindus and Muslims were two distinct nations.</a:t>
            </a:r>
          </a:p>
          <a:p>
            <a:r>
              <a:rPr lang="en-US" altLang="zh-CN"/>
              <a:t>Significance: It is often viewed as the first formal articulation of what eventually became the demand for Pakistan.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290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"/>
          <p:cNvSpPr>
            <a:spLocks noGrp="1"/>
          </p:cNvSpPr>
          <p:nvPr>
            <p:ph type="title"/>
          </p:nvPr>
        </p:nvSpPr>
        <p:spPr>
          <a:xfrm>
            <a:off x="539750" y="404812"/>
            <a:ext cx="7764462" cy="6604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sng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ENGLISH &amp; PROSE WORKS</a:t>
            </a:r>
            <a:endParaRPr lang="zh-CN" altLang="en-US" sz="3400" b="1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Lucida Sans"/>
            </a:endParaRPr>
          </a:p>
        </p:txBody>
      </p:sp>
      <p:sp>
        <p:nvSpPr>
          <p:cNvPr id="63" name="矩形"/>
          <p:cNvSpPr>
            <a:spLocks noGrp="1"/>
          </p:cNvSpPr>
          <p:nvPr>
            <p:ph/>
          </p:nvPr>
        </p:nvSpPr>
        <p:spPr>
          <a:xfrm>
            <a:off x="250825" y="1125537"/>
            <a:ext cx="8642350" cy="547211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 3"/>
              <a:buChar char=""/>
            </a:pPr>
            <a:r>
              <a:rPr lang="en-US" altLang="zh-CN" sz="2000" b="0" i="0" u="none" strike="noStrike" kern="0" cap="none" spc="0" baseline="0">
                <a:solidFill>
                  <a:srgbClr val="FFFFFF"/>
                </a:solidFill>
                <a:latin typeface="Rockwell" pitchFamily="18" charset="0"/>
                <a:ea typeface="宋体" charset="0"/>
                <a:cs typeface="Lucida Sans"/>
              </a:rPr>
              <a:t>Beyond poetry, Iqbal wrote extensively on law, economics, and religious philosophy.</a:t>
            </a:r>
          </a:p>
          <a:p>
            <a:pPr marL="22860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0" cap="none" spc="0" baseline="0">
                <a:solidFill>
                  <a:srgbClr val="FFFFFF"/>
                </a:solidFill>
                <a:latin typeface="Rockwell" pitchFamily="18" charset="0"/>
                <a:ea typeface="宋体" charset="0"/>
                <a:cs typeface="Lucida Sans"/>
              </a:rPr>
              <a:t>The Development of Metaphysics in Persia (1908)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 3"/>
              <a:buChar char=""/>
            </a:pPr>
            <a:r>
              <a:rPr lang="en-US" altLang="zh-CN" sz="2000" b="0" i="0" u="none" strike="noStrike" kern="0" cap="none" spc="0" baseline="0">
                <a:solidFill>
                  <a:srgbClr val="FFFFFF"/>
                </a:solidFill>
                <a:latin typeface="Rockwell" pitchFamily="18" charset="0"/>
                <a:ea typeface="宋体" charset="0"/>
                <a:cs typeface="Lucida Sans"/>
              </a:rPr>
              <a:t> His doctoral thesis submitted to Munich University.</a:t>
            </a:r>
          </a:p>
          <a:p>
            <a:pPr marL="22860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0" cap="none" spc="0" baseline="0">
                <a:solidFill>
                  <a:srgbClr val="FFFFFF"/>
                </a:solidFill>
                <a:latin typeface="Rockwell" pitchFamily="18" charset="0"/>
                <a:ea typeface="宋体" charset="0"/>
                <a:cs typeface="Lucida Sans"/>
              </a:rPr>
              <a:t>Ilm ul Iqtisad (1903)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 3"/>
              <a:buChar char=""/>
            </a:pPr>
            <a:r>
              <a:rPr lang="en-US" altLang="zh-CN" sz="2000" b="0" i="0" u="none" strike="noStrike" kern="0" cap="none" spc="0" baseline="0">
                <a:solidFill>
                  <a:srgbClr val="FFFFFF"/>
                </a:solidFill>
                <a:latin typeface="Rockwell" pitchFamily="18" charset="0"/>
                <a:ea typeface="宋体" charset="0"/>
                <a:cs typeface="Lucida Sans"/>
              </a:rPr>
              <a:t> His first book, written in Urdu, which was an introductory study of Economics.</a:t>
            </a:r>
            <a:endParaRPr lang="zh-CN" altLang="en-US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885517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"/>
          <p:cNvSpPr>
            <a:spLocks noGrp="1"/>
          </p:cNvSpPr>
          <p:nvPr>
            <p:ph type="title"/>
          </p:nvPr>
        </p:nvSpPr>
        <p:spPr>
          <a:xfrm>
            <a:off x="457200" y="714375"/>
            <a:ext cx="8229600" cy="12144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POLITICAL PHILOSOPHY</a:t>
            </a:r>
            <a:endParaRPr lang="zh-CN" altLang="en-US" sz="3400" b="1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Lucida Sans"/>
            </a:endParaRPr>
          </a:p>
        </p:txBody>
      </p:sp>
      <p:sp>
        <p:nvSpPr>
          <p:cNvPr id="65" name="矩形"/>
          <p:cNvSpPr>
            <a:spLocks noGrp="1"/>
          </p:cNvSpPr>
          <p:nvPr>
            <p:ph/>
          </p:nvPr>
        </p:nvSpPr>
        <p:spPr>
          <a:xfrm>
            <a:off x="457200" y="1785937"/>
            <a:ext cx="8229600" cy="4572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64998" indent="-25552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endParaRPr lang="en-US" altLang="zh-CN" sz="17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364998" indent="-25552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17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Iqbal’s ideas have a great influence on the Islamic thinkers of the 20</a:t>
            </a:r>
            <a:r>
              <a:rPr lang="en-US" altLang="zh-CN" sz="1700" b="0" i="0" u="none" strike="noStrike" kern="0" cap="none" spc="0" baseline="3000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th</a:t>
            </a:r>
            <a:r>
              <a:rPr lang="en-US" altLang="zh-CN" sz="17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century, especially on those in Pakistan.</a:t>
            </a:r>
          </a:p>
          <a:p>
            <a:pPr marL="364998" indent="-25552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endParaRPr lang="en-US" altLang="zh-CN" sz="17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364998" indent="-25552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17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His perspective on the role of religion in society has been extremely relevant to the Muslims.</a:t>
            </a:r>
          </a:p>
          <a:p>
            <a:pPr marL="364998" indent="-25552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endParaRPr lang="en-US" altLang="zh-CN" sz="17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364998" indent="-25552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17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He explains the concept of ‘khudi’ or ‘self’.</a:t>
            </a:r>
          </a:p>
          <a:p>
            <a:pPr marL="364998" indent="-25552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endParaRPr lang="en-US" altLang="zh-CN" sz="17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364998" indent="-25552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17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According to him, the aim of life is self realization and self knowledge.</a:t>
            </a:r>
          </a:p>
          <a:p>
            <a:pPr marL="364998" indent="-25552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endParaRPr lang="en-US" altLang="zh-CN" sz="17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364998" indent="-25552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17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One must realize that s/he is the vicegerent of Allah on earth.</a:t>
            </a:r>
            <a:endParaRPr lang="zh-CN" altLang="en-US" sz="17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385895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"/>
          <p:cNvSpPr>
            <a:spLocks noGrp="1"/>
          </p:cNvSpPr>
          <p:nvPr>
            <p:ph/>
          </p:nvPr>
        </p:nvSpPr>
        <p:spPr>
          <a:xfrm>
            <a:off x="179387" y="188912"/>
            <a:ext cx="8507413" cy="59372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According to Iqbal, the key to Muslims’ revival is the construction of Islamic thought and the adoption of Islamic identity.</a:t>
            </a: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Based on this premises, he promoted an independent idea of ‘The development of Muslin in India’.</a:t>
            </a: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As the representative of Indian Muslims in England, he suggested his idea of creating a homeland for Muslims in the South Asian subcontinent.</a:t>
            </a: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This is because of the oppression of Muslims by non-Muslims and the persistent denial of Muslims’ rights. </a:t>
            </a: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endParaRPr lang="en-US" altLang="zh-CN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endParaRPr lang="zh-CN" altLang="en-US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642484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文本框"/>
          <p:cNvSpPr>
            <a:spLocks noGrp="1"/>
          </p:cNvSpPr>
          <p:nvPr>
            <p:ph type="title"/>
          </p:nvPr>
        </p:nvSpPr>
        <p:spPr>
          <a:xfrm>
            <a:off x="457200" y="642937"/>
            <a:ext cx="8229600" cy="9286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TOWARDS THE MUSLIM IDENTITY</a:t>
            </a:r>
            <a:endParaRPr lang="zh-CN" altLang="en-US" sz="3400" b="1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Lucida Sans"/>
            </a:endParaRPr>
          </a:p>
        </p:txBody>
      </p:sp>
      <p:sp>
        <p:nvSpPr>
          <p:cNvPr id="68" name="矩形"/>
          <p:cNvSpPr>
            <a:spLocks noGrp="1"/>
          </p:cNvSpPr>
          <p:nvPr>
            <p:ph/>
          </p:nvPr>
        </p:nvSpPr>
        <p:spPr>
          <a:xfrm>
            <a:off x="457200" y="1785937"/>
            <a:ext cx="8229600" cy="46434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He called upon Muslims to assert their identity through  affiliation to the Islamic faith.</a:t>
            </a: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For him Islam is both a religious and political system.</a:t>
            </a: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He regards Tawhid (Unity of God) and Risalat (Prophet-hood  of Muhammad) as the two determinants of a national identity for Muslims. To him, these two are sufficient to bind Muslims together.</a:t>
            </a: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His notion of ‘self’ is actually  a call to action for Muslims to shape the development along the lines of Islamic culture.</a:t>
            </a: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In his philosophy, he takes religious foundation as the first principle for any society and argues that if a government is not based on religious values, it will become tyrannical. </a:t>
            </a: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endParaRPr lang="en-US" altLang="zh-CN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endParaRPr lang="en-US" altLang="zh-CN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endParaRPr lang="zh-CN" altLang="en-US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939275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文本框"/>
          <p:cNvSpPr>
            <a:spLocks noGrp="1"/>
          </p:cNvSpPr>
          <p:nvPr>
            <p:ph type="title"/>
          </p:nvPr>
        </p:nvSpPr>
        <p:spPr>
          <a:xfrm>
            <a:off x="500062" y="428625"/>
            <a:ext cx="8229600" cy="1071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IQBAL AND JINNAH</a:t>
            </a:r>
            <a:endParaRPr lang="zh-CN" altLang="en-US" sz="3400" b="1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Lucida Sans"/>
            </a:endParaRPr>
          </a:p>
        </p:txBody>
      </p:sp>
      <p:sp>
        <p:nvSpPr>
          <p:cNvPr id="70" name="矩形"/>
          <p:cNvSpPr>
            <a:spLocks noGrp="1"/>
          </p:cNvSpPr>
          <p:nvPr>
            <p:ph/>
          </p:nvPr>
        </p:nvSpPr>
        <p:spPr>
          <a:xfrm>
            <a:off x="457200" y="1428750"/>
            <a:ext cx="8229600" cy="514508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64998" indent="-255524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Mohammad Ali Jinnah took the leadership of the Indian Muslim League.</a:t>
            </a:r>
          </a:p>
          <a:p>
            <a:pPr marL="364998" indent="-255524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endParaRPr lang="en-US" altLang="zh-CN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364998" indent="-255524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Iqbal convinced Jinnah that Hindu and Muslim were two separate (national) identities. </a:t>
            </a:r>
          </a:p>
          <a:p>
            <a:pPr marL="364998" indent="-255524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endParaRPr lang="en-US" altLang="zh-CN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364998" indent="-255524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He urged Jinnah to return to India to lead the Muslims. </a:t>
            </a:r>
          </a:p>
          <a:p>
            <a:pPr marL="364998" indent="-255524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endParaRPr lang="en-US" altLang="zh-CN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364998" indent="-255524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At that time the Pakistan movement gathered huge momentum.</a:t>
            </a:r>
          </a:p>
          <a:p>
            <a:pPr marL="364998" indent="-255524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364998" indent="-255524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Islam was used as the motivation force to rally the Muslims to the cause of creating a separate land for themselves, that is, Pakistan. </a:t>
            </a:r>
          </a:p>
          <a:p>
            <a:pPr marL="364998" indent="-255524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endParaRPr lang="zh-CN" altLang="en-US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237767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"/>
          <p:cNvSpPr>
            <a:spLocks noGrp="1"/>
          </p:cNvSpPr>
          <p:nvPr>
            <p:ph/>
          </p:nvPr>
        </p:nvSpPr>
        <p:spPr>
          <a:xfrm>
            <a:off x="0" y="115887"/>
            <a:ext cx="9036051" cy="66262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The demand of Pakistan was due to the denial of Muslims’ rights in the Indian subcontinent.</a:t>
            </a: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A deep sense of brotherhood united the Muslims and facilitated the victory of the Muslim League.</a:t>
            </a: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In 1947, India and Pakistan were created.</a:t>
            </a: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9 years after Iqbal’s death, Jinnah and the other politicians credited Iqbal as one of the visionaries, founder of the state and spiritual father of Pakistan.</a:t>
            </a: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endParaRPr lang="en-US" altLang="zh-CN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364998" indent="-255524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 typeface="Georgia"/>
              <a:buChar char="•"/>
            </a:pPr>
            <a:endParaRPr lang="zh-CN" altLang="en-US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  <p:pic>
        <p:nvPicPr>
          <p:cNvPr id="72" name="图片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00337" y="3151187"/>
            <a:ext cx="5862638" cy="36020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45487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框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2255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INFLUENCES</a:t>
            </a:r>
            <a:endParaRPr lang="zh-CN" altLang="en-US" sz="3600" b="1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Lucida Sans"/>
            </a:endParaRPr>
          </a:p>
        </p:txBody>
      </p:sp>
      <p:sp>
        <p:nvSpPr>
          <p:cNvPr id="74" name="矩形"/>
          <p:cNvSpPr>
            <a:spLocks noGrp="1"/>
          </p:cNvSpPr>
          <p:nvPr>
            <p:ph/>
          </p:nvPr>
        </p:nvSpPr>
        <p:spPr>
          <a:xfrm>
            <a:off x="457200" y="1285875"/>
            <a:ext cx="8229600" cy="52149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609600" indent="-609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609600" indent="-609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1" i="1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Iqbal was influenced by</a:t>
            </a:r>
          </a:p>
          <a:p>
            <a:pPr marL="609600" indent="-609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609600" indent="-609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A9CCC"/>
              </a:buClr>
              <a:buSzPct val="100000"/>
              <a:buFontTx/>
              <a:buAutoNum type="arabicPeriod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Sir Thomas Walker Arnold </a:t>
            </a:r>
          </a:p>
          <a:p>
            <a:pPr marL="609600" indent="-609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    (1864-1930)</a:t>
            </a:r>
          </a:p>
          <a:p>
            <a:pPr marL="609600" indent="-609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- British orientalist</a:t>
            </a:r>
          </a:p>
          <a:p>
            <a:pPr marL="609600" indent="-609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- Iqbal’s teacher at the</a:t>
            </a:r>
          </a:p>
          <a:p>
            <a:pPr marL="609600" indent="-609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   Government College in Lahore.</a:t>
            </a:r>
          </a:p>
          <a:p>
            <a:pPr marL="609600" indent="-609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- Arnold exposed Iqbal to Western cultures.</a:t>
            </a:r>
          </a:p>
          <a:p>
            <a:pPr marL="609600" indent="-609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- With his encouragement Iqbal traveled to Europe and began his poetry writing and participated in politics.</a:t>
            </a:r>
          </a:p>
          <a:p>
            <a:pPr marL="609600" indent="-609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	</a:t>
            </a:r>
            <a:endParaRPr lang="zh-CN" altLang="en-US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  <p:pic>
        <p:nvPicPr>
          <p:cNvPr id="75" name="图片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88125" y="1125537"/>
            <a:ext cx="2171700" cy="2517774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58662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文本框"/>
          <p:cNvSpPr>
            <a:spLocks noGrp="1"/>
          </p:cNvSpPr>
          <p:nvPr>
            <p:ph type="title"/>
          </p:nvPr>
        </p:nvSpPr>
        <p:spPr>
          <a:xfrm>
            <a:off x="468312" y="857250"/>
            <a:ext cx="8229600" cy="12858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2.JALAL AL-DIN MUHAMMAD RUMI</a:t>
            </a:r>
            <a:endParaRPr lang="zh-CN" altLang="en-US" sz="3400" b="1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Lucida Sans"/>
            </a:endParaRPr>
          </a:p>
        </p:txBody>
      </p:sp>
      <p:sp>
        <p:nvSpPr>
          <p:cNvPr id="77" name="矩形"/>
          <p:cNvSpPr>
            <a:spLocks noGrp="1"/>
          </p:cNvSpPr>
          <p:nvPr>
            <p:ph/>
          </p:nvPr>
        </p:nvSpPr>
        <p:spPr>
          <a:xfrm>
            <a:off x="250825" y="2000250"/>
            <a:ext cx="8435975" cy="45243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	 - He deeply influenced Iqbal’s mind, as Iqbal’s writings focus on: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  a) study on Islam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  b) culture and history of Islamic 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       civilization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		c) political future. 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Iqbal regarded Rumi as his “guide” in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   writing.</a:t>
            </a:r>
            <a:endParaRPr lang="zh-CN" altLang="en-US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  <p:pic>
        <p:nvPicPr>
          <p:cNvPr id="78" name="图片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57937" y="3429000"/>
            <a:ext cx="2390775" cy="2973387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611043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本框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64462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3. SAYYID AHMAD KHAN</a:t>
            </a:r>
            <a:endParaRPr lang="zh-CN" altLang="en-US" sz="2800" b="1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Lucida Sans"/>
            </a:endParaRPr>
          </a:p>
        </p:txBody>
      </p:sp>
      <p:sp>
        <p:nvSpPr>
          <p:cNvPr id="80" name="矩形"/>
          <p:cNvSpPr>
            <a:spLocks noGrp="1"/>
          </p:cNvSpPr>
          <p:nvPr>
            <p:ph/>
          </p:nvPr>
        </p:nvSpPr>
        <p:spPr>
          <a:xfrm>
            <a:off x="323850" y="2500312"/>
            <a:ext cx="8640763" cy="4097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	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- </a:t>
            </a:r>
            <a:r>
              <a:rPr lang="en-US" altLang="zh-CN" sz="32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His idea of “Two Nation Theory”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 was influenced by Sir Sayyid’s thoughts.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</a:t>
            </a:r>
            <a:endParaRPr lang="zh-CN" altLang="en-US" sz="32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  <p:pic>
        <p:nvPicPr>
          <p:cNvPr id="81" name="图片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15124" y="714375"/>
            <a:ext cx="2143125" cy="3171825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95438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文本框"/>
          <p:cNvSpPr>
            <a:spLocks noGrp="1"/>
          </p:cNvSpPr>
          <p:nvPr>
            <p:ph type="title"/>
          </p:nvPr>
        </p:nvSpPr>
        <p:spPr>
          <a:xfrm>
            <a:off x="457200" y="500062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4. FRIEDRICH NIETZSCHE, HENRY BERGSON AND GOETHE.</a:t>
            </a:r>
            <a:endParaRPr lang="zh-CN" altLang="en-US" sz="3400" b="1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Lucida Sans"/>
            </a:endParaRPr>
          </a:p>
        </p:txBody>
      </p:sp>
      <p:sp>
        <p:nvSpPr>
          <p:cNvPr id="83" name="矩形"/>
          <p:cNvSpPr>
            <a:spLocks noGrp="1"/>
          </p:cNvSpPr>
          <p:nvPr>
            <p:ph/>
          </p:nvPr>
        </p:nvSpPr>
        <p:spPr>
          <a:xfrm>
            <a:off x="179387" y="1714500"/>
            <a:ext cx="8785225" cy="49545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- Western philosophers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- They made Iqbal a strong critic of Western society with their idea of separating religion from the state.</a:t>
            </a:r>
            <a:endParaRPr lang="zh-CN" altLang="en-US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  <p:pic>
        <p:nvPicPr>
          <p:cNvPr id="84" name="图片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32587" y="3857625"/>
            <a:ext cx="2089150" cy="2524125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</a:ln>
        </p:spPr>
      </p:pic>
      <p:pic>
        <p:nvPicPr>
          <p:cNvPr id="85" name="图片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284662" y="3929062"/>
            <a:ext cx="2016124" cy="2452688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</a:ln>
        </p:spPr>
      </p:pic>
      <p:pic>
        <p:nvPicPr>
          <p:cNvPr id="86" name="图片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08175" y="3929062"/>
            <a:ext cx="2087562" cy="2452688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829785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文本框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64462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1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IQBAL’S INFLUENCE ON</a:t>
            </a:r>
            <a:endParaRPr lang="zh-CN" altLang="en-US" sz="3400" b="1" i="1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Lucida Sans"/>
            </a:endParaRPr>
          </a:p>
        </p:txBody>
      </p:sp>
      <p:sp>
        <p:nvSpPr>
          <p:cNvPr id="88" name="矩形"/>
          <p:cNvSpPr>
            <a:spLocks noGrp="1"/>
          </p:cNvSpPr>
          <p:nvPr>
            <p:ph/>
          </p:nvPr>
        </p:nvSpPr>
        <p:spPr>
          <a:xfrm>
            <a:off x="179387" y="2000250"/>
            <a:ext cx="8785225" cy="46688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609600" indent="-609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Tx/>
              <a:buAutoNum type="arabicPeriod"/>
            </a:pPr>
            <a:endParaRPr lang="en-US" altLang="zh-CN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609600" indent="-609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The Indian Independence Movement (1857-1947)</a:t>
            </a:r>
          </a:p>
          <a:p>
            <a:pPr marL="609600" indent="-609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- He was an active member of the All India Muslim League.</a:t>
            </a:r>
          </a:p>
          <a:p>
            <a:pPr marL="609600" indent="-609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- His idea led to the creation of Pakistan as a Muslim state in</a:t>
            </a:r>
          </a:p>
          <a:p>
            <a:pPr marL="609600" indent="-609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 the South Asian subcontinent.</a:t>
            </a:r>
            <a:endParaRPr lang="zh-CN" altLang="en-US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  <p:pic>
        <p:nvPicPr>
          <p:cNvPr id="89" name="图片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92725" y="4357688"/>
            <a:ext cx="3409949" cy="215265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681021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64462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2. ISRAR AHMED (1932-2010)</a:t>
            </a:r>
            <a:endParaRPr lang="zh-CN" altLang="en-US" sz="3400" b="1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Lucida Sans"/>
            </a:endParaRPr>
          </a:p>
        </p:txBody>
      </p:sp>
      <p:sp>
        <p:nvSpPr>
          <p:cNvPr id="91" name="矩形"/>
          <p:cNvSpPr>
            <a:spLocks noGrp="1"/>
          </p:cNvSpPr>
          <p:nvPr>
            <p:ph/>
          </p:nvPr>
        </p:nvSpPr>
        <p:spPr>
          <a:xfrm>
            <a:off x="457200" y="2071687"/>
            <a:ext cx="8507413" cy="45974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	 - Pakistani Muslim religious scholar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- Founder of Tanzeem al-Islami (Islamic Revolutionary Thought) that argued that teachings of Qur’an and Sunnah must be implemented in the social, cultural, political, and economic spheres of life.</a:t>
            </a:r>
            <a:endParaRPr lang="zh-CN" altLang="en-US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2011332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文本框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64462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3. SYED ABUL ALA MAUDUDI (1903-1979)</a:t>
            </a:r>
            <a:endParaRPr lang="zh-CN" altLang="en-US" sz="3400" b="1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Lucida Sans"/>
            </a:endParaRPr>
          </a:p>
        </p:txBody>
      </p:sp>
      <p:sp>
        <p:nvSpPr>
          <p:cNvPr id="93" name="矩形"/>
          <p:cNvSpPr>
            <a:spLocks noGrp="1"/>
          </p:cNvSpPr>
          <p:nvPr>
            <p:ph/>
          </p:nvPr>
        </p:nvSpPr>
        <p:spPr>
          <a:xfrm>
            <a:off x="250825" y="1857375"/>
            <a:ext cx="8713788" cy="481171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	- Pakistani journalist, theologian, 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   Muslim revivalist and political philosopher.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- He is the founder of Jamaat-e-Islami.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- Iqbal advised him to move from his 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   birthplace, Hyderabat, Deccan to 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   Pathankot and joined the Dar al-Islam 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   Trust Institute.</a:t>
            </a:r>
            <a:endParaRPr lang="zh-CN" altLang="en-US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9187953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文本框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64462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4. CHAUDRY NIAZ ALI KHAN (1880-1976)</a:t>
            </a:r>
            <a:endParaRPr lang="zh-CN" altLang="en-US" sz="3400" b="1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Lucida Sans"/>
            </a:endParaRPr>
          </a:p>
        </p:txBody>
      </p:sp>
      <p:sp>
        <p:nvSpPr>
          <p:cNvPr id="95" name="矩形"/>
          <p:cNvSpPr>
            <a:spLocks noGrp="1"/>
          </p:cNvSpPr>
          <p:nvPr>
            <p:ph/>
          </p:nvPr>
        </p:nvSpPr>
        <p:spPr>
          <a:xfrm>
            <a:off x="179387" y="1857375"/>
            <a:ext cx="8785225" cy="47402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	 - Civil engineer, civil servant, landowner and agriculturalist.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 - Member of the All Indian Muslim League and 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   active supporter of the Pakistan Movement.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 - Iqbal advised him to set up a research 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   institute for Islamic learning to educate new Muslim leaders to hold leadership roles in the new Muslim state — Pakistan.</a:t>
            </a:r>
            <a:endParaRPr lang="zh-CN" altLang="en-US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2894947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文本框"/>
          <p:cNvSpPr>
            <a:spLocks noGrp="1"/>
          </p:cNvSpPr>
          <p:nvPr>
            <p:ph type="title"/>
          </p:nvPr>
        </p:nvSpPr>
        <p:spPr>
          <a:xfrm>
            <a:off x="468312" y="260350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5. MUHAMMAD ALI JINNAH (1876-1948)</a:t>
            </a:r>
            <a:endParaRPr lang="zh-CN" altLang="en-US" sz="3400" b="1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Lucida Sans"/>
            </a:endParaRPr>
          </a:p>
        </p:txBody>
      </p:sp>
      <p:sp>
        <p:nvSpPr>
          <p:cNvPr id="97" name="矩形"/>
          <p:cNvSpPr>
            <a:spLocks noGrp="1"/>
          </p:cNvSpPr>
          <p:nvPr>
            <p:ph/>
          </p:nvPr>
        </p:nvSpPr>
        <p:spPr>
          <a:xfrm>
            <a:off x="179387" y="1052512"/>
            <a:ext cx="8785225" cy="56165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22860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</a:t>
            </a:r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Lawyer, politician, statesman and widely known as the founder of Pakistan.</a:t>
            </a:r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Honorific titles: Quaid e-Azam (the Great Leader),</a:t>
            </a:r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Baba-e-Qaum (the Father of the Nation)</a:t>
            </a:r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</a:t>
            </a:r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Leader of the All India Muslim League (1913-</a:t>
            </a:r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  1947)</a:t>
            </a:r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- Went to London in 1892.</a:t>
            </a:r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- Returned to India in 1896.</a:t>
            </a:r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- Back to London in  1931. </a:t>
            </a:r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- Back to India (persuaded by Iqbal) in 1936 </a:t>
            </a:r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             to reunite the Muslim League and founded </a:t>
            </a:r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0" cap="none" spc="0" baseline="0">
                <a:solidFill>
                  <a:schemeClr val="tx1"/>
                </a:solidFill>
                <a:latin typeface="Rockwell" pitchFamily="18" charset="0"/>
                <a:ea typeface="宋体" charset="0"/>
                <a:cs typeface="Lucida Sans"/>
              </a:rPr>
              <a:t>                   Pakistan in 1947. </a:t>
            </a:r>
            <a:endParaRPr lang="zh-CN" altLang="en-US" sz="2000" b="0" i="0" u="none" strike="noStrike" kern="0" cap="none" spc="0" baseline="0">
              <a:solidFill>
                <a:schemeClr val="tx1"/>
              </a:solidFill>
              <a:latin typeface="Rockwell" pitchFamily="18" charset="0"/>
              <a:ea typeface="宋体" charset="0"/>
              <a:cs typeface="Lucida Sans"/>
            </a:endParaRPr>
          </a:p>
        </p:txBody>
      </p:sp>
      <p:pic>
        <p:nvPicPr>
          <p:cNvPr id="98" name="图片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659562" y="3213100"/>
            <a:ext cx="1873250" cy="172719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9836814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文本框"/>
          <p:cNvSpPr>
            <a:spLocks noGrp="1"/>
          </p:cNvSpPr>
          <p:nvPr>
            <p:ph type="title"/>
          </p:nvPr>
        </p:nvSpPr>
        <p:spPr>
          <a:xfrm>
            <a:off x="134937" y="1030287"/>
            <a:ext cx="8766176" cy="48085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ہر اک مقام سے آگے بڑھنے کا ہے پیغام</a:t>
            </a:r>
            <a:br>
              <a:rPr lang="zh-CN" altLang="en-US" sz="27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</a:br>
            <a:r>
              <a:rPr lang="en-US" altLang="zh-CN" sz="27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 رکنا نہیں ہے تجھے، یہ دنیا ہے تیرا امتحان</a:t>
            </a:r>
            <a:br>
              <a:rPr lang="zh-CN" altLang="en-US" sz="27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</a:br>
            <a:br>
              <a:rPr lang="zh-CN" altLang="en-US" sz="27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</a:br>
            <a:r>
              <a:rPr lang="en-US" altLang="zh-CN" sz="27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THANK YOU</a:t>
            </a:r>
            <a:br>
              <a:rPr lang="zh-CN" altLang="en-US" sz="27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</a:br>
            <a:r>
              <a:rPr lang="en-US" altLang="zh-CN" sz="27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                           </a:t>
            </a:r>
            <a:br>
              <a:rPr lang="zh-CN" altLang="en-US" sz="27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</a:br>
            <a:br>
              <a:rPr lang="zh-CN" altLang="en-US" sz="27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</a:br>
            <a:br>
              <a:rPr lang="zh-CN" altLang="en-US" sz="27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</a:br>
            <a:br>
              <a:rPr lang="zh-CN" altLang="en-US" sz="27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</a:br>
            <a:r>
              <a:rPr lang="en-US" altLang="zh-CN" sz="27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                                          </a:t>
            </a:r>
            <a:r>
              <a:rPr lang="en-US" altLang="zh-CN" sz="12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(</a:t>
            </a:r>
            <a:r>
              <a:rPr lang="en-US" altLang="zh-CN" sz="1000" b="1" i="0" u="none" strike="noStrike" kern="0" cap="none" spc="0" baseline="0">
                <a:solidFill>
                  <a:schemeClr val="tx1"/>
                </a:solidFill>
                <a:latin typeface="Bookman Old Style" pitchFamily="18" charset="0"/>
                <a:ea typeface="宋体" charset="0"/>
                <a:cs typeface="Lucida Sans"/>
              </a:rPr>
              <a:t>PREPARED BY ANKEET KUMAR)</a:t>
            </a:r>
            <a:endParaRPr lang="zh-CN" altLang="en-US" sz="1000" b="1" i="0" u="none" strike="noStrike" kern="0" cap="none" spc="0" baseline="0">
              <a:solidFill>
                <a:schemeClr val="tx1"/>
              </a:solidFill>
              <a:latin typeface="Bookman Old Style" pitchFamily="18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216226387"/>
      </p:ext>
    </p:extLst>
  </p:cSld>
  <p:clrMapOvr>
    <a:masterClrMapping/>
  </p:clrMapOvr>
</p:sld>
</file>

<file path=ppt/theme/theme1.xml><?xml version="1.0" encoding="utf-8"?>
<a:theme xmlns:a="http://schemas.openxmlformats.org/drawingml/2006/main" name="Damask">
  <a:themeElements>
    <a:clrScheme name="Damask">
      <a:dk1>
        <a:srgbClr val="FFFFFF"/>
      </a:dk1>
      <a:lt1>
        <a:srgbClr val="000000"/>
      </a:lt1>
      <a:dk2>
        <a:srgbClr val="ABDAFC"/>
      </a:dk2>
      <a:lt2>
        <a:srgbClr val="2A5B7F"/>
      </a:lt2>
      <a:accent1>
        <a:srgbClr val="9EC544"/>
      </a:accent1>
      <a:accent2>
        <a:srgbClr val="50BEA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BA9DA"/>
      </a:hlink>
      <a:folHlink>
        <a:srgbClr val="A0BCD3"/>
      </a:folHlink>
    </a:clrScheme>
    <a:fontScheme name="Damask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Damask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Damask">
  <a:themeElements>
    <a:clrScheme name="1_Damask">
      <a:dk1>
        <a:srgbClr val="FFFFFF"/>
      </a:dk1>
      <a:lt1>
        <a:srgbClr val="000000"/>
      </a:lt1>
      <a:dk2>
        <a:srgbClr val="ABDAFC"/>
      </a:dk2>
      <a:lt2>
        <a:srgbClr val="2A5B7F"/>
      </a:lt2>
      <a:accent1>
        <a:srgbClr val="9EC544"/>
      </a:accent1>
      <a:accent2>
        <a:srgbClr val="50BEA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BA9DA"/>
      </a:hlink>
      <a:folHlink>
        <a:srgbClr val="A0BCD3"/>
      </a:folHlink>
    </a:clrScheme>
    <a:fontScheme name="1_Damask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1_Damask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Damask">
  <a:themeElements>
    <a:clrScheme name="2_Damask">
      <a:dk1>
        <a:srgbClr val="FFFFFF"/>
      </a:dk1>
      <a:lt1>
        <a:srgbClr val="000000"/>
      </a:lt1>
      <a:dk2>
        <a:srgbClr val="ABDAFC"/>
      </a:dk2>
      <a:lt2>
        <a:srgbClr val="2A5B7F"/>
      </a:lt2>
      <a:accent1>
        <a:srgbClr val="9EC544"/>
      </a:accent1>
      <a:accent2>
        <a:srgbClr val="50BEA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BA9DA"/>
      </a:hlink>
      <a:folHlink>
        <a:srgbClr val="A0BCD3"/>
      </a:folHlink>
    </a:clrScheme>
    <a:fontScheme name="2_Damask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2_Damask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Damask">
  <a:themeElements>
    <a:clrScheme name="3_Damask">
      <a:dk1>
        <a:srgbClr val="FFFFFF"/>
      </a:dk1>
      <a:lt1>
        <a:srgbClr val="000000"/>
      </a:lt1>
      <a:dk2>
        <a:srgbClr val="ABDAFC"/>
      </a:dk2>
      <a:lt2>
        <a:srgbClr val="2A5B7F"/>
      </a:lt2>
      <a:accent1>
        <a:srgbClr val="9EC544"/>
      </a:accent1>
      <a:accent2>
        <a:srgbClr val="50BEA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BA9DA"/>
      </a:hlink>
      <a:folHlink>
        <a:srgbClr val="A0BCD3"/>
      </a:folHlink>
    </a:clrScheme>
    <a:fontScheme name="3_Damask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3_Damask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638</TotalTime>
  <Words>1857</Words>
  <Application>Microsoft Office PowerPoint</Application>
  <PresentationFormat>On-screen Show (4:3)</PresentationFormat>
  <Paragraphs>225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Arial</vt:lpstr>
      <vt:lpstr>Bookman Old Style</vt:lpstr>
      <vt:lpstr>Calibri</vt:lpstr>
      <vt:lpstr>Droid Sans</vt:lpstr>
      <vt:lpstr>Georgia</vt:lpstr>
      <vt:lpstr>Rockwell</vt:lpstr>
      <vt:lpstr>Wingdings 3</vt:lpstr>
      <vt:lpstr>Damask</vt:lpstr>
      <vt:lpstr>1_Damask</vt:lpstr>
      <vt:lpstr>2_Damask</vt:lpstr>
      <vt:lpstr>3_Damask</vt:lpstr>
      <vt:lpstr>PowerPoint Presentation</vt:lpstr>
      <vt:lpstr>ALLAMA MUHAMMAD     IQBAL   (PHILOSOPHER AND POET)    </vt:lpstr>
      <vt:lpstr>Context</vt:lpstr>
      <vt:lpstr>LIFE</vt:lpstr>
      <vt:lpstr>PowerPoint Presentation</vt:lpstr>
      <vt:lpstr>EDUCATION</vt:lpstr>
      <vt:lpstr>PowerPoint Presentation</vt:lpstr>
      <vt:lpstr>CAREER LIFE</vt:lpstr>
      <vt:lpstr>FINAL YEARS AND DEATH</vt:lpstr>
      <vt:lpstr>IQBAL’S IDEAS</vt:lpstr>
      <vt:lpstr> START OF POETRY</vt:lpstr>
      <vt:lpstr>FAMOUS POETRY BOOKS</vt:lpstr>
      <vt:lpstr> The Reconstruction of Religious Thought in Islam Author: Allama Muhammad Iqbal (1930)</vt:lpstr>
      <vt:lpstr>ENGLISH &amp; PROSE WORKS</vt:lpstr>
      <vt:lpstr>POLITICAL PHILOSOPHY</vt:lpstr>
      <vt:lpstr>PowerPoint Presentation</vt:lpstr>
      <vt:lpstr>TOWARDS THE MUSLIM IDENTITY</vt:lpstr>
      <vt:lpstr>IQBAL AND JINNAH</vt:lpstr>
      <vt:lpstr>PowerPoint Presentation</vt:lpstr>
      <vt:lpstr>INFLUENCES</vt:lpstr>
      <vt:lpstr>2.JALAL AL-DIN MUHAMMAD RUMI</vt:lpstr>
      <vt:lpstr>3. SAYYID AHMAD KHAN</vt:lpstr>
      <vt:lpstr>4. FRIEDRICH NIETZSCHE, HENRY BERGSON AND GOETHE.</vt:lpstr>
      <vt:lpstr>IQBAL’S INFLUENCE ON</vt:lpstr>
      <vt:lpstr>2. ISRAR AHMED (1932-2010)</vt:lpstr>
      <vt:lpstr>3. SYED ABUL ALA MAUDUDI (1903-1979)</vt:lpstr>
      <vt:lpstr>4. CHAUDRY NIAZ ALI KHAN (1880-1976)</vt:lpstr>
      <vt:lpstr>5. MUHAMMAD ALI JINNAH (1876-1948)</vt:lpstr>
      <vt:lpstr>ہر اک مقام سے آگے بڑھنے کا ہے پیغام  رکنا نہیں ہے تجھے، یہ دنیا ہے تیرا امتحان  THANK YOU                                                                          (PREPARED BY ANKEET KUMAR)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Muhammad Iqbal</dc:title>
  <dc:creator>shu</dc:creator>
  <cp:lastModifiedBy>Ankeet Ladura</cp:lastModifiedBy>
  <cp:revision>60</cp:revision>
  <dcterms:created xsi:type="dcterms:W3CDTF">2010-10-07T23:25:16Z</dcterms:created>
  <dcterms:modified xsi:type="dcterms:W3CDTF">2026-03-16T09:15:44Z</dcterms:modified>
</cp:coreProperties>
</file>