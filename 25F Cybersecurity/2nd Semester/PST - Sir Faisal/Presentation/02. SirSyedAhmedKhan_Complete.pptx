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8857"/>
    <a:srgbClr val="7ECFE8"/>
    <a:srgbClr val="C993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7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53CA3C-0CFF-C4D3-69E6-D7C4D3305D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DAWOOD UNIVERSITY OF ENGINEERING &amp; TECHNOLOGY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84D3EE-085B-F3B1-C082-3BAB5E44F3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3BEE3-3592-4EA4-905C-C34D442AE86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DCEA8A-D3DC-8B97-FF3A-1359525745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5EE14B-6457-9B69-1EAA-C830625248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BCDF09-FB6A-46C0-9E1E-7346418D9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845769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8372430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85524"/>
            <a:ext cx="2651760" cy="5010912"/>
          </a:xfrm>
          <a:prstGeom prst="rect">
            <a:avLst/>
          </a:prstGeom>
          <a:solidFill>
            <a:srgbClr val="1E1850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7498080" y="1280166"/>
            <a:ext cx="914400" cy="914400"/>
          </a:xfrm>
          <a:prstGeom prst="rect">
            <a:avLst/>
          </a:prstGeom>
          <a:solidFill>
            <a:srgbClr val="C9932A">
              <a:alpha val="65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7612381" y="2561335"/>
            <a:ext cx="685800" cy="685800"/>
          </a:xfrm>
          <a:prstGeom prst="rect">
            <a:avLst/>
          </a:prstGeom>
          <a:solidFill>
            <a:srgbClr val="C9932A">
              <a:alpha val="65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7703820" y="3541282"/>
            <a:ext cx="502920" cy="502920"/>
          </a:xfrm>
          <a:prstGeom prst="rect">
            <a:avLst/>
          </a:prstGeom>
          <a:solidFill>
            <a:srgbClr val="C9932A">
              <a:alpha val="65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4480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1817 – 1898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993469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Sir Syed Ahmed Khan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5029200" cy="45720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031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Pioneer of Muslim Renaissance in South Asia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" y="2452033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BD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of the Aligarh Movement &amp;</a:t>
            </a:r>
            <a:endParaRPr lang="en-US" sz="1300" i="1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BD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Muhammadan Anglo-Oriental College (Later AMU</a:t>
            </a:r>
            <a:r>
              <a:rPr lang="en-US" sz="1300" dirty="0">
                <a:solidFill>
                  <a:srgbClr val="BD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703320"/>
            <a:ext cx="256032" cy="256032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03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D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 VIYAS (25F-CY-73)  : Intro &amp; Early Life</a:t>
            </a:r>
            <a:endParaRPr lang="en-US" sz="1200" b="1" dirty="0"/>
          </a:p>
        </p:txBody>
      </p:sp>
      <p:sp>
        <p:nvSpPr>
          <p:cNvPr id="15" name="Shape 13"/>
          <p:cNvSpPr/>
          <p:nvPr/>
        </p:nvSpPr>
        <p:spPr>
          <a:xfrm>
            <a:off x="365760" y="4087368"/>
            <a:ext cx="256032" cy="25603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0873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D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BASIT (25F-CY-58)  : Movements &amp; Works</a:t>
            </a:r>
            <a:endParaRPr lang="en-US" sz="1200" b="1" dirty="0"/>
          </a:p>
        </p:txBody>
      </p:sp>
      <p:sp>
        <p:nvSpPr>
          <p:cNvPr id="17" name="Shape 15"/>
          <p:cNvSpPr/>
          <p:nvPr/>
        </p:nvSpPr>
        <p:spPr>
          <a:xfrm>
            <a:off x="365760" y="4471416"/>
            <a:ext cx="25603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4714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D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MUAWAZ AQEEL (25F-CY-59)  : Legacy &amp; Impact</a:t>
            </a:r>
            <a:endParaRPr lang="en-US" sz="1200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F7BCEAD-AE7C-CEA1-EE8C-1D05D044F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6007"/>
            <a:ext cx="1355541" cy="9505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B635031-AFB3-B645-D40A-493B5307EEBC}"/>
              </a:ext>
            </a:extLst>
          </p:cNvPr>
          <p:cNvSpPr txBox="1"/>
          <p:nvPr/>
        </p:nvSpPr>
        <p:spPr>
          <a:xfrm>
            <a:off x="1571937" y="276995"/>
            <a:ext cx="6458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dobe Caslon Pro" panose="0205050205050A020403" pitchFamily="18" charset="0"/>
              </a:rPr>
              <a:t>Dawood University of Engineering &amp; Technology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6B4BD2-70DF-79B2-BA82-E1117028DE0C}"/>
              </a:ext>
            </a:extLst>
          </p:cNvPr>
          <p:cNvSpPr txBox="1"/>
          <p:nvPr/>
        </p:nvSpPr>
        <p:spPr>
          <a:xfrm>
            <a:off x="1538421" y="3019837"/>
            <a:ext cx="35074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rgbClr val="C9932A"/>
                </a:solidFill>
                <a:latin typeface="Adobe Garamond Pro" panose="02020502060506020403" pitchFamily="18" charset="0"/>
              </a:rPr>
              <a:t>Presenting By Section : B (Group-2)</a:t>
            </a:r>
          </a:p>
          <a:p>
            <a:pPr algn="ctr"/>
            <a:r>
              <a:rPr lang="en-US" sz="1400" i="1" dirty="0">
                <a:solidFill>
                  <a:srgbClr val="C9932A"/>
                </a:solidFill>
                <a:latin typeface="Adobe Garamond Pro" panose="02020502060506020403" pitchFamily="18" charset="0"/>
              </a:rPr>
              <a:t>&amp;</a:t>
            </a:r>
          </a:p>
          <a:p>
            <a:pPr algn="ctr"/>
            <a:r>
              <a:rPr lang="en-US" sz="1400" i="1" dirty="0">
                <a:solidFill>
                  <a:srgbClr val="C9932A"/>
                </a:solidFill>
                <a:latin typeface="Adobe Garamond Pro" panose="02020502060506020403" pitchFamily="18" charset="0"/>
              </a:rPr>
              <a:t>Course Instructor : Sir Faisal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CDD0E1-D332-2D47-18AE-4F53C43FE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15" y="187646"/>
            <a:ext cx="9165516" cy="51053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FD434F-345B-A6AF-3290-BFA33BB73B55}"/>
              </a:ext>
            </a:extLst>
          </p:cNvPr>
          <p:cNvSpPr txBox="1"/>
          <p:nvPr/>
        </p:nvSpPr>
        <p:spPr>
          <a:xfrm>
            <a:off x="1500691" y="350323"/>
            <a:ext cx="6696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dobe Caslon Pro" panose="0205050205050A020403" pitchFamily="18" charset="0"/>
              </a:rPr>
              <a:t>Dawood University of Engineering &amp; Technology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5BFE6E-571B-9402-C8AB-2E2430F15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90" y="89390"/>
            <a:ext cx="1000461" cy="7015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C27882E-F68D-0F04-2A36-A9D1E12E9F14}"/>
              </a:ext>
            </a:extLst>
          </p:cNvPr>
          <p:cNvSpPr txBox="1"/>
          <p:nvPr/>
        </p:nvSpPr>
        <p:spPr>
          <a:xfrm>
            <a:off x="2060089" y="4215704"/>
            <a:ext cx="46150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i="1" dirty="0">
                <a:solidFill>
                  <a:srgbClr val="C9932A"/>
                </a:solidFill>
                <a:latin typeface="Adobe Garamond Pro" panose="02020502060506020403" pitchFamily="18" charset="0"/>
              </a:rPr>
              <a:t>Presenting By Section : B (Group-2)</a:t>
            </a:r>
          </a:p>
          <a:p>
            <a:pPr algn="ctr"/>
            <a:r>
              <a:rPr lang="en-US" sz="1800" i="1" dirty="0">
                <a:solidFill>
                  <a:srgbClr val="C9932A"/>
                </a:solidFill>
                <a:latin typeface="Adobe Garamond Pro" panose="02020502060506020403" pitchFamily="18" charset="0"/>
              </a:rPr>
              <a:t>&amp;</a:t>
            </a:r>
          </a:p>
          <a:p>
            <a:pPr algn="ctr"/>
            <a:r>
              <a:rPr lang="en-US" sz="1800" i="1" dirty="0">
                <a:solidFill>
                  <a:srgbClr val="C9932A"/>
                </a:solidFill>
                <a:latin typeface="Adobe Garamond Pro" panose="02020502060506020403" pitchFamily="18" charset="0"/>
              </a:rPr>
              <a:t>Course Instructor : Sir Faisal </a:t>
            </a:r>
          </a:p>
        </p:txBody>
      </p:sp>
    </p:spTree>
    <p:extLst>
      <p:ext uri="{BB962C8B-B14F-4D97-AF65-F5344CB8AC3E}">
        <p14:creationId xmlns:p14="http://schemas.microsoft.com/office/powerpoint/2010/main" val="2260579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457200" cy="5010912"/>
          </a:xfrm>
          <a:prstGeom prst="rect">
            <a:avLst/>
          </a:prstGeom>
          <a:solidFill>
            <a:srgbClr val="C9932A">
              <a:alpha val="80000"/>
            </a:srgbClr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E8B84B"/>
                </a:solidFill>
                <a:latin typeface="Calibri" pitchFamily="34" charset="0"/>
                <a:cs typeface="Calibri" pitchFamily="34" charset="-120"/>
              </a:rPr>
              <a:t>1.VED VIYAS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&amp;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Life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1097280" y="3429000"/>
            <a:ext cx="4114800" cy="45720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5661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covering who Sir Syed was, his background,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C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and early career.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7F4E2F-6804-5D8B-9741-02BFB2AD52F9}"/>
              </a:ext>
            </a:extLst>
          </p:cNvPr>
          <p:cNvSpPr txBox="1"/>
          <p:nvPr/>
        </p:nvSpPr>
        <p:spPr>
          <a:xfrm>
            <a:off x="1947212" y="345792"/>
            <a:ext cx="7680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dobe Caslon Pro" panose="0205050205050A020403" pitchFamily="18" charset="0"/>
              </a:rPr>
              <a:t>Dawood University of Engineering &amp; Technology </a:t>
            </a:r>
          </a:p>
          <a:p>
            <a:endParaRPr 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41E013-1517-9006-C731-517B8BCAA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71" y="188694"/>
            <a:ext cx="1355541" cy="950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A16453-661F-4EBE-56FB-73EF103E934F}"/>
              </a:ext>
            </a:extLst>
          </p:cNvPr>
          <p:cNvSpPr txBox="1"/>
          <p:nvPr/>
        </p:nvSpPr>
        <p:spPr>
          <a:xfrm>
            <a:off x="5333104" y="680442"/>
            <a:ext cx="4814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i="1" dirty="0">
                <a:solidFill>
                  <a:srgbClr val="C9932A"/>
                </a:solidFill>
                <a:latin typeface="Adobe Garamond Pro" panose="02020502060506020403" pitchFamily="18" charset="0"/>
              </a:rPr>
              <a:t>Course Instructor : Sir Faisal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8382"/>
          </a:xfrm>
          <a:prstGeom prst="rect">
            <a:avLst/>
          </a:prstGeom>
          <a:solidFill>
            <a:srgbClr val="12103A"/>
          </a:solidFill>
          <a:ln w="12700">
            <a:solidFill>
              <a:srgbClr val="121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59140"/>
            <a:ext cx="9144000" cy="54864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55541" y="484632"/>
            <a:ext cx="64922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Adobe Caslon Pro" panose="0205050205050A020403" pitchFamily="18" charset="0"/>
              </a:rPr>
              <a:t>Dawood University of Engineering &amp; Technology </a:t>
            </a:r>
          </a:p>
          <a:p>
            <a:endParaRPr lang="en-US" sz="2400" dirty="0"/>
          </a:p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64976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rgbClr val="C99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Was Sir Syed Ahmed Khan?</a:t>
            </a:r>
            <a:endParaRPr lang="en-US" sz="2600" dirty="0">
              <a:solidFill>
                <a:srgbClr val="C9932A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3736"/>
          </a:xfrm>
          <a:prstGeom prst="rect">
            <a:avLst/>
          </a:prstGeom>
          <a:solidFill>
            <a:srgbClr val="12103A"/>
          </a:solidFill>
          <a:ln w="12700">
            <a:solidFill>
              <a:srgbClr val="121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07008"/>
            <a:ext cx="50292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07008"/>
            <a:ext cx="64008" cy="3611880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316736"/>
            <a:ext cx="4773168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19th-century Muslim reformer, educator, philosopher and writer from India.</a:t>
            </a:r>
            <a:endParaRPr lang="en-US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tirelessly to modernize Muslim society during British colonial rule.</a:t>
            </a:r>
            <a:endParaRPr lang="en-US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Believed that science, reason, and Islamic faith were fully compatible.</a:t>
            </a:r>
            <a:endParaRPr lang="en-US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as the 'Father of Muslim Modernism' in South Asia.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532120" y="1207008"/>
            <a:ext cx="3337560" cy="3611880"/>
          </a:xfrm>
          <a:prstGeom prst="rect">
            <a:avLst/>
          </a:prstGeom>
          <a:solidFill>
            <a:srgbClr val="12103A"/>
          </a:solidFill>
          <a:ln w="10160">
            <a:solidFill>
              <a:srgbClr val="C993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32120" y="129844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FACTS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1664208"/>
            <a:ext cx="2880360" cy="36576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1801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20840" y="1801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Oct 1817, Delhi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2103120"/>
            <a:ext cx="2971800" cy="18288"/>
          </a:xfrm>
          <a:prstGeom prst="rect">
            <a:avLst/>
          </a:prstGeom>
          <a:solidFill>
            <a:srgbClr val="2E2B5A"/>
          </a:solidFill>
          <a:ln w="12700">
            <a:solidFill>
              <a:srgbClr val="2E2B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2350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Died: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0840" y="2350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Mar 1898, Aligarh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2651760"/>
            <a:ext cx="2971800" cy="18288"/>
          </a:xfrm>
          <a:prstGeom prst="rect">
            <a:avLst/>
          </a:prstGeom>
          <a:solidFill>
            <a:srgbClr val="2E2B5A"/>
          </a:solidFill>
          <a:ln w="12700">
            <a:solidFill>
              <a:srgbClr val="2E2B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28986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20840" y="2898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Reformer, Educator, Writer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3200400"/>
            <a:ext cx="2971800" cy="18288"/>
          </a:xfrm>
          <a:prstGeom prst="rect">
            <a:avLst/>
          </a:prstGeom>
          <a:solidFill>
            <a:srgbClr val="2E2B5A"/>
          </a:solidFill>
          <a:ln w="12700">
            <a:solidFill>
              <a:srgbClr val="2E2B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34472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For: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0840" y="3447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Aligarh Movement, MAO College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0" y="3749040"/>
            <a:ext cx="2971800" cy="18288"/>
          </a:xfrm>
          <a:prstGeom prst="rect">
            <a:avLst/>
          </a:prstGeom>
          <a:solidFill>
            <a:srgbClr val="2E2B5A"/>
          </a:solidFill>
          <a:ln w="12700">
            <a:solidFill>
              <a:srgbClr val="2E2B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39959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20840" y="3995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'Sir' (1888 Knighthood)</a:t>
            </a:r>
            <a:endParaRPr lang="en-US" sz="11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A1850E7-CD18-94BE-0B52-C8A20D34B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21" y="132263"/>
            <a:ext cx="1172661" cy="8222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272" y="0"/>
            <a:ext cx="9176272" cy="1277477"/>
          </a:xfrm>
          <a:prstGeom prst="rect">
            <a:avLst/>
          </a:prstGeom>
          <a:solidFill>
            <a:srgbClr val="12103A"/>
          </a:solidFill>
          <a:ln w="12700">
            <a:solidFill>
              <a:srgbClr val="12103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77478"/>
            <a:ext cx="9144000" cy="54864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82358" y="631235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EARLY LIFE</a:t>
            </a:r>
            <a:endParaRPr lang="en-US" sz="1600" b="1" dirty="0"/>
          </a:p>
        </p:txBody>
      </p:sp>
      <p:sp>
        <p:nvSpPr>
          <p:cNvPr id="5" name="Text 3"/>
          <p:cNvSpPr/>
          <p:nvPr/>
        </p:nvSpPr>
        <p:spPr>
          <a:xfrm>
            <a:off x="1013909" y="765414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Birth &amp; Family Background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3736"/>
          </a:xfrm>
          <a:prstGeom prst="rect">
            <a:avLst/>
          </a:prstGeom>
          <a:solidFill>
            <a:srgbClr val="12103A"/>
          </a:solidFill>
          <a:ln w="12700">
            <a:solidFill>
              <a:srgbClr val="121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36391"/>
            <a:ext cx="85953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314588"/>
            <a:ext cx="64008" cy="3611880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365106"/>
            <a:ext cx="8339328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on 17 October 1817 in Delhi — then the heart of the declining Mughal Empire.</a:t>
            </a:r>
            <a:endParaRPr lang="en-US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 from a noble ashraf Muslim family with deep roots in Mughal court circles.</a:t>
            </a:r>
            <a:endParaRPr lang="en-US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grandfather Fariduddin Khan held a high advisory position under Emperor Akbar Shah II.</a:t>
            </a:r>
            <a:endParaRPr lang="en-US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maternal grandfather Khwaja Fariduddin was the Prime Minister of the Mughal Emperor.</a:t>
            </a:r>
            <a:endParaRPr lang="en-US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up surrounded by scholars, courtiers, and classical Islamic learning shaped his worldview profoundly.</a:t>
            </a:r>
            <a:endParaRPr lang="en-US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witnessed the slow collapse of Mughal power firsthand — an experience that drove his passion for Muslim reform.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51D712E-7FAE-9623-11C1-847BD51C7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126"/>
            <a:ext cx="1133051" cy="79449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CA03EA4-4F8C-7D80-DF5D-733A500715B1}"/>
              </a:ext>
            </a:extLst>
          </p:cNvPr>
          <p:cNvSpPr txBox="1"/>
          <p:nvPr/>
        </p:nvSpPr>
        <p:spPr>
          <a:xfrm>
            <a:off x="1079261" y="110802"/>
            <a:ext cx="68257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Adobe Caslon Pro" panose="0205050205050A020403" pitchFamily="18" charset="0"/>
              </a:rPr>
              <a:t>Dawood University of Engineering &amp; Technology </a:t>
            </a:r>
            <a:endParaRPr lang="en-US" sz="2000" b="1" dirty="0">
              <a:solidFill>
                <a:schemeClr val="bg1"/>
              </a:solidFill>
              <a:latin typeface="Adobe Caslon Pro" panose="0205050205050A020403" pitchFamily="18" charset="0"/>
            </a:endParaRP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999" cy="1051560"/>
          </a:xfrm>
          <a:prstGeom prst="rect">
            <a:avLst/>
          </a:prstGeom>
          <a:solidFill>
            <a:srgbClr val="12103A"/>
          </a:solidFill>
          <a:ln w="12700">
            <a:solidFill>
              <a:srgbClr val="121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03753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EDUCATION &amp; CAREER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03753" y="42519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 and Government Service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3736"/>
          </a:xfrm>
          <a:prstGeom prst="rect">
            <a:avLst/>
          </a:prstGeom>
          <a:solidFill>
            <a:srgbClr val="12103A"/>
          </a:solidFill>
          <a:ln w="12700">
            <a:solidFill>
              <a:srgbClr val="121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07008"/>
            <a:ext cx="420624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07008"/>
            <a:ext cx="4206240" cy="64008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353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1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Education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8912" y="1764792"/>
            <a:ext cx="3474720" cy="27432"/>
          </a:xfrm>
          <a:prstGeom prst="rect">
            <a:avLst/>
          </a:prstGeom>
          <a:solidFill>
            <a:srgbClr val="C9932A">
              <a:alpha val="50000"/>
            </a:srgbClr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874520"/>
            <a:ext cx="38953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Arabic, Persian, and Islamic theology in the classical tradition.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instruction from leading scholars in Delhi.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Self-taught in English and modern subjects later in life.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/>
              <a:t>Sir Syed Ahmed Khan received </a:t>
            </a:r>
            <a:r>
              <a:rPr lang="en-US" sz="1200" b="1" dirty="0"/>
              <a:t>traditional Islamic education at home in Delhi</a:t>
            </a:r>
            <a:endParaRPr lang="en-US" sz="1200" dirty="0">
              <a:solidFill>
                <a:srgbClr val="2D2D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altLang="en-US" sz="1200" dirty="0"/>
              <a:t>He studied </a:t>
            </a:r>
            <a:r>
              <a:rPr lang="en-US" altLang="en-US" sz="1200" b="1" dirty="0"/>
              <a:t>Quran, Arabic, Persian, mathematics, and Islamic jurisprudence.</a:t>
            </a:r>
            <a:endParaRPr lang="en-US" alt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/>
              <a:t>He believed Muslims must learn </a:t>
            </a:r>
            <a:r>
              <a:rPr lang="en-US" sz="1200" b="1" dirty="0"/>
              <a:t>modern Western education along with Islamic knowledge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207008"/>
            <a:ext cx="420624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207008"/>
            <a:ext cx="4206240" cy="64008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353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1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 Career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19472" y="1764792"/>
            <a:ext cx="3474720" cy="27432"/>
          </a:xfrm>
          <a:prstGeom prst="rect">
            <a:avLst/>
          </a:prstGeom>
          <a:solidFill>
            <a:srgbClr val="C9932A">
              <a:alpha val="50000"/>
            </a:srgbClr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87452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the East India Company's judicial service in 1838.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to the rank of Sub-Judge (Munsif) over the years.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in Agra, Fatehpur, Bijnor, Moradabad, and Aligarh.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deep insight into British law, governance, and administration.</a:t>
            </a:r>
            <a:endParaRPr lang="en-US" sz="13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F1E8A51-491C-D01B-A7BB-94104CC34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54" y="145939"/>
            <a:ext cx="1021320" cy="7161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03A"/>
          </a:solidFill>
          <a:ln w="12700">
            <a:solidFill>
              <a:srgbClr val="121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645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POST-1857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30231" y="37033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After the 1857 Revolt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3736"/>
          </a:xfrm>
          <a:prstGeom prst="rect">
            <a:avLst/>
          </a:prstGeom>
          <a:solidFill>
            <a:srgbClr val="12103A"/>
          </a:solidFill>
          <a:ln w="12700">
            <a:solidFill>
              <a:srgbClr val="121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108960"/>
            <a:ext cx="8046720" cy="45720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2944368"/>
            <a:ext cx="384048" cy="384048"/>
          </a:xfrm>
          <a:prstGeom prst="ellipse">
            <a:avLst/>
          </a:prstGeom>
          <a:solidFill>
            <a:srgbClr val="C9932A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40156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9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1857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207008"/>
            <a:ext cx="265176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207008"/>
            <a:ext cx="2651760" cy="64008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33502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1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Revolt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" y="17373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Sepoy Mutiny shook British India. Muslims were disproportionately blamed and faced harsh collective punishment from British authorities.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2944368"/>
            <a:ext cx="384048" cy="384048"/>
          </a:xfrm>
          <a:prstGeom prst="ellipse">
            <a:avLst/>
          </a:prstGeom>
          <a:solidFill>
            <a:srgbClr val="C9932A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340156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9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1858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37560" y="1207008"/>
            <a:ext cx="265176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37560" y="1207008"/>
            <a:ext cx="2651760" cy="64008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47288" y="133502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1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Asbab-e-Baghawat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447288" y="17373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Syed wrote his landmark book arguing British misrule, not Muslim disloyalty, was the true cause of the uprising — protecting Muslim communities.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132320" y="2944368"/>
            <a:ext cx="384048" cy="384048"/>
          </a:xfrm>
          <a:prstGeom prst="ellipse">
            <a:avLst/>
          </a:prstGeom>
          <a:solidFill>
            <a:srgbClr val="C9932A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40156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9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1859+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1207008"/>
            <a:ext cx="265176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207008"/>
            <a:ext cx="2651760" cy="64008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133502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1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Direction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236208" y="17373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urged Muslims to abandon political confrontation, focus on education and loyalty, and rebuild their standing through knowledge and cooperation.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3657600"/>
            <a:ext cx="8595360" cy="1097280"/>
          </a:xfrm>
          <a:prstGeom prst="rect">
            <a:avLst/>
          </a:prstGeom>
          <a:solidFill>
            <a:srgbClr val="12103A"/>
          </a:solidFill>
          <a:ln w="10160">
            <a:solidFill>
              <a:srgbClr val="C993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70332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revolt was not caused by Muslim religious fanaticism, but by the ignorance and mismanagement of the British Government."</a:t>
            </a:r>
            <a:endParaRPr lang="en-US" sz="13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83FC395-A4C9-075F-EC62-3ADF8A0F7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5" y="99012"/>
            <a:ext cx="1092666" cy="7661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03A"/>
          </a:solidFill>
          <a:ln w="12700">
            <a:solidFill>
              <a:srgbClr val="121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051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PERSONAL LIFE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25390" y="369545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Life &amp; Character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3736"/>
          </a:xfrm>
          <a:prstGeom prst="rect">
            <a:avLst/>
          </a:prstGeom>
          <a:solidFill>
            <a:srgbClr val="12103A"/>
          </a:solidFill>
          <a:ln w="12700">
            <a:solidFill>
              <a:srgbClr val="121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07008"/>
            <a:ext cx="85953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07008"/>
            <a:ext cx="64008" cy="3611880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316736"/>
            <a:ext cx="8339328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 Parvin, with whom he had several children; family life was shaped by his public duties and constant reform work.</a:t>
            </a:r>
            <a:endParaRPr lang="en-US" sz="13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for his deep personal piety — he was a devout Muslim who prayed regularly and upheld Islamic values throughout his life.</a:t>
            </a:r>
            <a:endParaRPr lang="en-US" sz="13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fluent Arabic, Persian, and Urdu; later developed working knowledge of English.</a:t>
            </a:r>
            <a:endParaRPr lang="en-US" sz="13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 personal tragedies including the death of close relatives during and after the 1857 upheaval.</a:t>
            </a:r>
            <a:endParaRPr lang="en-US" sz="13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Described by contemporaries as intellectually brilliant, outspoken, and deeply committed to his community.</a:t>
            </a:r>
            <a:endParaRPr lang="en-US" sz="13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awarded a knighthood ('Sir') by the British Crown in 1888 in recognition of his services to education and public life.</a:t>
            </a:r>
            <a:endParaRPr lang="en-US" sz="13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239324-F0D2-22DD-4F68-2D8667E68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59" y="141421"/>
            <a:ext cx="1133851" cy="7950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457200" cy="5010912"/>
          </a:xfrm>
          <a:prstGeom prst="rect">
            <a:avLst/>
          </a:prstGeom>
          <a:solidFill>
            <a:srgbClr val="1A6B8A">
              <a:alpha val="80000"/>
            </a:srgbClr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81143" y="1447124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Movements &amp;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1081143" y="2836426"/>
            <a:ext cx="4114800" cy="457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1143" y="2958263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covering the Aligarh Movement, Scientific Society,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MAO College, writings, and political views.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64DB50-2CEE-F218-77A0-31996EEB4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71" y="199453"/>
            <a:ext cx="1065007" cy="7467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F75CFE-CB77-739B-D6FD-0D3DF54B09D5}"/>
              </a:ext>
            </a:extLst>
          </p:cNvPr>
          <p:cNvSpPr txBox="1"/>
          <p:nvPr/>
        </p:nvSpPr>
        <p:spPr>
          <a:xfrm>
            <a:off x="1688950" y="247516"/>
            <a:ext cx="70462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Adobe Caslon Pro" panose="0205050205050A020403" pitchFamily="18" charset="0"/>
              </a:rPr>
              <a:t>Dawood University of Engineering &amp; Technology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0C0BF0-2277-D0C3-D249-8CFF1B4CC4DB}"/>
              </a:ext>
            </a:extLst>
          </p:cNvPr>
          <p:cNvSpPr txBox="1"/>
          <p:nvPr/>
        </p:nvSpPr>
        <p:spPr>
          <a:xfrm>
            <a:off x="5389581" y="651741"/>
            <a:ext cx="4577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i="1" dirty="0">
                <a:solidFill>
                  <a:srgbClr val="7ECFE8"/>
                </a:solidFill>
                <a:latin typeface="Adobe Garamond Pro" panose="02020502060506020403" pitchFamily="18" charset="0"/>
              </a:rPr>
              <a:t>Course Instructor : Sir Faisal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F98D26-3C54-E677-DCB6-4485756310A5}"/>
              </a:ext>
            </a:extLst>
          </p:cNvPr>
          <p:cNvSpPr txBox="1"/>
          <p:nvPr/>
        </p:nvSpPr>
        <p:spPr>
          <a:xfrm>
            <a:off x="1081143" y="3842156"/>
            <a:ext cx="66536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D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 VIYAS (25F-CY-73)  :  The Aligarh Moment &amp; The Scientific Society </a:t>
            </a:r>
            <a:endParaRPr lang="en-US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CEB0F0-9CBA-B95C-BC2F-BEB8E1333FDF}"/>
              </a:ext>
            </a:extLst>
          </p:cNvPr>
          <p:cNvSpPr txBox="1"/>
          <p:nvPr/>
        </p:nvSpPr>
        <p:spPr>
          <a:xfrm>
            <a:off x="1065007" y="4140596"/>
            <a:ext cx="76702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BD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BASIT (25F-CY-58)  :  MAO College ( 1875) &amp;  </a:t>
            </a: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Famous Books &amp; Literary Contributions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BD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6D4F92-450E-3957-42AC-81D1E3BC6BE3}"/>
              </a:ext>
            </a:extLst>
          </p:cNvPr>
          <p:cNvSpPr txBox="1"/>
          <p:nvPr/>
        </p:nvSpPr>
        <p:spPr>
          <a:xfrm>
            <a:off x="1065007" y="4424748"/>
            <a:ext cx="49807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D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MUAWAZ AQEEL (25F-CY-59)  : Political Thinking &amp;  Views </a:t>
            </a:r>
            <a:endParaRPr lang="en-US" sz="1400" b="1" dirty="0"/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BE6E8741-7183-AE5E-1064-679EEEB3488E}"/>
              </a:ext>
            </a:extLst>
          </p:cNvPr>
          <p:cNvSpPr/>
          <p:nvPr/>
        </p:nvSpPr>
        <p:spPr>
          <a:xfrm>
            <a:off x="787459" y="3892404"/>
            <a:ext cx="266790" cy="208774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A0D14C73-EC52-BAF7-8774-0687B9D9BC5A}"/>
              </a:ext>
            </a:extLst>
          </p:cNvPr>
          <p:cNvSpPr/>
          <p:nvPr/>
        </p:nvSpPr>
        <p:spPr>
          <a:xfrm>
            <a:off x="787459" y="4182953"/>
            <a:ext cx="266790" cy="208774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4973EA92-8640-B5BB-2DF0-FA08325820C4}"/>
              </a:ext>
            </a:extLst>
          </p:cNvPr>
          <p:cNvSpPr/>
          <p:nvPr/>
        </p:nvSpPr>
        <p:spPr>
          <a:xfrm>
            <a:off x="787459" y="4471416"/>
            <a:ext cx="282926" cy="20877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03A"/>
          </a:solidFill>
          <a:ln w="12700">
            <a:solidFill>
              <a:srgbClr val="121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91640" y="12963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ALIGARH MOVEMENT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91640" y="3931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Aligarh Movement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3736"/>
          </a:xfrm>
          <a:prstGeom prst="rect">
            <a:avLst/>
          </a:prstGeom>
          <a:solidFill>
            <a:srgbClr val="12103A"/>
          </a:solidFill>
          <a:ln w="12700">
            <a:solidFill>
              <a:srgbClr val="121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07008"/>
            <a:ext cx="85953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298448"/>
            <a:ext cx="8229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transformational social and educational movement to uplift Indian Muslims through modern schooling, scientific training, and English education — creating a new generation of educated Muslim leaders.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74320" y="2606040"/>
            <a:ext cx="2697480" cy="2148840"/>
          </a:xfrm>
          <a:prstGeom prst="rect">
            <a:avLst/>
          </a:prstGeom>
          <a:solidFill>
            <a:srgbClr val="12103A"/>
          </a:solidFill>
          <a:ln w="8890">
            <a:solidFill>
              <a:srgbClr val="1A6B8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606040"/>
            <a:ext cx="2697480" cy="54864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157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EC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11480" y="3154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Education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3547872"/>
            <a:ext cx="2194560" cy="27432"/>
          </a:xfrm>
          <a:prstGeom prst="rect">
            <a:avLst/>
          </a:prstGeom>
          <a:solidFill>
            <a:srgbClr val="1A6B8A">
              <a:alpha val="60000"/>
            </a:srgbClr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63931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Championed English language learning, modern sciences, and professional qualifications alongside traditional Islamic studies.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154680" y="2606040"/>
            <a:ext cx="2697480" cy="2148840"/>
          </a:xfrm>
          <a:prstGeom prst="rect">
            <a:avLst/>
          </a:prstGeom>
          <a:solidFill>
            <a:srgbClr val="12103A"/>
          </a:solidFill>
          <a:ln w="8890">
            <a:solidFill>
              <a:srgbClr val="1A6B8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2606040"/>
            <a:ext cx="2697480" cy="54864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7157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EC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291840" y="3154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 Mindset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91840" y="3547872"/>
            <a:ext cx="2194560" cy="27432"/>
          </a:xfrm>
          <a:prstGeom prst="rect">
            <a:avLst/>
          </a:prstGeom>
          <a:solidFill>
            <a:srgbClr val="1A6B8A">
              <a:alpha val="60000"/>
            </a:srgbClr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63931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evidence-based reasoning, rational inquiry, and openness to new ideas within an Islamic framework.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35040" y="2606040"/>
            <a:ext cx="2697480" cy="2148840"/>
          </a:xfrm>
          <a:prstGeom prst="rect">
            <a:avLst/>
          </a:prstGeom>
          <a:solidFill>
            <a:srgbClr val="12103A"/>
          </a:solidFill>
          <a:ln w="8890">
            <a:solidFill>
              <a:srgbClr val="1A6B8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2606040"/>
            <a:ext cx="2697480" cy="54864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27157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EC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172200" y="3154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Muslim Leadership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172200" y="3547872"/>
            <a:ext cx="2194560" cy="27432"/>
          </a:xfrm>
          <a:prstGeom prst="rect">
            <a:avLst/>
          </a:prstGeom>
          <a:solidFill>
            <a:srgbClr val="1A6B8A">
              <a:alpha val="60000"/>
            </a:srgbClr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363931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Aimed to produce an educated Muslim elite capable of serving in government, law, medicine, and public administration.</a:t>
            </a:r>
            <a:endParaRPr lang="en-US" sz="11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1570865-1A62-E84D-A044-8EB14D606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202" y="166142"/>
            <a:ext cx="1055608" cy="7401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03A"/>
          </a:solidFill>
          <a:ln w="12700">
            <a:solidFill>
              <a:srgbClr val="121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17254" y="1280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SCIENTIFIC SOCIETY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41605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Scientific Society (1864)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3736"/>
          </a:xfrm>
          <a:prstGeom prst="rect">
            <a:avLst/>
          </a:prstGeom>
          <a:solidFill>
            <a:srgbClr val="12103A"/>
          </a:solidFill>
          <a:ln w="12700">
            <a:solidFill>
              <a:srgbClr val="121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07008"/>
            <a:ext cx="50292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07008"/>
            <a:ext cx="64008" cy="361188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316736"/>
            <a:ext cx="4773168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1864 in Ghazipur, later moved to Aligarh — one of the first scientific organisations for Indian Muslims.</a:t>
            </a:r>
            <a:endParaRPr lang="en-US" sz="13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mission: translate English scientific and technical books into Urdu, making modern knowledge accessible.</a:t>
            </a:r>
            <a:endParaRPr lang="en-US" sz="13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public lectures, seminars, and intellectual discussions to promote scientific thinking.</a:t>
            </a:r>
            <a:endParaRPr lang="en-US" sz="13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Bridged the gap between traditional Islamic learning and the new world of modern science.</a:t>
            </a:r>
            <a:endParaRPr lang="en-US" sz="13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 bilingual journal (Urdu and English) to spread modern ideas widely.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532120" y="1207008"/>
            <a:ext cx="3337560" cy="3611880"/>
          </a:xfrm>
          <a:prstGeom prst="rect">
            <a:avLst/>
          </a:prstGeom>
          <a:solidFill>
            <a:srgbClr val="12103A"/>
          </a:solidFill>
          <a:ln w="10160">
            <a:solidFill>
              <a:srgbClr val="1A6B8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32120" y="13258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7E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60720" y="1664208"/>
            <a:ext cx="2880360" cy="36576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1801368"/>
            <a:ext cx="30175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Muslims had limited access to modern scientific literature in their own language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access created a knowledge barrier for most Muslims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translations democratised access to modern ideas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that Islam and science were not enemies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8DC6BFB-245C-988A-04AA-D96828DBD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38" y="141939"/>
            <a:ext cx="1151494" cy="8074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03A"/>
          </a:solidFill>
          <a:ln w="12700">
            <a:solidFill>
              <a:srgbClr val="121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1280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MAO COLLEGE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535654" y="37947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Muhammadan Anglo-Oriental College (1875)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3736"/>
          </a:xfrm>
          <a:prstGeom prst="rect">
            <a:avLst/>
          </a:prstGeom>
          <a:solidFill>
            <a:srgbClr val="12103A"/>
          </a:solidFill>
          <a:ln w="12700">
            <a:solidFill>
              <a:srgbClr val="121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52928"/>
            <a:ext cx="8046720" cy="457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2679192"/>
            <a:ext cx="393192" cy="393192"/>
          </a:xfrm>
          <a:prstGeom prst="ellipse">
            <a:avLst/>
          </a:prstGeom>
          <a:solidFill>
            <a:srgbClr val="1A6B8A"/>
          </a:solidFill>
          <a:ln w="19050">
            <a:solidFill>
              <a:srgbClr val="7ECF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3145536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1875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207008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207008"/>
            <a:ext cx="2651760" cy="640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34416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School Founded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171907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as a school at Aligarh, combining Western curriculum with Islamic instruction — inspired by Oxford and Cambridge residential colleges.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2679192"/>
            <a:ext cx="393192" cy="393192"/>
          </a:xfrm>
          <a:prstGeom prst="ellipse">
            <a:avLst/>
          </a:prstGeom>
          <a:solidFill>
            <a:srgbClr val="1A6B8A"/>
          </a:solidFill>
          <a:ln w="19050">
            <a:solidFill>
              <a:srgbClr val="7ECF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42232" y="3145536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1877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37560" y="1207008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37560" y="1207008"/>
            <a:ext cx="2651760" cy="640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47288" y="134416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Raised to College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47288" y="171907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to college level with departments for science, English, mathematics, law, and Islamic studies.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0" y="2679192"/>
            <a:ext cx="393192" cy="393192"/>
          </a:xfrm>
          <a:prstGeom prst="ellipse">
            <a:avLst/>
          </a:prstGeom>
          <a:solidFill>
            <a:srgbClr val="1A6B8A"/>
          </a:solidFill>
          <a:ln w="19050">
            <a:solidFill>
              <a:srgbClr val="7ECF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152" y="3145536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1920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1207008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207008"/>
            <a:ext cx="2651760" cy="640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134416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Becomes AMU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36208" y="171907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to a full university — Aligarh Muslim University — which remains one of South Asia's most prestigious institutions today.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566160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639312"/>
            <a:ext cx="8229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college was modeled on British public schools, offering Western education (science, English, mathematics) alongside Islamic instruction. It became the nucleus of a movement that forever changed the educational landscape for Muslims in South Asia.</a:t>
            </a:r>
            <a:endParaRPr lang="en-US" sz="13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5306D92-466A-FF15-BDFE-80416A279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363"/>
            <a:ext cx="1207585" cy="8467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03A"/>
          </a:solidFill>
          <a:ln w="12700">
            <a:solidFill>
              <a:srgbClr val="121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16867" y="13769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WRITINGS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16867" y="370063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Famous Books &amp; Literary Contributions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3736"/>
          </a:xfrm>
          <a:prstGeom prst="rect">
            <a:avLst/>
          </a:prstGeom>
          <a:solidFill>
            <a:srgbClr val="12103A"/>
          </a:solidFill>
          <a:ln w="12700">
            <a:solidFill>
              <a:srgbClr val="121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07008"/>
            <a:ext cx="4206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07008"/>
            <a:ext cx="64008" cy="173736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98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Asbab-e-Baghawat-e-Hind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645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of the Indian Revolt (1858)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93852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political analysis arguing British misrule caused the 1857 revolt, shifting blame away from Muslims.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1207008"/>
            <a:ext cx="4206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207008"/>
            <a:ext cx="64008" cy="173736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298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Tahzib-ul-Akhlaq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645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Social Reform (1870)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93852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Influential Urdu journal promoting modern education, rational thinking, and social reform among Muslims.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081528"/>
            <a:ext cx="4206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81528"/>
            <a:ext cx="64008" cy="173736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72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Commentary on the Bible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520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Interfaith Scholarly Work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81304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his rational comparative approach to religion and desire for Hindu-Muslim-Christian dialogue.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3081528"/>
            <a:ext cx="4206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081528"/>
            <a:ext cx="64008" cy="173736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172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Tafsir-ul-Quran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520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Rationalist Quranic Commentary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81304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 a modern, rationalist interpretation of the Quran — reconciling Islamic scripture with science and reason.</a:t>
            </a:r>
            <a:endParaRPr lang="en-US" sz="11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6840C16-E7AF-D077-8D85-2ED08CE52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7326"/>
            <a:ext cx="1217420" cy="853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03A"/>
          </a:solidFill>
          <a:ln w="12700">
            <a:solidFill>
              <a:srgbClr val="121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0876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POLITICAL VIEWS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Political Thinking &amp; Views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3736"/>
          </a:xfrm>
          <a:prstGeom prst="rect">
            <a:avLst/>
          </a:prstGeom>
          <a:solidFill>
            <a:srgbClr val="12103A"/>
          </a:solidFill>
          <a:ln w="12700">
            <a:solidFill>
              <a:srgbClr val="121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07008"/>
            <a:ext cx="50292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07008"/>
            <a:ext cx="64008" cy="361188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316736"/>
            <a:ext cx="4773168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Advised Muslims to stay away from the early Indian National Congress, fearing it would harm Muslim interests.</a:t>
            </a:r>
            <a:endParaRPr lang="en-US" sz="13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Believed education must come before politics — an educated Muslim class would naturally gain political influence.</a:t>
            </a:r>
            <a:endParaRPr lang="en-US" sz="13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Opposed representative democracy based on majority rule, fearing it would disadvantage the Muslim minority.</a:t>
            </a:r>
            <a:endParaRPr lang="en-US" sz="13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gradual reform through cooperation with the British rather than confrontation.</a:t>
            </a:r>
            <a:endParaRPr lang="en-US" sz="13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political caution laid the intellectual groundwork for later Muslim political movements.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532120" y="1207008"/>
            <a:ext cx="3337560" cy="3611880"/>
          </a:xfrm>
          <a:prstGeom prst="rect">
            <a:avLst/>
          </a:prstGeom>
          <a:solidFill>
            <a:srgbClr val="12103A"/>
          </a:solidFill>
          <a:ln w="10160">
            <a:solidFill>
              <a:srgbClr val="1A6B8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32120" y="13258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7E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POSITIONS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60720" y="1664208"/>
            <a:ext cx="2880360" cy="36576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1801368"/>
            <a:ext cx="30175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Opposed INC membership for Muslims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Favoured British cooperation over confrontation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first, politics later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Warned against premature democracy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Muslim political identity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B75586B-A743-7AE9-3C68-4A917A6A1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29" y="137855"/>
            <a:ext cx="1172661" cy="8222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A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457200" cy="5010912"/>
          </a:xfrm>
          <a:prstGeom prst="rect">
            <a:avLst/>
          </a:prstGeom>
          <a:solidFill>
            <a:srgbClr val="2E7D32">
              <a:alpha val="8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90D48A"/>
                </a:solidFill>
                <a:latin typeface="Calibri" pitchFamily="34" charset="0"/>
                <a:cs typeface="Calibri" pitchFamily="34" charset="-120"/>
              </a:rPr>
              <a:t>MUAWAZ AQEEL 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 &amp;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1097280" y="3429000"/>
            <a:ext cx="4114800" cy="45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5661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B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covering Sir Syed's relationship with the British,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88B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legacy, influence, and historical significance.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ED8A77-F269-7B2D-7243-92E4A6724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02" y="261123"/>
            <a:ext cx="1140310" cy="7995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400172-33E5-03FE-07F2-DF5DC4BDB9F5}"/>
              </a:ext>
            </a:extLst>
          </p:cNvPr>
          <p:cNvSpPr txBox="1"/>
          <p:nvPr/>
        </p:nvSpPr>
        <p:spPr>
          <a:xfrm>
            <a:off x="1947212" y="286631"/>
            <a:ext cx="66159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Adobe Caslon Pro" panose="0205050205050A020403" pitchFamily="18" charset="0"/>
              </a:rPr>
              <a:t>Dawood University of Engineering &amp; Technology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ED4EE7-EB3F-5DEA-B832-61733B1D1C8B}"/>
              </a:ext>
            </a:extLst>
          </p:cNvPr>
          <p:cNvSpPr txBox="1"/>
          <p:nvPr/>
        </p:nvSpPr>
        <p:spPr>
          <a:xfrm>
            <a:off x="5386893" y="662154"/>
            <a:ext cx="4577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i="1" dirty="0">
                <a:solidFill>
                  <a:srgbClr val="5A8857"/>
                </a:solidFill>
                <a:latin typeface="Adobe Garamond Pro" panose="02020502060506020403" pitchFamily="18" charset="0"/>
              </a:rPr>
              <a:t>Course Instructor : Sir Faisal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03A"/>
          </a:solidFill>
          <a:ln w="12700">
            <a:solidFill>
              <a:srgbClr val="121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05579" y="11725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BRITISH RELATIONS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59865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 with British Authorities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3736"/>
          </a:xfrm>
          <a:prstGeom prst="rect">
            <a:avLst/>
          </a:prstGeom>
          <a:solidFill>
            <a:srgbClr val="12103A"/>
          </a:solidFill>
          <a:ln w="12700">
            <a:solidFill>
              <a:srgbClr val="121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07008"/>
            <a:ext cx="420624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07008"/>
            <a:ext cx="420624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353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1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Pro-British Stance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8912" y="1764792"/>
            <a:ext cx="3474720" cy="27432"/>
          </a:xfrm>
          <a:prstGeom prst="rect">
            <a:avLst/>
          </a:prstGeom>
          <a:solidFill>
            <a:srgbClr val="2E7D32">
              <a:alpha val="5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901952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1857, urged Muslims to show loyalty to British Crown.</a:t>
            </a:r>
            <a:endParaRPr lang="en-US" sz="13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Believed cooperation was more pragmatic than confrontation.</a:t>
            </a:r>
            <a:endParaRPr lang="en-US" sz="13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knighthood in 1888 for his services.</a:t>
            </a:r>
            <a:endParaRPr lang="en-US" sz="13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Advised Muslims to join British administrative services.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207008"/>
            <a:ext cx="420624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207008"/>
            <a:ext cx="420624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353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1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Defender of Muslim Rights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19472" y="1764792"/>
            <a:ext cx="3474720" cy="27432"/>
          </a:xfrm>
          <a:prstGeom prst="rect">
            <a:avLst/>
          </a:prstGeom>
          <a:solidFill>
            <a:srgbClr val="2E7D32">
              <a:alpha val="5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901952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demanded fair treatment for Muslims under British law.</a:t>
            </a:r>
            <a:endParaRPr lang="en-US" sz="13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Lobbied for Muslim representation in councils and administration.</a:t>
            </a:r>
            <a:endParaRPr lang="en-US" sz="13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Challenged anti-Muslim policies and discriminatory practices.</a:t>
            </a:r>
            <a:endParaRPr lang="en-US" sz="13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directly to British officials and viceroys on Muslim issues.</a:t>
            </a:r>
            <a:endParaRPr lang="en-US" sz="13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D4397B5-8F54-4F5F-4964-0DBDD0065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873" y="117258"/>
            <a:ext cx="1175954" cy="82457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03A"/>
          </a:solidFill>
          <a:ln w="12700">
            <a:solidFill>
              <a:srgbClr val="121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1790" y="1280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EDUCATIONAL IMPACT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56717" y="4343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on Muslim Education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3736"/>
          </a:xfrm>
          <a:prstGeom prst="rect">
            <a:avLst/>
          </a:prstGeom>
          <a:solidFill>
            <a:srgbClr val="12103A"/>
          </a:solidFill>
          <a:ln w="12700">
            <a:solidFill>
              <a:srgbClr val="121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07008"/>
            <a:ext cx="85953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07008"/>
            <a:ext cx="64008" cy="3611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170583"/>
            <a:ext cx="8339328" cy="3739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Fundamentally changed the educational mindset of Indian Muslims in the late 19th century.</a:t>
            </a:r>
            <a:endParaRPr lang="en-US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network of modern schools through the Aligarh Movement spread across North India.</a:t>
            </a:r>
            <a:endParaRPr lang="en-US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MAO College became the model for Muslim educational institutions across the subcontinent.</a:t>
            </a:r>
            <a:endParaRPr lang="en-US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that modern Western education and Islamic values were not mutually exclusive.</a:t>
            </a:r>
            <a:endParaRPr lang="en-US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new class of educated Muslim professionals who could compete in British Indian society.</a:t>
            </a:r>
            <a:endParaRPr lang="en-US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2D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educational philosophy directly influenced the founding of dozens of institutions in Pakistan and India after 1947.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91526C4-D8DC-20DC-7DA3-1C2464F2E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9023"/>
            <a:ext cx="1199517" cy="84109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9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LEGACY &amp; HISTORICAL SIGNIFICANCE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111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Lasting Legacy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0" y="1298448"/>
            <a:ext cx="2743200" cy="45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444752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"He did not just build a college — he built the foundation for a nation's future."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" y="2176272"/>
            <a:ext cx="2697480" cy="2633472"/>
          </a:xfrm>
          <a:prstGeom prst="rect">
            <a:avLst/>
          </a:prstGeom>
          <a:solidFill>
            <a:srgbClr val="1A2E1A"/>
          </a:solidFill>
          <a:ln w="10160">
            <a:solidFill>
              <a:srgbClr val="2E7D3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176272"/>
            <a:ext cx="269748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2304288"/>
            <a:ext cx="594360" cy="594360"/>
          </a:xfrm>
          <a:prstGeom prst="ellipse">
            <a:avLst/>
          </a:prstGeom>
          <a:solidFill>
            <a:srgbClr val="2E7D32">
              <a:alpha val="70000"/>
            </a:srgbClr>
          </a:solidFill>
          <a:ln w="12700">
            <a:solidFill>
              <a:srgbClr val="90D4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23042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" y="3017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0D4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410712"/>
            <a:ext cx="1783080" cy="27432"/>
          </a:xfrm>
          <a:prstGeom prst="rect">
            <a:avLst/>
          </a:prstGeom>
          <a:solidFill>
            <a:srgbClr val="2E7D32">
              <a:alpha val="5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50215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C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of modern Muslim education — founder of the institution that became Aligarh Muslim University.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154680" y="2176272"/>
            <a:ext cx="2697480" cy="2633472"/>
          </a:xfrm>
          <a:prstGeom prst="rect">
            <a:avLst/>
          </a:prstGeom>
          <a:solidFill>
            <a:srgbClr val="1A2E1A"/>
          </a:solidFill>
          <a:ln w="10160">
            <a:solidFill>
              <a:srgbClr val="2E7D3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2176272"/>
            <a:ext cx="269748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2304288"/>
            <a:ext cx="594360" cy="594360"/>
          </a:xfrm>
          <a:prstGeom prst="ellipse">
            <a:avLst/>
          </a:prstGeom>
          <a:solidFill>
            <a:srgbClr val="2E7D32">
              <a:alpha val="70000"/>
            </a:srgbClr>
          </a:solidFill>
          <a:ln w="12700">
            <a:solidFill>
              <a:srgbClr val="90D4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23042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91840" y="3017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0D4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Rationalism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11880" y="3410712"/>
            <a:ext cx="1783080" cy="27432"/>
          </a:xfrm>
          <a:prstGeom prst="rect">
            <a:avLst/>
          </a:prstGeom>
          <a:solidFill>
            <a:srgbClr val="2E7D32">
              <a:alpha val="5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50215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C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Championed scientific thinking within Islam, influencing Muslim intellectual discourse for generations.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35040" y="2176272"/>
            <a:ext cx="2697480" cy="2633472"/>
          </a:xfrm>
          <a:prstGeom prst="rect">
            <a:avLst/>
          </a:prstGeom>
          <a:solidFill>
            <a:srgbClr val="1A2E1A"/>
          </a:solidFill>
          <a:ln w="10160">
            <a:solidFill>
              <a:srgbClr val="2E7D3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2176272"/>
            <a:ext cx="269748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86600" y="2304288"/>
            <a:ext cx="594360" cy="594360"/>
          </a:xfrm>
          <a:prstGeom prst="ellipse">
            <a:avLst/>
          </a:prstGeom>
          <a:solidFill>
            <a:srgbClr val="2E7D32">
              <a:alpha val="70000"/>
            </a:srgbClr>
          </a:solidFill>
          <a:ln w="12700">
            <a:solidFill>
              <a:srgbClr val="90D4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23042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72200" y="3017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0D4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Political Impact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92240" y="3410712"/>
            <a:ext cx="1783080" cy="27432"/>
          </a:xfrm>
          <a:prstGeom prst="rect">
            <a:avLst/>
          </a:prstGeom>
          <a:solidFill>
            <a:srgbClr val="2E7D32">
              <a:alpha val="5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350215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C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shaped Muslim political consciousness and contributed to the founding of the Muslim League and eventually Pakistan.</a:t>
            </a:r>
            <a:endParaRPr lang="en-US" sz="11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28E21DC-6E4A-D061-D2A6-EE8DEE23D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6176"/>
            <a:ext cx="1161825" cy="81466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743200" y="1723644"/>
            <a:ext cx="3657600" cy="45720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Sir Syed Ahmed Khan — A Man Ahead of His Time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2606040" cy="1691640"/>
          </a:xfrm>
          <a:prstGeom prst="rect">
            <a:avLst/>
          </a:prstGeom>
          <a:solidFill>
            <a:srgbClr val="1E1850"/>
          </a:solidFill>
          <a:ln w="10160">
            <a:solidFill>
              <a:srgbClr val="C993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2606040" cy="54864"/>
          </a:xfrm>
          <a:prstGeom prst="rect">
            <a:avLst/>
          </a:prstGeom>
          <a:solidFill>
            <a:srgbClr val="C9932A"/>
          </a:solidFill>
          <a:ln w="12700">
            <a:solidFill>
              <a:srgbClr val="C993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077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VED VIYAS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0D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 &amp; Early Life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36118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3280" y="2788920"/>
            <a:ext cx="2606040" cy="1691640"/>
          </a:xfrm>
          <a:prstGeom prst="rect">
            <a:avLst/>
          </a:prstGeom>
          <a:solidFill>
            <a:srgbClr val="1E1850"/>
          </a:solidFill>
          <a:ln w="10160">
            <a:solidFill>
              <a:srgbClr val="1A6B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2788920"/>
            <a:ext cx="2606040" cy="54864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29077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ABDUL BASIT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93008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0D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Movements &amp; Works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93008" y="36118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2788920"/>
            <a:ext cx="2606040" cy="1691640"/>
          </a:xfrm>
          <a:prstGeom prst="rect">
            <a:avLst/>
          </a:prstGeom>
          <a:solidFill>
            <a:srgbClr val="1E1850"/>
          </a:solidFill>
          <a:ln w="10160">
            <a:solidFill>
              <a:srgbClr val="2E7D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788920"/>
            <a:ext cx="260604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29077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MUAWAZ AQEEL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27648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0D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 &amp; Impact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27648" y="36118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Aligarh Muslim University — Est. 1875 as MAO College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482205A-3714-1CC1-B256-3829066DA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72" y="264000"/>
            <a:ext cx="1081746" cy="75851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FA26F12-BBBD-E60E-8B3F-F9B213FEA33B}"/>
              </a:ext>
            </a:extLst>
          </p:cNvPr>
          <p:cNvSpPr txBox="1"/>
          <p:nvPr/>
        </p:nvSpPr>
        <p:spPr>
          <a:xfrm>
            <a:off x="1773968" y="220668"/>
            <a:ext cx="68122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Adobe Caslon Pro" panose="0205050205050A020403" pitchFamily="18" charset="0"/>
              </a:rPr>
              <a:t>Dawood University of Engineering &amp; Technology </a:t>
            </a:r>
          </a:p>
          <a:p>
            <a:endParaRPr lang="en-US" sz="2400" dirty="0"/>
          </a:p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E54FD8-A996-DE14-E425-B6DBE61791FC}"/>
              </a:ext>
            </a:extLst>
          </p:cNvPr>
          <p:cNvSpPr txBox="1"/>
          <p:nvPr/>
        </p:nvSpPr>
        <p:spPr>
          <a:xfrm>
            <a:off x="2288690" y="2391790"/>
            <a:ext cx="4577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i="1" dirty="0">
                <a:solidFill>
                  <a:schemeClr val="bg1"/>
                </a:solidFill>
                <a:latin typeface="Adobe Garamond Pro" panose="02020502060506020403" pitchFamily="18" charset="0"/>
              </a:rPr>
              <a:t>Course Instructor : Sir Faisal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1718</Words>
  <Application>Microsoft Office PowerPoint</Application>
  <PresentationFormat>On-screen Show (16:9)</PresentationFormat>
  <Paragraphs>221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Adobe Caslon Pro</vt:lpstr>
      <vt:lpstr>Adobe Garamond Pro</vt:lpstr>
      <vt:lpstr>Arial</vt:lpstr>
      <vt:lpstr>Calibri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Sir Syed Ahmed Khan - Complete Presentation</dc:title>
  <dc:subject>PptxGenJS Presentation</dc:subject>
  <dc:creator>PptxGenJS</dc:creator>
  <cp:lastModifiedBy>VED VIYAS</cp:lastModifiedBy>
  <cp:revision>18</cp:revision>
  <dcterms:created xsi:type="dcterms:W3CDTF">2026-03-09T20:15:39Z</dcterms:created>
  <dcterms:modified xsi:type="dcterms:W3CDTF">2026-03-16T09:53:38Z</dcterms:modified>
</cp:coreProperties>
</file>