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 Table Conferences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1930 – 1932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22402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Negotiations for India's Future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50292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3375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Areeba Khan  —  25f-CY-087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72160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Hanifa Noor  —  25f-CY-068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410565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 —  25f-CY-070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 Table Conferences —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0392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2743200" cy="3566160"/>
          </a:xfrm>
          <a:prstGeom prst="rect">
            <a:avLst/>
          </a:prstGeom>
          <a:solidFill>
            <a:srgbClr val="E8F0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14400"/>
            <a:ext cx="2743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constitutional conferences held in London to discuss India's future constitution and reforms.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27832" y="914400"/>
            <a:ext cx="2743200" cy="3566160"/>
          </a:xfrm>
          <a:prstGeom prst="rect">
            <a:avLst/>
          </a:prstGeom>
          <a:solidFill>
            <a:srgbClr val="FFF8E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7832" y="914400"/>
            <a:ext cx="2743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Organized?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64992" y="14630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Government — after the Simon Commission (1927) and growing political unrest across India.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81344" y="914400"/>
            <a:ext cx="2743200" cy="3566160"/>
          </a:xfrm>
          <a:prstGeom prst="rect">
            <a:avLst/>
          </a:prstGeom>
          <a:solidFill>
            <a:srgbClr val="EEF5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914400"/>
            <a:ext cx="2743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Goal?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18504" y="14630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constitutional framework covering federal structure, provincial autonomy, minority safeguards, and future self-government.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617720"/>
            <a:ext cx="85039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6177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RTC-I (1930)  ·  RTC-II (1931)  ·  RTC-III (1932)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— Why Were RTC Held?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0392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Montagu–Chelmsford Reforms (1919) introduced dyarchy — but real power stayed with British officials</a:t>
            </a:r>
            <a:endParaRPr lang="en-US" sz="1400" dirty="0"/>
          </a:p>
          <a:p>
            <a:pPr lvl="1" marL="508000" indent="-254000">
              <a:buSzPct val="100000"/>
              <a:buChar char="•"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found it wholly insufficient; demand for greater autonomy grew rapidly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Commission (1927) — all-British membership triggered mass protests: 'Simon Go Back'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Nehru Report (1928) and Jinnah's 14 Points (1929) exposed deep disagreements on minority representation &amp; federalism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Disobedience Movement (1930) launched by Congress increased pressure on British to negotiate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PM Ramsay MacDonald initiated RTC to find a constitutional settlement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Issues on the RTC 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0392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1051560"/>
          </a:xfrm>
          <a:prstGeom prst="rect">
            <a:avLst/>
          </a:prstGeom>
          <a:solidFill>
            <a:srgbClr val="F5E6C8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731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Federal System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3441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India become a federation of provinces and princely states?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14800" cy="1051560"/>
          </a:xfrm>
          <a:prstGeom prst="rect">
            <a:avLst/>
          </a:prstGeom>
          <a:solidFill>
            <a:srgbClr val="F5E6C8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60120"/>
            <a:ext cx="731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24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Provincial Autonomy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3441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decision-making power to be granted to individual provinces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114800" cy="1051560"/>
          </a:xfrm>
          <a:prstGeom prst="rect">
            <a:avLst/>
          </a:prstGeom>
          <a:solidFill>
            <a:srgbClr val="F5E6C8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194560"/>
            <a:ext cx="731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585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Minority Representation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57860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vs joint electorates for Muslims, Sikhs, Dalits, Christians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194560"/>
            <a:ext cx="4114800" cy="1051560"/>
          </a:xfrm>
          <a:prstGeom prst="rect">
            <a:avLst/>
          </a:prstGeom>
          <a:solidFill>
            <a:srgbClr val="F5E6C8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194560"/>
            <a:ext cx="731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2585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Princely States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57860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and conditions under which princely states would join the federation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429000"/>
            <a:ext cx="4114800" cy="1051560"/>
          </a:xfrm>
          <a:prstGeom prst="rect">
            <a:avLst/>
          </a:prstGeom>
          <a:solidFill>
            <a:srgbClr val="F5E6C8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429000"/>
            <a:ext cx="731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493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Government Powers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81304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over defence, finance, and foreign affairs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429000"/>
            <a:ext cx="4114800" cy="1051560"/>
          </a:xfrm>
          <a:prstGeom prst="rect">
            <a:avLst/>
          </a:prstGeom>
          <a:solidFill>
            <a:srgbClr val="F5E6C8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429000"/>
            <a:ext cx="731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493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Safeguards for British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381304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of imperial interests especially in defence and finance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Round Table Conference — 1930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0392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3931920" cy="3977640"/>
          </a:xfrm>
          <a:prstGeom prst="rect">
            <a:avLst/>
          </a:prstGeom>
          <a:solidFill>
            <a:srgbClr val="162054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Congress — ABSENT (leaders jailed)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League representatives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 Mahasabha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Sikh representatives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B.R. Ambedkar (Depressed Classes)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Princes of princely states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officials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914400"/>
            <a:ext cx="4389120" cy="3977640"/>
          </a:xfrm>
          <a:prstGeom prst="rect">
            <a:avLst/>
          </a:prstGeom>
          <a:solidFill>
            <a:srgbClr val="162054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9144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DISCUSSIONS &amp; OUTCOME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in principle: India should move towards a federal system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Provinces to receive greater autonomy than before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focus on minority rights and representation mechanisms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Princes indicated conditional willingness to join a federation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final constitution formed — Congress absence made it incomplete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direction: federation + provincial autonomy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Gandhi–Irwin Pact (1931) — The Bridge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0392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960120"/>
            <a:ext cx="109728" cy="3520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0" y="4343400"/>
            <a:ext cx="475488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60120"/>
            <a:ext cx="3840480" cy="1554480"/>
          </a:xfrm>
          <a:prstGeom prst="rect">
            <a:avLst/>
          </a:prstGeom>
          <a:solidFill>
            <a:srgbClr val="EEF5E8"/>
          </a:solidFill>
          <a:ln w="10160">
            <a:solidFill>
              <a:srgbClr val="7AA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Congress Agreed To: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38988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 the Civil Disobedience Movement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next Round Table Conference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114800" cy="1554480"/>
          </a:xfrm>
          <a:prstGeom prst="rect">
            <a:avLst/>
          </a:prstGeom>
          <a:solidFill>
            <a:srgbClr val="E8F0FB"/>
          </a:solidFill>
          <a:ln w="10160">
            <a:solidFill>
              <a:srgbClr val="447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British Government Agreed To: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3898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political prisoners (partially)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peaceful political activity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850392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80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31012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pact paved the way for Congress participation in the Second Round Table Conference — with Mahatma Gandhi as its sole representative.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 Round Table Conference — 1931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0392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1097280" cy="10972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MKG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10058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Mahatma Gandhi represented Congress — claimed Congress spoke for all Indians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CONFLICTS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148840"/>
            <a:ext cx="4114800" cy="1188720"/>
          </a:xfrm>
          <a:prstGeom prst="rect">
            <a:avLst/>
          </a:prstGeom>
          <a:solidFill>
            <a:srgbClr val="162054"/>
          </a:solidFill>
          <a:ln w="15240">
            <a:solidFill>
              <a:srgbClr val="3A7B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48840"/>
            <a:ext cx="91440" cy="1188720"/>
          </a:xfrm>
          <a:prstGeom prst="rect">
            <a:avLst/>
          </a:prstGeom>
          <a:solidFill>
            <a:srgbClr val="3A7BCA"/>
          </a:solidFill>
          <a:ln w="12700">
            <a:solidFill>
              <a:srgbClr val="3A7B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240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B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Muslims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" y="258775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Demanded strong safeguards and expanded separate electorates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2148840"/>
            <a:ext cx="4114800" cy="1188720"/>
          </a:xfrm>
          <a:prstGeom prst="rect">
            <a:avLst/>
          </a:prstGeom>
          <a:solidFill>
            <a:srgbClr val="162054"/>
          </a:solidFill>
          <a:ln w="15240">
            <a:solidFill>
              <a:srgbClr val="6BAA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2148840"/>
            <a:ext cx="91440" cy="1188720"/>
          </a:xfrm>
          <a:prstGeom prst="rect">
            <a:avLst/>
          </a:prstGeom>
          <a:solidFill>
            <a:srgbClr val="6BAA3C"/>
          </a:solidFill>
          <a:ln w="12700">
            <a:solidFill>
              <a:srgbClr val="6BA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2240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A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Sikhs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10328" y="258775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constitutional protections for the Sikh community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520440"/>
            <a:ext cx="4114800" cy="1188720"/>
          </a:xfrm>
          <a:prstGeom prst="rect">
            <a:avLst/>
          </a:prstGeom>
          <a:solidFill>
            <a:srgbClr val="162054"/>
          </a:solidFill>
          <a:ln w="15240">
            <a:solidFill>
              <a:srgbClr val="C44A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520440"/>
            <a:ext cx="91440" cy="1188720"/>
          </a:xfrm>
          <a:prstGeom prst="rect">
            <a:avLst/>
          </a:prstGeom>
          <a:solidFill>
            <a:srgbClr val="C44A2D"/>
          </a:solidFill>
          <a:ln w="12700">
            <a:solidFill>
              <a:srgbClr val="C44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611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4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Depressed Classes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44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(Ambedkar)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" y="395935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Demanded separate representation; rejected Gandhi's claim that Congress represented them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3520440"/>
            <a:ext cx="4114800" cy="1188720"/>
          </a:xfrm>
          <a:prstGeom prst="rect">
            <a:avLst/>
          </a:prstGeom>
          <a:solidFill>
            <a:srgbClr val="162054"/>
          </a:solidFill>
          <a:ln w="15240">
            <a:solidFill>
              <a:srgbClr val="C9A8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3520440"/>
            <a:ext cx="91440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3611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Princely States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10328" y="395935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Remained cautious — wanted guarantees before committing to federation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RTC-II — Why It Failed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0392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8321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agreement on minority representation — the central unresolved issue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Congress vs Muslim League differences remained deeply entrenched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Depressed Classes demand (Ambedkar) created a constitutional deadlock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Princes' uncertain commitment weakened the federation plan significantly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Gandhi returned, political conflict restarted; Civil Disobedience resumed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3611880"/>
            <a:ext cx="8503920" cy="1325880"/>
          </a:xfrm>
          <a:prstGeom prst="rect">
            <a:avLst/>
          </a:prstGeom>
          <a:solidFill>
            <a:srgbClr val="F5E6C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404164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ended without a final settlement. The British government concluded they would need to announce their own constitutional solutions independently.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Communal Award (1932) &amp; Poona Pact (1932)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0392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FFF0EE"/>
          </a:solidFill>
          <a:ln w="10160">
            <a:solidFill>
              <a:srgbClr val="C44A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4114800" cy="457200"/>
          </a:xfrm>
          <a:prstGeom prst="rect">
            <a:avLst/>
          </a:prstGeom>
          <a:solidFill>
            <a:srgbClr val="C44A2D"/>
          </a:solidFill>
          <a:ln w="12700">
            <a:solidFill>
              <a:srgbClr val="C44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60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Communal Award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Announced by Ramsay MacDonald after RTC-II failed to produce consensus.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4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 separate electorates to: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Sikhs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Anglo-Indians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Depressed Classes (Dalits)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26280" y="2651760"/>
            <a:ext cx="54864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514600"/>
            <a:ext cx="73152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960120"/>
            <a:ext cx="4114800" cy="3931920"/>
          </a:xfrm>
          <a:prstGeom prst="rect">
            <a:avLst/>
          </a:prstGeom>
          <a:solidFill>
            <a:srgbClr val="EEF5E8"/>
          </a:solidFill>
          <a:ln w="10160">
            <a:solidFill>
              <a:srgbClr val="2E6B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960120"/>
            <a:ext cx="4114800" cy="457200"/>
          </a:xfrm>
          <a:prstGeom prst="rect">
            <a:avLst/>
          </a:prstGeom>
          <a:solidFill>
            <a:srgbClr val="2E6B1F"/>
          </a:solidFill>
          <a:ln w="12700">
            <a:solidFill>
              <a:srgbClr val="2E6B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960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Poona Pact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15087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Gandhi strongly opposed separate electorates for Depressed Classes — fearing permanent division among Hindus.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92040" y="23317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Gandhi undertook a fast unto death. Negotiations between Gandhi and Dr. Ambedkar produced the Poona Pact.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92040" y="3154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49300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electorates for Depressed Classes were replaced with reserved seats within joint electorates — shaping later reservation policy in India.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Third Round Table Conference — 1932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0392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8503920" cy="502920"/>
          </a:xfrm>
          <a:prstGeom prst="rect">
            <a:avLst/>
          </a:prstGeom>
          <a:solidFill>
            <a:srgbClr val="8B1A1A"/>
          </a:solidFill>
          <a:ln w="1016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Congress Again Absent — Civil Disobedience renewed; breakdown of negotiations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constitutional details based on earlier discussions and British decisions.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attended by British officials and some Indian representatives.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880360"/>
            <a:ext cx="85039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175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Outcome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040" y="3456432"/>
            <a:ext cx="8503920" cy="1417320"/>
          </a:xfrm>
          <a:prstGeom prst="rect">
            <a:avLst/>
          </a:prstGeom>
          <a:solidFill>
            <a:srgbClr val="162054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547872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discussions at RTC-III laid the groundwork that directly fed into the Government of India Act 1935 — the most significant constitutional document of British India, introducing provincial autonomy and a proposed federal scheme.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Conferences Achieved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0392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03327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India's constitutional future into formal international-level negotiations for the first time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99339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the blueprint for provincial autonomy and the federal idea — later embodied in GoI Act 1935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95351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safeguards became a central constitutional theme across all subsequent legislation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38404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840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91363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directly to the Communal Award (1932), Poona Pact (1932), and Government of India Act (1935)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Conferences Could Not Fully Succeed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0392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1143000"/>
          </a:xfrm>
          <a:prstGeom prst="rect">
            <a:avLst/>
          </a:prstGeom>
          <a:solidFill>
            <a:srgbClr val="FFF0EE"/>
          </a:solidFill>
          <a:ln w="7620">
            <a:solidFill>
              <a:srgbClr val="CC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82296" cy="114300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515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United Indian Position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4173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Congress, Muslim League, Sikhs, and Depressed Classes held deeply conflicting views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14800" cy="1143000"/>
          </a:xfrm>
          <a:prstGeom prst="rect">
            <a:avLst/>
          </a:prstGeom>
          <a:solidFill>
            <a:srgbClr val="FFF0EE"/>
          </a:solidFill>
          <a:ln w="7620">
            <a:solidFill>
              <a:srgbClr val="CC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60120"/>
            <a:ext cx="82296" cy="114300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0515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Minority Representation Deadlock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4173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disagreement on separate vs joint electorates paralyzed negotiations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114800" cy="1143000"/>
          </a:xfrm>
          <a:prstGeom prst="rect">
            <a:avLst/>
          </a:prstGeom>
          <a:solidFill>
            <a:srgbClr val="FFF0EE"/>
          </a:solidFill>
          <a:ln w="7620">
            <a:solidFill>
              <a:srgbClr val="CC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86000"/>
            <a:ext cx="82296" cy="114300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377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British Strategic Control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2743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Britain aimed to retain imperial interests in defence and finance — limiting genuine autonomy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286000"/>
            <a:ext cx="4114800" cy="1143000"/>
          </a:xfrm>
          <a:prstGeom prst="rect">
            <a:avLst/>
          </a:prstGeom>
          <a:solidFill>
            <a:srgbClr val="FFF0EE"/>
          </a:solidFill>
          <a:ln w="7620">
            <a:solidFill>
              <a:srgbClr val="CC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286000"/>
            <a:ext cx="82296" cy="114300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377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Princely States' Ambiguity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2743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commitment from princely states undermined the federation plan throughout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611880"/>
            <a:ext cx="4114800" cy="1143000"/>
          </a:xfrm>
          <a:prstGeom prst="rect">
            <a:avLst/>
          </a:prstGeom>
          <a:solidFill>
            <a:srgbClr val="FFF0EE"/>
          </a:solidFill>
          <a:ln w="7620">
            <a:solidFill>
              <a:srgbClr val="CC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611880"/>
            <a:ext cx="82296" cy="114300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703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Lack of Continuity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" y="40690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Congress absent in RTC-I and RTC-III; no unified voice across all three conferences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611880"/>
            <a:ext cx="4114800" cy="1143000"/>
          </a:xfrm>
          <a:prstGeom prst="rect">
            <a:avLst/>
          </a:prstGeom>
          <a:solidFill>
            <a:srgbClr val="FFF0EE"/>
          </a:solidFill>
          <a:ln w="7620">
            <a:solidFill>
              <a:srgbClr val="CC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611880"/>
            <a:ext cx="82296" cy="114300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703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Mistrust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64608" y="40690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Congress ↔ Muslim League, Gandhi ↔ Ambedkar — divisions ran too deep for compromise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 Impact &amp; 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0392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1508760"/>
          </a:xfrm>
          <a:prstGeom prst="rect">
            <a:avLst/>
          </a:prstGeom>
          <a:solidFill>
            <a:srgbClr val="162054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411480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GoI Act 1935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43560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Provincial autonomy introduced; federal scheme proposed (but never fully implemented due to princely states)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14800" cy="1508760"/>
          </a:xfrm>
          <a:prstGeom prst="rect">
            <a:avLst/>
          </a:prstGeom>
          <a:solidFill>
            <a:srgbClr val="162054"/>
          </a:solidFill>
          <a:ln w="12700">
            <a:solidFill>
              <a:srgbClr val="3A7B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60120"/>
            <a:ext cx="4114800" cy="411480"/>
          </a:xfrm>
          <a:prstGeom prst="rect">
            <a:avLst/>
          </a:prstGeom>
          <a:solidFill>
            <a:srgbClr val="3A7BCA"/>
          </a:solidFill>
          <a:ln w="12700">
            <a:solidFill>
              <a:srgbClr val="3A7B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 Political Identities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43560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distinct political identities — reinforcing Muslim demand for constitutional safeguards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2651760"/>
            <a:ext cx="4114800" cy="1508760"/>
          </a:xfrm>
          <a:prstGeom prst="rect">
            <a:avLst/>
          </a:prstGeom>
          <a:solidFill>
            <a:srgbClr val="162054"/>
          </a:solidFill>
          <a:ln w="12700">
            <a:solidFill>
              <a:srgbClr val="E06B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651760"/>
            <a:ext cx="4114800" cy="411480"/>
          </a:xfrm>
          <a:prstGeom prst="rect">
            <a:avLst/>
          </a:prstGeom>
          <a:solidFill>
            <a:srgbClr val="E06B5F"/>
          </a:solidFill>
          <a:ln w="12700">
            <a:solidFill>
              <a:srgbClr val="E06B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517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Pakistan Movement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12724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demand for safeguards, left unresolved at the RTCs, later became a core argument for partition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114800" cy="1508760"/>
          </a:xfrm>
          <a:prstGeom prst="rect">
            <a:avLst/>
          </a:prstGeom>
          <a:solidFill>
            <a:srgbClr val="162054"/>
          </a:solidFill>
          <a:ln w="12700">
            <a:solidFill>
              <a:srgbClr val="6BAA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651760"/>
            <a:ext cx="4114800" cy="411480"/>
          </a:xfrm>
          <a:prstGeom prst="rect">
            <a:avLst/>
          </a:prstGeom>
          <a:solidFill>
            <a:srgbClr val="6BAA3C"/>
          </a:solidFill>
          <a:ln w="12700">
            <a:solidFill>
              <a:srgbClr val="6BAA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6517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Minority Rights Debate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12724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a structured constitutional debate on minority rights, reservations, and representation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RTCs did not produce an agreed constitution — but permanently shaped India's path to independence.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Round Table Conferences 1930-1932</dc:title>
  <dc:subject>PptxGenJS Presentation</dc:subject>
  <dc:creator>PptxGenJS</dc:creator>
  <cp:lastModifiedBy>PptxGenJS</cp:lastModifiedBy>
  <cp:revision>1</cp:revision>
  <dcterms:created xsi:type="dcterms:W3CDTF">2026-04-08T15:05:11Z</dcterms:created>
  <dcterms:modified xsi:type="dcterms:W3CDTF">2026-04-08T15:05:11Z</dcterms:modified>
</cp:coreProperties>
</file>