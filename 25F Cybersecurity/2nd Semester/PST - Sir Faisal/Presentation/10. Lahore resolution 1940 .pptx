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83" r:id="rId1"/>
  </p:sldMasterIdLst>
  <p:notesMasterIdLst>
    <p:notesMasterId r:id="rId15"/>
  </p:notesMasterIdLst>
  <p:sldIdLst>
    <p:sldId id="266" r:id="rId2"/>
    <p:sldId id="256" r:id="rId3"/>
    <p:sldId id="257" r:id="rId4"/>
    <p:sldId id="258" r:id="rId5"/>
    <p:sldId id="259" r:id="rId6"/>
    <p:sldId id="260" r:id="rId7"/>
    <p:sldId id="267" r:id="rId8"/>
    <p:sldId id="268" r:id="rId9"/>
    <p:sldId id="261" r:id="rId10"/>
    <p:sldId id="262" r:id="rId11"/>
    <p:sldId id="264" r:id="rId12"/>
    <p:sldId id="265" r:id="rId13"/>
    <p:sldId id="269" r:id="rId14"/>
  </p:sldIdLst>
  <p:sldSz cx="14630400" cy="8229600"/>
  <p:notesSz cx="8229600" cy="14630400"/>
  <p:embeddedFontLst>
    <p:embeddedFont>
      <p:font typeface="Bahnschrift SemiBold" panose="020B0502040204020203" pitchFamily="34" charset="0"/>
      <p:bold r:id="rId16"/>
    </p:embeddedFont>
    <p:embeddedFont>
      <p:font typeface="Bahnschrift SemiCondensed" panose="020B0502040204020203" pitchFamily="34" charset="0"/>
      <p:regular r:id="rId17"/>
      <p:bold r:id="rId18"/>
    </p:embeddedFont>
    <p:embeddedFont>
      <p:font typeface="Lucida Handwriting" panose="03010101010101010101" pitchFamily="66" charset="0"/>
      <p:regular r:id="rId19"/>
    </p:embeddedFont>
    <p:embeddedFont>
      <p:font typeface="Merriweather Bold" panose="00000800000000000000" pitchFamily="2" charset="0"/>
      <p:bold r:id="rId20"/>
    </p:embeddedFont>
    <p:embeddedFont>
      <p:font typeface="Open Sans" panose="020B0606030504020204" pitchFamily="34" charset="0"/>
      <p:regular r:id="rId21"/>
      <p:bold r:id="rId22"/>
      <p:italic r:id="rId23"/>
      <p:boldItalic r:id="rId24"/>
    </p:embeddedFont>
    <p:embeddedFont>
      <p:font typeface="Trebuchet MS" panose="020B0603020202020204" pitchFamily="34" charset="0"/>
      <p:regular r:id="rId25"/>
      <p:bold r:id="rId26"/>
      <p:italic r:id="rId27"/>
      <p:boldItalic r:id="rId28"/>
    </p:embeddedFont>
    <p:embeddedFont>
      <p:font typeface="Wingdings 3" panose="05040102010807070707" pitchFamily="18" charset="2"/>
      <p:regular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5A19561-10F1-456A-908D-DDC85258A5E6}">
          <p14:sldIdLst>
            <p14:sldId id="266"/>
            <p14:sldId id="256"/>
            <p14:sldId id="257"/>
            <p14:sldId id="258"/>
            <p14:sldId id="259"/>
            <p14:sldId id="260"/>
            <p14:sldId id="267"/>
            <p14:sldId id="268"/>
            <p14:sldId id="261"/>
            <p14:sldId id="262"/>
            <p14:sldId id="264"/>
            <p14:sldId id="265"/>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1" autoAdjust="0"/>
    <p:restoredTop sz="86424" autoAdjust="0"/>
  </p:normalViewPr>
  <p:slideViewPr>
    <p:cSldViewPr snapToGrid="0" snapToObjects="1">
      <p:cViewPr>
        <p:scale>
          <a:sx n="50" d="100"/>
          <a:sy n="50" d="100"/>
        </p:scale>
        <p:origin x="36" y="6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30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380974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2219608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1533452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379327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280851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145040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4194422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240742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3277310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255632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69289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393368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a:rPr>
              <a:t>”</a:t>
            </a:r>
            <a:endParaRPr lang="en-US" sz="2160" dirty="0">
              <a:solidFill>
                <a:schemeClr val="accent1">
                  <a:lumMod val="60000"/>
                  <a:lumOff val="40000"/>
                </a:schemeClr>
              </a:solidFill>
              <a:latin typeface="Arial"/>
            </a:endParaRPr>
          </a:p>
        </p:txBody>
      </p:sp>
    </p:spTree>
    <p:extLst>
      <p:ext uri="{BB962C8B-B14F-4D97-AF65-F5344CB8AC3E}">
        <p14:creationId xmlns:p14="http://schemas.microsoft.com/office/powerpoint/2010/main" val="417407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389904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7843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4019787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96177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7FB88-389A-4C14-B0ED-2BBB3B7EE2A7}" type="slidenum">
              <a:rPr lang="en-US" smtClean="0"/>
              <a:t>‹#›</a:t>
            </a:fld>
            <a:endParaRPr lang="en-US"/>
          </a:p>
        </p:txBody>
      </p:sp>
    </p:spTree>
    <p:extLst>
      <p:ext uri="{BB962C8B-B14F-4D97-AF65-F5344CB8AC3E}">
        <p14:creationId xmlns:p14="http://schemas.microsoft.com/office/powerpoint/2010/main" val="339140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63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1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3421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98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10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28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92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591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11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62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9587FB88-389A-4C14-B0ED-2BBB3B7EE2A7}" type="slidenum">
              <a:rPr lang="en-US" smtClean="0"/>
              <a:t>‹#›</a:t>
            </a:fld>
            <a:endParaRPr lang="en-US"/>
          </a:p>
        </p:txBody>
      </p:sp>
    </p:spTree>
    <p:extLst>
      <p:ext uri="{BB962C8B-B14F-4D97-AF65-F5344CB8AC3E}">
        <p14:creationId xmlns:p14="http://schemas.microsoft.com/office/powerpoint/2010/main" val="2752329296"/>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9" r:id="rId25"/>
    <p:sldLayoutId id="214748371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2.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8.xml"/><Relationship Id="rId5" Type="http://schemas.microsoft.com/office/2007/relationships/hdphoto" Target="../media/hdphoto1.wdp"/><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18F1F6-7CE1-8A91-980F-36B1C28C4692}"/>
              </a:ext>
            </a:extLst>
          </p:cNvPr>
          <p:cNvSpPr txBox="1"/>
          <p:nvPr/>
        </p:nvSpPr>
        <p:spPr>
          <a:xfrm>
            <a:off x="2751513" y="2746132"/>
            <a:ext cx="9127374" cy="267765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u="sng" dirty="0">
                <a:solidFill>
                  <a:schemeClr val="accent1"/>
                </a:solidFill>
                <a:latin typeface="Bahnschrift SemiCondensed" panose="020B0502040204020203" pitchFamily="34" charset="0"/>
              </a:rPr>
              <a:t>Department Of Cyber Security Section A2</a:t>
            </a:r>
          </a:p>
          <a:p>
            <a:pPr algn="ctr"/>
            <a:endParaRPr lang="en-US" sz="2800" b="1" u="sng" dirty="0">
              <a:solidFill>
                <a:schemeClr val="accent1"/>
              </a:solidFill>
              <a:latin typeface="Bahnschrift SemiCondensed" panose="020B0502040204020203" pitchFamily="34" charset="0"/>
            </a:endParaRPr>
          </a:p>
          <a:p>
            <a:pPr algn="ctr"/>
            <a:r>
              <a:rPr lang="en-US" sz="2800" b="1" u="sng" dirty="0">
                <a:solidFill>
                  <a:schemeClr val="accent1"/>
                </a:solidFill>
                <a:latin typeface="Bahnschrift SemiCondensed" panose="020B0502040204020203" pitchFamily="34" charset="0"/>
              </a:rPr>
              <a:t>Presented By :</a:t>
            </a:r>
          </a:p>
          <a:p>
            <a:pPr algn="ctr"/>
            <a:r>
              <a:rPr lang="en-US" sz="2800" b="1" u="sng" dirty="0">
                <a:solidFill>
                  <a:schemeClr val="accent1"/>
                </a:solidFill>
                <a:latin typeface="Bahnschrift SemiCondensed" panose="020B0502040204020203" pitchFamily="34" charset="0"/>
              </a:rPr>
              <a:t> Bisma (25F-CY-89 )</a:t>
            </a:r>
          </a:p>
          <a:p>
            <a:pPr algn="ctr"/>
            <a:r>
              <a:rPr lang="en-US" sz="2800" b="1" u="sng" dirty="0">
                <a:solidFill>
                  <a:schemeClr val="accent1"/>
                </a:solidFill>
                <a:latin typeface="Bahnschrift SemiCondensed" panose="020B0502040204020203" pitchFamily="34" charset="0"/>
              </a:rPr>
              <a:t>Bushra(25F-CY-79)</a:t>
            </a:r>
          </a:p>
          <a:p>
            <a:pPr algn="ctr"/>
            <a:r>
              <a:rPr lang="en-US" sz="2800" b="1" u="sng" dirty="0">
                <a:solidFill>
                  <a:schemeClr val="accent1"/>
                </a:solidFill>
                <a:latin typeface="Bahnschrift SemiCondensed" panose="020B0502040204020203" pitchFamily="34" charset="0"/>
              </a:rPr>
              <a:t> Muqaddas(25F-CY-78</a:t>
            </a:r>
            <a:r>
              <a:rPr lang="en-US" sz="2400" dirty="0">
                <a:solidFill>
                  <a:schemeClr val="accent1"/>
                </a:solidFill>
                <a:latin typeface="Bahnschrift SemiBold" panose="020B0502040204020203" pitchFamily="34" charset="0"/>
              </a:rPr>
              <a:t>)</a:t>
            </a:r>
          </a:p>
        </p:txBody>
      </p:sp>
      <p:sp>
        <p:nvSpPr>
          <p:cNvPr id="2" name="TextBox 1">
            <a:extLst>
              <a:ext uri="{FF2B5EF4-FFF2-40B4-BE49-F238E27FC236}">
                <a16:creationId xmlns:a16="http://schemas.microsoft.com/office/drawing/2014/main" id="{F53A53C2-F9EC-0A4F-7022-F0FA8F1A4CB5}"/>
              </a:ext>
            </a:extLst>
          </p:cNvPr>
          <p:cNvSpPr txBox="1"/>
          <p:nvPr/>
        </p:nvSpPr>
        <p:spPr>
          <a:xfrm>
            <a:off x="5324820" y="1864783"/>
            <a:ext cx="4902086" cy="52322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u="sng" dirty="0">
                <a:solidFill>
                  <a:schemeClr val="accent1"/>
                </a:solidFill>
                <a:latin typeface="Bahnschrift SemiCondensed" panose="020B0502040204020203" pitchFamily="34" charset="0"/>
              </a:rPr>
              <a:t>Topic Lahore Resolution 1940</a:t>
            </a:r>
          </a:p>
        </p:txBody>
      </p:sp>
      <p:sp>
        <p:nvSpPr>
          <p:cNvPr id="3" name="TextBox 2">
            <a:extLst>
              <a:ext uri="{FF2B5EF4-FFF2-40B4-BE49-F238E27FC236}">
                <a16:creationId xmlns:a16="http://schemas.microsoft.com/office/drawing/2014/main" id="{74A0099B-9BEC-971F-A259-FD438C735D8A}"/>
              </a:ext>
            </a:extLst>
          </p:cNvPr>
          <p:cNvSpPr txBox="1"/>
          <p:nvPr/>
        </p:nvSpPr>
        <p:spPr>
          <a:xfrm>
            <a:off x="5324820" y="6337804"/>
            <a:ext cx="4619280" cy="95410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b="1" u="sng" dirty="0">
                <a:solidFill>
                  <a:schemeClr val="accent1"/>
                </a:solidFill>
                <a:latin typeface="Bahnschrift SemiBold" panose="020B0502040204020203" pitchFamily="34" charset="0"/>
              </a:rPr>
              <a:t>Course Instructor : Sir Faisal</a:t>
            </a:r>
          </a:p>
        </p:txBody>
      </p:sp>
      <p:pic>
        <p:nvPicPr>
          <p:cNvPr id="7" name="Picture 6">
            <a:extLst>
              <a:ext uri="{FF2B5EF4-FFF2-40B4-BE49-F238E27FC236}">
                <a16:creationId xmlns:a16="http://schemas.microsoft.com/office/drawing/2014/main" id="{3F9F37FF-DF70-1D5F-28AF-9E3DA5902147}"/>
              </a:ext>
            </a:extLst>
          </p:cNvPr>
          <p:cNvPicPr>
            <a:picLocks noChangeAspect="1"/>
          </p:cNvPicPr>
          <p:nvPr/>
        </p:nvPicPr>
        <p:blipFill>
          <a:blip r:embed="rId3"/>
          <a:srcRect l="65853" t="35156" r="13983" b="36198"/>
          <a:stretch>
            <a:fillRect/>
          </a:stretch>
        </p:blipFill>
        <p:spPr>
          <a:xfrm>
            <a:off x="464563" y="-160196"/>
            <a:ext cx="3529703" cy="2591036"/>
          </a:xfrm>
          <a:prstGeom prst="rect">
            <a:avLst/>
          </a:prstGeom>
          <a:ln>
            <a:noFill/>
          </a:ln>
          <a:effectLst>
            <a:softEdge rad="112500"/>
          </a:effectLst>
        </p:spPr>
      </p:pic>
      <p:sp>
        <p:nvSpPr>
          <p:cNvPr id="14" name="TextBox 13">
            <a:extLst>
              <a:ext uri="{FF2B5EF4-FFF2-40B4-BE49-F238E27FC236}">
                <a16:creationId xmlns:a16="http://schemas.microsoft.com/office/drawing/2014/main" id="{3DE105AA-5877-F103-18C9-4B160CB9EEA3}"/>
              </a:ext>
            </a:extLst>
          </p:cNvPr>
          <p:cNvSpPr txBox="1"/>
          <p:nvPr/>
        </p:nvSpPr>
        <p:spPr>
          <a:xfrm>
            <a:off x="4146666" y="150620"/>
            <a:ext cx="7550034" cy="523220"/>
          </a:xfrm>
          <a:prstGeom prst="rect">
            <a:avLst/>
          </a:prstGeom>
          <a:noFill/>
        </p:spPr>
        <p:txBody>
          <a:bodyPr wrap="square" rtlCol="0">
            <a:spAutoFit/>
          </a:bodyPr>
          <a:lstStyle/>
          <a:p>
            <a:r>
              <a:rPr lang="en-US" sz="2800" b="1" dirty="0">
                <a:solidFill>
                  <a:schemeClr val="accent1"/>
                </a:solidFill>
                <a:latin typeface="Bahnschrift SemiCondensed" panose="020B0502040204020203" pitchFamily="34" charset="0"/>
              </a:rPr>
              <a:t>Dawood University Of Engineering And Technology</a:t>
            </a:r>
          </a:p>
        </p:txBody>
      </p:sp>
    </p:spTree>
    <p:extLst>
      <p:ext uri="{BB962C8B-B14F-4D97-AF65-F5344CB8AC3E}">
        <p14:creationId xmlns:p14="http://schemas.microsoft.com/office/powerpoint/2010/main" val="3402247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47" name="Group 1046">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0"/>
            <a:ext cx="14630401" cy="8239760"/>
            <a:chOff x="0" y="-8467"/>
            <a:chExt cx="12192000" cy="6866467"/>
          </a:xfrm>
        </p:grpSpPr>
        <p:cxnSp>
          <p:nvCxnSpPr>
            <p:cNvPr id="1034" name="Straight Connector 1033">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48"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9"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0" name="Isosceles Triangle 1049">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1"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2"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3"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4" name="Isosceles Triangle 1053">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5" name="Isosceles Triangle 1054">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Text 0"/>
          <p:cNvSpPr/>
          <p:nvPr/>
        </p:nvSpPr>
        <p:spPr>
          <a:xfrm>
            <a:off x="6644080" y="731520"/>
            <a:ext cx="4484722" cy="1584960"/>
          </a:xfrm>
          <a:prstGeom prst="rect">
            <a:avLst/>
          </a:prstGeom>
        </p:spPr>
        <p:txBody>
          <a:bodyPr vert="horz" lIns="91440" tIns="45720" rIns="91440" bIns="45720" rtlCol="0" anchor="t">
            <a:normAutofit fontScale="92500"/>
          </a:bodyPr>
          <a:lstStyle/>
          <a:p>
            <a:pPr marL="0" indent="0">
              <a:spcBef>
                <a:spcPct val="0"/>
              </a:spcBef>
              <a:spcAft>
                <a:spcPts val="600"/>
              </a:spcAft>
            </a:pPr>
            <a:r>
              <a:rPr lang="en-US" sz="4000" b="1" dirty="0">
                <a:solidFill>
                  <a:schemeClr val="accent1"/>
                </a:solidFill>
                <a:latin typeface="Lucida Handwriting" panose="03010101010101010101" pitchFamily="66" charset="0"/>
                <a:ea typeface="+mj-ea"/>
                <a:cs typeface="+mj-cs"/>
              </a:rPr>
              <a:t>The Lahore Resolution:1940</a:t>
            </a:r>
            <a:endParaRPr lang="en-US" sz="4000" dirty="0">
              <a:solidFill>
                <a:schemeClr val="accent1"/>
              </a:solidFill>
              <a:latin typeface="Lucida Handwriting" panose="03010101010101010101" pitchFamily="66" charset="0"/>
              <a:ea typeface="+mj-ea"/>
              <a:cs typeface="+mj-cs"/>
            </a:endParaRPr>
          </a:p>
        </p:txBody>
      </p:sp>
      <p:sp>
        <p:nvSpPr>
          <p:cNvPr id="4" name="Text 1"/>
          <p:cNvSpPr/>
          <p:nvPr/>
        </p:nvSpPr>
        <p:spPr>
          <a:xfrm>
            <a:off x="6251475" y="2611756"/>
            <a:ext cx="5559525" cy="4656928"/>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p>
            <a:pPr>
              <a:spcBef>
                <a:spcPts val="1000"/>
              </a:spcBef>
              <a:buClr>
                <a:schemeClr val="accent1"/>
              </a:buClr>
              <a:buSzPct val="80000"/>
              <a:buFont typeface="Wingdings 3" charset="2"/>
              <a:buChar char=""/>
            </a:pPr>
            <a:r>
              <a:rPr lang="en-US" sz="2000" dirty="0">
                <a:solidFill>
                  <a:schemeClr val="tx1">
                    <a:lumMod val="75000"/>
                    <a:lumOff val="25000"/>
                  </a:schemeClr>
                </a:solidFill>
                <a:latin typeface="Bahnschrift SemiCondensed" panose="020B0502040204020203" pitchFamily="34" charset="0"/>
              </a:rPr>
              <a:t>The Lahore Resolution, passed on March 23, 1940, at Minto Park, Lahore, stands as the most critical turning point in the modern history of South Asia. Presented by A.K. Fazlul Huq during the annual session of the All-India Muslim League, it formally rejected the idea of a united India and called for the creation of independent states in the Muslim-majority regions of the North-West and East. This historic declaration was fueled by the Two-Nation Theory, which argued that Muslims and Hindus were distinct nations requiring separate political sovereignty to protect their religious, cultural, and economic rights.</a:t>
            </a:r>
          </a:p>
        </p:txBody>
      </p:sp>
      <p:pic>
        <p:nvPicPr>
          <p:cNvPr id="1028" name="Picture 4" descr="Pakistan Resolution Day 23 March 1940 | by huma shah | Medium">
            <a:extLst>
              <a:ext uri="{FF2B5EF4-FFF2-40B4-BE49-F238E27FC236}">
                <a16:creationId xmlns:a16="http://schemas.microsoft.com/office/drawing/2014/main" id="{4A68EC56-1141-E6E4-5C61-512A50135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654" r="14920" b="2"/>
          <a:stretch>
            <a:fillRect/>
          </a:stretch>
        </p:blipFill>
        <p:spPr bwMode="auto">
          <a:xfrm>
            <a:off x="20" y="-1"/>
            <a:ext cx="6473932" cy="82296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1056" name="Isosceles Triangle 1055">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1011115" cy="679938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Rectangle 4">
            <a:extLst>
              <a:ext uri="{FF2B5EF4-FFF2-40B4-BE49-F238E27FC236}">
                <a16:creationId xmlns:a16="http://schemas.microsoft.com/office/drawing/2014/main" id="{D92F901B-BFB2-0B2C-4B7C-C0A16F1FBE17}"/>
              </a:ext>
            </a:extLst>
          </p:cNvPr>
          <p:cNvSpPr/>
          <p:nvPr/>
        </p:nvSpPr>
        <p:spPr>
          <a:xfrm>
            <a:off x="12701846" y="7664335"/>
            <a:ext cx="1928553" cy="432261"/>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25079" y="673716"/>
            <a:ext cx="8059579" cy="968454"/>
          </a:xfrm>
          <a:prstGeom prst="rect">
            <a:avLst/>
          </a:prstGeom>
          <a:noFill/>
          <a:ln/>
        </p:spPr>
        <p:txBody>
          <a:bodyPr wrap="square" lIns="0" tIns="0" rIns="0" bIns="0" rtlCol="0" anchor="t"/>
          <a:lstStyle/>
          <a:p>
            <a:pPr marL="0" indent="0" algn="l">
              <a:lnSpc>
                <a:spcPts val="3800"/>
              </a:lnSpc>
              <a:buNone/>
            </a:pPr>
            <a:r>
              <a:rPr lang="en-US" sz="4000" b="1" dirty="0">
                <a:solidFill>
                  <a:schemeClr val="accent1"/>
                </a:solidFill>
                <a:latin typeface="Lucida Handwriting" panose="03010101010101010101" pitchFamily="66" charset="0"/>
                <a:ea typeface="Merriweather Bold" pitchFamily="34" charset="-122"/>
                <a:cs typeface="Merriweather Bold" pitchFamily="34" charset="-120"/>
              </a:rPr>
              <a:t>Historical Background: Muslim Identity in British India</a:t>
            </a:r>
            <a:endParaRPr lang="en-US" sz="4000" dirty="0">
              <a:solidFill>
                <a:schemeClr val="accent1"/>
              </a:solidFill>
              <a:latin typeface="Lucida Handwriting" panose="03010101010101010101" pitchFamily="66" charset="0"/>
            </a:endParaRPr>
          </a:p>
        </p:txBody>
      </p:sp>
      <p:sp>
        <p:nvSpPr>
          <p:cNvPr id="5" name="Text 2"/>
          <p:cNvSpPr/>
          <p:nvPr/>
        </p:nvSpPr>
        <p:spPr>
          <a:xfrm>
            <a:off x="719971" y="2541389"/>
            <a:ext cx="1936790" cy="242054"/>
          </a:xfrm>
          <a:prstGeom prst="rect">
            <a:avLst/>
          </a:prstGeom>
          <a:noFill/>
          <a:ln/>
        </p:spPr>
        <p:txBody>
          <a:bodyPr wrap="none" lIns="0" tIns="0" rIns="0" bIns="0" rtlCol="0" anchor="t"/>
          <a:lstStyle/>
          <a:p>
            <a:pPr marL="0" indent="0" algn="l">
              <a:lnSpc>
                <a:spcPts val="1900"/>
              </a:lnSpc>
              <a:buNone/>
            </a:pPr>
            <a:r>
              <a:rPr lang="en-US" sz="2800" b="1" dirty="0">
                <a:solidFill>
                  <a:srgbClr val="403C4E"/>
                </a:solidFill>
                <a:latin typeface="Bahnschrift SemiCondensed" panose="020B0502040204020203" pitchFamily="34" charset="0"/>
                <a:ea typeface="Merriweather Bold" pitchFamily="34" charset="-122"/>
                <a:cs typeface="Merriweather Bold" pitchFamily="34" charset="-120"/>
              </a:rPr>
              <a:t>Diverse Landscape</a:t>
            </a:r>
          </a:p>
          <a:p>
            <a:pPr marL="0" indent="0" algn="l">
              <a:lnSpc>
                <a:spcPts val="1900"/>
              </a:lnSpc>
              <a:buNone/>
            </a:pPr>
            <a:endParaRPr lang="en-US" b="1" dirty="0">
              <a:solidFill>
                <a:srgbClr val="403C4E"/>
              </a:solidFill>
              <a:latin typeface="Merriweather Bold" pitchFamily="34" charset="0"/>
              <a:ea typeface="Merriweather Bold" pitchFamily="34" charset="-122"/>
            </a:endParaRPr>
          </a:p>
          <a:p>
            <a:pPr marL="0" indent="0" algn="l">
              <a:lnSpc>
                <a:spcPts val="1900"/>
              </a:lnSpc>
              <a:buNone/>
            </a:pPr>
            <a:endParaRPr lang="en-US" b="1" dirty="0"/>
          </a:p>
        </p:txBody>
      </p:sp>
      <p:sp>
        <p:nvSpPr>
          <p:cNvPr id="6" name="Text 3"/>
          <p:cNvSpPr/>
          <p:nvPr/>
        </p:nvSpPr>
        <p:spPr>
          <a:xfrm>
            <a:off x="719971" y="2885003"/>
            <a:ext cx="7704058" cy="416957"/>
          </a:xfrm>
          <a:prstGeom prst="rect">
            <a:avLst/>
          </a:prstGeom>
          <a:noFill/>
          <a:ln/>
        </p:spPr>
        <p:txBody>
          <a:bodyPr wrap="square" lIns="0" tIns="0" rIns="0" bIns="0" rtlCol="0" anchor="t"/>
          <a:lstStyle/>
          <a:p>
            <a:pPr marL="0" indent="0" algn="l">
              <a:lnSpc>
                <a:spcPts val="160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British India comprised a diverse religious landscape, with Muslims forming a significant, yet minority, population.</a:t>
            </a:r>
            <a:endParaRPr lang="en-US" sz="2000" dirty="0">
              <a:latin typeface="Bahnschrift SemiCondensed" panose="020B0502040204020203" pitchFamily="34" charset="0"/>
            </a:endParaRPr>
          </a:p>
        </p:txBody>
      </p:sp>
      <p:sp>
        <p:nvSpPr>
          <p:cNvPr id="8" name="Text 5"/>
          <p:cNvSpPr/>
          <p:nvPr/>
        </p:nvSpPr>
        <p:spPr>
          <a:xfrm>
            <a:off x="719971" y="3725227"/>
            <a:ext cx="2353747" cy="242054"/>
          </a:xfrm>
          <a:prstGeom prst="rect">
            <a:avLst/>
          </a:prstGeom>
          <a:noFill/>
          <a:ln/>
        </p:spPr>
        <p:txBody>
          <a:bodyPr wrap="none" lIns="0" tIns="0" rIns="0" bIns="0" rtlCol="0" anchor="t"/>
          <a:lstStyle/>
          <a:p>
            <a:pPr marL="0" indent="0" algn="l">
              <a:lnSpc>
                <a:spcPts val="1900"/>
              </a:lnSpc>
              <a:buNone/>
            </a:pPr>
            <a:r>
              <a:rPr lang="en-US" sz="2800" b="1" dirty="0">
                <a:solidFill>
                  <a:srgbClr val="403C4E"/>
                </a:solidFill>
                <a:latin typeface="Bahnschrift SemiCondensed" panose="020B0502040204020203" pitchFamily="34" charset="0"/>
                <a:ea typeface="Merriweather Bold" pitchFamily="34" charset="-122"/>
                <a:cs typeface="Merriweather Bold" pitchFamily="34" charset="-120"/>
              </a:rPr>
              <a:t>Fears of Marginalization</a:t>
            </a:r>
            <a:endParaRPr lang="en-US" sz="2800" dirty="0">
              <a:latin typeface="Bahnschrift SemiCondensed" panose="020B0502040204020203" pitchFamily="34" charset="0"/>
            </a:endParaRPr>
          </a:p>
        </p:txBody>
      </p:sp>
      <p:sp>
        <p:nvSpPr>
          <p:cNvPr id="9" name="Text 6"/>
          <p:cNvSpPr/>
          <p:nvPr/>
        </p:nvSpPr>
        <p:spPr>
          <a:xfrm>
            <a:off x="719971" y="4030742"/>
            <a:ext cx="7704058" cy="807243"/>
          </a:xfrm>
          <a:prstGeom prst="rect">
            <a:avLst/>
          </a:prstGeom>
          <a:noFill/>
          <a:ln/>
        </p:spPr>
        <p:txBody>
          <a:bodyPr wrap="square" lIns="0" tIns="0" rIns="0" bIns="0" rtlCol="0" anchor="t"/>
          <a:lstStyle/>
          <a:p>
            <a:pPr marL="0" indent="0" algn="l">
              <a:lnSpc>
                <a:spcPts val="160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Muslims grew increasingly concerned about political marginalization under the Hindu-majority Congress rule (1937-1939).</a:t>
            </a:r>
            <a:endParaRPr lang="en-US" sz="2000" dirty="0">
              <a:latin typeface="Bahnschrift SemiCondensed" panose="020B0502040204020203" pitchFamily="34" charset="0"/>
            </a:endParaRPr>
          </a:p>
        </p:txBody>
      </p:sp>
      <p:sp>
        <p:nvSpPr>
          <p:cNvPr id="11" name="Text 8"/>
          <p:cNvSpPr/>
          <p:nvPr/>
        </p:nvSpPr>
        <p:spPr>
          <a:xfrm>
            <a:off x="719971" y="4909066"/>
            <a:ext cx="1936790" cy="242054"/>
          </a:xfrm>
          <a:prstGeom prst="rect">
            <a:avLst/>
          </a:prstGeom>
          <a:noFill/>
          <a:ln/>
        </p:spPr>
        <p:txBody>
          <a:bodyPr wrap="none" lIns="0" tIns="0" rIns="0" bIns="0" rtlCol="0" anchor="t"/>
          <a:lstStyle/>
          <a:p>
            <a:pPr marL="0" indent="0" algn="l">
              <a:lnSpc>
                <a:spcPts val="1900"/>
              </a:lnSpc>
              <a:buNone/>
            </a:pPr>
            <a:r>
              <a:rPr lang="en-US" sz="2800" b="1" dirty="0">
                <a:solidFill>
                  <a:srgbClr val="403C4E"/>
                </a:solidFill>
                <a:latin typeface="Bahnschrift SemiCondensed" panose="020B0502040204020203" pitchFamily="34" charset="0"/>
                <a:ea typeface="Merriweather Bold" pitchFamily="34" charset="-122"/>
                <a:cs typeface="Merriweather Bold" pitchFamily="34" charset="-120"/>
              </a:rPr>
              <a:t>Two-Nation Theory</a:t>
            </a:r>
            <a:endParaRPr lang="en-US" sz="2800" dirty="0">
              <a:latin typeface="Bahnschrift SemiCondensed" panose="020B0502040204020203" pitchFamily="34" charset="0"/>
            </a:endParaRPr>
          </a:p>
        </p:txBody>
      </p:sp>
      <p:sp>
        <p:nvSpPr>
          <p:cNvPr id="12" name="Text 9"/>
          <p:cNvSpPr/>
          <p:nvPr/>
        </p:nvSpPr>
        <p:spPr>
          <a:xfrm>
            <a:off x="719971" y="5256966"/>
            <a:ext cx="8059578" cy="533282"/>
          </a:xfrm>
          <a:prstGeom prst="rect">
            <a:avLst/>
          </a:prstGeom>
          <a:noFill/>
          <a:ln/>
        </p:spPr>
        <p:txBody>
          <a:bodyPr wrap="square" lIns="0" tIns="0" rIns="0" bIns="0" rtlCol="0" anchor="t"/>
          <a:lstStyle/>
          <a:p>
            <a:pPr>
              <a:lnSpc>
                <a:spcPts val="1600"/>
              </a:lnSpc>
            </a:pPr>
            <a:r>
              <a:rPr lang="en-US" sz="2000" dirty="0">
                <a:solidFill>
                  <a:srgbClr val="403C4E"/>
                </a:solidFill>
                <a:latin typeface="Bahnschrift SemiCondensed" panose="020B0502040204020203" pitchFamily="34" charset="0"/>
                <a:ea typeface="Open Sans" pitchFamily="34" charset="-122"/>
                <a:cs typeface="Open Sans" pitchFamily="34" charset="-120"/>
              </a:rPr>
              <a:t>The emerging Two-Nation Theory posited that Muslims and Hindus were distinct </a:t>
            </a:r>
            <a:endParaRPr lang="en-US" sz="1200" dirty="0">
              <a:solidFill>
                <a:srgbClr val="403C4E"/>
              </a:solidFill>
              <a:latin typeface="Bahnschrift SemiCondensed" panose="020B0502040204020203" pitchFamily="34" charset="0"/>
              <a:ea typeface="Open Sans" pitchFamily="34" charset="-122"/>
              <a:cs typeface="Open Sans" pitchFamily="34" charset="-120"/>
            </a:endParaRPr>
          </a:p>
          <a:p>
            <a:pPr>
              <a:lnSpc>
                <a:spcPts val="1600"/>
              </a:lnSpc>
            </a:pPr>
            <a:r>
              <a:rPr lang="en-US" sz="2400" dirty="0">
                <a:solidFill>
                  <a:srgbClr val="403C4E"/>
                </a:solidFill>
                <a:latin typeface="Bahnschrift SemiCondensed" panose="020B0502040204020203" pitchFamily="34" charset="0"/>
                <a:ea typeface="Open Sans" pitchFamily="34" charset="-122"/>
                <a:cs typeface="Open Sans" pitchFamily="34" charset="-120"/>
              </a:rPr>
              <a:t> nations, each deserving separate political rights.</a:t>
            </a:r>
            <a:endParaRPr lang="en-US" sz="2400" dirty="0">
              <a:latin typeface="Bahnschrift SemiCondensed" panose="020B0502040204020203" pitchFamily="34" charset="0"/>
            </a:endParaRPr>
          </a:p>
          <a:p>
            <a:pPr marL="0" indent="0" algn="l">
              <a:lnSpc>
                <a:spcPts val="1600"/>
              </a:lnSpc>
              <a:buNone/>
            </a:pPr>
            <a:endParaRPr lang="en-US" sz="1200" dirty="0"/>
          </a:p>
        </p:txBody>
      </p:sp>
      <p:sp>
        <p:nvSpPr>
          <p:cNvPr id="14" name="Text 11"/>
          <p:cNvSpPr/>
          <p:nvPr/>
        </p:nvSpPr>
        <p:spPr>
          <a:xfrm>
            <a:off x="719971" y="6092904"/>
            <a:ext cx="1936790" cy="242054"/>
          </a:xfrm>
          <a:prstGeom prst="rect">
            <a:avLst/>
          </a:prstGeom>
          <a:noFill/>
          <a:ln/>
        </p:spPr>
        <p:txBody>
          <a:bodyPr wrap="none" lIns="0" tIns="0" rIns="0" bIns="0" rtlCol="0" anchor="t"/>
          <a:lstStyle/>
          <a:p>
            <a:pPr marL="0" indent="0" algn="l">
              <a:lnSpc>
                <a:spcPts val="1900"/>
              </a:lnSpc>
              <a:buNone/>
            </a:pPr>
            <a:r>
              <a:rPr lang="en-US" sz="2800" b="1" dirty="0">
                <a:solidFill>
                  <a:srgbClr val="403C4E"/>
                </a:solidFill>
                <a:latin typeface="Bahnschrift SemiCondensed" panose="020B0502040204020203" pitchFamily="34" charset="0"/>
                <a:ea typeface="Merriweather Bold" pitchFamily="34" charset="-122"/>
                <a:cs typeface="Merriweather Bold" pitchFamily="34" charset="-120"/>
              </a:rPr>
              <a:t>Early Safeguards</a:t>
            </a:r>
            <a:endParaRPr lang="en-US" sz="2800" dirty="0">
              <a:latin typeface="Bahnschrift SemiCondensed" panose="020B0502040204020203" pitchFamily="34" charset="0"/>
            </a:endParaRPr>
          </a:p>
        </p:txBody>
      </p:sp>
      <p:sp>
        <p:nvSpPr>
          <p:cNvPr id="15" name="Text 12"/>
          <p:cNvSpPr/>
          <p:nvPr/>
        </p:nvSpPr>
        <p:spPr>
          <a:xfrm>
            <a:off x="719971" y="6620232"/>
            <a:ext cx="7704058" cy="745807"/>
          </a:xfrm>
          <a:prstGeom prst="rect">
            <a:avLst/>
          </a:prstGeom>
          <a:noFill/>
          <a:ln/>
        </p:spPr>
        <p:txBody>
          <a:bodyPr wrap="square" lIns="0" tIns="0" rIns="0" bIns="0" rtlCol="0" anchor="t"/>
          <a:lstStyle/>
          <a:p>
            <a:pPr marL="0" indent="0" algn="l">
              <a:lnSpc>
                <a:spcPts val="160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The Muslim League actively pursued political safeguards and separate electorates to protect Muslim interests.</a:t>
            </a:r>
            <a:endParaRPr lang="en-US" sz="2000" dirty="0">
              <a:latin typeface="Bahnschrift SemiCondensed" panose="020B0502040204020203" pitchFamily="34" charset="0"/>
            </a:endParaRPr>
          </a:p>
        </p:txBody>
      </p:sp>
      <p:pic>
        <p:nvPicPr>
          <p:cNvPr id="2052" name="Picture 4" descr="Lahore - ~: HAPPY PAKISTAN DAY :~ Photograph of Muslim ...">
            <a:extLst>
              <a:ext uri="{FF2B5EF4-FFF2-40B4-BE49-F238E27FC236}">
                <a16:creationId xmlns:a16="http://schemas.microsoft.com/office/drawing/2014/main" id="{D467DD55-E560-EE6C-B736-337421E5C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0650" y="476250"/>
            <a:ext cx="5619750" cy="6339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9441" y="345996"/>
            <a:ext cx="11893510" cy="924611"/>
          </a:xfrm>
          <a:prstGeom prst="rect">
            <a:avLst/>
          </a:prstGeom>
          <a:noFill/>
          <a:ln/>
        </p:spPr>
        <p:txBody>
          <a:bodyPr wrap="square" lIns="0" tIns="0" rIns="0" bIns="0" rtlCol="0" anchor="t"/>
          <a:lstStyle/>
          <a:p>
            <a:pPr marL="0" indent="0" algn="l">
              <a:lnSpc>
                <a:spcPts val="5550"/>
              </a:lnSpc>
              <a:buNone/>
            </a:pPr>
            <a:r>
              <a:rPr lang="en-US" sz="3600" b="1" dirty="0">
                <a:solidFill>
                  <a:schemeClr val="accent1"/>
                </a:solidFill>
                <a:latin typeface="Lucida Handwriting" panose="03010101010101010101" pitchFamily="66" charset="0"/>
                <a:ea typeface="Merriweather Bold" pitchFamily="34" charset="-122"/>
                <a:cs typeface="Merriweather Bold" pitchFamily="34" charset="-120"/>
              </a:rPr>
              <a:t>The Lahore Session, March 1940: Setting the Stage</a:t>
            </a:r>
          </a:p>
          <a:p>
            <a:pPr marL="0" indent="0" algn="l">
              <a:lnSpc>
                <a:spcPts val="5550"/>
              </a:lnSpc>
              <a:buNone/>
            </a:pPr>
            <a:endParaRPr lang="en-US" sz="3600" b="1" dirty="0">
              <a:solidFill>
                <a:schemeClr val="accent1"/>
              </a:solidFill>
              <a:latin typeface="Lucida Handwriting" panose="03010101010101010101" pitchFamily="66" charset="0"/>
            </a:endParaRPr>
          </a:p>
        </p:txBody>
      </p:sp>
      <p:sp>
        <p:nvSpPr>
          <p:cNvPr id="5" name="Text 2"/>
          <p:cNvSpPr/>
          <p:nvPr/>
        </p:nvSpPr>
        <p:spPr>
          <a:xfrm>
            <a:off x="279440" y="3190457"/>
            <a:ext cx="4158615" cy="1088708"/>
          </a:xfrm>
          <a:prstGeom prst="rect">
            <a:avLst/>
          </a:prstGeom>
          <a:noFill/>
          <a:ln/>
        </p:spPr>
        <p:txBody>
          <a:bodyPr wrap="square" lIns="0" tIns="0" rIns="0" bIns="0" rtlCol="0" anchor="t"/>
          <a:lstStyle/>
          <a:p>
            <a:pPr marL="0" indent="0" algn="l">
              <a:lnSpc>
                <a:spcPts val="2850"/>
              </a:lnSpc>
              <a:buNone/>
            </a:pPr>
            <a:r>
              <a:rPr lang="en-US" sz="1750">
                <a:solidFill>
                  <a:srgbClr val="403C4E"/>
                </a:solidFill>
                <a:latin typeface="Open Sans" pitchFamily="34" charset="0"/>
                <a:ea typeface="Open Sans" pitchFamily="34" charset="-122"/>
                <a:cs typeface="Open Sans" pitchFamily="34" charset="-120"/>
              </a:rPr>
              <a:t>.</a:t>
            </a:r>
            <a:endParaRPr lang="en-US" sz="1750" dirty="0"/>
          </a:p>
        </p:txBody>
      </p:sp>
      <p:sp>
        <p:nvSpPr>
          <p:cNvPr id="12" name="Rectangle 11">
            <a:extLst>
              <a:ext uri="{FF2B5EF4-FFF2-40B4-BE49-F238E27FC236}">
                <a16:creationId xmlns:a16="http://schemas.microsoft.com/office/drawing/2014/main" id="{18ED82C8-3896-F1C7-FB8B-B88F66704F17}"/>
              </a:ext>
            </a:extLst>
          </p:cNvPr>
          <p:cNvSpPr/>
          <p:nvPr/>
        </p:nvSpPr>
        <p:spPr>
          <a:xfrm>
            <a:off x="12513230" y="7797338"/>
            <a:ext cx="2117170" cy="2992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70954-ACB9-4225-BEC2-C877A9F82BB2}"/>
              </a:ext>
            </a:extLst>
          </p:cNvPr>
          <p:cNvSpPr/>
          <p:nvPr/>
        </p:nvSpPr>
        <p:spPr>
          <a:xfrm>
            <a:off x="12513230" y="7664335"/>
            <a:ext cx="2117169" cy="432261"/>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2704167-1EDB-E351-E93B-E3D5F0009682}"/>
              </a:ext>
            </a:extLst>
          </p:cNvPr>
          <p:cNvSpPr txBox="1"/>
          <p:nvPr/>
        </p:nvSpPr>
        <p:spPr>
          <a:xfrm>
            <a:off x="279440" y="2495550"/>
            <a:ext cx="8102560" cy="4724400"/>
          </a:xfrm>
          <a:prstGeom prst="rect">
            <a:avLst/>
          </a:prstGeom>
          <a:noFill/>
        </p:spPr>
        <p:txBody>
          <a:bodyPr wrap="square" rtlCol="0">
            <a:spAutoFit/>
          </a:bodyPr>
          <a:lstStyle/>
          <a:p>
            <a:endParaRPr lang="en-US" dirty="0"/>
          </a:p>
        </p:txBody>
      </p:sp>
      <p:sp>
        <p:nvSpPr>
          <p:cNvPr id="16" name="Rectangle 2">
            <a:extLst>
              <a:ext uri="{FF2B5EF4-FFF2-40B4-BE49-F238E27FC236}">
                <a16:creationId xmlns:a16="http://schemas.microsoft.com/office/drawing/2014/main" id="{45A7AF4C-4C81-DF80-5957-7635D46484F5}"/>
              </a:ext>
            </a:extLst>
          </p:cNvPr>
          <p:cNvSpPr>
            <a:spLocks noChangeArrowheads="1"/>
          </p:cNvSpPr>
          <p:nvPr/>
        </p:nvSpPr>
        <p:spPr bwMode="auto">
          <a:xfrm>
            <a:off x="520126" y="2047413"/>
            <a:ext cx="9220200" cy="5262979"/>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Bahnschrift SemiCondensed" panose="020B0502040204020203" pitchFamily="34" charset="0"/>
              </a:rPr>
              <a:t>The Historic Venue</a:t>
            </a:r>
            <a:r>
              <a:rPr kumimoji="0" lang="en-US" altLang="en-US" sz="2000" b="1" i="0" u="none" strike="noStrike" cap="none" normalizeH="0" baseline="0" dirty="0">
                <a:ln>
                  <a:noFill/>
                </a:ln>
                <a:effectLst/>
                <a:latin typeface="Bahnschrift SemiCondensed" panose="020B0502040204020203" pitchFamily="34" charset="0"/>
              </a:rPr>
              <a:t>: Minto Park, Lahore</a:t>
            </a:r>
            <a:r>
              <a:rPr kumimoji="0" lang="en-US" altLang="en-US" sz="2000" b="0" i="0" u="none" strike="noStrike" cap="none" normalizeH="0" baseline="0" dirty="0">
                <a:ln>
                  <a:noFill/>
                </a:ln>
                <a:effectLst/>
                <a:latin typeface="Bahnschrift SemiCondensed" panose="020B0502040204020203" pitchFamily="34" charset="0"/>
              </a:rPr>
              <a:t> In March 1940, </a:t>
            </a:r>
            <a:r>
              <a:rPr kumimoji="0" lang="en-US" altLang="en-US" sz="2000" b="1" i="0" u="none" strike="noStrike" cap="none" normalizeH="0" baseline="0" dirty="0">
                <a:ln>
                  <a:noFill/>
                </a:ln>
                <a:effectLst/>
                <a:latin typeface="Bahnschrift SemiCondensed" panose="020B0502040204020203" pitchFamily="34" charset="0"/>
              </a:rPr>
              <a:t>Minto Park</a:t>
            </a:r>
            <a:r>
              <a:rPr kumimoji="0" lang="en-US" altLang="en-US" sz="2000" b="0" i="0" u="none" strike="noStrike" cap="none" normalizeH="0" baseline="0" dirty="0">
                <a:ln>
                  <a:noFill/>
                </a:ln>
                <a:effectLst/>
                <a:latin typeface="Bahnschrift SemiCondensed" panose="020B0502040204020203" pitchFamily="34" charset="0"/>
              </a:rPr>
              <a:t> (now Greater Iqbal Park) became the center of the political world. Choosing Lahore—the heart of the Muslim-majority Punjab—was a strategic move. The venue hosted a massive gathering of thousands from across the subcontinent, turning a political meeting into a powerful national movement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effectLst/>
              <a:latin typeface="Bahnschrift Semi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Bahnschrift SemiCondensed" panose="020B0502040204020203" pitchFamily="34" charset="0"/>
              </a:rPr>
              <a:t>Jinnah’s Leadership</a:t>
            </a:r>
            <a:r>
              <a:rPr kumimoji="0" lang="en-US" altLang="en-US" sz="2000" b="1" i="0" u="none" strike="noStrike" cap="none" normalizeH="0" baseline="0" dirty="0">
                <a:ln>
                  <a:noFill/>
                </a:ln>
                <a:effectLst/>
                <a:latin typeface="Bahnschrift SemiCondensed" panose="020B0502040204020203" pitchFamily="34" charset="0"/>
              </a:rPr>
              <a:t>: The Visionary Architect</a:t>
            </a:r>
            <a:r>
              <a:rPr kumimoji="0" lang="en-US" altLang="en-US" sz="2000" b="0" i="0" u="none" strike="noStrike" cap="none" normalizeH="0" baseline="0" dirty="0">
                <a:ln>
                  <a:noFill/>
                </a:ln>
                <a:effectLst/>
                <a:latin typeface="Bahnschrift SemiCondensed" panose="020B0502040204020203" pitchFamily="34" charset="0"/>
              </a:rPr>
              <a:t> </a:t>
            </a:r>
            <a:r>
              <a:rPr kumimoji="0" lang="en-US" altLang="en-US" sz="2000" b="1" i="0" u="none" strike="noStrike" cap="none" normalizeH="0" baseline="0" dirty="0">
                <a:ln>
                  <a:noFill/>
                </a:ln>
                <a:effectLst/>
                <a:latin typeface="Bahnschrift SemiCondensed" panose="020B0502040204020203" pitchFamily="34" charset="0"/>
              </a:rPr>
              <a:t>Muhammad Ali Jinnah</a:t>
            </a:r>
            <a:r>
              <a:rPr kumimoji="0" lang="en-US" altLang="en-US" sz="2000" b="0" i="0" u="none" strike="noStrike" cap="none" normalizeH="0" baseline="0" dirty="0">
                <a:ln>
                  <a:noFill/>
                </a:ln>
                <a:effectLst/>
                <a:latin typeface="Bahnschrift SemiCondensed" panose="020B0502040204020203" pitchFamily="34" charset="0"/>
              </a:rPr>
              <a:t> presided over the session with a clear and firm vision. In his historic presidential address, he gave a logical foundation to the </a:t>
            </a:r>
            <a:r>
              <a:rPr kumimoji="0" lang="en-US" altLang="en-US" sz="2000" b="1" i="0" u="none" strike="noStrike" cap="none" normalizeH="0" baseline="0" dirty="0">
                <a:ln>
                  <a:noFill/>
                </a:ln>
                <a:effectLst/>
                <a:latin typeface="Bahnschrift SemiCondensed" panose="020B0502040204020203" pitchFamily="34" charset="0"/>
              </a:rPr>
              <a:t>Two-Nation Theory</a:t>
            </a:r>
            <a:r>
              <a:rPr kumimoji="0" lang="en-US" altLang="en-US" sz="2000" b="0" i="0" u="none" strike="noStrike" cap="none" normalizeH="0" baseline="0" dirty="0">
                <a:ln>
                  <a:noFill/>
                </a:ln>
                <a:effectLst/>
                <a:latin typeface="Bahnschrift SemiCondensed" panose="020B0502040204020203" pitchFamily="34" charset="0"/>
              </a:rPr>
              <a:t>, arguing that Muslims were a distinct nation entitled to their own homeland. His leadership provided the unity and direction the Muslim League needed to demand sovereignty.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Bahnschrift SemiCondensed"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Bahnschrift SemiCondensed" panose="020B0502040204020203" pitchFamily="34" charset="0"/>
              </a:rPr>
              <a:t>The Resolution Mover  </a:t>
            </a:r>
            <a:r>
              <a:rPr kumimoji="0" lang="en-US" altLang="en-US" sz="2000" b="1" i="0" u="none" strike="noStrike" cap="none" normalizeH="0" baseline="0" dirty="0">
                <a:ln>
                  <a:noFill/>
                </a:ln>
                <a:effectLst/>
                <a:latin typeface="Bahnschrift SemiCondensed" panose="020B0502040204020203" pitchFamily="34" charset="0"/>
              </a:rPr>
              <a:t>:AK. Fazlul Huq</a:t>
            </a:r>
            <a:r>
              <a:rPr kumimoji="0" lang="en-US" altLang="en-US" sz="2000" b="0" i="0" u="none" strike="noStrike" cap="none" normalizeH="0" baseline="0" dirty="0">
                <a:ln>
                  <a:noFill/>
                </a:ln>
                <a:effectLst/>
                <a:latin typeface="Bahnschrift SemiCondensed" panose="020B0502040204020203" pitchFamily="34" charset="0"/>
              </a:rPr>
              <a:t> The resolution was formally moved by </a:t>
            </a:r>
            <a:r>
              <a:rPr kumimoji="0" lang="en-US" altLang="en-US" sz="2000" b="1" i="0" u="none" strike="noStrike" cap="none" normalizeH="0" baseline="0" dirty="0">
                <a:ln>
                  <a:noFill/>
                </a:ln>
                <a:effectLst/>
                <a:latin typeface="Bahnschrift SemiCondensed" panose="020B0502040204020203" pitchFamily="34" charset="0"/>
              </a:rPr>
              <a:t>A.K. Fazlul Huq</a:t>
            </a:r>
            <a:r>
              <a:rPr kumimoji="0" lang="en-US" altLang="en-US" sz="2000" b="0" i="0" u="none" strike="noStrike" cap="none" normalizeH="0" baseline="0" dirty="0">
                <a:ln>
                  <a:noFill/>
                </a:ln>
                <a:effectLst/>
                <a:latin typeface="Bahnschrift SemiCondensed" panose="020B0502040204020203" pitchFamily="34" charset="0"/>
              </a:rPr>
              <a:t>, the Chief Minister of Bengal, famously known as </a:t>
            </a:r>
            <a:r>
              <a:rPr kumimoji="0" lang="en-US" altLang="en-US" sz="2000" b="1" i="0" u="none" strike="noStrike" cap="none" normalizeH="0" baseline="0" dirty="0">
                <a:ln>
                  <a:noFill/>
                </a:ln>
                <a:effectLst/>
                <a:latin typeface="Bahnschrift SemiCondensed" panose="020B0502040204020203" pitchFamily="34" charset="0"/>
              </a:rPr>
              <a:t>"Sher-e-Bengal"</a:t>
            </a:r>
            <a:r>
              <a:rPr kumimoji="0" lang="en-US" altLang="en-US" sz="2000" b="0" i="0" u="none" strike="noStrike" cap="none" normalizeH="0" baseline="0" dirty="0">
                <a:ln>
                  <a:noFill/>
                </a:ln>
                <a:effectLst/>
                <a:latin typeface="Bahnschrift SemiCondensed" panose="020B0502040204020203" pitchFamily="34" charset="0"/>
              </a:rPr>
              <a:t> (The Lion of Bengal). His participation was crucial as it proved that Muslims from both the East (Bengal) and the West of India were united in the demand for a separate state.</a:t>
            </a:r>
          </a:p>
        </p:txBody>
      </p:sp>
      <p:pic>
        <p:nvPicPr>
          <p:cNvPr id="3076" name="Picture 4" descr="Before January 26 became Republic Day ...">
            <a:extLst>
              <a:ext uri="{FF2B5EF4-FFF2-40B4-BE49-F238E27FC236}">
                <a16:creationId xmlns:a16="http://schemas.microsoft.com/office/drawing/2014/main" id="{06E960AB-A8AB-8096-187F-B8E3C83D6E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6341" y="1752600"/>
            <a:ext cx="4864058" cy="54673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3395186" y="76556"/>
            <a:ext cx="7840028" cy="1164431"/>
          </a:xfrm>
          <a:prstGeom prst="rect">
            <a:avLst/>
          </a:prstGeom>
          <a:noFill/>
          <a:ln/>
        </p:spPr>
        <p:txBody>
          <a:bodyPr wrap="square" lIns="0" tIns="0" rIns="0" bIns="0" rtlCol="0" anchor="t"/>
          <a:lstStyle/>
          <a:p>
            <a:pPr marL="0" indent="0" algn="l">
              <a:lnSpc>
                <a:spcPts val="4550"/>
              </a:lnSpc>
              <a:buNone/>
            </a:pPr>
            <a:r>
              <a:rPr lang="en-US" sz="3650" b="1" dirty="0">
                <a:solidFill>
                  <a:schemeClr val="accent1"/>
                </a:solidFill>
                <a:latin typeface="Lucida Handwriting" panose="03010101010101010101" pitchFamily="66" charset="0"/>
                <a:ea typeface="Merriweather Bold" pitchFamily="34" charset="-122"/>
                <a:cs typeface="Merriweather Bold" pitchFamily="34" charset="-120"/>
              </a:rPr>
              <a:t>The Pakistan Resolution: Key Demands and Provisions</a:t>
            </a:r>
            <a:endParaRPr lang="en-US" sz="3650" dirty="0">
              <a:solidFill>
                <a:schemeClr val="accent1"/>
              </a:solidFill>
              <a:latin typeface="Lucida Handwriting" panose="03010101010101010101" pitchFamily="66" charset="0"/>
            </a:endParaRPr>
          </a:p>
        </p:txBody>
      </p:sp>
      <p:sp>
        <p:nvSpPr>
          <p:cNvPr id="8" name="Text 5"/>
          <p:cNvSpPr/>
          <p:nvPr/>
        </p:nvSpPr>
        <p:spPr>
          <a:xfrm>
            <a:off x="6371273" y="4001810"/>
            <a:ext cx="279321" cy="349210"/>
          </a:xfrm>
          <a:prstGeom prst="rect">
            <a:avLst/>
          </a:prstGeom>
          <a:noFill/>
          <a:ln/>
        </p:spPr>
        <p:txBody>
          <a:bodyPr wrap="none" lIns="0" tIns="0" rIns="0" bIns="0" rtlCol="0" anchor="t"/>
          <a:lstStyle/>
          <a:p>
            <a:pPr marL="0" indent="0" algn="l">
              <a:lnSpc>
                <a:spcPts val="2200"/>
              </a:lnSpc>
              <a:buNone/>
            </a:pPr>
            <a:endParaRPr lang="en-US" sz="2200" dirty="0"/>
          </a:p>
        </p:txBody>
      </p:sp>
      <p:sp>
        <p:nvSpPr>
          <p:cNvPr id="16" name="Rectangle 15">
            <a:extLst>
              <a:ext uri="{FF2B5EF4-FFF2-40B4-BE49-F238E27FC236}">
                <a16:creationId xmlns:a16="http://schemas.microsoft.com/office/drawing/2014/main" id="{572A2D19-3A91-0E24-F3D6-98BD83074F41}"/>
              </a:ext>
            </a:extLst>
          </p:cNvPr>
          <p:cNvSpPr/>
          <p:nvPr/>
        </p:nvSpPr>
        <p:spPr>
          <a:xfrm>
            <a:off x="12701846" y="7797338"/>
            <a:ext cx="1928553" cy="2992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D7433EF-47BC-450C-0D8C-6C3A6406CF56}"/>
              </a:ext>
            </a:extLst>
          </p:cNvPr>
          <p:cNvSpPr/>
          <p:nvPr/>
        </p:nvSpPr>
        <p:spPr>
          <a:xfrm>
            <a:off x="12701845" y="7715466"/>
            <a:ext cx="1928553" cy="432261"/>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Resolutions and realities: between 1940 and 2024 - DAWN.COM">
            <a:extLst>
              <a:ext uri="{FF2B5EF4-FFF2-40B4-BE49-F238E27FC236}">
                <a16:creationId xmlns:a16="http://schemas.microsoft.com/office/drawing/2014/main" id="{2F834DC2-FF4C-4DE9-0ED4-D116B9FDC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52" y="1240987"/>
            <a:ext cx="5600700" cy="62170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49F83C5-F857-A3F7-4E10-C968C604BEDF}"/>
              </a:ext>
            </a:extLst>
          </p:cNvPr>
          <p:cNvSpPr txBox="1"/>
          <p:nvPr/>
        </p:nvSpPr>
        <p:spPr>
          <a:xfrm>
            <a:off x="5434966" y="1428198"/>
            <a:ext cx="7419975" cy="62170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a:latin typeface="Bahnschrift SemiCondensed" panose="020B0502040204020203" pitchFamily="34" charset="0"/>
              </a:rPr>
              <a:t>Separate Homeland/States</a:t>
            </a:r>
            <a:r>
              <a:rPr lang="en-US" sz="2000" b="1" dirty="0">
                <a:latin typeface="Bahnschrift SemiCondensed" panose="020B0502040204020203" pitchFamily="34" charset="0"/>
              </a:rPr>
              <a:t>:</a:t>
            </a:r>
            <a:r>
              <a:rPr lang="en-US" sz="2000" dirty="0">
                <a:latin typeface="Bahnschrift SemiCondensed" panose="020B0502040204020203" pitchFamily="34" charset="0"/>
              </a:rPr>
              <a:t> The primary demand was that Muslim-majority regions in the Northwest (Punjab, NWFP, Sindh, Baluchistan) and the Northeast (Bengal, Assam) of India be grouped together to form independent, sovereign, and autonomous states.</a:t>
            </a:r>
          </a:p>
          <a:p>
            <a:r>
              <a:rPr lang="en-US" sz="2400" b="1" dirty="0">
                <a:latin typeface="Bahnschrift SemiCondensed" panose="020B0502040204020203" pitchFamily="34" charset="0"/>
              </a:rPr>
              <a:t>Two-Nation Theory</a:t>
            </a:r>
            <a:r>
              <a:rPr lang="en-US" sz="2000" b="1" dirty="0">
                <a:latin typeface="Bahnschrift SemiCondensed" panose="020B0502040204020203" pitchFamily="34" charset="0"/>
              </a:rPr>
              <a:t>:</a:t>
            </a:r>
            <a:r>
              <a:rPr lang="en-US" sz="2000" dirty="0">
                <a:latin typeface="Bahnschrift SemiCondensed" panose="020B0502040204020203" pitchFamily="34" charset="0"/>
              </a:rPr>
              <a:t> The resolution formally solidified the stance that Hindus and Muslims were two separate nations, not just two religious communities, and that their coexistence in a single Indian state was untenable.</a:t>
            </a:r>
          </a:p>
          <a:p>
            <a:r>
              <a:rPr lang="en-US" sz="2400" b="1" dirty="0">
                <a:latin typeface="Bahnschrift SemiCondensed" panose="020B0502040204020203" pitchFamily="34" charset="0"/>
              </a:rPr>
              <a:t>Rejection of United India</a:t>
            </a:r>
            <a:r>
              <a:rPr lang="en-US" sz="2000" b="1" dirty="0">
                <a:latin typeface="Bahnschrift SemiCondensed" panose="020B0502040204020203" pitchFamily="34" charset="0"/>
              </a:rPr>
              <a:t>:</a:t>
            </a:r>
            <a:r>
              <a:rPr lang="en-US" sz="2000" dirty="0">
                <a:latin typeface="Bahnschrift SemiCondensed" panose="020B0502040204020203" pitchFamily="34" charset="0"/>
              </a:rPr>
              <a:t> The resolution strongly rejected the federal system outlined in the Government of India Act 1935, opposing the idea of a single united government for the entire subcontinent.</a:t>
            </a:r>
          </a:p>
          <a:p>
            <a:r>
              <a:rPr lang="en-US" sz="2400" b="1" dirty="0">
                <a:latin typeface="Bahnschrift SemiCondensed" panose="020B0502040204020203" pitchFamily="34" charset="0"/>
              </a:rPr>
              <a:t>Protection for Minorities</a:t>
            </a:r>
            <a:r>
              <a:rPr lang="en-US" sz="2000" b="1" dirty="0">
                <a:latin typeface="Bahnschrift SemiCondensed" panose="020B0502040204020203" pitchFamily="34" charset="0"/>
              </a:rPr>
              <a:t>:</a:t>
            </a:r>
            <a:r>
              <a:rPr lang="en-US" sz="2000" dirty="0">
                <a:latin typeface="Bahnschrift SemiCondensed" panose="020B0502040204020203" pitchFamily="34" charset="0"/>
              </a:rPr>
              <a:t> The resolution required that in the new states, constitutionally binding provisions be made for the protection of religious, cultural, and political rights of minorities, and reciprocal arrangements for Muslims in minority areas of India.</a:t>
            </a:r>
          </a:p>
          <a:p>
            <a:r>
              <a:rPr lang="en-US" sz="2400" b="1" dirty="0">
                <a:latin typeface="Bahnschrift SemiCondensed" panose="020B0502040204020203" pitchFamily="34" charset="0"/>
              </a:rPr>
              <a:t>Constitutional Approval</a:t>
            </a:r>
            <a:r>
              <a:rPr lang="en-US" sz="2000" b="1" dirty="0">
                <a:latin typeface="Bahnschrift SemiCondensed" panose="020B0502040204020203" pitchFamily="34" charset="0"/>
              </a:rPr>
              <a:t>:</a:t>
            </a:r>
            <a:r>
              <a:rPr lang="en-US" sz="2000" dirty="0">
                <a:latin typeface="Bahnschrift SemiCondensed" panose="020B0502040204020203" pitchFamily="34" charset="0"/>
              </a:rPr>
              <a:t> The Muslim League stated that no constitutional plan would be accepted by the Muslims unless it was based on these principles of geographic separation and autonomy.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3303" y="338668"/>
            <a:ext cx="8169831" cy="515183"/>
          </a:xfrm>
          <a:prstGeom prst="rect">
            <a:avLst/>
          </a:prstGeom>
          <a:noFill/>
          <a:ln/>
        </p:spPr>
        <p:txBody>
          <a:bodyPr wrap="none" lIns="0" tIns="0" rIns="0" bIns="0" rtlCol="0" anchor="t"/>
          <a:lstStyle/>
          <a:p>
            <a:pPr marL="0" indent="0" algn="l">
              <a:lnSpc>
                <a:spcPts val="4050"/>
              </a:lnSpc>
              <a:buNone/>
            </a:pPr>
            <a:r>
              <a:rPr lang="en-US" sz="3600" b="1" dirty="0">
                <a:solidFill>
                  <a:schemeClr val="accent1"/>
                </a:solidFill>
                <a:latin typeface="Lucida Handwriting" panose="03010101010101010101" pitchFamily="66" charset="0"/>
                <a:ea typeface="Merriweather Bold" pitchFamily="34" charset="-122"/>
                <a:cs typeface="Merriweather Bold" pitchFamily="34" charset="-120"/>
              </a:rPr>
              <a:t>Principal Leaders Behind the Resolution </a:t>
            </a:r>
            <a:endParaRPr lang="en-US" sz="3600" dirty="0">
              <a:solidFill>
                <a:schemeClr val="accent1"/>
              </a:solidFill>
              <a:latin typeface="Lucida Handwriting" panose="03010101010101010101" pitchFamily="66" charset="0"/>
            </a:endParaRPr>
          </a:p>
        </p:txBody>
      </p:sp>
      <p:sp>
        <p:nvSpPr>
          <p:cNvPr id="4" name="Text 1"/>
          <p:cNvSpPr/>
          <p:nvPr/>
        </p:nvSpPr>
        <p:spPr>
          <a:xfrm>
            <a:off x="162639" y="3290194"/>
            <a:ext cx="2660452" cy="209550"/>
          </a:xfrm>
          <a:prstGeom prst="rect">
            <a:avLst/>
          </a:prstGeom>
          <a:noFill/>
          <a:ln/>
        </p:spPr>
        <p:txBody>
          <a:bodyPr wrap="none" lIns="0" tIns="0" rIns="0" bIns="0" rtlCol="0" anchor="t"/>
          <a:lstStyle/>
          <a:p>
            <a:pPr marL="0" indent="0" algn="l">
              <a:lnSpc>
                <a:spcPts val="2000"/>
              </a:lnSpc>
              <a:buNone/>
            </a:pPr>
            <a:r>
              <a:rPr lang="en-US" sz="2400" b="1" dirty="0">
                <a:solidFill>
                  <a:schemeClr val="accent1"/>
                </a:solidFill>
                <a:latin typeface="Bahnschrift SemiCondensed" panose="020B0502040204020203" pitchFamily="34" charset="0"/>
                <a:ea typeface="Merriweather Bold" pitchFamily="34" charset="-122"/>
                <a:cs typeface="Merriweather Bold" pitchFamily="34" charset="-120"/>
              </a:rPr>
              <a:t>Muhammad Ali Jinnah</a:t>
            </a:r>
            <a:endParaRPr lang="en-US" sz="2400" dirty="0">
              <a:solidFill>
                <a:schemeClr val="accent1"/>
              </a:solidFill>
              <a:latin typeface="Bahnschrift SemiCondensed" panose="020B0502040204020203" pitchFamily="34" charset="0"/>
            </a:endParaRPr>
          </a:p>
        </p:txBody>
      </p:sp>
      <p:sp>
        <p:nvSpPr>
          <p:cNvPr id="5" name="Text 2"/>
          <p:cNvSpPr/>
          <p:nvPr/>
        </p:nvSpPr>
        <p:spPr>
          <a:xfrm>
            <a:off x="2578417" y="1653095"/>
            <a:ext cx="2812734" cy="988220"/>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nchor="t"/>
          <a:lstStyle/>
          <a:p>
            <a:pPr marL="0" indent="0" algn="l">
              <a:lnSpc>
                <a:spcPts val="1750"/>
              </a:lnSpc>
              <a:buNone/>
            </a:pPr>
            <a:r>
              <a:rPr lang="en-US" sz="2000" dirty="0">
                <a:latin typeface="Bahnschrift SemiCondensed" panose="020B0502040204020203" pitchFamily="34" charset="0"/>
                <a:ea typeface="Open Sans" pitchFamily="34" charset="-122"/>
                <a:cs typeface="Open Sans" pitchFamily="34" charset="-120"/>
              </a:rPr>
              <a:t>Architect of Muslim political unity and the revered leader of the Pakistan Movement.</a:t>
            </a:r>
            <a:endParaRPr lang="en-US" sz="2000" dirty="0">
              <a:latin typeface="Bahnschrift SemiCondensed" panose="020B0502040204020203" pitchFamily="34" charset="0"/>
            </a:endParaRPr>
          </a:p>
        </p:txBody>
      </p:sp>
      <p:sp>
        <p:nvSpPr>
          <p:cNvPr id="18" name="Rectangle 17">
            <a:extLst>
              <a:ext uri="{FF2B5EF4-FFF2-40B4-BE49-F238E27FC236}">
                <a16:creationId xmlns:a16="http://schemas.microsoft.com/office/drawing/2014/main" id="{288DB7D3-3351-C5CE-2EC7-B0E0DD6B48B1}"/>
              </a:ext>
            </a:extLst>
          </p:cNvPr>
          <p:cNvSpPr/>
          <p:nvPr/>
        </p:nvSpPr>
        <p:spPr>
          <a:xfrm>
            <a:off x="12701846" y="7697585"/>
            <a:ext cx="1928553" cy="4156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87A4842-831F-3952-27EB-6F8DD8509251}"/>
              </a:ext>
            </a:extLst>
          </p:cNvPr>
          <p:cNvSpPr/>
          <p:nvPr/>
        </p:nvSpPr>
        <p:spPr>
          <a:xfrm>
            <a:off x="12670068" y="7697585"/>
            <a:ext cx="1960332" cy="432261"/>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utoShape 2" descr="Image of Father of Nation – High Commission for Islamic Republic of ...">
            <a:extLst>
              <a:ext uri="{FF2B5EF4-FFF2-40B4-BE49-F238E27FC236}">
                <a16:creationId xmlns:a16="http://schemas.microsoft.com/office/drawing/2014/main" id="{E0CD39B6-9C86-7EF2-0480-984AA1D122CA}"/>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32" name="Picture 12" descr="Father of Nation – High Commission for Islamic Republic of ...">
            <a:extLst>
              <a:ext uri="{FF2B5EF4-FFF2-40B4-BE49-F238E27FC236}">
                <a16:creationId xmlns:a16="http://schemas.microsoft.com/office/drawing/2014/main" id="{2F40FF72-09B4-641E-2E69-A082DB9C5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943" y="1198483"/>
            <a:ext cx="2219920" cy="1855827"/>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A. K. Fazlul Huq - Wikipedia">
            <a:extLst>
              <a:ext uri="{FF2B5EF4-FFF2-40B4-BE49-F238E27FC236}">
                <a16:creationId xmlns:a16="http://schemas.microsoft.com/office/drawing/2014/main" id="{6DB13AF6-4CD4-8164-FFE1-6187FE4292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4115" y="1198483"/>
            <a:ext cx="2419946" cy="185582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E4C352B5-47A1-B9F0-57DE-E17F94B02E8B}"/>
              </a:ext>
            </a:extLst>
          </p:cNvPr>
          <p:cNvSpPr txBox="1"/>
          <p:nvPr/>
        </p:nvSpPr>
        <p:spPr>
          <a:xfrm>
            <a:off x="8204061" y="1280099"/>
            <a:ext cx="4248746" cy="163121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i="0" dirty="0">
                <a:effectLst/>
                <a:latin typeface="Bahnschrift SemiCondensed" panose="020B0502040204020203" pitchFamily="34" charset="0"/>
              </a:rPr>
              <a:t>As the Chief Minister of undivided Bengal, he officially presented the historical Lahore Resolution on March 23, 1940, bringing crucial support from the eastern province</a:t>
            </a:r>
            <a:endParaRPr lang="en-US" sz="2000" dirty="0">
              <a:latin typeface="Bahnschrift SemiCondensed" panose="020B0502040204020203" pitchFamily="34" charset="0"/>
            </a:endParaRPr>
          </a:p>
        </p:txBody>
      </p:sp>
      <p:sp>
        <p:nvSpPr>
          <p:cNvPr id="28" name="TextBox 27">
            <a:extLst>
              <a:ext uri="{FF2B5EF4-FFF2-40B4-BE49-F238E27FC236}">
                <a16:creationId xmlns:a16="http://schemas.microsoft.com/office/drawing/2014/main" id="{98EF4843-CD52-D1F8-DF76-A14781FD274B}"/>
              </a:ext>
            </a:extLst>
          </p:cNvPr>
          <p:cNvSpPr txBox="1"/>
          <p:nvPr/>
        </p:nvSpPr>
        <p:spPr>
          <a:xfrm>
            <a:off x="5953125" y="3164137"/>
            <a:ext cx="2419350" cy="461665"/>
          </a:xfrm>
          <a:prstGeom prst="rect">
            <a:avLst/>
          </a:prstGeom>
          <a:noFill/>
        </p:spPr>
        <p:txBody>
          <a:bodyPr wrap="square" rtlCol="0">
            <a:spAutoFit/>
          </a:bodyPr>
          <a:lstStyle/>
          <a:p>
            <a:r>
              <a:rPr lang="en-US" sz="2400" b="1" dirty="0">
                <a:solidFill>
                  <a:schemeClr val="accent1"/>
                </a:solidFill>
                <a:latin typeface="Bahnschrift SemiCondensed" panose="020B0502040204020203" pitchFamily="34" charset="0"/>
              </a:rPr>
              <a:t>AK Fazlul Haq</a:t>
            </a:r>
          </a:p>
        </p:txBody>
      </p:sp>
      <p:pic>
        <p:nvPicPr>
          <p:cNvPr id="5136" name="Picture 16" descr="Quaid-Iqbal association made separate ...">
            <a:extLst>
              <a:ext uri="{FF2B5EF4-FFF2-40B4-BE49-F238E27FC236}">
                <a16:creationId xmlns:a16="http://schemas.microsoft.com/office/drawing/2014/main" id="{A3F88C45-40F2-1757-86FD-018B2266C8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639" y="4148623"/>
            <a:ext cx="2320527" cy="1600200"/>
          </a:xfrm>
          <a:prstGeom prst="rect">
            <a:avLst/>
          </a:prstGeom>
          <a:noFill/>
          <a:extLst>
            <a:ext uri="{909E8E84-426E-40DD-AFC4-6F175D3DCCD1}">
              <a14:hiddenFill xmlns:a14="http://schemas.microsoft.com/office/drawing/2010/main">
                <a:solidFill>
                  <a:srgbClr val="FFFFFF"/>
                </a:solidFill>
              </a14:hiddenFill>
            </a:ext>
          </a:extLst>
        </p:spPr>
      </p:pic>
      <p:sp>
        <p:nvSpPr>
          <p:cNvPr id="5121" name="TextBox 5120">
            <a:extLst>
              <a:ext uri="{FF2B5EF4-FFF2-40B4-BE49-F238E27FC236}">
                <a16:creationId xmlns:a16="http://schemas.microsoft.com/office/drawing/2014/main" id="{2ABF8592-FECE-A2D0-A501-832D1B06C524}"/>
              </a:ext>
            </a:extLst>
          </p:cNvPr>
          <p:cNvSpPr txBox="1"/>
          <p:nvPr/>
        </p:nvSpPr>
        <p:spPr>
          <a:xfrm>
            <a:off x="2578328" y="3925992"/>
            <a:ext cx="5625645"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i="0" dirty="0">
                <a:effectLst/>
                <a:latin typeface="Bahnschrift SemiCondensed" panose="020B0502040204020203" pitchFamily="34" charset="0"/>
              </a:rPr>
              <a:t>the ideological, intellectual, and spiritual architect of the 1940 Pakistan Resolution. Through his 1930 Allahabad Address, he provided the foundational vision of a separate, sovereign Muslim state in India, transforming Muslim identity from a minority to a distinct nationhood that motivated the demand for Pakistan.</a:t>
            </a:r>
            <a:endParaRPr lang="en-US" sz="2000" dirty="0">
              <a:latin typeface="Bahnschrift SemiCondensed" panose="020B0502040204020203" pitchFamily="34" charset="0"/>
            </a:endParaRPr>
          </a:p>
        </p:txBody>
      </p:sp>
      <p:sp>
        <p:nvSpPr>
          <p:cNvPr id="5122" name="TextBox 5121">
            <a:extLst>
              <a:ext uri="{FF2B5EF4-FFF2-40B4-BE49-F238E27FC236}">
                <a16:creationId xmlns:a16="http://schemas.microsoft.com/office/drawing/2014/main" id="{21EDA522-0144-3909-5C20-8DCA08D264FC}"/>
              </a:ext>
            </a:extLst>
          </p:cNvPr>
          <p:cNvSpPr txBox="1"/>
          <p:nvPr/>
        </p:nvSpPr>
        <p:spPr>
          <a:xfrm>
            <a:off x="325545" y="5861140"/>
            <a:ext cx="1994713" cy="461665"/>
          </a:xfrm>
          <a:prstGeom prst="rect">
            <a:avLst/>
          </a:prstGeom>
          <a:noFill/>
        </p:spPr>
        <p:txBody>
          <a:bodyPr wrap="square" rtlCol="0">
            <a:spAutoFit/>
          </a:bodyPr>
          <a:lstStyle/>
          <a:p>
            <a:r>
              <a:rPr lang="en-US" sz="2400" dirty="0">
                <a:solidFill>
                  <a:schemeClr val="accent1"/>
                </a:solidFill>
                <a:latin typeface="Bahnschrift SemiCondensed" panose="020B0502040204020203" pitchFamily="34" charset="0"/>
              </a:rPr>
              <a:t>Allama Iqbal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uslim League politician who fought for ...">
            <a:extLst>
              <a:ext uri="{FF2B5EF4-FFF2-40B4-BE49-F238E27FC236}">
                <a16:creationId xmlns:a16="http://schemas.microsoft.com/office/drawing/2014/main" id="{334FF314-45A3-6E85-38EF-D7FCA7765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95275"/>
            <a:ext cx="2333625" cy="1962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253E9D4-60C0-0542-930E-CBE641B8AE1A}"/>
              </a:ext>
            </a:extLst>
          </p:cNvPr>
          <p:cNvSpPr txBox="1"/>
          <p:nvPr/>
        </p:nvSpPr>
        <p:spPr>
          <a:xfrm>
            <a:off x="2955131" y="295275"/>
            <a:ext cx="8720137" cy="169277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b="1" dirty="0">
                <a:solidFill>
                  <a:schemeClr val="accent1"/>
                </a:solidFill>
                <a:latin typeface="Bahnschrift SemiCondensed" panose="020B0502040204020203" pitchFamily="34" charset="0"/>
              </a:rPr>
              <a:t>Chaudhry Khaliquzzaman (The Seconder)</a:t>
            </a:r>
          </a:p>
          <a:p>
            <a:r>
              <a:rPr lang="en-US" sz="2000" dirty="0">
                <a:latin typeface="Bahnschrift SemiCondensed" panose="020B0502040204020203" pitchFamily="34" charset="0"/>
              </a:rPr>
              <a:t>A prominent leader from the United Provinces (UP), he </a:t>
            </a:r>
            <a:r>
              <a:rPr lang="en-US" sz="2000" b="1" dirty="0">
                <a:latin typeface="Bahnschrift SemiCondensed" panose="020B0502040204020203" pitchFamily="34" charset="0"/>
              </a:rPr>
              <a:t>seconded</a:t>
            </a:r>
            <a:r>
              <a:rPr lang="en-US" sz="2000" dirty="0">
                <a:latin typeface="Bahnschrift SemiCondensed" panose="020B0502040204020203" pitchFamily="34" charset="0"/>
              </a:rPr>
              <a:t> the resolution. Since he represented a Muslim-minority province, his support was a powerful statement; it showed that even Muslims living in areas that would not become part of Pakistan were willing to sacrifice for the creation of a sovereign Muslim state</a:t>
            </a:r>
            <a:r>
              <a:rPr lang="en-US" dirty="0"/>
              <a:t>.</a:t>
            </a:r>
          </a:p>
        </p:txBody>
      </p:sp>
      <p:sp>
        <p:nvSpPr>
          <p:cNvPr id="3" name="Rectangle 3">
            <a:extLst>
              <a:ext uri="{FF2B5EF4-FFF2-40B4-BE49-F238E27FC236}">
                <a16:creationId xmlns:a16="http://schemas.microsoft.com/office/drawing/2014/main" id="{53BC87C0-1F69-807C-BB7E-52D027E14CFE}"/>
              </a:ext>
            </a:extLst>
          </p:cNvPr>
          <p:cNvSpPr>
            <a:spLocks noChangeArrowheads="1"/>
          </p:cNvSpPr>
          <p:nvPr/>
        </p:nvSpPr>
        <p:spPr bwMode="auto">
          <a:xfrm>
            <a:off x="3405187" y="2944834"/>
            <a:ext cx="5905501" cy="1200329"/>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accent1"/>
                </a:solidFill>
                <a:effectLst/>
                <a:latin typeface="Bahnschrift SemiCondensed" panose="020B0502040204020203" pitchFamily="34" charset="0"/>
              </a:rPr>
              <a:t>Sir Abdulllah Haroon</a:t>
            </a:r>
            <a:r>
              <a:rPr kumimoji="0" lang="en-US" altLang="en-US" sz="1800" b="1" i="0" u="none" strike="noStrike" cap="none" normalizeH="0" baseline="0" dirty="0">
                <a:ln>
                  <a:noFill/>
                </a:ln>
                <a:solidFill>
                  <a:schemeClr val="tx1"/>
                </a:solidFill>
                <a:effectLst/>
                <a:latin typeface="Bahnschrift SemiCondensed" panose="020B0502040204020203" pitchFamily="34" charset="0"/>
              </a:rPr>
              <a:t>:</a:t>
            </a:r>
            <a:r>
              <a:rPr kumimoji="0" lang="en-US" altLang="en-US" sz="1800" b="0" i="0" u="none" strike="noStrike" cap="none" normalizeH="0" baseline="0" dirty="0">
                <a:ln>
                  <a:noFill/>
                </a:ln>
                <a:solidFill>
                  <a:schemeClr val="tx1"/>
                </a:solidFill>
                <a:effectLst/>
                <a:latin typeface="Bahnschrift SemiCondensed" panose="020B0502040204020203" pitchFamily="3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2400" i="0" u="none" strike="noStrike" cap="none" normalizeH="0" baseline="0" dirty="0">
                <a:ln>
                  <a:noFill/>
                </a:ln>
                <a:solidFill>
                  <a:schemeClr val="tx1"/>
                </a:solidFill>
                <a:effectLst/>
                <a:latin typeface="Bahnschrift SemiCondensed" panose="020B0502040204020203" pitchFamily="34" charset="0"/>
              </a:rPr>
              <a:t>Represented Sindh</a:t>
            </a:r>
            <a:r>
              <a:rPr kumimoji="0" lang="en-US" altLang="en-US" sz="2400" b="0" i="0" u="none" strike="noStrike" cap="none" normalizeH="0" baseline="0" dirty="0">
                <a:ln>
                  <a:noFill/>
                </a:ln>
                <a:solidFill>
                  <a:schemeClr val="tx1"/>
                </a:solidFill>
                <a:effectLst/>
                <a:latin typeface="Bahnschrift SemiCondensed" panose="020B0502040204020203" pitchFamily="34" charset="0"/>
              </a:rPr>
              <a:t>, providing the essential backing of the southern coastal region.</a:t>
            </a:r>
          </a:p>
        </p:txBody>
      </p:sp>
      <p:sp>
        <p:nvSpPr>
          <p:cNvPr id="4" name="AutoShape 5" descr="Image of The Haroon story - Newspaper - DAWN.COM">
            <a:extLst>
              <a:ext uri="{FF2B5EF4-FFF2-40B4-BE49-F238E27FC236}">
                <a16:creationId xmlns:a16="http://schemas.microsoft.com/office/drawing/2014/main" id="{FBFF6A11-274D-FDB0-9A05-9BB1A8D61919}"/>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15" descr="The Haroon story - Newspaper - DAWN.COM">
            <a:extLst>
              <a:ext uri="{FF2B5EF4-FFF2-40B4-BE49-F238E27FC236}">
                <a16:creationId xmlns:a16="http://schemas.microsoft.com/office/drawing/2014/main" id="{F25662EF-35ED-8D9C-80C9-6C87F4413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 y="2853035"/>
            <a:ext cx="3076575" cy="29527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244B02F-DB21-1DBA-11BF-B280F15AE003}"/>
              </a:ext>
            </a:extLst>
          </p:cNvPr>
          <p:cNvSpPr txBox="1"/>
          <p:nvPr/>
        </p:nvSpPr>
        <p:spPr>
          <a:xfrm>
            <a:off x="3843337" y="5674609"/>
            <a:ext cx="5334000" cy="23698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b="1" dirty="0">
                <a:solidFill>
                  <a:schemeClr val="accent1"/>
                </a:solidFill>
                <a:latin typeface="Bahnschrift SemiCondensed" panose="020B0502040204020203" pitchFamily="34" charset="0"/>
              </a:rPr>
              <a:t>Sardar Aurangzeb</a:t>
            </a:r>
          </a:p>
          <a:p>
            <a:r>
              <a:rPr lang="en-US" b="1" dirty="0"/>
              <a:t> </a:t>
            </a:r>
            <a:r>
              <a:rPr lang="en-US" sz="2000" b="1" dirty="0">
                <a:latin typeface="Bahnschrift SemiCondensed" panose="020B0502040204020203" pitchFamily="34" charset="0"/>
              </a:rPr>
              <a:t>Khan</a:t>
            </a:r>
            <a:r>
              <a:rPr lang="en-US" sz="2000" dirty="0">
                <a:latin typeface="Bahnschrift SemiCondensed" panose="020B0502040204020203" pitchFamily="34" charset="0"/>
              </a:rPr>
              <a:t> was a key participant who represented the </a:t>
            </a:r>
            <a:r>
              <a:rPr lang="en-US" sz="2000" b="1" dirty="0">
                <a:latin typeface="Bahnschrift SemiCondensed" panose="020B0502040204020203" pitchFamily="34" charset="0"/>
              </a:rPr>
              <a:t>North-West Frontier Province (NWFP)</a:t>
            </a:r>
            <a:r>
              <a:rPr lang="en-US" sz="2000" dirty="0">
                <a:latin typeface="Bahnschrift SemiCondensed" panose="020B0502040204020203" pitchFamily="34" charset="0"/>
              </a:rPr>
              <a:t>. His presence was a powerful statement that the people of the Frontier stood firmly with the Muslim League, countering the influence of the Congress in that region.</a:t>
            </a:r>
          </a:p>
        </p:txBody>
      </p:sp>
      <p:pic>
        <p:nvPicPr>
          <p:cNvPr id="11" name="Picture 17" descr="Sardar Aurangzeb PK-37-2018-13 – PAKP">
            <a:extLst>
              <a:ext uri="{FF2B5EF4-FFF2-40B4-BE49-F238E27FC236}">
                <a16:creationId xmlns:a16="http://schemas.microsoft.com/office/drawing/2014/main" id="{EFDBC9F7-05E5-FF3C-40DB-C24B90CC740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90551" y="5954823"/>
            <a:ext cx="2662236"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705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55" name="Group 9254">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0"/>
            <a:ext cx="14630401" cy="8239760"/>
            <a:chOff x="0" y="-8467"/>
            <a:chExt cx="12192000" cy="6866467"/>
          </a:xfrm>
        </p:grpSpPr>
        <p:cxnSp>
          <p:nvCxnSpPr>
            <p:cNvPr id="9224" name="Straight Connector 9223">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225" name="Straight Connector 9224">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256"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57"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58" name="Isosceles Triangle 9257">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59"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60"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61"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62" name="Isosceles Triangle 9261">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263" name="Isosceles Triangle 9262">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extBox 3">
            <a:extLst>
              <a:ext uri="{FF2B5EF4-FFF2-40B4-BE49-F238E27FC236}">
                <a16:creationId xmlns:a16="http://schemas.microsoft.com/office/drawing/2014/main" id="{0ECFE353-4B40-94D4-B2DF-CC660D49F6C7}"/>
              </a:ext>
            </a:extLst>
          </p:cNvPr>
          <p:cNvSpPr txBox="1"/>
          <p:nvPr/>
        </p:nvSpPr>
        <p:spPr>
          <a:xfrm>
            <a:off x="6644080" y="731520"/>
            <a:ext cx="4484722" cy="1584960"/>
          </a:xfrm>
          <a:prstGeom prst="rect">
            <a:avLst/>
          </a:prstGeom>
        </p:spPr>
        <p:txBody>
          <a:bodyPr vert="horz" lIns="91440" tIns="45720" rIns="91440" bIns="45720" rtlCol="0" anchor="t">
            <a:normAutofit/>
          </a:bodyPr>
          <a:lstStyle/>
          <a:p>
            <a:pPr>
              <a:spcBef>
                <a:spcPct val="0"/>
              </a:spcBef>
              <a:spcAft>
                <a:spcPts val="600"/>
              </a:spcAft>
            </a:pPr>
            <a:r>
              <a:rPr lang="en-US" sz="3600" b="1">
                <a:solidFill>
                  <a:schemeClr val="accent1"/>
                </a:solidFill>
                <a:latin typeface="+mj-lt"/>
                <a:ea typeface="+mj-ea"/>
                <a:cs typeface="+mj-cs"/>
              </a:rPr>
              <a:t>Quaide Azam’s Speech </a:t>
            </a:r>
          </a:p>
        </p:txBody>
      </p:sp>
      <p:sp>
        <p:nvSpPr>
          <p:cNvPr id="3" name="TextBox 2">
            <a:extLst>
              <a:ext uri="{FF2B5EF4-FFF2-40B4-BE49-F238E27FC236}">
                <a16:creationId xmlns:a16="http://schemas.microsoft.com/office/drawing/2014/main" id="{E89C3CFC-F953-C4A4-1179-697F98C94771}"/>
              </a:ext>
            </a:extLst>
          </p:cNvPr>
          <p:cNvSpPr txBox="1"/>
          <p:nvPr/>
        </p:nvSpPr>
        <p:spPr>
          <a:xfrm>
            <a:off x="6251475" y="2258662"/>
            <a:ext cx="6473932" cy="4656928"/>
          </a:xfrm>
          <a:prstGeom prst="rect">
            <a:avLst/>
          </a:prstGeom>
        </p:spPr>
        <p:txBody>
          <a:bodyPr vert="horz" lIns="91440" tIns="45720" rIns="91440" bIns="45720" rtlCol="0">
            <a:noAutofit/>
          </a:bodyPr>
          <a:lstStyle/>
          <a:p>
            <a:pPr>
              <a:lnSpc>
                <a:spcPct val="90000"/>
              </a:lnSpc>
              <a:spcBef>
                <a:spcPts val="1000"/>
              </a:spcBef>
              <a:buClr>
                <a:schemeClr val="accent1"/>
              </a:buClr>
              <a:buSzPct val="80000"/>
              <a:buFont typeface="Wingdings 3" charset="2"/>
              <a:buChar char=""/>
            </a:pPr>
            <a:r>
              <a:rPr lang="en-US" sz="2000" dirty="0">
                <a:solidFill>
                  <a:schemeClr val="tx1">
                    <a:lumMod val="75000"/>
                    <a:lumOff val="25000"/>
                  </a:schemeClr>
                </a:solidFill>
                <a:latin typeface="Bahnschrift SemiCondensed" panose="020B0502040204020203" pitchFamily="34" charset="0"/>
              </a:rPr>
              <a:t>In his historic 1940 Presidential Address, </a:t>
            </a:r>
            <a:r>
              <a:rPr lang="en-US" sz="2000" b="1" dirty="0">
                <a:solidFill>
                  <a:schemeClr val="tx1">
                    <a:lumMod val="75000"/>
                    <a:lumOff val="25000"/>
                  </a:schemeClr>
                </a:solidFill>
                <a:latin typeface="Bahnschrift SemiCondensed" panose="020B0502040204020203" pitchFamily="34" charset="0"/>
              </a:rPr>
              <a:t>Muhammad Ali Jinnah</a:t>
            </a:r>
            <a:r>
              <a:rPr lang="en-US" sz="2000" dirty="0">
                <a:solidFill>
                  <a:schemeClr val="tx1">
                    <a:lumMod val="75000"/>
                    <a:lumOff val="25000"/>
                  </a:schemeClr>
                </a:solidFill>
                <a:latin typeface="Bahnschrift SemiCondensed" panose="020B0502040204020203" pitchFamily="34" charset="0"/>
              </a:rPr>
              <a:t> delivered a powerful and logical argument that redefined the political future of the subcontinent. He categorically rejected the idea that Muslims were merely a religious minority, asserting instead that they were a </a:t>
            </a:r>
            <a:r>
              <a:rPr lang="en-US" sz="2000" b="1" dirty="0">
                <a:solidFill>
                  <a:schemeClr val="tx1">
                    <a:lumMod val="75000"/>
                    <a:lumOff val="25000"/>
                  </a:schemeClr>
                </a:solidFill>
                <a:latin typeface="Bahnschrift SemiCondensed" panose="020B0502040204020203" pitchFamily="34" charset="0"/>
              </a:rPr>
              <a:t>complete nation</a:t>
            </a:r>
            <a:r>
              <a:rPr lang="en-US" sz="2000" dirty="0">
                <a:solidFill>
                  <a:schemeClr val="tx1">
                    <a:lumMod val="75000"/>
                    <a:lumOff val="25000"/>
                  </a:schemeClr>
                </a:solidFill>
                <a:latin typeface="Bahnschrift SemiCondensed" panose="020B0502040204020203" pitchFamily="34" charset="0"/>
              </a:rPr>
              <a:t> by any definition.</a:t>
            </a:r>
          </a:p>
          <a:p>
            <a:pPr>
              <a:lnSpc>
                <a:spcPct val="90000"/>
              </a:lnSpc>
              <a:spcBef>
                <a:spcPts val="1000"/>
              </a:spcBef>
              <a:buClr>
                <a:schemeClr val="accent1"/>
              </a:buClr>
              <a:buSzPct val="80000"/>
              <a:buFont typeface="Wingdings 3" charset="2"/>
              <a:buChar char=""/>
            </a:pPr>
            <a:r>
              <a:rPr lang="en-US" sz="2000" dirty="0">
                <a:solidFill>
                  <a:schemeClr val="tx1">
                    <a:lumMod val="75000"/>
                    <a:lumOff val="25000"/>
                  </a:schemeClr>
                </a:solidFill>
                <a:latin typeface="Bahnschrift SemiCondensed" panose="020B0502040204020203" pitchFamily="34" charset="0"/>
              </a:rPr>
              <a:t>Jinnah articulated the </a:t>
            </a:r>
            <a:r>
              <a:rPr lang="en-US" sz="2000" b="1" dirty="0">
                <a:solidFill>
                  <a:schemeClr val="tx1">
                    <a:lumMod val="75000"/>
                    <a:lumOff val="25000"/>
                  </a:schemeClr>
                </a:solidFill>
                <a:latin typeface="Bahnschrift SemiCondensed" panose="020B0502040204020203" pitchFamily="34" charset="0"/>
              </a:rPr>
              <a:t>Two-Nation Theory</a:t>
            </a:r>
            <a:r>
              <a:rPr lang="en-US" sz="2000" dirty="0">
                <a:solidFill>
                  <a:schemeClr val="tx1">
                    <a:lumMod val="75000"/>
                    <a:lumOff val="25000"/>
                  </a:schemeClr>
                </a:solidFill>
                <a:latin typeface="Bahnschrift SemiCondensed" panose="020B0502040204020203" pitchFamily="34" charset="0"/>
              </a:rPr>
              <a:t>, explaining that Islam and Hinduism were not just religions, but two distinct and conflicting social orders. He argued that since the two communities belonged to different civilizations—with different heroes, histories, and social codes—they could never be forced into a single state without creating disaster. He warned that a British-style democratic system in a united India would inevitably lead to a "</a:t>
            </a:r>
            <a:r>
              <a:rPr lang="en-US" sz="2000" b="1" dirty="0">
                <a:solidFill>
                  <a:schemeClr val="tx1">
                    <a:lumMod val="75000"/>
                    <a:lumOff val="25000"/>
                  </a:schemeClr>
                </a:solidFill>
                <a:latin typeface="Bahnschrift SemiCondensed" panose="020B0502040204020203" pitchFamily="34" charset="0"/>
              </a:rPr>
              <a:t>Hindu Raj</a:t>
            </a:r>
            <a:r>
              <a:rPr lang="en-US" sz="2000" dirty="0">
                <a:solidFill>
                  <a:schemeClr val="tx1">
                    <a:lumMod val="75000"/>
                    <a:lumOff val="25000"/>
                  </a:schemeClr>
                </a:solidFill>
                <a:latin typeface="Bahnschrift SemiCondensed" panose="020B0502040204020203" pitchFamily="34" charset="0"/>
              </a:rPr>
              <a:t>," where Muslims would be permanently suppressed by a numerical majority. Therefore, he concluded that the only path to peace and stability was the partition of India into autonomous national states, allowing Muslims to govern themselves in their majority regions according to their own cultural and spiritual values</a:t>
            </a:r>
            <a:r>
              <a:rPr lang="en-US" sz="2000" dirty="0">
                <a:solidFill>
                  <a:schemeClr val="tx1">
                    <a:lumMod val="75000"/>
                    <a:lumOff val="25000"/>
                  </a:schemeClr>
                </a:solidFill>
              </a:rPr>
              <a:t>.</a:t>
            </a:r>
          </a:p>
        </p:txBody>
      </p:sp>
      <p:pic>
        <p:nvPicPr>
          <p:cNvPr id="9218" name="Picture 2" descr="March 23rd, 1940 - Lahore Resolution ...">
            <a:extLst>
              <a:ext uri="{FF2B5EF4-FFF2-40B4-BE49-F238E27FC236}">
                <a16:creationId xmlns:a16="http://schemas.microsoft.com/office/drawing/2014/main" id="{ADF7FC64-6546-A09D-22E7-E06CD5840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444" r="9981" b="-1"/>
          <a:stretch>
            <a:fillRect/>
          </a:stretch>
        </p:blipFill>
        <p:spPr bwMode="auto">
          <a:xfrm>
            <a:off x="20" y="-1"/>
            <a:ext cx="6473932" cy="82296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9264" name="Isosceles Triangle 926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1011115" cy="679938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F98FA0AF-91D6-7791-24AF-B3C49D1B01E5}"/>
              </a:ext>
            </a:extLst>
          </p:cNvPr>
          <p:cNvSpPr>
            <a:spLocks noGrp="1"/>
          </p:cNvSpPr>
          <p:nvPr>
            <p:ph type="sldNum" sz="quarter" idx="12"/>
          </p:nvPr>
        </p:nvSpPr>
        <p:spPr/>
        <p:txBody>
          <a:bodyPr/>
          <a:lstStyle/>
          <a:p>
            <a:fld id="{9587FB88-389A-4C14-B0ED-2BBB3B7EE2A7}" type="slidenum">
              <a:rPr lang="en-US" smtClean="0"/>
              <a:t>8</a:t>
            </a:fld>
            <a:endParaRPr lang="en-US"/>
          </a:p>
        </p:txBody>
      </p:sp>
      <p:sp>
        <p:nvSpPr>
          <p:cNvPr id="7" name="Footer Placeholder 6">
            <a:extLst>
              <a:ext uri="{FF2B5EF4-FFF2-40B4-BE49-F238E27FC236}">
                <a16:creationId xmlns:a16="http://schemas.microsoft.com/office/drawing/2014/main" id="{480E9D4D-2530-0823-B838-8ED7D56861CC}"/>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73DDB6E6-5A81-9620-3A7D-6985EE09ED94}"/>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9831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367200" y="284461"/>
            <a:ext cx="8262700" cy="547926"/>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t"/>
          <a:lstStyle/>
          <a:p>
            <a:pPr marL="0" indent="0" algn="l">
              <a:lnSpc>
                <a:spcPts val="4300"/>
              </a:lnSpc>
              <a:buNone/>
            </a:pPr>
            <a:r>
              <a:rPr lang="en-US" sz="3450" b="1" dirty="0">
                <a:solidFill>
                  <a:schemeClr val="accent1"/>
                </a:solidFill>
                <a:latin typeface="Lucida Handwriting" panose="03010101010101010101" pitchFamily="66" charset="0"/>
                <a:ea typeface="Merriweather Bold" pitchFamily="34" charset="-122"/>
                <a:cs typeface="Merriweather Bold" pitchFamily="34" charset="-120"/>
              </a:rPr>
              <a:t>Political Context and Opposition</a:t>
            </a:r>
            <a:endParaRPr lang="en-US" sz="3450" dirty="0">
              <a:solidFill>
                <a:schemeClr val="accent1"/>
              </a:solidFill>
              <a:latin typeface="Lucida Handwriting" panose="03010101010101010101" pitchFamily="66" charset="0"/>
            </a:endParaRPr>
          </a:p>
        </p:txBody>
      </p:sp>
      <p:sp>
        <p:nvSpPr>
          <p:cNvPr id="16" name="TextBox 15">
            <a:extLst>
              <a:ext uri="{FF2B5EF4-FFF2-40B4-BE49-F238E27FC236}">
                <a16:creationId xmlns:a16="http://schemas.microsoft.com/office/drawing/2014/main" id="{EF1FEE73-01F6-81A4-B0E3-F2F6DB993CD9}"/>
              </a:ext>
            </a:extLst>
          </p:cNvPr>
          <p:cNvSpPr txBox="1"/>
          <p:nvPr/>
        </p:nvSpPr>
        <p:spPr>
          <a:xfrm>
            <a:off x="5792270" y="1421842"/>
            <a:ext cx="6990279" cy="4093428"/>
          </a:xfrm>
          <a:prstGeom prst="rect">
            <a:avLst/>
          </a:prstGeom>
          <a:noFill/>
        </p:spPr>
        <p:txBody>
          <a:bodyPr wrap="square">
            <a:spAutoFit/>
          </a:bodyPr>
          <a:lstStyle/>
          <a:p>
            <a:pPr algn="l">
              <a:lnSpc>
                <a:spcPts val="1800"/>
              </a:lnSpc>
              <a:spcAft>
                <a:spcPts val="900"/>
              </a:spcAft>
            </a:pPr>
            <a:r>
              <a:rPr lang="en-US" sz="2400" b="1" dirty="0">
                <a:solidFill>
                  <a:schemeClr val="accent1"/>
                </a:solidFill>
                <a:latin typeface="Bahnschrift SemiCondensed" panose="020B0502040204020203" pitchFamily="34" charset="0"/>
              </a:rPr>
              <a:t>Di</a:t>
            </a:r>
            <a:r>
              <a:rPr lang="en-US" sz="2400" b="1" i="0" dirty="0">
                <a:solidFill>
                  <a:schemeClr val="accent1"/>
                </a:solidFill>
                <a:effectLst/>
                <a:latin typeface="Bahnschrift SemiCondensed" panose="020B0502040204020203" pitchFamily="34" charset="0"/>
              </a:rPr>
              <a:t>sappointment with Congress Rule (1937–1939</a:t>
            </a:r>
            <a:endParaRPr lang="en-US" sz="2000" b="1" dirty="0">
              <a:solidFill>
                <a:schemeClr val="accent1"/>
              </a:solidFill>
              <a:latin typeface="Bahnschrift SemiCondensed" panose="020B0502040204020203" pitchFamily="34" charset="0"/>
            </a:endParaRPr>
          </a:p>
          <a:p>
            <a:pPr algn="l">
              <a:spcAft>
                <a:spcPts val="900"/>
              </a:spcAft>
              <a:buFont typeface="Arial" panose="020B0604020202020204" pitchFamily="34" charset="0"/>
              <a:buChar char="•"/>
            </a:pPr>
            <a:r>
              <a:rPr lang="en-US" sz="2000" b="0" i="0" dirty="0">
                <a:effectLst/>
                <a:latin typeface="Bahnschrift SemiCondensed" panose="020B0502040204020203" pitchFamily="34" charset="0"/>
              </a:rPr>
              <a:t> After the 1937 elections, the Congress formed governments in several provinces, which the Muslim League perceived as biased and discriminatory, leading to fears of a "Hindu Raj".</a:t>
            </a:r>
          </a:p>
          <a:p>
            <a:pPr algn="l">
              <a:spcAft>
                <a:spcPts val="900"/>
              </a:spcAft>
              <a:buFont typeface="Arial" panose="020B0604020202020204" pitchFamily="34" charset="0"/>
              <a:buChar char="•"/>
            </a:pPr>
            <a:endParaRPr lang="en-US" sz="2000" b="0" i="0" dirty="0">
              <a:effectLst/>
              <a:latin typeface="Bahnschrift SemiCondensed" panose="020B0502040204020203" pitchFamily="34" charset="0"/>
            </a:endParaRPr>
          </a:p>
          <a:p>
            <a:pPr algn="l">
              <a:lnSpc>
                <a:spcPts val="1800"/>
              </a:lnSpc>
              <a:spcAft>
                <a:spcPts val="900"/>
              </a:spcAft>
              <a:buFont typeface="Arial" panose="020B0604020202020204" pitchFamily="34" charset="0"/>
              <a:buChar char="•"/>
            </a:pPr>
            <a:r>
              <a:rPr lang="en-US" sz="2800" b="1" i="0" dirty="0">
                <a:solidFill>
                  <a:schemeClr val="accent1"/>
                </a:solidFill>
                <a:effectLst/>
                <a:latin typeface="Bahnschrift SemiCondensed" panose="020B0502040204020203" pitchFamily="34" charset="0"/>
              </a:rPr>
              <a:t>Failure of Constitutional Safeguards</a:t>
            </a:r>
            <a:r>
              <a:rPr lang="en-US" sz="2000" b="1" i="0" dirty="0">
                <a:effectLst/>
                <a:latin typeface="Bahnschrift SemiCondensed" panose="020B0502040204020203" pitchFamily="34" charset="0"/>
              </a:rPr>
              <a:t>:</a:t>
            </a:r>
            <a:r>
              <a:rPr lang="en-US" sz="2000" b="0" i="0" dirty="0">
                <a:effectLst/>
                <a:latin typeface="Bahnschrift SemiCondensed" panose="020B0502040204020203" pitchFamily="34" charset="0"/>
              </a:rPr>
              <a:t> </a:t>
            </a:r>
          </a:p>
          <a:p>
            <a:pPr algn="l">
              <a:lnSpc>
                <a:spcPts val="1800"/>
              </a:lnSpc>
              <a:spcAft>
                <a:spcPts val="900"/>
              </a:spcAft>
              <a:buFont typeface="Arial" panose="020B0604020202020204" pitchFamily="34" charset="0"/>
              <a:buChar char="•"/>
            </a:pPr>
            <a:r>
              <a:rPr lang="en-US" sz="2000" b="0" i="0" dirty="0">
                <a:effectLst/>
                <a:latin typeface="Bahnschrift SemiCondensed" panose="020B0502040204020203" pitchFamily="34" charset="0"/>
              </a:rPr>
              <a:t>The Muslim League believed the 1935 Act would not protect Muslim minority rights and that a strong central government would threaten their religious, cultural, and political identity.</a:t>
            </a:r>
          </a:p>
          <a:p>
            <a:pPr algn="l">
              <a:lnSpc>
                <a:spcPts val="1800"/>
              </a:lnSpc>
              <a:spcAft>
                <a:spcPts val="900"/>
              </a:spcAft>
              <a:buFont typeface="Arial" panose="020B0604020202020204" pitchFamily="34" charset="0"/>
              <a:buChar char="•"/>
            </a:pPr>
            <a:endParaRPr lang="en-US" sz="2800" b="0" i="0" dirty="0">
              <a:solidFill>
                <a:schemeClr val="accent1"/>
              </a:solidFill>
              <a:effectLst/>
              <a:latin typeface="Bahnschrift SemiCondensed" panose="020B0502040204020203" pitchFamily="34" charset="0"/>
            </a:endParaRPr>
          </a:p>
          <a:p>
            <a:pPr algn="l">
              <a:lnSpc>
                <a:spcPts val="1800"/>
              </a:lnSpc>
              <a:spcAft>
                <a:spcPts val="900"/>
              </a:spcAft>
              <a:buFont typeface="Arial" panose="020B0604020202020204" pitchFamily="34" charset="0"/>
              <a:buChar char="•"/>
            </a:pPr>
            <a:r>
              <a:rPr lang="en-US" sz="2800" b="1" i="0" dirty="0">
                <a:solidFill>
                  <a:schemeClr val="accent1"/>
                </a:solidFill>
                <a:effectLst/>
                <a:latin typeface="Bahnschrift SemiCondensed" panose="020B0502040204020203" pitchFamily="34" charset="0"/>
              </a:rPr>
              <a:t>The Two-Nation Theory</a:t>
            </a:r>
            <a:r>
              <a:rPr lang="en-US" sz="2000" b="1" i="0" dirty="0">
                <a:effectLst/>
                <a:latin typeface="Bahnschrift SemiCondensed" panose="020B0502040204020203" pitchFamily="34" charset="0"/>
              </a:rPr>
              <a:t>:</a:t>
            </a:r>
            <a:r>
              <a:rPr lang="en-US" sz="2000" b="0" i="0" dirty="0">
                <a:effectLst/>
                <a:latin typeface="Bahnschrift SemiCondensed" panose="020B0502040204020203" pitchFamily="34" charset="0"/>
              </a:rPr>
              <a:t> The League, led by Muhammad Ali Jinnah, officially adopted the stance that Muslims and Hindus were distinct nations with different cultures, traditions, and civilizations.</a:t>
            </a:r>
          </a:p>
        </p:txBody>
      </p:sp>
      <p:pic>
        <p:nvPicPr>
          <p:cNvPr id="7172" name="Picture 4" descr="Reflections around a Resolution - DAWN.COM">
            <a:extLst>
              <a:ext uri="{FF2B5EF4-FFF2-40B4-BE49-F238E27FC236}">
                <a16:creationId xmlns:a16="http://schemas.microsoft.com/office/drawing/2014/main" id="{264409D0-7F92-7F7B-A856-E36EF0001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1028700"/>
            <a:ext cx="5276850" cy="47474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F70EE05-8483-F235-C78E-1DC691BDC3E9}"/>
              </a:ext>
            </a:extLst>
          </p:cNvPr>
          <p:cNvSpPr txBox="1"/>
          <p:nvPr/>
        </p:nvSpPr>
        <p:spPr>
          <a:xfrm>
            <a:off x="5792271" y="6084483"/>
            <a:ext cx="7334250" cy="1446550"/>
          </a:xfrm>
          <a:prstGeom prst="rect">
            <a:avLst/>
          </a:prstGeom>
          <a:noFill/>
        </p:spPr>
        <p:txBody>
          <a:bodyPr wrap="square">
            <a:spAutoFit/>
          </a:bodyPr>
          <a:lstStyle/>
          <a:p>
            <a:r>
              <a:rPr lang="en-US" sz="2800" b="1" dirty="0">
                <a:solidFill>
                  <a:schemeClr val="accent1"/>
                </a:solidFill>
                <a:latin typeface="Bahnschrift SemiCondensed" panose="020B0502040204020203" pitchFamily="34" charset="0"/>
              </a:rPr>
              <a:t>The British Strategy:</a:t>
            </a:r>
            <a:r>
              <a:rPr lang="en-US" sz="2800" dirty="0">
                <a:solidFill>
                  <a:schemeClr val="accent1"/>
                </a:solidFill>
                <a:latin typeface="Bahnschrift SemiCondensed" panose="020B0502040204020203" pitchFamily="34" charset="0"/>
              </a:rPr>
              <a:t> </a:t>
            </a:r>
          </a:p>
          <a:p>
            <a:r>
              <a:rPr lang="en-US" sz="2000" dirty="0">
                <a:latin typeface="Bahnschrift SemiCondensed" panose="020B0502040204020203" pitchFamily="34" charset="0"/>
              </a:rPr>
              <a:t>The British were desperate for Indian support in the war. Jinnah used this leverage to insist that no constitutional change be made without the consent of the Muslim League.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09719" y="912376"/>
            <a:ext cx="7924562" cy="1088708"/>
          </a:xfrm>
          <a:prstGeom prst="rect">
            <a:avLst/>
          </a:prstGeom>
          <a:noFill/>
          <a:ln/>
        </p:spPr>
        <p:txBody>
          <a:bodyPr wrap="square" lIns="0" tIns="0" rIns="0" bIns="0" rtlCol="0" anchor="t"/>
          <a:lstStyle/>
          <a:p>
            <a:pPr marL="0" indent="0" algn="l">
              <a:lnSpc>
                <a:spcPts val="4250"/>
              </a:lnSpc>
              <a:buNone/>
            </a:pPr>
            <a:r>
              <a:rPr lang="en-US" sz="3400" b="1" dirty="0">
                <a:solidFill>
                  <a:schemeClr val="accent1"/>
                </a:solidFill>
                <a:latin typeface="Lucida Handwriting" panose="03010101010101010101" pitchFamily="66" charset="0"/>
                <a:ea typeface="Merriweather Bold" pitchFamily="34" charset="-122"/>
                <a:cs typeface="Merriweather Bold" pitchFamily="34" charset="-120"/>
              </a:rPr>
              <a:t>Impact and Significance of the Resolution</a:t>
            </a:r>
            <a:endParaRPr lang="en-US" sz="3400" dirty="0">
              <a:solidFill>
                <a:schemeClr val="accent1"/>
              </a:solidFill>
              <a:latin typeface="Lucida Handwriting" panose="03010101010101010101" pitchFamily="66" charset="0"/>
            </a:endParaRPr>
          </a:p>
        </p:txBody>
      </p:sp>
      <p:sp>
        <p:nvSpPr>
          <p:cNvPr id="16" name="Text 9"/>
          <p:cNvSpPr/>
          <p:nvPr/>
        </p:nvSpPr>
        <p:spPr>
          <a:xfrm>
            <a:off x="609719" y="6969443"/>
            <a:ext cx="3749754" cy="246340"/>
          </a:xfrm>
          <a:prstGeom prst="rect">
            <a:avLst/>
          </a:prstGeom>
          <a:noFill/>
          <a:ln/>
        </p:spPr>
        <p:txBody>
          <a:bodyPr wrap="none" lIns="0" tIns="0" rIns="0" bIns="0" rtlCol="0" anchor="t"/>
          <a:lstStyle/>
          <a:p>
            <a:pPr marL="0" indent="0" algn="l">
              <a:lnSpc>
                <a:spcPts val="1900"/>
              </a:lnSpc>
              <a:buNone/>
            </a:pPr>
            <a:endParaRPr lang="en-US" sz="1350" dirty="0"/>
          </a:p>
        </p:txBody>
      </p:sp>
      <p:sp>
        <p:nvSpPr>
          <p:cNvPr id="17" name="Text 10"/>
          <p:cNvSpPr/>
          <p:nvPr/>
        </p:nvSpPr>
        <p:spPr>
          <a:xfrm>
            <a:off x="4792147" y="6950393"/>
            <a:ext cx="3749754" cy="246340"/>
          </a:xfrm>
          <a:prstGeom prst="rect">
            <a:avLst/>
          </a:prstGeom>
          <a:noFill/>
          <a:ln/>
        </p:spPr>
        <p:txBody>
          <a:bodyPr wrap="none" lIns="0" tIns="0" rIns="0" bIns="0" rtlCol="0" anchor="t"/>
          <a:lstStyle/>
          <a:p>
            <a:pPr marL="0" indent="0" algn="l">
              <a:lnSpc>
                <a:spcPts val="1900"/>
              </a:lnSpc>
              <a:buNone/>
            </a:pPr>
            <a:endParaRPr lang="en-US" sz="1350" dirty="0"/>
          </a:p>
        </p:txBody>
      </p:sp>
      <p:sp>
        <p:nvSpPr>
          <p:cNvPr id="19" name="TextBox 18">
            <a:extLst>
              <a:ext uri="{FF2B5EF4-FFF2-40B4-BE49-F238E27FC236}">
                <a16:creationId xmlns:a16="http://schemas.microsoft.com/office/drawing/2014/main" id="{9965122F-7688-8BB3-D3F6-3B5AF1423B1E}"/>
              </a:ext>
            </a:extLst>
          </p:cNvPr>
          <p:cNvSpPr txBox="1"/>
          <p:nvPr/>
        </p:nvSpPr>
        <p:spPr>
          <a:xfrm>
            <a:off x="672585" y="2060199"/>
            <a:ext cx="7629406" cy="5632311"/>
          </a:xfrm>
          <a:prstGeom prst="rect">
            <a:avLst/>
          </a:prstGeom>
          <a:noFill/>
        </p:spPr>
        <p:txBody>
          <a:bodyPr wrap="square">
            <a:spAutoFit/>
          </a:bodyPr>
          <a:lstStyle/>
          <a:p>
            <a:r>
              <a:rPr lang="en-US" sz="2000" dirty="0">
                <a:latin typeface="Bahnschrift SemiCondensed" panose="020B0502040204020203" pitchFamily="34" charset="0"/>
              </a:rPr>
              <a:t>The </a:t>
            </a:r>
            <a:r>
              <a:rPr lang="en-US" sz="2000" b="1" dirty="0">
                <a:latin typeface="Bahnschrift SemiCondensed" panose="020B0502040204020203" pitchFamily="34" charset="0"/>
              </a:rPr>
              <a:t>Lahore Resolution</a:t>
            </a:r>
            <a:r>
              <a:rPr lang="en-US" sz="2000" dirty="0">
                <a:latin typeface="Bahnschrift SemiCondensed" panose="020B0502040204020203" pitchFamily="34" charset="0"/>
              </a:rPr>
              <a:t> of 1940 had a profound and irreversible impact on the history of the Indian subcontinent, serving as the definitive catalyst for the creation of Pakistan. Its primary significance lay in providing the Muslim community with a </a:t>
            </a:r>
            <a:r>
              <a:rPr lang="en-US" sz="2000" b="1" dirty="0">
                <a:latin typeface="Bahnschrift SemiCondensed" panose="020B0502040204020203" pitchFamily="34" charset="0"/>
              </a:rPr>
              <a:t>clear, tangible goal</a:t>
            </a:r>
            <a:r>
              <a:rPr lang="en-US" sz="2000" dirty="0">
                <a:latin typeface="Bahnschrift SemiCondensed" panose="020B0502040204020203" pitchFamily="34" charset="0"/>
              </a:rPr>
              <a:t>—sovereignty—which replaced the previous vague demands for minority safeguards and constitutional weightage. By formalizing the </a:t>
            </a:r>
            <a:r>
              <a:rPr lang="en-US" sz="2000" b="1" dirty="0">
                <a:latin typeface="Bahnschrift SemiCondensed" panose="020B0502040204020203" pitchFamily="34" charset="0"/>
              </a:rPr>
              <a:t>Two-Nation Theory</a:t>
            </a:r>
            <a:r>
              <a:rPr lang="en-US" sz="2000" dirty="0">
                <a:latin typeface="Bahnschrift SemiCondensed" panose="020B0502040204020203" pitchFamily="34" charset="0"/>
              </a:rPr>
              <a:t>, the resolution fundamentally altered the political discourse of the era; it forced both the British and the Indian National Congress to acknowledge that the Muslims were not merely a minority group, but a distinct nation entitled to its own territory. Furthermore, the resolution’s impact was instrumental in </a:t>
            </a:r>
            <a:r>
              <a:rPr lang="en-US" sz="2000" b="1" dirty="0">
                <a:latin typeface="Bahnschrift SemiCondensed" panose="020B0502040204020203" pitchFamily="34" charset="0"/>
              </a:rPr>
              <a:t>unifying the Muslim masses</a:t>
            </a:r>
            <a:r>
              <a:rPr lang="en-US" sz="2000" dirty="0">
                <a:latin typeface="Bahnschrift SemiCondensed" panose="020B0502040204020203" pitchFamily="34" charset="0"/>
              </a:rPr>
              <a:t>. It bridged regional divides, bringing together Muslims from the North-West and the East (Bengal) under a single political banner. This newfound unity transformed the All-India Muslim League into a formidable national power, making partition the central theme of all future constitutional negotiations. Ultimately, the Lahore Resolution acted as the </a:t>
            </a:r>
            <a:r>
              <a:rPr lang="en-US" sz="2000" b="1" dirty="0">
                <a:latin typeface="Bahnschrift SemiCondensed" panose="020B0502040204020203" pitchFamily="34" charset="0"/>
              </a:rPr>
              <a:t>foundational blueprint</a:t>
            </a:r>
            <a:r>
              <a:rPr lang="en-US" sz="2000" dirty="0">
                <a:latin typeface="Bahnschrift SemiCondensed" panose="020B0502040204020203" pitchFamily="34" charset="0"/>
              </a:rPr>
              <a:t> for the 1947 partition, successfully shifting the trajectory of the freedom struggle toward the birth of a new, independent Islamic state.</a:t>
            </a:r>
            <a:endParaRPr lang="en-US" sz="2000" dirty="0">
              <a:effectLst>
                <a:outerShdw blurRad="38100" dist="38100" dir="2700000" algn="tl">
                  <a:srgbClr val="000000">
                    <a:alpha val="43137"/>
                  </a:srgbClr>
                </a:outerShdw>
              </a:effectLst>
              <a:latin typeface="Bahnschrift SemiCondensed"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93790" y="697111"/>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chemeClr val="accent1"/>
                </a:solidFill>
                <a:latin typeface="Lucida Handwriting" panose="03010101010101010101" pitchFamily="66" charset="0"/>
                <a:ea typeface="Merriweather Bold" pitchFamily="34" charset="-122"/>
                <a:cs typeface="Merriweather Bold" pitchFamily="34" charset="-120"/>
              </a:rPr>
              <a:t>Legacy and Commemoration</a:t>
            </a:r>
            <a:endParaRPr lang="en-US" sz="4450" dirty="0">
              <a:solidFill>
                <a:schemeClr val="accent1"/>
              </a:solidFill>
              <a:latin typeface="Lucida Handwriting" panose="03010101010101010101" pitchFamily="66" charset="0"/>
            </a:endParaRPr>
          </a:p>
        </p:txBody>
      </p:sp>
      <p:sp>
        <p:nvSpPr>
          <p:cNvPr id="4" name="Text 1"/>
          <p:cNvSpPr/>
          <p:nvPr/>
        </p:nvSpPr>
        <p:spPr>
          <a:xfrm>
            <a:off x="793790" y="2681645"/>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1"/>
                </a:solidFill>
                <a:latin typeface="Merriweather Bold" pitchFamily="34" charset="0"/>
                <a:ea typeface="Merriweather Bold" pitchFamily="34" charset="-122"/>
                <a:cs typeface="Merriweather Bold" pitchFamily="34" charset="-120"/>
              </a:rPr>
              <a:t>Pakistan Day</a:t>
            </a:r>
            <a:endParaRPr lang="en-US" sz="2200" dirty="0">
              <a:solidFill>
                <a:schemeClr val="accent1"/>
              </a:solidFill>
            </a:endParaRPr>
          </a:p>
        </p:txBody>
      </p:sp>
      <p:sp>
        <p:nvSpPr>
          <p:cNvPr id="5" name="Text 2"/>
          <p:cNvSpPr/>
          <p:nvPr/>
        </p:nvSpPr>
        <p:spPr>
          <a:xfrm>
            <a:off x="793790" y="3262789"/>
            <a:ext cx="3501509" cy="1451610"/>
          </a:xfrm>
          <a:prstGeom prst="rect">
            <a:avLst/>
          </a:prstGeom>
          <a:noFill/>
          <a:ln/>
        </p:spPr>
        <p:txBody>
          <a:bodyPr wrap="square" lIns="0" tIns="0" rIns="0" bIns="0" rtlCol="0" anchor="t"/>
          <a:lstStyle/>
          <a:p>
            <a:pPr marL="0" indent="0" algn="l">
              <a:lnSpc>
                <a:spcPts val="285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March 23 is annually celebrated as Pakistan Day, a national holiday commemorating the resolution</a:t>
            </a:r>
            <a:r>
              <a:rPr lang="en-US" sz="1750" dirty="0">
                <a:solidFill>
                  <a:srgbClr val="403C4E"/>
                </a:solidFill>
                <a:latin typeface="Open Sans" pitchFamily="34" charset="0"/>
                <a:ea typeface="Open Sans" pitchFamily="34" charset="-122"/>
                <a:cs typeface="Open Sans" pitchFamily="34" charset="-120"/>
              </a:rPr>
              <a:t>.</a:t>
            </a:r>
            <a:endParaRPr lang="en-US" sz="1750" dirty="0"/>
          </a:p>
        </p:txBody>
      </p:sp>
      <p:sp>
        <p:nvSpPr>
          <p:cNvPr id="6" name="Text 3"/>
          <p:cNvSpPr/>
          <p:nvPr/>
        </p:nvSpPr>
        <p:spPr>
          <a:xfrm>
            <a:off x="793790" y="4941213"/>
            <a:ext cx="3501509" cy="708660"/>
          </a:xfrm>
          <a:prstGeom prst="rect">
            <a:avLst/>
          </a:prstGeom>
          <a:noFill/>
          <a:ln/>
        </p:spPr>
        <p:txBody>
          <a:bodyPr wrap="square" lIns="0" tIns="0" rIns="0" bIns="0" rtlCol="0" anchor="t"/>
          <a:lstStyle/>
          <a:p>
            <a:pPr marL="0" indent="0" algn="l">
              <a:lnSpc>
                <a:spcPts val="2750"/>
              </a:lnSpc>
              <a:buNone/>
            </a:pPr>
            <a:r>
              <a:rPr lang="en-US" sz="2200" b="1" dirty="0">
                <a:solidFill>
                  <a:schemeClr val="accent1"/>
                </a:solidFill>
                <a:latin typeface="Merriweather Bold" pitchFamily="34" charset="0"/>
                <a:ea typeface="Merriweather Bold" pitchFamily="34" charset="-122"/>
                <a:cs typeface="Merriweather Bold" pitchFamily="34" charset="-120"/>
              </a:rPr>
              <a:t>Symbol of Self-Determination</a:t>
            </a:r>
            <a:endParaRPr lang="en-US" sz="2200" dirty="0">
              <a:solidFill>
                <a:schemeClr val="accent1"/>
              </a:solidFill>
            </a:endParaRPr>
          </a:p>
        </p:txBody>
      </p:sp>
      <p:sp>
        <p:nvSpPr>
          <p:cNvPr id="7" name="Text 4"/>
          <p:cNvSpPr/>
          <p:nvPr/>
        </p:nvSpPr>
        <p:spPr>
          <a:xfrm>
            <a:off x="793790" y="5876687"/>
            <a:ext cx="3501509" cy="1451610"/>
          </a:xfrm>
          <a:prstGeom prst="rect">
            <a:avLst/>
          </a:prstGeom>
          <a:noFill/>
          <a:ln/>
        </p:spPr>
        <p:txBody>
          <a:bodyPr wrap="square" lIns="0" tIns="0" rIns="0" bIns="0" rtlCol="0" anchor="t"/>
          <a:lstStyle/>
          <a:p>
            <a:pPr marL="0" indent="0" algn="l">
              <a:lnSpc>
                <a:spcPts val="285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The Lahore Resolution remains a powerful symbol of Muslim political identity and their right to self-determination</a:t>
            </a:r>
            <a:r>
              <a:rPr lang="en-US" sz="1750" dirty="0">
                <a:solidFill>
                  <a:srgbClr val="403C4E"/>
                </a:solidFill>
                <a:latin typeface="Open Sans" pitchFamily="34" charset="0"/>
                <a:ea typeface="Open Sans" pitchFamily="34" charset="-122"/>
                <a:cs typeface="Open Sans" pitchFamily="34" charset="-120"/>
              </a:rPr>
              <a:t>.</a:t>
            </a:r>
            <a:endParaRPr lang="en-US" sz="1750" dirty="0"/>
          </a:p>
        </p:txBody>
      </p:sp>
      <p:sp>
        <p:nvSpPr>
          <p:cNvPr id="8" name="Shape 5"/>
          <p:cNvSpPr/>
          <p:nvPr/>
        </p:nvSpPr>
        <p:spPr>
          <a:xfrm>
            <a:off x="4466153" y="2250758"/>
            <a:ext cx="3828217" cy="5077539"/>
          </a:xfrm>
          <a:prstGeom prst="roundRect">
            <a:avLst>
              <a:gd name="adj" fmla="val 4266"/>
            </a:avLst>
          </a:prstGeom>
          <a:solidFill>
            <a:srgbClr val="E5E5E0"/>
          </a:solidFill>
          <a:ln/>
        </p:spPr>
        <p:txBody>
          <a:bodyPr/>
          <a:lstStyle/>
          <a:p>
            <a:endParaRPr lang="en-US"/>
          </a:p>
        </p:txBody>
      </p:sp>
      <p:sp>
        <p:nvSpPr>
          <p:cNvPr id="9" name="Text 6"/>
          <p:cNvSpPr/>
          <p:nvPr/>
        </p:nvSpPr>
        <p:spPr>
          <a:xfrm>
            <a:off x="4919782" y="2681645"/>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1"/>
                </a:solidFill>
                <a:latin typeface="Merriweather Bold" pitchFamily="34" charset="0"/>
                <a:ea typeface="Merriweather Bold" pitchFamily="34" charset="-122"/>
                <a:cs typeface="Merriweather Bold" pitchFamily="34" charset="-120"/>
              </a:rPr>
              <a:t>National Narrative</a:t>
            </a:r>
            <a:endParaRPr lang="en-US" sz="2200" dirty="0">
              <a:solidFill>
                <a:schemeClr val="accent1"/>
              </a:solidFill>
            </a:endParaRPr>
          </a:p>
        </p:txBody>
      </p:sp>
      <p:sp>
        <p:nvSpPr>
          <p:cNvPr id="10" name="Text 7"/>
          <p:cNvSpPr/>
          <p:nvPr/>
        </p:nvSpPr>
        <p:spPr>
          <a:xfrm>
            <a:off x="4919782" y="3262789"/>
            <a:ext cx="3374588" cy="1451610"/>
          </a:xfrm>
          <a:prstGeom prst="rect">
            <a:avLst/>
          </a:prstGeom>
          <a:noFill/>
          <a:ln/>
        </p:spPr>
        <p:txBody>
          <a:bodyPr wrap="square" lIns="0" tIns="0" rIns="0" bIns="0" rtlCol="0" anchor="t"/>
          <a:lstStyle/>
          <a:p>
            <a:pPr marL="0" indent="0" algn="l">
              <a:lnSpc>
                <a:spcPts val="285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It continues to shape Pakistan's political discourse and national narrative, reinforcing its foundational principles</a:t>
            </a:r>
            <a:r>
              <a:rPr lang="en-US" sz="2000" dirty="0">
                <a:solidFill>
                  <a:srgbClr val="403C4E"/>
                </a:solidFill>
                <a:latin typeface="Open Sans" pitchFamily="34" charset="0"/>
                <a:ea typeface="Open Sans" pitchFamily="34" charset="-122"/>
                <a:cs typeface="Open Sans" pitchFamily="34" charset="-120"/>
              </a:rPr>
              <a:t>.</a:t>
            </a:r>
            <a:endParaRPr lang="en-US" sz="2000" dirty="0"/>
          </a:p>
        </p:txBody>
      </p:sp>
      <p:sp>
        <p:nvSpPr>
          <p:cNvPr id="11" name="Text 8"/>
          <p:cNvSpPr/>
          <p:nvPr/>
        </p:nvSpPr>
        <p:spPr>
          <a:xfrm>
            <a:off x="4748809" y="5168027"/>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accent1"/>
                </a:solidFill>
                <a:latin typeface="Merriweather Bold" pitchFamily="34" charset="0"/>
                <a:ea typeface="Merriweather Bold" pitchFamily="34" charset="-122"/>
                <a:cs typeface="Merriweather Bold" pitchFamily="34" charset="-120"/>
              </a:rPr>
              <a:t>Historic </a:t>
            </a:r>
            <a:r>
              <a:rPr lang="en-US" sz="2200" b="1" dirty="0" err="1">
                <a:solidFill>
                  <a:schemeClr val="accent1"/>
                </a:solidFill>
                <a:latin typeface="Merriweather Bold" pitchFamily="34" charset="0"/>
                <a:ea typeface="Merriweather Bold" pitchFamily="34" charset="-122"/>
                <a:cs typeface="Merriweather Bold" pitchFamily="34" charset="-120"/>
              </a:rPr>
              <a:t>Landmarkz</a:t>
            </a:r>
            <a:endParaRPr lang="en-US" sz="2200" dirty="0">
              <a:solidFill>
                <a:schemeClr val="accent1"/>
              </a:solidFill>
            </a:endParaRPr>
          </a:p>
        </p:txBody>
      </p:sp>
      <p:sp>
        <p:nvSpPr>
          <p:cNvPr id="12" name="Text 9"/>
          <p:cNvSpPr/>
          <p:nvPr/>
        </p:nvSpPr>
        <p:spPr>
          <a:xfrm>
            <a:off x="4919782" y="5522357"/>
            <a:ext cx="3374588" cy="1451610"/>
          </a:xfrm>
          <a:prstGeom prst="rect">
            <a:avLst/>
          </a:prstGeom>
          <a:noFill/>
          <a:ln/>
        </p:spPr>
        <p:txBody>
          <a:bodyPr wrap="square" lIns="0" tIns="0" rIns="0" bIns="0" rtlCol="0" anchor="t"/>
          <a:lstStyle/>
          <a:p>
            <a:pPr marL="0" indent="0" algn="l">
              <a:lnSpc>
                <a:spcPts val="2850"/>
              </a:lnSpc>
              <a:buNone/>
            </a:pPr>
            <a:r>
              <a:rPr lang="en-US" sz="2000" dirty="0">
                <a:solidFill>
                  <a:srgbClr val="403C4E"/>
                </a:solidFill>
                <a:latin typeface="Bahnschrift SemiCondensed" panose="020B0502040204020203" pitchFamily="34" charset="0"/>
                <a:ea typeface="Open Sans" pitchFamily="34" charset="-122"/>
                <a:cs typeface="Open Sans" pitchFamily="34" charset="-120"/>
              </a:rPr>
              <a:t>Minar-e-Pakistan stands as a revered historic monument and a popular tourist landmark, drawing visitors from all over</a:t>
            </a:r>
            <a:r>
              <a:rPr lang="en-US" sz="1750" dirty="0">
                <a:solidFill>
                  <a:srgbClr val="403C4E"/>
                </a:solidFill>
                <a:latin typeface="Open Sans" pitchFamily="34" charset="0"/>
                <a:ea typeface="Open Sans" pitchFamily="34" charset="-122"/>
                <a:cs typeface="Open Sans" pitchFamily="34" charset="-120"/>
              </a:rPr>
              <a:t>.</a:t>
            </a:r>
            <a:endParaRPr lang="en-US" sz="1750" dirty="0"/>
          </a:p>
        </p:txBody>
      </p:sp>
      <p:pic>
        <p:nvPicPr>
          <p:cNvPr id="8194" name="Picture 2" descr="Pakistan Day - Wikipedia">
            <a:extLst>
              <a:ext uri="{FF2B5EF4-FFF2-40B4-BE49-F238E27FC236}">
                <a16:creationId xmlns:a16="http://schemas.microsoft.com/office/drawing/2014/main" id="{07C5A01A-35FE-1394-B7CC-0A7410666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880" y="1022551"/>
            <a:ext cx="4930020" cy="595141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1380173" y="1521262"/>
            <a:ext cx="6982777" cy="967502"/>
          </a:xfrm>
          <a:prstGeom prst="rect">
            <a:avLst/>
          </a:prstGeom>
          <a:noFill/>
          <a:ln/>
        </p:spPr>
        <p:txBody>
          <a:bodyPr wrap="square" lIns="0" tIns="0" rIns="0" bIns="0" rtlCol="0" anchor="t"/>
          <a:lstStyle/>
          <a:p>
            <a:pPr marL="0" indent="0" algn="l">
              <a:lnSpc>
                <a:spcPts val="3800"/>
              </a:lnSpc>
              <a:buNone/>
            </a:pPr>
            <a:r>
              <a:rPr lang="en-US" sz="4400" b="1" dirty="0">
                <a:solidFill>
                  <a:schemeClr val="accent1"/>
                </a:solidFill>
                <a:latin typeface="Lucida Handwriting" panose="03010101010101010101" pitchFamily="66" charset="0"/>
                <a:ea typeface="Merriweather Bold" pitchFamily="34" charset="-122"/>
                <a:cs typeface="Merriweather Bold" pitchFamily="34" charset="-120"/>
              </a:rPr>
              <a:t>Conclusion</a:t>
            </a:r>
            <a:endParaRPr lang="en-US" sz="4400" dirty="0">
              <a:solidFill>
                <a:schemeClr val="accent1"/>
              </a:solidFill>
              <a:latin typeface="Lucida Handwriting" panose="03010101010101010101" pitchFamily="66" charset="0"/>
            </a:endParaRPr>
          </a:p>
        </p:txBody>
      </p:sp>
      <p:sp>
        <p:nvSpPr>
          <p:cNvPr id="21" name="TextBox 20">
            <a:extLst>
              <a:ext uri="{FF2B5EF4-FFF2-40B4-BE49-F238E27FC236}">
                <a16:creationId xmlns:a16="http://schemas.microsoft.com/office/drawing/2014/main" id="{E6069F21-D2B3-684E-983A-B75BE45A7029}"/>
              </a:ext>
            </a:extLst>
          </p:cNvPr>
          <p:cNvSpPr txBox="1"/>
          <p:nvPr/>
        </p:nvSpPr>
        <p:spPr>
          <a:xfrm>
            <a:off x="1657350" y="2488764"/>
            <a:ext cx="6705600" cy="4524315"/>
          </a:xfrm>
          <a:prstGeom prst="rect">
            <a:avLst/>
          </a:prstGeom>
          <a:noFill/>
        </p:spPr>
        <p:txBody>
          <a:bodyPr wrap="square">
            <a:spAutoFit/>
          </a:bodyPr>
          <a:lstStyle/>
          <a:p>
            <a:r>
              <a:rPr lang="en-US" sz="2400" dirty="0">
                <a:latin typeface="Bahnschrift SemiCondensed" panose="020B0502040204020203" pitchFamily="34" charset="0"/>
              </a:rPr>
              <a:t>the Lahore Resolution was the </a:t>
            </a:r>
            <a:r>
              <a:rPr lang="en-US" sz="2400" b="1" dirty="0">
                <a:latin typeface="Bahnschrift SemiCondensed" panose="020B0502040204020203" pitchFamily="34" charset="0"/>
              </a:rPr>
              <a:t>decisive turning point</a:t>
            </a:r>
            <a:r>
              <a:rPr lang="en-US" sz="2400" dirty="0">
                <a:latin typeface="Bahnschrift SemiCondensed" panose="020B0502040204020203" pitchFamily="34" charset="0"/>
              </a:rPr>
              <a:t> that made the creation of Pakistan inevitable. By formalizing the </a:t>
            </a:r>
            <a:r>
              <a:rPr lang="en-US" sz="2400" b="1" dirty="0">
                <a:latin typeface="Bahnschrift SemiCondensed" panose="020B0502040204020203" pitchFamily="34" charset="0"/>
              </a:rPr>
              <a:t>Two-Nation Theory</a:t>
            </a:r>
            <a:r>
              <a:rPr lang="en-US" sz="2400" dirty="0">
                <a:latin typeface="Bahnschrift SemiCondensed" panose="020B0502040204020203" pitchFamily="34" charset="0"/>
              </a:rPr>
              <a:t>, it moved the Muslim struggle beyond the quest for minority rights and toward the attainment of national sovereignty. It remains the most significant document in the history of the movement, serving as a testament to the </a:t>
            </a:r>
            <a:r>
              <a:rPr lang="en-US" sz="2400" b="1" dirty="0">
                <a:latin typeface="Bahnschrift SemiCondensed" panose="020B0502040204020203" pitchFamily="34" charset="0"/>
              </a:rPr>
              <a:t>visionary leadership</a:t>
            </a:r>
            <a:r>
              <a:rPr lang="en-US" sz="2400" dirty="0">
                <a:latin typeface="Bahnschrift SemiCondensed" panose="020B0502040204020203" pitchFamily="34" charset="0"/>
              </a:rPr>
              <a:t> of Quaid-e-Azam and the collective will of a people determined to shape their own destiny. Today, it stands as the ideological cornerstone upon which the Islamic Republic of Pakistan was built."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7591CE-DB8E-10C9-6270-39B50CCA883F}"/>
              </a:ext>
            </a:extLst>
          </p:cNvPr>
          <p:cNvSpPr txBox="1"/>
          <p:nvPr/>
        </p:nvSpPr>
        <p:spPr>
          <a:xfrm>
            <a:off x="1314450" y="3560802"/>
            <a:ext cx="10115550" cy="1107996"/>
          </a:xfrm>
          <a:prstGeom prst="rect">
            <a:avLst/>
          </a:prstGeom>
          <a:noFill/>
        </p:spPr>
        <p:txBody>
          <a:bodyPr wrap="square" rtlCol="0">
            <a:spAutoFit/>
          </a:bodyPr>
          <a:lstStyle/>
          <a:p>
            <a:pPr algn="ctr"/>
            <a:r>
              <a:rPr lang="en-US" sz="6600" dirty="0">
                <a:solidFill>
                  <a:schemeClr val="accent1"/>
                </a:solidFill>
                <a:latin typeface="Lucida Handwriting" panose="03010101010101010101" pitchFamily="66" charset="0"/>
              </a:rPr>
              <a:t>Thank You</a:t>
            </a:r>
          </a:p>
        </p:txBody>
      </p:sp>
    </p:spTree>
    <p:extLst>
      <p:ext uri="{BB962C8B-B14F-4D97-AF65-F5344CB8AC3E}">
        <p14:creationId xmlns:p14="http://schemas.microsoft.com/office/powerpoint/2010/main" val="3773620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274</TotalTime>
  <Words>1612</Words>
  <Application>Microsoft Office PowerPoint</Application>
  <PresentationFormat>Custom</PresentationFormat>
  <Paragraphs>84</Paragraphs>
  <Slides>13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Bahnschrift SemiCondensed</vt:lpstr>
      <vt:lpstr>Wingdings 3</vt:lpstr>
      <vt:lpstr>Merriweather Bold</vt:lpstr>
      <vt:lpstr>Bahnschrift SemiBold</vt:lpstr>
      <vt:lpstr>Lucida Handwriting</vt:lpstr>
      <vt:lpstr>Open Sans</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lastModifiedBy>Bushra</cp:lastModifiedBy>
  <cp:revision>8</cp:revision>
  <dcterms:created xsi:type="dcterms:W3CDTF">2026-04-06T18:37:41Z</dcterms:created>
  <dcterms:modified xsi:type="dcterms:W3CDTF">2026-04-09T07:54:00Z</dcterms:modified>
</cp:coreProperties>
</file>