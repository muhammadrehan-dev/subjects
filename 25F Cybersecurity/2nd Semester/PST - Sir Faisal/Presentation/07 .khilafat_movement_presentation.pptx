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4" r:id="rId2"/>
    <p:sldId id="266" r:id="rId3"/>
    <p:sldId id="256" r:id="rId4"/>
    <p:sldId id="257" r:id="rId5"/>
    <p:sldId id="258" r:id="rId6"/>
    <p:sldId id="259" r:id="rId7"/>
    <p:sldId id="260" r:id="rId8"/>
    <p:sldId id="265" r:id="rId9"/>
    <p:sldId id="261" r:id="rId10"/>
    <p:sldId id="262" r:id="rId11"/>
    <p:sldId id="263"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1" d="100"/>
          <a:sy n="71" d="100"/>
        </p:scale>
        <p:origin x="135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8624EB-4114-4650-98E4-CE16A307DD90}"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82D9AACF-485D-44B4-A80F-E2FACAE82998}">
      <dgm:prSet/>
      <dgm:spPr/>
      <dgm:t>
        <a:bodyPr/>
        <a:lstStyle/>
        <a:p>
          <a:r>
            <a:rPr lang="en-US"/>
            <a:t>All-India Khilafat Conference (1919)</a:t>
          </a:r>
          <a:br>
            <a:rPr lang="en-US"/>
          </a:br>
          <a:r>
            <a:rPr lang="en-US"/>
            <a:t>This Meeting was held in Delhi. By Muslim leaders. Decision after this meeting was to organize a political movement to pressure the British.</a:t>
          </a:r>
        </a:p>
      </dgm:t>
    </dgm:pt>
    <dgm:pt modelId="{47D0F8D9-1E5B-469A-9F88-815823B42C0A}" type="parTrans" cxnId="{49A2A6A0-B02F-4061-9237-0D34D49D6843}">
      <dgm:prSet/>
      <dgm:spPr/>
      <dgm:t>
        <a:bodyPr/>
        <a:lstStyle/>
        <a:p>
          <a:endParaRPr lang="en-US"/>
        </a:p>
      </dgm:t>
    </dgm:pt>
    <dgm:pt modelId="{385B0F8C-153B-42ED-BDE1-452AB178560C}" type="sibTrans" cxnId="{49A2A6A0-B02F-4061-9237-0D34D49D6843}">
      <dgm:prSet/>
      <dgm:spPr/>
      <dgm:t>
        <a:bodyPr/>
        <a:lstStyle/>
        <a:p>
          <a:endParaRPr lang="en-US"/>
        </a:p>
      </dgm:t>
    </dgm:pt>
    <dgm:pt modelId="{57CCCCC3-CDDC-4A91-812C-CCB30D812116}">
      <dgm:prSet/>
      <dgm:spPr/>
      <dgm:t>
        <a:bodyPr/>
        <a:lstStyle/>
        <a:p>
          <a:r>
            <a:rPr lang="en-US"/>
            <a:t>Khilafat Delegation to Britain (1920)</a:t>
          </a:r>
          <a:br>
            <a:rPr lang="en-US"/>
          </a:br>
          <a:r>
            <a:rPr lang="en-US"/>
            <a:t>This meeting was held in London. They tried to convince the British government to protect the Caliphate.</a:t>
          </a:r>
        </a:p>
      </dgm:t>
    </dgm:pt>
    <dgm:pt modelId="{2CFE4BEC-AE30-42B7-83B5-E9DACD10F915}" type="parTrans" cxnId="{B7CDEDC6-297C-4CF2-8E73-E466B97C5593}">
      <dgm:prSet/>
      <dgm:spPr/>
      <dgm:t>
        <a:bodyPr/>
        <a:lstStyle/>
        <a:p>
          <a:endParaRPr lang="en-US"/>
        </a:p>
      </dgm:t>
    </dgm:pt>
    <dgm:pt modelId="{CCAB05EF-DC30-4CA9-ABD9-B8A7D5263839}" type="sibTrans" cxnId="{B7CDEDC6-297C-4CF2-8E73-E466B97C5593}">
      <dgm:prSet/>
      <dgm:spPr/>
      <dgm:t>
        <a:bodyPr/>
        <a:lstStyle/>
        <a:p>
          <a:endParaRPr lang="en-US"/>
        </a:p>
      </dgm:t>
    </dgm:pt>
    <dgm:pt modelId="{EA9C23C2-316B-43B0-B907-C9D1B77C0CE8}">
      <dgm:prSet/>
      <dgm:spPr/>
      <dgm:t>
        <a:bodyPr/>
        <a:lstStyle/>
        <a:p>
          <a:r>
            <a:rPr lang="en-US"/>
            <a:t>Karachi Khilafat Conference (1921)</a:t>
          </a:r>
          <a:br>
            <a:rPr lang="en-US"/>
          </a:br>
          <a:r>
            <a:rPr lang="en-US"/>
            <a:t>This meeting was held in Karachi in which Muslims were urged to boycott British institutions and support the movement.</a:t>
          </a:r>
          <a:br>
            <a:rPr lang="en-US"/>
          </a:br>
          <a:endParaRPr lang="en-US"/>
        </a:p>
      </dgm:t>
    </dgm:pt>
    <dgm:pt modelId="{E4EC301E-3B68-4F1D-AC7D-E261A156B999}" type="parTrans" cxnId="{79274E4E-3C93-4469-9AB3-4AD373D1F90C}">
      <dgm:prSet/>
      <dgm:spPr/>
      <dgm:t>
        <a:bodyPr/>
        <a:lstStyle/>
        <a:p>
          <a:endParaRPr lang="en-US"/>
        </a:p>
      </dgm:t>
    </dgm:pt>
    <dgm:pt modelId="{0212EDE3-ED53-4869-95AC-A16C4F6227EC}" type="sibTrans" cxnId="{79274E4E-3C93-4469-9AB3-4AD373D1F90C}">
      <dgm:prSet/>
      <dgm:spPr/>
      <dgm:t>
        <a:bodyPr/>
        <a:lstStyle/>
        <a:p>
          <a:endParaRPr lang="en-US"/>
        </a:p>
      </dgm:t>
    </dgm:pt>
    <dgm:pt modelId="{05FB26D0-7A9B-432C-89B1-9EFF57ABFD23}" type="pres">
      <dgm:prSet presAssocID="{1D8624EB-4114-4650-98E4-CE16A307DD90}" presName="vert0" presStyleCnt="0">
        <dgm:presLayoutVars>
          <dgm:dir/>
          <dgm:animOne val="branch"/>
          <dgm:animLvl val="lvl"/>
        </dgm:presLayoutVars>
      </dgm:prSet>
      <dgm:spPr/>
    </dgm:pt>
    <dgm:pt modelId="{8DD51CC6-3B3E-4724-AE5E-28447F7F3FF1}" type="pres">
      <dgm:prSet presAssocID="{82D9AACF-485D-44B4-A80F-E2FACAE82998}" presName="thickLine" presStyleLbl="alignNode1" presStyleIdx="0" presStyleCnt="3"/>
      <dgm:spPr/>
    </dgm:pt>
    <dgm:pt modelId="{353ABB68-0D8A-4F9D-B4DB-635B1B6C2D32}" type="pres">
      <dgm:prSet presAssocID="{82D9AACF-485D-44B4-A80F-E2FACAE82998}" presName="horz1" presStyleCnt="0"/>
      <dgm:spPr/>
    </dgm:pt>
    <dgm:pt modelId="{1EDD8D51-2FAA-4B0E-9994-BB192FBBE662}" type="pres">
      <dgm:prSet presAssocID="{82D9AACF-485D-44B4-A80F-E2FACAE82998}" presName="tx1" presStyleLbl="revTx" presStyleIdx="0" presStyleCnt="3"/>
      <dgm:spPr/>
    </dgm:pt>
    <dgm:pt modelId="{552CA866-32CB-4F9B-9092-46FF4FF8E3AE}" type="pres">
      <dgm:prSet presAssocID="{82D9AACF-485D-44B4-A80F-E2FACAE82998}" presName="vert1" presStyleCnt="0"/>
      <dgm:spPr/>
    </dgm:pt>
    <dgm:pt modelId="{93B49E09-E79D-4CCC-A409-8F9D879D324F}" type="pres">
      <dgm:prSet presAssocID="{57CCCCC3-CDDC-4A91-812C-CCB30D812116}" presName="thickLine" presStyleLbl="alignNode1" presStyleIdx="1" presStyleCnt="3"/>
      <dgm:spPr/>
    </dgm:pt>
    <dgm:pt modelId="{193FD880-7C74-48DF-9654-C68B5C3BBC7D}" type="pres">
      <dgm:prSet presAssocID="{57CCCCC3-CDDC-4A91-812C-CCB30D812116}" presName="horz1" presStyleCnt="0"/>
      <dgm:spPr/>
    </dgm:pt>
    <dgm:pt modelId="{3304EBFB-22AB-45DE-872D-908837EBDA38}" type="pres">
      <dgm:prSet presAssocID="{57CCCCC3-CDDC-4A91-812C-CCB30D812116}" presName="tx1" presStyleLbl="revTx" presStyleIdx="1" presStyleCnt="3"/>
      <dgm:spPr/>
    </dgm:pt>
    <dgm:pt modelId="{13736550-3DB9-468A-B18A-31064FAE9A47}" type="pres">
      <dgm:prSet presAssocID="{57CCCCC3-CDDC-4A91-812C-CCB30D812116}" presName="vert1" presStyleCnt="0"/>
      <dgm:spPr/>
    </dgm:pt>
    <dgm:pt modelId="{AC70511F-F9A8-4194-9004-B94E735AF807}" type="pres">
      <dgm:prSet presAssocID="{EA9C23C2-316B-43B0-B907-C9D1B77C0CE8}" presName="thickLine" presStyleLbl="alignNode1" presStyleIdx="2" presStyleCnt="3"/>
      <dgm:spPr/>
    </dgm:pt>
    <dgm:pt modelId="{BBCF869D-C2DE-416F-8760-253DED9430DD}" type="pres">
      <dgm:prSet presAssocID="{EA9C23C2-316B-43B0-B907-C9D1B77C0CE8}" presName="horz1" presStyleCnt="0"/>
      <dgm:spPr/>
    </dgm:pt>
    <dgm:pt modelId="{38511B1B-B8D1-4991-B974-68685A0FFF00}" type="pres">
      <dgm:prSet presAssocID="{EA9C23C2-316B-43B0-B907-C9D1B77C0CE8}" presName="tx1" presStyleLbl="revTx" presStyleIdx="2" presStyleCnt="3"/>
      <dgm:spPr/>
    </dgm:pt>
    <dgm:pt modelId="{671500DC-043C-4471-B64F-F9BA3A9F3CE5}" type="pres">
      <dgm:prSet presAssocID="{EA9C23C2-316B-43B0-B907-C9D1B77C0CE8}" presName="vert1" presStyleCnt="0"/>
      <dgm:spPr/>
    </dgm:pt>
  </dgm:ptLst>
  <dgm:cxnLst>
    <dgm:cxn modelId="{2A81B541-E907-4AA2-AD09-BCC430C94264}" type="presOf" srcId="{82D9AACF-485D-44B4-A80F-E2FACAE82998}" destId="{1EDD8D51-2FAA-4B0E-9994-BB192FBBE662}" srcOrd="0" destOrd="0" presId="urn:microsoft.com/office/officeart/2008/layout/LinedList"/>
    <dgm:cxn modelId="{9FAE4E67-D40A-48FB-92F7-024D8778F13A}" type="presOf" srcId="{EA9C23C2-316B-43B0-B907-C9D1B77C0CE8}" destId="{38511B1B-B8D1-4991-B974-68685A0FFF00}" srcOrd="0" destOrd="0" presId="urn:microsoft.com/office/officeart/2008/layout/LinedList"/>
    <dgm:cxn modelId="{79274E4E-3C93-4469-9AB3-4AD373D1F90C}" srcId="{1D8624EB-4114-4650-98E4-CE16A307DD90}" destId="{EA9C23C2-316B-43B0-B907-C9D1B77C0CE8}" srcOrd="2" destOrd="0" parTransId="{E4EC301E-3B68-4F1D-AC7D-E261A156B999}" sibTransId="{0212EDE3-ED53-4869-95AC-A16C4F6227EC}"/>
    <dgm:cxn modelId="{614E9155-D119-400D-B39D-F626A063C2E7}" type="presOf" srcId="{1D8624EB-4114-4650-98E4-CE16A307DD90}" destId="{05FB26D0-7A9B-432C-89B1-9EFF57ABFD23}" srcOrd="0" destOrd="0" presId="urn:microsoft.com/office/officeart/2008/layout/LinedList"/>
    <dgm:cxn modelId="{49A2A6A0-B02F-4061-9237-0D34D49D6843}" srcId="{1D8624EB-4114-4650-98E4-CE16A307DD90}" destId="{82D9AACF-485D-44B4-A80F-E2FACAE82998}" srcOrd="0" destOrd="0" parTransId="{47D0F8D9-1E5B-469A-9F88-815823B42C0A}" sibTransId="{385B0F8C-153B-42ED-BDE1-452AB178560C}"/>
    <dgm:cxn modelId="{B7CDEDC6-297C-4CF2-8E73-E466B97C5593}" srcId="{1D8624EB-4114-4650-98E4-CE16A307DD90}" destId="{57CCCCC3-CDDC-4A91-812C-CCB30D812116}" srcOrd="1" destOrd="0" parTransId="{2CFE4BEC-AE30-42B7-83B5-E9DACD10F915}" sibTransId="{CCAB05EF-DC30-4CA9-ABD9-B8A7D5263839}"/>
    <dgm:cxn modelId="{CD7D9EE6-CC5E-4BF3-873F-B6E73D40DE2F}" type="presOf" srcId="{57CCCCC3-CDDC-4A91-812C-CCB30D812116}" destId="{3304EBFB-22AB-45DE-872D-908837EBDA38}" srcOrd="0" destOrd="0" presId="urn:microsoft.com/office/officeart/2008/layout/LinedList"/>
    <dgm:cxn modelId="{F6CD6BA7-7E0F-4CF9-97E7-3A5938AF8EC0}" type="presParOf" srcId="{05FB26D0-7A9B-432C-89B1-9EFF57ABFD23}" destId="{8DD51CC6-3B3E-4724-AE5E-28447F7F3FF1}" srcOrd="0" destOrd="0" presId="urn:microsoft.com/office/officeart/2008/layout/LinedList"/>
    <dgm:cxn modelId="{3FBFA403-A18C-458A-8CF9-3ECD53F03F4F}" type="presParOf" srcId="{05FB26D0-7A9B-432C-89B1-9EFF57ABFD23}" destId="{353ABB68-0D8A-4F9D-B4DB-635B1B6C2D32}" srcOrd="1" destOrd="0" presId="urn:microsoft.com/office/officeart/2008/layout/LinedList"/>
    <dgm:cxn modelId="{CB8801AF-6A3A-477B-8701-B244128B2102}" type="presParOf" srcId="{353ABB68-0D8A-4F9D-B4DB-635B1B6C2D32}" destId="{1EDD8D51-2FAA-4B0E-9994-BB192FBBE662}" srcOrd="0" destOrd="0" presId="urn:microsoft.com/office/officeart/2008/layout/LinedList"/>
    <dgm:cxn modelId="{78B9D7C6-66D5-4824-A4BB-1CEAC5023567}" type="presParOf" srcId="{353ABB68-0D8A-4F9D-B4DB-635B1B6C2D32}" destId="{552CA866-32CB-4F9B-9092-46FF4FF8E3AE}" srcOrd="1" destOrd="0" presId="urn:microsoft.com/office/officeart/2008/layout/LinedList"/>
    <dgm:cxn modelId="{7925517E-ECBC-4220-ACD3-D88587AD7013}" type="presParOf" srcId="{05FB26D0-7A9B-432C-89B1-9EFF57ABFD23}" destId="{93B49E09-E79D-4CCC-A409-8F9D879D324F}" srcOrd="2" destOrd="0" presId="urn:microsoft.com/office/officeart/2008/layout/LinedList"/>
    <dgm:cxn modelId="{0C14FE01-DD3B-4408-8AD0-05D697C00F16}" type="presParOf" srcId="{05FB26D0-7A9B-432C-89B1-9EFF57ABFD23}" destId="{193FD880-7C74-48DF-9654-C68B5C3BBC7D}" srcOrd="3" destOrd="0" presId="urn:microsoft.com/office/officeart/2008/layout/LinedList"/>
    <dgm:cxn modelId="{80ADF2F7-FAA7-4D28-9F4E-A1956CFE6564}" type="presParOf" srcId="{193FD880-7C74-48DF-9654-C68B5C3BBC7D}" destId="{3304EBFB-22AB-45DE-872D-908837EBDA38}" srcOrd="0" destOrd="0" presId="urn:microsoft.com/office/officeart/2008/layout/LinedList"/>
    <dgm:cxn modelId="{FD57B2F6-6F1B-457B-8643-FE86AF939392}" type="presParOf" srcId="{193FD880-7C74-48DF-9654-C68B5C3BBC7D}" destId="{13736550-3DB9-468A-B18A-31064FAE9A47}" srcOrd="1" destOrd="0" presId="urn:microsoft.com/office/officeart/2008/layout/LinedList"/>
    <dgm:cxn modelId="{1C3FC83F-D76C-4A0E-80E4-8C298A54CFC7}" type="presParOf" srcId="{05FB26D0-7A9B-432C-89B1-9EFF57ABFD23}" destId="{AC70511F-F9A8-4194-9004-B94E735AF807}" srcOrd="4" destOrd="0" presId="urn:microsoft.com/office/officeart/2008/layout/LinedList"/>
    <dgm:cxn modelId="{2746E668-8FBF-4098-8082-28E0F1C5BED3}" type="presParOf" srcId="{05FB26D0-7A9B-432C-89B1-9EFF57ABFD23}" destId="{BBCF869D-C2DE-416F-8760-253DED9430DD}" srcOrd="5" destOrd="0" presId="urn:microsoft.com/office/officeart/2008/layout/LinedList"/>
    <dgm:cxn modelId="{D63CD638-9DE4-4C71-9166-CEC0814B2057}" type="presParOf" srcId="{BBCF869D-C2DE-416F-8760-253DED9430DD}" destId="{38511B1B-B8D1-4991-B974-68685A0FFF00}" srcOrd="0" destOrd="0" presId="urn:microsoft.com/office/officeart/2008/layout/LinedList"/>
    <dgm:cxn modelId="{5FB976B4-DF5E-4467-8852-33197E376785}" type="presParOf" srcId="{BBCF869D-C2DE-416F-8760-253DED9430DD}" destId="{671500DC-043C-4471-B64F-F9BA3A9F3CE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D51CC6-3B3E-4724-AE5E-28447F7F3FF1}">
      <dsp:nvSpPr>
        <dsp:cNvPr id="0" name=""/>
        <dsp:cNvSpPr/>
      </dsp:nvSpPr>
      <dsp:spPr>
        <a:xfrm>
          <a:off x="0" y="2209"/>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DD8D51-2FAA-4B0E-9994-BB192FBBE662}">
      <dsp:nvSpPr>
        <dsp:cNvPr id="0" name=""/>
        <dsp:cNvSpPr/>
      </dsp:nvSpPr>
      <dsp:spPr>
        <a:xfrm>
          <a:off x="0" y="2209"/>
          <a:ext cx="8229600" cy="1507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All-India Khilafat Conference (1919)</a:t>
          </a:r>
          <a:br>
            <a:rPr lang="en-US" sz="2300" kern="1200"/>
          </a:br>
          <a:r>
            <a:rPr lang="en-US" sz="2300" kern="1200"/>
            <a:t>This Meeting was held in Delhi. By Muslim leaders. Decision after this meeting was to organize a political movement to pressure the British.</a:t>
          </a:r>
        </a:p>
      </dsp:txBody>
      <dsp:txXfrm>
        <a:off x="0" y="2209"/>
        <a:ext cx="8229600" cy="1507181"/>
      </dsp:txXfrm>
    </dsp:sp>
    <dsp:sp modelId="{93B49E09-E79D-4CCC-A409-8F9D879D324F}">
      <dsp:nvSpPr>
        <dsp:cNvPr id="0" name=""/>
        <dsp:cNvSpPr/>
      </dsp:nvSpPr>
      <dsp:spPr>
        <a:xfrm>
          <a:off x="0" y="150939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04EBFB-22AB-45DE-872D-908837EBDA38}">
      <dsp:nvSpPr>
        <dsp:cNvPr id="0" name=""/>
        <dsp:cNvSpPr/>
      </dsp:nvSpPr>
      <dsp:spPr>
        <a:xfrm>
          <a:off x="0" y="1509390"/>
          <a:ext cx="8229600" cy="1507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Khilafat Delegation to Britain (1920)</a:t>
          </a:r>
          <a:br>
            <a:rPr lang="en-US" sz="2300" kern="1200"/>
          </a:br>
          <a:r>
            <a:rPr lang="en-US" sz="2300" kern="1200"/>
            <a:t>This meeting was held in London. They tried to convince the British government to protect the Caliphate.</a:t>
          </a:r>
        </a:p>
      </dsp:txBody>
      <dsp:txXfrm>
        <a:off x="0" y="1509390"/>
        <a:ext cx="8229600" cy="1507181"/>
      </dsp:txXfrm>
    </dsp:sp>
    <dsp:sp modelId="{AC70511F-F9A8-4194-9004-B94E735AF807}">
      <dsp:nvSpPr>
        <dsp:cNvPr id="0" name=""/>
        <dsp:cNvSpPr/>
      </dsp:nvSpPr>
      <dsp:spPr>
        <a:xfrm>
          <a:off x="0" y="3016572"/>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511B1B-B8D1-4991-B974-68685A0FFF00}">
      <dsp:nvSpPr>
        <dsp:cNvPr id="0" name=""/>
        <dsp:cNvSpPr/>
      </dsp:nvSpPr>
      <dsp:spPr>
        <a:xfrm>
          <a:off x="0" y="3016572"/>
          <a:ext cx="8229600" cy="1507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Karachi Khilafat Conference (1921)</a:t>
          </a:r>
          <a:br>
            <a:rPr lang="en-US" sz="2300" kern="1200"/>
          </a:br>
          <a:r>
            <a:rPr lang="en-US" sz="2300" kern="1200"/>
            <a:t>This meeting was held in Karachi in which Muslims were urged to boycott British institutions and support the movement.</a:t>
          </a:r>
          <a:br>
            <a:rPr lang="en-US" sz="2300" kern="1200"/>
          </a:br>
          <a:endParaRPr lang="en-US" sz="2300" kern="1200"/>
        </a:p>
      </dsp:txBody>
      <dsp:txXfrm>
        <a:off x="0" y="3016572"/>
        <a:ext cx="8229600" cy="150718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D1DA68-065F-416F-AD7E-04EDC475F903}" type="datetimeFigureOut">
              <a:rPr lang="en-US" smtClean="0"/>
              <a:t>3/15/2026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B3E8E2-7896-4DE6-8BB4-16035AFCBE1E}" type="slidenum">
              <a:rPr lang="en-US" smtClean="0"/>
              <a:t>‹#›</a:t>
            </a:fld>
            <a:endParaRPr lang="en-US"/>
          </a:p>
        </p:txBody>
      </p:sp>
    </p:spTree>
    <p:extLst>
      <p:ext uri="{BB962C8B-B14F-4D97-AF65-F5344CB8AC3E}">
        <p14:creationId xmlns:p14="http://schemas.microsoft.com/office/powerpoint/2010/main" val="1514838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B5399CF-B32E-441E-A460-524D95CB131C}" type="datetime1">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2182BB-1291-4007-A659-0D0B211327C4}" type="datetime1">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3F36CD-D578-4293-910D-DCB7B4048CD4}" type="datetime1">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B32784C-3B65-494F-A742-9AA47717734C}" type="datetime1">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50053F6-059F-4D62-916D-9F2BB1B18E73}" type="datetime1">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1284962-085D-40BD-AFC8-491118FA5357}" type="datetime1">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5FBEA6-BD13-49DF-AE27-669081993051}" type="datetime1">
              <a:rPr lang="en-US" smtClean="0"/>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17C61A-E0F5-4AD3-BC9E-6A08864890D1}" type="datetime1">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B76264-61E3-459B-A493-406524EC97B4}" type="datetime1">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97C0EAD-5544-4096-9006-9EB2DBE2E43D}" type="datetime1">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928B48-B875-490B-BD0F-F1F0702B53E0}" type="datetime1">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0A2DF4-DB92-4A9F-A525-F080831A2EB4}" type="datetime1">
              <a:rPr lang="en-US" smtClean="0"/>
              <a:t>3/15/2026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C9525-A9F2-2FC8-3B88-ABEEDF283E66}"/>
              </a:ext>
            </a:extLst>
          </p:cNvPr>
          <p:cNvSpPr>
            <a:spLocks noGrp="1"/>
          </p:cNvSpPr>
          <p:nvPr>
            <p:ph type="ctrTitle"/>
          </p:nvPr>
        </p:nvSpPr>
        <p:spPr/>
        <p:txBody>
          <a:bodyPr/>
          <a:lstStyle/>
          <a:p>
            <a:endParaRPr lang="en-US"/>
          </a:p>
        </p:txBody>
      </p:sp>
      <p:sp useBgFill="1">
        <p:nvSpPr>
          <p:cNvPr id="4" name="Rectangle 3">
            <a:extLst>
              <a:ext uri="{FF2B5EF4-FFF2-40B4-BE49-F238E27FC236}">
                <a16:creationId xmlns:a16="http://schemas.microsoft.com/office/drawing/2014/main" id="{0F3C2A5F-9D33-49A9-0723-59F284BB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028F95AE-E365-4DF1-59B0-51BC3F7C5DD1}"/>
              </a:ext>
            </a:extLst>
          </p:cNvPr>
          <p:cNvSpPr txBox="1">
            <a:spLocks/>
          </p:cNvSpPr>
          <p:nvPr/>
        </p:nvSpPr>
        <p:spPr>
          <a:xfrm>
            <a:off x="627507" y="2210475"/>
            <a:ext cx="7886700" cy="182844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pPr>
            <a:r>
              <a:rPr lang="en-US" sz="4500" dirty="0"/>
              <a:t>Khilafat Movement (1919–1924)</a:t>
            </a:r>
          </a:p>
        </p:txBody>
      </p:sp>
      <p:sp>
        <p:nvSpPr>
          <p:cNvPr id="6" name="TextBox 5">
            <a:extLst>
              <a:ext uri="{FF2B5EF4-FFF2-40B4-BE49-F238E27FC236}">
                <a16:creationId xmlns:a16="http://schemas.microsoft.com/office/drawing/2014/main" id="{B5528B3A-BBFE-6AFE-411F-546404DA163D}"/>
              </a:ext>
            </a:extLst>
          </p:cNvPr>
          <p:cNvSpPr txBox="1"/>
          <p:nvPr/>
        </p:nvSpPr>
        <p:spPr>
          <a:xfrm>
            <a:off x="2946108" y="370823"/>
            <a:ext cx="3873484" cy="1008826"/>
          </a:xfrm>
          <a:prstGeom prst="rect">
            <a:avLst/>
          </a:prstGeom>
        </p:spPr>
        <p:txBody>
          <a:bodyPr vert="horz" lIns="91440" tIns="45720" rIns="91440" bIns="45720" rtlCol="0">
            <a:normAutofit lnSpcReduction="10000"/>
          </a:bodyPr>
          <a:lstStyle/>
          <a:p>
            <a:pPr defTabSz="914400">
              <a:lnSpc>
                <a:spcPct val="90000"/>
              </a:lnSpc>
              <a:spcAft>
                <a:spcPts val="600"/>
              </a:spcAft>
            </a:pPr>
            <a:r>
              <a:rPr lang="en-US" sz="1700" dirty="0"/>
              <a:t>Dawood University</a:t>
            </a:r>
            <a:br>
              <a:rPr lang="en-US" sz="1700" dirty="0"/>
            </a:br>
            <a:r>
              <a:rPr lang="en-US" sz="1700" dirty="0"/>
              <a:t>Department of Cyber Security</a:t>
            </a:r>
            <a:br>
              <a:rPr lang="en-US" sz="1700" dirty="0"/>
            </a:br>
            <a:r>
              <a:rPr lang="en-US" sz="1700" dirty="0"/>
              <a:t>Section A2</a:t>
            </a:r>
            <a:br>
              <a:rPr lang="en-US" sz="1700" dirty="0"/>
            </a:br>
            <a:r>
              <a:rPr lang="en-US" sz="1700" dirty="0"/>
              <a:t>Pakistan Studies</a:t>
            </a:r>
          </a:p>
        </p:txBody>
      </p:sp>
      <p:pic>
        <p:nvPicPr>
          <p:cNvPr id="7" name="Picture 2" descr="Dawood University of Engineering and Technology logo">
            <a:extLst>
              <a:ext uri="{FF2B5EF4-FFF2-40B4-BE49-F238E27FC236}">
                <a16:creationId xmlns:a16="http://schemas.microsoft.com/office/drawing/2014/main" id="{0B813BB2-96B1-B8EE-C9EB-2E7934ED5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075" y="66206"/>
            <a:ext cx="1313443" cy="131344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0B330EC-EDB5-1F94-7492-ED9288703070}"/>
              </a:ext>
            </a:extLst>
          </p:cNvPr>
          <p:cNvSpPr txBox="1"/>
          <p:nvPr/>
        </p:nvSpPr>
        <p:spPr>
          <a:xfrm>
            <a:off x="6145306" y="6117775"/>
            <a:ext cx="2368901" cy="369332"/>
          </a:xfrm>
          <a:prstGeom prst="rect">
            <a:avLst/>
          </a:prstGeom>
          <a:noFill/>
        </p:spPr>
        <p:txBody>
          <a:bodyPr wrap="square" rtlCol="0">
            <a:spAutoFit/>
          </a:bodyPr>
          <a:lstStyle/>
          <a:p>
            <a:r>
              <a:rPr lang="en-US" b="1" dirty="0"/>
              <a:t>Teacher Name</a:t>
            </a:r>
            <a:r>
              <a:rPr lang="en-US" dirty="0"/>
              <a:t>: Faisal</a:t>
            </a:r>
          </a:p>
        </p:txBody>
      </p:sp>
      <p:sp>
        <p:nvSpPr>
          <p:cNvPr id="9" name="TextBox 8">
            <a:extLst>
              <a:ext uri="{FF2B5EF4-FFF2-40B4-BE49-F238E27FC236}">
                <a16:creationId xmlns:a16="http://schemas.microsoft.com/office/drawing/2014/main" id="{CAFDF4C2-8926-65C8-38F1-41075A83B6FB}"/>
              </a:ext>
            </a:extLst>
          </p:cNvPr>
          <p:cNvSpPr txBox="1"/>
          <p:nvPr/>
        </p:nvSpPr>
        <p:spPr>
          <a:xfrm>
            <a:off x="5459506" y="4573378"/>
            <a:ext cx="3539711" cy="1200329"/>
          </a:xfrm>
          <a:prstGeom prst="rect">
            <a:avLst/>
          </a:prstGeom>
          <a:noFill/>
        </p:spPr>
        <p:txBody>
          <a:bodyPr wrap="square" rtlCol="0">
            <a:spAutoFit/>
          </a:bodyPr>
          <a:lstStyle/>
          <a:p>
            <a:pPr algn="ctr"/>
            <a:r>
              <a:rPr lang="en-US" b="1" dirty="0"/>
              <a:t>Students</a:t>
            </a:r>
          </a:p>
          <a:p>
            <a:pPr algn="ctr"/>
            <a:r>
              <a:rPr lang="en-US" dirty="0"/>
              <a:t>25F-CY-174  Shahmeer Raza</a:t>
            </a:r>
          </a:p>
          <a:p>
            <a:pPr algn="ctr"/>
            <a:r>
              <a:rPr lang="en-US"/>
              <a:t>25F-CY-057 </a:t>
            </a:r>
            <a:r>
              <a:rPr lang="en-US" dirty="0"/>
              <a:t>Azeem Iqbal</a:t>
            </a:r>
          </a:p>
          <a:p>
            <a:pPr algn="ctr"/>
            <a:r>
              <a:rPr lang="en-US" dirty="0"/>
              <a:t>25F-CY-176 </a:t>
            </a:r>
            <a:r>
              <a:rPr lang="en-US" dirty="0" err="1"/>
              <a:t>M.Sarim</a:t>
            </a:r>
            <a:r>
              <a:rPr lang="en-US" dirty="0"/>
              <a:t> Khan</a:t>
            </a:r>
          </a:p>
        </p:txBody>
      </p:sp>
      <p:sp>
        <p:nvSpPr>
          <p:cNvPr id="11" name="Slide Number Placeholder 10">
            <a:extLst>
              <a:ext uri="{FF2B5EF4-FFF2-40B4-BE49-F238E27FC236}">
                <a16:creationId xmlns:a16="http://schemas.microsoft.com/office/drawing/2014/main" id="{2268A8F5-64AF-EAA4-A444-5E338494D3AF}"/>
              </a:ext>
            </a:extLst>
          </p:cNvPr>
          <p:cNvSpPr>
            <a:spLocks noGrp="1"/>
          </p:cNvSpPr>
          <p:nvPr>
            <p:ph type="sldNum" sz="quarter" idx="12"/>
          </p:nvPr>
        </p:nvSpPr>
        <p:spPr/>
        <p:txBody>
          <a:bodyPr/>
          <a:lstStyle/>
          <a:p>
            <a:fld id="{C1FF6DA9-008F-8B48-92A6-B652298478BF}" type="slidenum">
              <a:rPr lang="en-US" smtClean="0"/>
              <a:t>1</a:t>
            </a:fld>
            <a:endParaRPr lang="en-US"/>
          </a:p>
        </p:txBody>
      </p:sp>
    </p:spTree>
    <p:extLst>
      <p:ext uri="{BB962C8B-B14F-4D97-AF65-F5344CB8AC3E}">
        <p14:creationId xmlns:p14="http://schemas.microsoft.com/office/powerpoint/2010/main" val="12982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66E6E7-DCC4-61A1-1FA7-2E0FDF2D4179}"/>
              </a:ext>
            </a:extLst>
          </p:cNvPr>
          <p:cNvSpPr>
            <a:spLocks noGrp="1"/>
          </p:cNvSpPr>
          <p:nvPr>
            <p:ph type="sldNum" sz="quarter" idx="12"/>
          </p:nvPr>
        </p:nvSpPr>
        <p:spPr/>
        <p:txBody>
          <a:bodyPr/>
          <a:lstStyle/>
          <a:p>
            <a:fld id="{C1FF6DA9-008F-8B48-92A6-B652298478BF}" type="slidenum">
              <a:rPr lang="en-US" smtClean="0"/>
              <a:t>2</a:t>
            </a:fld>
            <a:endParaRPr lang="en-US"/>
          </a:p>
        </p:txBody>
      </p:sp>
      <p:graphicFrame>
        <p:nvGraphicFramePr>
          <p:cNvPr id="5" name="Table 4">
            <a:extLst>
              <a:ext uri="{FF2B5EF4-FFF2-40B4-BE49-F238E27FC236}">
                <a16:creationId xmlns:a16="http://schemas.microsoft.com/office/drawing/2014/main" id="{5EDE7FB5-A762-3735-AEAB-2321643BE271}"/>
              </a:ext>
            </a:extLst>
          </p:cNvPr>
          <p:cNvGraphicFramePr>
            <a:graphicFrameLocks noGrp="1"/>
          </p:cNvGraphicFramePr>
          <p:nvPr>
            <p:extLst>
              <p:ext uri="{D42A27DB-BD31-4B8C-83A1-F6EECF244321}">
                <p14:modId xmlns:p14="http://schemas.microsoft.com/office/powerpoint/2010/main" val="1191490700"/>
              </p:ext>
            </p:extLst>
          </p:nvPr>
        </p:nvGraphicFramePr>
        <p:xfrm>
          <a:off x="1524000" y="1052525"/>
          <a:ext cx="6096000" cy="4752950"/>
        </p:xfrm>
        <a:graphic>
          <a:graphicData uri="http://schemas.openxmlformats.org/drawingml/2006/table">
            <a:tbl>
              <a:tblPr firstRow="1" bandRow="1">
                <a:tableStyleId>{5C22544A-7EE6-4342-B048-85BDC9FD1C3A}</a:tableStyleId>
              </a:tblPr>
              <a:tblGrid>
                <a:gridCol w="869576">
                  <a:extLst>
                    <a:ext uri="{9D8B030D-6E8A-4147-A177-3AD203B41FA5}">
                      <a16:colId xmlns:a16="http://schemas.microsoft.com/office/drawing/2014/main" val="503171307"/>
                    </a:ext>
                  </a:extLst>
                </a:gridCol>
                <a:gridCol w="4464424">
                  <a:extLst>
                    <a:ext uri="{9D8B030D-6E8A-4147-A177-3AD203B41FA5}">
                      <a16:colId xmlns:a16="http://schemas.microsoft.com/office/drawing/2014/main" val="4272519571"/>
                    </a:ext>
                  </a:extLst>
                </a:gridCol>
                <a:gridCol w="762000">
                  <a:extLst>
                    <a:ext uri="{9D8B030D-6E8A-4147-A177-3AD203B41FA5}">
                      <a16:colId xmlns:a16="http://schemas.microsoft.com/office/drawing/2014/main" val="2310876205"/>
                    </a:ext>
                  </a:extLst>
                </a:gridCol>
              </a:tblGrid>
              <a:tr h="475295">
                <a:tc>
                  <a:txBody>
                    <a:bodyPr/>
                    <a:lstStyle/>
                    <a:p>
                      <a:pPr algn="ctr"/>
                      <a:r>
                        <a:rPr lang="en-US" dirty="0" err="1"/>
                        <a:t>S.No</a:t>
                      </a:r>
                      <a:endParaRPr lang="en-US" dirty="0"/>
                    </a:p>
                  </a:txBody>
                  <a:tcPr/>
                </a:tc>
                <a:tc>
                  <a:txBody>
                    <a:bodyPr/>
                    <a:lstStyle/>
                    <a:p>
                      <a:pPr algn="ctr"/>
                      <a:r>
                        <a:rPr lang="en-US" dirty="0"/>
                        <a:t>Topic</a:t>
                      </a:r>
                    </a:p>
                  </a:txBody>
                  <a:tcPr/>
                </a:tc>
                <a:tc>
                  <a:txBody>
                    <a:bodyPr/>
                    <a:lstStyle/>
                    <a:p>
                      <a:pPr algn="ctr"/>
                      <a:r>
                        <a:rPr lang="en-US" dirty="0" err="1"/>
                        <a:t>Pg.No</a:t>
                      </a:r>
                      <a:endParaRPr lang="en-US" dirty="0"/>
                    </a:p>
                  </a:txBody>
                  <a:tcPr/>
                </a:tc>
                <a:extLst>
                  <a:ext uri="{0D108BD9-81ED-4DB2-BD59-A6C34878D82A}">
                    <a16:rowId xmlns:a16="http://schemas.microsoft.com/office/drawing/2014/main" val="2630881361"/>
                  </a:ext>
                </a:extLst>
              </a:tr>
              <a:tr h="475295">
                <a:tc>
                  <a:txBody>
                    <a:bodyPr/>
                    <a:lstStyle/>
                    <a:p>
                      <a:pPr algn="ctr"/>
                      <a:r>
                        <a:rPr lang="en-US" dirty="0"/>
                        <a:t>1</a:t>
                      </a:r>
                    </a:p>
                  </a:txBody>
                  <a:tcPr/>
                </a:tc>
                <a:tc>
                  <a:txBody>
                    <a:bodyPr/>
                    <a:lstStyle/>
                    <a:p>
                      <a:pPr algn="ctr"/>
                      <a:r>
                        <a:rPr lang="en-US" dirty="0"/>
                        <a:t>Introduction to Khilafat Movement</a:t>
                      </a:r>
                    </a:p>
                  </a:txBody>
                  <a:tcPr/>
                </a:tc>
                <a:tc>
                  <a:txBody>
                    <a:bodyPr/>
                    <a:lstStyle/>
                    <a:p>
                      <a:pPr algn="ctr"/>
                      <a:r>
                        <a:rPr lang="en-US" dirty="0"/>
                        <a:t>3</a:t>
                      </a:r>
                    </a:p>
                  </a:txBody>
                  <a:tcPr/>
                </a:tc>
                <a:extLst>
                  <a:ext uri="{0D108BD9-81ED-4DB2-BD59-A6C34878D82A}">
                    <a16:rowId xmlns:a16="http://schemas.microsoft.com/office/drawing/2014/main" val="975809521"/>
                  </a:ext>
                </a:extLst>
              </a:tr>
              <a:tr h="475295">
                <a:tc>
                  <a:txBody>
                    <a:bodyPr/>
                    <a:lstStyle/>
                    <a:p>
                      <a:pPr algn="ctr"/>
                      <a:r>
                        <a:rPr lang="en-US" dirty="0"/>
                        <a:t>2</a:t>
                      </a:r>
                    </a:p>
                  </a:txBody>
                  <a:tcPr/>
                </a:tc>
                <a:tc>
                  <a:txBody>
                    <a:bodyPr/>
                    <a:lstStyle/>
                    <a:p>
                      <a:pPr algn="ctr"/>
                      <a:r>
                        <a:rPr lang="en-US" dirty="0"/>
                        <a:t>Reason of Khilafat Movement</a:t>
                      </a:r>
                    </a:p>
                  </a:txBody>
                  <a:tcPr/>
                </a:tc>
                <a:tc>
                  <a:txBody>
                    <a:bodyPr/>
                    <a:lstStyle/>
                    <a:p>
                      <a:pPr algn="ctr"/>
                      <a:r>
                        <a:rPr lang="en-US" dirty="0"/>
                        <a:t>4</a:t>
                      </a:r>
                    </a:p>
                  </a:txBody>
                  <a:tcPr/>
                </a:tc>
                <a:extLst>
                  <a:ext uri="{0D108BD9-81ED-4DB2-BD59-A6C34878D82A}">
                    <a16:rowId xmlns:a16="http://schemas.microsoft.com/office/drawing/2014/main" val="3965187516"/>
                  </a:ext>
                </a:extLst>
              </a:tr>
              <a:tr h="475295">
                <a:tc>
                  <a:txBody>
                    <a:bodyPr/>
                    <a:lstStyle/>
                    <a:p>
                      <a:pPr algn="ctr"/>
                      <a:r>
                        <a:rPr lang="en-US" dirty="0"/>
                        <a:t>3</a:t>
                      </a:r>
                    </a:p>
                  </a:txBody>
                  <a:tcPr/>
                </a:tc>
                <a:tc>
                  <a:txBody>
                    <a:bodyPr/>
                    <a:lstStyle/>
                    <a:p>
                      <a:pPr algn="ctr"/>
                      <a:r>
                        <a:rPr lang="en-US" sz="1800" dirty="0"/>
                        <a:t>Leadership the Movement Wanted to Protect</a:t>
                      </a:r>
                      <a:endParaRPr lang="en-US" dirty="0"/>
                    </a:p>
                  </a:txBody>
                  <a:tcPr/>
                </a:tc>
                <a:tc>
                  <a:txBody>
                    <a:bodyPr/>
                    <a:lstStyle/>
                    <a:p>
                      <a:pPr algn="ctr"/>
                      <a:r>
                        <a:rPr lang="en-US" dirty="0"/>
                        <a:t>5</a:t>
                      </a:r>
                    </a:p>
                  </a:txBody>
                  <a:tcPr/>
                </a:tc>
                <a:extLst>
                  <a:ext uri="{0D108BD9-81ED-4DB2-BD59-A6C34878D82A}">
                    <a16:rowId xmlns:a16="http://schemas.microsoft.com/office/drawing/2014/main" val="4125981188"/>
                  </a:ext>
                </a:extLst>
              </a:tr>
              <a:tr h="475295">
                <a:tc>
                  <a:txBody>
                    <a:bodyPr/>
                    <a:lstStyle/>
                    <a:p>
                      <a:pPr algn="ctr"/>
                      <a:r>
                        <a:rPr lang="en-US" dirty="0"/>
                        <a:t>4</a:t>
                      </a:r>
                    </a:p>
                  </a:txBody>
                  <a:tcPr/>
                </a:tc>
                <a:tc>
                  <a:txBody>
                    <a:bodyPr/>
                    <a:lstStyle/>
                    <a:p>
                      <a:pPr algn="ctr"/>
                      <a:r>
                        <a:rPr lang="en-US" sz="1800" dirty="0"/>
                        <a:t>Leaders Who Started the Movement</a:t>
                      </a:r>
                      <a:endParaRPr lang="en-US" dirty="0"/>
                    </a:p>
                  </a:txBody>
                  <a:tcPr/>
                </a:tc>
                <a:tc>
                  <a:txBody>
                    <a:bodyPr/>
                    <a:lstStyle/>
                    <a:p>
                      <a:pPr algn="ctr"/>
                      <a:r>
                        <a:rPr lang="en-US" dirty="0"/>
                        <a:t>6</a:t>
                      </a:r>
                    </a:p>
                  </a:txBody>
                  <a:tcPr/>
                </a:tc>
                <a:extLst>
                  <a:ext uri="{0D108BD9-81ED-4DB2-BD59-A6C34878D82A}">
                    <a16:rowId xmlns:a16="http://schemas.microsoft.com/office/drawing/2014/main" val="4255380739"/>
                  </a:ext>
                </a:extLst>
              </a:tr>
              <a:tr h="475295">
                <a:tc>
                  <a:txBody>
                    <a:bodyPr/>
                    <a:lstStyle/>
                    <a:p>
                      <a:pPr algn="ctr"/>
                      <a:r>
                        <a:rPr lang="en-US" dirty="0"/>
                        <a:t>5</a:t>
                      </a:r>
                    </a:p>
                  </a:txBody>
                  <a:tcPr/>
                </a:tc>
                <a:tc>
                  <a:txBody>
                    <a:bodyPr/>
                    <a:lstStyle/>
                    <a:p>
                      <a:pPr algn="ctr"/>
                      <a:r>
                        <a:rPr lang="en-US" sz="1800" dirty="0"/>
                        <a:t>Activities of the Khilafat Movement</a:t>
                      </a:r>
                      <a:endParaRPr lang="en-US" dirty="0"/>
                    </a:p>
                  </a:txBody>
                  <a:tcPr/>
                </a:tc>
                <a:tc>
                  <a:txBody>
                    <a:bodyPr/>
                    <a:lstStyle/>
                    <a:p>
                      <a:pPr algn="ctr"/>
                      <a:r>
                        <a:rPr lang="en-US" dirty="0"/>
                        <a:t>7</a:t>
                      </a:r>
                    </a:p>
                  </a:txBody>
                  <a:tcPr/>
                </a:tc>
                <a:extLst>
                  <a:ext uri="{0D108BD9-81ED-4DB2-BD59-A6C34878D82A}">
                    <a16:rowId xmlns:a16="http://schemas.microsoft.com/office/drawing/2014/main" val="2443338314"/>
                  </a:ext>
                </a:extLst>
              </a:tr>
              <a:tr h="475295">
                <a:tc>
                  <a:txBody>
                    <a:bodyPr/>
                    <a:lstStyle/>
                    <a:p>
                      <a:pPr algn="ctr"/>
                      <a:r>
                        <a:rPr lang="en-US" dirty="0"/>
                        <a:t>6</a:t>
                      </a:r>
                    </a:p>
                  </a:txBody>
                  <a:tcPr/>
                </a:tc>
                <a:tc>
                  <a:txBody>
                    <a:bodyPr/>
                    <a:lstStyle/>
                    <a:p>
                      <a:pPr algn="ctr"/>
                      <a:r>
                        <a:rPr lang="en-US" dirty="0"/>
                        <a:t>Important Meetings</a:t>
                      </a:r>
                    </a:p>
                  </a:txBody>
                  <a:tcPr/>
                </a:tc>
                <a:tc>
                  <a:txBody>
                    <a:bodyPr/>
                    <a:lstStyle/>
                    <a:p>
                      <a:pPr algn="ctr"/>
                      <a:r>
                        <a:rPr lang="en-US" dirty="0"/>
                        <a:t>8</a:t>
                      </a:r>
                    </a:p>
                  </a:txBody>
                  <a:tcPr/>
                </a:tc>
                <a:extLst>
                  <a:ext uri="{0D108BD9-81ED-4DB2-BD59-A6C34878D82A}">
                    <a16:rowId xmlns:a16="http://schemas.microsoft.com/office/drawing/2014/main" val="1245760631"/>
                  </a:ext>
                </a:extLst>
              </a:tr>
              <a:tr h="475295">
                <a:tc>
                  <a:txBody>
                    <a:bodyPr/>
                    <a:lstStyle/>
                    <a:p>
                      <a:pPr algn="ctr"/>
                      <a:r>
                        <a:rPr lang="en-US" dirty="0"/>
                        <a:t>7</a:t>
                      </a:r>
                    </a:p>
                  </a:txBody>
                  <a:tcPr/>
                </a:tc>
                <a:tc>
                  <a:txBody>
                    <a:bodyPr/>
                    <a:lstStyle/>
                    <a:p>
                      <a:pPr algn="ctr"/>
                      <a:r>
                        <a:rPr lang="en-US" sz="1800" dirty="0"/>
                        <a:t>Migration Movement (</a:t>
                      </a:r>
                      <a:r>
                        <a:rPr lang="en-US" sz="1800" dirty="0" err="1"/>
                        <a:t>Hijrat</a:t>
                      </a:r>
                      <a:r>
                        <a:rPr lang="en-US" sz="1800" dirty="0"/>
                        <a:t> Movement)</a:t>
                      </a:r>
                      <a:endParaRPr lang="en-US" dirty="0"/>
                    </a:p>
                  </a:txBody>
                  <a:tcPr/>
                </a:tc>
                <a:tc>
                  <a:txBody>
                    <a:bodyPr/>
                    <a:lstStyle/>
                    <a:p>
                      <a:pPr algn="ctr"/>
                      <a:r>
                        <a:rPr lang="en-US" dirty="0"/>
                        <a:t>9</a:t>
                      </a:r>
                    </a:p>
                  </a:txBody>
                  <a:tcPr/>
                </a:tc>
                <a:extLst>
                  <a:ext uri="{0D108BD9-81ED-4DB2-BD59-A6C34878D82A}">
                    <a16:rowId xmlns:a16="http://schemas.microsoft.com/office/drawing/2014/main" val="1891768950"/>
                  </a:ext>
                </a:extLst>
              </a:tr>
              <a:tr h="475295">
                <a:tc>
                  <a:txBody>
                    <a:bodyPr/>
                    <a:lstStyle/>
                    <a:p>
                      <a:pPr algn="ctr"/>
                      <a:r>
                        <a:rPr lang="en-US" dirty="0"/>
                        <a:t>8</a:t>
                      </a:r>
                    </a:p>
                  </a:txBody>
                  <a:tcPr/>
                </a:tc>
                <a:tc>
                  <a:txBody>
                    <a:bodyPr/>
                    <a:lstStyle/>
                    <a:p>
                      <a:pPr algn="ctr"/>
                      <a:r>
                        <a:rPr lang="en-US" sz="1800" dirty="0"/>
                        <a:t>Non‑Cooperation Movement</a:t>
                      </a:r>
                      <a:endParaRPr lang="en-US" dirty="0"/>
                    </a:p>
                  </a:txBody>
                  <a:tcPr/>
                </a:tc>
                <a:tc>
                  <a:txBody>
                    <a:bodyPr/>
                    <a:lstStyle/>
                    <a:p>
                      <a:pPr algn="ctr"/>
                      <a:r>
                        <a:rPr lang="en-US" dirty="0"/>
                        <a:t>10</a:t>
                      </a:r>
                    </a:p>
                  </a:txBody>
                  <a:tcPr/>
                </a:tc>
                <a:extLst>
                  <a:ext uri="{0D108BD9-81ED-4DB2-BD59-A6C34878D82A}">
                    <a16:rowId xmlns:a16="http://schemas.microsoft.com/office/drawing/2014/main" val="1655164674"/>
                  </a:ext>
                </a:extLst>
              </a:tr>
              <a:tr h="475295">
                <a:tc>
                  <a:txBody>
                    <a:bodyPr/>
                    <a:lstStyle/>
                    <a:p>
                      <a:pPr algn="ctr"/>
                      <a:r>
                        <a:rPr lang="en-US" dirty="0"/>
                        <a:t>9</a:t>
                      </a:r>
                    </a:p>
                  </a:txBody>
                  <a:tcPr/>
                </a:tc>
                <a:tc>
                  <a:txBody>
                    <a:bodyPr/>
                    <a:lstStyle/>
                    <a:p>
                      <a:pPr algn="ctr"/>
                      <a:r>
                        <a:rPr lang="en-US" sz="1800" dirty="0"/>
                        <a:t>Reasons for the Failure of the Movement</a:t>
                      </a:r>
                      <a:endParaRPr lang="en-US" dirty="0"/>
                    </a:p>
                  </a:txBody>
                  <a:tcPr/>
                </a:tc>
                <a:tc>
                  <a:txBody>
                    <a:bodyPr/>
                    <a:lstStyle/>
                    <a:p>
                      <a:pPr algn="ctr"/>
                      <a:r>
                        <a:rPr lang="en-US" dirty="0"/>
                        <a:t>11</a:t>
                      </a:r>
                    </a:p>
                  </a:txBody>
                  <a:tcPr/>
                </a:tc>
                <a:extLst>
                  <a:ext uri="{0D108BD9-81ED-4DB2-BD59-A6C34878D82A}">
                    <a16:rowId xmlns:a16="http://schemas.microsoft.com/office/drawing/2014/main" val="3808529196"/>
                  </a:ext>
                </a:extLst>
              </a:tr>
            </a:tbl>
          </a:graphicData>
        </a:graphic>
      </p:graphicFrame>
    </p:spTree>
    <p:extLst>
      <p:ext uri="{BB962C8B-B14F-4D97-AF65-F5344CB8AC3E}">
        <p14:creationId xmlns:p14="http://schemas.microsoft.com/office/powerpoint/2010/main" val="912677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FC920F-B85A-4068-BD93-41064EDE9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1C559108-BBAE-426C-8564-051D2BA6D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12" name="Rectangle 11">
              <a:extLst>
                <a:ext uri="{FF2B5EF4-FFF2-40B4-BE49-F238E27FC236}">
                  <a16:creationId xmlns:a16="http://schemas.microsoft.com/office/drawing/2014/main" id="{42BC35EE-6650-42D2-AEFB-4B7CD1AFC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952C743-9049-4DFB-878B-2AB07B6E4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4568" y="1238081"/>
            <a:ext cx="3532009" cy="962953"/>
          </a:xfrm>
        </p:spPr>
        <p:txBody>
          <a:bodyPr anchor="b">
            <a:normAutofit/>
          </a:bodyPr>
          <a:lstStyle/>
          <a:p>
            <a:pPr>
              <a:lnSpc>
                <a:spcPct val="90000"/>
              </a:lnSpc>
            </a:pPr>
            <a:r>
              <a:rPr lang="en-US" sz="3100"/>
              <a:t>Introduction: Khilafat Movement</a:t>
            </a:r>
          </a:p>
        </p:txBody>
      </p:sp>
      <p:sp>
        <p:nvSpPr>
          <p:cNvPr id="17" name="Rectangle 16">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4913" y="2372170"/>
            <a:ext cx="329184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25552" y="2508105"/>
            <a:ext cx="3532008" cy="3632493"/>
          </a:xfrm>
        </p:spPr>
        <p:txBody>
          <a:bodyPr anchor="ctr">
            <a:normAutofit fontScale="92500"/>
          </a:bodyPr>
          <a:lstStyle/>
          <a:p>
            <a:pPr marL="0" indent="0">
              <a:buNone/>
            </a:pPr>
            <a:r>
              <a:rPr lang="en-US" sz="2400" dirty="0"/>
              <a:t>The Khilafat Movement was a political and religious movement launched by Indian Muslims after World War I to protect the Ottoman Caliphate. It played an important role in the history of the Muslim struggle in the Indian subcontinent.</a:t>
            </a:r>
          </a:p>
        </p:txBody>
      </p:sp>
      <p:pic>
        <p:nvPicPr>
          <p:cNvPr id="4" name="Picture 3">
            <a:extLst>
              <a:ext uri="{FF2B5EF4-FFF2-40B4-BE49-F238E27FC236}">
                <a16:creationId xmlns:a16="http://schemas.microsoft.com/office/drawing/2014/main" id="{BBBA964A-A001-E4E9-3F9F-BD10AF211B49}"/>
              </a:ext>
            </a:extLst>
          </p:cNvPr>
          <p:cNvPicPr>
            <a:picLocks noChangeAspect="1"/>
          </p:cNvPicPr>
          <p:nvPr/>
        </p:nvPicPr>
        <p:blipFill>
          <a:blip r:embed="rId2"/>
          <a:srcRect l="30575" r="30567" b="-1"/>
          <a:stretch>
            <a:fillRect/>
          </a:stretch>
        </p:blipFill>
        <p:spPr>
          <a:xfrm>
            <a:off x="4903774" y="1383738"/>
            <a:ext cx="3696824" cy="4756870"/>
          </a:xfrm>
          <a:prstGeom prst="rect">
            <a:avLst/>
          </a:prstGeom>
        </p:spPr>
      </p:pic>
      <p:sp>
        <p:nvSpPr>
          <p:cNvPr id="5" name="Slide Number Placeholder 4">
            <a:extLst>
              <a:ext uri="{FF2B5EF4-FFF2-40B4-BE49-F238E27FC236}">
                <a16:creationId xmlns:a16="http://schemas.microsoft.com/office/drawing/2014/main" id="{BF3FB57F-E2C7-8EAD-96D3-F6439A2EA885}"/>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FC920F-B85A-4068-BD93-41064EDE9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1C559108-BBAE-426C-8564-051D2BA6D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12" name="Rectangle 11">
              <a:extLst>
                <a:ext uri="{FF2B5EF4-FFF2-40B4-BE49-F238E27FC236}">
                  <a16:creationId xmlns:a16="http://schemas.microsoft.com/office/drawing/2014/main" id="{42BC35EE-6650-42D2-AEFB-4B7CD1AFC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952C743-9049-4DFB-878B-2AB07B6E4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4568" y="1238081"/>
            <a:ext cx="3532009" cy="962953"/>
          </a:xfrm>
        </p:spPr>
        <p:txBody>
          <a:bodyPr anchor="b">
            <a:normAutofit/>
          </a:bodyPr>
          <a:lstStyle/>
          <a:p>
            <a:pPr>
              <a:lnSpc>
                <a:spcPct val="90000"/>
              </a:lnSpc>
            </a:pPr>
            <a:r>
              <a:rPr lang="en-US" sz="3100"/>
              <a:t>Reasons for the Start of the Movement</a:t>
            </a:r>
          </a:p>
        </p:txBody>
      </p:sp>
      <p:sp>
        <p:nvSpPr>
          <p:cNvPr id="17" name="Rectangle 16">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4913" y="2372170"/>
            <a:ext cx="329184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25552" y="2508105"/>
            <a:ext cx="3532008" cy="3632493"/>
          </a:xfrm>
        </p:spPr>
        <p:txBody>
          <a:bodyPr anchor="ctr">
            <a:normAutofit fontScale="92500"/>
          </a:bodyPr>
          <a:lstStyle/>
          <a:p>
            <a:pPr marL="0" indent="0" algn="ctr">
              <a:buNone/>
            </a:pPr>
            <a:r>
              <a:rPr lang="en-US" sz="2000" dirty="0"/>
              <a:t>After World War I, the Ottoman Empire was defeated. The Allied powers planned to divide its territories and weaken the authority of the Ottoman Caliph, who was considered the leader of Muslims worldwide. Indian Muslims believed it was their religious duty to defend the Caliphate and therefore began a movement demanding that the British government protect it.</a:t>
            </a:r>
          </a:p>
        </p:txBody>
      </p:sp>
      <p:pic>
        <p:nvPicPr>
          <p:cNvPr id="4" name="Picture 3">
            <a:extLst>
              <a:ext uri="{FF2B5EF4-FFF2-40B4-BE49-F238E27FC236}">
                <a16:creationId xmlns:a16="http://schemas.microsoft.com/office/drawing/2014/main" id="{02FD7164-08D4-C3F2-6D40-431B6403319E}"/>
              </a:ext>
            </a:extLst>
          </p:cNvPr>
          <p:cNvPicPr>
            <a:picLocks noChangeAspect="1"/>
          </p:cNvPicPr>
          <p:nvPr/>
        </p:nvPicPr>
        <p:blipFill>
          <a:blip r:embed="rId2"/>
          <a:srcRect l="32480" r="19920" b="1"/>
          <a:stretch>
            <a:fillRect/>
          </a:stretch>
        </p:blipFill>
        <p:spPr>
          <a:xfrm>
            <a:off x="4903774" y="1383738"/>
            <a:ext cx="3696824" cy="4756870"/>
          </a:xfrm>
          <a:prstGeom prst="rect">
            <a:avLst/>
          </a:prstGeom>
        </p:spPr>
      </p:pic>
      <p:sp>
        <p:nvSpPr>
          <p:cNvPr id="5" name="Slide Number Placeholder 4">
            <a:extLst>
              <a:ext uri="{FF2B5EF4-FFF2-40B4-BE49-F238E27FC236}">
                <a16:creationId xmlns:a16="http://schemas.microsoft.com/office/drawing/2014/main" id="{D6DDFBBC-3E00-FAD2-D5D9-D956638CA534}"/>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36F9615C-2682-11FD-ECAC-3F72458A35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471" r="4779"/>
          <a:stretch>
            <a:fillRect/>
          </a:stretch>
        </p:blipFill>
        <p:spPr bwMode="auto">
          <a:xfrm>
            <a:off x="20" y="-2"/>
            <a:ext cx="4057627" cy="6858002"/>
          </a:xfrm>
          <a:prstGeom prst="rect">
            <a:avLst/>
          </a:prstGeom>
          <a:noFill/>
          <a:extLst>
            <a:ext uri="{909E8E84-426E-40DD-AFC4-6F175D3DCCD1}">
              <a14:hiddenFill xmlns:a14="http://schemas.microsoft.com/office/drawing/2010/main">
                <a:solidFill>
                  <a:srgbClr val="FFFFFF"/>
                </a:solidFill>
              </a14:hiddenFill>
            </a:ext>
          </a:extLst>
        </p:spPr>
      </p:pic>
      <p:sp useBgFill="1">
        <p:nvSpPr>
          <p:cNvPr id="1033" name="Rectangle 1032">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86487" y="405685"/>
            <a:ext cx="4098726" cy="1559301"/>
          </a:xfrm>
        </p:spPr>
        <p:txBody>
          <a:bodyPr>
            <a:normAutofit/>
          </a:bodyPr>
          <a:lstStyle/>
          <a:p>
            <a:pPr>
              <a:lnSpc>
                <a:spcPct val="90000"/>
              </a:lnSpc>
            </a:pPr>
            <a:r>
              <a:rPr lang="en-US" sz="3500" dirty="0"/>
              <a:t>Leadership the Movement Wanted to Protect</a:t>
            </a:r>
          </a:p>
        </p:txBody>
      </p:sp>
      <p:sp>
        <p:nvSpPr>
          <p:cNvPr id="3" name="Content Placeholder 2"/>
          <p:cNvSpPr>
            <a:spLocks noGrp="1"/>
          </p:cNvSpPr>
          <p:nvPr>
            <p:ph idx="1"/>
          </p:nvPr>
        </p:nvSpPr>
        <p:spPr>
          <a:xfrm>
            <a:off x="4222376" y="2285999"/>
            <a:ext cx="4800599" cy="4572001"/>
          </a:xfrm>
        </p:spPr>
        <p:txBody>
          <a:bodyPr anchor="ctr">
            <a:normAutofit fontScale="92500" lnSpcReduction="10000"/>
          </a:bodyPr>
          <a:lstStyle/>
          <a:p>
            <a:pPr marL="0" indent="0" algn="ctr">
              <a:buNone/>
            </a:pPr>
            <a:r>
              <a:rPr lang="en-US" sz="2400" dirty="0"/>
              <a:t>The movement aimed to protect the leadership of the Ottoman Caliph, who was considered the spiritual and political leader of Muslims worldwide. At that time the Caliph was the Ottoman Sultan, and many Muslims believed that his authority symbolized unity in the Muslim world. If the Caliphate was abolished, Muslims feared it would weaken the political and religious unity of the Islamic world. For this reason, Muslims in India strongly supported efforts to keep the Caliph and his authority intact.</a:t>
            </a:r>
          </a:p>
        </p:txBody>
      </p:sp>
      <p:sp>
        <p:nvSpPr>
          <p:cNvPr id="4" name="Slide Number Placeholder 3">
            <a:extLst>
              <a:ext uri="{FF2B5EF4-FFF2-40B4-BE49-F238E27FC236}">
                <a16:creationId xmlns:a16="http://schemas.microsoft.com/office/drawing/2014/main" id="{391E995D-54C8-9F05-1109-1DEC1723DDE8}"/>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pPr>
              <a:lnSpc>
                <a:spcPct val="90000"/>
              </a:lnSpc>
            </a:pPr>
            <a:r>
              <a:rPr lang="en-US" sz="4200" dirty="0"/>
              <a:t>Leaders Who Started the Movement</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3398174" cy="3639450"/>
          </a:xfrm>
        </p:spPr>
        <p:txBody>
          <a:bodyPr anchor="ctr">
            <a:normAutofit fontScale="92500" lnSpcReduction="20000"/>
          </a:bodyPr>
          <a:lstStyle/>
          <a:p>
            <a:pPr marL="0" indent="0" algn="ctr">
              <a:lnSpc>
                <a:spcPct val="90000"/>
              </a:lnSpc>
              <a:buNone/>
            </a:pPr>
            <a:r>
              <a:rPr lang="en-US" sz="2000" dirty="0"/>
              <a:t>The Khilafat Movement was started by prominent Muslim leaders in India who were concerned about the future of the Caliphate. The most important leaders were the Ali Brothers, Maulana Muhammad Ali and Maulana Shaukat Ali. Other important figures included Maulana Abul Kalam Azad, Hakim Ajmal Khan, and Dr. Mukhtar Ahmad Ansari. These leaders organized the Khilafat Committee and worked to mobilize Muslims across India to support the movement.</a:t>
            </a:r>
          </a:p>
        </p:txBody>
      </p:sp>
      <p:pic>
        <p:nvPicPr>
          <p:cNvPr id="4" name="Picture 3">
            <a:extLst>
              <a:ext uri="{FF2B5EF4-FFF2-40B4-BE49-F238E27FC236}">
                <a16:creationId xmlns:a16="http://schemas.microsoft.com/office/drawing/2014/main" id="{E13126D3-9D75-6045-3B22-66C19F9B77B8}"/>
              </a:ext>
            </a:extLst>
          </p:cNvPr>
          <p:cNvPicPr>
            <a:picLocks noChangeAspect="1"/>
          </p:cNvPicPr>
          <p:nvPr/>
        </p:nvPicPr>
        <p:blipFill>
          <a:blip r:embed="rId2"/>
          <a:srcRect l="11383" r="29133"/>
          <a:stretch>
            <a:fillRect/>
          </a:stretch>
        </p:blipFill>
        <p:spPr>
          <a:xfrm>
            <a:off x="4433649" y="2515027"/>
            <a:ext cx="3862707" cy="3652700"/>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231E0C85-83F2-2347-DC3A-35F62B1E4C94}"/>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pPr>
              <a:lnSpc>
                <a:spcPct val="90000"/>
              </a:lnSpc>
            </a:pPr>
            <a:r>
              <a:rPr lang="en-US" sz="4200" dirty="0"/>
              <a:t>Activities of the Khilafat Movement</a:t>
            </a:r>
          </a:p>
        </p:txBody>
      </p:sp>
      <p:sp>
        <p:nvSpPr>
          <p:cNvPr id="4105" name="Rectangle 410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3398174" cy="3639450"/>
          </a:xfrm>
        </p:spPr>
        <p:txBody>
          <a:bodyPr anchor="ctr">
            <a:normAutofit fontScale="92500" lnSpcReduction="20000"/>
          </a:bodyPr>
          <a:lstStyle/>
          <a:p>
            <a:pPr marL="0" indent="0">
              <a:lnSpc>
                <a:spcPct val="90000"/>
              </a:lnSpc>
              <a:buNone/>
            </a:pPr>
            <a:r>
              <a:rPr lang="en-US" sz="2000" dirty="0"/>
              <a:t>The leaders of the movement organized meetings, public gatherings, and conferences to raise awareness among Muslims about the importance of protecting the Caliphate. They also held protests and demonstrations against British policies and tried to unite Muslims under a common cause. Newspapers and speeches were used to spread the message of the movement. Large political meetings were held in different cities where people pledged support for the Khilafat cause.</a:t>
            </a:r>
          </a:p>
        </p:txBody>
      </p:sp>
      <p:pic>
        <p:nvPicPr>
          <p:cNvPr id="4098" name="Picture 2" descr="The Khilafat Movement marks its centenary this year. (Picture courtesy: INC website)">
            <a:extLst>
              <a:ext uri="{FF2B5EF4-FFF2-40B4-BE49-F238E27FC236}">
                <a16:creationId xmlns:a16="http://schemas.microsoft.com/office/drawing/2014/main" id="{B595D4BF-64B9-4EB4-C5EE-9F5C312246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525" r="12316" b="-2"/>
          <a:stretch>
            <a:fillRect/>
          </a:stretch>
        </p:blipFill>
        <p:spPr bwMode="auto">
          <a:xfrm>
            <a:off x="4433649" y="2484255"/>
            <a:ext cx="3862707" cy="3714244"/>
          </a:xfrm>
          <a:prstGeom prst="rect">
            <a:avLst/>
          </a:prstGeom>
          <a:noFill/>
          <a:extLst>
            <a:ext uri="{909E8E84-426E-40DD-AFC4-6F175D3DCCD1}">
              <a14:hiddenFill xmlns:a14="http://schemas.microsoft.com/office/drawing/2010/main">
                <a:solidFill>
                  <a:srgbClr val="FFFFFF"/>
                </a:solidFill>
              </a14:hiddenFill>
            </a:ext>
          </a:extLst>
        </p:spPr>
      </p:pic>
      <p:sp>
        <p:nvSpPr>
          <p:cNvPr id="4109" name="Rectangle 410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506C39B7-1253-57E5-F4E1-A679EAD73B6A}"/>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DE377-63F3-B65A-7324-40840CD0A068}"/>
              </a:ext>
            </a:extLst>
          </p:cNvPr>
          <p:cNvSpPr>
            <a:spLocks noGrp="1"/>
          </p:cNvSpPr>
          <p:nvPr>
            <p:ph type="title"/>
          </p:nvPr>
        </p:nvSpPr>
        <p:spPr/>
        <p:txBody>
          <a:bodyPr/>
          <a:lstStyle/>
          <a:p>
            <a:r>
              <a:rPr lang="en-US" dirty="0"/>
              <a:t>Important Meetings</a:t>
            </a:r>
          </a:p>
        </p:txBody>
      </p:sp>
      <p:graphicFrame>
        <p:nvGraphicFramePr>
          <p:cNvPr id="5" name="Content Placeholder 2">
            <a:extLst>
              <a:ext uri="{FF2B5EF4-FFF2-40B4-BE49-F238E27FC236}">
                <a16:creationId xmlns:a16="http://schemas.microsoft.com/office/drawing/2014/main" id="{99E7A3A1-638F-F277-2B9E-BB00942A0331}"/>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F27F5AB7-8EE8-E2D0-6602-DB18192CE765}"/>
              </a:ext>
            </a:extLst>
          </p:cNvPr>
          <p:cNvSpPr>
            <a:spLocks noGrp="1"/>
          </p:cNvSpPr>
          <p:nvPr>
            <p:ph type="sldNum" sz="quarter" idx="12"/>
          </p:nvPr>
        </p:nvSpPr>
        <p:spPr/>
        <p:txBody>
          <a:bodyPr/>
          <a:lstStyle/>
          <a:p>
            <a:fld id="{C1FF6DA9-008F-8B48-92A6-B652298478BF}" type="slidenum">
              <a:rPr lang="en-US" smtClean="0"/>
              <a:t>8</a:t>
            </a:fld>
            <a:endParaRPr lang="en-US"/>
          </a:p>
        </p:txBody>
      </p:sp>
    </p:spTree>
    <p:extLst>
      <p:ext uri="{BB962C8B-B14F-4D97-AF65-F5344CB8AC3E}">
        <p14:creationId xmlns:p14="http://schemas.microsoft.com/office/powerpoint/2010/main" val="260506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0759" y="3752849"/>
            <a:ext cx="2468166" cy="2452687"/>
          </a:xfrm>
        </p:spPr>
        <p:txBody>
          <a:bodyPr anchor="ctr">
            <a:normAutofit/>
          </a:bodyPr>
          <a:lstStyle/>
          <a:p>
            <a:r>
              <a:rPr lang="en-US" sz="3100" dirty="0"/>
              <a:t>Migration Movement (</a:t>
            </a:r>
            <a:r>
              <a:rPr lang="en-US" sz="3100" dirty="0" err="1"/>
              <a:t>Hijrat</a:t>
            </a:r>
            <a:r>
              <a:rPr lang="en-US" sz="3100" dirty="0"/>
              <a:t> Movement)</a:t>
            </a:r>
          </a:p>
        </p:txBody>
      </p:sp>
      <p:pic>
        <p:nvPicPr>
          <p:cNvPr id="5122" name="Picture 2" descr="The Tehreek-e-Hijrat of 1920 and Its Parallels with Contemporary Refugee Politics">
            <a:extLst>
              <a:ext uri="{FF2B5EF4-FFF2-40B4-BE49-F238E27FC236}">
                <a16:creationId xmlns:a16="http://schemas.microsoft.com/office/drawing/2014/main" id="{4ABCFAE4-75A0-5BA0-F33E-AC2068A241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1799"/>
          <a:stretch>
            <a:fillRect/>
          </a:stretch>
        </p:blipFill>
        <p:spPr bwMode="auto">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3167986" y="3752850"/>
            <a:ext cx="5614060" cy="2809315"/>
          </a:xfrm>
        </p:spPr>
        <p:txBody>
          <a:bodyPr anchor="ctr">
            <a:normAutofit fontScale="92500"/>
          </a:bodyPr>
          <a:lstStyle/>
          <a:p>
            <a:pPr marL="0" indent="0">
              <a:buNone/>
            </a:pPr>
            <a:r>
              <a:rPr lang="en-US" sz="2000" dirty="0"/>
              <a:t>One important activity related to the Khilafat Movement was the </a:t>
            </a:r>
            <a:r>
              <a:rPr lang="en-US" sz="2000" dirty="0" err="1"/>
              <a:t>Hijrat</a:t>
            </a:r>
            <a:r>
              <a:rPr lang="en-US" sz="2000" dirty="0"/>
              <a:t> Movement in 1920. Some Muslim leaders declared that living under British rule was unacceptable if it threatened Islamic leadership. As a result, thousands of Muslims migrated from India to Afghanistan believing it would be a safer place for Muslims. However, the migration caused great hardship because Afghanistan could not accommodate such a large number of migrants.</a:t>
            </a:r>
          </a:p>
        </p:txBody>
      </p:sp>
      <p:sp>
        <p:nvSpPr>
          <p:cNvPr id="4" name="Slide Number Placeholder 3">
            <a:extLst>
              <a:ext uri="{FF2B5EF4-FFF2-40B4-BE49-F238E27FC236}">
                <a16:creationId xmlns:a16="http://schemas.microsoft.com/office/drawing/2014/main" id="{20394EAD-C19D-EEB0-5A6C-384155CCAD0A}"/>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3" name="Rectangle 615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en-US" sz="4200" dirty="0"/>
              <a:t>Non‑Cooperation Movement</a:t>
            </a:r>
          </a:p>
        </p:txBody>
      </p:sp>
      <p:sp>
        <p:nvSpPr>
          <p:cNvPr id="6155" name="Rectangle 615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7" name="Rectangle 615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4" y="2599509"/>
            <a:ext cx="3976755" cy="3639450"/>
          </a:xfrm>
        </p:spPr>
        <p:txBody>
          <a:bodyPr anchor="ctr">
            <a:normAutofit fontScale="85000" lnSpcReduction="10000"/>
          </a:bodyPr>
          <a:lstStyle/>
          <a:p>
            <a:pPr marL="0" indent="0">
              <a:lnSpc>
                <a:spcPct val="90000"/>
              </a:lnSpc>
              <a:buNone/>
            </a:pPr>
            <a:r>
              <a:rPr lang="en-US" sz="2400" dirty="0"/>
              <a:t>The Khilafat leaders also joined hands with the Indian National Congress under Mahatma Gandhi to start the Non‑Cooperation Movement against British rule. People were encouraged to boycott British goods, schools, courts, and government institutions. This cooperation between Muslims and Hindus created a temporary period of political unity in India against colonial rule. The movement aimed to pressure the British government through peaceful resistance.</a:t>
            </a:r>
          </a:p>
        </p:txBody>
      </p:sp>
      <p:pic>
        <p:nvPicPr>
          <p:cNvPr id="6148" name="Picture 4" descr="Kishore Kumar">
            <a:extLst>
              <a:ext uri="{FF2B5EF4-FFF2-40B4-BE49-F238E27FC236}">
                <a16:creationId xmlns:a16="http://schemas.microsoft.com/office/drawing/2014/main" id="{97B31C7C-A5DE-1199-0F6B-39532F4F8E5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74814" y="2782288"/>
            <a:ext cx="3862707" cy="2897030"/>
          </a:xfrm>
          <a:prstGeom prst="rect">
            <a:avLst/>
          </a:prstGeom>
          <a:noFill/>
          <a:extLst>
            <a:ext uri="{909E8E84-426E-40DD-AFC4-6F175D3DCCD1}">
              <a14:hiddenFill xmlns:a14="http://schemas.microsoft.com/office/drawing/2010/main">
                <a:solidFill>
                  <a:srgbClr val="FFFFFF"/>
                </a:solidFill>
              </a14:hiddenFill>
            </a:ext>
          </a:extLst>
        </p:spPr>
      </p:pic>
      <p:sp>
        <p:nvSpPr>
          <p:cNvPr id="6159" name="Rectangle 615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7B0A0852-35BD-4AC1-8255-E68F36D0D274}"/>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dirty="0"/>
              <a:t>Reasons for the Failure of the Movement</a:t>
            </a:r>
          </a:p>
        </p:txBody>
      </p:sp>
      <p:sp>
        <p:nvSpPr>
          <p:cNvPr id="3" name="Content Placeholder 2"/>
          <p:cNvSpPr>
            <a:spLocks noGrp="1"/>
          </p:cNvSpPr>
          <p:nvPr>
            <p:ph idx="1"/>
          </p:nvPr>
        </p:nvSpPr>
        <p:spPr>
          <a:xfrm>
            <a:off x="571350" y="2470244"/>
            <a:ext cx="4000647" cy="3769835"/>
          </a:xfrm>
        </p:spPr>
        <p:txBody>
          <a:bodyPr anchor="ctr">
            <a:normAutofit fontScale="92500"/>
          </a:bodyPr>
          <a:lstStyle/>
          <a:p>
            <a:pPr marL="0" indent="0">
              <a:buNone/>
            </a:pPr>
            <a:r>
              <a:rPr lang="en-US" sz="2000" dirty="0"/>
              <a:t>The Khilafat Movement began to decline due to several political developments. The Non‑Cooperation Movement was suspended after the Chauri </a:t>
            </a:r>
            <a:r>
              <a:rPr lang="en-US" sz="2000" dirty="0" err="1"/>
              <a:t>Chaura</a:t>
            </a:r>
            <a:r>
              <a:rPr lang="en-US" sz="2000" dirty="0"/>
              <a:t> incident in 1922, which weakened the overall protest movement. More importantly, in 1924 Mustafa Kemal Atatürk abolished the Caliphate in Turkey itself. Since the institution the movement aimed to protect no longer existed, the Khilafat Movement gradually came to an end.</a:t>
            </a:r>
          </a:p>
        </p:txBody>
      </p:sp>
      <p:pic>
        <p:nvPicPr>
          <p:cNvPr id="7170" name="Picture 2" descr="Photo mustafa kemal ataturk founder turkish republic">
            <a:extLst>
              <a:ext uri="{FF2B5EF4-FFF2-40B4-BE49-F238E27FC236}">
                <a16:creationId xmlns:a16="http://schemas.microsoft.com/office/drawing/2014/main" id="{0ACEB23F-696D-81AF-1FBC-D326497E11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9635" r="49885" b="-1"/>
          <a:stretch>
            <a:fillRect/>
          </a:stretch>
        </p:blipFill>
        <p:spPr bwMode="auto">
          <a:xfrm>
            <a:off x="5143347" y="-10886"/>
            <a:ext cx="4000653" cy="6868886"/>
          </a:xfrm>
          <a:prstGeom prst="rect">
            <a:avLst/>
          </a:prstGeom>
          <a:noFill/>
          <a:effectLst>
            <a:outerShdw blurRad="127000" dist="50800" dir="10800000" sx="99000" sy="99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08FEACB-3A87-A396-5ED4-18943F436337}"/>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803</Words>
  <Application>Microsoft Office PowerPoint</Application>
  <PresentationFormat>On-screen Show (4:3)</PresentationFormat>
  <Paragraphs>68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PowerPoint Presentation</vt:lpstr>
      <vt:lpstr>PowerPoint Presentation</vt:lpstr>
      <vt:lpstr>Introduction: Khilafat Movement</vt:lpstr>
      <vt:lpstr>Reasons for the Start of the Movement</vt:lpstr>
      <vt:lpstr>Leadership the Movement Wanted to Protect</vt:lpstr>
      <vt:lpstr>Leaders Who Started the Movement</vt:lpstr>
      <vt:lpstr>Activities of the Khilafat Movement</vt:lpstr>
      <vt:lpstr>Important Meetings</vt:lpstr>
      <vt:lpstr>Migration Movement (Hijrat Movement)</vt:lpstr>
      <vt:lpstr>Non‑Cooperation Movement</vt:lpstr>
      <vt:lpstr>Reasons for the Failure of the Movement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Shahmeer Raza</cp:lastModifiedBy>
  <cp:revision>6</cp:revision>
  <dcterms:created xsi:type="dcterms:W3CDTF">2013-01-27T09:14:16Z</dcterms:created>
  <dcterms:modified xsi:type="dcterms:W3CDTF">2026-03-15T17:04:44Z</dcterms:modified>
  <cp:category/>
</cp:coreProperties>
</file>