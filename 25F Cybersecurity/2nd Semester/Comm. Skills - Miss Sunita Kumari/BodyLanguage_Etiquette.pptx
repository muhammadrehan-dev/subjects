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C4CA01F-32B3-4256-B08E-D3374DBF175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86D01B-A4DC-43DE-997E-54C23E182E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608FB1-86DD-4CD5-BF6E-B1E9AD5D71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A8C74D-BCD1-4B1A-B845-E774BDFEB2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79799D-FBA6-41A5-A689-FE930ED03B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DB0490-97B5-4B53-922B-A4B3C43673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A1562E-53FC-4C21-9E8D-069F159F95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59DE97-561C-4A5B-A402-6F5BAFD497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98D1EF-AA6F-45C2-807F-55703BEDAF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DCC314-3C1E-4F63-8871-9FA94BCFE4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15BFDD-7B09-423B-BF18-261D5712ED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3AB52D-7E62-446F-B01B-C1E69B57AC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1DCD8E-3767-4BE7-90E2-A21FC8C93C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6364A2-C829-42B1-8AB4-1BBD51353B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1CE8DC-1144-4FFE-BCE2-A3AE017455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FC5B58-2DCA-4863-A3A8-66EDA1B7B9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533826-2536-44AC-AC69-14F7D77603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47364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274320" y="320040"/>
            <a:ext cx="2925000" cy="146196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274320" y="320040"/>
            <a:ext cx="29250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82880" y="1920240"/>
            <a:ext cx="31078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Dawood University of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Engineering and Technology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82880" y="2788920"/>
            <a:ext cx="31078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d6f5f5"/>
                </a:solidFill>
                <a:effectLst/>
                <a:uFillTx/>
                <a:latin typeface="Calibri"/>
                <a:ea typeface="Calibri"/>
              </a:rPr>
              <a:t>Department of CyberSecurity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" y="3246120"/>
            <a:ext cx="2559240" cy="2628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82880" y="3310200"/>
            <a:ext cx="3107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Communication Skills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182880" y="3657600"/>
            <a:ext cx="3107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d6f5f5"/>
                </a:solidFill>
                <a:effectLst/>
                <a:uFillTx/>
                <a:latin typeface="Calibri"/>
                <a:ea typeface="Calibri"/>
              </a:rPr>
              <a:t>Miss Sunita Kumari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840480" y="822960"/>
            <a:ext cx="5028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Body Language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840480" y="1691640"/>
            <a:ext cx="50281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1aadad"/>
                </a:solidFill>
                <a:effectLst/>
                <a:uFillTx/>
                <a:latin typeface="Trebuchet MS"/>
                <a:ea typeface="Trebuchet MS"/>
              </a:rPr>
              <a:t>&amp; Professional Etiquette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3840480" y="2377440"/>
            <a:ext cx="5028120" cy="35640"/>
          </a:xfrm>
          <a:prstGeom prst="rect">
            <a:avLst/>
          </a:prstGeom>
          <a:solidFill>
            <a:srgbClr val="1aadad">
              <a:alpha val="60000"/>
            </a:srgbClr>
          </a:solidFill>
          <a:ln w="12700">
            <a:solidFill>
              <a:srgbClr val="1aadad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3840480" y="2541960"/>
            <a:ext cx="5028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d6f5f5"/>
                </a:solidFill>
                <a:effectLst/>
                <a:uFillTx/>
                <a:latin typeface="Calibri"/>
                <a:ea typeface="Calibri"/>
              </a:rPr>
              <a:t>Presented By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3840480" y="2853000"/>
            <a:ext cx="50281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Syed Usman (096)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Aayan Ali Zaidi (083)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Syed Abdul Rehman (105)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799920" y="457200"/>
            <a:ext cx="1713960" cy="129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Table of Contents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2697480" y="1060560"/>
            <a:ext cx="437760" cy="4377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2697480" y="106056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3191400" y="1005840"/>
            <a:ext cx="2604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Introduction to Body Language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2697480" y="1974960"/>
            <a:ext cx="437760" cy="4377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2697480" y="197496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3191400" y="1920240"/>
            <a:ext cx="2604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Definitions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2697480" y="2889360"/>
            <a:ext cx="437760" cy="4377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2697480" y="288936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3191400" y="2834640"/>
            <a:ext cx="2604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Important Features of Body Language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8"/>
          <p:cNvSpPr/>
          <p:nvPr/>
        </p:nvSpPr>
        <p:spPr>
          <a:xfrm>
            <a:off x="2697480" y="3803760"/>
            <a:ext cx="437760" cy="4377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2697480" y="380376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3191400" y="3749040"/>
            <a:ext cx="2604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Examples of Body Language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1"/>
          <p:cNvSpPr/>
          <p:nvPr/>
        </p:nvSpPr>
        <p:spPr>
          <a:xfrm>
            <a:off x="5943600" y="1060560"/>
            <a:ext cx="437760" cy="4377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5943600" y="106056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6437520" y="1005840"/>
            <a:ext cx="2604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Positive &amp; Negative Body Language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5943600" y="1974960"/>
            <a:ext cx="437760" cy="4377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5943600" y="197496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6437520" y="1920240"/>
            <a:ext cx="2604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Concept &amp; Definition of Etiquette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5943600" y="2889360"/>
            <a:ext cx="437760" cy="4377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8"/>
          <p:cNvSpPr/>
          <p:nvPr/>
        </p:nvSpPr>
        <p:spPr>
          <a:xfrm>
            <a:off x="5943600" y="288936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6437520" y="2834640"/>
            <a:ext cx="2604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Need for Etiquettes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0"/>
          <p:cNvSpPr/>
          <p:nvPr/>
        </p:nvSpPr>
        <p:spPr>
          <a:xfrm>
            <a:off x="5943600" y="3803760"/>
            <a:ext cx="437760" cy="4377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5943600" y="3803760"/>
            <a:ext cx="4377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2"/>
          <p:cNvSpPr/>
          <p:nvPr/>
        </p:nvSpPr>
        <p:spPr>
          <a:xfrm>
            <a:off x="6437520" y="3749040"/>
            <a:ext cx="2604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Types of Etiquettes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"/>
          <p:cNvPicPr/>
          <p:nvPr/>
        </p:nvPicPr>
        <p:blipFill>
          <a:blip r:embed="rId1"/>
          <a:stretch/>
        </p:blipFill>
        <p:spPr>
          <a:xfrm>
            <a:off x="22860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Shape 40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/>
          <p:cNvPicPr/>
          <p:nvPr/>
        </p:nvPicPr>
        <p:blipFill>
          <a:blip r:embed="rId2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Body Language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Introduction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2697480" y="960120"/>
            <a:ext cx="6399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e7a7a"/>
                </a:solidFill>
                <a:effectLst/>
                <a:uFillTx/>
                <a:latin typeface="Trebuchet MS"/>
                <a:ea typeface="Trebuchet MS"/>
              </a:rPr>
              <a:t>What is Body Language?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2697480" y="1417320"/>
            <a:ext cx="6399720" cy="33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Body language is a form of non-verbal communication using physical behavior, gestures, and expressions.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It accounts for a significant portion of how we communicate — often more than words alone.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Includes facial expressions, posture, gestures, eye contact, and tone of voice.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Plays a vital role in personal, social, and professional interactions.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Understanding body language helps in building better relationships and communication skills.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Definitions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Terms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Definitions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2651760" y="960120"/>
            <a:ext cx="6399720" cy="120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2651760" y="960120"/>
            <a:ext cx="6399720" cy="3463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2761560" y="969120"/>
            <a:ext cx="62168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Body Language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2761560" y="1344240"/>
            <a:ext cx="621684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Non-verbal signals expressed through physical behavior, posture, and gestures that communicate messages to others.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2651760" y="2286000"/>
            <a:ext cx="6399720" cy="120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2651760" y="2286000"/>
            <a:ext cx="6399720" cy="3463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2761560" y="2295000"/>
            <a:ext cx="62168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Non-Verbal Communication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2761560" y="2670120"/>
            <a:ext cx="621684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The transmission of messages without using words — includes facial expressions, body movements, and eye contact.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2651760" y="3611880"/>
            <a:ext cx="6399720" cy="120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0"/>
          <p:cNvSpPr/>
          <p:nvPr/>
        </p:nvSpPr>
        <p:spPr>
          <a:xfrm>
            <a:off x="2651760" y="3611880"/>
            <a:ext cx="6399720" cy="3463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1"/>
          <p:cNvSpPr/>
          <p:nvPr/>
        </p:nvSpPr>
        <p:spPr>
          <a:xfrm>
            <a:off x="2761560" y="3620880"/>
            <a:ext cx="62168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Kinesics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2"/>
          <p:cNvSpPr/>
          <p:nvPr/>
        </p:nvSpPr>
        <p:spPr>
          <a:xfrm>
            <a:off x="2761560" y="3996000"/>
            <a:ext cx="621684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The study of body language as a means of communication, including gestures, facial expressions, and posture.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7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Important Features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Features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Important Features of Body Language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1"/>
          <p:cNvSpPr/>
          <p:nvPr/>
        </p:nvSpPr>
        <p:spPr>
          <a:xfrm>
            <a:off x="2633400" y="960120"/>
            <a:ext cx="2010600" cy="1626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2633400" y="960120"/>
            <a:ext cx="2010600" cy="3463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2743200" y="96912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Universal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2743200" y="1344240"/>
            <a:ext cx="18277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Many expressions like happiness or fear are recognized globally across cultures.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4846320" y="960120"/>
            <a:ext cx="2010600" cy="1626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4846320" y="960120"/>
            <a:ext cx="2010600" cy="3463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4956120" y="96912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Continuous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4956120" y="1344240"/>
            <a:ext cx="18277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Body language is always active — even silence and stillness send messages.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9"/>
          <p:cNvSpPr/>
          <p:nvPr/>
        </p:nvSpPr>
        <p:spPr>
          <a:xfrm>
            <a:off x="7059240" y="960120"/>
            <a:ext cx="2010600" cy="1626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7059240" y="960120"/>
            <a:ext cx="2010600" cy="3463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7169040" y="96912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Involuntary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7169040" y="1344240"/>
            <a:ext cx="18277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Many signals occur unconsciously and are hard to fake consistently.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3"/>
          <p:cNvSpPr/>
          <p:nvPr/>
        </p:nvSpPr>
        <p:spPr>
          <a:xfrm>
            <a:off x="2633400" y="2788920"/>
            <a:ext cx="2010600" cy="1626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2633400" y="2788920"/>
            <a:ext cx="2010600" cy="3463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5"/>
          <p:cNvSpPr/>
          <p:nvPr/>
        </p:nvSpPr>
        <p:spPr>
          <a:xfrm>
            <a:off x="2743200" y="279792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Context-Dependent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6"/>
          <p:cNvSpPr/>
          <p:nvPr/>
        </p:nvSpPr>
        <p:spPr>
          <a:xfrm>
            <a:off x="2743200" y="3173040"/>
            <a:ext cx="18277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The meaning of gestures changes based on situation and culture.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7"/>
          <p:cNvSpPr/>
          <p:nvPr/>
        </p:nvSpPr>
        <p:spPr>
          <a:xfrm>
            <a:off x="4846320" y="2788920"/>
            <a:ext cx="2010600" cy="1626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8"/>
          <p:cNvSpPr/>
          <p:nvPr/>
        </p:nvSpPr>
        <p:spPr>
          <a:xfrm>
            <a:off x="4846320" y="2788920"/>
            <a:ext cx="2010600" cy="3463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9"/>
          <p:cNvSpPr/>
          <p:nvPr/>
        </p:nvSpPr>
        <p:spPr>
          <a:xfrm>
            <a:off x="4956120" y="279792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Multi-Channel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0"/>
          <p:cNvSpPr/>
          <p:nvPr/>
        </p:nvSpPr>
        <p:spPr>
          <a:xfrm>
            <a:off x="4956120" y="3173040"/>
            <a:ext cx="18277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Multiple signals (posture + expression + tone) combine to form a message.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1"/>
          <p:cNvSpPr/>
          <p:nvPr/>
        </p:nvSpPr>
        <p:spPr>
          <a:xfrm>
            <a:off x="7059240" y="2788920"/>
            <a:ext cx="2010600" cy="1626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2"/>
          <p:cNvSpPr/>
          <p:nvPr/>
        </p:nvSpPr>
        <p:spPr>
          <a:xfrm>
            <a:off x="7059240" y="2788920"/>
            <a:ext cx="2010600" cy="34632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3"/>
          <p:cNvSpPr/>
          <p:nvPr/>
        </p:nvSpPr>
        <p:spPr>
          <a:xfrm>
            <a:off x="7169040" y="279792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Powerful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4"/>
          <p:cNvSpPr/>
          <p:nvPr/>
        </p:nvSpPr>
        <p:spPr>
          <a:xfrm>
            <a:off x="7169040" y="3173040"/>
            <a:ext cx="18277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Can reinforce or contradict spoken words, sometimes overriding them entirely.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2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Examples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Body Language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Examples of Body Language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2697480" y="960120"/>
            <a:ext cx="30164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7a7a"/>
                </a:solidFill>
                <a:effectLst/>
                <a:uFillTx/>
                <a:latin typeface="Trebuchet MS"/>
                <a:ea typeface="Trebuchet MS"/>
              </a:rPr>
              <a:t>Facial Expressions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2697480" y="1325880"/>
            <a:ext cx="3016440" cy="34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Smiling — friendliness &amp; warmth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Frowning — displeasure or confusion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Raised eyebrows — surprise or disbelief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Direct eye contact — confidence &amp; sincerity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Avoiding eye contact — nervousness or dishonesty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5897880" y="960120"/>
            <a:ext cx="35640" cy="3930840"/>
          </a:xfrm>
          <a:prstGeom prst="rect">
            <a:avLst/>
          </a:prstGeom>
          <a:solidFill>
            <a:srgbClr val="1aadad">
              <a:alpha val="50000"/>
            </a:srgbClr>
          </a:solidFill>
          <a:ln w="12700">
            <a:solidFill>
              <a:srgbClr val="1aadad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6080760" y="960120"/>
            <a:ext cx="30164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7a7a"/>
                </a:solidFill>
                <a:effectLst/>
                <a:uFillTx/>
                <a:latin typeface="Trebuchet MS"/>
                <a:ea typeface="Trebuchet MS"/>
              </a:rPr>
              <a:t>Gestures &amp; Posture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6080760" y="1325880"/>
            <a:ext cx="3016440" cy="34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Open arms — openness and receptivity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Crossed arms — defensiveness or discomfort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Firm handshake — confidence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Nodding — agreement and active listening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Leaning in — interest and engagement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Positive &amp; Negative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Body Language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Positive &amp; Negative Body Language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2651760" y="960120"/>
            <a:ext cx="3016440" cy="3830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2651760" y="960120"/>
            <a:ext cx="30164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POSITIVE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2697480" y="1389960"/>
            <a:ext cx="2925000" cy="34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Maintaining eye contact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Upright, open posture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Genuine smile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Nodding while listening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Relaxed, open hand gestures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Leaning forward slightly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5897880" y="960120"/>
            <a:ext cx="3016440" cy="3830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5897880" y="960120"/>
            <a:ext cx="30164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NEGATIVE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5943600" y="1389960"/>
            <a:ext cx="2925000" cy="34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Avoiding eye contact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Slumped or closed posture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Forced or fake smile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Fidgeting or tapping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Crossed arms or legs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Looking at phone/watch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6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Etiquette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Concept &amp; Definition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Concept &amp; Definition of Etiquette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2651760" y="987480"/>
            <a:ext cx="6399720" cy="1187640"/>
          </a:xfrm>
          <a:prstGeom prst="rect">
            <a:avLst/>
          </a:prstGeom>
          <a:solidFill>
            <a:srgbClr val="d6f5f5"/>
          </a:solidFill>
          <a:ln w="1905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2834640" y="1024200"/>
            <a:ext cx="603396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0e7a7a"/>
                </a:solidFill>
                <a:effectLst/>
                <a:uFillTx/>
                <a:latin typeface="Calibri"/>
                <a:ea typeface="Calibri"/>
              </a:rPr>
              <a:t>"Etiquette is the set of rules and conventions governing correct or polite behavior in society or among members of a particular profession or group."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2697480" y="2304360"/>
            <a:ext cx="6399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7a7a"/>
                </a:solidFill>
                <a:effectLst/>
                <a:uFillTx/>
                <a:latin typeface="Trebuchet MS"/>
                <a:ea typeface="Trebuchet MS"/>
              </a:rPr>
              <a:t>Key Concepts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2697480" y="2670120"/>
            <a:ext cx="6399720" cy="23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Etiquette originates from the French word meaning 'label' or 'ticket'.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It refers to expected behavior standards in social and professional settings.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Etiquette shows respect, consideration, and courtesy toward others.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It varies across cultures but universally promotes harmony and cooperation.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9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Need for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It Matters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Need for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2651760" y="987480"/>
            <a:ext cx="474480" cy="474480"/>
          </a:xfrm>
          <a:prstGeom prst="ellipse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2651760" y="987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3182040" y="987480"/>
            <a:ext cx="265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Builds Respect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3182040" y="1444680"/>
            <a:ext cx="265068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Etiquette helps earn respect and trust from colleagues, clients, and society.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5989320" y="987480"/>
            <a:ext cx="474480" cy="474480"/>
          </a:xfrm>
          <a:prstGeom prst="ellipse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5989320" y="987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6519600" y="987480"/>
            <a:ext cx="265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Creates Harmony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6519600" y="1444680"/>
            <a:ext cx="265068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Shared social rules reduce conflict and promote peaceful co-existence.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2651760" y="2953440"/>
            <a:ext cx="474480" cy="474480"/>
          </a:xfrm>
          <a:prstGeom prst="ellipse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2651760" y="295344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3182040" y="2953440"/>
            <a:ext cx="265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Professional Image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3182040" y="3410640"/>
            <a:ext cx="265068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Good etiquette enhances your career prospects and professional reputation.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3"/>
          <p:cNvSpPr/>
          <p:nvPr/>
        </p:nvSpPr>
        <p:spPr>
          <a:xfrm>
            <a:off x="5989320" y="2953440"/>
            <a:ext cx="474480" cy="474480"/>
          </a:xfrm>
          <a:prstGeom prst="ellipse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5989320" y="295344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6519600" y="2953440"/>
            <a:ext cx="265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Effective Communication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6519600" y="3410640"/>
            <a:ext cx="265068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Proper etiquette ensures messages are delivered and received respectfully.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3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 of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Types of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2651760" y="987480"/>
            <a:ext cx="6399720" cy="63900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2651760" y="987480"/>
            <a:ext cx="108720" cy="6390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2880360" y="987480"/>
            <a:ext cx="6033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2.8.1  Social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2651760" y="1764720"/>
            <a:ext cx="6399720" cy="63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5"/>
          <p:cNvSpPr/>
          <p:nvPr/>
        </p:nvSpPr>
        <p:spPr>
          <a:xfrm>
            <a:off x="2651760" y="1764720"/>
            <a:ext cx="108720" cy="6390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6"/>
          <p:cNvSpPr/>
          <p:nvPr/>
        </p:nvSpPr>
        <p:spPr>
          <a:xfrm>
            <a:off x="2880360" y="1764720"/>
            <a:ext cx="6033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2.8.2  Dress Code / Clothing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7"/>
          <p:cNvSpPr/>
          <p:nvPr/>
        </p:nvSpPr>
        <p:spPr>
          <a:xfrm>
            <a:off x="2651760" y="2541960"/>
            <a:ext cx="6399720" cy="63900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2651760" y="2541960"/>
            <a:ext cx="108720" cy="6390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9"/>
          <p:cNvSpPr/>
          <p:nvPr/>
        </p:nvSpPr>
        <p:spPr>
          <a:xfrm>
            <a:off x="2880360" y="2541960"/>
            <a:ext cx="6033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2.8.3  Telephone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2651760" y="3319200"/>
            <a:ext cx="6399720" cy="63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2651760" y="3319200"/>
            <a:ext cx="108720" cy="6390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2"/>
          <p:cNvSpPr/>
          <p:nvPr/>
        </p:nvSpPr>
        <p:spPr>
          <a:xfrm>
            <a:off x="2880360" y="3319200"/>
            <a:ext cx="6033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2.8.4  Interview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3"/>
          <p:cNvSpPr/>
          <p:nvPr/>
        </p:nvSpPr>
        <p:spPr>
          <a:xfrm>
            <a:off x="2651760" y="4096440"/>
            <a:ext cx="6399720" cy="63900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2651760" y="4096440"/>
            <a:ext cx="108720" cy="6390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2880360" y="4096440"/>
            <a:ext cx="6033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2.8.5  Meeting Etiquettes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4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Social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Social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2697480" y="960120"/>
            <a:ext cx="6399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Greet others politely — use proper salutations such as 'Good morning' or 'Hello'.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Practice active listening — do not interrupt while others are speaking.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Maintain appropriate personal space during conversations.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Be punctual — respect others' time in social and professional settings.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 discussing sensitive or controversial topics in unfamiliar company.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Use polite language — say 'Please', 'Thank you', and 'Excuse me' regularly.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Put away your phone and give full attention during face-to-face interactions.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5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Dress Code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Dress Code / Clothing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2651760" y="960120"/>
            <a:ext cx="3107880" cy="3830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2"/>
          <p:cNvSpPr/>
          <p:nvPr/>
        </p:nvSpPr>
        <p:spPr>
          <a:xfrm>
            <a:off x="2651760" y="960120"/>
            <a:ext cx="3107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Professional Settings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3"/>
          <p:cNvSpPr/>
          <p:nvPr/>
        </p:nvSpPr>
        <p:spPr>
          <a:xfrm>
            <a:off x="2697480" y="1417320"/>
            <a:ext cx="3016440" cy="33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Wear clean, ironed, and well-fitted clothing.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Choose formal attire for interviews and meetings.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 flashy colors or excessive accessories.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Ensure shoes are clean and appropriate.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5989320" y="960120"/>
            <a:ext cx="3107880" cy="38304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5"/>
          <p:cNvSpPr/>
          <p:nvPr/>
        </p:nvSpPr>
        <p:spPr>
          <a:xfrm>
            <a:off x="5989320" y="960120"/>
            <a:ext cx="31078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General Rules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6"/>
          <p:cNvSpPr/>
          <p:nvPr/>
        </p:nvSpPr>
        <p:spPr>
          <a:xfrm>
            <a:off x="6035040" y="1417320"/>
            <a:ext cx="3016440" cy="33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Dress according to the occasion and venue.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Follow the organization's dress code policy.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Maintain personal hygiene alongside clothing.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Modesty and cultural sensitivity matter.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6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Telephone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Telephone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2697480" y="960120"/>
            <a:ext cx="6399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Answer calls promptly — within 2–3 rings whenever possible.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Greet the caller professionally: 'Good morning, this is [Name] speaking.'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Speak clearly and at a moderate pace — avoid mumbling.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Listen carefully and do not interrupt the caller.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Take notes during important calls and confirm key details.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Inform the caller before placing them on hold; do not keep them waiting long.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End calls politely: 'Thank you for calling, have a good day.'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Avoid using phones in meetings, libraries, or places of worship.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7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3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Interview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Interview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2651760" y="987480"/>
            <a:ext cx="1004760" cy="1169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2651760" y="987480"/>
            <a:ext cx="100476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Before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3703320" y="987480"/>
            <a:ext cx="5348160" cy="116928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3840480" y="987480"/>
            <a:ext cx="511956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Research the company. Dress professionally. Arrive 10–15 minutes early. Bring required documents.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2651760" y="2313360"/>
            <a:ext cx="1004760" cy="1169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6"/>
          <p:cNvSpPr/>
          <p:nvPr/>
        </p:nvSpPr>
        <p:spPr>
          <a:xfrm>
            <a:off x="2651760" y="2313360"/>
            <a:ext cx="100476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During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7"/>
          <p:cNvSpPr/>
          <p:nvPr/>
        </p:nvSpPr>
        <p:spPr>
          <a:xfrm>
            <a:off x="3703320" y="2313360"/>
            <a:ext cx="5348160" cy="11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3840480" y="2313360"/>
            <a:ext cx="511956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Greet with a firm handshake. Maintain eye contact. Listen carefully before answering. Speak clearly and confidently.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9"/>
          <p:cNvSpPr/>
          <p:nvPr/>
        </p:nvSpPr>
        <p:spPr>
          <a:xfrm>
            <a:off x="2651760" y="3639240"/>
            <a:ext cx="1004760" cy="1169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0"/>
          <p:cNvSpPr/>
          <p:nvPr/>
        </p:nvSpPr>
        <p:spPr>
          <a:xfrm>
            <a:off x="2651760" y="3639240"/>
            <a:ext cx="100476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After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1"/>
          <p:cNvSpPr/>
          <p:nvPr/>
        </p:nvSpPr>
        <p:spPr>
          <a:xfrm>
            <a:off x="3703320" y="3639240"/>
            <a:ext cx="5348160" cy="1169280"/>
          </a:xfrm>
          <a:prstGeom prst="rect">
            <a:avLst/>
          </a:prstGeom>
          <a:solidFill>
            <a:srgbClr val="d6f5f5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2"/>
          <p:cNvSpPr/>
          <p:nvPr/>
        </p:nvSpPr>
        <p:spPr>
          <a:xfrm>
            <a:off x="3840480" y="3639240"/>
            <a:ext cx="511956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Thank the interviewer for their time. Send a follow-up thank-you note or email within 24 hours.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38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0"/>
          <p:cNvSpPr/>
          <p:nvPr/>
        </p:nvSpPr>
        <p:spPr>
          <a:xfrm>
            <a:off x="2377440" y="0"/>
            <a:ext cx="6765480" cy="903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"/>
          <p:cNvSpPr/>
          <p:nvPr/>
        </p:nvSpPr>
        <p:spPr>
          <a:xfrm>
            <a:off x="0" y="0"/>
            <a:ext cx="2376360" cy="514260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"/>
          <p:cNvSpPr/>
          <p:nvPr/>
        </p:nvSpPr>
        <p:spPr>
          <a:xfrm>
            <a:off x="0" y="4640760"/>
            <a:ext cx="2376360" cy="5018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4"/>
          <p:cNvSpPr/>
          <p:nvPr/>
        </p:nvSpPr>
        <p:spPr>
          <a:xfrm>
            <a:off x="228600" y="274320"/>
            <a:ext cx="1919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[ Logo 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5"/>
          <p:cNvSpPr/>
          <p:nvPr/>
        </p:nvSpPr>
        <p:spPr>
          <a:xfrm>
            <a:off x="822960" y="1554480"/>
            <a:ext cx="776160" cy="776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6"/>
          <p:cNvSpPr/>
          <p:nvPr/>
        </p:nvSpPr>
        <p:spPr>
          <a:xfrm>
            <a:off x="822960" y="1554480"/>
            <a:ext cx="7761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2.8.5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137160" y="2423160"/>
            <a:ext cx="210204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Meeting Etiquettes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8"/>
          <p:cNvSpPr/>
          <p:nvPr/>
        </p:nvSpPr>
        <p:spPr>
          <a:xfrm>
            <a:off x="137160" y="4668120"/>
            <a:ext cx="21020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Types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2697480" y="201240"/>
            <a:ext cx="6308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1a2e35"/>
                </a:solidFill>
                <a:effectLst/>
                <a:uFillTx/>
                <a:latin typeface="Trebuchet MS"/>
                <a:ea typeface="Trebuchet MS"/>
              </a:rPr>
              <a:t>Meeting Etiquettes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2697480" y="822960"/>
            <a:ext cx="6262560" cy="2628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2697480" y="960120"/>
            <a:ext cx="6399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Be on time — arriving late disrupts the flow and shows disrespect.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Prepare in advance — review the agenda and come with ideas or questions.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Silence your phone and avoid distractions during the meeting.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Participate actively — contribute your thoughts when appropriate.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Do not interrupt — wait for others to finish before speaking.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Respect differing opinions; engage in healthy, constructive discussion.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Take notes to remember key decisions and action items.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e35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a2e35"/>
                </a:solidFill>
                <a:effectLst/>
                <a:uFillTx/>
                <a:latin typeface="Calibri"/>
                <a:ea typeface="Calibri"/>
              </a:rPr>
              <a:t>Follow up on assigned tasks and responsibilities after the meeting.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39"/>
          <p:cNvSpPr/>
          <p:nvPr/>
        </p:nvSpPr>
        <p:spPr>
          <a:xfrm>
            <a:off x="228960" y="274320"/>
            <a:ext cx="1919160" cy="1050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"/>
          <p:cNvPicPr/>
          <p:nvPr/>
        </p:nvPicPr>
        <p:blipFill>
          <a:blip r:embed="rId1"/>
          <a:stretch/>
        </p:blipFill>
        <p:spPr>
          <a:xfrm>
            <a:off x="228960" y="274680"/>
            <a:ext cx="1449360" cy="109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aadad"/>
          </a:solidFill>
          <a:ln w="12700">
            <a:solidFill>
              <a:srgbClr val="1aad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"/>
          <p:cNvSpPr/>
          <p:nvPr/>
        </p:nvSpPr>
        <p:spPr>
          <a:xfrm>
            <a:off x="274320" y="0"/>
            <a:ext cx="859428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Dawood University of Engineering and Technology  |  Department of CyberSecurity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"/>
          <p:cNvSpPr/>
          <p:nvPr/>
        </p:nvSpPr>
        <p:spPr>
          <a:xfrm>
            <a:off x="1371600" y="1280160"/>
            <a:ext cx="63997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Thank You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1371600" y="2423160"/>
            <a:ext cx="6399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i="1" u="none" strike="noStrike">
                <a:solidFill>
                  <a:srgbClr val="1aadad"/>
                </a:solidFill>
                <a:effectLst/>
                <a:uFillTx/>
                <a:latin typeface="Calibri"/>
                <a:ea typeface="Calibri"/>
              </a:rPr>
              <a:t>for your attention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2286000" y="3154680"/>
            <a:ext cx="4570920" cy="35640"/>
          </a:xfrm>
          <a:prstGeom prst="rect">
            <a:avLst/>
          </a:prstGeom>
          <a:solidFill>
            <a:srgbClr val="1aadad">
              <a:alpha val="50000"/>
            </a:srgbClr>
          </a:solidFill>
          <a:ln w="12700">
            <a:solidFill>
              <a:srgbClr val="1aadad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457200" y="374904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4a6572"/>
                </a:solidFill>
                <a:effectLst/>
                <a:uFillTx/>
                <a:latin typeface="Calibri"/>
                <a:ea typeface="Calibri"/>
              </a:rPr>
              <a:t>Communication Skills  —  Miss Sunita Kumari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LibreOffice/25.8.4.2$Linux_X86_64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2026-04-07T12:50:45Z</dcterms:created>
  <dc:creator>PptxGenJS</dc:creator>
  <dc:description/>
  <dc:language>en-US</dc:language>
  <cp:lastModifiedBy/>
  <dcterms:modified xsi:type="dcterms:W3CDTF">2026-04-16T13:41:16Z</dcterms:modified>
  <cp:revision>3</cp:revision>
  <dc:subject>PptxGenJS Presentation</dc:subject>
  <dc:title>Body Language &amp; Etiquette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