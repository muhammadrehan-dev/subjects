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2" d="100"/>
          <a:sy n="72" d="100"/>
        </p:scale>
        <p:origin x="43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F0D3785-51CC-435E-9392-EE15B8FB4274}" type="datetimeFigureOut">
              <a:rPr lang="en-US" smtClean="0"/>
              <a:t>12/15/2025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1935396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0D3785-51CC-435E-9392-EE15B8FB427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596763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0D3785-51CC-435E-9392-EE15B8FB427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2162014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0D3785-51CC-435E-9392-EE15B8FB427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883660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0D3785-51CC-435E-9392-EE15B8FB427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793478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0D3785-51CC-435E-9392-EE15B8FB4274}"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807271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0D3785-51CC-435E-9392-EE15B8FB4274}"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2358572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0D3785-51CC-435E-9392-EE15B8FB427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360911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0D3785-51CC-435E-9392-EE15B8FB427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1914812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0D3785-51CC-435E-9392-EE15B8FB427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141203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F0D3785-51CC-435E-9392-EE15B8FB427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3498797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F0D3785-51CC-435E-9392-EE15B8FB427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4052936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0D3785-51CC-435E-9392-EE15B8FB427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29079018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0D3785-51CC-435E-9392-EE15B8FB427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40985737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0D3785-51CC-435E-9392-EE15B8FB4274}" type="datetimeFigureOut">
              <a:rPr lang="en-US" smtClean="0"/>
              <a:t>12/15/2025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21925828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F0D3785-51CC-435E-9392-EE15B8FB427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842865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F0D3785-51CC-435E-9392-EE15B8FB427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0178B0-E404-4756-85E0-0B4E7E57DDF4}" type="slidenum">
              <a:rPr lang="en-US" smtClean="0"/>
              <a:t>‹#›</a:t>
            </a:fld>
            <a:endParaRPr lang="en-US"/>
          </a:p>
        </p:txBody>
      </p:sp>
    </p:spTree>
    <p:extLst>
      <p:ext uri="{BB962C8B-B14F-4D97-AF65-F5344CB8AC3E}">
        <p14:creationId xmlns:p14="http://schemas.microsoft.com/office/powerpoint/2010/main" val="1210419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F0D3785-51CC-435E-9392-EE15B8FB4274}" type="datetimeFigureOut">
              <a:rPr lang="en-US" smtClean="0"/>
              <a:t>12/15/2025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10178B0-E404-4756-85E0-0B4E7E57DDF4}" type="slidenum">
              <a:rPr lang="en-US" smtClean="0"/>
              <a:t>‹#›</a:t>
            </a:fld>
            <a:endParaRPr lang="en-US"/>
          </a:p>
        </p:txBody>
      </p:sp>
    </p:spTree>
    <p:extLst>
      <p:ext uri="{BB962C8B-B14F-4D97-AF65-F5344CB8AC3E}">
        <p14:creationId xmlns:p14="http://schemas.microsoft.com/office/powerpoint/2010/main" val="23003425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43E8F-7460-C7A7-0196-D240AC0D5882}"/>
              </a:ext>
            </a:extLst>
          </p:cNvPr>
          <p:cNvSpPr>
            <a:spLocks noGrp="1"/>
          </p:cNvSpPr>
          <p:nvPr>
            <p:ph type="ctrTitle"/>
          </p:nvPr>
        </p:nvSpPr>
        <p:spPr>
          <a:xfrm>
            <a:off x="1465851" y="751352"/>
            <a:ext cx="8825658" cy="1003557"/>
          </a:xfrm>
        </p:spPr>
        <p:txBody>
          <a:bodyPr/>
          <a:lstStyle/>
          <a:p>
            <a:pPr algn="ctr"/>
            <a:r>
              <a:rPr lang="en-US" b="1" u="sng" dirty="0">
                <a:effectLst>
                  <a:outerShdw blurRad="38100" dist="38100" dir="2700000" algn="tl">
                    <a:srgbClr val="000000">
                      <a:alpha val="43137"/>
                    </a:srgbClr>
                  </a:outerShdw>
                </a:effectLst>
              </a:rPr>
              <a:t>ICT PRESENTATION</a:t>
            </a:r>
          </a:p>
        </p:txBody>
      </p:sp>
      <p:sp>
        <p:nvSpPr>
          <p:cNvPr id="3" name="Subtitle 2">
            <a:extLst>
              <a:ext uri="{FF2B5EF4-FFF2-40B4-BE49-F238E27FC236}">
                <a16:creationId xmlns:a16="http://schemas.microsoft.com/office/drawing/2014/main" id="{160F5B3F-B9A0-AF00-0DA5-42E655F64BFC}"/>
              </a:ext>
            </a:extLst>
          </p:cNvPr>
          <p:cNvSpPr>
            <a:spLocks noGrp="1"/>
          </p:cNvSpPr>
          <p:nvPr>
            <p:ph type="subTitle" idx="1"/>
          </p:nvPr>
        </p:nvSpPr>
        <p:spPr>
          <a:xfrm>
            <a:off x="1465851" y="2606833"/>
            <a:ext cx="8825658" cy="3213487"/>
          </a:xfrm>
        </p:spPr>
        <p:txBody>
          <a:bodyPr/>
          <a:lstStyle/>
          <a:p>
            <a:pPr algn="ctr"/>
            <a:r>
              <a:rPr lang="en-US" sz="3600" b="1" dirty="0">
                <a:effectLst>
                  <a:outerShdw blurRad="38100" dist="38100" dir="2700000" algn="tl">
                    <a:srgbClr val="000000">
                      <a:alpha val="43137"/>
                    </a:srgbClr>
                  </a:outerShdw>
                </a:effectLst>
              </a:rPr>
              <a:t>Name: </a:t>
            </a:r>
            <a:r>
              <a:rPr lang="en-US" sz="3600" b="1" dirty="0" err="1">
                <a:effectLst>
                  <a:outerShdw blurRad="38100" dist="38100" dir="2700000" algn="tl">
                    <a:srgbClr val="000000">
                      <a:alpha val="43137"/>
                    </a:srgbClr>
                  </a:outerShdw>
                </a:effectLst>
              </a:rPr>
              <a:t>manal</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fatima</a:t>
            </a:r>
            <a:endParaRPr lang="en-US" sz="3600" b="1" dirty="0">
              <a:effectLst>
                <a:outerShdw blurRad="38100" dist="38100" dir="2700000" algn="tl">
                  <a:srgbClr val="000000">
                    <a:alpha val="43137"/>
                  </a:srgbClr>
                </a:outerShdw>
              </a:effectLst>
            </a:endParaRPr>
          </a:p>
          <a:p>
            <a:pPr algn="ctr"/>
            <a:r>
              <a:rPr lang="en-US" sz="3600" b="1" dirty="0">
                <a:effectLst>
                  <a:outerShdw blurRad="38100" dist="38100" dir="2700000" algn="tl">
                    <a:srgbClr val="000000">
                      <a:alpha val="43137"/>
                    </a:srgbClr>
                  </a:outerShdw>
                </a:effectLst>
              </a:rPr>
              <a:t>Roll no: 062-cy-25f</a:t>
            </a:r>
          </a:p>
          <a:p>
            <a:pPr algn="ctr"/>
            <a:r>
              <a:rPr lang="en-US" sz="3600" b="1" dirty="0">
                <a:effectLst>
                  <a:outerShdw blurRad="38100" dist="38100" dir="2700000" algn="tl">
                    <a:srgbClr val="000000">
                      <a:alpha val="43137"/>
                    </a:srgbClr>
                  </a:outerShdw>
                </a:effectLst>
              </a:rPr>
              <a:t>Batch: 2025 fall</a:t>
            </a:r>
          </a:p>
          <a:p>
            <a:pPr algn="ctr"/>
            <a:r>
              <a:rPr lang="en-US" sz="3600" b="1" dirty="0">
                <a:effectLst>
                  <a:outerShdw blurRad="38100" dist="38100" dir="2700000" algn="tl">
                    <a:srgbClr val="000000">
                      <a:alpha val="43137"/>
                    </a:srgbClr>
                  </a:outerShdw>
                </a:effectLst>
              </a:rPr>
              <a:t>Topic: software</a:t>
            </a:r>
          </a:p>
          <a:p>
            <a:endParaRPr lang="en-US" dirty="0"/>
          </a:p>
        </p:txBody>
      </p:sp>
    </p:spTree>
    <p:extLst>
      <p:ext uri="{BB962C8B-B14F-4D97-AF65-F5344CB8AC3E}">
        <p14:creationId xmlns:p14="http://schemas.microsoft.com/office/powerpoint/2010/main" val="3034302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90F0C-B274-63FB-4FF0-BB4F50B040EA}"/>
              </a:ext>
            </a:extLst>
          </p:cNvPr>
          <p:cNvSpPr>
            <a:spLocks noGrp="1"/>
          </p:cNvSpPr>
          <p:nvPr>
            <p:ph type="title"/>
          </p:nvPr>
        </p:nvSpPr>
        <p:spPr/>
        <p:txBody>
          <a:bodyPr/>
          <a:lstStyle/>
          <a:p>
            <a:pPr algn="ctr"/>
            <a:r>
              <a:rPr lang="en-US" sz="5400" b="1" u="sng" dirty="0">
                <a:effectLst>
                  <a:outerShdw blurRad="38100" dist="38100" dir="2700000" algn="tl">
                    <a:srgbClr val="000000">
                      <a:alpha val="43137"/>
                    </a:srgbClr>
                  </a:outerShdw>
                </a:effectLst>
              </a:rPr>
              <a:t>Introduction</a:t>
            </a:r>
          </a:p>
        </p:txBody>
      </p:sp>
      <p:sp>
        <p:nvSpPr>
          <p:cNvPr id="3" name="Content Placeholder 2">
            <a:extLst>
              <a:ext uri="{FF2B5EF4-FFF2-40B4-BE49-F238E27FC236}">
                <a16:creationId xmlns:a16="http://schemas.microsoft.com/office/drawing/2014/main" id="{5FDD6514-D262-185E-7E69-4FE0341CDB7C}"/>
              </a:ext>
            </a:extLst>
          </p:cNvPr>
          <p:cNvSpPr>
            <a:spLocks noGrp="1"/>
          </p:cNvSpPr>
          <p:nvPr>
            <p:ph idx="1"/>
          </p:nvPr>
        </p:nvSpPr>
        <p:spPr/>
        <p:txBody>
          <a:bodyPr>
            <a:normAutofit fontScale="92500" lnSpcReduction="10000"/>
          </a:bodyPr>
          <a:lstStyle/>
          <a:p>
            <a:r>
              <a:rPr lang="en-US" sz="3200" dirty="0"/>
              <a:t>Software is a collection of programs, data, and instructions that tell a computer how to perform specific tasks. It acts as an interface between the user and computer hardware, making it possible to carry out activities such as writing documents, browsing the internet, managing data, and running complex systems.</a:t>
            </a:r>
          </a:p>
        </p:txBody>
      </p:sp>
    </p:spTree>
    <p:extLst>
      <p:ext uri="{BB962C8B-B14F-4D97-AF65-F5344CB8AC3E}">
        <p14:creationId xmlns:p14="http://schemas.microsoft.com/office/powerpoint/2010/main" val="379265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89ACA-E2B4-9807-19E7-983E90CF4F3D}"/>
              </a:ext>
            </a:extLst>
          </p:cNvPr>
          <p:cNvSpPr>
            <a:spLocks noGrp="1"/>
          </p:cNvSpPr>
          <p:nvPr>
            <p:ph type="title"/>
          </p:nvPr>
        </p:nvSpPr>
        <p:spPr/>
        <p:txBody>
          <a:bodyPr/>
          <a:lstStyle/>
          <a:p>
            <a:pPr algn="ctr"/>
            <a:r>
              <a:rPr lang="en-US" sz="5400" b="1" u="sng" dirty="0">
                <a:effectLst>
                  <a:outerShdw blurRad="38100" dist="38100" dir="2700000" algn="tl">
                    <a:srgbClr val="000000">
                      <a:alpha val="43137"/>
                    </a:srgbClr>
                  </a:outerShdw>
                </a:effectLst>
              </a:rPr>
              <a:t>Types of Software</a:t>
            </a:r>
          </a:p>
        </p:txBody>
      </p:sp>
      <p:sp>
        <p:nvSpPr>
          <p:cNvPr id="3" name="Content Placeholder 2">
            <a:extLst>
              <a:ext uri="{FF2B5EF4-FFF2-40B4-BE49-F238E27FC236}">
                <a16:creationId xmlns:a16="http://schemas.microsoft.com/office/drawing/2014/main" id="{FAF783A1-EB6D-5641-E52B-C1D83B32E1F8}"/>
              </a:ext>
            </a:extLst>
          </p:cNvPr>
          <p:cNvSpPr>
            <a:spLocks noGrp="1"/>
          </p:cNvSpPr>
          <p:nvPr>
            <p:ph idx="1"/>
          </p:nvPr>
        </p:nvSpPr>
        <p:spPr>
          <a:xfrm>
            <a:off x="1154954" y="2603500"/>
            <a:ext cx="10538282" cy="3852718"/>
          </a:xfrm>
        </p:spPr>
        <p:txBody>
          <a:bodyPr>
            <a:normAutofit fontScale="92500" lnSpcReduction="10000"/>
          </a:bodyPr>
          <a:lstStyle/>
          <a:p>
            <a:r>
              <a:rPr lang="en-US" sz="2400" b="1" dirty="0"/>
              <a:t>1. System Software:</a:t>
            </a:r>
          </a:p>
          <a:p>
            <a:pPr marL="0" indent="0">
              <a:buNone/>
            </a:pPr>
            <a:r>
              <a:rPr lang="en-US" sz="2400" dirty="0"/>
              <a:t>System software manages and controls computer hardware and provides a platform for running application software. It is essential for the basic functioning of a computer.</a:t>
            </a:r>
            <a:br>
              <a:rPr lang="en-US" sz="2400" dirty="0"/>
            </a:br>
            <a:r>
              <a:rPr lang="en-US" sz="2400" b="1" dirty="0"/>
              <a:t>Examples:</a:t>
            </a:r>
            <a:r>
              <a:rPr lang="en-US" sz="2400" dirty="0"/>
              <a:t> Operating systems (Windows, Linux, macOS), device drivers, firmware.</a:t>
            </a:r>
          </a:p>
          <a:p>
            <a:r>
              <a:rPr lang="en-US" sz="2400" b="1" dirty="0"/>
              <a:t>2. Application Software:</a:t>
            </a:r>
          </a:p>
          <a:p>
            <a:pPr marL="0" indent="0">
              <a:buNone/>
            </a:pPr>
            <a:r>
              <a:rPr lang="en-US" sz="2400" dirty="0"/>
              <a:t>Application software is designed to perform specific tasks for users. It helps users solve problems or carry out daily activities.</a:t>
            </a:r>
            <a:br>
              <a:rPr lang="en-US" sz="2400" dirty="0"/>
            </a:br>
            <a:r>
              <a:rPr lang="en-US" sz="2400" b="1" dirty="0"/>
              <a:t>Examples:</a:t>
            </a:r>
            <a:r>
              <a:rPr lang="en-US" sz="2400" dirty="0"/>
              <a:t> Word processors, web browsers, media players, accounting software, mobile apps.</a:t>
            </a:r>
          </a:p>
          <a:p>
            <a:endParaRPr lang="en-US" sz="2400" dirty="0"/>
          </a:p>
        </p:txBody>
      </p:sp>
    </p:spTree>
    <p:extLst>
      <p:ext uri="{BB962C8B-B14F-4D97-AF65-F5344CB8AC3E}">
        <p14:creationId xmlns:p14="http://schemas.microsoft.com/office/powerpoint/2010/main" val="2309303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E0C86-1882-0319-998A-EB420AEEF004}"/>
              </a:ext>
            </a:extLst>
          </p:cNvPr>
          <p:cNvSpPr>
            <a:spLocks noGrp="1"/>
          </p:cNvSpPr>
          <p:nvPr>
            <p:ph type="title"/>
          </p:nvPr>
        </p:nvSpPr>
        <p:spPr>
          <a:xfrm>
            <a:off x="12478327" y="724286"/>
            <a:ext cx="1021749" cy="706964"/>
          </a:xfrm>
        </p:spPr>
        <p:txBody>
          <a:bodyPr/>
          <a:lstStyle/>
          <a:p>
            <a:r>
              <a:rPr lang="en-US" dirty="0"/>
              <a:t>   </a:t>
            </a:r>
            <a:br>
              <a:rPr lang="en-US" dirty="0"/>
            </a:br>
            <a:endParaRPr lang="en-US" dirty="0"/>
          </a:p>
        </p:txBody>
      </p:sp>
      <p:sp>
        <p:nvSpPr>
          <p:cNvPr id="3" name="Content Placeholder 2">
            <a:extLst>
              <a:ext uri="{FF2B5EF4-FFF2-40B4-BE49-F238E27FC236}">
                <a16:creationId xmlns:a16="http://schemas.microsoft.com/office/drawing/2014/main" id="{BEEBF447-37B2-C61C-AA05-9DFE9CEA9057}"/>
              </a:ext>
            </a:extLst>
          </p:cNvPr>
          <p:cNvSpPr>
            <a:spLocks noGrp="1"/>
          </p:cNvSpPr>
          <p:nvPr>
            <p:ph idx="1"/>
          </p:nvPr>
        </p:nvSpPr>
        <p:spPr>
          <a:xfrm>
            <a:off x="655782" y="2603500"/>
            <a:ext cx="11046691" cy="3954318"/>
          </a:xfrm>
        </p:spPr>
        <p:txBody>
          <a:bodyPr>
            <a:normAutofit/>
          </a:bodyPr>
          <a:lstStyle/>
          <a:p>
            <a:r>
              <a:rPr lang="en-US" sz="2400" b="1" dirty="0"/>
              <a:t>3. Utility Software:</a:t>
            </a:r>
          </a:p>
          <a:p>
            <a:pPr marL="0" indent="0">
              <a:buNone/>
            </a:pPr>
            <a:r>
              <a:rPr lang="en-US" sz="2400" dirty="0"/>
              <a:t>Utility software helps maintain, manage, and protect the computer system. It improves system performance and security.</a:t>
            </a:r>
            <a:br>
              <a:rPr lang="en-US" sz="2400" dirty="0"/>
            </a:br>
            <a:r>
              <a:rPr lang="en-US" sz="2400" b="1" dirty="0"/>
              <a:t>Examples:</a:t>
            </a:r>
            <a:r>
              <a:rPr lang="en-US" sz="2400" dirty="0"/>
              <a:t> Antivirus programs, disk cleanup tools, backup software.</a:t>
            </a:r>
          </a:p>
          <a:p>
            <a:r>
              <a:rPr lang="en-US" sz="2400" b="1" dirty="0"/>
              <a:t>4. Programming Software:</a:t>
            </a:r>
          </a:p>
          <a:p>
            <a:pPr marL="0" indent="0">
              <a:buNone/>
            </a:pPr>
            <a:r>
              <a:rPr lang="en-US" sz="2400" dirty="0"/>
              <a:t>Programming software is used by developers to create, test, and debug other software.</a:t>
            </a:r>
            <a:br>
              <a:rPr lang="en-US" sz="2400" dirty="0"/>
            </a:br>
            <a:r>
              <a:rPr lang="en-US" sz="2400" b="1" dirty="0"/>
              <a:t>Examples:</a:t>
            </a:r>
            <a:r>
              <a:rPr lang="en-US" sz="2400" dirty="0"/>
              <a:t> Compilers, interpreters, code editors, IDEs like Visual Studio Code.</a:t>
            </a:r>
          </a:p>
          <a:p>
            <a:endParaRPr lang="en-US" sz="2400" dirty="0"/>
          </a:p>
        </p:txBody>
      </p:sp>
    </p:spTree>
    <p:extLst>
      <p:ext uri="{BB962C8B-B14F-4D97-AF65-F5344CB8AC3E}">
        <p14:creationId xmlns:p14="http://schemas.microsoft.com/office/powerpoint/2010/main" val="3292114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A6D34-6FBE-4F4E-BBED-D4921E573C22}"/>
              </a:ext>
            </a:extLst>
          </p:cNvPr>
          <p:cNvSpPr>
            <a:spLocks noGrp="1"/>
          </p:cNvSpPr>
          <p:nvPr>
            <p:ph type="title"/>
          </p:nvPr>
        </p:nvSpPr>
        <p:spPr>
          <a:xfrm>
            <a:off x="1154954" y="973668"/>
            <a:ext cx="9162064" cy="706964"/>
          </a:xfrm>
        </p:spPr>
        <p:txBody>
          <a:bodyPr/>
          <a:lstStyle/>
          <a:p>
            <a:pPr algn="ctr"/>
            <a:r>
              <a:rPr lang="en-US" sz="5400" b="1" u="sng" dirty="0">
                <a:effectLst>
                  <a:outerShdw blurRad="38100" dist="38100" dir="2700000" algn="tl">
                    <a:srgbClr val="000000">
                      <a:alpha val="43137"/>
                    </a:srgbClr>
                  </a:outerShdw>
                </a:effectLst>
              </a:rPr>
              <a:t>Application of Software</a:t>
            </a:r>
          </a:p>
        </p:txBody>
      </p:sp>
      <p:sp>
        <p:nvSpPr>
          <p:cNvPr id="3" name="Content Placeholder 2">
            <a:extLst>
              <a:ext uri="{FF2B5EF4-FFF2-40B4-BE49-F238E27FC236}">
                <a16:creationId xmlns:a16="http://schemas.microsoft.com/office/drawing/2014/main" id="{A5223EF3-5C0C-2A7A-544A-28BC7B39149D}"/>
              </a:ext>
            </a:extLst>
          </p:cNvPr>
          <p:cNvSpPr>
            <a:spLocks noGrp="1"/>
          </p:cNvSpPr>
          <p:nvPr>
            <p:ph idx="1"/>
          </p:nvPr>
        </p:nvSpPr>
        <p:spPr>
          <a:xfrm>
            <a:off x="600364" y="2603499"/>
            <a:ext cx="11028218" cy="4037445"/>
          </a:xfrm>
        </p:spPr>
        <p:txBody>
          <a:bodyPr>
            <a:normAutofit lnSpcReduction="10000"/>
          </a:bodyPr>
          <a:lstStyle/>
          <a:p>
            <a:r>
              <a:rPr lang="en-US" sz="2000" b="1" dirty="0"/>
              <a:t>1. Education:</a:t>
            </a:r>
          </a:p>
          <a:p>
            <a:pPr marL="0" indent="0">
              <a:buNone/>
            </a:pPr>
            <a:r>
              <a:rPr lang="en-US" sz="2000" dirty="0"/>
              <a:t>Software is used for online learning, virtual classrooms, digital libraries, and exams.</a:t>
            </a:r>
            <a:br>
              <a:rPr lang="en-US" sz="2000" dirty="0"/>
            </a:br>
            <a:r>
              <a:rPr lang="en-US" sz="2000" b="1" dirty="0"/>
              <a:t>Examples:</a:t>
            </a:r>
            <a:r>
              <a:rPr lang="en-US" sz="2000" dirty="0"/>
              <a:t> Learning management systems, educational apps, video conferencing tools.</a:t>
            </a:r>
          </a:p>
          <a:p>
            <a:r>
              <a:rPr lang="en-US" sz="2000" b="1" dirty="0"/>
              <a:t>2. Business and Commerce:</a:t>
            </a:r>
          </a:p>
          <a:p>
            <a:pPr marL="0" indent="0">
              <a:buNone/>
            </a:pPr>
            <a:r>
              <a:rPr lang="en-US" sz="2000" dirty="0"/>
              <a:t>Software helps manage business operations such as accounting, payroll, inventory, and customer relations.</a:t>
            </a:r>
            <a:br>
              <a:rPr lang="en-US" sz="2000" dirty="0"/>
            </a:br>
            <a:r>
              <a:rPr lang="en-US" sz="2000" b="1" dirty="0"/>
              <a:t>Examples:</a:t>
            </a:r>
            <a:r>
              <a:rPr lang="en-US" sz="2000" dirty="0"/>
              <a:t> Accounting software, ERP systems, CRM tools.</a:t>
            </a:r>
          </a:p>
          <a:p>
            <a:r>
              <a:rPr lang="en-US" sz="2000" b="1" dirty="0"/>
              <a:t>3. Healthcare:</a:t>
            </a:r>
          </a:p>
          <a:p>
            <a:pPr marL="0" indent="0">
              <a:buNone/>
            </a:pPr>
            <a:r>
              <a:rPr lang="en-US" sz="2000" dirty="0"/>
              <a:t>Software is used for patient records, diagnosis, medical imaging, and hospital management.</a:t>
            </a:r>
            <a:br>
              <a:rPr lang="en-US" sz="2000" dirty="0"/>
            </a:br>
            <a:r>
              <a:rPr lang="en-US" sz="2000" b="1" dirty="0"/>
              <a:t>Examples:</a:t>
            </a:r>
            <a:r>
              <a:rPr lang="en-US" sz="2000" dirty="0"/>
              <a:t> Electronic Health Records (EHR), medical diagnostic software.</a:t>
            </a:r>
          </a:p>
          <a:p>
            <a:endParaRPr lang="en-US" sz="2000" dirty="0"/>
          </a:p>
        </p:txBody>
      </p:sp>
    </p:spTree>
    <p:extLst>
      <p:ext uri="{BB962C8B-B14F-4D97-AF65-F5344CB8AC3E}">
        <p14:creationId xmlns:p14="http://schemas.microsoft.com/office/powerpoint/2010/main" val="2321394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5C64-F09D-FF78-34AF-C41825196DF5}"/>
              </a:ext>
            </a:extLst>
          </p:cNvPr>
          <p:cNvSpPr>
            <a:spLocks noGrp="1"/>
          </p:cNvSpPr>
          <p:nvPr>
            <p:ph type="title"/>
          </p:nvPr>
        </p:nvSpPr>
        <p:spPr>
          <a:xfrm>
            <a:off x="13060626" y="0"/>
            <a:ext cx="8761413" cy="706964"/>
          </a:xfrm>
        </p:spPr>
        <p:txBody>
          <a:bodyPr/>
          <a:lstStyle/>
          <a:p>
            <a:r>
              <a:rPr lang="en-US" dirty="0"/>
              <a:t>   </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F2213D93-B447-B5DF-EEE4-4EC1142D8C3E}"/>
              </a:ext>
            </a:extLst>
          </p:cNvPr>
          <p:cNvSpPr>
            <a:spLocks noGrp="1"/>
          </p:cNvSpPr>
          <p:nvPr>
            <p:ph idx="1"/>
          </p:nvPr>
        </p:nvSpPr>
        <p:spPr>
          <a:xfrm>
            <a:off x="471055" y="2603499"/>
            <a:ext cx="11194471" cy="4120573"/>
          </a:xfrm>
        </p:spPr>
        <p:txBody>
          <a:bodyPr>
            <a:normAutofit lnSpcReduction="10000"/>
          </a:bodyPr>
          <a:lstStyle/>
          <a:p>
            <a:r>
              <a:rPr lang="en-US" sz="2400" b="1" dirty="0"/>
              <a:t>4. Communication:</a:t>
            </a:r>
          </a:p>
          <a:p>
            <a:pPr marL="0" indent="0">
              <a:buNone/>
            </a:pPr>
            <a:r>
              <a:rPr lang="en-US" sz="2400" dirty="0"/>
              <a:t>Software enables communication through emails, messaging, and video calls.</a:t>
            </a:r>
            <a:br>
              <a:rPr lang="en-US" sz="2400" dirty="0"/>
            </a:br>
            <a:r>
              <a:rPr lang="en-US" sz="2400" b="1" dirty="0"/>
              <a:t>Examples:</a:t>
            </a:r>
            <a:r>
              <a:rPr lang="en-US" sz="2400" dirty="0"/>
              <a:t> Email clients, social media apps, video conferencing software.</a:t>
            </a:r>
          </a:p>
          <a:p>
            <a:r>
              <a:rPr lang="en-US" sz="2400" b="1" dirty="0"/>
              <a:t>5. Entertainment:</a:t>
            </a:r>
          </a:p>
          <a:p>
            <a:pPr marL="0" indent="0">
              <a:buNone/>
            </a:pPr>
            <a:r>
              <a:rPr lang="en-US" sz="2400" dirty="0"/>
              <a:t>Software is used for gaming, music, movies, and content creation.</a:t>
            </a:r>
            <a:br>
              <a:rPr lang="en-US" sz="2400" dirty="0"/>
            </a:br>
            <a:r>
              <a:rPr lang="en-US" sz="2400" b="1" dirty="0"/>
              <a:t>Examples:</a:t>
            </a:r>
            <a:r>
              <a:rPr lang="en-US" sz="2400" dirty="0"/>
              <a:t> Video games, streaming platforms, media editing software.</a:t>
            </a:r>
          </a:p>
          <a:p>
            <a:r>
              <a:rPr lang="en-US" sz="2400" b="1" dirty="0"/>
              <a:t>6. Banking and Finance:</a:t>
            </a:r>
          </a:p>
          <a:p>
            <a:pPr marL="0" indent="0">
              <a:buNone/>
            </a:pPr>
            <a:r>
              <a:rPr lang="en-US" sz="2400" dirty="0"/>
              <a:t>Software supports online banking, digital payments, and financial analysis.</a:t>
            </a:r>
            <a:br>
              <a:rPr lang="en-US" sz="2400" dirty="0"/>
            </a:br>
            <a:r>
              <a:rPr lang="en-US" sz="2400" b="1" dirty="0"/>
              <a:t>Examples:</a:t>
            </a:r>
            <a:r>
              <a:rPr lang="en-US" sz="2400" dirty="0"/>
              <a:t> Banking systems, mobile payment apps, trading software.</a:t>
            </a:r>
          </a:p>
          <a:p>
            <a:endParaRPr lang="en-US" sz="2400" dirty="0"/>
          </a:p>
        </p:txBody>
      </p:sp>
    </p:spTree>
    <p:extLst>
      <p:ext uri="{BB962C8B-B14F-4D97-AF65-F5344CB8AC3E}">
        <p14:creationId xmlns:p14="http://schemas.microsoft.com/office/powerpoint/2010/main" val="2054200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69D0-D7AC-8A82-2E79-8DCBC062F0A1}"/>
              </a:ext>
            </a:extLst>
          </p:cNvPr>
          <p:cNvSpPr>
            <a:spLocks noGrp="1"/>
          </p:cNvSpPr>
          <p:nvPr>
            <p:ph type="title"/>
          </p:nvPr>
        </p:nvSpPr>
        <p:spPr>
          <a:xfrm>
            <a:off x="1154954" y="973668"/>
            <a:ext cx="9199010" cy="706964"/>
          </a:xfrm>
        </p:spPr>
        <p:txBody>
          <a:bodyPr/>
          <a:lstStyle/>
          <a:p>
            <a:pPr algn="ctr"/>
            <a:r>
              <a:rPr lang="en-US" sz="4400" b="1" u="sng" dirty="0">
                <a:effectLst>
                  <a:outerShdw blurRad="38100" dist="38100" dir="2700000" algn="tl">
                    <a:srgbClr val="000000">
                      <a:alpha val="43137"/>
                    </a:srgbClr>
                  </a:outerShdw>
                </a:effectLst>
              </a:rPr>
              <a:t>Programming Languages</a:t>
            </a:r>
          </a:p>
        </p:txBody>
      </p:sp>
      <p:sp>
        <p:nvSpPr>
          <p:cNvPr id="3" name="Content Placeholder 2">
            <a:extLst>
              <a:ext uri="{FF2B5EF4-FFF2-40B4-BE49-F238E27FC236}">
                <a16:creationId xmlns:a16="http://schemas.microsoft.com/office/drawing/2014/main" id="{C2EDBFED-A759-850B-F455-C63A7340C856}"/>
              </a:ext>
            </a:extLst>
          </p:cNvPr>
          <p:cNvSpPr>
            <a:spLocks noGrp="1"/>
          </p:cNvSpPr>
          <p:nvPr>
            <p:ph idx="1"/>
          </p:nvPr>
        </p:nvSpPr>
        <p:spPr/>
        <p:txBody>
          <a:bodyPr>
            <a:normAutofit lnSpcReduction="10000"/>
          </a:bodyPr>
          <a:lstStyle/>
          <a:p>
            <a:r>
              <a:rPr lang="en-US" sz="3200" b="1" dirty="0"/>
              <a:t>Programming Languages:</a:t>
            </a:r>
            <a:br>
              <a:rPr lang="en-US" sz="3200" dirty="0"/>
            </a:br>
            <a:r>
              <a:rPr lang="en-US" sz="3200" dirty="0"/>
              <a:t>Programming languages are used to give instructions to a computer to perform tasks. They help in creating software, applications, and systems. Examples include </a:t>
            </a:r>
            <a:r>
              <a:rPr lang="en-US" sz="3200" b="1" dirty="0"/>
              <a:t>Python, Java, C, C++</a:t>
            </a:r>
            <a:r>
              <a:rPr lang="en-US" sz="3200" dirty="0"/>
              <a:t>, and </a:t>
            </a:r>
            <a:r>
              <a:rPr lang="en-US" sz="3200" b="1" dirty="0"/>
              <a:t>JavaScript</a:t>
            </a:r>
            <a:r>
              <a:rPr lang="en-US" sz="3200" dirty="0"/>
              <a:t>.</a:t>
            </a:r>
          </a:p>
        </p:txBody>
      </p:sp>
    </p:spTree>
    <p:extLst>
      <p:ext uri="{BB962C8B-B14F-4D97-AF65-F5344CB8AC3E}">
        <p14:creationId xmlns:p14="http://schemas.microsoft.com/office/powerpoint/2010/main" val="4260465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6E771-A607-DC99-455F-2CFA4FBBC241}"/>
              </a:ext>
            </a:extLst>
          </p:cNvPr>
          <p:cNvSpPr>
            <a:spLocks noGrp="1"/>
          </p:cNvSpPr>
          <p:nvPr>
            <p:ph type="title"/>
          </p:nvPr>
        </p:nvSpPr>
        <p:spPr/>
        <p:txBody>
          <a:bodyPr/>
          <a:lstStyle/>
          <a:p>
            <a:pPr algn="ctr"/>
            <a:r>
              <a:rPr lang="en-US" sz="5400" b="1" u="sng" dirty="0">
                <a:effectLst>
                  <a:outerShdw blurRad="38100" dist="38100" dir="2700000" algn="tl">
                    <a:srgbClr val="000000">
                      <a:alpha val="43137"/>
                    </a:srgbClr>
                  </a:outerShdw>
                </a:effectLst>
              </a:rPr>
              <a:t>Conclusion</a:t>
            </a:r>
          </a:p>
        </p:txBody>
      </p:sp>
      <p:sp>
        <p:nvSpPr>
          <p:cNvPr id="3" name="Content Placeholder 2">
            <a:extLst>
              <a:ext uri="{FF2B5EF4-FFF2-40B4-BE49-F238E27FC236}">
                <a16:creationId xmlns:a16="http://schemas.microsoft.com/office/drawing/2014/main" id="{0A231722-3644-C47F-A7F4-E70E33BCDBF8}"/>
              </a:ext>
            </a:extLst>
          </p:cNvPr>
          <p:cNvSpPr>
            <a:spLocks noGrp="1"/>
          </p:cNvSpPr>
          <p:nvPr>
            <p:ph idx="1"/>
          </p:nvPr>
        </p:nvSpPr>
        <p:spPr/>
        <p:txBody>
          <a:bodyPr>
            <a:normAutofit lnSpcReduction="10000"/>
          </a:bodyPr>
          <a:lstStyle/>
          <a:p>
            <a:r>
              <a:rPr lang="en-US" sz="2800" b="1" dirty="0"/>
              <a:t>Conclusion:</a:t>
            </a:r>
            <a:br>
              <a:rPr lang="en-US" sz="2800" dirty="0"/>
            </a:br>
            <a:r>
              <a:rPr lang="en-US" sz="2800" dirty="0"/>
              <a:t>Software is an essential part of modern technology. It enables computers to perform tasks efficiently and supports various fields such as education, business, healthcare, and communication. Continuous advancements in software improve productivity, innovation, and everyday life.</a:t>
            </a:r>
          </a:p>
        </p:txBody>
      </p:sp>
    </p:spTree>
    <p:extLst>
      <p:ext uri="{BB962C8B-B14F-4D97-AF65-F5344CB8AC3E}">
        <p14:creationId xmlns:p14="http://schemas.microsoft.com/office/powerpoint/2010/main" val="661296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EF544-F097-C8D9-C570-39556B781297}"/>
              </a:ext>
            </a:extLst>
          </p:cNvPr>
          <p:cNvSpPr>
            <a:spLocks noGrp="1"/>
          </p:cNvSpPr>
          <p:nvPr>
            <p:ph type="title"/>
          </p:nvPr>
        </p:nvSpPr>
        <p:spPr>
          <a:xfrm flipH="1">
            <a:off x="13050981" y="973668"/>
            <a:ext cx="609600" cy="706964"/>
          </a:xfrm>
        </p:spPr>
        <p:txBody>
          <a:bodyPr/>
          <a:lstStyle/>
          <a:p>
            <a:r>
              <a:rPr lang="en-US" dirty="0"/>
              <a:t>    </a:t>
            </a:r>
            <a:br>
              <a:rPr lang="en-US" dirty="0"/>
            </a:br>
            <a:endParaRPr lang="en-US" dirty="0"/>
          </a:p>
        </p:txBody>
      </p:sp>
      <p:sp>
        <p:nvSpPr>
          <p:cNvPr id="3" name="Content Placeholder 2">
            <a:extLst>
              <a:ext uri="{FF2B5EF4-FFF2-40B4-BE49-F238E27FC236}">
                <a16:creationId xmlns:a16="http://schemas.microsoft.com/office/drawing/2014/main" id="{DD932008-2853-1DFF-EF77-3EA59BA93B82}"/>
              </a:ext>
            </a:extLst>
          </p:cNvPr>
          <p:cNvSpPr>
            <a:spLocks noGrp="1"/>
          </p:cNvSpPr>
          <p:nvPr>
            <p:ph idx="1"/>
          </p:nvPr>
        </p:nvSpPr>
        <p:spPr>
          <a:xfrm>
            <a:off x="1589064" y="3205018"/>
            <a:ext cx="8825659" cy="2750127"/>
          </a:xfrm>
        </p:spPr>
        <p:txBody>
          <a:bodyPr>
            <a:normAutofit/>
          </a:bodyPr>
          <a:lstStyle/>
          <a:p>
            <a:pPr marL="0" indent="0" algn="ctr">
              <a:buNone/>
            </a:pPr>
            <a:r>
              <a:rPr lang="en-US" sz="5400" dirty="0"/>
              <a:t> </a:t>
            </a:r>
            <a:r>
              <a:rPr lang="en-US" sz="5400" b="1" dirty="0">
                <a:effectLst>
                  <a:outerShdw blurRad="38100" dist="38100" dir="2700000" algn="tl">
                    <a:srgbClr val="000000">
                      <a:alpha val="43137"/>
                    </a:srgbClr>
                  </a:outerShdw>
                </a:effectLst>
              </a:rPr>
              <a:t>THANK YOU FOR LISTENING</a:t>
            </a:r>
          </a:p>
        </p:txBody>
      </p:sp>
    </p:spTree>
    <p:extLst>
      <p:ext uri="{BB962C8B-B14F-4D97-AF65-F5344CB8AC3E}">
        <p14:creationId xmlns:p14="http://schemas.microsoft.com/office/powerpoint/2010/main" val="41741085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28</TotalTime>
  <Words>549</Words>
  <Application>Microsoft Office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Ion Boardroom</vt:lpstr>
      <vt:lpstr>ICT PRESENTATION</vt:lpstr>
      <vt:lpstr>Introduction</vt:lpstr>
      <vt:lpstr>Types of Software</vt:lpstr>
      <vt:lpstr>    </vt:lpstr>
      <vt:lpstr>Application of Software</vt:lpstr>
      <vt:lpstr>      </vt:lpstr>
      <vt:lpstr>Programming Languages</vt:lpstr>
      <vt:lpstr>Conclusion</vt:lpstr>
      <vt:lpstr>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Manal Fatima</dc:creator>
  <cp:lastModifiedBy>Manal Fatima</cp:lastModifiedBy>
  <cp:revision>1</cp:revision>
  <dcterms:created xsi:type="dcterms:W3CDTF">2025-12-15T06:43:46Z</dcterms:created>
  <dcterms:modified xsi:type="dcterms:W3CDTF">2025-12-15T07:12:25Z</dcterms:modified>
</cp:coreProperties>
</file>