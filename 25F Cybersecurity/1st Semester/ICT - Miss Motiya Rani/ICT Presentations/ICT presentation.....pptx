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sldIdLst>
    <p:sldId id="256" r:id="rId2"/>
    <p:sldId id="257" r:id="rId3"/>
    <p:sldId id="259" r:id="rId4"/>
    <p:sldId id="258"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theme" Target="theme/theme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viewProps" Target="view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presProps" Target="presProps.xml" /><Relationship Id="rId5" Type="http://schemas.openxmlformats.org/officeDocument/2006/relationships/slide" Target="slides/slide4.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tableStyles" Target="tableStyles.xml" /></Relationships>
</file>

<file path=ppt/slideLayouts/_rels/slideLayout1.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3.png"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9.xml.rels><?xml version="1.0" encoding="UTF-8" standalone="yes"?>
<Relationships xmlns="http://schemas.openxmlformats.org/package/2006/relationships"><Relationship Id="rId3" Type="http://schemas.microsoft.com/office/2007/relationships/hdphoto" Target="../media/hdphoto2.wdp" /><Relationship Id="rId2" Type="http://schemas.openxmlformats.org/officeDocument/2006/relationships/image" Target="../media/image4.png" /><Relationship Id="rId1" Type="http://schemas.openxmlformats.org/officeDocument/2006/relationships/slideMaster" Target="../slideMasters/slideMaster1.xml" /><Relationship Id="rId5" Type="http://schemas.microsoft.com/office/2007/relationships/hdphoto" Target="../media/hdphoto1.wdp" /><Relationship Id="rId4" Type="http://schemas.openxmlformats.org/officeDocument/2006/relationships/image" Target="../media/image2.pn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12/12/2025</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12/12/2025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12/12/2025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12/12/2025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12/12/2025</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12/12/2025</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12/12/2025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2.pn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image" Target="../media/image3.png"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microsoft.com/office/2007/relationships/hdphoto" Target="../media/hdphoto1.wdp"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12/12/2025</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6.jpeg" /><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7.jpeg"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10.jpeg" /><Relationship Id="rId2" Type="http://schemas.openxmlformats.org/officeDocument/2006/relationships/image" Target="../media/image9.jpe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11862-A28E-EC0E-08FF-3A9FA081D398}"/>
              </a:ext>
            </a:extLst>
          </p:cNvPr>
          <p:cNvSpPr>
            <a:spLocks noGrp="1"/>
          </p:cNvSpPr>
          <p:nvPr>
            <p:ph type="ctrTitle"/>
          </p:nvPr>
        </p:nvSpPr>
        <p:spPr/>
        <p:txBody>
          <a:bodyPr/>
          <a:lstStyle/>
          <a:p>
            <a:r>
              <a:rPr lang="en-US" sz="7200" b="1" u="sng" dirty="0"/>
              <a:t>Source of online learning tools in ICT</a:t>
            </a:r>
            <a:r>
              <a:rPr lang="en-US" dirty="0"/>
              <a:t> </a:t>
            </a:r>
          </a:p>
        </p:txBody>
      </p:sp>
      <p:sp>
        <p:nvSpPr>
          <p:cNvPr id="3" name="Subtitle 2">
            <a:extLst>
              <a:ext uri="{FF2B5EF4-FFF2-40B4-BE49-F238E27FC236}">
                <a16:creationId xmlns:a16="http://schemas.microsoft.com/office/drawing/2014/main" id="{57E0306C-173F-C858-7472-A54CB938C8DC}"/>
              </a:ext>
            </a:extLst>
          </p:cNvPr>
          <p:cNvSpPr>
            <a:spLocks noGrp="1"/>
          </p:cNvSpPr>
          <p:nvPr>
            <p:ph type="subTitle" idx="1"/>
          </p:nvPr>
        </p:nvSpPr>
        <p:spPr>
          <a:xfrm>
            <a:off x="1051560" y="4371139"/>
            <a:ext cx="7891272" cy="1069848"/>
          </a:xfrm>
        </p:spPr>
        <p:txBody>
          <a:bodyPr>
            <a:normAutofit/>
          </a:bodyPr>
          <a:lstStyle/>
          <a:p>
            <a:r>
              <a:rPr lang="en-US" sz="2400" b="1" dirty="0">
                <a:solidFill>
                  <a:schemeClr val="accent2"/>
                </a:solidFill>
              </a:rPr>
              <a:t>Noor Fatima </a:t>
            </a:r>
          </a:p>
          <a:p>
            <a:r>
              <a:rPr lang="en-US" sz="2400" b="1" dirty="0">
                <a:solidFill>
                  <a:schemeClr val="accent2"/>
                </a:solidFill>
              </a:rPr>
              <a:t>25F-CY-108</a:t>
            </a:r>
          </a:p>
        </p:txBody>
      </p:sp>
    </p:spTree>
    <p:extLst>
      <p:ext uri="{BB962C8B-B14F-4D97-AF65-F5344CB8AC3E}">
        <p14:creationId xmlns:p14="http://schemas.microsoft.com/office/powerpoint/2010/main" val="335142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0E4C-B61E-4146-B061-3C1ADA84A388}"/>
              </a:ext>
            </a:extLst>
          </p:cNvPr>
          <p:cNvSpPr>
            <a:spLocks noGrp="1"/>
          </p:cNvSpPr>
          <p:nvPr>
            <p:ph type="title"/>
          </p:nvPr>
        </p:nvSpPr>
        <p:spPr/>
        <p:txBody>
          <a:bodyPr/>
          <a:lstStyle/>
          <a:p>
            <a:r>
              <a:rPr lang="en-US" b="1" u="sng" dirty="0"/>
              <a:t>INTERNET 🛜</a:t>
            </a:r>
          </a:p>
        </p:txBody>
      </p:sp>
      <p:sp>
        <p:nvSpPr>
          <p:cNvPr id="3" name="Content Placeholder 2">
            <a:extLst>
              <a:ext uri="{FF2B5EF4-FFF2-40B4-BE49-F238E27FC236}">
                <a16:creationId xmlns:a16="http://schemas.microsoft.com/office/drawing/2014/main" id="{A4E48AF6-A1BC-0BE5-A954-A48220170A9B}"/>
              </a:ext>
            </a:extLst>
          </p:cNvPr>
          <p:cNvSpPr>
            <a:spLocks noGrp="1"/>
          </p:cNvSpPr>
          <p:nvPr>
            <p:ph idx="1"/>
          </p:nvPr>
        </p:nvSpPr>
        <p:spPr>
          <a:xfrm>
            <a:off x="449095" y="1846964"/>
            <a:ext cx="7657931" cy="4468682"/>
          </a:xfrm>
        </p:spPr>
        <p:txBody>
          <a:bodyPr/>
          <a:lstStyle/>
          <a:p>
            <a:endParaRPr lang="en-US" dirty="0"/>
          </a:p>
          <a:p>
            <a:endParaRPr lang="en-US" sz="2400" dirty="0"/>
          </a:p>
          <a:p>
            <a:pPr marL="0" indent="0">
              <a:buNone/>
            </a:pPr>
            <a:r>
              <a:rPr lang="en-US" sz="2400" dirty="0"/>
              <a:t>The internet is the most important source of ICT learning tools. It provides access to millions of websites, online courses, video tutorials, e-books, and educational platforms. Students can search any topic, watch lectures, download notes, and communicate with teachers. Search engines like Google, Bing, and Yahoo help students find information quickly.</a:t>
            </a:r>
          </a:p>
          <a:p>
            <a:pPr marL="0" indent="0">
              <a:buNone/>
            </a:pPr>
            <a:endParaRPr lang="en-US" sz="2400" dirty="0"/>
          </a:p>
        </p:txBody>
      </p:sp>
      <p:pic>
        <p:nvPicPr>
          <p:cNvPr id="4" name="Picture 3">
            <a:extLst>
              <a:ext uri="{FF2B5EF4-FFF2-40B4-BE49-F238E27FC236}">
                <a16:creationId xmlns:a16="http://schemas.microsoft.com/office/drawing/2014/main" id="{8D9537AE-E7DC-2F13-7D95-E7A2FD7A9F93}"/>
              </a:ext>
            </a:extLst>
          </p:cNvPr>
          <p:cNvPicPr>
            <a:picLocks noChangeAspect="1"/>
          </p:cNvPicPr>
          <p:nvPr/>
        </p:nvPicPr>
        <p:blipFill>
          <a:blip r:embed="rId2"/>
          <a:stretch>
            <a:fillRect/>
          </a:stretch>
        </p:blipFill>
        <p:spPr>
          <a:xfrm>
            <a:off x="8209783" y="712517"/>
            <a:ext cx="3381429" cy="2493641"/>
          </a:xfrm>
          <a:prstGeom prst="rect">
            <a:avLst/>
          </a:prstGeom>
        </p:spPr>
      </p:pic>
      <p:pic>
        <p:nvPicPr>
          <p:cNvPr id="5" name="Picture 4">
            <a:extLst>
              <a:ext uri="{FF2B5EF4-FFF2-40B4-BE49-F238E27FC236}">
                <a16:creationId xmlns:a16="http://schemas.microsoft.com/office/drawing/2014/main" id="{BFBAAC41-867A-8307-7F00-38AAA6342D18}"/>
              </a:ext>
            </a:extLst>
          </p:cNvPr>
          <p:cNvPicPr>
            <a:picLocks noChangeAspect="1"/>
          </p:cNvPicPr>
          <p:nvPr/>
        </p:nvPicPr>
        <p:blipFill>
          <a:blip r:embed="rId3"/>
          <a:stretch>
            <a:fillRect/>
          </a:stretch>
        </p:blipFill>
        <p:spPr>
          <a:xfrm>
            <a:off x="8569990" y="3651842"/>
            <a:ext cx="3062958" cy="2240093"/>
          </a:xfrm>
          <a:prstGeom prst="rect">
            <a:avLst/>
          </a:prstGeom>
        </p:spPr>
      </p:pic>
    </p:spTree>
    <p:extLst>
      <p:ext uri="{BB962C8B-B14F-4D97-AF65-F5344CB8AC3E}">
        <p14:creationId xmlns:p14="http://schemas.microsoft.com/office/powerpoint/2010/main" val="1750120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2139-C72E-C4D6-EE00-C34CD90A46DF}"/>
              </a:ext>
            </a:extLst>
          </p:cNvPr>
          <p:cNvSpPr>
            <a:spLocks noGrp="1"/>
          </p:cNvSpPr>
          <p:nvPr>
            <p:ph type="title"/>
          </p:nvPr>
        </p:nvSpPr>
        <p:spPr/>
        <p:txBody>
          <a:bodyPr/>
          <a:lstStyle/>
          <a:p>
            <a:r>
              <a:rPr lang="en-US" b="1" u="sng" dirty="0"/>
              <a:t>EDUCATIONAL SOFTWARE👩🏻‍💻</a:t>
            </a:r>
          </a:p>
        </p:txBody>
      </p:sp>
      <p:sp>
        <p:nvSpPr>
          <p:cNvPr id="3" name="Content Placeholder 2">
            <a:extLst>
              <a:ext uri="{FF2B5EF4-FFF2-40B4-BE49-F238E27FC236}">
                <a16:creationId xmlns:a16="http://schemas.microsoft.com/office/drawing/2014/main" id="{97306648-641B-D62B-6499-6A0D8986C058}"/>
              </a:ext>
            </a:extLst>
          </p:cNvPr>
          <p:cNvSpPr>
            <a:spLocks noGrp="1"/>
          </p:cNvSpPr>
          <p:nvPr>
            <p:ph idx="1"/>
          </p:nvPr>
        </p:nvSpPr>
        <p:spPr>
          <a:xfrm>
            <a:off x="400210" y="1870982"/>
            <a:ext cx="7153755" cy="4712474"/>
          </a:xfrm>
        </p:spPr>
        <p:txBody>
          <a:bodyPr>
            <a:normAutofit/>
          </a:bodyPr>
          <a:lstStyle/>
          <a:p>
            <a:r>
              <a:rPr lang="en-US" sz="2400" dirty="0"/>
              <a:t>Educational software includes programs designed to support teaching and learning. These tools help students practice skills, complete assignments, and understand difficult topics through interactive activities. Examples include MS Office training software, typing tutor programs, math-solving software, language-learning applications, and computer simulations for science labs.</a:t>
            </a:r>
          </a:p>
        </p:txBody>
      </p:sp>
      <p:pic>
        <p:nvPicPr>
          <p:cNvPr id="4" name="Picture 3">
            <a:extLst>
              <a:ext uri="{FF2B5EF4-FFF2-40B4-BE49-F238E27FC236}">
                <a16:creationId xmlns:a16="http://schemas.microsoft.com/office/drawing/2014/main" id="{A3A5BC0A-2661-0072-7490-9F43FD80EE69}"/>
              </a:ext>
            </a:extLst>
          </p:cNvPr>
          <p:cNvPicPr>
            <a:picLocks noChangeAspect="1"/>
          </p:cNvPicPr>
          <p:nvPr/>
        </p:nvPicPr>
        <p:blipFill>
          <a:blip r:embed="rId2"/>
          <a:stretch>
            <a:fillRect/>
          </a:stretch>
        </p:blipFill>
        <p:spPr>
          <a:xfrm>
            <a:off x="8073995" y="2093976"/>
            <a:ext cx="3833729" cy="3156103"/>
          </a:xfrm>
          <a:prstGeom prst="rect">
            <a:avLst/>
          </a:prstGeom>
        </p:spPr>
      </p:pic>
    </p:spTree>
    <p:extLst>
      <p:ext uri="{BB962C8B-B14F-4D97-AF65-F5344CB8AC3E}">
        <p14:creationId xmlns:p14="http://schemas.microsoft.com/office/powerpoint/2010/main" val="21899008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1750F-C037-FA35-ED34-EA2816BF565D}"/>
              </a:ext>
            </a:extLst>
          </p:cNvPr>
          <p:cNvSpPr>
            <a:spLocks noGrp="1"/>
          </p:cNvSpPr>
          <p:nvPr>
            <p:ph type="title"/>
          </p:nvPr>
        </p:nvSpPr>
        <p:spPr/>
        <p:txBody>
          <a:bodyPr/>
          <a:lstStyle/>
          <a:p>
            <a:r>
              <a:rPr lang="en-US" b="1" u="sng" dirty="0"/>
              <a:t>E- Library/ DIGITAL </a:t>
            </a:r>
            <a:r>
              <a:rPr lang="en-US" b="1" u="sng" dirty="0" err="1"/>
              <a:t>LIBRARy</a:t>
            </a:r>
            <a:r>
              <a:rPr lang="en-US" b="1" u="sng" dirty="0"/>
              <a:t> </a:t>
            </a:r>
          </a:p>
        </p:txBody>
      </p:sp>
      <p:sp>
        <p:nvSpPr>
          <p:cNvPr id="3" name="Content Placeholder 2">
            <a:extLst>
              <a:ext uri="{FF2B5EF4-FFF2-40B4-BE49-F238E27FC236}">
                <a16:creationId xmlns:a16="http://schemas.microsoft.com/office/drawing/2014/main" id="{491CBF9F-42FD-C600-2971-4C65C8DA6B32}"/>
              </a:ext>
            </a:extLst>
          </p:cNvPr>
          <p:cNvSpPr>
            <a:spLocks noGrp="1"/>
          </p:cNvSpPr>
          <p:nvPr>
            <p:ph idx="1"/>
          </p:nvPr>
        </p:nvSpPr>
        <p:spPr>
          <a:xfrm>
            <a:off x="583887" y="2121407"/>
            <a:ext cx="7307414" cy="4478267"/>
          </a:xfrm>
        </p:spPr>
        <p:txBody>
          <a:bodyPr/>
          <a:lstStyle/>
          <a:p>
            <a:endParaRPr lang="en-US" sz="2400" dirty="0"/>
          </a:p>
          <a:p>
            <a:r>
              <a:rPr lang="en-US" sz="2400" dirty="0"/>
              <a:t>Digital libraries store books, journals, research articles, and study materials in electronic form. Students can access them anytime using computers or mobile phones. They eliminate the need to visit physical libraries and provide a wide range of updated materials. Examples include Google Books, research databases, and online academic libraries created by schools or universities.</a:t>
            </a:r>
          </a:p>
          <a:p>
            <a:endParaRPr lang="en-US" dirty="0"/>
          </a:p>
        </p:txBody>
      </p:sp>
      <p:pic>
        <p:nvPicPr>
          <p:cNvPr id="4" name="Picture 3">
            <a:extLst>
              <a:ext uri="{FF2B5EF4-FFF2-40B4-BE49-F238E27FC236}">
                <a16:creationId xmlns:a16="http://schemas.microsoft.com/office/drawing/2014/main" id="{0264AF78-35F6-3297-6E50-FB1818764BEB}"/>
              </a:ext>
            </a:extLst>
          </p:cNvPr>
          <p:cNvPicPr>
            <a:picLocks noChangeAspect="1"/>
          </p:cNvPicPr>
          <p:nvPr/>
        </p:nvPicPr>
        <p:blipFill>
          <a:blip r:embed="rId2"/>
          <a:stretch>
            <a:fillRect/>
          </a:stretch>
        </p:blipFill>
        <p:spPr>
          <a:xfrm>
            <a:off x="8032848" y="1935957"/>
            <a:ext cx="3680247" cy="2828068"/>
          </a:xfrm>
          <a:prstGeom prst="rect">
            <a:avLst/>
          </a:prstGeom>
        </p:spPr>
      </p:pic>
    </p:spTree>
    <p:extLst>
      <p:ext uri="{BB962C8B-B14F-4D97-AF65-F5344CB8AC3E}">
        <p14:creationId xmlns:p14="http://schemas.microsoft.com/office/powerpoint/2010/main" val="3608122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36696-1992-5EEC-258C-ABCE4155C58E}"/>
              </a:ext>
            </a:extLst>
          </p:cNvPr>
          <p:cNvSpPr>
            <a:spLocks noGrp="1"/>
          </p:cNvSpPr>
          <p:nvPr>
            <p:ph type="title"/>
          </p:nvPr>
        </p:nvSpPr>
        <p:spPr/>
        <p:txBody>
          <a:bodyPr>
            <a:normAutofit/>
          </a:bodyPr>
          <a:lstStyle/>
          <a:p>
            <a:r>
              <a:rPr lang="en-US" sz="4800" b="1" u="sng" dirty="0"/>
              <a:t>Computer based </a:t>
            </a:r>
            <a:r>
              <a:rPr lang="en-US" sz="4800" b="1" u="sng" dirty="0" err="1"/>
              <a:t>TRAININg</a:t>
            </a:r>
            <a:r>
              <a:rPr lang="en-US" sz="4800" b="1" dirty="0"/>
              <a:t>🖥️</a:t>
            </a:r>
            <a:endParaRPr lang="en-US" sz="4800" b="1" u="sng" dirty="0"/>
          </a:p>
        </p:txBody>
      </p:sp>
      <p:sp>
        <p:nvSpPr>
          <p:cNvPr id="3" name="Content Placeholder 2">
            <a:extLst>
              <a:ext uri="{FF2B5EF4-FFF2-40B4-BE49-F238E27FC236}">
                <a16:creationId xmlns:a16="http://schemas.microsoft.com/office/drawing/2014/main" id="{B218B7DA-F8C4-C111-87F5-1AF8FA762AF6}"/>
              </a:ext>
            </a:extLst>
          </p:cNvPr>
          <p:cNvSpPr>
            <a:spLocks noGrp="1"/>
          </p:cNvSpPr>
          <p:nvPr>
            <p:ph idx="1"/>
          </p:nvPr>
        </p:nvSpPr>
        <p:spPr>
          <a:xfrm>
            <a:off x="601580" y="2121407"/>
            <a:ext cx="6758915" cy="4251961"/>
          </a:xfrm>
        </p:spPr>
        <p:txBody>
          <a:bodyPr/>
          <a:lstStyle/>
          <a:p>
            <a:r>
              <a:rPr lang="en-US" sz="2400" dirty="0"/>
              <a:t>CBT refers to learning programs delivered through computers. These include tutorials, animations, recorded lectures, tests, and interactive exercises. CBT materials may be stored in CDs, DVDs, or downloaded from the internet. They allow students to learn at their own pace, repeat lessons, and receive instant feedback through quizzes.</a:t>
            </a:r>
          </a:p>
          <a:p>
            <a:endParaRPr lang="en-US" dirty="0"/>
          </a:p>
        </p:txBody>
      </p:sp>
      <p:pic>
        <p:nvPicPr>
          <p:cNvPr id="4" name="Picture 3">
            <a:extLst>
              <a:ext uri="{FF2B5EF4-FFF2-40B4-BE49-F238E27FC236}">
                <a16:creationId xmlns:a16="http://schemas.microsoft.com/office/drawing/2014/main" id="{DBA3CF16-D0BA-EA1A-7638-F6F72E3AABD0}"/>
              </a:ext>
            </a:extLst>
          </p:cNvPr>
          <p:cNvPicPr>
            <a:picLocks noChangeAspect="1"/>
          </p:cNvPicPr>
          <p:nvPr/>
        </p:nvPicPr>
        <p:blipFill>
          <a:blip r:embed="rId2"/>
          <a:stretch>
            <a:fillRect/>
          </a:stretch>
        </p:blipFill>
        <p:spPr>
          <a:xfrm>
            <a:off x="7183562" y="3987632"/>
            <a:ext cx="3007894" cy="2870368"/>
          </a:xfrm>
          <a:prstGeom prst="rect">
            <a:avLst/>
          </a:prstGeom>
        </p:spPr>
      </p:pic>
      <p:pic>
        <p:nvPicPr>
          <p:cNvPr id="5" name="Picture 4">
            <a:extLst>
              <a:ext uri="{FF2B5EF4-FFF2-40B4-BE49-F238E27FC236}">
                <a16:creationId xmlns:a16="http://schemas.microsoft.com/office/drawing/2014/main" id="{66732047-FED0-C2E9-6A98-BEB95071FE1D}"/>
              </a:ext>
            </a:extLst>
          </p:cNvPr>
          <p:cNvPicPr>
            <a:picLocks noChangeAspect="1"/>
          </p:cNvPicPr>
          <p:nvPr/>
        </p:nvPicPr>
        <p:blipFill>
          <a:blip r:embed="rId3"/>
          <a:stretch>
            <a:fillRect/>
          </a:stretch>
        </p:blipFill>
        <p:spPr>
          <a:xfrm>
            <a:off x="9210180" y="1289304"/>
            <a:ext cx="2754046" cy="2796994"/>
          </a:xfrm>
          <a:prstGeom prst="rect">
            <a:avLst/>
          </a:prstGeom>
        </p:spPr>
      </p:pic>
    </p:spTree>
    <p:extLst>
      <p:ext uri="{BB962C8B-B14F-4D97-AF65-F5344CB8AC3E}">
        <p14:creationId xmlns:p14="http://schemas.microsoft.com/office/powerpoint/2010/main" val="2690476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4EB43-E8B7-B846-DBA1-0992D5898627}"/>
              </a:ext>
            </a:extLst>
          </p:cNvPr>
          <p:cNvSpPr>
            <a:spLocks noGrp="1"/>
          </p:cNvSpPr>
          <p:nvPr>
            <p:ph type="title"/>
          </p:nvPr>
        </p:nvSpPr>
        <p:spPr/>
        <p:txBody>
          <a:bodyPr/>
          <a:lstStyle/>
          <a:p>
            <a:r>
              <a:rPr lang="en-US" b="1" u="sng" dirty="0"/>
              <a:t>Multi media tools </a:t>
            </a:r>
          </a:p>
        </p:txBody>
      </p:sp>
      <p:sp>
        <p:nvSpPr>
          <p:cNvPr id="3" name="Content Placeholder 2">
            <a:extLst>
              <a:ext uri="{FF2B5EF4-FFF2-40B4-BE49-F238E27FC236}">
                <a16:creationId xmlns:a16="http://schemas.microsoft.com/office/drawing/2014/main" id="{CDC2ECA3-3898-63A6-C0FA-38061CF45E12}"/>
              </a:ext>
            </a:extLst>
          </p:cNvPr>
          <p:cNvSpPr>
            <a:spLocks noGrp="1"/>
          </p:cNvSpPr>
          <p:nvPr>
            <p:ph idx="1"/>
          </p:nvPr>
        </p:nvSpPr>
        <p:spPr>
          <a:xfrm>
            <a:off x="884100" y="2093976"/>
            <a:ext cx="6679871" cy="4454916"/>
          </a:xfrm>
        </p:spPr>
        <p:txBody>
          <a:bodyPr>
            <a:normAutofit/>
          </a:bodyPr>
          <a:lstStyle/>
          <a:p>
            <a:r>
              <a:rPr lang="en-US" sz="2400" dirty="0"/>
              <a:t>Multimedia tools use a combination of text, pictures, sound, animations, and videos to make learning more engaging and easier to understand. Examples include educational videos, PowerPoint slides, digital storytelling, simulations, and animations. Multimedia helps students understand complex concepts visually and improves memory retention.</a:t>
            </a:r>
          </a:p>
        </p:txBody>
      </p:sp>
      <p:pic>
        <p:nvPicPr>
          <p:cNvPr id="4" name="Picture 3">
            <a:extLst>
              <a:ext uri="{FF2B5EF4-FFF2-40B4-BE49-F238E27FC236}">
                <a16:creationId xmlns:a16="http://schemas.microsoft.com/office/drawing/2014/main" id="{CB3537B6-D974-20DE-8BE2-9B9003E1B76D}"/>
              </a:ext>
            </a:extLst>
          </p:cNvPr>
          <p:cNvPicPr>
            <a:picLocks noChangeAspect="1"/>
          </p:cNvPicPr>
          <p:nvPr/>
        </p:nvPicPr>
        <p:blipFill>
          <a:blip r:embed="rId2"/>
          <a:stretch>
            <a:fillRect/>
          </a:stretch>
        </p:blipFill>
        <p:spPr>
          <a:xfrm>
            <a:off x="7749718" y="1082727"/>
            <a:ext cx="4139743" cy="3894854"/>
          </a:xfrm>
          <a:prstGeom prst="rect">
            <a:avLst/>
          </a:prstGeom>
        </p:spPr>
      </p:pic>
    </p:spTree>
    <p:extLst>
      <p:ext uri="{BB962C8B-B14F-4D97-AF65-F5344CB8AC3E}">
        <p14:creationId xmlns:p14="http://schemas.microsoft.com/office/powerpoint/2010/main" val="1361572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B90D1-DAD8-BB42-4F78-3DB1DDD79510}"/>
              </a:ext>
            </a:extLst>
          </p:cNvPr>
          <p:cNvSpPr>
            <a:spLocks noGrp="1"/>
          </p:cNvSpPr>
          <p:nvPr>
            <p:ph type="title"/>
          </p:nvPr>
        </p:nvSpPr>
        <p:spPr/>
        <p:txBody>
          <a:bodyPr/>
          <a:lstStyle/>
          <a:p>
            <a:r>
              <a:rPr lang="en-US" sz="4800" b="1" u="sng" dirty="0"/>
              <a:t>Virtual learning environment</a:t>
            </a:r>
            <a:r>
              <a:rPr lang="en-US" b="1" u="sng" dirty="0"/>
              <a:t> </a:t>
            </a:r>
          </a:p>
        </p:txBody>
      </p:sp>
      <p:sp>
        <p:nvSpPr>
          <p:cNvPr id="3" name="Content Placeholder 2">
            <a:extLst>
              <a:ext uri="{FF2B5EF4-FFF2-40B4-BE49-F238E27FC236}">
                <a16:creationId xmlns:a16="http://schemas.microsoft.com/office/drawing/2014/main" id="{A1373739-6EDF-1F5D-2015-BAB1B2A4EA26}"/>
              </a:ext>
            </a:extLst>
          </p:cNvPr>
          <p:cNvSpPr>
            <a:spLocks noGrp="1"/>
          </p:cNvSpPr>
          <p:nvPr>
            <p:ph idx="1"/>
          </p:nvPr>
        </p:nvSpPr>
        <p:spPr>
          <a:xfrm>
            <a:off x="601581" y="2121408"/>
            <a:ext cx="7214820" cy="4251960"/>
          </a:xfrm>
        </p:spPr>
        <p:txBody>
          <a:bodyPr/>
          <a:lstStyle/>
          <a:p>
            <a:r>
              <a:rPr lang="en-US" sz="2400" dirty="0"/>
              <a:t>VLEs are online platforms used by teachers to manage courses, upload study materials, assign homework, and communicate with students. They provide discussion boards, quizzes, attendance systems, and grade tracking. Examples include Google Classroom, Moodle, Edmodo, and Microsoft Teams. They help students learn remotely and maintain organized digital records.</a:t>
            </a:r>
          </a:p>
          <a:p>
            <a:endParaRPr lang="en-US" dirty="0"/>
          </a:p>
        </p:txBody>
      </p:sp>
      <p:pic>
        <p:nvPicPr>
          <p:cNvPr id="4" name="Picture 3">
            <a:extLst>
              <a:ext uri="{FF2B5EF4-FFF2-40B4-BE49-F238E27FC236}">
                <a16:creationId xmlns:a16="http://schemas.microsoft.com/office/drawing/2014/main" id="{407B0E9D-1477-FCB0-7089-E6E33F677F85}"/>
              </a:ext>
            </a:extLst>
          </p:cNvPr>
          <p:cNvPicPr>
            <a:picLocks noChangeAspect="1"/>
          </p:cNvPicPr>
          <p:nvPr/>
        </p:nvPicPr>
        <p:blipFill>
          <a:blip r:embed="rId2"/>
          <a:stretch>
            <a:fillRect/>
          </a:stretch>
        </p:blipFill>
        <p:spPr>
          <a:xfrm flipH="1">
            <a:off x="7816401" y="1973819"/>
            <a:ext cx="4086117" cy="2910362"/>
          </a:xfrm>
          <a:prstGeom prst="rect">
            <a:avLst/>
          </a:prstGeom>
        </p:spPr>
      </p:pic>
    </p:spTree>
    <p:extLst>
      <p:ext uri="{BB962C8B-B14F-4D97-AF65-F5344CB8AC3E}">
        <p14:creationId xmlns:p14="http://schemas.microsoft.com/office/powerpoint/2010/main" val="3919326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64044-E054-8991-A28D-07D96201E3F5}"/>
              </a:ext>
            </a:extLst>
          </p:cNvPr>
          <p:cNvSpPr>
            <a:spLocks noGrp="1"/>
          </p:cNvSpPr>
          <p:nvPr>
            <p:ph type="title"/>
          </p:nvPr>
        </p:nvSpPr>
        <p:spPr/>
        <p:txBody>
          <a:bodyPr>
            <a:normAutofit/>
          </a:bodyPr>
          <a:lstStyle/>
          <a:p>
            <a:r>
              <a:rPr lang="en-US" sz="4800" b="1" u="sng" dirty="0"/>
              <a:t>Social media &amp; communication tools </a:t>
            </a:r>
          </a:p>
        </p:txBody>
      </p:sp>
      <p:sp>
        <p:nvSpPr>
          <p:cNvPr id="3" name="Content Placeholder 2">
            <a:extLst>
              <a:ext uri="{FF2B5EF4-FFF2-40B4-BE49-F238E27FC236}">
                <a16:creationId xmlns:a16="http://schemas.microsoft.com/office/drawing/2014/main" id="{734399FF-2B14-F240-C8CD-0D0BC8DD80B2}"/>
              </a:ext>
            </a:extLst>
          </p:cNvPr>
          <p:cNvSpPr>
            <a:spLocks noGrp="1"/>
          </p:cNvSpPr>
          <p:nvPr>
            <p:ph idx="1"/>
          </p:nvPr>
        </p:nvSpPr>
        <p:spPr>
          <a:xfrm>
            <a:off x="477724" y="2121408"/>
            <a:ext cx="7236641" cy="4000542"/>
          </a:xfrm>
        </p:spPr>
        <p:txBody>
          <a:bodyPr/>
          <a:lstStyle/>
          <a:p>
            <a:r>
              <a:rPr lang="en-US" sz="2400" dirty="0"/>
              <a:t>Social media platforms are powerful tools for learning and information sharing. Students can join educational groups, watch lectures, participate in discussions, and ask questions. Platforms like YouTube, Facebook, WhatsApp, and Telegram help create study communities. Communication tools like Zoom and Skype enable online classes and live discussions.</a:t>
            </a:r>
          </a:p>
          <a:p>
            <a:endParaRPr lang="en-US" dirty="0"/>
          </a:p>
        </p:txBody>
      </p:sp>
      <p:pic>
        <p:nvPicPr>
          <p:cNvPr id="5" name="Picture 4">
            <a:extLst>
              <a:ext uri="{FF2B5EF4-FFF2-40B4-BE49-F238E27FC236}">
                <a16:creationId xmlns:a16="http://schemas.microsoft.com/office/drawing/2014/main" id="{59B22872-9BF9-516F-8C8D-BA7FA5DBDA31}"/>
              </a:ext>
            </a:extLst>
          </p:cNvPr>
          <p:cNvPicPr>
            <a:picLocks noChangeAspect="1"/>
          </p:cNvPicPr>
          <p:nvPr/>
        </p:nvPicPr>
        <p:blipFill>
          <a:blip r:embed="rId2"/>
          <a:stretch>
            <a:fillRect/>
          </a:stretch>
        </p:blipFill>
        <p:spPr>
          <a:xfrm>
            <a:off x="7714365" y="1748058"/>
            <a:ext cx="4308368" cy="3644979"/>
          </a:xfrm>
          <a:prstGeom prst="rect">
            <a:avLst/>
          </a:prstGeom>
        </p:spPr>
      </p:pic>
    </p:spTree>
    <p:extLst>
      <p:ext uri="{BB962C8B-B14F-4D97-AF65-F5344CB8AC3E}">
        <p14:creationId xmlns:p14="http://schemas.microsoft.com/office/powerpoint/2010/main" val="1821491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01F5C-55E7-5EAB-D443-A801A1ED1C2B}"/>
              </a:ext>
            </a:extLst>
          </p:cNvPr>
          <p:cNvSpPr>
            <a:spLocks noGrp="1"/>
          </p:cNvSpPr>
          <p:nvPr>
            <p:ph type="title"/>
          </p:nvPr>
        </p:nvSpPr>
        <p:spPr>
          <a:xfrm>
            <a:off x="1069847" y="484632"/>
            <a:ext cx="10466313" cy="5687568"/>
          </a:xfrm>
        </p:spPr>
        <p:txBody>
          <a:bodyPr/>
          <a:lstStyle/>
          <a:p>
            <a:r>
              <a:rPr lang="en-US" dirty="0"/>
              <a:t>.</a:t>
            </a:r>
          </a:p>
        </p:txBody>
      </p:sp>
      <p:sp>
        <p:nvSpPr>
          <p:cNvPr id="3" name="Content Placeholder 2">
            <a:extLst>
              <a:ext uri="{FF2B5EF4-FFF2-40B4-BE49-F238E27FC236}">
                <a16:creationId xmlns:a16="http://schemas.microsoft.com/office/drawing/2014/main" id="{3A4C14BE-116F-EFA6-346E-41AFCEE5B6DC}"/>
              </a:ext>
            </a:extLst>
          </p:cNvPr>
          <p:cNvSpPr>
            <a:spLocks noGrp="1"/>
          </p:cNvSpPr>
          <p:nvPr>
            <p:ph idx="1"/>
          </p:nvPr>
        </p:nvSpPr>
        <p:spPr>
          <a:xfrm>
            <a:off x="1928590" y="1769350"/>
            <a:ext cx="9193563" cy="3680248"/>
          </a:xfrm>
        </p:spPr>
        <p:txBody>
          <a:bodyPr>
            <a:normAutofit/>
          </a:bodyPr>
          <a:lstStyle/>
          <a:p>
            <a:pPr marL="1671400" lvl="6" indent="0">
              <a:buNone/>
            </a:pPr>
            <a:r>
              <a:rPr lang="en-US" sz="5600" b="1" u="sng" dirty="0"/>
              <a:t>  </a:t>
            </a:r>
          </a:p>
        </p:txBody>
      </p:sp>
      <p:pic>
        <p:nvPicPr>
          <p:cNvPr id="4" name="Picture 3">
            <a:extLst>
              <a:ext uri="{FF2B5EF4-FFF2-40B4-BE49-F238E27FC236}">
                <a16:creationId xmlns:a16="http://schemas.microsoft.com/office/drawing/2014/main" id="{68A6C122-ECE0-124C-FFE6-88D00978A6C7}"/>
              </a:ext>
            </a:extLst>
          </p:cNvPr>
          <p:cNvPicPr>
            <a:picLocks noChangeAspect="1"/>
          </p:cNvPicPr>
          <p:nvPr/>
        </p:nvPicPr>
        <p:blipFill>
          <a:blip r:embed="rId2"/>
          <a:stretch>
            <a:fillRect/>
          </a:stretch>
        </p:blipFill>
        <p:spPr>
          <a:xfrm>
            <a:off x="2052446" y="719667"/>
            <a:ext cx="7944381" cy="4729932"/>
          </a:xfrm>
          <a:prstGeom prst="rect">
            <a:avLst/>
          </a:prstGeom>
        </p:spPr>
      </p:pic>
    </p:spTree>
    <p:extLst>
      <p:ext uri="{BB962C8B-B14F-4D97-AF65-F5344CB8AC3E}">
        <p14:creationId xmlns:p14="http://schemas.microsoft.com/office/powerpoint/2010/main" val="6578076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9</Slides>
  <Notes>0</Notes>
  <HiddenSlides>0</HiddenSlide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Wood Type</vt:lpstr>
      <vt:lpstr>Source of online learning tools in ICT </vt:lpstr>
      <vt:lpstr>INTERNET 🛜</vt:lpstr>
      <vt:lpstr>EDUCATIONAL SOFTWARE👩🏻‍💻</vt:lpstr>
      <vt:lpstr>E- Library/ DIGITAL LIBRARy </vt:lpstr>
      <vt:lpstr>Computer based TRAININg🖥️</vt:lpstr>
      <vt:lpstr>Multi media tools </vt:lpstr>
      <vt:lpstr>Virtual learning environment </vt:lpstr>
      <vt:lpstr>Social media &amp; communication tools </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Source of online learning tools in ICT </dc:title>
  <dc:creator>Noor Bhatti</dc:creator>
  <cp:lastModifiedBy>Noor Bhatti</cp:lastModifiedBy>
  <cp:revision>3</cp:revision>
  <dcterms:created xsi:type="dcterms:W3CDTF">2025-12-12T17:10:00Z</dcterms:created>
  <dcterms:modified xsi:type="dcterms:W3CDTF">2025-12-12T18:34:02Z</dcterms:modified>
</cp:coreProperties>
</file>