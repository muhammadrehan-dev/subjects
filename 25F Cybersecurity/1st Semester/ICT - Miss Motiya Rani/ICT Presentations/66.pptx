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7" r:id="rId2"/>
    <p:sldId id="256" r:id="rId3"/>
    <p:sldId id="268" r:id="rId4"/>
    <p:sldId id="259" r:id="rId5"/>
    <p:sldId id="266" r:id="rId6"/>
    <p:sldId id="263" r:id="rId7"/>
    <p:sldId id="269" r:id="rId8"/>
    <p:sldId id="270" r:id="rId9"/>
    <p:sldId id="271"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2" d="100"/>
          <a:sy n="62" d="100"/>
        </p:scale>
        <p:origin x="140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59BFFE-BD1C-0CFE-6288-B28DF81D1C53}"/>
              </a:ext>
            </a:extLst>
          </p:cNvPr>
          <p:cNvSpPr>
            <a:spLocks noGrp="1"/>
          </p:cNvSpPr>
          <p:nvPr>
            <p:ph idx="1"/>
          </p:nvPr>
        </p:nvSpPr>
        <p:spPr/>
        <p:txBody>
          <a:bodyPr>
            <a:normAutofit/>
          </a:bodyPr>
          <a:lstStyle/>
          <a:p>
            <a:pPr marL="0" indent="0" algn="ctr">
              <a:buNone/>
            </a:pPr>
            <a:r>
              <a:rPr lang="en-US" sz="4800" dirty="0"/>
              <a:t>Name Mudassir</a:t>
            </a:r>
          </a:p>
          <a:p>
            <a:pPr marL="0" indent="0" algn="ctr">
              <a:buNone/>
            </a:pPr>
            <a:r>
              <a:rPr lang="en-US" sz="4800" dirty="0"/>
              <a:t>Roll No 066  </a:t>
            </a:r>
          </a:p>
          <a:p>
            <a:pPr marL="0" indent="0" algn="ctr">
              <a:buNone/>
            </a:pPr>
            <a:r>
              <a:rPr lang="en-US" sz="4800" dirty="0"/>
              <a:t>Topic DBMS </a:t>
            </a:r>
          </a:p>
        </p:txBody>
      </p:sp>
    </p:spTree>
    <p:extLst>
      <p:ext uri="{BB962C8B-B14F-4D97-AF65-F5344CB8AC3E}">
        <p14:creationId xmlns:p14="http://schemas.microsoft.com/office/powerpoint/2010/main" val="3218391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46138"/>
            <a:ext cx="8229600" cy="1143000"/>
          </a:xfrm>
        </p:spPr>
        <p:txBody>
          <a:bodyPr>
            <a:normAutofit fontScale="90000"/>
          </a:bodyPr>
          <a:lstStyle/>
          <a:p>
            <a:r>
              <a:rPr dirty="0"/>
              <a:t>Database Management System (DBMS)</a:t>
            </a:r>
          </a:p>
        </p:txBody>
      </p:sp>
      <p:sp>
        <p:nvSpPr>
          <p:cNvPr id="3" name="Content Placeholder 2"/>
          <p:cNvSpPr>
            <a:spLocks noGrp="1"/>
          </p:cNvSpPr>
          <p:nvPr>
            <p:ph idx="1"/>
          </p:nvPr>
        </p:nvSpPr>
        <p:spPr>
          <a:xfrm>
            <a:off x="457200" y="2362200"/>
            <a:ext cx="8229600" cy="3304309"/>
          </a:xfrm>
        </p:spPr>
        <p:txBody>
          <a:bodyPr/>
          <a:lstStyle/>
          <a:p>
            <a:r>
              <a:rPr dirty="0"/>
              <a:t>A DBMS is software that stores, organizes, retrieves, and manages data efficiently.</a:t>
            </a:r>
          </a:p>
          <a:p>
            <a:r>
              <a:rPr dirty="0"/>
              <a:t>Used in banking, education, business, and many other fields.</a:t>
            </a:r>
            <a:endParaRPr lang="en-US" dirty="0"/>
          </a:p>
          <a:p>
            <a:pPr marL="0" indent="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A7313-D4EF-66B3-D8BD-4EFA698D41A9}"/>
              </a:ext>
            </a:extLst>
          </p:cNvPr>
          <p:cNvSpPr>
            <a:spLocks noGrp="1"/>
          </p:cNvSpPr>
          <p:nvPr>
            <p:ph type="title"/>
          </p:nvPr>
        </p:nvSpPr>
        <p:spPr/>
        <p:txBody>
          <a:bodyPr>
            <a:normAutofit/>
          </a:bodyPr>
          <a:lstStyle/>
          <a:p>
            <a:r>
              <a:rPr lang="en-US" dirty="0"/>
              <a:t>Types Of Data Base </a:t>
            </a:r>
          </a:p>
        </p:txBody>
      </p:sp>
      <p:sp>
        <p:nvSpPr>
          <p:cNvPr id="3" name="Content Placeholder 2">
            <a:extLst>
              <a:ext uri="{FF2B5EF4-FFF2-40B4-BE49-F238E27FC236}">
                <a16:creationId xmlns:a16="http://schemas.microsoft.com/office/drawing/2014/main" id="{99077E2C-4569-55D4-B364-7E5F38AB7A0F}"/>
              </a:ext>
            </a:extLst>
          </p:cNvPr>
          <p:cNvSpPr>
            <a:spLocks noGrp="1"/>
          </p:cNvSpPr>
          <p:nvPr>
            <p:ph idx="1"/>
          </p:nvPr>
        </p:nvSpPr>
        <p:spPr/>
        <p:txBody>
          <a:bodyPr/>
          <a:lstStyle/>
          <a:p>
            <a:pPr marL="0" indent="0">
              <a:buNone/>
            </a:pPr>
            <a:r>
              <a:rPr lang="en-US" dirty="0"/>
              <a:t>Basic Types Of Database </a:t>
            </a:r>
          </a:p>
          <a:p>
            <a:pPr marL="0" indent="0">
              <a:buNone/>
            </a:pPr>
            <a:r>
              <a:rPr lang="en-US" dirty="0"/>
              <a:t>1 SQL (Structure Query Language )</a:t>
            </a:r>
          </a:p>
          <a:p>
            <a:pPr marL="0" indent="0">
              <a:buNone/>
            </a:pPr>
            <a:r>
              <a:rPr lang="en-US" dirty="0"/>
              <a:t>2 SQL (Non Structure Query Language )</a:t>
            </a:r>
          </a:p>
        </p:txBody>
      </p:sp>
    </p:spTree>
    <p:extLst>
      <p:ext uri="{BB962C8B-B14F-4D97-AF65-F5344CB8AC3E}">
        <p14:creationId xmlns:p14="http://schemas.microsoft.com/office/powerpoint/2010/main" val="1698373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1056"/>
            <a:ext cx="8229600" cy="5655108"/>
          </a:xfrm>
        </p:spPr>
        <p:txBody>
          <a:bodyPr>
            <a:normAutofit/>
          </a:bodyPr>
          <a:lstStyle/>
          <a:p>
            <a:pPr marL="0" indent="0">
              <a:buNone/>
            </a:pPr>
            <a:r>
              <a:rPr lang="en-US" sz="2400" b="1" dirty="0"/>
              <a:t>1. SQL Databases (Relational)</a:t>
            </a:r>
          </a:p>
          <a:p>
            <a:pPr marL="0" indent="0">
              <a:buNone/>
            </a:pPr>
            <a:r>
              <a:rPr lang="en-US" sz="2400" dirty="0"/>
              <a:t>SQL databases store data in tables with rows and columns.</a:t>
            </a:r>
            <a:br>
              <a:rPr lang="en-US" sz="2400" dirty="0"/>
            </a:br>
            <a:r>
              <a:rPr lang="en-US" sz="2400" dirty="0"/>
              <a:t>They use Structured Query Language (SQL) for managing data Examples: MySQL, Oracle, PostgreSQL.</a:t>
            </a:r>
          </a:p>
          <a:p>
            <a:pPr marL="0" indent="0">
              <a:buNone/>
            </a:pPr>
            <a:endParaRPr dirty="0"/>
          </a:p>
        </p:txBody>
      </p:sp>
      <p:pic>
        <p:nvPicPr>
          <p:cNvPr id="4" name="Picture 3" descr="mongoDB A Document-Oriented Database">
            <a:extLst>
              <a:ext uri="{FF2B5EF4-FFF2-40B4-BE49-F238E27FC236}">
                <a16:creationId xmlns:a16="http://schemas.microsoft.com/office/drawing/2014/main" id="{D873268C-86FC-3FBE-3B14-B2E939C53D65}"/>
              </a:ext>
            </a:extLst>
          </p:cNvPr>
          <p:cNvPicPr>
            <a:picLocks noChangeAspect="1"/>
          </p:cNvPicPr>
          <p:nvPr/>
        </p:nvPicPr>
        <p:blipFill>
          <a:blip r:embed="rId2"/>
          <a:stretch>
            <a:fillRect/>
          </a:stretch>
        </p:blipFill>
        <p:spPr>
          <a:xfrm>
            <a:off x="457200" y="2341420"/>
            <a:ext cx="5555330" cy="34186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1976E3-6FA8-E67A-5B70-A44792C8D822}"/>
              </a:ext>
            </a:extLst>
          </p:cNvPr>
          <p:cNvSpPr>
            <a:spLocks noGrp="1"/>
          </p:cNvSpPr>
          <p:nvPr>
            <p:ph idx="1"/>
          </p:nvPr>
        </p:nvSpPr>
        <p:spPr>
          <a:xfrm>
            <a:off x="346364" y="311728"/>
            <a:ext cx="8229600" cy="6144490"/>
          </a:xfrm>
        </p:spPr>
        <p:txBody>
          <a:bodyPr>
            <a:normAutofit lnSpcReduction="10000"/>
          </a:bodyPr>
          <a:lstStyle/>
          <a:p>
            <a:pPr marL="0" indent="0">
              <a:buNone/>
            </a:pPr>
            <a:r>
              <a:rPr lang="en-US" b="1" dirty="0"/>
              <a:t>2. NoSQL Databases (Non-Relational)</a:t>
            </a:r>
          </a:p>
          <a:p>
            <a:pPr marL="0" indent="0">
              <a:buNone/>
            </a:pPr>
            <a:r>
              <a:rPr lang="en-US" dirty="0"/>
              <a:t>NoSQL databases store data in flexible formats such as documents, key-value pairs, wide-columns, or graphs.</a:t>
            </a:r>
            <a:br>
              <a:rPr lang="en-US" dirty="0"/>
            </a:br>
            <a:r>
              <a:rPr lang="en-US" dirty="0"/>
              <a:t>Examples: MongoDB, Redis, Cassandra.</a:t>
            </a:r>
          </a:p>
          <a:p>
            <a:pPr marL="0" indent="0">
              <a:buNone/>
            </a:pPr>
            <a:r>
              <a:rPr lang="en-US" sz="1800" dirty="0"/>
              <a:t>{  "books": [  {</a:t>
            </a:r>
          </a:p>
          <a:p>
            <a:pPr marL="0" indent="0">
              <a:buNone/>
            </a:pPr>
            <a:r>
              <a:rPr lang="en-US" sz="1800" dirty="0"/>
              <a:t>      "id": "01",</a:t>
            </a:r>
          </a:p>
          <a:p>
            <a:pPr marL="0" indent="0">
              <a:buNone/>
            </a:pPr>
            <a:r>
              <a:rPr lang="en-US" sz="1800" dirty="0"/>
              <a:t>      "language": "Java",</a:t>
            </a:r>
          </a:p>
          <a:p>
            <a:pPr marL="0" indent="0">
              <a:buNone/>
            </a:pPr>
            <a:r>
              <a:rPr lang="en-US" sz="1800" dirty="0"/>
              <a:t>      "author": "H. </a:t>
            </a:r>
            <a:r>
              <a:rPr lang="en-US" sz="1800" dirty="0" err="1"/>
              <a:t>Javeson</a:t>
            </a:r>
            <a:r>
              <a:rPr lang="en-US" sz="1800" dirty="0"/>
              <a:t>",</a:t>
            </a:r>
          </a:p>
          <a:p>
            <a:pPr marL="0" indent="0">
              <a:buNone/>
            </a:pPr>
            <a:r>
              <a:rPr lang="en-US" sz="1800" dirty="0"/>
              <a:t>      "year": 2015  }</a:t>
            </a:r>
          </a:p>
          <a:p>
            <a:pPr marL="0" indent="0">
              <a:buNone/>
            </a:pPr>
            <a:r>
              <a:rPr lang="en-US" sz="1800" dirty="0"/>
              <a:t>,{</a:t>
            </a:r>
          </a:p>
          <a:p>
            <a:pPr marL="0" indent="0">
              <a:buNone/>
            </a:pPr>
            <a:r>
              <a:rPr lang="en-US" sz="1800" dirty="0"/>
              <a:t>      "id": "07",</a:t>
            </a:r>
          </a:p>
          <a:p>
            <a:pPr marL="0" indent="0">
              <a:buNone/>
            </a:pPr>
            <a:r>
              <a:rPr lang="en-US" sz="1800" dirty="0"/>
              <a:t>      "language": "C++",</a:t>
            </a:r>
          </a:p>
          <a:p>
            <a:pPr marL="0" indent="0">
              <a:buNone/>
            </a:pPr>
            <a:r>
              <a:rPr lang="en-US" sz="1800" dirty="0"/>
              <a:t>      "edition": "second",</a:t>
            </a:r>
          </a:p>
          <a:p>
            <a:pPr marL="0" indent="0">
              <a:buNone/>
            </a:pPr>
            <a:r>
              <a:rPr lang="en-US" sz="1800" dirty="0"/>
              <a:t>      "author": "E. Sepp",</a:t>
            </a:r>
          </a:p>
          <a:p>
            <a:pPr marL="0" indent="0">
              <a:buNone/>
            </a:pPr>
            <a:r>
              <a:rPr lang="en-US" sz="1800" dirty="0"/>
              <a:t>      "price": 22.25</a:t>
            </a:r>
          </a:p>
          <a:p>
            <a:pPr marL="0" indent="0">
              <a:buNone/>
            </a:pPr>
            <a:r>
              <a:rPr lang="en-US" sz="1800" dirty="0"/>
              <a:t>    }  ]  }</a:t>
            </a:r>
          </a:p>
          <a:p>
            <a:pPr marL="0" indent="0">
              <a:buNone/>
            </a:pPr>
            <a:endParaRPr lang="en-US" sz="1800" dirty="0"/>
          </a:p>
          <a:p>
            <a:pPr marL="0" indent="0">
              <a:buNone/>
            </a:pPr>
            <a:endParaRPr lang="en-US" dirty="0"/>
          </a:p>
        </p:txBody>
      </p:sp>
    </p:spTree>
    <p:extLst>
      <p:ext uri="{BB962C8B-B14F-4D97-AF65-F5344CB8AC3E}">
        <p14:creationId xmlns:p14="http://schemas.microsoft.com/office/powerpoint/2010/main" val="1674013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Functions of DBMS</a:t>
            </a:r>
          </a:p>
        </p:txBody>
      </p:sp>
      <p:sp>
        <p:nvSpPr>
          <p:cNvPr id="3" name="Content Placeholder 2"/>
          <p:cNvSpPr>
            <a:spLocks noGrp="1"/>
          </p:cNvSpPr>
          <p:nvPr>
            <p:ph idx="1"/>
          </p:nvPr>
        </p:nvSpPr>
        <p:spPr>
          <a:xfrm>
            <a:off x="914400" y="1417639"/>
            <a:ext cx="7481455" cy="2738726"/>
          </a:xfrm>
        </p:spPr>
        <p:txBody>
          <a:bodyPr/>
          <a:lstStyle/>
          <a:p>
            <a:r>
              <a:rPr dirty="0"/>
              <a:t> Data storage and retrieval</a:t>
            </a:r>
          </a:p>
          <a:p>
            <a:r>
              <a:rPr dirty="0"/>
              <a:t> Backup and recovery</a:t>
            </a:r>
          </a:p>
          <a:p>
            <a:r>
              <a:rPr dirty="0"/>
              <a:t> Data security &amp; access control</a:t>
            </a:r>
          </a:p>
          <a:p>
            <a:r>
              <a:rPr dirty="0"/>
              <a:t>Concurrency control for multiple users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atabase Software and Applications | Microsoft Access">
            <a:extLst>
              <a:ext uri="{FF2B5EF4-FFF2-40B4-BE49-F238E27FC236}">
                <a16:creationId xmlns:a16="http://schemas.microsoft.com/office/drawing/2014/main" id="{6D254DB9-9B1B-7D45-8992-E86891D4D2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FAB6382-B101-957C-2DF6-3B728AE2CD73}"/>
              </a:ext>
            </a:extLst>
          </p:cNvPr>
          <p:cNvSpPr txBox="1"/>
          <p:nvPr/>
        </p:nvSpPr>
        <p:spPr>
          <a:xfrm>
            <a:off x="3482939" y="246999"/>
            <a:ext cx="1993187" cy="584775"/>
          </a:xfrm>
          <a:prstGeom prst="rect">
            <a:avLst/>
          </a:prstGeom>
          <a:noFill/>
        </p:spPr>
        <p:txBody>
          <a:bodyPr wrap="square" rtlCol="0">
            <a:spAutoFit/>
          </a:bodyPr>
          <a:lstStyle/>
          <a:p>
            <a:r>
              <a:rPr lang="en-US" sz="3200" dirty="0"/>
              <a:t>MS Access</a:t>
            </a:r>
          </a:p>
        </p:txBody>
      </p:sp>
    </p:spTree>
    <p:extLst>
      <p:ext uri="{BB962C8B-B14F-4D97-AF65-F5344CB8AC3E}">
        <p14:creationId xmlns:p14="http://schemas.microsoft.com/office/powerpoint/2010/main" val="3777513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9C401-D49D-88A2-8636-91509FEABDA4}"/>
              </a:ext>
            </a:extLst>
          </p:cNvPr>
          <p:cNvSpPr>
            <a:spLocks noGrp="1"/>
          </p:cNvSpPr>
          <p:nvPr>
            <p:ph type="title"/>
          </p:nvPr>
        </p:nvSpPr>
        <p:spPr/>
        <p:txBody>
          <a:bodyPr/>
          <a:lstStyle/>
          <a:p>
            <a:r>
              <a:rPr lang="en-US" dirty="0"/>
              <a:t>Conclusion </a:t>
            </a:r>
          </a:p>
        </p:txBody>
      </p:sp>
      <p:sp>
        <p:nvSpPr>
          <p:cNvPr id="3" name="Content Placeholder 2">
            <a:extLst>
              <a:ext uri="{FF2B5EF4-FFF2-40B4-BE49-F238E27FC236}">
                <a16:creationId xmlns:a16="http://schemas.microsoft.com/office/drawing/2014/main" id="{336883D6-43C2-E664-9DD0-0DF857D69B46}"/>
              </a:ext>
            </a:extLst>
          </p:cNvPr>
          <p:cNvSpPr>
            <a:spLocks noGrp="1"/>
          </p:cNvSpPr>
          <p:nvPr>
            <p:ph idx="1"/>
          </p:nvPr>
        </p:nvSpPr>
        <p:spPr/>
        <p:txBody>
          <a:bodyPr>
            <a:normAutofit/>
          </a:bodyPr>
          <a:lstStyle/>
          <a:p>
            <a:r>
              <a:rPr lang="en-US" sz="2400" dirty="0"/>
              <a:t>A Database Management System (DBMS) helps us store, organize, and manage data in a simple and efficient way. It keeps data safe, reduces mistakes, and makes it easier to find or update information whenever needed. With the help of DBMS, users can handle large amounts of data without confusion and ensure that the data remains accurate and secure. Overall, a DBMS is an important tool that makes working with data faster, smarter, and more reliable.</a:t>
            </a:r>
          </a:p>
          <a:p>
            <a:endParaRPr lang="en-US" sz="2400" dirty="0"/>
          </a:p>
        </p:txBody>
      </p:sp>
    </p:spTree>
    <p:extLst>
      <p:ext uri="{BB962C8B-B14F-4D97-AF65-F5344CB8AC3E}">
        <p14:creationId xmlns:p14="http://schemas.microsoft.com/office/powerpoint/2010/main" val="3502590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B1F02F-8F6B-870E-CBD3-871E97645037}"/>
              </a:ext>
            </a:extLst>
          </p:cNvPr>
          <p:cNvSpPr>
            <a:spLocks noGrp="1"/>
          </p:cNvSpPr>
          <p:nvPr>
            <p:ph idx="1"/>
          </p:nvPr>
        </p:nvSpPr>
        <p:spPr>
          <a:xfrm>
            <a:off x="1433246" y="1826231"/>
            <a:ext cx="5799761" cy="2879333"/>
          </a:xfrm>
        </p:spPr>
        <p:txBody>
          <a:bodyPr>
            <a:normAutofit/>
          </a:bodyPr>
          <a:lstStyle/>
          <a:p>
            <a:pPr marL="457200" lvl="1" indent="0">
              <a:buNone/>
            </a:pPr>
            <a:r>
              <a:rPr lang="en-US" sz="13400" dirty="0"/>
              <a:t>Thanks </a:t>
            </a:r>
          </a:p>
        </p:txBody>
      </p:sp>
    </p:spTree>
    <p:extLst>
      <p:ext uri="{BB962C8B-B14F-4D97-AF65-F5344CB8AC3E}">
        <p14:creationId xmlns:p14="http://schemas.microsoft.com/office/powerpoint/2010/main" val="18279902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46</TotalTime>
  <Words>329</Words>
  <Application>Microsoft Office PowerPoint</Application>
  <PresentationFormat>On-screen Show (4:3)</PresentationFormat>
  <Paragraphs>35</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Database Management System (DBMS)</vt:lpstr>
      <vt:lpstr>Types Of Data Base </vt:lpstr>
      <vt:lpstr>PowerPoint Presentation</vt:lpstr>
      <vt:lpstr>PowerPoint Presentation</vt:lpstr>
      <vt:lpstr>Functions of DBMS</vt:lpstr>
      <vt:lpstr>PowerPoint Presentation</vt:lpstr>
      <vt:lpstr>Conclusion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Mudassir waseem</dc:creator>
  <cp:keywords/>
  <dc:description>generated using python-pptx</dc:description>
  <cp:lastModifiedBy>Taha khan</cp:lastModifiedBy>
  <cp:revision>3</cp:revision>
  <dcterms:created xsi:type="dcterms:W3CDTF">2013-01-27T09:14:16Z</dcterms:created>
  <dcterms:modified xsi:type="dcterms:W3CDTF">2025-12-08T09:29:18Z</dcterms:modified>
  <cp:category/>
</cp:coreProperties>
</file>