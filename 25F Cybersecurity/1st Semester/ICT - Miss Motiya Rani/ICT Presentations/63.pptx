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14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5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4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41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8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1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0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56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81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3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58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2985582"/>
          </a:xfrm>
        </p:spPr>
        <p:txBody>
          <a:bodyPr anchor="b">
            <a:normAutofit/>
          </a:bodyPr>
          <a:lstStyle/>
          <a:p>
            <a:r>
              <a:rPr lang="en-US" sz="4800" b="1" i="1">
                <a:latin typeface="Berlin Sans FB Demi"/>
                <a:ea typeface="+mj-lt"/>
                <a:cs typeface="+mj-lt"/>
              </a:rPr>
              <a:t>ICT in Banking</a:t>
            </a:r>
            <a:endParaRPr lang="en-US" sz="4800" b="1" i="1">
              <a:latin typeface="Berlin Sans FB Dem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868" y="4214945"/>
            <a:ext cx="3566453" cy="1741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(Information &amp; Communication Technology in the Banking Sector)</a:t>
            </a:r>
          </a:p>
          <a:p>
            <a:pPr>
              <a:lnSpc>
                <a:spcPct val="100000"/>
              </a:lnSpc>
            </a:pPr>
            <a:br>
              <a:rPr lang="en-US" sz="1700" b="1">
                <a:ea typeface="+mn-lt"/>
                <a:cs typeface="+mn-lt"/>
              </a:rPr>
            </a:br>
            <a:r>
              <a:rPr lang="en-US" sz="1700" b="1">
                <a:ea typeface="+mn-lt"/>
                <a:cs typeface="+mn-lt"/>
              </a:rPr>
              <a:t> Presented by: Subhan Ghafoor</a:t>
            </a:r>
          </a:p>
          <a:p>
            <a:pPr>
              <a:lnSpc>
                <a:spcPct val="100000"/>
              </a:lnSpc>
            </a:pPr>
            <a:r>
              <a:rPr lang="en-US" sz="1700" b="1"/>
              <a:t>Roll no ~ 25F-CY-063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9" name="Picture 38" descr="Stone pillars">
            <a:extLst>
              <a:ext uri="{FF2B5EF4-FFF2-40B4-BE49-F238E27FC236}">
                <a16:creationId xmlns:a16="http://schemas.microsoft.com/office/drawing/2014/main" id="{5621449A-603C-EDE8-2BF3-90C3CC069A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8" t="2733" r="-7" b="14237"/>
          <a:stretch>
            <a:fillRect/>
          </a:stretch>
        </p:blipFill>
        <p:spPr>
          <a:xfrm>
            <a:off x="4337595" y="1414196"/>
            <a:ext cx="7333488" cy="4129192"/>
          </a:xfrm>
          <a:prstGeom prst="rect">
            <a:avLst/>
          </a:prstGeom>
        </p:spPr>
      </p:pic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82128-9217-859C-5A73-B5E8B4C3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US" i="1">
                <a:latin typeface="Quire Sans"/>
                <a:ea typeface="+mj-lt"/>
                <a:cs typeface="+mj-lt"/>
              </a:rPr>
              <a:t>What is ICT?</a:t>
            </a:r>
            <a:endParaRPr lang="en-US" i="1">
              <a:latin typeface="Quire Sans"/>
              <a:cs typeface="Quire San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4" name="Graphic 23" descr="Laptop">
            <a:extLst>
              <a:ext uri="{FF2B5EF4-FFF2-40B4-BE49-F238E27FC236}">
                <a16:creationId xmlns:a16="http://schemas.microsoft.com/office/drawing/2014/main" id="{A946CF64-C5C3-FE61-3FAF-300B6EF71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87807-DE65-2DDC-680A-A0B1B454B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i="1">
                <a:ea typeface="+mn-lt"/>
                <a:cs typeface="+mn-lt"/>
              </a:rPr>
              <a:t>ICT stands for Information &amp; Communication Technology.</a:t>
            </a:r>
            <a:endParaRPr lang="en-US" b="1" i="1"/>
          </a:p>
          <a:p>
            <a:r>
              <a:rPr lang="en-US" b="1" i="1">
                <a:ea typeface="+mn-lt"/>
                <a:cs typeface="+mn-lt"/>
              </a:rPr>
              <a:t>It includes computers, internet, software, mobile communication, and digital networks.</a:t>
            </a:r>
            <a:endParaRPr lang="en-US" b="1" i="1"/>
          </a:p>
          <a:p>
            <a:r>
              <a:rPr lang="en-US" b="1" i="1">
                <a:ea typeface="+mn-lt"/>
                <a:cs typeface="+mn-lt"/>
              </a:rPr>
              <a:t>Purpose: Store, process, and exchange information digitally.</a:t>
            </a:r>
            <a:endParaRPr lang="en-US" b="1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38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6E991-9EE6-EDB7-D468-250C2E1F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en-US" i="1">
                <a:latin typeface="Gill Sans Nova"/>
                <a:ea typeface="+mj-lt"/>
                <a:cs typeface="+mj-lt"/>
              </a:rPr>
              <a:t>ICT in Banking</a:t>
            </a:r>
            <a:endParaRPr lang="en-US" i="1">
              <a:latin typeface="Gill Sans Nov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Bank">
            <a:extLst>
              <a:ext uri="{FF2B5EF4-FFF2-40B4-BE49-F238E27FC236}">
                <a16:creationId xmlns:a16="http://schemas.microsoft.com/office/drawing/2014/main" id="{0FAD0CEB-74B3-B714-AE83-64ED36FF2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8419F-7D5E-CE81-77DF-A950AA119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i="1">
                <a:ea typeface="+mn-lt"/>
                <a:cs typeface="+mn-lt"/>
              </a:rPr>
              <a:t>Use of digital technology to perform banking operations efficiently and securely.</a:t>
            </a:r>
            <a:endParaRPr lang="en-US" b="1" i="1"/>
          </a:p>
          <a:p>
            <a:r>
              <a:rPr lang="en-US" b="1" i="1">
                <a:ea typeface="+mn-lt"/>
                <a:cs typeface="+mn-lt"/>
              </a:rPr>
              <a:t>Helps banks to deliver fast, accurate, and convenient services.</a:t>
            </a:r>
            <a:endParaRPr lang="en-US" b="1" i="1"/>
          </a:p>
          <a:p>
            <a:r>
              <a:rPr lang="en-US" b="1" i="1">
                <a:ea typeface="+mn-lt"/>
                <a:cs typeface="+mn-lt"/>
              </a:rPr>
              <a:t>Makes banking paperless and automated.</a:t>
            </a:r>
            <a:endParaRPr lang="en-US" b="1" i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92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E794F-A5BB-9EE7-F534-EB1A108D4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8732520" cy="1463040"/>
          </a:xfrm>
        </p:spPr>
        <p:txBody>
          <a:bodyPr>
            <a:normAutofit/>
          </a:bodyPr>
          <a:lstStyle/>
          <a:p>
            <a:r>
              <a:rPr lang="en-US" i="1">
                <a:latin typeface="Quire Sans"/>
                <a:ea typeface="+mj-lt"/>
                <a:cs typeface="+mj-lt"/>
              </a:rPr>
              <a:t>Key ICT Banking Services</a:t>
            </a:r>
            <a:endParaRPr lang="en-US" i="1">
              <a:latin typeface="Quire Sans"/>
              <a:cs typeface="Quire San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E0304-7B1D-714C-8EDA-531383D2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873252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ATM (Automated Teller Machine).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Online Banking.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Mobile Banking Apps.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Credit/Debit Cards.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Electronic Fund Transfer (EFT).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SMS Alerts &amp; Notifications.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Cloud data management.</a:t>
            </a:r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46ABD-4938-3192-6E8A-56CF84A98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472" y="2441448"/>
            <a:ext cx="3488579" cy="343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14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5AD0-CC87-C961-3A00-E4FC7DF1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1">
                <a:latin typeface="Gill Sans Nova"/>
                <a:ea typeface="+mj-lt"/>
                <a:cs typeface="+mj-lt"/>
              </a:rPr>
              <a:t>Examples of ICT Tools in Banking</a:t>
            </a:r>
            <a:endParaRPr lang="en-US" sz="4000" b="0" i="1">
              <a:latin typeface="Gill Sans Nov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2E95E-2F38-715D-C15C-3DEB74E41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US" b="1"/>
          </a:p>
          <a:p>
            <a:r>
              <a:rPr lang="en-US" sz="2000" b="1" i="1">
                <a:ea typeface="+mn-lt"/>
                <a:cs typeface="+mn-lt"/>
              </a:rPr>
              <a:t>Tool / Service                                                                                           Purpose</a:t>
            </a:r>
            <a:endParaRPr lang="en-US"/>
          </a:p>
          <a:p>
            <a:r>
              <a:rPr lang="en-US" sz="2000" b="1" i="1">
                <a:ea typeface="+mn-lt"/>
                <a:cs typeface="+mn-lt"/>
              </a:rPr>
              <a:t>ATM                                                                                                            Cash withdraw anytime   </a:t>
            </a:r>
            <a:endParaRPr lang="en-US" sz="2000" b="1" i="1"/>
          </a:p>
          <a:p>
            <a:r>
              <a:rPr lang="en-US" sz="2000" b="1" i="1">
                <a:ea typeface="+mn-lt"/>
                <a:cs typeface="+mn-lt"/>
              </a:rPr>
              <a:t>Mobile Apps                                                                                             Banking through phone </a:t>
            </a:r>
            <a:endParaRPr lang="en-US" sz="2000" b="1" i="1"/>
          </a:p>
          <a:p>
            <a:r>
              <a:rPr lang="en-US" sz="2000" b="1" i="1">
                <a:ea typeface="+mn-lt"/>
                <a:cs typeface="+mn-lt"/>
              </a:rPr>
              <a:t>Internet Banking                                                                                     Online transactions </a:t>
            </a:r>
          </a:p>
          <a:p>
            <a:r>
              <a:rPr lang="en-US" sz="2000" b="1" i="1">
                <a:ea typeface="+mn-lt"/>
                <a:cs typeface="+mn-lt"/>
              </a:rPr>
              <a:t>Debit/Credit Card                                                                                   Digital payment</a:t>
            </a:r>
            <a:endParaRPr lang="en-US" sz="2000" b="1" i="1"/>
          </a:p>
          <a:p>
            <a:r>
              <a:rPr lang="en-US" sz="2000" b="1" i="1">
                <a:ea typeface="+mn-lt"/>
                <a:cs typeface="+mn-lt"/>
              </a:rPr>
              <a:t>SMS Alert                                                                                                 Transaction updates</a:t>
            </a:r>
            <a:endParaRPr lang="en-US" sz="2000" b="1" i="1"/>
          </a:p>
        </p:txBody>
      </p:sp>
    </p:spTree>
    <p:extLst>
      <p:ext uri="{BB962C8B-B14F-4D97-AF65-F5344CB8AC3E}">
        <p14:creationId xmlns:p14="http://schemas.microsoft.com/office/powerpoint/2010/main" val="247398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1ABDA4C-062F-4E88-A079-2279A647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71257-3FE5-21D6-2B1F-8649189B9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9360" cy="1463040"/>
          </a:xfrm>
        </p:spPr>
        <p:txBody>
          <a:bodyPr>
            <a:normAutofit/>
          </a:bodyPr>
          <a:lstStyle/>
          <a:p>
            <a:r>
              <a:rPr lang="en-US" i="1">
                <a:latin typeface="Gill Sans Nova Cond"/>
                <a:ea typeface="+mj-lt"/>
                <a:cs typeface="+mj-lt"/>
              </a:rPr>
              <a:t>Security in ICT Banking</a:t>
            </a:r>
            <a:endParaRPr lang="en-US" i="1">
              <a:latin typeface="Gill Sans Nova Con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53613-1504-C8ED-6996-DE855C09A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30936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i="1">
                <a:ea typeface="+mn-lt"/>
                <a:cs typeface="+mn-lt"/>
              </a:rPr>
              <a:t>Two-Factor Authentication (2FA).</a:t>
            </a:r>
          </a:p>
          <a:p>
            <a:r>
              <a:rPr lang="en-US" sz="2000" b="1" i="1">
                <a:ea typeface="+mn-lt"/>
                <a:cs typeface="+mn-lt"/>
              </a:rPr>
              <a:t>Biometric verification (fingerprint, face ID).</a:t>
            </a:r>
          </a:p>
          <a:p>
            <a:r>
              <a:rPr lang="en-US" sz="2000" b="1" i="1">
                <a:ea typeface="+mn-lt"/>
                <a:cs typeface="+mn-lt"/>
              </a:rPr>
              <a:t>Firewalls &amp; Antivirus.</a:t>
            </a:r>
          </a:p>
          <a:p>
            <a:r>
              <a:rPr lang="en-US" sz="2000" b="1" i="1">
                <a:ea typeface="+mn-lt"/>
                <a:cs typeface="+mn-lt"/>
              </a:rPr>
              <a:t>Encrypted transactions.</a:t>
            </a:r>
          </a:p>
          <a:p>
            <a:r>
              <a:rPr lang="en-US" sz="2000" b="1" i="1">
                <a:ea typeface="+mn-lt"/>
                <a:cs typeface="+mn-lt"/>
              </a:rPr>
              <a:t>Secure servers &amp; cloud backup.</a:t>
            </a:r>
            <a:endParaRPr lang="en-US" sz="2000" b="1" i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C9D21-B2F7-62FF-9731-5A0AC9C01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800" y="1873746"/>
            <a:ext cx="4290040" cy="293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2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6A41-43F0-1D43-EB5A-B2EFB296A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/>
              <a:t>Advantages of ICT in banking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C9B8A-1A68-98C5-D996-A9A19DAAA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112264"/>
            <a:ext cx="11155680" cy="3767328"/>
          </a:xfrm>
        </p:spPr>
        <p:txBody>
          <a:bodyPr/>
          <a:lstStyle/>
          <a:p>
            <a:r>
              <a:rPr lang="en-GB" b="1" i="1" strike="noStrike" dirty="0">
                <a:solidFill>
                  <a:srgbClr val="000000"/>
                </a:solidFill>
                <a:effectLst/>
              </a:rPr>
              <a:t>24/7 Accessibility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Unlike traditional banking hours, ICT allows customers to access their funds, pay bills, and transfer money at any time through ATMs, mobile apps, and online portals.</a:t>
            </a:r>
          </a:p>
          <a:p>
            <a:r>
              <a:rPr lang="en-GB" b="1" i="1" u="none" strike="noStrike" dirty="0">
                <a:solidFill>
                  <a:srgbClr val="000000"/>
                </a:solidFill>
                <a:effectLst/>
              </a:rPr>
              <a:t>Lower Transaction Costs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Banks save significant overhead by reducing physical branch maintenance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 </a:t>
            </a:r>
          </a:p>
          <a:p>
            <a:r>
              <a:rPr lang="en-GB" b="1" i="1" u="none" strike="noStrike" dirty="0">
                <a:solidFill>
                  <a:srgbClr val="000000"/>
                </a:solidFill>
                <a:effectLst/>
              </a:rPr>
              <a:t>Speed and Efficiency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Complex processes that once took days—such as clearing checks or domestic wire transfers—now happen instantly or within hours due to automated digital clearance systems.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113071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E5E0-C61E-C213-4B29-8AD0C6D2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/>
              <a:t>Disadvantages of ICT in Banking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0B9E-94F3-B4BE-40EA-1378AA51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112264"/>
            <a:ext cx="11155680" cy="3767328"/>
          </a:xfrm>
        </p:spPr>
        <p:txBody>
          <a:bodyPr/>
          <a:lstStyle/>
          <a:p>
            <a:r>
              <a:rPr lang="en-GB" b="1" i="1" u="none" strike="noStrike" dirty="0">
                <a:solidFill>
                  <a:srgbClr val="000000"/>
                </a:solidFill>
                <a:effectLst/>
              </a:rPr>
              <a:t>Security Risks &amp; Cybercrime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GB" b="1" u="none" strike="noStrike" dirty="0">
                <a:solidFill>
                  <a:srgbClr val="000000"/>
                </a:solidFill>
                <a:effectLst/>
                <a:latin typeface="-webkit-standard"/>
              </a:rPr>
              <a:t>The reliance on digital networks exposes banks and customers to phishing, hacking, and identity theft.</a:t>
            </a:r>
          </a:p>
          <a:p>
            <a:r>
              <a:rPr lang="en-GB" b="1" i="1" u="none" strike="noStrike" dirty="0">
                <a:solidFill>
                  <a:srgbClr val="000000"/>
                </a:solidFill>
                <a:effectLst/>
              </a:rPr>
              <a:t>Job Displacement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GB" b="1" u="none" strike="noStrike" dirty="0">
                <a:solidFill>
                  <a:srgbClr val="000000"/>
                </a:solidFill>
                <a:effectLst/>
                <a:latin typeface="-webkit-standard"/>
              </a:rPr>
              <a:t>The rise of automation and self-service kiosks (like ATMs and AI chatbots) has led to a decrease in the demand for bank tellers and administrative staff, leading to unemployment in the sector.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4136617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5175-C06D-B50F-3446-B5EAAEA7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41" y="2761200"/>
            <a:ext cx="10034247" cy="3576512"/>
          </a:xfrm>
        </p:spPr>
        <p:txBody>
          <a:bodyPr>
            <a:normAutofit/>
          </a:bodyPr>
          <a:lstStyle/>
          <a:p>
            <a:r>
              <a:rPr lang="en-US" sz="9600" i="1" dirty="0">
                <a:latin typeface="Jokerman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88DA1-CBF4-AEE2-0026-3DAC6AC25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7251248"/>
            <a:ext cx="11155680" cy="345518"/>
          </a:xfrm>
        </p:spPr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1108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GestaltVTI</vt:lpstr>
      <vt:lpstr>ICT in Banking</vt:lpstr>
      <vt:lpstr>What is ICT?</vt:lpstr>
      <vt:lpstr>ICT in Banking</vt:lpstr>
      <vt:lpstr>Key ICT Banking Services</vt:lpstr>
      <vt:lpstr>Examples of ICT Tools in Banking</vt:lpstr>
      <vt:lpstr>Security in ICT Banking</vt:lpstr>
      <vt:lpstr>Advantages of ICT in banking</vt:lpstr>
      <vt:lpstr>Disadvantages of ICT in Banking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in Banking</dc:title>
  <dc:creator/>
  <cp:lastModifiedBy>Abdul Subhan</cp:lastModifiedBy>
  <cp:revision>13</cp:revision>
  <dcterms:created xsi:type="dcterms:W3CDTF">2025-11-27T21:33:02Z</dcterms:created>
  <dcterms:modified xsi:type="dcterms:W3CDTF">2025-12-08T09:25:52Z</dcterms:modified>
</cp:coreProperties>
</file>