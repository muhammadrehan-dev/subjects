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sldIdLst>
    <p:sldId id="375" r:id="rId2"/>
    <p:sldId id="376" r:id="rId3"/>
    <p:sldId id="303" r:id="rId4"/>
    <p:sldId id="304" r:id="rId5"/>
    <p:sldId id="305" r:id="rId6"/>
    <p:sldId id="306" r:id="rId7"/>
    <p:sldId id="321" r:id="rId8"/>
    <p:sldId id="307" r:id="rId9"/>
    <p:sldId id="308" r:id="rId10"/>
    <p:sldId id="310" r:id="rId11"/>
    <p:sldId id="316" r:id="rId12"/>
    <p:sldId id="3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AF83-3214-661E-527B-751A2F8DB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7385D-52C3-2307-76FF-0C5949F26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86561-440F-7174-C47F-CE949806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C9466-1764-A658-3D0D-C59DA27E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853D4-B9C2-63E6-165C-3A4ED7151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31732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9E43-9A58-2157-1272-2761C1F5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90479-83CD-D774-D826-0B5F365C2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A174C-8880-0DF8-24C7-930C93C19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ADAC4-7273-703A-1FC3-6B092F76D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1FBC6-04F2-9268-FE23-20CB223F2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9892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1641-8B2C-26B7-0009-F9D83D22B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A08C9-745A-C358-8FB2-0CA09B14D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3104C-6556-EAA3-22AC-D3C78862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B1BF4-782E-402B-A24C-D4B9EB086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D4847-C020-6FAB-FDF1-3E7DDF529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8365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8B3ED-D358-5B63-2ED0-1AD02652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7C466-42DB-E8C7-DA1A-75FC3890B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6C231-D689-EE22-E309-84866031D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86E8BB-183E-1CA2-C8B4-4981A722D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D69BF-E0D1-6910-B178-D3AEBC2B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6A357-D24B-4A12-275D-EC511419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75507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D588-6071-1E8F-7E23-18C7BBE20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BBE73-F929-875B-5BA4-4FA92CBD6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F7BE0-EEEA-E4BC-184D-7C8B56178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A2868-0463-60A1-94BA-D292273E2D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97B9F-BB65-7695-8E79-4E730E527D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BC7A5-2D04-986B-6B0D-C99C9B10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6FA71-1367-6F7F-1FC4-32B1D88F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2F0358-0119-9286-EE52-6ADECB2C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571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E6455-F0C8-C66A-EDD7-9EB841026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00DA48-20A3-EBA5-9432-6DC313C0D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31C67-ECC1-E55C-34B5-7E553ACA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31236-593B-E67D-57F8-7BEF02CC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50970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5A70E-6431-ADCC-66A2-4D42B14F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0046D7-5799-FB56-332C-40C5A10A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264CC-AD9D-1ADA-F941-410D2706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15158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F2C7C-424D-C13F-065C-E4BE2E50D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B01E9-51F2-42B7-9868-3A1F8B252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087D7-3D91-F5DB-39DA-CB4789E27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5428F-3CA1-2A4E-F46F-C54D69D2B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D2063-4B0A-1B50-EBB3-B15E1F0E4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4A8DB-7332-C14E-239E-62B8ABF00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755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63D1-4033-98A5-D627-C92CB99D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F712-6B68-A29A-7FDC-23A71497EA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BBFCF-66A4-9857-2D63-41BD857E12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72E4F-AB6D-B575-7050-9D065D34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DE816-C907-48C8-9EB4-52CA7C62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FAD37-F001-CC1A-5121-EF57FCE3B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0931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37EA3-FBAE-58BF-CD40-606B965B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3C08A-999F-6B3F-5791-0704540AC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DB987-CCD8-765A-CF18-0DC89962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26FAA-035A-4C99-02FE-ECAFB187F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D72FF-3772-052D-9CA5-83A528D4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8904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DAC102-CAD0-A621-52C1-B2434CFBA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C7C37-3301-05D2-A797-60C2AAD39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D5F17-F9DE-6473-F187-FCC83458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F85AD-61F4-1ACF-4FCB-350DAB9D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A81AC-D9AA-AB59-F4F2-72416D96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389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A286E-16D1-DFDE-4989-25169200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A3A9E-9170-79FC-892A-2FDFE7D78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8AA05-8C45-7F92-B571-47484BFFE5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D7005-ED39-4D18-98FC-B11458D1253A}" type="datetimeFigureOut">
              <a:rPr lang="en-MY" smtClean="0"/>
              <a:t>5/1/2026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54605-74C0-82DD-5DA1-53054870BB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C8B90-C5A0-99EC-03CB-EBCE48FD3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ACAB0-F97D-4203-AE40-A3093CB5857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2302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0E5D0-2CD4-CAF2-C101-EC4E06C7A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1701" y="1629928"/>
            <a:ext cx="8042594" cy="1799072"/>
          </a:xfrm>
        </p:spPr>
        <p:txBody>
          <a:bodyPr>
            <a:normAutofit/>
          </a:bodyPr>
          <a:lstStyle/>
          <a:p>
            <a:pPr algn="l"/>
            <a:r>
              <a:rPr lang="en-MY" sz="5100" dirty="0"/>
              <a:t>Programming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49475-5A97-3362-5A27-F05282FEA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0266" y="3631925"/>
            <a:ext cx="5111468" cy="1176049"/>
          </a:xfrm>
        </p:spPr>
        <p:txBody>
          <a:bodyPr>
            <a:normAutofit/>
          </a:bodyPr>
          <a:lstStyle/>
          <a:p>
            <a:r>
              <a:rPr lang="en-MY" sz="2800" dirty="0"/>
              <a:t>By</a:t>
            </a:r>
          </a:p>
          <a:p>
            <a:r>
              <a:rPr lang="en-MY" sz="2800" dirty="0"/>
              <a:t>Dr Suhail Asghar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9202-0984-BC2F-2BF6-830C9E5AF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</a:t>
            </a:fld>
            <a:endParaRPr lang="en-US"/>
          </a:p>
        </p:txBody>
      </p:sp>
      <p:pic>
        <p:nvPicPr>
          <p:cNvPr id="1026" name="Picture 2" descr="Information Technology – Dawood University of Engineering &amp; Technology  Karachi">
            <a:extLst>
              <a:ext uri="{FF2B5EF4-FFF2-40B4-BE49-F238E27FC236}">
                <a16:creationId xmlns:a16="http://schemas.microsoft.com/office/drawing/2014/main" id="{FF6F0A6A-918B-C08F-5BEB-8FB45EE66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2162" y="231819"/>
            <a:ext cx="1579539" cy="1195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28C45A9-887D-E099-0474-F00A5ED0DD60}"/>
              </a:ext>
            </a:extLst>
          </p:cNvPr>
          <p:cNvSpPr txBox="1">
            <a:spLocks/>
          </p:cNvSpPr>
          <p:nvPr/>
        </p:nvSpPr>
        <p:spPr>
          <a:xfrm>
            <a:off x="1486237" y="6025542"/>
            <a:ext cx="9500901" cy="51337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Dawood University Of Engineering &amp; Technology Karachi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1651247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7991C-D3E8-0062-51E7-3DC5C92D3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Structures</a:t>
            </a:r>
            <a:endParaRPr lang="en-MY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A0AA54D-A37E-9FBE-B3A3-C0D64F8744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42914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0E50CB4F-00A3-8826-237A-19CD41AE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C00000"/>
                </a:solidFill>
                <a:ea typeface="굴림" panose="020B0600000101010101" pitchFamily="34" charset="-127"/>
              </a:rPr>
              <a:t>Structure (Struct)</a:t>
            </a:r>
            <a:endParaRPr lang="ko-KR" altLang="en-US" dirty="0">
              <a:solidFill>
                <a:srgbClr val="C00000"/>
              </a:solidFill>
              <a:ea typeface="굴림" panose="020B0600000101010101" pitchFamily="34" charset="-127"/>
            </a:endParaRP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46C71520-DE7C-22C7-89E2-5FBA41CCB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1825625"/>
            <a:ext cx="11088329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ko-KR" sz="3600" dirty="0">
                <a:ea typeface="굴림" panose="020B0600000101010101" pitchFamily="34" charset="-127"/>
              </a:rPr>
              <a:t>Arrays require that all elements be of the same data type  </a:t>
            </a:r>
          </a:p>
          <a:p>
            <a:pPr algn="just"/>
            <a:r>
              <a:rPr lang="en-US" altLang="ko-KR" sz="3600" dirty="0">
                <a:ea typeface="굴림" panose="020B0600000101010101" pitchFamily="34" charset="-127"/>
              </a:rPr>
              <a:t>Many times it is necessary to group information of different data types.  </a:t>
            </a:r>
          </a:p>
          <a:p>
            <a:pPr lvl="1" algn="just"/>
            <a:r>
              <a:rPr lang="en-US" altLang="ko-KR" sz="3200" dirty="0">
                <a:ea typeface="굴림" panose="020B0600000101010101" pitchFamily="34" charset="-127"/>
              </a:rPr>
              <a:t>An example is a materials list for a product. </a:t>
            </a:r>
          </a:p>
          <a:p>
            <a:pPr lvl="2" algn="just"/>
            <a:r>
              <a:rPr lang="en-US" altLang="ko-KR" sz="2800" dirty="0">
                <a:solidFill>
                  <a:srgbClr val="C00000"/>
                </a:solidFill>
                <a:ea typeface="굴림" panose="020B0600000101010101" pitchFamily="34" charset="-127"/>
              </a:rPr>
              <a:t>name</a:t>
            </a:r>
            <a:r>
              <a:rPr lang="en-US" altLang="ko-KR" sz="2800" dirty="0">
                <a:ea typeface="굴림" panose="020B0600000101010101" pitchFamily="34" charset="-127"/>
              </a:rPr>
              <a:t> for each item, a </a:t>
            </a:r>
            <a:r>
              <a:rPr lang="en-US" altLang="ko-KR" sz="2800" dirty="0">
                <a:solidFill>
                  <a:srgbClr val="C00000"/>
                </a:solidFill>
                <a:ea typeface="굴림" panose="020B0600000101010101" pitchFamily="34" charset="-127"/>
              </a:rPr>
              <a:t>part number</a:t>
            </a:r>
            <a:r>
              <a:rPr lang="en-US" altLang="ko-KR" sz="2800" dirty="0">
                <a:ea typeface="굴림" panose="020B0600000101010101" pitchFamily="34" charset="-127"/>
              </a:rPr>
              <a:t>, </a:t>
            </a:r>
            <a:r>
              <a:rPr lang="en-US" altLang="ko-KR" sz="2800" dirty="0">
                <a:solidFill>
                  <a:srgbClr val="C00000"/>
                </a:solidFill>
                <a:ea typeface="굴림" panose="020B0600000101010101" pitchFamily="34" charset="-127"/>
              </a:rPr>
              <a:t>dimensions</a:t>
            </a:r>
            <a:r>
              <a:rPr lang="en-US" altLang="ko-KR" sz="2800" dirty="0">
                <a:ea typeface="굴림" panose="020B0600000101010101" pitchFamily="34" charset="-127"/>
              </a:rPr>
              <a:t>, </a:t>
            </a:r>
            <a:r>
              <a:rPr lang="en-US" altLang="ko-KR" sz="2800" dirty="0">
                <a:solidFill>
                  <a:srgbClr val="C00000"/>
                </a:solidFill>
                <a:ea typeface="굴림" panose="020B0600000101010101" pitchFamily="34" charset="-127"/>
              </a:rPr>
              <a:t>weight</a:t>
            </a:r>
            <a:r>
              <a:rPr lang="en-US" altLang="ko-KR" sz="2800" dirty="0">
                <a:ea typeface="굴림" panose="020B0600000101010101" pitchFamily="34" charset="-127"/>
              </a:rPr>
              <a:t>, and </a:t>
            </a:r>
            <a:r>
              <a:rPr lang="en-US" altLang="ko-KR" sz="2800" dirty="0">
                <a:solidFill>
                  <a:srgbClr val="C00000"/>
                </a:solidFill>
                <a:ea typeface="굴림" panose="020B0600000101010101" pitchFamily="34" charset="-127"/>
              </a:rPr>
              <a:t>cost</a:t>
            </a:r>
            <a:r>
              <a:rPr lang="en-US" altLang="ko-KR" sz="2800" dirty="0">
                <a:ea typeface="굴림" panose="020B0600000101010101" pitchFamily="34" charset="-127"/>
              </a:rPr>
              <a:t>.  </a:t>
            </a:r>
          </a:p>
          <a:p>
            <a:pPr algn="just"/>
            <a:r>
              <a:rPr lang="en-US" altLang="ko-KR" sz="3600" dirty="0">
                <a:ea typeface="굴림" panose="020B0600000101010101" pitchFamily="34" charset="-127"/>
              </a:rPr>
              <a:t>C++ programming supports data structures that can store combinations of </a:t>
            </a:r>
            <a:r>
              <a:rPr lang="en-US" altLang="ko-KR" sz="3600" dirty="0">
                <a:solidFill>
                  <a:srgbClr val="C00000"/>
                </a:solidFill>
                <a:ea typeface="굴림" panose="020B0600000101010101" pitchFamily="34" charset="-127"/>
              </a:rPr>
              <a:t>character</a:t>
            </a:r>
            <a:r>
              <a:rPr lang="en-US" altLang="ko-KR" sz="3600" dirty="0">
                <a:ea typeface="굴림" panose="020B0600000101010101" pitchFamily="34" charset="-127"/>
              </a:rPr>
              <a:t>, </a:t>
            </a:r>
            <a:r>
              <a:rPr lang="en-US" altLang="ko-KR" sz="3600" dirty="0">
                <a:solidFill>
                  <a:srgbClr val="C00000"/>
                </a:solidFill>
                <a:ea typeface="굴림" panose="020B0600000101010101" pitchFamily="34" charset="-127"/>
              </a:rPr>
              <a:t>integer</a:t>
            </a:r>
            <a:r>
              <a:rPr lang="en-US" altLang="ko-KR" sz="3600" dirty="0">
                <a:ea typeface="굴림" panose="020B0600000101010101" pitchFamily="34" charset="-127"/>
              </a:rPr>
              <a:t> </a:t>
            </a:r>
            <a:r>
              <a:rPr lang="en-US" altLang="ko-KR" sz="3600" dirty="0">
                <a:solidFill>
                  <a:srgbClr val="C00000"/>
                </a:solidFill>
                <a:ea typeface="굴림" panose="020B0600000101010101" pitchFamily="34" charset="-127"/>
              </a:rPr>
              <a:t>floating</a:t>
            </a:r>
            <a:r>
              <a:rPr lang="en-US" altLang="ko-KR" sz="3600" dirty="0">
                <a:ea typeface="굴림" panose="020B0600000101010101" pitchFamily="34" charset="-127"/>
              </a:rPr>
              <a:t> </a:t>
            </a:r>
            <a:r>
              <a:rPr lang="en-US" altLang="ko-KR" sz="3600" dirty="0">
                <a:solidFill>
                  <a:srgbClr val="C00000"/>
                </a:solidFill>
                <a:ea typeface="굴림" panose="020B0600000101010101" pitchFamily="34" charset="-127"/>
              </a:rPr>
              <a:t>point</a:t>
            </a:r>
            <a:r>
              <a:rPr lang="en-US" altLang="ko-KR" sz="3600" dirty="0">
                <a:ea typeface="굴림" panose="020B0600000101010101" pitchFamily="34" charset="-127"/>
              </a:rPr>
              <a:t> and </a:t>
            </a:r>
            <a:r>
              <a:rPr lang="en-US" altLang="ko-KR" sz="3600" dirty="0">
                <a:solidFill>
                  <a:srgbClr val="C00000"/>
                </a:solidFill>
                <a:ea typeface="굴림" panose="020B0600000101010101" pitchFamily="34" charset="-127"/>
              </a:rPr>
              <a:t>enumerated</a:t>
            </a:r>
            <a:r>
              <a:rPr lang="en-US" altLang="ko-KR" sz="3600" dirty="0">
                <a:ea typeface="굴림" panose="020B0600000101010101" pitchFamily="34" charset="-127"/>
              </a:rPr>
              <a:t> type data. </a:t>
            </a:r>
          </a:p>
          <a:p>
            <a:pPr algn="just"/>
            <a:r>
              <a:rPr lang="en-US" altLang="ko-KR" sz="3600" dirty="0">
                <a:ea typeface="굴림" panose="020B0600000101010101" pitchFamily="34" charset="-127"/>
              </a:rPr>
              <a:t>They are called a </a:t>
            </a:r>
            <a:r>
              <a:rPr lang="en-US" altLang="ko-KR" sz="3600" dirty="0">
                <a:solidFill>
                  <a:srgbClr val="C00000"/>
                </a:solidFill>
                <a:ea typeface="굴림" panose="020B0600000101010101" pitchFamily="34" charset="-127"/>
              </a:rPr>
              <a:t>structs</a:t>
            </a:r>
            <a:r>
              <a:rPr lang="en-US" altLang="ko-KR" sz="3600" dirty="0">
                <a:ea typeface="굴림" panose="020B0600000101010101" pitchFamily="34" charset="-127"/>
              </a:rPr>
              <a:t> (structures) </a:t>
            </a:r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C6FA1421-51F3-AC80-43F6-66C40391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DDF4B8C2-2B71-4204-A066-80B503578219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>
            <a:extLst>
              <a:ext uri="{FF2B5EF4-FFF2-40B4-BE49-F238E27FC236}">
                <a16:creationId xmlns:a16="http://schemas.microsoft.com/office/drawing/2014/main" id="{46CFF88D-5AA0-ABAD-9651-E387A8322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697163"/>
            <a:ext cx="6400800" cy="4667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bg2"/>
            </a:solidFill>
            <a:miter lim="800000"/>
            <a:headEnd/>
            <a:tailEnd/>
          </a:ln>
          <a:effectLst>
            <a:outerShdw dist="107763" dir="13500000" algn="ctr" rotWithShape="0">
              <a:schemeClr val="bg2"/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ko-KR">
                <a:ea typeface="굴림" panose="020B0600000101010101" pitchFamily="50" charset="-127"/>
              </a:rPr>
              <a:t>scores :   85   79   92  57   68   80   . . . </a:t>
            </a:r>
          </a:p>
        </p:txBody>
      </p:sp>
      <p:sp>
        <p:nvSpPr>
          <p:cNvPr id="2" name="Text Box 15">
            <a:extLst>
              <a:ext uri="{FF2B5EF4-FFF2-40B4-BE49-F238E27FC236}">
                <a16:creationId xmlns:a16="http://schemas.microsoft.com/office/drawing/2014/main" id="{D3B61470-DABF-DDDA-FF61-C21CD244D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5143500"/>
            <a:ext cx="6248400" cy="4699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>
            <a:outerShdw dist="107763" dir="13500000" algn="ctr" rotWithShape="0">
              <a:schemeClr val="bg2"/>
            </a:outerShdw>
          </a:effectLst>
        </p:spPr>
        <p:txBody>
          <a:bodyPr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ko-KR" dirty="0">
                <a:ea typeface="굴림" panose="020B0600000101010101" pitchFamily="50" charset="-127"/>
              </a:rPr>
              <a:t>employee   R. Jones  123 Elm  6/12/55  $14.75   </a:t>
            </a:r>
          </a:p>
        </p:txBody>
      </p:sp>
      <p:sp>
        <p:nvSpPr>
          <p:cNvPr id="7170" name="Title 1">
            <a:extLst>
              <a:ext uri="{FF2B5EF4-FFF2-40B4-BE49-F238E27FC236}">
                <a16:creationId xmlns:a16="http://schemas.microsoft.com/office/drawing/2014/main" id="{DCD8DE9B-C591-6AA9-28FB-E869F600A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Structure (Struct)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7171" name="Slide Number Placeholder 3">
            <a:extLst>
              <a:ext uri="{FF2B5EF4-FFF2-40B4-BE49-F238E27FC236}">
                <a16:creationId xmlns:a16="http://schemas.microsoft.com/office/drawing/2014/main" id="{22FB5126-97B5-EB98-DC38-D228ABF4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4A03BD04-FDFF-4429-8CE1-23676FEF20F2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4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51C4C72-C562-F446-7354-1CB83A2A4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71600"/>
            <a:ext cx="80772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/>
            <a:r>
              <a:rPr lang="en-US" altLang="ko-KR" sz="2600" dirty="0">
                <a:ea typeface="굴림" panose="020B0600000101010101" pitchFamily="34" charset="-127"/>
              </a:rPr>
              <a:t>Recall that elements of arrays must all be of the 				</a:t>
            </a:r>
            <a:r>
              <a:rPr lang="en-US" altLang="ko-KR" sz="2600" u="sng" dirty="0">
                <a:solidFill>
                  <a:srgbClr val="C00000"/>
                </a:solidFill>
                <a:ea typeface="굴림" panose="020B0600000101010101" pitchFamily="34" charset="-127"/>
              </a:rPr>
              <a:t>same</a:t>
            </a:r>
            <a:r>
              <a:rPr lang="en-US" altLang="ko-KR" sz="2600" dirty="0">
                <a:solidFill>
                  <a:srgbClr val="C00000"/>
                </a:solidFill>
                <a:ea typeface="굴림" panose="020B0600000101010101" pitchFamily="34" charset="-127"/>
              </a:rPr>
              <a:t> </a:t>
            </a:r>
            <a:r>
              <a:rPr lang="en-US" altLang="ko-KR" sz="2600" dirty="0">
                <a:ea typeface="굴림" panose="020B0600000101010101" pitchFamily="34" charset="-127"/>
              </a:rPr>
              <a:t>type</a:t>
            </a:r>
          </a:p>
          <a:p>
            <a:pPr algn="just"/>
            <a:endParaRPr lang="en-US" altLang="ko-KR" sz="2600" dirty="0">
              <a:ea typeface="굴림" panose="020B0600000101010101" pitchFamily="34" charset="-127"/>
            </a:endParaRPr>
          </a:p>
          <a:p>
            <a:endParaRPr lang="en-US" altLang="ko-KR" dirty="0">
              <a:ea typeface="굴림" panose="020B0600000101010101" pitchFamily="34" charset="-127"/>
            </a:endParaRPr>
          </a:p>
          <a:p>
            <a:endParaRPr lang="en-US" altLang="ko-KR" dirty="0">
              <a:ea typeface="굴림" panose="020B0600000101010101" pitchFamily="34" charset="-127"/>
            </a:endParaRPr>
          </a:p>
          <a:p>
            <a:pPr algn="just"/>
            <a:r>
              <a:rPr lang="en-US" altLang="ko-KR" sz="2600" dirty="0">
                <a:ea typeface="굴림" panose="020B0600000101010101" pitchFamily="34" charset="-127"/>
              </a:rPr>
              <a:t>In some situations, we wish to group elements of 			</a:t>
            </a:r>
            <a:r>
              <a:rPr lang="en-US" altLang="ko-KR" sz="2600" u="sng" dirty="0">
                <a:solidFill>
                  <a:srgbClr val="C00000"/>
                </a:solidFill>
                <a:ea typeface="굴림" panose="020B0600000101010101" pitchFamily="34" charset="-127"/>
              </a:rPr>
              <a:t>different</a:t>
            </a:r>
            <a:r>
              <a:rPr lang="en-US" altLang="ko-KR" sz="2600" dirty="0">
                <a:ea typeface="굴림" panose="020B0600000101010101" pitchFamily="34" charset="-127"/>
              </a:rPr>
              <a:t> types</a:t>
            </a:r>
          </a:p>
          <a:p>
            <a:pPr algn="just"/>
            <a:endParaRPr lang="en-US" altLang="ko-KR" sz="2600" dirty="0">
              <a:ea typeface="굴림" panose="020B0600000101010101" pitchFamily="34" charset="-127"/>
            </a:endParaRPr>
          </a:p>
          <a:p>
            <a:pPr algn="just"/>
            <a:endParaRPr lang="en-US" altLang="ko-KR" sz="2600" dirty="0">
              <a:ea typeface="굴림" panose="020B0600000101010101" pitchFamily="34" charset="-127"/>
            </a:endParaRPr>
          </a:p>
          <a:p>
            <a:pPr algn="just"/>
            <a:r>
              <a:rPr lang="en-US" altLang="ko-KR" sz="2600" dirty="0">
                <a:ea typeface="굴림" panose="020B0600000101010101" pitchFamily="34" charset="-127"/>
              </a:rPr>
              <a:t>Record called a struct (structure)</a:t>
            </a:r>
          </a:p>
          <a:p>
            <a:pPr algn="just"/>
            <a:r>
              <a:rPr lang="en-US" altLang="ko-KR" sz="2600" dirty="0">
                <a:ea typeface="굴림" panose="020B0600000101010101" pitchFamily="34" charset="-127"/>
              </a:rPr>
              <a:t>Fields called members</a:t>
            </a:r>
          </a:p>
          <a:p>
            <a:pPr algn="just"/>
            <a:endParaRPr lang="en-US" altLang="ko-KR" sz="2600" dirty="0">
              <a:ea typeface="굴림" panose="020B0600000101010101" pitchFamily="34" charset="-127"/>
            </a:endParaRPr>
          </a:p>
        </p:txBody>
      </p:sp>
      <p:sp>
        <p:nvSpPr>
          <p:cNvPr id="7174" name="Line 6">
            <a:extLst>
              <a:ext uri="{FF2B5EF4-FFF2-40B4-BE49-F238E27FC236}">
                <a16:creationId xmlns:a16="http://schemas.microsoft.com/office/drawing/2014/main" id="{B76DBDD1-A1DD-D6A9-EAEB-76A7FCF00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667000"/>
            <a:ext cx="0" cy="457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175" name="Line 7">
            <a:extLst>
              <a:ext uri="{FF2B5EF4-FFF2-40B4-BE49-F238E27FC236}">
                <a16:creationId xmlns:a16="http://schemas.microsoft.com/office/drawing/2014/main" id="{E440D7F5-89CD-8428-EF10-2E119DA71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667000"/>
            <a:ext cx="0" cy="457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176" name="Line 8">
            <a:extLst>
              <a:ext uri="{FF2B5EF4-FFF2-40B4-BE49-F238E27FC236}">
                <a16:creationId xmlns:a16="http://schemas.microsoft.com/office/drawing/2014/main" id="{897B5903-6E0E-B507-E6CF-C4377AD800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2667000"/>
            <a:ext cx="0" cy="457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177" name="Line 9">
            <a:extLst>
              <a:ext uri="{FF2B5EF4-FFF2-40B4-BE49-F238E27FC236}">
                <a16:creationId xmlns:a16="http://schemas.microsoft.com/office/drawing/2014/main" id="{D23E25C6-3B24-0BE5-883F-967B2AEEE1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2667000"/>
            <a:ext cx="0" cy="457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178" name="Line 10">
            <a:extLst>
              <a:ext uri="{FF2B5EF4-FFF2-40B4-BE49-F238E27FC236}">
                <a16:creationId xmlns:a16="http://schemas.microsoft.com/office/drawing/2014/main" id="{2C58EA0C-995D-B52A-0474-1DBB3675C7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667000"/>
            <a:ext cx="0" cy="457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179" name="Line 11">
            <a:extLst>
              <a:ext uri="{FF2B5EF4-FFF2-40B4-BE49-F238E27FC236}">
                <a16:creationId xmlns:a16="http://schemas.microsoft.com/office/drawing/2014/main" id="{4738D657-8892-70D0-2140-373550D946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9000" y="2667000"/>
            <a:ext cx="0" cy="4572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180" name="Text Box 12">
            <a:extLst>
              <a:ext uri="{FF2B5EF4-FFF2-40B4-BE49-F238E27FC236}">
                <a16:creationId xmlns:a16="http://schemas.microsoft.com/office/drawing/2014/main" id="{30D817A0-DC93-8D91-B805-0C94581B8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0480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0" lang="en-US" altLang="ko-KR" sz="2400">
                <a:latin typeface="Times New Roman" panose="02020603050405020304" pitchFamily="18" charset="0"/>
                <a:ea typeface="굴림" panose="020B0600000101010101" pitchFamily="34" charset="-127"/>
              </a:rPr>
              <a:t>0     1    2    3     4      5	        98  99</a:t>
            </a:r>
          </a:p>
        </p:txBody>
      </p:sp>
      <p:sp>
        <p:nvSpPr>
          <p:cNvPr id="7181" name="Line 13">
            <a:extLst>
              <a:ext uri="{FF2B5EF4-FFF2-40B4-BE49-F238E27FC236}">
                <a16:creationId xmlns:a16="http://schemas.microsoft.com/office/drawing/2014/main" id="{1F6BEA04-B14E-8A8A-9413-294581F6C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9448800" y="2667000"/>
            <a:ext cx="0" cy="457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7182" name="Line 14">
            <a:extLst>
              <a:ext uri="{FF2B5EF4-FFF2-40B4-BE49-F238E27FC236}">
                <a16:creationId xmlns:a16="http://schemas.microsoft.com/office/drawing/2014/main" id="{647F531E-6E11-14CF-599B-8997D30BD1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2667000"/>
            <a:ext cx="0" cy="4572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grpSp>
        <p:nvGrpSpPr>
          <p:cNvPr id="16" name="Group 22">
            <a:extLst>
              <a:ext uri="{FF2B5EF4-FFF2-40B4-BE49-F238E27FC236}">
                <a16:creationId xmlns:a16="http://schemas.microsoft.com/office/drawing/2014/main" id="{EE423A65-50F0-FF63-0970-F6853030DE3D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5105400"/>
            <a:ext cx="4572000" cy="381000"/>
            <a:chOff x="2688" y="3552"/>
            <a:chExt cx="2880" cy="24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E904B63F-40FC-50AD-3B9B-85341CA1C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552"/>
              <a:ext cx="0" cy="240"/>
            </a:xfrm>
            <a:prstGeom prst="line">
              <a:avLst/>
            </a:prstGeom>
            <a:grp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082D776D-CA85-EDD7-A164-7DA6A4AB7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552"/>
              <a:ext cx="0" cy="240"/>
            </a:xfrm>
            <a:prstGeom prst="line">
              <a:avLst/>
            </a:prstGeom>
            <a:grp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8678B91B-B3BD-18DE-0FCE-A6724B29B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3552"/>
              <a:ext cx="0" cy="240"/>
            </a:xfrm>
            <a:prstGeom prst="line">
              <a:avLst/>
            </a:prstGeom>
            <a:grp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FD8A34BA-E808-1A04-AD6B-DDA7E0640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3552"/>
              <a:ext cx="0" cy="240"/>
            </a:xfrm>
            <a:prstGeom prst="line">
              <a:avLst/>
            </a:prstGeom>
            <a:grp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21B9F94E-0F38-8E83-8D8A-33CC89E42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8" y="3552"/>
              <a:ext cx="0" cy="240"/>
            </a:xfrm>
            <a:prstGeom prst="line">
              <a:avLst/>
            </a:prstGeom>
            <a:grp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ko-KR" altLang="en-US"/>
            </a:p>
          </p:txBody>
        </p:sp>
      </p:grpSp>
      <p:grpSp>
        <p:nvGrpSpPr>
          <p:cNvPr id="7184" name="Group 30">
            <a:extLst>
              <a:ext uri="{FF2B5EF4-FFF2-40B4-BE49-F238E27FC236}">
                <a16:creationId xmlns:a16="http://schemas.microsoft.com/office/drawing/2014/main" id="{D18AED1F-9B88-358B-25E1-0FB4E85843F1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209800"/>
            <a:ext cx="1219200" cy="533400"/>
            <a:chOff x="2928" y="1920"/>
            <a:chExt cx="672" cy="240"/>
          </a:xfrm>
        </p:grpSpPr>
        <p:sp>
          <p:nvSpPr>
            <p:cNvPr id="7189" name="Line 23">
              <a:extLst>
                <a:ext uri="{FF2B5EF4-FFF2-40B4-BE49-F238E27FC236}">
                  <a16:creationId xmlns:a16="http://schemas.microsoft.com/office/drawing/2014/main" id="{0CAE4CC0-4693-0DF8-EAB2-8EDB45E07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920"/>
              <a:ext cx="0" cy="240"/>
            </a:xfrm>
            <a:prstGeom prst="line">
              <a:avLst/>
            </a:prstGeom>
            <a:noFill/>
            <a:ln w="12700" cap="sq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7190" name="Line 24">
              <a:extLst>
                <a:ext uri="{FF2B5EF4-FFF2-40B4-BE49-F238E27FC236}">
                  <a16:creationId xmlns:a16="http://schemas.microsoft.com/office/drawing/2014/main" id="{144EF88C-F9F5-DE04-EA6D-6C4242C4F6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920"/>
              <a:ext cx="288" cy="240"/>
            </a:xfrm>
            <a:prstGeom prst="line">
              <a:avLst/>
            </a:prstGeom>
            <a:noFill/>
            <a:ln w="12700" cap="sq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7191" name="Line 25">
              <a:extLst>
                <a:ext uri="{FF2B5EF4-FFF2-40B4-BE49-F238E27FC236}">
                  <a16:creationId xmlns:a16="http://schemas.microsoft.com/office/drawing/2014/main" id="{F07BD18E-AE6C-5A07-FAA1-20114DE0B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920"/>
              <a:ext cx="672" cy="240"/>
            </a:xfrm>
            <a:prstGeom prst="line">
              <a:avLst/>
            </a:prstGeom>
            <a:noFill/>
            <a:ln w="12700" cap="sq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</p:grpSp>
      <p:grpSp>
        <p:nvGrpSpPr>
          <p:cNvPr id="7185" name="Group 29">
            <a:extLst>
              <a:ext uri="{FF2B5EF4-FFF2-40B4-BE49-F238E27FC236}">
                <a16:creationId xmlns:a16="http://schemas.microsoft.com/office/drawing/2014/main" id="{2FE23D0F-E548-3FF7-26A2-9C6C24FB7849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572000"/>
            <a:ext cx="2133600" cy="533400"/>
            <a:chOff x="2592" y="3360"/>
            <a:chExt cx="1344" cy="336"/>
          </a:xfrm>
        </p:grpSpPr>
        <p:sp>
          <p:nvSpPr>
            <p:cNvPr id="7186" name="Line 26">
              <a:extLst>
                <a:ext uri="{FF2B5EF4-FFF2-40B4-BE49-F238E27FC236}">
                  <a16:creationId xmlns:a16="http://schemas.microsoft.com/office/drawing/2014/main" id="{E1D93B0D-77E8-A0C6-F518-51C942DDB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360"/>
              <a:ext cx="0" cy="288"/>
            </a:xfrm>
            <a:prstGeom prst="line">
              <a:avLst/>
            </a:prstGeom>
            <a:noFill/>
            <a:ln w="12700" cap="sq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7187" name="Line 27">
              <a:extLst>
                <a:ext uri="{FF2B5EF4-FFF2-40B4-BE49-F238E27FC236}">
                  <a16:creationId xmlns:a16="http://schemas.microsoft.com/office/drawing/2014/main" id="{93358D84-DBD0-491C-5BE3-8B73FDFCB4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360"/>
              <a:ext cx="576" cy="336"/>
            </a:xfrm>
            <a:prstGeom prst="line">
              <a:avLst/>
            </a:prstGeom>
            <a:noFill/>
            <a:ln w="12700" cap="sq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7188" name="Line 28">
              <a:extLst>
                <a:ext uri="{FF2B5EF4-FFF2-40B4-BE49-F238E27FC236}">
                  <a16:creationId xmlns:a16="http://schemas.microsoft.com/office/drawing/2014/main" id="{EEA54AE8-AB00-E8F4-F2DB-35C5C87EB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360"/>
              <a:ext cx="1344" cy="288"/>
            </a:xfrm>
            <a:prstGeom prst="line">
              <a:avLst/>
            </a:prstGeom>
            <a:noFill/>
            <a:ln w="12700" cap="sq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62AEAED0-CE42-E255-68CF-984FBA2F4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Structure (Struct)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E420BBB4-B90A-C017-5EDC-397371C4B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A </a:t>
            </a:r>
            <a:r>
              <a:rPr lang="en-US" altLang="ko-KR" sz="3200" dirty="0">
                <a:solidFill>
                  <a:srgbClr val="C0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struct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 is a derived data type composed of members that are each fundamental or derived data types.</a:t>
            </a:r>
          </a:p>
          <a:p>
            <a:pPr algn="just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A single </a:t>
            </a:r>
            <a:r>
              <a:rPr lang="en-US" altLang="ko-KR" sz="3200" dirty="0">
                <a:solidFill>
                  <a:srgbClr val="C0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struct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 would store the data for one object.</a:t>
            </a:r>
          </a:p>
          <a:p>
            <a:pPr algn="just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An array of </a:t>
            </a:r>
            <a:r>
              <a:rPr lang="en-US" altLang="ko-KR" sz="3200" dirty="0">
                <a:solidFill>
                  <a:srgbClr val="C0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struct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 would store the data for several objects.</a:t>
            </a:r>
          </a:p>
          <a:p>
            <a:pPr algn="just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Structures are referred to as compound data types they consist of several different variables, which are yet logically connected</a:t>
            </a:r>
          </a:p>
          <a:p>
            <a:pPr algn="just">
              <a:lnSpc>
                <a:spcPct val="90000"/>
              </a:lnSpc>
            </a:pP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A </a:t>
            </a:r>
            <a:r>
              <a:rPr lang="en-US" altLang="ko-KR" sz="3200" dirty="0">
                <a:solidFill>
                  <a:srgbClr val="C0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struct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 can be defined in several ways as illustrated in the following examples:</a:t>
            </a: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F0D40193-440E-464B-10AF-E93CF5D2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EB1A123D-4A91-417E-AD88-F92183A96422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5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471E3604-AD32-72C8-F023-1F5EED583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Structure (Struct)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9219" name="Slide Number Placeholder 3">
            <a:extLst>
              <a:ext uri="{FF2B5EF4-FFF2-40B4-BE49-F238E27FC236}">
                <a16:creationId xmlns:a16="http://schemas.microsoft.com/office/drawing/2014/main" id="{49FD1162-A559-FA26-EB3A-CA169161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5BE9CAEC-846E-4F12-967B-D337E4AE7694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9CB633B-B29A-7547-5BAC-E6D4A38ED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4" y="1676400"/>
            <a:ext cx="3551237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07" tIns="45704" rIns="91407" bIns="45704"/>
          <a:lstStyle>
            <a:lvl1pPr marL="342900" indent="-342900"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buClrTx/>
              <a:buFontTx/>
              <a:buNone/>
            </a:pPr>
            <a:endParaRPr kumimoji="0" lang="en-US" altLang="ko-KR" sz="2400" b="1"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kumimoji="0" lang="en-US" altLang="ko-KR" sz="24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struct </a:t>
            </a:r>
            <a:r>
              <a:rPr kumimoji="0" lang="en-US" altLang="ko-KR" sz="24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Person</a:t>
            </a:r>
            <a:r>
              <a:rPr kumimoji="0" lang="en-US" altLang="ko-KR" sz="24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kumimoji="0" lang="en-US" altLang="ko-KR" sz="24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  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kumimoji="0" lang="en-US" altLang="ko-KR" sz="24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char </a:t>
            </a:r>
            <a:r>
              <a:rPr kumimoji="0" lang="en-US" altLang="ko-KR" sz="24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name[30]</a:t>
            </a:r>
            <a:r>
              <a:rPr kumimoji="0" lang="en-US" altLang="ko-KR" sz="24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 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kumimoji="0" lang="en-US" altLang="ko-KR" sz="24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int </a:t>
            </a:r>
            <a:r>
              <a:rPr kumimoji="0" lang="en-US" altLang="ko-KR" sz="24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citizenship</a:t>
            </a:r>
            <a:r>
              <a:rPr kumimoji="0" lang="en-US" altLang="ko-KR" sz="24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  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kumimoji="0" lang="en-US" altLang="ko-KR" sz="24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int </a:t>
            </a:r>
            <a:r>
              <a:rPr kumimoji="0" lang="en-US" altLang="ko-KR" sz="240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age;</a:t>
            </a:r>
            <a:r>
              <a:rPr kumimoji="0" lang="en-US" altLang="ko-KR" sz="24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kumimoji="0" lang="en-US" altLang="ko-KR" sz="2400" b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159795BA-4F1D-ED90-2CC1-D306600BD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662114"/>
            <a:ext cx="4027488" cy="4738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8585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42875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77165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Tx/>
              <a:buFontTx/>
              <a:buNone/>
            </a:pPr>
            <a:endParaRPr kumimoji="0" lang="en-US" altLang="ko-KR" sz="2400" b="1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ClrTx/>
              <a:buFontTx/>
              <a:buNone/>
            </a:pP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struct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my_example	</a:t>
            </a:r>
          </a:p>
          <a:p>
            <a:pPr>
              <a:buClrTx/>
              <a:buFontTx/>
              <a:buNone/>
            </a:pP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			 </a:t>
            </a:r>
          </a:p>
          <a:p>
            <a:pPr>
              <a:buClrTx/>
              <a:buFontTx/>
              <a:buNone/>
            </a:pP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label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buClrTx/>
              <a:buFontTx/>
              <a:buNone/>
            </a:pP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char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letter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buClrTx/>
              <a:buFontTx/>
              <a:buNone/>
            </a:pP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char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name[20]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buClrTx/>
              <a:buFontTx/>
              <a:buNone/>
            </a:pP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</a:t>
            </a:r>
            <a:r>
              <a:rPr kumimoji="0" lang="en-US" altLang="ko-KR" sz="2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endParaRPr kumimoji="0" lang="en-US" altLang="ko-KR" sz="200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ko-KR" sz="2000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/* The name "my_example" is called a structure tag    */</a:t>
            </a:r>
            <a:r>
              <a:rPr kumimoji="0" lang="en-US" altLang="ko-KR" sz="2000" b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4E202E8B-B6D0-49C5-8493-E0685513D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662113"/>
            <a:ext cx="7772400" cy="4476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ko-KR" altLang="en-US" sz="1800">
              <a:solidFill>
                <a:srgbClr val="000000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F4C6E56F-DF21-52EB-B4DE-07514421842B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1088" y="1662113"/>
            <a:ext cx="0" cy="4476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ko-KR" altLang="en-US" kern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AF874F43-0E12-CE0A-7D51-8163CE456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Structure (Struct)</a:t>
            </a:r>
            <a:endParaRPr lang="ko-KR" altLang="en-US">
              <a:ea typeface="굴림" panose="020B0600000101010101" pitchFamily="34" charset="-127"/>
            </a:endParaRPr>
          </a:p>
        </p:txBody>
      </p:sp>
      <p:sp>
        <p:nvSpPr>
          <p:cNvPr id="10243" name="Slide Number Placeholder 3">
            <a:extLst>
              <a:ext uri="{FF2B5EF4-FFF2-40B4-BE49-F238E27FC236}">
                <a16:creationId xmlns:a16="http://schemas.microsoft.com/office/drawing/2014/main" id="{90790765-3754-C376-D08C-7AF0C60E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7787A2D1-8F4E-4BBC-AD1B-4E10D01C9B51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2618B435-6537-4A18-6184-E6A2BA2A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4" y="1447800"/>
            <a:ext cx="4027487" cy="473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8585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42875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77165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2288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6860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1432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60045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ClrTx/>
              <a:buFontTx/>
              <a:buNone/>
            </a:pPr>
            <a:endParaRPr kumimoji="0" lang="en-US" altLang="ko-KR" sz="2400" b="1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buClrTx/>
              <a:buFontTx/>
              <a:buNone/>
            </a:pP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struct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Student	</a:t>
            </a:r>
          </a:p>
          <a:p>
            <a:pPr>
              <a:buClrTx/>
              <a:buFontTx/>
              <a:buNone/>
            </a:pP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			 </a:t>
            </a:r>
          </a:p>
          <a:p>
            <a:pPr>
              <a:buClrTx/>
              <a:buFontTx/>
              <a:buNone/>
            </a:pP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StudentID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buClrTx/>
              <a:buFontTx/>
              <a:buNone/>
            </a:pP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string 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Name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buClrTx/>
              <a:buFontTx/>
              <a:buNone/>
            </a:pP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float 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Batch;</a:t>
            </a:r>
          </a:p>
          <a:p>
            <a:pPr>
              <a:buClrTx/>
              <a:buFontTx/>
              <a:buNone/>
            </a:pP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float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GPA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buClrTx/>
              <a:buFontTx/>
              <a:buNone/>
            </a:pP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Student1</a:t>
            </a:r>
            <a:r>
              <a:rPr kumimoji="0" lang="en-US" altLang="ko-KR" sz="2400" b="1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  <a:r>
              <a:rPr kumimoji="0" lang="en-US" altLang="ko-KR" sz="24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</a:t>
            </a:r>
            <a:r>
              <a:rPr kumimoji="0" lang="en-US" altLang="ko-KR" sz="2000">
                <a:solidFill>
                  <a:srgbClr val="000000"/>
                </a:solidFill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	</a:t>
            </a:r>
          </a:p>
          <a:p>
            <a:pPr>
              <a:lnSpc>
                <a:spcPct val="130000"/>
              </a:lnSpc>
              <a:buClrTx/>
              <a:buFontTx/>
              <a:buNone/>
            </a:pPr>
            <a:endParaRPr kumimoji="0" lang="en-US" altLang="ko-KR" sz="2000">
              <a:solidFill>
                <a:srgbClr val="000000"/>
              </a:solidFill>
              <a:latin typeface="Arial" panose="020B0604020202020204" pitchFamily="34" charset="0"/>
              <a:ea typeface="굴림" panose="020B0600000101010101" pitchFamily="34" charset="-127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buClrTx/>
              <a:buFontTx/>
              <a:buNone/>
            </a:pPr>
            <a:r>
              <a:rPr kumimoji="0" lang="en-US" altLang="ko-KR" sz="2000" b="1">
                <a:solidFill>
                  <a:srgbClr val="000000"/>
                </a:solidFill>
                <a:latin typeface="Arial" panose="020B0604020202020204" pitchFamily="34" charset="0"/>
                <a:ea typeface="굴림" panose="020B0600000101010101" pitchFamily="34" charset="-127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727FED4A-CAE0-BF65-112F-865A94388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113" y="1447800"/>
            <a:ext cx="3886200" cy="4476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ko-KR" altLang="en-US" sz="1800">
              <a:solidFill>
                <a:srgbClr val="000000"/>
              </a:solidFill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10246" name="Rectangle 4">
            <a:extLst>
              <a:ext uri="{FF2B5EF4-FFF2-40B4-BE49-F238E27FC236}">
                <a16:creationId xmlns:a16="http://schemas.microsoft.com/office/drawing/2014/main" id="{2A6CB540-02BA-7015-22DD-F4AD59EE2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876" y="2708276"/>
            <a:ext cx="3616325" cy="1863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ko-KR" altLang="ko-KR" sz="2400">
              <a:latin typeface="Arial" panose="020B0604020202020204" pitchFamily="34" charset="0"/>
              <a:ea typeface="굴림" panose="020B0600000101010101" pitchFamily="34" charset="-127"/>
            </a:endParaRPr>
          </a:p>
        </p:txBody>
      </p:sp>
      <p:sp>
        <p:nvSpPr>
          <p:cNvPr id="10247" name="Text Box 5">
            <a:extLst>
              <a:ext uri="{FF2B5EF4-FFF2-40B4-BE49-F238E27FC236}">
                <a16:creationId xmlns:a16="http://schemas.microsoft.com/office/drawing/2014/main" id="{F67E048F-6E85-B343-8A6D-7FB7B55E8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743201"/>
            <a:ext cx="1555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studentID</a:t>
            </a:r>
          </a:p>
        </p:txBody>
      </p:sp>
      <p:sp>
        <p:nvSpPr>
          <p:cNvPr id="10248" name="Text Box 6">
            <a:extLst>
              <a:ext uri="{FF2B5EF4-FFF2-40B4-BE49-F238E27FC236}">
                <a16:creationId xmlns:a16="http://schemas.microsoft.com/office/drawing/2014/main" id="{6E82794E-C9C6-E0C0-07C1-30F214BCB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200400"/>
            <a:ext cx="800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Name</a:t>
            </a:r>
          </a:p>
        </p:txBody>
      </p:sp>
      <p:sp>
        <p:nvSpPr>
          <p:cNvPr id="10249" name="Text Box 7">
            <a:extLst>
              <a:ext uri="{FF2B5EF4-FFF2-40B4-BE49-F238E27FC236}">
                <a16:creationId xmlns:a16="http://schemas.microsoft.com/office/drawing/2014/main" id="{6F8AEE9B-3D62-12FC-23A4-3125BED9D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622675"/>
            <a:ext cx="954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Batch</a:t>
            </a:r>
          </a:p>
        </p:txBody>
      </p:sp>
      <p:sp>
        <p:nvSpPr>
          <p:cNvPr id="10250" name="Text Box 8">
            <a:extLst>
              <a:ext uri="{FF2B5EF4-FFF2-40B4-BE49-F238E27FC236}">
                <a16:creationId xmlns:a16="http://schemas.microsoft.com/office/drawing/2014/main" id="{0EA5A5D3-C20B-6BBF-3199-2D9566143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1" y="4114800"/>
            <a:ext cx="646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GPA</a:t>
            </a:r>
          </a:p>
        </p:txBody>
      </p:sp>
      <p:sp>
        <p:nvSpPr>
          <p:cNvPr id="10251" name="Rectangle 9">
            <a:extLst>
              <a:ext uri="{FF2B5EF4-FFF2-40B4-BE49-F238E27FC236}">
                <a16:creationId xmlns:a16="http://schemas.microsoft.com/office/drawing/2014/main" id="{4E009C96-057D-3094-C815-31E033891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2784475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ko-KR" altLang="ko-KR" sz="2400">
              <a:latin typeface="Arial" panose="020B0604020202020204" pitchFamily="34" charset="0"/>
              <a:ea typeface="굴림" panose="020B0600000101010101" pitchFamily="34" charset="-127"/>
            </a:endParaRPr>
          </a:p>
        </p:txBody>
      </p:sp>
      <p:sp>
        <p:nvSpPr>
          <p:cNvPr id="10252" name="Rectangle 10">
            <a:extLst>
              <a:ext uri="{FF2B5EF4-FFF2-40B4-BE49-F238E27FC236}">
                <a16:creationId xmlns:a16="http://schemas.microsoft.com/office/drawing/2014/main" id="{B0BB88AA-0394-D09E-5FE9-35D3309CB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241675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ko-KR" altLang="ko-KR" sz="2400">
              <a:latin typeface="Arial" panose="020B0604020202020204" pitchFamily="34" charset="0"/>
              <a:ea typeface="굴림" panose="020B0600000101010101" pitchFamily="34" charset="-127"/>
            </a:endParaRPr>
          </a:p>
        </p:txBody>
      </p:sp>
      <p:sp>
        <p:nvSpPr>
          <p:cNvPr id="10253" name="Rectangle 11">
            <a:extLst>
              <a:ext uri="{FF2B5EF4-FFF2-40B4-BE49-F238E27FC236}">
                <a16:creationId xmlns:a16="http://schemas.microsoft.com/office/drawing/2014/main" id="{2C52EF99-63CF-B11E-EFC8-F81FA0842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657600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ko-KR" altLang="ko-KR" sz="2400">
              <a:latin typeface="Arial" panose="020B0604020202020204" pitchFamily="34" charset="0"/>
              <a:ea typeface="굴림" panose="020B0600000101010101" pitchFamily="34" charset="-127"/>
            </a:endParaRPr>
          </a:p>
        </p:txBody>
      </p:sp>
      <p:sp>
        <p:nvSpPr>
          <p:cNvPr id="10254" name="Rectangle 12">
            <a:extLst>
              <a:ext uri="{FF2B5EF4-FFF2-40B4-BE49-F238E27FC236}">
                <a16:creationId xmlns:a16="http://schemas.microsoft.com/office/drawing/2014/main" id="{FBADE500-A68D-7104-FCF7-96A07EDE7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114800"/>
            <a:ext cx="16764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kumimoji="0" lang="ko-KR" altLang="ko-KR" sz="2400">
              <a:latin typeface="Arial" panose="020B0604020202020204" pitchFamily="34" charset="0"/>
              <a:ea typeface="굴림" panose="020B0600000101010101" pitchFamily="34" charset="-127"/>
            </a:endParaRPr>
          </a:p>
        </p:txBody>
      </p:sp>
      <p:sp>
        <p:nvSpPr>
          <p:cNvPr id="10255" name="Text Box 13">
            <a:extLst>
              <a:ext uri="{FF2B5EF4-FFF2-40B4-BE49-F238E27FC236}">
                <a16:creationId xmlns:a16="http://schemas.microsoft.com/office/drawing/2014/main" id="{DC188E3F-C6D8-DB2B-0B13-52031D461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286000"/>
            <a:ext cx="1416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ko-KR" sz="2000">
                <a:latin typeface="Courier New" panose="02070309020205020404" pitchFamily="49" charset="0"/>
                <a:ea typeface="굴림" panose="020B0600000101010101" pitchFamily="34" charset="-127"/>
              </a:rPr>
              <a:t>Student1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>
            <a:extLst>
              <a:ext uri="{FF2B5EF4-FFF2-40B4-BE49-F238E27FC236}">
                <a16:creationId xmlns:a16="http://schemas.microsoft.com/office/drawing/2014/main" id="{E34C7EB9-0145-1B80-7FB6-BBA0805B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5B9046E7-3CAC-4924-84F5-C24C13E0D210}" type="slidenum">
              <a:rPr kumimoji="0" lang="en-US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4738C1F1-3E86-83AA-8D66-7647711D9E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C00000"/>
                </a:solidFill>
                <a:ea typeface="굴림" panose="020B0600000101010101" pitchFamily="34" charset="-127"/>
              </a:rPr>
              <a:t>Structure (Struct)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CEC6C02B-9AAE-886D-7677-8F8381FF5C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34" charset="-127"/>
              </a:rPr>
              <a:t>C++ </a:t>
            </a:r>
            <a:r>
              <a:rPr lang="en-US" altLang="ko-KR" b="1">
                <a:ea typeface="굴림" panose="020B0600000101010101" pitchFamily="34" charset="-127"/>
              </a:rPr>
              <a:t>struct</a:t>
            </a:r>
            <a:endParaRPr lang="en-US" altLang="ko-KR">
              <a:ea typeface="굴림" panose="020B0600000101010101" pitchFamily="34" charset="-127"/>
            </a:endParaRP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structured data type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fixed number of components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elements accessed by </a:t>
            </a:r>
            <a:r>
              <a:rPr lang="en-US" altLang="ko-KR" u="sng">
                <a:solidFill>
                  <a:srgbClr val="C00000"/>
                </a:solidFill>
                <a:ea typeface="굴림" panose="020B0600000101010101" pitchFamily="34" charset="-127"/>
              </a:rPr>
              <a:t>name</a:t>
            </a:r>
            <a:r>
              <a:rPr lang="en-US" altLang="ko-KR">
                <a:ea typeface="굴림" panose="020B0600000101010101" pitchFamily="34" charset="-127"/>
              </a:rPr>
              <a:t>, not by index</a:t>
            </a:r>
          </a:p>
          <a:p>
            <a:pPr lvl="1"/>
            <a:r>
              <a:rPr lang="en-US" altLang="ko-KR">
                <a:ea typeface="굴림" panose="020B0600000101010101" pitchFamily="34" charset="-127"/>
              </a:rPr>
              <a:t>components may be of different </a:t>
            </a:r>
            <a:r>
              <a:rPr lang="en-US" altLang="ko-KR" u="sng">
                <a:solidFill>
                  <a:srgbClr val="C00000"/>
                </a:solidFill>
                <a:ea typeface="굴림" panose="020B0600000101010101" pitchFamily="34" charset="-127"/>
              </a:rPr>
              <a:t>types</a:t>
            </a:r>
            <a:endParaRPr lang="en-US" altLang="ko-KR">
              <a:solidFill>
                <a:srgbClr val="C00000"/>
              </a:solidFill>
              <a:ea typeface="굴림" panose="020B0600000101010101" pitchFamily="34" charset="-127"/>
            </a:endParaRPr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075C50EC-86DC-FA22-5307-453C0FA31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997326"/>
            <a:ext cx="6934200" cy="1565275"/>
          </a:xfrm>
          <a:prstGeom prst="rect">
            <a:avLst/>
          </a:prstGeom>
          <a:solidFill>
            <a:srgbClr val="FFFFFF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kumimoji="0"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  <a:t>struct </a:t>
            </a:r>
            <a:r>
              <a:rPr kumimoji="0" lang="en-US" altLang="ko-KR" sz="2400" dirty="0" err="1">
                <a:latin typeface="Courier New" panose="02070309020205020404" pitchFamily="49" charset="0"/>
                <a:ea typeface="굴림" panose="020B0600000101010101" pitchFamily="34" charset="-127"/>
              </a:rPr>
              <a:t>part_struct</a:t>
            </a:r>
            <a:r>
              <a:rPr kumimoji="0"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  <a:t> {</a:t>
            </a:r>
            <a:br>
              <a:rPr kumimoji="0"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</a:br>
            <a:r>
              <a:rPr kumimoji="0"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  <a:t>  char </a:t>
            </a:r>
            <a:r>
              <a:rPr kumimoji="0" lang="en-US" altLang="ko-KR" sz="2400" dirty="0" err="1">
                <a:latin typeface="Courier New" panose="02070309020205020404" pitchFamily="49" charset="0"/>
                <a:ea typeface="굴림" panose="020B0600000101010101" pitchFamily="34" charset="-127"/>
              </a:rPr>
              <a:t>descrip</a:t>
            </a:r>
            <a:r>
              <a:rPr kumimoji="0"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  <a:t> [31], </a:t>
            </a:r>
            <a:r>
              <a:rPr kumimoji="0" lang="en-US" altLang="ko-KR" sz="2400" dirty="0" err="1">
                <a:latin typeface="Courier New" panose="02070309020205020404" pitchFamily="49" charset="0"/>
                <a:ea typeface="굴림" panose="020B0600000101010101" pitchFamily="34" charset="-127"/>
              </a:rPr>
              <a:t>part_num</a:t>
            </a:r>
            <a:r>
              <a:rPr kumimoji="0"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  <a:t> [11];</a:t>
            </a:r>
            <a:br>
              <a:rPr kumimoji="0"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</a:br>
            <a:r>
              <a:rPr kumimoji="0"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  <a:t>  float </a:t>
            </a:r>
            <a:r>
              <a:rPr kumimoji="0" lang="en-US" altLang="ko-KR" sz="2400" dirty="0" err="1">
                <a:latin typeface="Courier New" panose="02070309020205020404" pitchFamily="49" charset="0"/>
                <a:ea typeface="굴림" panose="020B0600000101010101" pitchFamily="34" charset="-127"/>
              </a:rPr>
              <a:t>unit_price</a:t>
            </a:r>
            <a:r>
              <a:rPr kumimoji="0"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  <a:t>;</a:t>
            </a:r>
            <a:br>
              <a:rPr kumimoji="0"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</a:br>
            <a:r>
              <a:rPr kumimoji="0" lang="en-US" altLang="ko-KR" sz="2400" dirty="0">
                <a:latin typeface="Courier New" panose="02070309020205020404" pitchFamily="49" charset="0"/>
                <a:ea typeface="굴림" panose="020B0600000101010101" pitchFamily="34" charset="-127"/>
              </a:rPr>
              <a:t>  int qty; };</a:t>
            </a:r>
            <a:endParaRPr kumimoji="0" lang="en-US" altLang="ko-KR" sz="2400" dirty="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grpSp>
        <p:nvGrpSpPr>
          <p:cNvPr id="11270" name="Group 10">
            <a:extLst>
              <a:ext uri="{FF2B5EF4-FFF2-40B4-BE49-F238E27FC236}">
                <a16:creationId xmlns:a16="http://schemas.microsoft.com/office/drawing/2014/main" id="{315DB5E8-A69C-2710-D758-FDA16870AF4E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200400"/>
            <a:ext cx="1828800" cy="1600200"/>
            <a:chOff x="2448" y="2592"/>
            <a:chExt cx="1152" cy="1008"/>
          </a:xfrm>
        </p:grpSpPr>
        <p:sp>
          <p:nvSpPr>
            <p:cNvPr id="11272" name="Line 5">
              <a:extLst>
                <a:ext uri="{FF2B5EF4-FFF2-40B4-BE49-F238E27FC236}">
                  <a16:creationId xmlns:a16="http://schemas.microsoft.com/office/drawing/2014/main" id="{4334EF75-A0EE-3C55-118E-A63CDED58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2640"/>
              <a:ext cx="960" cy="76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11273" name="Line 6">
              <a:extLst>
                <a:ext uri="{FF2B5EF4-FFF2-40B4-BE49-F238E27FC236}">
                  <a16:creationId xmlns:a16="http://schemas.microsoft.com/office/drawing/2014/main" id="{A8981D38-EDC9-402E-5AF4-48982B8936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592"/>
              <a:ext cx="192" cy="864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  <p:sp>
          <p:nvSpPr>
            <p:cNvPr id="11274" name="Line 7">
              <a:extLst>
                <a:ext uri="{FF2B5EF4-FFF2-40B4-BE49-F238E27FC236}">
                  <a16:creationId xmlns:a16="http://schemas.microsoft.com/office/drawing/2014/main" id="{786D7F56-49BF-6F1C-A8C9-906C7F990F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2592"/>
              <a:ext cx="624" cy="1008"/>
            </a:xfrm>
            <a:prstGeom prst="line">
              <a:avLst/>
            </a:prstGeom>
            <a:noFill/>
            <a:ln w="28575" cap="sq">
              <a:solidFill>
                <a:srgbClr val="C0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MY"/>
            </a:p>
          </p:txBody>
        </p:sp>
      </p:grpSp>
      <p:sp>
        <p:nvSpPr>
          <p:cNvPr id="11271" name="Oval 9">
            <a:extLst>
              <a:ext uri="{FF2B5EF4-FFF2-40B4-BE49-F238E27FC236}">
                <a16:creationId xmlns:a16="http://schemas.microsoft.com/office/drawing/2014/main" id="{D52A6643-B1F8-6DDF-419B-223825970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343400"/>
            <a:ext cx="1524000" cy="1295400"/>
          </a:xfrm>
          <a:prstGeom prst="ellipse">
            <a:avLst/>
          </a:prstGeom>
          <a:noFill/>
          <a:ln w="28575" cap="sq">
            <a:solidFill>
              <a:srgbClr val="C00000"/>
            </a:solidFill>
            <a:round/>
            <a:headEnd type="none" w="sm" len="sm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kumimoji="0" lang="ko-KR" altLang="en-US" sz="240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40AD74E-A9B4-5BD3-2CD7-DC552024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>
                <a:solidFill>
                  <a:srgbClr val="C00000"/>
                </a:solidFill>
                <a:ea typeface="굴림" panose="020B0600000101010101" pitchFamily="34" charset="-127"/>
              </a:rPr>
              <a:t>Access members of a struct</a:t>
            </a:r>
            <a:endParaRPr lang="ko-KR" altLang="en-US">
              <a:solidFill>
                <a:srgbClr val="C00000"/>
              </a:solidFill>
              <a:ea typeface="굴림" panose="020B0600000101010101" pitchFamily="34" charset="-127"/>
            </a:endParaRP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FDBFCBC6-F308-D1D9-1E92-939D1F187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altLang="ko-KR" sz="3600" dirty="0">
                <a:ea typeface="굴림" panose="020B0600000101010101" pitchFamily="34" charset="-127"/>
                <a:cs typeface="Times New Roman" panose="02020603050405020304" pitchFamily="18" charset="0"/>
              </a:rPr>
              <a:t>Individual members of a </a:t>
            </a:r>
            <a:r>
              <a:rPr lang="en-US" altLang="ko-KR" sz="3600" dirty="0">
                <a:solidFill>
                  <a:srgbClr val="C0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struct</a:t>
            </a:r>
            <a:r>
              <a:rPr lang="en-US" altLang="ko-KR" sz="3600" dirty="0">
                <a:ea typeface="굴림" panose="020B0600000101010101" pitchFamily="34" charset="-127"/>
                <a:cs typeface="Times New Roman" panose="02020603050405020304" pitchFamily="18" charset="0"/>
              </a:rPr>
              <a:t> variable may be accessed using the structure member operator (the dot, “.”)</a:t>
            </a:r>
          </a:p>
          <a:p>
            <a:pPr lvl="1" algn="just"/>
            <a:r>
              <a:rPr lang="en-US" altLang="ko-KR" sz="3200" dirty="0" err="1">
                <a:ea typeface="굴림" panose="020B0600000101010101" pitchFamily="34" charset="-127"/>
                <a:cs typeface="Times New Roman" panose="02020603050405020304" pitchFamily="18" charset="0"/>
              </a:rPr>
              <a:t>mystruct</a:t>
            </a:r>
            <a:r>
              <a:rPr lang="en-US" altLang="ko-KR" sz="3200" dirty="0" err="1">
                <a:solidFill>
                  <a:srgbClr val="C0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.</a:t>
            </a:r>
            <a:r>
              <a:rPr lang="en-US" altLang="ko-KR" sz="3200" dirty="0" err="1">
                <a:ea typeface="굴림" panose="020B0600000101010101" pitchFamily="34" charset="-127"/>
                <a:cs typeface="Times New Roman" panose="02020603050405020304" pitchFamily="18" charset="0"/>
              </a:rPr>
              <a:t>letter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 ;</a:t>
            </a:r>
          </a:p>
          <a:p>
            <a:pPr>
              <a:buFontTx/>
              <a:buNone/>
            </a:pPr>
            <a:r>
              <a:rPr lang="en-US" altLang="ko-KR" sz="1200" dirty="0">
                <a:ea typeface="굴림" panose="020B0600000101010101" pitchFamily="34" charset="-127"/>
                <a:cs typeface="Times New Roman" panose="02020603050405020304" pitchFamily="18" charset="0"/>
              </a:rPr>
              <a:t> </a:t>
            </a:r>
          </a:p>
          <a:p>
            <a:r>
              <a:rPr lang="en-US" altLang="ko-KR" sz="3600" dirty="0">
                <a:ea typeface="굴림" panose="020B0600000101010101" pitchFamily="34" charset="-127"/>
                <a:cs typeface="Times New Roman" panose="02020603050405020304" pitchFamily="18" charset="0"/>
              </a:rPr>
              <a:t>if a pointer to </a:t>
            </a:r>
            <a:r>
              <a:rPr lang="en-US" altLang="ko-KR" sz="3600" dirty="0">
                <a:solidFill>
                  <a:srgbClr val="C0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struct</a:t>
            </a:r>
            <a:r>
              <a:rPr lang="en-US" altLang="ko-KR" sz="3600" dirty="0">
                <a:solidFill>
                  <a:srgbClr val="FF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 </a:t>
            </a:r>
            <a:r>
              <a:rPr lang="en-US" altLang="ko-KR" sz="3600" dirty="0">
                <a:ea typeface="굴림" panose="020B0600000101010101" pitchFamily="34" charset="-127"/>
                <a:cs typeface="Times New Roman" panose="02020603050405020304" pitchFamily="18" charset="0"/>
              </a:rPr>
              <a:t>has been declared &amp; initialized</a:t>
            </a:r>
          </a:p>
          <a:p>
            <a:pPr lvl="1"/>
            <a:r>
              <a:rPr lang="en-US" altLang="ko-KR" sz="3200" dirty="0" err="1">
                <a:ea typeface="굴림" panose="020B0600000101010101" pitchFamily="34" charset="-127"/>
                <a:cs typeface="Times New Roman" panose="02020603050405020304" pitchFamily="18" charset="0"/>
              </a:rPr>
              <a:t>Some_name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   *</a:t>
            </a:r>
            <a:r>
              <a:rPr lang="en-US" altLang="ko-KR" sz="3200" dirty="0" err="1">
                <a:ea typeface="굴림" panose="020B0600000101010101" pitchFamily="34" charset="-127"/>
                <a:cs typeface="Times New Roman" panose="02020603050405020304" pitchFamily="18" charset="0"/>
              </a:rPr>
              <a:t>myptr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 = &amp;</a:t>
            </a:r>
            <a:r>
              <a:rPr lang="en-US" altLang="ko-KR" sz="3200" dirty="0" err="1">
                <a:ea typeface="굴림" panose="020B0600000101010101" pitchFamily="34" charset="-127"/>
                <a:cs typeface="Times New Roman" panose="02020603050405020304" pitchFamily="18" charset="0"/>
              </a:rPr>
              <a:t>mystruct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 ;</a:t>
            </a:r>
          </a:p>
          <a:p>
            <a:pPr lvl="1"/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(*</a:t>
            </a:r>
            <a:r>
              <a:rPr lang="en-US" altLang="ko-KR" sz="3200" dirty="0" err="1">
                <a:ea typeface="굴림" panose="020B0600000101010101" pitchFamily="34" charset="-127"/>
                <a:cs typeface="Times New Roman" panose="02020603050405020304" pitchFamily="18" charset="0"/>
              </a:rPr>
              <a:t>myptr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)</a:t>
            </a:r>
            <a:r>
              <a:rPr lang="en-US" altLang="ko-KR" sz="3200" dirty="0">
                <a:solidFill>
                  <a:srgbClr val="C0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.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letter;</a:t>
            </a:r>
          </a:p>
          <a:p>
            <a:pPr lvl="1"/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Employee</a:t>
            </a:r>
            <a:r>
              <a:rPr lang="en-US" altLang="ko-KR" sz="3200" dirty="0">
                <a:solidFill>
                  <a:srgbClr val="C0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.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name</a:t>
            </a:r>
          </a:p>
          <a:p>
            <a:pPr lvl="1"/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Employee</a:t>
            </a:r>
            <a:r>
              <a:rPr lang="en-US" altLang="ko-KR" sz="3200" dirty="0">
                <a:solidFill>
                  <a:srgbClr val="C0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.</a:t>
            </a:r>
            <a:r>
              <a:rPr lang="en-US" altLang="ko-KR" sz="3200" dirty="0">
                <a:ea typeface="굴림" panose="020B0600000101010101" pitchFamily="34" charset="-127"/>
                <a:cs typeface="Times New Roman" panose="02020603050405020304" pitchFamily="18" charset="0"/>
              </a:rPr>
              <a:t>ID</a:t>
            </a:r>
          </a:p>
          <a:p>
            <a:pPr lvl="1"/>
            <a:r>
              <a:rPr lang="en-US" altLang="ko-KR" sz="3200" dirty="0" err="1">
                <a:ea typeface="굴림" panose="020B0600000101010101" pitchFamily="34" charset="-127"/>
                <a:cs typeface="Times New Roman" panose="02020603050405020304" pitchFamily="18" charset="0"/>
              </a:rPr>
              <a:t>Employee</a:t>
            </a:r>
            <a:r>
              <a:rPr lang="en-US" altLang="ko-KR" sz="3200" dirty="0" err="1">
                <a:solidFill>
                  <a:srgbClr val="C00000"/>
                </a:solidFill>
                <a:ea typeface="굴림" panose="020B0600000101010101" pitchFamily="34" charset="-127"/>
                <a:cs typeface="Times New Roman" panose="02020603050405020304" pitchFamily="18" charset="0"/>
              </a:rPr>
              <a:t>.</a:t>
            </a:r>
            <a:r>
              <a:rPr lang="en-US" altLang="ko-KR" sz="3200" dirty="0" err="1">
                <a:ea typeface="굴림" panose="020B0600000101010101" pitchFamily="34" charset="-127"/>
                <a:cs typeface="Times New Roman" panose="02020603050405020304" pitchFamily="18" charset="0"/>
              </a:rPr>
              <a:t>salary</a:t>
            </a:r>
            <a:r>
              <a:rPr lang="en-US" altLang="ko-KR" sz="3600" dirty="0">
                <a:ea typeface="굴림" panose="020B0600000101010101" pitchFamily="34" charset="-127"/>
                <a:cs typeface="Times New Roman" panose="02020603050405020304" pitchFamily="18" charset="0"/>
              </a:rPr>
              <a:t>	</a:t>
            </a:r>
            <a:endParaRPr lang="en-US" altLang="ko-KR" sz="3600" dirty="0">
              <a:ea typeface="굴림" panose="020B0600000101010101" pitchFamily="34" charset="-127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0230B813-EE21-E0B2-0C8C-36C88FAF1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79AE5661-E89F-4377-88C5-1896E25756C5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9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53CAFDD4-C0C1-FBD7-70DE-351D091F5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44088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C00000"/>
                </a:solidFill>
                <a:ea typeface="굴림" panose="020B0600000101010101" pitchFamily="34" charset="-127"/>
              </a:rPr>
              <a:t>Example of Struct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13315" name="Slide Number Placeholder 3">
            <a:extLst>
              <a:ext uri="{FF2B5EF4-FFF2-40B4-BE49-F238E27FC236}">
                <a16:creationId xmlns:a16="http://schemas.microsoft.com/office/drawing/2014/main" id="{56CD5199-1E5C-078F-5D4C-A8134AC7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78AC8F87-2F7D-4CC1-B110-D761BC18ACAF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10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3316" name="Rectangle 7">
            <a:extLst>
              <a:ext uri="{FF2B5EF4-FFF2-40B4-BE49-F238E27FC236}">
                <a16:creationId xmlns:a16="http://schemas.microsoft.com/office/drawing/2014/main" id="{52BE291C-5D4D-248B-BB54-0952AB30C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72" y="671691"/>
            <a:ext cx="6705600" cy="575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&lt;iostream&gt;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 namespace std;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struct Person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char name[50];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int age;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float salary;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main() 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struct Person p1;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3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"Enter Full name: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3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cin.get</a:t>
            </a: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(p1.name, 50);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3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"Enter age: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3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cin</a:t>
            </a: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&gt;&gt; p1.age;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3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"Enter salary: ";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3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cin</a:t>
            </a:r>
            <a:r>
              <a:rPr kumimoji="0" lang="en-US" altLang="ko-KR" sz="23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&gt;&gt; p1.salary;</a:t>
            </a:r>
          </a:p>
        </p:txBody>
      </p:sp>
      <p:sp>
        <p:nvSpPr>
          <p:cNvPr id="13317" name="Rectangle 8">
            <a:extLst>
              <a:ext uri="{FF2B5EF4-FFF2-40B4-BE49-F238E27FC236}">
                <a16:creationId xmlns:a16="http://schemas.microsoft.com/office/drawing/2014/main" id="{F7A7E3BD-B621-3803-E8BA-96FADAC47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795838"/>
            <a:ext cx="4572000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6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Enter Full name: Magdalena </a:t>
            </a:r>
            <a:r>
              <a:rPr kumimoji="0" lang="en-US" altLang="ko-KR" sz="16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Dankova</a:t>
            </a:r>
            <a:endParaRPr kumimoji="0" lang="en-US" altLang="ko-KR" sz="1600" b="1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6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Enter age: 27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6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Enter salary: 1024.4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kumimoji="0" lang="en-US" altLang="ko-KR" sz="1600" b="1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6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Displaying Information.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6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Name: Magdalena </a:t>
            </a:r>
            <a:r>
              <a:rPr kumimoji="0" lang="en-US" altLang="ko-KR" sz="16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Dankova</a:t>
            </a:r>
            <a:endParaRPr kumimoji="0" lang="en-US" altLang="ko-KR" sz="1600" b="1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6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Age: 27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16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Salary: 1024.4</a:t>
            </a:r>
            <a:endParaRPr kumimoji="0" lang="ko-KR" altLang="en-US" sz="1600" b="1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3EC92-C6B2-5FDD-CBD4-8F6E125BB7DB}"/>
              </a:ext>
            </a:extLst>
          </p:cNvPr>
          <p:cNvSpPr txBox="1"/>
          <p:nvPr/>
        </p:nvSpPr>
        <p:spPr>
          <a:xfrm>
            <a:off x="5338916" y="1258590"/>
            <a:ext cx="685308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2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"\</a:t>
            </a:r>
            <a:r>
              <a:rPr kumimoji="0" lang="en-US" altLang="ko-KR" sz="22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nDisplaying</a:t>
            </a: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Information." &lt;&lt; </a:t>
            </a:r>
            <a:r>
              <a:rPr kumimoji="0" lang="en-US" altLang="ko-KR" sz="22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2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"Name: " &lt;&lt; p1.name &lt;&lt; </a:t>
            </a:r>
            <a:r>
              <a:rPr kumimoji="0" lang="en-US" altLang="ko-KR" sz="22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2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&lt;&lt;"Age: " &lt;&lt; p1.age &lt;&lt; </a:t>
            </a:r>
            <a:r>
              <a:rPr kumimoji="0" lang="en-US" altLang="ko-KR" sz="22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2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&lt;&lt; "Salary: " &lt;&lt; p1.salary;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2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return 0; }</a:t>
            </a:r>
            <a:endParaRPr kumimoji="0" lang="ko-KR" altLang="en-US" sz="2200" b="1" dirty="0">
              <a:latin typeface="Courier New" panose="02070309020205020404" pitchFamily="49" charset="0"/>
              <a:ea typeface="굴림" panose="020B0600000101010101" pitchFamily="34" charset="-127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5EEA4D5-D4BB-9087-0264-292539F9E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1"/>
            <a:ext cx="10515600" cy="814746"/>
          </a:xfrm>
        </p:spPr>
        <p:txBody>
          <a:bodyPr/>
          <a:lstStyle/>
          <a:p>
            <a:r>
              <a:rPr lang="en-US" altLang="ko-KR" dirty="0">
                <a:solidFill>
                  <a:srgbClr val="C00000"/>
                </a:solidFill>
                <a:ea typeface="굴림" panose="020B0600000101010101" pitchFamily="34" charset="-127"/>
              </a:rPr>
              <a:t>Example of Struct (Initialize)</a:t>
            </a:r>
            <a:endParaRPr lang="ko-KR" altLang="en-US" dirty="0">
              <a:ea typeface="굴림" panose="020B0600000101010101" pitchFamily="34" charset="-127"/>
            </a:endParaRPr>
          </a:p>
        </p:txBody>
      </p:sp>
      <p:sp>
        <p:nvSpPr>
          <p:cNvPr id="14339" name="Slide Number Placeholder 3">
            <a:extLst>
              <a:ext uri="{FF2B5EF4-FFF2-40B4-BE49-F238E27FC236}">
                <a16:creationId xmlns:a16="http://schemas.microsoft.com/office/drawing/2014/main" id="{0B8817C8-6C11-1030-8EDB-BE1DEB1B3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fld id="{052DBAC4-E808-41F8-BA4D-1DFB0E014F3D}" type="slidenum">
              <a:rPr kumimoji="0" lang="en-GB" altLang="ko-KR" sz="1400">
                <a:solidFill>
                  <a:schemeClr val="bg2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  <a:buClrTx/>
                <a:buFontTx/>
                <a:buNone/>
              </a:pPr>
              <a:t>11</a:t>
            </a:fld>
            <a:endParaRPr kumimoji="0" lang="en-GB" altLang="ko-KR" sz="140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4340" name="Rectangle 7">
            <a:extLst>
              <a:ext uri="{FF2B5EF4-FFF2-40B4-BE49-F238E27FC236}">
                <a16:creationId xmlns:a16="http://schemas.microsoft.com/office/drawing/2014/main" id="{CA938390-641A-341B-227F-D289FDC49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35" y="1590368"/>
            <a:ext cx="4119716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Char char="•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—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#include &lt;iostream&gt;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using namespace std;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struct Address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string name;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number;       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string street;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string town;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char state[2];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string zip;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0B3732-C3B1-41D3-933B-EC2CA322CAE9}"/>
              </a:ext>
            </a:extLst>
          </p:cNvPr>
          <p:cNvSpPr txBox="1"/>
          <p:nvPr/>
        </p:nvSpPr>
        <p:spPr>
          <a:xfrm>
            <a:off x="4640826" y="1720840"/>
            <a:ext cx="75511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int main()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Address </a:t>
            </a:r>
            <a:r>
              <a:rPr kumimoji="0" lang="en-US" altLang="ko-KR" sz="24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jd</a:t>
            </a: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= {"Ahmed",25, "South St", "New Karachi", {'N','K'}, "07974"};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4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&lt;&lt;"Name: "&lt;&lt;jd.name&lt;&lt;</a:t>
            </a:r>
            <a:r>
              <a:rPr kumimoji="0" lang="en-US" altLang="ko-KR" sz="24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4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&lt;&lt;"Street: "&lt;&lt;</a:t>
            </a:r>
            <a:r>
              <a:rPr kumimoji="0" lang="en-US" altLang="ko-KR" sz="24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jd.street</a:t>
            </a: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</a:t>
            </a:r>
            <a:r>
              <a:rPr kumimoji="0" lang="en-US" altLang="ko-KR" sz="24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</a:t>
            </a:r>
            <a:r>
              <a:rPr kumimoji="0" lang="en-US" altLang="ko-KR" sz="24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cout</a:t>
            </a: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&lt;&lt;"State: "&lt;&lt;</a:t>
            </a:r>
            <a:r>
              <a:rPr kumimoji="0" lang="en-US" altLang="ko-KR" sz="24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jd.state</a:t>
            </a: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&lt;&lt;</a:t>
            </a:r>
            <a:r>
              <a:rPr kumimoji="0" lang="en-US" altLang="ko-KR" sz="2400" b="1" dirty="0" err="1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endl</a:t>
            </a: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    return 0;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ko-KR" sz="2400" b="1" dirty="0">
                <a:latin typeface="Courier New" panose="02070309020205020404" pitchFamily="49" charset="0"/>
                <a:ea typeface="굴림" panose="020B0600000101010101" pitchFamily="34" charset="-127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F0505A-FC0B-08F4-C085-87E313D2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1" y="18256"/>
            <a:ext cx="12054347" cy="662780"/>
          </a:xfrm>
        </p:spPr>
        <p:txBody>
          <a:bodyPr>
            <a:noAutofit/>
          </a:bodyPr>
          <a:lstStyle/>
          <a:p>
            <a:r>
              <a:rPr lang="en-US" sz="2800" dirty="0"/>
              <a:t>C++ program that demonstrates how to store student details (name, roll number, batch name, and age) in a structure and print them using a function.</a:t>
            </a:r>
            <a:endParaRPr lang="en-MY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11614C-A373-2E85-D777-2E992D67F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943897"/>
            <a:ext cx="6361471" cy="58958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MY" sz="2000" dirty="0"/>
              <a:t>#include &lt;iostream&gt;</a:t>
            </a:r>
          </a:p>
          <a:p>
            <a:pPr marL="0" indent="0">
              <a:buNone/>
            </a:pPr>
            <a:r>
              <a:rPr lang="en-MY" sz="2000" dirty="0"/>
              <a:t>using namespace std;</a:t>
            </a:r>
          </a:p>
          <a:p>
            <a:pPr marL="0" indent="0">
              <a:buNone/>
            </a:pPr>
            <a:r>
              <a:rPr lang="en-MY" sz="2000" dirty="0"/>
              <a:t>struct Student {		// Define the structure</a:t>
            </a:r>
          </a:p>
          <a:p>
            <a:pPr marL="0" indent="0">
              <a:buNone/>
            </a:pPr>
            <a:r>
              <a:rPr lang="en-MY" sz="2000" dirty="0"/>
              <a:t>char name[50];   </a:t>
            </a:r>
          </a:p>
          <a:p>
            <a:pPr marL="0" indent="0">
              <a:buNone/>
            </a:pPr>
            <a:r>
              <a:rPr lang="en-MY" sz="2000" dirty="0"/>
              <a:t>int </a:t>
            </a:r>
            <a:r>
              <a:rPr lang="en-MY" sz="2000" dirty="0" err="1"/>
              <a:t>rollNumber</a:t>
            </a:r>
            <a:r>
              <a:rPr lang="en-MY" sz="2000" dirty="0"/>
              <a:t>;   </a:t>
            </a:r>
          </a:p>
          <a:p>
            <a:pPr marL="0" indent="0">
              <a:buNone/>
            </a:pPr>
            <a:r>
              <a:rPr lang="en-MY" sz="2000" dirty="0"/>
              <a:t>char batch[20];  </a:t>
            </a:r>
          </a:p>
          <a:p>
            <a:pPr marL="0" indent="0">
              <a:buNone/>
            </a:pPr>
            <a:r>
              <a:rPr lang="en-MY" sz="2000" dirty="0"/>
              <a:t>int age; };</a:t>
            </a:r>
          </a:p>
          <a:p>
            <a:pPr marL="0" indent="0">
              <a:buNone/>
            </a:pPr>
            <a:endParaRPr lang="en-MY" sz="2000" dirty="0"/>
          </a:p>
          <a:p>
            <a:pPr marL="0" indent="0">
              <a:buNone/>
            </a:pPr>
            <a:r>
              <a:rPr lang="en-MY" sz="2000" dirty="0"/>
              <a:t>void </a:t>
            </a:r>
            <a:r>
              <a:rPr lang="en-MY" sz="2000" dirty="0" err="1"/>
              <a:t>printStudent</a:t>
            </a:r>
            <a:r>
              <a:rPr lang="en-MY" sz="2000" dirty="0"/>
              <a:t>(Student s) {// Function to print details</a:t>
            </a:r>
          </a:p>
          <a:p>
            <a:pPr marL="0" indent="0">
              <a:buNone/>
            </a:pPr>
            <a:r>
              <a:rPr lang="en-MY" sz="2000" dirty="0"/>
              <a:t>    </a:t>
            </a:r>
            <a:r>
              <a:rPr lang="en-MY" sz="2000" dirty="0" err="1"/>
              <a:t>cout</a:t>
            </a:r>
            <a:r>
              <a:rPr lang="en-MY" sz="2000" dirty="0"/>
              <a:t> &lt;&lt; "Student Details:" &lt;&lt; </a:t>
            </a:r>
            <a:r>
              <a:rPr lang="en-MY" sz="2000" dirty="0" err="1"/>
              <a:t>endl</a:t>
            </a:r>
            <a:r>
              <a:rPr lang="en-MY" sz="2000" dirty="0"/>
              <a:t>;</a:t>
            </a:r>
          </a:p>
          <a:p>
            <a:pPr marL="0" indent="0">
              <a:buNone/>
            </a:pPr>
            <a:r>
              <a:rPr lang="en-MY" sz="2000" dirty="0"/>
              <a:t>    </a:t>
            </a:r>
            <a:r>
              <a:rPr lang="en-MY" sz="2000" dirty="0" err="1"/>
              <a:t>cout</a:t>
            </a:r>
            <a:r>
              <a:rPr lang="en-MY" sz="2000" dirty="0"/>
              <a:t> &lt;&lt; "Name: " &lt;&lt; s.name &lt;&lt; </a:t>
            </a:r>
            <a:r>
              <a:rPr lang="en-MY" sz="2000" dirty="0" err="1"/>
              <a:t>endl</a:t>
            </a:r>
            <a:r>
              <a:rPr lang="en-MY" sz="2000" dirty="0"/>
              <a:t>;</a:t>
            </a:r>
          </a:p>
          <a:p>
            <a:pPr marL="0" indent="0">
              <a:buNone/>
            </a:pPr>
            <a:r>
              <a:rPr lang="en-MY" sz="2000" dirty="0"/>
              <a:t>    </a:t>
            </a:r>
            <a:r>
              <a:rPr lang="en-MY" sz="2000" dirty="0" err="1"/>
              <a:t>cout</a:t>
            </a:r>
            <a:r>
              <a:rPr lang="en-MY" sz="2000" dirty="0"/>
              <a:t> &lt;&lt; "Roll Number: " &lt;&lt; </a:t>
            </a:r>
            <a:r>
              <a:rPr lang="en-MY" sz="2000" dirty="0" err="1"/>
              <a:t>s.rollNumber</a:t>
            </a:r>
            <a:r>
              <a:rPr lang="en-MY" sz="2000" dirty="0"/>
              <a:t> &lt;&lt; </a:t>
            </a:r>
            <a:r>
              <a:rPr lang="en-MY" sz="2000" dirty="0" err="1"/>
              <a:t>endl</a:t>
            </a:r>
            <a:r>
              <a:rPr lang="en-MY" sz="2000" dirty="0"/>
              <a:t>;</a:t>
            </a:r>
          </a:p>
          <a:p>
            <a:pPr marL="0" indent="0">
              <a:buNone/>
            </a:pPr>
            <a:r>
              <a:rPr lang="en-MY" sz="2000" dirty="0"/>
              <a:t>    </a:t>
            </a:r>
            <a:r>
              <a:rPr lang="en-MY" sz="2000" dirty="0" err="1"/>
              <a:t>cout</a:t>
            </a:r>
            <a:r>
              <a:rPr lang="en-MY" sz="2000" dirty="0"/>
              <a:t> &lt;&lt; "Batch: " &lt;&lt; </a:t>
            </a:r>
            <a:r>
              <a:rPr lang="en-MY" sz="2000" dirty="0" err="1"/>
              <a:t>s.batch</a:t>
            </a:r>
            <a:r>
              <a:rPr lang="en-MY" sz="2000" dirty="0"/>
              <a:t> &lt;&lt; </a:t>
            </a:r>
            <a:r>
              <a:rPr lang="en-MY" sz="2000" dirty="0" err="1"/>
              <a:t>endl</a:t>
            </a:r>
            <a:r>
              <a:rPr lang="en-MY" sz="2000" dirty="0"/>
              <a:t>;</a:t>
            </a:r>
          </a:p>
          <a:p>
            <a:pPr marL="0" indent="0">
              <a:buNone/>
            </a:pPr>
            <a:r>
              <a:rPr lang="en-MY" sz="2000" dirty="0"/>
              <a:t>    </a:t>
            </a:r>
            <a:r>
              <a:rPr lang="en-MY" sz="2000" dirty="0" err="1"/>
              <a:t>cout</a:t>
            </a:r>
            <a:r>
              <a:rPr lang="en-MY" sz="2000" dirty="0"/>
              <a:t> &lt;&lt; "Age: " &lt;&lt; </a:t>
            </a:r>
            <a:r>
              <a:rPr lang="en-MY" sz="2000" dirty="0" err="1"/>
              <a:t>s.age</a:t>
            </a:r>
            <a:r>
              <a:rPr lang="en-MY" sz="2000" dirty="0"/>
              <a:t> &lt;&lt; </a:t>
            </a:r>
            <a:r>
              <a:rPr lang="en-MY" sz="2000" dirty="0" err="1"/>
              <a:t>endl</a:t>
            </a:r>
            <a:r>
              <a:rPr lang="en-MY" sz="2000" dirty="0"/>
              <a:t>;    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CB64B-81C2-2CF8-6E40-10E67318F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9960" y="943898"/>
            <a:ext cx="5742039" cy="589584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MY" dirty="0"/>
              <a:t>int main() {</a:t>
            </a:r>
          </a:p>
          <a:p>
            <a:pPr marL="0" indent="0">
              <a:buNone/>
            </a:pPr>
            <a:r>
              <a:rPr lang="en-MY" dirty="0"/>
              <a:t>    Student s;</a:t>
            </a:r>
          </a:p>
          <a:p>
            <a:pPr marL="0" indent="0">
              <a:buNone/>
            </a:pPr>
            <a:r>
              <a:rPr lang="en-MY" dirty="0" err="1"/>
              <a:t>cout</a:t>
            </a:r>
            <a:r>
              <a:rPr lang="en-MY" dirty="0"/>
              <a:t> &lt;&lt; "Enter Name: ";	 // Input student details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cin.getline</a:t>
            </a:r>
            <a:r>
              <a:rPr lang="en-MY" dirty="0"/>
              <a:t>(s.name, 50);  // Use </a:t>
            </a:r>
            <a:r>
              <a:rPr lang="en-MY" dirty="0" err="1"/>
              <a:t>getline</a:t>
            </a:r>
            <a:r>
              <a:rPr lang="en-MY" dirty="0"/>
              <a:t> for strings with spaces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"Enter Roll Number: ";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cin</a:t>
            </a:r>
            <a:r>
              <a:rPr lang="en-MY" dirty="0"/>
              <a:t> &gt;&gt; </a:t>
            </a:r>
            <a:r>
              <a:rPr lang="en-MY" dirty="0" err="1"/>
              <a:t>s.rollNumber</a:t>
            </a:r>
            <a:r>
              <a:rPr lang="en-MY" dirty="0"/>
              <a:t>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cin.ignore</a:t>
            </a:r>
            <a:r>
              <a:rPr lang="en-MY" dirty="0"/>
              <a:t>(); // To ignore the newline left by </a:t>
            </a:r>
            <a:r>
              <a:rPr lang="en-MY" dirty="0" err="1"/>
              <a:t>cin</a:t>
            </a:r>
            <a:endParaRPr lang="en-MY" dirty="0"/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"Enter Batch Name: ";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cin.getline</a:t>
            </a:r>
            <a:r>
              <a:rPr lang="en-MY" dirty="0"/>
              <a:t>(</a:t>
            </a:r>
            <a:r>
              <a:rPr lang="en-MY" dirty="0" err="1"/>
              <a:t>s.batch</a:t>
            </a:r>
            <a:r>
              <a:rPr lang="en-MY" dirty="0"/>
              <a:t>, 20);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"Enter Age: ";</a:t>
            </a:r>
          </a:p>
          <a:p>
            <a:pPr marL="0" indent="0">
              <a:buNone/>
            </a:pPr>
            <a:r>
              <a:rPr lang="en-MY" dirty="0"/>
              <a:t>    </a:t>
            </a:r>
            <a:r>
              <a:rPr lang="en-MY" dirty="0" err="1"/>
              <a:t>cin</a:t>
            </a:r>
            <a:r>
              <a:rPr lang="en-MY" dirty="0"/>
              <a:t> &gt;&gt; </a:t>
            </a:r>
            <a:r>
              <a:rPr lang="en-MY" dirty="0" err="1"/>
              <a:t>s.age</a:t>
            </a:r>
            <a:r>
              <a:rPr lang="en-MY" dirty="0"/>
              <a:t>;</a:t>
            </a:r>
          </a:p>
          <a:p>
            <a:pPr marL="0" indent="0">
              <a:buNone/>
            </a:pPr>
            <a:endParaRPr lang="en-MY" dirty="0"/>
          </a:p>
          <a:p>
            <a:pPr marL="0" indent="0">
              <a:buNone/>
            </a:pPr>
            <a:r>
              <a:rPr lang="en-MY" dirty="0" err="1"/>
              <a:t>printStudent</a:t>
            </a:r>
            <a:r>
              <a:rPr lang="en-MY" dirty="0"/>
              <a:t>(s);	 // Print the details using function</a:t>
            </a:r>
          </a:p>
          <a:p>
            <a:pPr marL="0" indent="0">
              <a:buNone/>
            </a:pPr>
            <a:r>
              <a:rPr lang="en-MY" dirty="0"/>
              <a:t>    return 0; </a:t>
            </a:r>
          </a:p>
          <a:p>
            <a:pPr marL="0" indent="0">
              <a:buNone/>
            </a:pPr>
            <a:r>
              <a:rPr lang="en-MY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39471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1108</TotalTime>
  <Words>1034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굴림</vt:lpstr>
      <vt:lpstr>Aptos</vt:lpstr>
      <vt:lpstr>Aptos Display</vt:lpstr>
      <vt:lpstr>Arial</vt:lpstr>
      <vt:lpstr>Courier New</vt:lpstr>
      <vt:lpstr>Times New Roman</vt:lpstr>
      <vt:lpstr>Office Theme</vt:lpstr>
      <vt:lpstr>Programming Fundamentals</vt:lpstr>
      <vt:lpstr>Structures</vt:lpstr>
      <vt:lpstr>Structure (Struct)</vt:lpstr>
      <vt:lpstr>Structure (Struct)</vt:lpstr>
      <vt:lpstr>Structure (Struct)</vt:lpstr>
      <vt:lpstr>Structure (Struct)</vt:lpstr>
      <vt:lpstr>Structure (Struct)</vt:lpstr>
      <vt:lpstr>Structure (Struct)</vt:lpstr>
      <vt:lpstr>Access members of a struct</vt:lpstr>
      <vt:lpstr>Example of Struct</vt:lpstr>
      <vt:lpstr>Example of Struct (Initialize)</vt:lpstr>
      <vt:lpstr>C++ program that demonstrates how to store student details (name, roll number, batch name, and age) in a structure and print them using a function.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Suhail Asghar Qureshi</dc:creator>
  <cp:lastModifiedBy>Suhail Asghar Qureshi</cp:lastModifiedBy>
  <cp:revision>324</cp:revision>
  <dcterms:created xsi:type="dcterms:W3CDTF">2025-11-02T12:21:22Z</dcterms:created>
  <dcterms:modified xsi:type="dcterms:W3CDTF">2026-01-05T20:58:07Z</dcterms:modified>
</cp:coreProperties>
</file>