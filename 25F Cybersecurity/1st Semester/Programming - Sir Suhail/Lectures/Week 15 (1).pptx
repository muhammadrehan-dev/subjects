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2" r:id="rId1"/>
  </p:sldMasterIdLst>
  <p:sldIdLst>
    <p:sldId id="375" r:id="rId2"/>
    <p:sldId id="376" r:id="rId3"/>
    <p:sldId id="378" r:id="rId4"/>
    <p:sldId id="379" r:id="rId5"/>
    <p:sldId id="380" r:id="rId6"/>
    <p:sldId id="381" r:id="rId7"/>
    <p:sldId id="377" r:id="rId8"/>
    <p:sldId id="382" r:id="rId9"/>
    <p:sldId id="383" r:id="rId10"/>
    <p:sldId id="384" r:id="rId11"/>
    <p:sldId id="385" r:id="rId12"/>
    <p:sldId id="386" r:id="rId13"/>
    <p:sldId id="38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AAF83-3214-661E-527B-751A2F8DB5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17385D-52C3-2307-76FF-0C5949F266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086561-440F-7174-C47F-CE9498068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7005-ED39-4D18-98FC-B11458D1253A}" type="datetimeFigureOut">
              <a:rPr lang="en-MY" smtClean="0"/>
              <a:t>7/1/2026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C9466-1764-A658-3D0D-C59DA27E8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E853D4-B9C2-63E6-165C-3A4ED7151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31732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D9E43-9A58-2157-1272-2761C1F58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90479-83CD-D774-D826-0B5F365C2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A174C-8880-0DF8-24C7-930C93C19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7005-ED39-4D18-98FC-B11458D1253A}" type="datetimeFigureOut">
              <a:rPr lang="en-MY" smtClean="0"/>
              <a:t>7/1/2026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ADAC4-7273-703A-1FC3-6B092F76D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1FBC6-04F2-9268-FE23-20CB223F2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9892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11641-8B2C-26B7-0009-F9D83D22B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4A08C9-745A-C358-8FB2-0CA09B14D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3104C-6556-EAA3-22AC-D3C78862A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7005-ED39-4D18-98FC-B11458D1253A}" type="datetimeFigureOut">
              <a:rPr lang="en-MY" smtClean="0"/>
              <a:t>7/1/2026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B1BF4-782E-402B-A24C-D4B9EB086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1D4847-C020-6FAB-FDF1-3E7DDF529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83650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8B3ED-D358-5B63-2ED0-1AD02652F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7C466-42DB-E8C7-DA1A-75FC3890BE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66C231-D689-EE22-E309-84866031D5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86E8BB-183E-1CA2-C8B4-4981A722D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7005-ED39-4D18-98FC-B11458D1253A}" type="datetimeFigureOut">
              <a:rPr lang="en-MY" smtClean="0"/>
              <a:t>7/1/2026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8D69BF-E0D1-6910-B178-D3AEBC2B4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B6A357-D24B-4A12-275D-EC5114190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75507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BD588-6071-1E8F-7E23-18C7BBE20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9BBE73-F929-875B-5BA4-4FA92CBD6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5F7BE0-EEEA-E4BC-184D-7C8B561787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9A2868-0463-60A1-94BA-D292273E2D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97B9F-BB65-7695-8E79-4E730E527D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FBC7A5-2D04-986B-6B0D-C99C9B10D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7005-ED39-4D18-98FC-B11458D1253A}" type="datetimeFigureOut">
              <a:rPr lang="en-MY" smtClean="0"/>
              <a:t>7/1/2026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D6FA71-1367-6F7F-1FC4-32B1D88F9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2F0358-0119-9286-EE52-6ADECB2C7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85710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E6455-F0C8-C66A-EDD7-9EB841026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00DA48-20A3-EBA5-9432-6DC313C0D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7005-ED39-4D18-98FC-B11458D1253A}" type="datetimeFigureOut">
              <a:rPr lang="en-MY" smtClean="0"/>
              <a:t>7/1/2026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931C67-ECC1-E55C-34B5-7E553ACAD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D31236-593B-E67D-57F8-7BEF02CC8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50970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65A70E-6431-ADCC-66A2-4D42B14F5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7005-ED39-4D18-98FC-B11458D1253A}" type="datetimeFigureOut">
              <a:rPr lang="en-MY" smtClean="0"/>
              <a:t>7/1/2026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0046D7-5799-FB56-332C-40C5A10A9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E264CC-AD9D-1ADA-F941-410D27063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15158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F2C7C-424D-C13F-065C-E4BE2E50D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B01E9-51F2-42B7-9868-3A1F8B252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2087D7-3D91-F5DB-39DA-CB4789E272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25428F-3CA1-2A4E-F46F-C54D69D2B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7005-ED39-4D18-98FC-B11458D1253A}" type="datetimeFigureOut">
              <a:rPr lang="en-MY" smtClean="0"/>
              <a:t>7/1/2026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4D2063-4B0A-1B50-EBB3-B15E1F0E4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B4A8DB-7332-C14E-239E-62B8ABF00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37556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863D1-4033-98A5-D627-C92CB99D2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25F712-6B68-A29A-7FDC-23A71497EA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CBBFCF-66A4-9857-2D63-41BD857E12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572E4F-AB6D-B575-7050-9D065D34E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7005-ED39-4D18-98FC-B11458D1253A}" type="datetimeFigureOut">
              <a:rPr lang="en-MY" smtClean="0"/>
              <a:t>7/1/2026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0DE816-C907-48C8-9EB4-52CA7C626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AFAD37-F001-CC1A-5121-EF57FCE3B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00931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37EA3-FBAE-58BF-CD40-606B965BB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83C08A-999F-6B3F-5791-0704540ACB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DB987-CCD8-765A-CF18-0DC899623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7005-ED39-4D18-98FC-B11458D1253A}" type="datetimeFigureOut">
              <a:rPr lang="en-MY" smtClean="0"/>
              <a:t>7/1/2026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426FAA-035A-4C99-02FE-ECAFB187F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D72FF-3772-052D-9CA5-83A528D4F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28904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DAC102-CAD0-A621-52C1-B2434CFBAB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6C7C37-3301-05D2-A797-60C2AAD392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D5F17-F9DE-6473-F187-FCC83458B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7005-ED39-4D18-98FC-B11458D1253A}" type="datetimeFigureOut">
              <a:rPr lang="en-MY" smtClean="0"/>
              <a:t>7/1/2026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DF85AD-61F4-1ACF-4FCB-350DAB9D8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A81AC-D9AA-AB59-F4F2-72416D960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3894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7A286E-16D1-DFDE-4989-251692009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4A3A9E-9170-79FC-892A-2FDFE7D784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8AA05-8C45-7F92-B571-47484BFFE5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9D7005-ED39-4D18-98FC-B11458D1253A}" type="datetimeFigureOut">
              <a:rPr lang="en-MY" smtClean="0"/>
              <a:t>7/1/2026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554605-74C0-82DD-5DA1-53054870BB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C8B90-C5A0-99EC-03CB-EBCE48FD36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23022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0E5D0-2CD4-CAF2-C101-EC4E06C7A1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31701" y="1629928"/>
            <a:ext cx="8042594" cy="1799072"/>
          </a:xfrm>
        </p:spPr>
        <p:txBody>
          <a:bodyPr>
            <a:normAutofit/>
          </a:bodyPr>
          <a:lstStyle/>
          <a:p>
            <a:pPr algn="l"/>
            <a:r>
              <a:rPr lang="en-MY" sz="5100" dirty="0"/>
              <a:t>Programming Fundamentals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949475-5A97-3362-5A27-F05282FEA4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40266" y="3631925"/>
            <a:ext cx="5111468" cy="1176049"/>
          </a:xfrm>
        </p:spPr>
        <p:txBody>
          <a:bodyPr>
            <a:normAutofit/>
          </a:bodyPr>
          <a:lstStyle/>
          <a:p>
            <a:r>
              <a:rPr lang="en-MY" sz="2800" dirty="0"/>
              <a:t>By</a:t>
            </a:r>
          </a:p>
          <a:p>
            <a:r>
              <a:rPr lang="en-MY" sz="2800" dirty="0"/>
              <a:t>Dr Suhail Asghar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8A9202-0984-BC2F-2BF6-830C9E5AF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</a:t>
            </a:fld>
            <a:endParaRPr lang="en-US"/>
          </a:p>
        </p:txBody>
      </p:sp>
      <p:pic>
        <p:nvPicPr>
          <p:cNvPr id="1026" name="Picture 2" descr="Information Technology – Dawood University of Engineering &amp; Technology  Karachi">
            <a:extLst>
              <a:ext uri="{FF2B5EF4-FFF2-40B4-BE49-F238E27FC236}">
                <a16:creationId xmlns:a16="http://schemas.microsoft.com/office/drawing/2014/main" id="{FF6F0A6A-918B-C08F-5BEB-8FB45EE66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52162" y="231819"/>
            <a:ext cx="1579539" cy="1195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828C45A9-887D-E099-0474-F00A5ED0DD60}"/>
              </a:ext>
            </a:extLst>
          </p:cNvPr>
          <p:cNvSpPr txBox="1">
            <a:spLocks/>
          </p:cNvSpPr>
          <p:nvPr/>
        </p:nvSpPr>
        <p:spPr>
          <a:xfrm>
            <a:off x="1486237" y="6025542"/>
            <a:ext cx="9500901" cy="51337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Dawood University Of Engineering &amp; Technology Karachi</a:t>
            </a:r>
            <a:endParaRPr lang="en-MY" sz="2800" dirty="0"/>
          </a:p>
        </p:txBody>
      </p:sp>
    </p:spTree>
    <p:extLst>
      <p:ext uri="{BB962C8B-B14F-4D97-AF65-F5344CB8AC3E}">
        <p14:creationId xmlns:p14="http://schemas.microsoft.com/office/powerpoint/2010/main" val="1651247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7991C-D3E8-0062-51E7-3DC5C92D39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MY" dirty="0"/>
              <a:t>Object-Oriented Programming (OOP)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A0AA54D-A37E-9FBE-B3A3-C0D64F8744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42914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F323F-0B80-DE56-CFFF-2480DF86F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Object-Oriented Programming?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A80C0-81A6-6436-D70F-9FAA0F5C526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Motivation: Procedural programming organizes code around </a:t>
            </a:r>
            <a:r>
              <a:rPr lang="en-US" i="1" dirty="0"/>
              <a:t>functions</a:t>
            </a:r>
            <a:r>
              <a:rPr lang="en-US" dirty="0"/>
              <a:t>. OOP organizes code around </a:t>
            </a:r>
            <a:r>
              <a:rPr lang="en-US" i="1" dirty="0"/>
              <a:t>objects</a:t>
            </a:r>
            <a:r>
              <a:rPr lang="en-US" dirty="0"/>
              <a:t> that combine:</a:t>
            </a:r>
          </a:p>
          <a:p>
            <a:pPr lvl="1"/>
            <a:r>
              <a:rPr lang="en-US" dirty="0"/>
              <a:t>Data (attributes)</a:t>
            </a:r>
          </a:p>
          <a:p>
            <a:pPr lvl="1"/>
            <a:r>
              <a:rPr lang="en-US" dirty="0"/>
              <a:t>Behavior (methods)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4992D2-5EC6-E15A-BB33-5217FF3B2D4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Benefits</a:t>
            </a:r>
          </a:p>
          <a:p>
            <a:pPr lvl="1"/>
            <a:r>
              <a:rPr lang="en-US" dirty="0"/>
              <a:t>Modularity</a:t>
            </a:r>
          </a:p>
          <a:p>
            <a:pPr lvl="1"/>
            <a:r>
              <a:rPr lang="en-US" dirty="0"/>
              <a:t>Reusability</a:t>
            </a:r>
          </a:p>
          <a:p>
            <a:pPr lvl="1"/>
            <a:r>
              <a:rPr lang="en-US" dirty="0"/>
              <a:t>Maintainability</a:t>
            </a:r>
          </a:p>
          <a:p>
            <a:pPr lvl="1"/>
            <a:r>
              <a:rPr lang="en-US" dirty="0"/>
              <a:t>Scalability</a:t>
            </a:r>
          </a:p>
          <a:p>
            <a:pPr lvl="1"/>
            <a:r>
              <a:rPr lang="en-US" dirty="0"/>
              <a:t>Better mapping to real-world systems</a:t>
            </a:r>
          </a:p>
          <a:p>
            <a:r>
              <a:rPr lang="en-US" dirty="0"/>
              <a:t>Real‑World Analogy</a:t>
            </a:r>
          </a:p>
          <a:p>
            <a:r>
              <a:rPr lang="en-US" dirty="0"/>
              <a:t>A Student is not just data (name, roll no) or behavior (study, attend). It is a </a:t>
            </a:r>
            <a:r>
              <a:rPr lang="en-US" i="1" dirty="0"/>
              <a:t>unit</a:t>
            </a:r>
            <a:r>
              <a:rPr lang="en-US" dirty="0"/>
              <a:t> containing both.</a:t>
            </a:r>
          </a:p>
        </p:txBody>
      </p:sp>
    </p:spTree>
    <p:extLst>
      <p:ext uri="{BB962C8B-B14F-4D97-AF65-F5344CB8AC3E}">
        <p14:creationId xmlns:p14="http://schemas.microsoft.com/office/powerpoint/2010/main" val="2057431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E684A-5F74-1C98-C840-E507FB871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OOP Concepts</a:t>
            </a:r>
            <a:endParaRPr lang="en-MY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6732B-AEC5-E053-4AB7-240DC4118E3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 – Blueprint</a:t>
            </a:r>
          </a:p>
          <a:p>
            <a:r>
              <a:rPr lang="en-US" dirty="0"/>
              <a:t>Object – Instance of a class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241C46-BF25-B798-59AB-302E573AFD9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Encapsulation: Data hiding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Abstraction: Essential features only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Inheritance: Reuse &amp; extension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Polymorphism: One interface, many behaviors</a:t>
            </a:r>
          </a:p>
        </p:txBody>
      </p:sp>
    </p:spTree>
    <p:extLst>
      <p:ext uri="{BB962C8B-B14F-4D97-AF65-F5344CB8AC3E}">
        <p14:creationId xmlns:p14="http://schemas.microsoft.com/office/powerpoint/2010/main" val="841404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777BC-8629-3876-4A36-B0BEBF1EF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Classes and Objects in C++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A9240-D387-25AA-FDB9-EC0EFACC54F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MY" dirty="0"/>
              <a:t>Class Definition</a:t>
            </a:r>
          </a:p>
          <a:p>
            <a:pPr marL="0" indent="0">
              <a:buNone/>
            </a:pPr>
            <a:endParaRPr lang="en-MY" dirty="0"/>
          </a:p>
          <a:p>
            <a:pPr marL="0" indent="0">
              <a:buNone/>
            </a:pPr>
            <a:r>
              <a:rPr lang="en-MY" dirty="0"/>
              <a:t>class Student {</a:t>
            </a:r>
          </a:p>
          <a:p>
            <a:pPr marL="0" indent="0">
              <a:buNone/>
            </a:pPr>
            <a:r>
              <a:rPr lang="en-MY" dirty="0"/>
              <a:t>public:</a:t>
            </a:r>
          </a:p>
          <a:p>
            <a:pPr marL="0" indent="0">
              <a:buNone/>
            </a:pPr>
            <a:r>
              <a:rPr lang="en-MY" dirty="0"/>
              <a:t>int </a:t>
            </a:r>
            <a:r>
              <a:rPr lang="en-MY" dirty="0" err="1"/>
              <a:t>rollNo</a:t>
            </a:r>
            <a:r>
              <a:rPr lang="en-MY" dirty="0"/>
              <a:t>;</a:t>
            </a:r>
          </a:p>
          <a:p>
            <a:pPr marL="0" indent="0">
              <a:buNone/>
            </a:pPr>
            <a:r>
              <a:rPr lang="en-MY" dirty="0"/>
              <a:t>string name;</a:t>
            </a:r>
            <a:br>
              <a:rPr lang="en-MY" dirty="0"/>
            </a:br>
            <a:endParaRPr lang="en-MY" dirty="0"/>
          </a:p>
          <a:p>
            <a:pPr marL="0" indent="0">
              <a:buNone/>
            </a:pPr>
            <a:r>
              <a:rPr lang="en-MY" dirty="0"/>
              <a:t>void display() {</a:t>
            </a:r>
          </a:p>
          <a:p>
            <a:pPr marL="0" indent="0">
              <a:buNone/>
            </a:pPr>
            <a:r>
              <a:rPr lang="en-MY" dirty="0" err="1"/>
              <a:t>cout</a:t>
            </a:r>
            <a:r>
              <a:rPr lang="en-MY" dirty="0"/>
              <a:t> &lt;&lt; </a:t>
            </a:r>
            <a:r>
              <a:rPr lang="en-MY" dirty="0" err="1"/>
              <a:t>rollNo</a:t>
            </a:r>
            <a:r>
              <a:rPr lang="en-MY" dirty="0"/>
              <a:t> &lt;&lt; " " &lt;&lt; name &lt;&lt; </a:t>
            </a:r>
            <a:r>
              <a:rPr lang="en-MY" dirty="0" err="1"/>
              <a:t>endl</a:t>
            </a:r>
            <a:r>
              <a:rPr lang="en-MY" dirty="0"/>
              <a:t>;</a:t>
            </a:r>
          </a:p>
          <a:p>
            <a:pPr marL="0" indent="0">
              <a:buNone/>
            </a:pPr>
            <a:r>
              <a:rPr lang="en-MY" dirty="0"/>
              <a:t>}	};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A7EF7D-A83C-87DA-F781-1DD5118AB17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MY" dirty="0"/>
              <a:t>Object Creation</a:t>
            </a:r>
          </a:p>
          <a:p>
            <a:endParaRPr lang="en-MY" dirty="0"/>
          </a:p>
          <a:p>
            <a:pPr marL="0" indent="0">
              <a:buNone/>
            </a:pPr>
            <a:r>
              <a:rPr lang="en-MY" dirty="0"/>
              <a:t>Student s1;</a:t>
            </a:r>
          </a:p>
          <a:p>
            <a:pPr marL="0" indent="0">
              <a:buNone/>
            </a:pPr>
            <a:r>
              <a:rPr lang="en-MY" dirty="0"/>
              <a:t>s1.rollNo = 101;</a:t>
            </a:r>
          </a:p>
          <a:p>
            <a:pPr marL="0" indent="0">
              <a:buNone/>
            </a:pPr>
            <a:r>
              <a:rPr lang="en-MY" dirty="0"/>
              <a:t>s1.name = "Ali";</a:t>
            </a:r>
          </a:p>
          <a:p>
            <a:pPr marL="0" indent="0">
              <a:buNone/>
            </a:pPr>
            <a:r>
              <a:rPr lang="en-MY" dirty="0"/>
              <a:t>s1.display();</a:t>
            </a:r>
          </a:p>
          <a:p>
            <a:pPr marL="0" indent="0">
              <a:buNone/>
            </a:pP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793717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36EEF-0D42-7ADC-E7CF-96A572EE7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Encapsulation &amp; Access Specifiers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97140-134B-209F-D439-789F7426CCC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/>
              <a:t>Access Levels</a:t>
            </a:r>
          </a:p>
          <a:p>
            <a:r>
              <a:rPr lang="en-US" dirty="0"/>
              <a:t>Public: accessible everywhere</a:t>
            </a:r>
          </a:p>
          <a:p>
            <a:r>
              <a:rPr lang="en-US" dirty="0"/>
              <a:t>Private“: accessible only inside class</a:t>
            </a:r>
          </a:p>
          <a:p>
            <a:r>
              <a:rPr lang="en-US" dirty="0"/>
              <a:t>Protected: for inheritance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CBF533-7029-519C-D830-90607853490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05142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BA82B-02DE-69C4-6746-F9C33267A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943168" cy="1325563"/>
          </a:xfrm>
        </p:spPr>
        <p:txBody>
          <a:bodyPr/>
          <a:lstStyle/>
          <a:p>
            <a:r>
              <a:rPr lang="en-MY" dirty="0"/>
              <a:t>Encapsulation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72B72F-5135-B100-CAE5-A82462C651E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Wrapping data and functions together AND controlling access to that data.</a:t>
            </a:r>
          </a:p>
          <a:p>
            <a:r>
              <a:rPr lang="en-US" dirty="0"/>
              <a:t>Access Levels</a:t>
            </a:r>
          </a:p>
          <a:p>
            <a:pPr lvl="1"/>
            <a:r>
              <a:rPr lang="en-US" dirty="0"/>
              <a:t>Public: accessible everywhere</a:t>
            </a:r>
          </a:p>
          <a:p>
            <a:pPr lvl="1"/>
            <a:r>
              <a:rPr lang="en-US" dirty="0"/>
              <a:t>Private: accessible only inside class</a:t>
            </a:r>
          </a:p>
          <a:p>
            <a:pPr lvl="1"/>
            <a:r>
              <a:rPr lang="en-US" dirty="0"/>
              <a:t>Protected: for inheritance</a:t>
            </a:r>
          </a:p>
          <a:p>
            <a:endParaRPr lang="en-MY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4B79E6E-4B73-78A5-B525-9D46E97F18F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class Student {</a:t>
            </a:r>
          </a:p>
          <a:p>
            <a:pPr marL="0" indent="0">
              <a:buNone/>
            </a:pPr>
            <a:r>
              <a:rPr lang="en-US" dirty="0"/>
              <a:t>private:</a:t>
            </a:r>
          </a:p>
          <a:p>
            <a:pPr marL="0" indent="0">
              <a:buNone/>
            </a:pPr>
            <a:r>
              <a:rPr lang="en-US" dirty="0"/>
              <a:t>    int marks;</a:t>
            </a:r>
          </a:p>
          <a:p>
            <a:pPr marL="0" indent="0">
              <a:buNone/>
            </a:pPr>
            <a:r>
              <a:rPr lang="en-US" dirty="0"/>
              <a:t>public:</a:t>
            </a:r>
          </a:p>
          <a:p>
            <a:pPr marL="0" indent="0">
              <a:buNone/>
            </a:pPr>
            <a:r>
              <a:rPr lang="en-US" dirty="0"/>
              <a:t>    void </a:t>
            </a:r>
            <a:r>
              <a:rPr lang="en-US" dirty="0" err="1"/>
              <a:t>setMarks</a:t>
            </a:r>
            <a:r>
              <a:rPr lang="en-US" dirty="0"/>
              <a:t>(int m) {</a:t>
            </a:r>
          </a:p>
          <a:p>
            <a:pPr marL="0" indent="0">
              <a:buNone/>
            </a:pPr>
            <a:r>
              <a:rPr lang="en-US" dirty="0"/>
              <a:t>        if (m &gt;= 0 &amp;&amp; m &lt;= 100)</a:t>
            </a:r>
          </a:p>
          <a:p>
            <a:pPr marL="0" indent="0">
              <a:buNone/>
            </a:pPr>
            <a:r>
              <a:rPr lang="en-US" dirty="0"/>
              <a:t>            marks = m;    }</a:t>
            </a:r>
          </a:p>
          <a:p>
            <a:pPr marL="0" indent="0">
              <a:buNone/>
            </a:pPr>
            <a:r>
              <a:rPr lang="en-US" dirty="0"/>
              <a:t>    int </a:t>
            </a:r>
            <a:r>
              <a:rPr lang="en-US" dirty="0" err="1"/>
              <a:t>getMarks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        return marks;</a:t>
            </a:r>
          </a:p>
          <a:p>
            <a:pPr marL="0" indent="0">
              <a:buNone/>
            </a:pPr>
            <a:r>
              <a:rPr lang="en-US" dirty="0"/>
              <a:t>    }	};</a:t>
            </a:r>
            <a:endParaRPr lang="en-MY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FD4C82-309B-B353-D5FA-D71FAB5CBDE4}"/>
              </a:ext>
            </a:extLst>
          </p:cNvPr>
          <p:cNvSpPr txBox="1"/>
          <p:nvPr/>
        </p:nvSpPr>
        <p:spPr>
          <a:xfrm>
            <a:off x="6172200" y="643185"/>
            <a:ext cx="563634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4400" dirty="0">
                <a:latin typeface="+mj-lt"/>
                <a:ea typeface="+mj-ea"/>
                <a:cs typeface="+mj-cs"/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1033580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56E4E-DC9F-DC99-BD0D-66336A759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Inheritance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B4992C-9139-1CEB-2BA7-759DEF79E1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18BC4-56EC-1252-0BE0-81E5AB2EF79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Purpose</a:t>
            </a:r>
            <a:endParaRPr lang="en-US" b="1" noProof="0" dirty="0"/>
          </a:p>
          <a:p>
            <a:pPr lvl="1"/>
            <a:r>
              <a:rPr lang="en-US" noProof="0" dirty="0"/>
              <a:t>Code reuse</a:t>
            </a:r>
          </a:p>
          <a:p>
            <a:pPr lvl="1"/>
            <a:r>
              <a:rPr lang="en-US" noProof="0" dirty="0"/>
              <a:t>Logical hierarchy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Types of Inheritance</a:t>
            </a:r>
          </a:p>
          <a:p>
            <a:pPr lvl="1"/>
            <a:r>
              <a:rPr lang="en-US" dirty="0"/>
              <a:t>Single</a:t>
            </a:r>
          </a:p>
          <a:p>
            <a:pPr lvl="1"/>
            <a:r>
              <a:rPr lang="en-US" dirty="0"/>
              <a:t>Multilevel</a:t>
            </a:r>
          </a:p>
          <a:p>
            <a:pPr lvl="1"/>
            <a:r>
              <a:rPr lang="en-US" dirty="0"/>
              <a:t>Hierarchical</a:t>
            </a:r>
          </a:p>
          <a:p>
            <a:pPr lvl="1"/>
            <a:r>
              <a:rPr lang="en-US" dirty="0"/>
              <a:t>Multiple (with caution)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AAB6E28-4A6A-3207-804E-D9EE8E081C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MY" dirty="0"/>
              <a:t>Syntax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18C5E66-C939-D436-EAE6-8DF6BDE5165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class Person {</a:t>
            </a:r>
          </a:p>
          <a:p>
            <a:pPr marL="0" indent="0">
              <a:buNone/>
            </a:pPr>
            <a:r>
              <a:rPr lang="en-US" dirty="0"/>
              <a:t>public:</a:t>
            </a:r>
          </a:p>
          <a:p>
            <a:pPr marL="0" indent="0">
              <a:buNone/>
            </a:pPr>
            <a:r>
              <a:rPr lang="en-US" dirty="0"/>
              <a:t>string name;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Student : public Person {</a:t>
            </a:r>
          </a:p>
          <a:p>
            <a:pPr marL="0" indent="0">
              <a:buNone/>
            </a:pPr>
            <a:r>
              <a:rPr lang="en-US" dirty="0"/>
              <a:t>public:</a:t>
            </a:r>
          </a:p>
          <a:p>
            <a:pPr marL="0" indent="0">
              <a:buNone/>
            </a:pPr>
            <a:r>
              <a:rPr lang="en-US" dirty="0"/>
              <a:t>int </a:t>
            </a:r>
            <a:r>
              <a:rPr lang="en-US" dirty="0" err="1"/>
              <a:t>rollNo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6084605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D2B33C0-57C2-6C44-35C0-4FB844721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Write a C++ program to demonstrate single inheritance using a base class Animal and a derived class Dog. The base class should contain a data member name and a member function eat(). The derived class should contain a member function bark().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DA34CA2-6F65-99E7-EA1A-398F4ED3BB1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#include &lt;iostream&gt;</a:t>
            </a:r>
          </a:p>
          <a:p>
            <a:pPr marL="0" indent="0">
              <a:buNone/>
            </a:pPr>
            <a:r>
              <a:rPr lang="en-US" dirty="0"/>
              <a:t>using namespace std;</a:t>
            </a:r>
          </a:p>
          <a:p>
            <a:pPr marL="0" indent="0">
              <a:buNone/>
            </a:pPr>
            <a:r>
              <a:rPr lang="en-US" dirty="0"/>
              <a:t>class Animal {</a:t>
            </a:r>
          </a:p>
          <a:p>
            <a:pPr marL="0" indent="0">
              <a:buNone/>
            </a:pPr>
            <a:r>
              <a:rPr lang="en-US" dirty="0"/>
              <a:t>protected:</a:t>
            </a:r>
          </a:p>
          <a:p>
            <a:pPr marL="0" indent="0">
              <a:buNone/>
            </a:pPr>
            <a:r>
              <a:rPr lang="en-US" dirty="0"/>
              <a:t>    string name;   // accessible in derived class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public:</a:t>
            </a:r>
          </a:p>
          <a:p>
            <a:pPr marL="0" indent="0">
              <a:buNone/>
            </a:pPr>
            <a:r>
              <a:rPr lang="en-US" dirty="0"/>
              <a:t>    void </a:t>
            </a:r>
            <a:r>
              <a:rPr lang="en-US" dirty="0" err="1"/>
              <a:t>setName</a:t>
            </a:r>
            <a:r>
              <a:rPr lang="en-US" dirty="0"/>
              <a:t>(string n) {</a:t>
            </a:r>
          </a:p>
          <a:p>
            <a:pPr marL="0" indent="0">
              <a:buNone/>
            </a:pPr>
            <a:r>
              <a:rPr lang="en-US" dirty="0"/>
              <a:t>        name = n;    }</a:t>
            </a:r>
          </a:p>
          <a:p>
            <a:pPr marL="0" indent="0">
              <a:buNone/>
            </a:pPr>
            <a:r>
              <a:rPr lang="en-US" dirty="0"/>
              <a:t>    void eat()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name &lt;&lt; " is eating"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}	};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8D7B6D8-7606-F6EF-15F3-5393BA0432E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class Dog : public Animal {   // public inheritance</a:t>
            </a:r>
          </a:p>
          <a:p>
            <a:pPr marL="0" indent="0">
              <a:buNone/>
            </a:pPr>
            <a:r>
              <a:rPr lang="en-US" dirty="0"/>
              <a:t>public:</a:t>
            </a:r>
          </a:p>
          <a:p>
            <a:pPr marL="0" indent="0">
              <a:buNone/>
            </a:pPr>
            <a:r>
              <a:rPr lang="en-US" dirty="0"/>
              <a:t>    void bark()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name &lt;&lt; " is barking"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}	};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int main() {</a:t>
            </a:r>
          </a:p>
          <a:p>
            <a:pPr marL="0" indent="0">
              <a:buNone/>
            </a:pPr>
            <a:r>
              <a:rPr lang="en-US" dirty="0"/>
              <a:t>    Dog d;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d.setName</a:t>
            </a:r>
            <a:r>
              <a:rPr lang="en-US" dirty="0"/>
              <a:t>("Buddy");  // inherited function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d.eat</a:t>
            </a:r>
            <a:r>
              <a:rPr lang="en-US" dirty="0"/>
              <a:t>();             // inherited function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d.bark</a:t>
            </a:r>
            <a:r>
              <a:rPr lang="en-US" dirty="0"/>
              <a:t>();            // own function</a:t>
            </a:r>
          </a:p>
          <a:p>
            <a:pPr marL="0" indent="0">
              <a:buNone/>
            </a:pPr>
            <a:r>
              <a:rPr lang="en-US" dirty="0"/>
              <a:t>    return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69857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00111-2A1C-9D47-376B-AB7E39BA2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F30F4-DF00-0D2E-A301-AC650C4AF38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Abstraction is the process of exposing only the essential features of an object while hiding the implementation details. </a:t>
            </a:r>
          </a:p>
          <a:p>
            <a:r>
              <a:rPr lang="en-US" dirty="0"/>
              <a:t>It answers the question: what an object does, not how it does it.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01BA10-69DC-FF66-50C8-FB0D34EE597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Purpose</a:t>
            </a:r>
          </a:p>
          <a:p>
            <a:pPr lvl="1"/>
            <a:r>
              <a:rPr lang="en-US" dirty="0"/>
              <a:t>Reduce complexity</a:t>
            </a:r>
          </a:p>
          <a:p>
            <a:pPr lvl="1"/>
            <a:r>
              <a:rPr lang="en-US" dirty="0"/>
              <a:t>Improve maintainability</a:t>
            </a:r>
          </a:p>
          <a:p>
            <a:pPr lvl="1"/>
            <a:r>
              <a:rPr lang="en-US" dirty="0"/>
              <a:t>Enforce a clear contract between interface and implementation</a:t>
            </a:r>
          </a:p>
          <a:p>
            <a:r>
              <a:rPr lang="en-US" dirty="0"/>
              <a:t>How Abstraction Is Achieved in C++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Abstract classes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Pure virtual functions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Interfaces (via abstract classes)</a:t>
            </a:r>
          </a:p>
        </p:txBody>
      </p:sp>
    </p:spTree>
    <p:extLst>
      <p:ext uri="{BB962C8B-B14F-4D97-AF65-F5344CB8AC3E}">
        <p14:creationId xmlns:p14="http://schemas.microsoft.com/office/powerpoint/2010/main" val="4136546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6510A-5F40-D16E-AD7B-475BB6B24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Example (Run-Time </a:t>
            </a:r>
            <a:r>
              <a:rPr lang="en-US" dirty="0"/>
              <a:t>Abstraction</a:t>
            </a:r>
            <a:r>
              <a:rPr lang="en-MY" dirty="0"/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53C53-7AB4-D125-0EA8-083B489BC11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#include &lt;iostream&gt;</a:t>
            </a:r>
          </a:p>
          <a:p>
            <a:pPr marL="0" indent="0">
              <a:buNone/>
            </a:pPr>
            <a:r>
              <a:rPr lang="en-US" dirty="0"/>
              <a:t>using namespace std;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Shape {	// Abstract class</a:t>
            </a:r>
          </a:p>
          <a:p>
            <a:pPr marL="0" indent="0">
              <a:buNone/>
            </a:pPr>
            <a:r>
              <a:rPr lang="en-US" dirty="0"/>
              <a:t>public:</a:t>
            </a:r>
          </a:p>
          <a:p>
            <a:pPr marL="0" indent="0">
              <a:buNone/>
            </a:pPr>
            <a:r>
              <a:rPr lang="en-US" dirty="0"/>
              <a:t>    virtual void draw() = 0;   // Pure virtual function     };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Circle : public Shape {	// Derived class</a:t>
            </a:r>
          </a:p>
          <a:p>
            <a:pPr marL="0" indent="0">
              <a:buNone/>
            </a:pPr>
            <a:r>
              <a:rPr lang="en-US" dirty="0"/>
              <a:t>public:</a:t>
            </a:r>
          </a:p>
          <a:p>
            <a:pPr marL="0" indent="0">
              <a:buNone/>
            </a:pPr>
            <a:r>
              <a:rPr lang="en-US" dirty="0"/>
              <a:t>    void draw()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"Drawing Circle"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}	};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F27BEF-3129-5E16-470A-654FF727EE8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int main() {</a:t>
            </a:r>
          </a:p>
          <a:p>
            <a:pPr marL="0" indent="0">
              <a:buNone/>
            </a:pPr>
            <a:r>
              <a:rPr lang="en-US" dirty="0"/>
              <a:t>    Shape* s;</a:t>
            </a:r>
          </a:p>
          <a:p>
            <a:pPr marL="0" indent="0">
              <a:buNone/>
            </a:pPr>
            <a:r>
              <a:rPr lang="en-US" dirty="0"/>
              <a:t>    Circle c;</a:t>
            </a:r>
          </a:p>
          <a:p>
            <a:pPr marL="0" indent="0">
              <a:buNone/>
            </a:pPr>
            <a:r>
              <a:rPr lang="en-US" dirty="0"/>
              <a:t>    s = &amp;c;</a:t>
            </a:r>
          </a:p>
          <a:p>
            <a:pPr marL="0" indent="0">
              <a:buNone/>
            </a:pPr>
            <a:r>
              <a:rPr lang="en-US" dirty="0"/>
              <a:t>    s-&gt;draw();</a:t>
            </a:r>
          </a:p>
          <a:p>
            <a:pPr marL="0" indent="0">
              <a:buNone/>
            </a:pPr>
            <a:r>
              <a:rPr lang="en-US" dirty="0"/>
              <a:t>    return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4849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E8C37-5E9A-2F1E-4A9A-C5FCCF4DE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Polymorphism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7CA90-8514-4D93-D9AF-F8AAB4DBD85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Polymorphism means one interface, multiple forms. It allows the same function call to behave differently depending on the object type.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2CEF64-5CAA-9C6B-3A1B-F410DF37212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Types of Polymorphism in C++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Compile-Time Polymorphism</a:t>
            </a:r>
          </a:p>
          <a:p>
            <a:pPr lvl="2"/>
            <a:r>
              <a:rPr lang="en-US" dirty="0"/>
              <a:t>Function overloading</a:t>
            </a:r>
          </a:p>
          <a:p>
            <a:pPr lvl="2"/>
            <a:r>
              <a:rPr lang="en-US" dirty="0"/>
              <a:t>Operator overloading</a:t>
            </a:r>
          </a:p>
          <a:p>
            <a:pPr marL="971550" lvl="1" indent="-514350">
              <a:buFont typeface="+mj-lt"/>
              <a:buAutoNum type="arabicPeriod" startAt="2"/>
            </a:pPr>
            <a:r>
              <a:rPr lang="en-US" dirty="0"/>
              <a:t>Run-Time Polymorphism</a:t>
            </a:r>
          </a:p>
          <a:p>
            <a:pPr lvl="2"/>
            <a:r>
              <a:rPr lang="en-US" dirty="0"/>
              <a:t>Function overriding</a:t>
            </a:r>
          </a:p>
          <a:p>
            <a:pPr lvl="2"/>
            <a:r>
              <a:rPr lang="en-US" dirty="0"/>
              <a:t>Achieved using virtual functions</a:t>
            </a:r>
          </a:p>
        </p:txBody>
      </p:sp>
    </p:spTree>
    <p:extLst>
      <p:ext uri="{BB962C8B-B14F-4D97-AF65-F5344CB8AC3E}">
        <p14:creationId xmlns:p14="http://schemas.microsoft.com/office/powerpoint/2010/main" val="12877046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21B9E-0383-BDEC-A834-106F543B1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Example (Run-Time Polymorphism)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63BEC-B674-503E-A17E-6F238B9460B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#include &lt;iostream&gt;</a:t>
            </a:r>
          </a:p>
          <a:p>
            <a:pPr marL="0" indent="0">
              <a:buNone/>
            </a:pPr>
            <a:r>
              <a:rPr lang="en-US" dirty="0"/>
              <a:t>using namespace std;</a:t>
            </a:r>
          </a:p>
          <a:p>
            <a:pPr marL="0" indent="0">
              <a:buNone/>
            </a:pPr>
            <a:r>
              <a:rPr lang="en-US" dirty="0"/>
              <a:t>class Animal {</a:t>
            </a:r>
          </a:p>
          <a:p>
            <a:pPr marL="0" indent="0">
              <a:buNone/>
            </a:pPr>
            <a:r>
              <a:rPr lang="en-US" dirty="0"/>
              <a:t>public:</a:t>
            </a:r>
          </a:p>
          <a:p>
            <a:pPr marL="0" indent="0">
              <a:buNone/>
            </a:pPr>
            <a:r>
              <a:rPr lang="en-US" dirty="0"/>
              <a:t>    virtual void sound()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"Animal makes a sound"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}	};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dirty="0"/>
              <a:t>class Dog : public Animal {</a:t>
            </a:r>
          </a:p>
          <a:p>
            <a:pPr marL="0" indent="0">
              <a:buNone/>
            </a:pPr>
            <a:r>
              <a:rPr lang="en-US" dirty="0"/>
              <a:t>public:</a:t>
            </a:r>
          </a:p>
          <a:p>
            <a:pPr marL="0" indent="0">
              <a:buNone/>
            </a:pPr>
            <a:r>
              <a:rPr lang="en-US" dirty="0"/>
              <a:t>    void sound()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"Dog barks" &lt;&lt; </a:t>
            </a:r>
            <a:r>
              <a:rPr lang="en-US" dirty="0" err="1"/>
              <a:t>endl</a:t>
            </a:r>
            <a:r>
              <a:rPr lang="en-US" dirty="0"/>
              <a:t>;    }	};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E80C87-6EAE-4889-7850-CA590F4D520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int main() {</a:t>
            </a:r>
          </a:p>
          <a:p>
            <a:pPr marL="0" indent="0">
              <a:buNone/>
            </a:pPr>
            <a:r>
              <a:rPr lang="en-US" dirty="0"/>
              <a:t>    Animal* a;</a:t>
            </a:r>
          </a:p>
          <a:p>
            <a:pPr marL="0" indent="0">
              <a:buNone/>
            </a:pPr>
            <a:r>
              <a:rPr lang="en-US" dirty="0"/>
              <a:t>    Dog d;</a:t>
            </a:r>
          </a:p>
          <a:p>
            <a:pPr marL="0" indent="0">
              <a:buNone/>
            </a:pPr>
            <a:r>
              <a:rPr lang="en-US" dirty="0"/>
              <a:t>    a = &amp;d;</a:t>
            </a:r>
          </a:p>
          <a:p>
            <a:pPr marL="0" indent="0">
              <a:buNone/>
            </a:pPr>
            <a:r>
              <a:rPr lang="en-US" dirty="0"/>
              <a:t>    a-&gt;sound();   // Calls Dog's sound()</a:t>
            </a:r>
          </a:p>
          <a:p>
            <a:pPr marL="0" indent="0">
              <a:buNone/>
            </a:pPr>
            <a:r>
              <a:rPr lang="en-US" dirty="0"/>
              <a:t>    return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Base-class pointer refers to derived-class object.</a:t>
            </a:r>
          </a:p>
          <a:p>
            <a:r>
              <a:rPr lang="en-US" dirty="0"/>
              <a:t>Correct function is chosen at runtime.</a:t>
            </a:r>
          </a:p>
          <a:p>
            <a:r>
              <a:rPr lang="en-US" dirty="0"/>
              <a:t>Requires virtual keyword.</a:t>
            </a:r>
          </a:p>
        </p:txBody>
      </p:sp>
    </p:spTree>
    <p:extLst>
      <p:ext uri="{BB962C8B-B14F-4D97-AF65-F5344CB8AC3E}">
        <p14:creationId xmlns:p14="http://schemas.microsoft.com/office/powerpoint/2010/main" val="3114666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1241</TotalTime>
  <Words>822</Words>
  <Application>Microsoft Office PowerPoint</Application>
  <PresentationFormat>Widescreen</PresentationFormat>
  <Paragraphs>174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Programming Fundamentals</vt:lpstr>
      <vt:lpstr>Object-Oriented Programming (OOP)</vt:lpstr>
      <vt:lpstr>Why Object-Oriented Programming?</vt:lpstr>
      <vt:lpstr>Core OOP Concepts</vt:lpstr>
      <vt:lpstr>Classes and Objects in C++</vt:lpstr>
      <vt:lpstr>Encapsulation &amp; Access Specifiers</vt:lpstr>
      <vt:lpstr>Encapsulation</vt:lpstr>
      <vt:lpstr>Inheritance</vt:lpstr>
      <vt:lpstr>Write a C++ program to demonstrate single inheritance using a base class Animal and a derived class Dog. The base class should contain a data member name and a member function eat(). The derived class should contain a member function bark().</vt:lpstr>
      <vt:lpstr>Abstraction</vt:lpstr>
      <vt:lpstr>Example (Run-Time Abstraction)</vt:lpstr>
      <vt:lpstr>Polymorphism</vt:lpstr>
      <vt:lpstr>Example (Run-Time Polymorphism)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Suhail Asghar Qureshi</dc:creator>
  <cp:lastModifiedBy>Suhail Asghar Qureshi</cp:lastModifiedBy>
  <cp:revision>369</cp:revision>
  <dcterms:created xsi:type="dcterms:W3CDTF">2025-11-02T12:21:22Z</dcterms:created>
  <dcterms:modified xsi:type="dcterms:W3CDTF">2026-01-06T22:09:13Z</dcterms:modified>
</cp:coreProperties>
</file>