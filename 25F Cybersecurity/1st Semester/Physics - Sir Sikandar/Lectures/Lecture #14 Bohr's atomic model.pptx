
<file path=[Content_Types].xml><?xml version="1.0" encoding="utf-8"?>
<Types xmlns="http://schemas.openxmlformats.org/package/2006/content-types">
  <Default Extension="bin" ContentType="audio/unknown"/>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31"/>
  </p:notesMasterIdLst>
  <p:sldIdLst>
    <p:sldId id="272" r:id="rId2"/>
    <p:sldId id="279" r:id="rId3"/>
    <p:sldId id="301" r:id="rId4"/>
    <p:sldId id="273" r:id="rId5"/>
    <p:sldId id="337" r:id="rId6"/>
    <p:sldId id="336" r:id="rId7"/>
    <p:sldId id="277" r:id="rId8"/>
    <p:sldId id="344" r:id="rId9"/>
    <p:sldId id="338" r:id="rId10"/>
    <p:sldId id="335" r:id="rId11"/>
    <p:sldId id="290" r:id="rId12"/>
    <p:sldId id="303" r:id="rId13"/>
    <p:sldId id="304" r:id="rId14"/>
    <p:sldId id="351" r:id="rId15"/>
    <p:sldId id="325" r:id="rId16"/>
    <p:sldId id="306" r:id="rId17"/>
    <p:sldId id="307" r:id="rId18"/>
    <p:sldId id="308" r:id="rId19"/>
    <p:sldId id="345" r:id="rId20"/>
    <p:sldId id="309" r:id="rId21"/>
    <p:sldId id="310" r:id="rId22"/>
    <p:sldId id="332" r:id="rId23"/>
    <p:sldId id="311" r:id="rId24"/>
    <p:sldId id="346" r:id="rId25"/>
    <p:sldId id="347" r:id="rId26"/>
    <p:sldId id="317" r:id="rId27"/>
    <p:sldId id="314" r:id="rId28"/>
    <p:sldId id="348" r:id="rId29"/>
    <p:sldId id="349" r:id="rId3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00FFFF"/>
    <a:srgbClr val="FFFF00"/>
    <a:srgbClr val="9933FF"/>
    <a:srgbClr val="9900CC"/>
    <a:srgbClr val="CC00CC"/>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E2747291-67A9-407D-B63D-751B2149B075}" type="datetimeFigureOut">
              <a:rPr lang="en-US"/>
              <a:pPr>
                <a:defRPr/>
              </a:pPr>
              <a:t>4/16/2023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ACC14B5-B6A5-458E-92A1-75A98596FC13}" type="slidenum">
              <a:rPr lang="en-US"/>
              <a:pPr>
                <a:defRPr/>
              </a:pPr>
              <a:t>‹#›</a:t>
            </a:fld>
            <a:endParaRPr lang="en-US"/>
          </a:p>
        </p:txBody>
      </p:sp>
    </p:spTree>
    <p:extLst>
      <p:ext uri="{BB962C8B-B14F-4D97-AF65-F5344CB8AC3E}">
        <p14:creationId xmlns:p14="http://schemas.microsoft.com/office/powerpoint/2010/main" val="39597119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8632342-A12B-45A5-ACFA-CF3FF23480EA}" type="slidenum">
              <a:rPr lang="en-US" altLang="en-US" sz="1200" smtClean="0"/>
              <a:pPr/>
              <a:t>3</a:t>
            </a:fld>
            <a:endParaRPr lang="en-US" altLang="en-US" sz="1200" smtClean="0"/>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extLst>
      <p:ext uri="{BB962C8B-B14F-4D97-AF65-F5344CB8AC3E}">
        <p14:creationId xmlns:p14="http://schemas.microsoft.com/office/powerpoint/2010/main" val="382240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4AF0245-3FD0-4282-B481-4349A06DCBAD}" type="slidenum">
              <a:rPr lang="en-US" altLang="en-US" sz="1200" smtClean="0"/>
              <a:pPr/>
              <a:t>6</a:t>
            </a:fld>
            <a:endParaRPr lang="en-US" altLang="en-US" sz="1200" smtClean="0"/>
          </a:p>
        </p:txBody>
      </p:sp>
    </p:spTree>
    <p:extLst>
      <p:ext uri="{BB962C8B-B14F-4D97-AF65-F5344CB8AC3E}">
        <p14:creationId xmlns:p14="http://schemas.microsoft.com/office/powerpoint/2010/main" val="2298771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7BBCCAB-9592-4E64-83E0-324E63F47BA8}" type="slidenum">
              <a:rPr lang="en-US" altLang="en-US" smtClean="0">
                <a:latin typeface="Arial" panose="020B0604020202020204" pitchFamily="34" charset="0"/>
                <a:ea typeface="MS PGothic" panose="020B0600070205080204" pitchFamily="34" charset="-128"/>
              </a:rPr>
              <a:pPr>
                <a:spcBef>
                  <a:spcPct val="0"/>
                </a:spcBef>
              </a:pPr>
              <a:t>13</a:t>
            </a:fld>
            <a:endParaRPr lang="en-US" altLang="en-US" smtClean="0">
              <a:latin typeface="Arial" panose="020B0604020202020204" pitchFamily="34" charset="0"/>
              <a:ea typeface="MS PGothic" panose="020B0600070205080204" pitchFamily="34" charset="-128"/>
            </a:endParaRPr>
          </a:p>
        </p:txBody>
      </p:sp>
      <p:sp>
        <p:nvSpPr>
          <p:cNvPr id="307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4284326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lvl1pPr eaLnBrk="0" hangingPunct="0">
              <a:defRPr sz="2400">
                <a:solidFill>
                  <a:schemeClr val="tx1"/>
                </a:solidFill>
                <a:latin typeface="Arial" charset="0"/>
                <a:ea typeface="ＭＳ Ｐゴシック" pitchFamily="34" charset="-128"/>
              </a:defRPr>
            </a:lvl1pPr>
            <a:lvl2pPr marL="742950" indent="-285750" eaLnBrk="0" hangingPunct="0">
              <a:defRPr sz="2400">
                <a:solidFill>
                  <a:schemeClr val="tx1"/>
                </a:solidFill>
                <a:latin typeface="Arial" charset="0"/>
                <a:ea typeface="ＭＳ Ｐゴシック" pitchFamily="34" charset="-128"/>
              </a:defRPr>
            </a:lvl2pPr>
            <a:lvl3pPr marL="1143000" indent="-228600" eaLnBrk="0" hangingPunct="0">
              <a:defRPr sz="2400">
                <a:solidFill>
                  <a:schemeClr val="tx1"/>
                </a:solidFill>
                <a:latin typeface="Arial" charset="0"/>
                <a:ea typeface="ＭＳ Ｐゴシック" pitchFamily="34" charset="-128"/>
              </a:defRPr>
            </a:lvl3pPr>
            <a:lvl4pPr marL="1600200" indent="-228600" eaLnBrk="0" hangingPunct="0">
              <a:defRPr sz="2400">
                <a:solidFill>
                  <a:schemeClr val="tx1"/>
                </a:solidFill>
                <a:latin typeface="Arial" charset="0"/>
                <a:ea typeface="ＭＳ Ｐゴシック" pitchFamily="34" charset="-128"/>
              </a:defRPr>
            </a:lvl4pPr>
            <a:lvl5pPr marL="2057400" indent="-228600" eaLnBrk="0" hangingPunct="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defRPr/>
            </a:pPr>
            <a:fld id="{5715752A-DEF4-40D8-8213-44DD43F9FA07}" type="slidenum">
              <a:rPr lang="en-US" sz="1200" smtClean="0"/>
              <a:pPr>
                <a:defRPr/>
              </a:pPr>
              <a:t>14</a:t>
            </a:fld>
            <a:endParaRPr lang="en-US" sz="1200" dirty="0" smtClean="0"/>
          </a:p>
        </p:txBody>
      </p:sp>
      <p:sp>
        <p:nvSpPr>
          <p:cNvPr id="7170" name="Rectangle 2"/>
          <p:cNvSpPr>
            <a:spLocks noGrp="1" noRot="1" noChangeAspect="1" noChangeArrowheads="1" noTextEdit="1"/>
          </p:cNvSpPr>
          <p:nvPr>
            <p:ph type="sldImg"/>
          </p:nvPr>
        </p:nvSpPr>
        <p:spPr>
          <a:ln/>
          <a:extLst/>
        </p:spPr>
      </p:sp>
      <p:sp>
        <p:nvSpPr>
          <p:cNvPr id="7171" name="Rectangle 3"/>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3961145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FB5BA08-75DF-42AB-8E12-EBCC4DA00152}" type="slidenum">
              <a:rPr lang="en-US" altLang="en-US" smtClean="0">
                <a:latin typeface="Arial" panose="020B0604020202020204" pitchFamily="34" charset="0"/>
                <a:ea typeface="MS PGothic" panose="020B0600070205080204" pitchFamily="34" charset="-128"/>
              </a:rPr>
              <a:pPr>
                <a:spcBef>
                  <a:spcPct val="0"/>
                </a:spcBef>
              </a:pPr>
              <a:t>16</a:t>
            </a:fld>
            <a:endParaRPr lang="en-US" altLang="en-US" smtClean="0">
              <a:latin typeface="Arial" panose="020B0604020202020204" pitchFamily="34" charset="0"/>
              <a:ea typeface="MS PGothic" panose="020B0600070205080204" pitchFamily="34" charset="-128"/>
            </a:endParaRPr>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2623669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4978F14-7E99-4D99-9293-1ADF31A1A26A}" type="slidenum">
              <a:rPr lang="en-US" altLang="en-US" smtClean="0">
                <a:latin typeface="Arial" panose="020B0604020202020204" pitchFamily="34" charset="0"/>
                <a:ea typeface="MS PGothic" panose="020B0600070205080204" pitchFamily="34" charset="-128"/>
              </a:rPr>
              <a:pPr>
                <a:spcBef>
                  <a:spcPct val="0"/>
                </a:spcBef>
              </a:pPr>
              <a:t>17</a:t>
            </a:fld>
            <a:endParaRPr lang="en-US" altLang="en-US" smtClean="0">
              <a:latin typeface="Arial" panose="020B0604020202020204" pitchFamily="34" charset="0"/>
              <a:ea typeface="MS PGothic" panose="020B0600070205080204" pitchFamily="34" charset="-128"/>
            </a:endParaRPr>
          </a:p>
        </p:txBody>
      </p:sp>
      <p:sp>
        <p:nvSpPr>
          <p:cNvPr id="378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1104067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758B96C-6CCA-4AA5-9AF5-AD258D13D6E5}" type="slidenum">
              <a:rPr lang="en-US" altLang="en-US" smtClean="0">
                <a:latin typeface="Arial" panose="020B0604020202020204" pitchFamily="34" charset="0"/>
                <a:ea typeface="MS PGothic" panose="020B0600070205080204" pitchFamily="34" charset="-128"/>
              </a:rPr>
              <a:pPr>
                <a:spcBef>
                  <a:spcPct val="0"/>
                </a:spcBef>
              </a:pPr>
              <a:t>18</a:t>
            </a:fld>
            <a:endParaRPr lang="en-US" altLang="en-US" smtClean="0">
              <a:latin typeface="Arial" panose="020B0604020202020204" pitchFamily="34" charset="0"/>
              <a:ea typeface="MS PGothic" panose="020B0600070205080204" pitchFamily="34" charset="-128"/>
            </a:endParaRPr>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1329815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1B7D79-DCE4-4BE9-9E7B-234C5E217531}" type="slidenum">
              <a:rPr lang="en-US" altLang="en-US" smtClean="0">
                <a:latin typeface="Arial" panose="020B0604020202020204" pitchFamily="34" charset="0"/>
                <a:ea typeface="MS PGothic" panose="020B0600070205080204" pitchFamily="34" charset="-128"/>
              </a:rPr>
              <a:pPr>
                <a:spcBef>
                  <a:spcPct val="0"/>
                </a:spcBef>
              </a:pPr>
              <a:t>20</a:t>
            </a:fld>
            <a:endParaRPr lang="en-US" altLang="en-US" smtClean="0">
              <a:latin typeface="Arial" panose="020B0604020202020204" pitchFamily="34" charset="0"/>
              <a:ea typeface="MS PGothic" panose="020B0600070205080204" pitchFamily="34" charset="-128"/>
            </a:endParaRPr>
          </a:p>
        </p:txBody>
      </p:sp>
      <p:sp>
        <p:nvSpPr>
          <p:cNvPr id="430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3720068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3E05A05-49C2-4FF6-ACE5-45324BF075CA}" type="slidenum">
              <a:rPr lang="en-US" altLang="en-US" smtClean="0">
                <a:latin typeface="Arial" panose="020B0604020202020204" pitchFamily="34" charset="0"/>
                <a:ea typeface="MS PGothic" panose="020B0600070205080204" pitchFamily="34" charset="-128"/>
              </a:rPr>
              <a:pPr>
                <a:spcBef>
                  <a:spcPct val="0"/>
                </a:spcBef>
              </a:pPr>
              <a:t>21</a:t>
            </a:fld>
            <a:endParaRPr lang="en-US" altLang="en-US" smtClean="0">
              <a:latin typeface="Arial" panose="020B0604020202020204" pitchFamily="34" charset="0"/>
              <a:ea typeface="MS PGothic" panose="020B0600070205080204" pitchFamily="34" charset="-128"/>
            </a:endParaRPr>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3772111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ED35305-5A8F-4D86-90EA-D8E85A3AD464}" type="slidenum">
              <a:rPr lang="en-US" altLang="en-US" smtClean="0">
                <a:latin typeface="Arial" panose="020B0604020202020204" pitchFamily="34" charset="0"/>
                <a:ea typeface="MS PGothic" panose="020B0600070205080204" pitchFamily="34" charset="-128"/>
              </a:rPr>
              <a:pPr>
                <a:spcBef>
                  <a:spcPct val="0"/>
                </a:spcBef>
              </a:pPr>
              <a:t>23</a:t>
            </a:fld>
            <a:endParaRPr lang="en-US" altLang="en-US" smtClean="0">
              <a:latin typeface="Arial" panose="020B0604020202020204" pitchFamily="34" charset="0"/>
              <a:ea typeface="MS PGothic" panose="020B0600070205080204" pitchFamily="34" charset="-128"/>
            </a:endParaRPr>
          </a:p>
        </p:txBody>
      </p:sp>
      <p:sp>
        <p:nvSpPr>
          <p:cNvPr id="481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4042524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8FD6430-780B-4449-A90E-EB93FDF5A62D}" type="slidenum">
              <a:rPr lang="en-US" altLang="en-US" sz="1200" smtClean="0"/>
              <a:pPr/>
              <a:t>26</a:t>
            </a:fld>
            <a:endParaRPr lang="en-US" altLang="en-US" sz="1200" smtClean="0"/>
          </a:p>
        </p:txBody>
      </p:sp>
      <p:sp>
        <p:nvSpPr>
          <p:cNvPr id="52227" name="Rectangle 2"/>
          <p:cNvSpPr>
            <a:spLocks noGrp="1" noRot="1" noChangeAspect="1" noChangeArrowheads="1" noTextEdit="1"/>
          </p:cNvSpPr>
          <p:nvPr>
            <p:ph type="sldImg"/>
          </p:nvPr>
        </p:nvSpPr>
        <p:spPr bwMode="auto">
          <a:xfrm>
            <a:off x="1143000" y="685800"/>
            <a:ext cx="4572000" cy="3429000"/>
          </a:xfrm>
          <a:solidFill>
            <a:srgbClr val="FFFFFF"/>
          </a:solidFill>
          <a:ln>
            <a:solidFill>
              <a:srgbClr val="000000"/>
            </a:solidFill>
            <a:miter lim="800000"/>
            <a:headEnd/>
            <a:tailEnd/>
          </a:ln>
        </p:spPr>
      </p:sp>
      <p:sp>
        <p:nvSpPr>
          <p:cNvPr id="52228"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US" altLang="en-US" smtClean="0"/>
          </a:p>
        </p:txBody>
      </p:sp>
    </p:spTree>
    <p:extLst>
      <p:ext uri="{BB962C8B-B14F-4D97-AF65-F5344CB8AC3E}">
        <p14:creationId xmlns:p14="http://schemas.microsoft.com/office/powerpoint/2010/main" val="386704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0F1113C-F1A0-47CC-8A0C-2BF1F4288BF8}" type="slidenum">
              <a:rPr lang="en-US" altLang="en-US" smtClean="0">
                <a:latin typeface="Arial" panose="020B0604020202020204" pitchFamily="34" charset="0"/>
                <a:ea typeface="MS PGothic" panose="020B0600070205080204" pitchFamily="34" charset="-128"/>
              </a:rPr>
              <a:pPr>
                <a:spcBef>
                  <a:spcPct val="0"/>
                </a:spcBef>
              </a:pPr>
              <a:t>27</a:t>
            </a:fld>
            <a:endParaRPr lang="en-US" altLang="en-US" smtClean="0">
              <a:latin typeface="Arial" panose="020B0604020202020204" pitchFamily="34" charset="0"/>
              <a:ea typeface="MS PGothic" panose="020B0600070205080204" pitchFamily="34" charset="-128"/>
            </a:endParaRPr>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3999964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6"/>
          <p:cNvGrpSpPr>
            <a:grpSpLocks/>
          </p:cNvGrpSpPr>
          <p:nvPr/>
        </p:nvGrpSpPr>
        <p:grpSpPr bwMode="auto">
          <a:xfrm>
            <a:off x="457200" y="2363788"/>
            <a:ext cx="8153400" cy="1600200"/>
            <a:chOff x="288" y="1489"/>
            <a:chExt cx="5136" cy="1008"/>
          </a:xfrm>
        </p:grpSpPr>
        <p:sp>
          <p:nvSpPr>
            <p:cNvPr id="5" name="Arc 2"/>
            <p:cNvSpPr>
              <a:spLocks/>
            </p:cNvSpPr>
            <p:nvPr/>
          </p:nvSpPr>
          <p:spPr bwMode="invGray">
            <a:xfrm>
              <a:off x="3595" y="1489"/>
              <a:ext cx="1829" cy="1008"/>
            </a:xfrm>
            <a:custGeom>
              <a:avLst/>
              <a:gdLst>
                <a:gd name="T0" fmla="*/ 0 w 21912"/>
                <a:gd name="T1" fmla="*/ 0 h 43200"/>
                <a:gd name="T2" fmla="*/ 0 w 21912"/>
                <a:gd name="T3" fmla="*/ 0 h 43200"/>
                <a:gd name="T4" fmla="*/ 0 w 21912"/>
                <a:gd name="T5" fmla="*/ 0 h 43200"/>
                <a:gd name="T6" fmla="*/ 0 60000 65536"/>
                <a:gd name="T7" fmla="*/ 0 60000 65536"/>
                <a:gd name="T8" fmla="*/ 0 60000 65536"/>
              </a:gdLst>
              <a:ahLst/>
              <a:cxnLst>
                <a:cxn ang="T6">
                  <a:pos x="T0" y="T1"/>
                </a:cxn>
                <a:cxn ang="T7">
                  <a:pos x="T2" y="T3"/>
                </a:cxn>
                <a:cxn ang="T8">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lnTo>
                    <a:pt x="300" y="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Arc 3"/>
            <p:cNvSpPr>
              <a:spLocks/>
            </p:cNvSpPr>
            <p:nvPr/>
          </p:nvSpPr>
          <p:spPr bwMode="invGray">
            <a:xfrm>
              <a:off x="3548" y="1593"/>
              <a:ext cx="1831" cy="800"/>
            </a:xfrm>
            <a:custGeom>
              <a:avLst/>
              <a:gdLst>
                <a:gd name="T0" fmla="*/ 0 w 21924"/>
                <a:gd name="T1" fmla="*/ 0 h 43200"/>
                <a:gd name="T2" fmla="*/ 0 w 21924"/>
                <a:gd name="T3" fmla="*/ 0 h 43200"/>
                <a:gd name="T4" fmla="*/ 0 w 21924"/>
                <a:gd name="T5" fmla="*/ 0 h 43200"/>
                <a:gd name="T6" fmla="*/ 0 60000 65536"/>
                <a:gd name="T7" fmla="*/ 0 60000 65536"/>
                <a:gd name="T8" fmla="*/ 0 60000 65536"/>
              </a:gdLst>
              <a:ahLst/>
              <a:cxnLst>
                <a:cxn ang="T6">
                  <a:pos x="T0" y="T1"/>
                </a:cxn>
                <a:cxn ang="T7">
                  <a:pos x="T2" y="T3"/>
                </a:cxn>
                <a:cxn ang="T8">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lnTo>
                    <a:pt x="312" y="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Arc 4"/>
            <p:cNvSpPr>
              <a:spLocks/>
            </p:cNvSpPr>
            <p:nvPr/>
          </p:nvSpPr>
          <p:spPr bwMode="invGray">
            <a:xfrm>
              <a:off x="3521" y="1732"/>
              <a:ext cx="1830" cy="522"/>
            </a:xfrm>
            <a:custGeom>
              <a:avLst/>
              <a:gdLst>
                <a:gd name="T0" fmla="*/ 0 w 21925"/>
                <a:gd name="T1" fmla="*/ 0 h 43200"/>
                <a:gd name="T2" fmla="*/ 0 w 21925"/>
                <a:gd name="T3" fmla="*/ 0 h 43200"/>
                <a:gd name="T4" fmla="*/ 0 w 21925"/>
                <a:gd name="T5" fmla="*/ 0 h 43200"/>
                <a:gd name="T6" fmla="*/ 0 60000 65536"/>
                <a:gd name="T7" fmla="*/ 0 60000 65536"/>
                <a:gd name="T8" fmla="*/ 0 60000 65536"/>
              </a:gdLst>
              <a:ahLst/>
              <a:cxnLst>
                <a:cxn ang="T6">
                  <a:pos x="T0" y="T1"/>
                </a:cxn>
                <a:cxn ang="T7">
                  <a:pos x="T2" y="T3"/>
                </a:cxn>
                <a:cxn ang="T8">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lnTo>
                    <a:pt x="313" y="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AutoShape 5"/>
            <p:cNvSpPr>
              <a:spLocks noChangeArrowheads="1"/>
            </p:cNvSpPr>
            <p:nvPr/>
          </p:nvSpPr>
          <p:spPr bwMode="invGray">
            <a:xfrm>
              <a:off x="288" y="1940"/>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defRPr/>
              </a:pPr>
              <a:endParaRPr lang="en-US" altLang="en-US" smtClean="0">
                <a:solidFill>
                  <a:srgbClr val="FFFFCC"/>
                </a:solidFill>
              </a:endParaRPr>
            </a:p>
          </p:txBody>
        </p:sp>
      </p:grpSp>
      <p:sp>
        <p:nvSpPr>
          <p:cNvPr id="3079" name="Rectangle 7"/>
          <p:cNvSpPr>
            <a:spLocks noGrp="1" noChangeArrowheads="1"/>
          </p:cNvSpPr>
          <p:nvPr>
            <p:ph type="ctrTitle" sz="quarter"/>
          </p:nvPr>
        </p:nvSpPr>
        <p:spPr>
          <a:xfrm>
            <a:off x="685800" y="1447800"/>
            <a:ext cx="7772400" cy="1143000"/>
          </a:xfrm>
        </p:spPr>
        <p:txBody>
          <a:bodyPr/>
          <a:lstStyle>
            <a:lvl1pPr>
              <a:defRPr/>
            </a:lvl1pPr>
          </a:lstStyle>
          <a:p>
            <a:pPr lvl="0"/>
            <a:r>
              <a:rPr lang="en-US" noProof="0" smtClean="0"/>
              <a:t>Click to edit Master title style</a:t>
            </a:r>
          </a:p>
        </p:txBody>
      </p:sp>
      <p:sp>
        <p:nvSpPr>
          <p:cNvPr id="3080" name="Rectangle 8"/>
          <p:cNvSpPr>
            <a:spLocks noGrp="1" noChangeArrowheads="1"/>
          </p:cNvSpPr>
          <p:nvPr>
            <p:ph type="subTitle" sz="quarter" idx="1"/>
          </p:nvPr>
        </p:nvSpPr>
        <p:spPr>
          <a:xfrm>
            <a:off x="1371600" y="3733800"/>
            <a:ext cx="6400800" cy="1752600"/>
          </a:xfrm>
        </p:spPr>
        <p:txBody>
          <a:bodyPr/>
          <a:lstStyle>
            <a:lvl1pPr marL="0" indent="0" algn="ctr">
              <a:buFontTx/>
              <a:buNone/>
              <a:defRPr/>
            </a:lvl1pPr>
          </a:lstStyle>
          <a:p>
            <a:pPr lvl="0"/>
            <a:r>
              <a:rPr lang="en-US" noProof="0" smtClean="0"/>
              <a:t>Click to edit Master subtitle style</a:t>
            </a:r>
          </a:p>
        </p:txBody>
      </p:sp>
      <p:sp>
        <p:nvSpPr>
          <p:cNvPr id="9" name="Rectangle 9"/>
          <p:cNvSpPr>
            <a:spLocks noGrp="1" noChangeArrowheads="1"/>
          </p:cNvSpPr>
          <p:nvPr>
            <p:ph type="dt" sz="quarter" idx="10"/>
          </p:nvPr>
        </p:nvSpPr>
        <p:spPr/>
        <p:txBody>
          <a:bodyPr/>
          <a:lstStyle>
            <a:lvl1pPr eaLnBrk="0" hangingPunct="0">
              <a:defRPr/>
            </a:lvl1pPr>
          </a:lstStyle>
          <a:p>
            <a:pPr>
              <a:defRPr/>
            </a:pPr>
            <a:endParaRPr lang="en-US"/>
          </a:p>
        </p:txBody>
      </p:sp>
      <p:sp>
        <p:nvSpPr>
          <p:cNvPr id="10"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11" name="Rectangle 11"/>
          <p:cNvSpPr>
            <a:spLocks noGrp="1" noChangeArrowheads="1"/>
          </p:cNvSpPr>
          <p:nvPr>
            <p:ph type="sldNum" sz="quarter" idx="12"/>
          </p:nvPr>
        </p:nvSpPr>
        <p:spPr/>
        <p:txBody>
          <a:bodyPr/>
          <a:lstStyle>
            <a:lvl1pPr eaLnBrk="0" hangingPunct="0">
              <a:defRPr/>
            </a:lvl1pPr>
          </a:lstStyle>
          <a:p>
            <a:pPr>
              <a:defRPr/>
            </a:pPr>
            <a:fld id="{0685A09D-C381-452F-BDFA-1D8216534C47}" type="slidenum">
              <a:rPr lang="en-US" altLang="en-US"/>
              <a:pPr>
                <a:defRPr/>
              </a:pPr>
              <a:t>‹#›</a:t>
            </a:fld>
            <a:endParaRPr lang="en-US" altLang="en-US"/>
          </a:p>
        </p:txBody>
      </p:sp>
    </p:spTree>
    <p:extLst>
      <p:ext uri="{BB962C8B-B14F-4D97-AF65-F5344CB8AC3E}">
        <p14:creationId xmlns:p14="http://schemas.microsoft.com/office/powerpoint/2010/main" val="2701212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5"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6" name="Rectangle 11"/>
          <p:cNvSpPr>
            <a:spLocks noGrp="1" noChangeArrowheads="1"/>
          </p:cNvSpPr>
          <p:nvPr>
            <p:ph type="sldNum" sz="quarter" idx="12"/>
          </p:nvPr>
        </p:nvSpPr>
        <p:spPr/>
        <p:txBody>
          <a:bodyPr/>
          <a:lstStyle>
            <a:lvl1pPr eaLnBrk="0" hangingPunct="0">
              <a:defRPr/>
            </a:lvl1pPr>
          </a:lstStyle>
          <a:p>
            <a:pPr>
              <a:defRPr/>
            </a:pPr>
            <a:fld id="{1F65F4EB-3C10-4240-B049-C37AF046107E}" type="slidenum">
              <a:rPr lang="en-US" altLang="en-US"/>
              <a:pPr>
                <a:defRPr/>
              </a:pPr>
              <a:t>‹#›</a:t>
            </a:fld>
            <a:endParaRPr lang="en-US" altLang="en-US"/>
          </a:p>
        </p:txBody>
      </p:sp>
    </p:spTree>
    <p:extLst>
      <p:ext uri="{BB962C8B-B14F-4D97-AF65-F5344CB8AC3E}">
        <p14:creationId xmlns:p14="http://schemas.microsoft.com/office/powerpoint/2010/main" val="1006738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5"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6" name="Rectangle 11"/>
          <p:cNvSpPr>
            <a:spLocks noGrp="1" noChangeArrowheads="1"/>
          </p:cNvSpPr>
          <p:nvPr>
            <p:ph type="sldNum" sz="quarter" idx="12"/>
          </p:nvPr>
        </p:nvSpPr>
        <p:spPr/>
        <p:txBody>
          <a:bodyPr/>
          <a:lstStyle>
            <a:lvl1pPr eaLnBrk="0" hangingPunct="0">
              <a:defRPr/>
            </a:lvl1pPr>
          </a:lstStyle>
          <a:p>
            <a:pPr>
              <a:defRPr/>
            </a:pPr>
            <a:fld id="{2A2C5793-FAC3-4711-A889-2E060D6D5541}" type="slidenum">
              <a:rPr lang="en-US" altLang="en-US"/>
              <a:pPr>
                <a:defRPr/>
              </a:pPr>
              <a:t>‹#›</a:t>
            </a:fld>
            <a:endParaRPr lang="en-US" altLang="en-US"/>
          </a:p>
        </p:txBody>
      </p:sp>
    </p:spTree>
    <p:extLst>
      <p:ext uri="{BB962C8B-B14F-4D97-AF65-F5344CB8AC3E}">
        <p14:creationId xmlns:p14="http://schemas.microsoft.com/office/powerpoint/2010/main" val="1868653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6"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7" name="Rectangle 11"/>
          <p:cNvSpPr>
            <a:spLocks noGrp="1" noChangeArrowheads="1"/>
          </p:cNvSpPr>
          <p:nvPr>
            <p:ph type="sldNum" sz="quarter" idx="12"/>
          </p:nvPr>
        </p:nvSpPr>
        <p:spPr/>
        <p:txBody>
          <a:bodyPr/>
          <a:lstStyle>
            <a:lvl1pPr eaLnBrk="0" hangingPunct="0">
              <a:defRPr/>
            </a:lvl1pPr>
          </a:lstStyle>
          <a:p>
            <a:pPr>
              <a:defRPr/>
            </a:pPr>
            <a:fld id="{69B4EE20-0EE1-45A7-B9E3-8FA034BAF9AB}" type="slidenum">
              <a:rPr lang="en-US" altLang="en-US"/>
              <a:pPr>
                <a:defRPr/>
              </a:pPr>
              <a:t>‹#›</a:t>
            </a:fld>
            <a:endParaRPr lang="en-US" altLang="en-US"/>
          </a:p>
        </p:txBody>
      </p:sp>
    </p:spTree>
    <p:extLst>
      <p:ext uri="{BB962C8B-B14F-4D97-AF65-F5344CB8AC3E}">
        <p14:creationId xmlns:p14="http://schemas.microsoft.com/office/powerpoint/2010/main" val="2602053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8"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9" name="Rectangle 11"/>
          <p:cNvSpPr>
            <a:spLocks noGrp="1" noChangeArrowheads="1"/>
          </p:cNvSpPr>
          <p:nvPr>
            <p:ph type="sldNum" sz="quarter" idx="12"/>
          </p:nvPr>
        </p:nvSpPr>
        <p:spPr/>
        <p:txBody>
          <a:bodyPr/>
          <a:lstStyle>
            <a:lvl1pPr eaLnBrk="0" hangingPunct="0">
              <a:defRPr/>
            </a:lvl1pPr>
          </a:lstStyle>
          <a:p>
            <a:pPr>
              <a:defRPr/>
            </a:pPr>
            <a:fld id="{DA16E961-2C40-415E-AC04-623DDD5AC79F}" type="slidenum">
              <a:rPr lang="en-US" altLang="en-US"/>
              <a:pPr>
                <a:defRPr/>
              </a:pPr>
              <a:t>‹#›</a:t>
            </a:fld>
            <a:endParaRPr lang="en-US" altLang="en-US"/>
          </a:p>
        </p:txBody>
      </p:sp>
    </p:spTree>
    <p:extLst>
      <p:ext uri="{BB962C8B-B14F-4D97-AF65-F5344CB8AC3E}">
        <p14:creationId xmlns:p14="http://schemas.microsoft.com/office/powerpoint/2010/main" val="3004061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4"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5" name="Rectangle 11"/>
          <p:cNvSpPr>
            <a:spLocks noGrp="1" noChangeArrowheads="1"/>
          </p:cNvSpPr>
          <p:nvPr>
            <p:ph type="sldNum" sz="quarter" idx="12"/>
          </p:nvPr>
        </p:nvSpPr>
        <p:spPr/>
        <p:txBody>
          <a:bodyPr/>
          <a:lstStyle>
            <a:lvl1pPr eaLnBrk="0" hangingPunct="0">
              <a:defRPr/>
            </a:lvl1pPr>
          </a:lstStyle>
          <a:p>
            <a:pPr>
              <a:defRPr/>
            </a:pPr>
            <a:fld id="{217596F3-486F-438C-A8CD-3A7B8B236E0C}" type="slidenum">
              <a:rPr lang="en-US" altLang="en-US"/>
              <a:pPr>
                <a:defRPr/>
              </a:pPr>
              <a:t>‹#›</a:t>
            </a:fld>
            <a:endParaRPr lang="en-US" altLang="en-US"/>
          </a:p>
        </p:txBody>
      </p:sp>
    </p:spTree>
    <p:extLst>
      <p:ext uri="{BB962C8B-B14F-4D97-AF65-F5344CB8AC3E}">
        <p14:creationId xmlns:p14="http://schemas.microsoft.com/office/powerpoint/2010/main" val="4152245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3"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4" name="Rectangle 11"/>
          <p:cNvSpPr>
            <a:spLocks noGrp="1" noChangeArrowheads="1"/>
          </p:cNvSpPr>
          <p:nvPr>
            <p:ph type="sldNum" sz="quarter" idx="12"/>
          </p:nvPr>
        </p:nvSpPr>
        <p:spPr/>
        <p:txBody>
          <a:bodyPr/>
          <a:lstStyle>
            <a:lvl1pPr eaLnBrk="0" hangingPunct="0">
              <a:defRPr/>
            </a:lvl1pPr>
          </a:lstStyle>
          <a:p>
            <a:pPr>
              <a:defRPr/>
            </a:pPr>
            <a:fld id="{E4C747EC-EB22-4617-A434-7D5517FA3037}" type="slidenum">
              <a:rPr lang="en-US" altLang="en-US"/>
              <a:pPr>
                <a:defRPr/>
              </a:pPr>
              <a:t>‹#›</a:t>
            </a:fld>
            <a:endParaRPr lang="en-US" altLang="en-US"/>
          </a:p>
        </p:txBody>
      </p:sp>
    </p:spTree>
    <p:extLst>
      <p:ext uri="{BB962C8B-B14F-4D97-AF65-F5344CB8AC3E}">
        <p14:creationId xmlns:p14="http://schemas.microsoft.com/office/powerpoint/2010/main" val="389806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6"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7" name="Rectangle 11"/>
          <p:cNvSpPr>
            <a:spLocks noGrp="1" noChangeArrowheads="1"/>
          </p:cNvSpPr>
          <p:nvPr>
            <p:ph type="sldNum" sz="quarter" idx="12"/>
          </p:nvPr>
        </p:nvSpPr>
        <p:spPr/>
        <p:txBody>
          <a:bodyPr/>
          <a:lstStyle>
            <a:lvl1pPr eaLnBrk="0" hangingPunct="0">
              <a:defRPr/>
            </a:lvl1pPr>
          </a:lstStyle>
          <a:p>
            <a:pPr>
              <a:defRPr/>
            </a:pPr>
            <a:fld id="{2E8AF35B-957E-4164-A04C-821DAEF2EF25}" type="slidenum">
              <a:rPr lang="en-US" altLang="en-US"/>
              <a:pPr>
                <a:defRPr/>
              </a:pPr>
              <a:t>‹#›</a:t>
            </a:fld>
            <a:endParaRPr lang="en-US" altLang="en-US"/>
          </a:p>
        </p:txBody>
      </p:sp>
    </p:spTree>
    <p:extLst>
      <p:ext uri="{BB962C8B-B14F-4D97-AF65-F5344CB8AC3E}">
        <p14:creationId xmlns:p14="http://schemas.microsoft.com/office/powerpoint/2010/main" val="978132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6"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7" name="Rectangle 11"/>
          <p:cNvSpPr>
            <a:spLocks noGrp="1" noChangeArrowheads="1"/>
          </p:cNvSpPr>
          <p:nvPr>
            <p:ph type="sldNum" sz="quarter" idx="12"/>
          </p:nvPr>
        </p:nvSpPr>
        <p:spPr/>
        <p:txBody>
          <a:bodyPr/>
          <a:lstStyle>
            <a:lvl1pPr eaLnBrk="0" hangingPunct="0">
              <a:defRPr/>
            </a:lvl1pPr>
          </a:lstStyle>
          <a:p>
            <a:pPr>
              <a:defRPr/>
            </a:pPr>
            <a:fld id="{94CE6869-CCC7-4EC9-8E97-C7BDE253334D}" type="slidenum">
              <a:rPr lang="en-US" altLang="en-US"/>
              <a:pPr>
                <a:defRPr/>
              </a:pPr>
              <a:t>‹#›</a:t>
            </a:fld>
            <a:endParaRPr lang="en-US" altLang="en-US"/>
          </a:p>
        </p:txBody>
      </p:sp>
    </p:spTree>
    <p:extLst>
      <p:ext uri="{BB962C8B-B14F-4D97-AF65-F5344CB8AC3E}">
        <p14:creationId xmlns:p14="http://schemas.microsoft.com/office/powerpoint/2010/main" val="2061327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5"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6" name="Rectangle 11"/>
          <p:cNvSpPr>
            <a:spLocks noGrp="1" noChangeArrowheads="1"/>
          </p:cNvSpPr>
          <p:nvPr>
            <p:ph type="sldNum" sz="quarter" idx="12"/>
          </p:nvPr>
        </p:nvSpPr>
        <p:spPr/>
        <p:txBody>
          <a:bodyPr/>
          <a:lstStyle>
            <a:lvl1pPr eaLnBrk="0" hangingPunct="0">
              <a:defRPr/>
            </a:lvl1pPr>
          </a:lstStyle>
          <a:p>
            <a:pPr>
              <a:defRPr/>
            </a:pPr>
            <a:fld id="{52600F17-817B-461F-865A-39510A68F908}" type="slidenum">
              <a:rPr lang="en-US" altLang="en-US"/>
              <a:pPr>
                <a:defRPr/>
              </a:pPr>
              <a:t>‹#›</a:t>
            </a:fld>
            <a:endParaRPr lang="en-US" altLang="en-US"/>
          </a:p>
        </p:txBody>
      </p:sp>
    </p:spTree>
    <p:extLst>
      <p:ext uri="{BB962C8B-B14F-4D97-AF65-F5344CB8AC3E}">
        <p14:creationId xmlns:p14="http://schemas.microsoft.com/office/powerpoint/2010/main" val="198960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81000"/>
            <a:ext cx="194310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81000"/>
            <a:ext cx="567690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p:txBody>
          <a:bodyPr/>
          <a:lstStyle>
            <a:lvl1pPr eaLnBrk="0" hangingPunct="0">
              <a:defRPr/>
            </a:lvl1pPr>
          </a:lstStyle>
          <a:p>
            <a:pPr>
              <a:defRPr/>
            </a:pPr>
            <a:endParaRPr lang="en-US"/>
          </a:p>
        </p:txBody>
      </p:sp>
      <p:sp>
        <p:nvSpPr>
          <p:cNvPr id="5" name="Rectangle 10"/>
          <p:cNvSpPr>
            <a:spLocks noGrp="1" noChangeArrowheads="1"/>
          </p:cNvSpPr>
          <p:nvPr>
            <p:ph type="ftr" sz="quarter" idx="11"/>
          </p:nvPr>
        </p:nvSpPr>
        <p:spPr/>
        <p:txBody>
          <a:bodyPr/>
          <a:lstStyle>
            <a:lvl1pPr eaLnBrk="0" hangingPunct="0">
              <a:defRPr/>
            </a:lvl1pPr>
          </a:lstStyle>
          <a:p>
            <a:pPr>
              <a:defRPr/>
            </a:pPr>
            <a:endParaRPr lang="en-US"/>
          </a:p>
        </p:txBody>
      </p:sp>
      <p:sp>
        <p:nvSpPr>
          <p:cNvPr id="6" name="Rectangle 11"/>
          <p:cNvSpPr>
            <a:spLocks noGrp="1" noChangeArrowheads="1"/>
          </p:cNvSpPr>
          <p:nvPr>
            <p:ph type="sldNum" sz="quarter" idx="12"/>
          </p:nvPr>
        </p:nvSpPr>
        <p:spPr/>
        <p:txBody>
          <a:bodyPr/>
          <a:lstStyle>
            <a:lvl1pPr eaLnBrk="0" hangingPunct="0">
              <a:defRPr/>
            </a:lvl1pPr>
          </a:lstStyle>
          <a:p>
            <a:pPr>
              <a:defRPr/>
            </a:pPr>
            <a:fld id="{42C56F86-C275-4E73-91AE-BD4E3919BB0C}" type="slidenum">
              <a:rPr lang="en-US" altLang="en-US"/>
              <a:pPr>
                <a:defRPr/>
              </a:pPr>
              <a:t>‹#›</a:t>
            </a:fld>
            <a:endParaRPr lang="en-US" altLang="en-US"/>
          </a:p>
        </p:txBody>
      </p:sp>
    </p:spTree>
    <p:extLst>
      <p:ext uri="{BB962C8B-B14F-4D97-AF65-F5344CB8AC3E}">
        <p14:creationId xmlns:p14="http://schemas.microsoft.com/office/powerpoint/2010/main" val="3055195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3638"/>
            <a:ext cx="2133600" cy="457200"/>
          </a:xfrm>
        </p:spPr>
        <p:txBody>
          <a:bodyPr/>
          <a:lstStyle>
            <a:lvl1pPr>
              <a:defRPr/>
            </a:lvl1pPr>
          </a:lstStyle>
          <a:p>
            <a:pPr>
              <a:defRPr/>
            </a:pPr>
            <a:endParaRPr lang="en-US" alt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ltLang="en-US"/>
          </a:p>
        </p:txBody>
      </p:sp>
      <p:sp>
        <p:nvSpPr>
          <p:cNvPr id="8" name="Slide Number Placeholder 7"/>
          <p:cNvSpPr>
            <a:spLocks noGrp="1"/>
          </p:cNvSpPr>
          <p:nvPr>
            <p:ph type="sldNum" sz="quarter" idx="12"/>
          </p:nvPr>
        </p:nvSpPr>
        <p:spPr>
          <a:xfrm>
            <a:off x="6553200" y="6243638"/>
            <a:ext cx="2133600" cy="457200"/>
          </a:xfrm>
        </p:spPr>
        <p:txBody>
          <a:bodyPr/>
          <a:lstStyle>
            <a:lvl1pPr>
              <a:defRPr/>
            </a:lvl1pPr>
          </a:lstStyle>
          <a:p>
            <a:pPr>
              <a:defRPr/>
            </a:pPr>
            <a:fld id="{F47E942C-FDC6-4690-8F8F-79D57A5295CB}" type="slidenum">
              <a:rPr lang="en-US" altLang="en-US"/>
              <a:pPr>
                <a:defRPr/>
              </a:pPr>
              <a:t>‹#›</a:t>
            </a:fld>
            <a:endParaRPr lang="en-US" altLang="en-US"/>
          </a:p>
        </p:txBody>
      </p:sp>
    </p:spTree>
    <p:extLst>
      <p:ext uri="{BB962C8B-B14F-4D97-AF65-F5344CB8AC3E}">
        <p14:creationId xmlns:p14="http://schemas.microsoft.com/office/powerpoint/2010/main" val="19409263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6"/>
          <p:cNvGrpSpPr>
            <a:grpSpLocks/>
          </p:cNvGrpSpPr>
          <p:nvPr/>
        </p:nvGrpSpPr>
        <p:grpSpPr bwMode="auto">
          <a:xfrm>
            <a:off x="457200" y="992188"/>
            <a:ext cx="8153400" cy="1600200"/>
            <a:chOff x="288" y="625"/>
            <a:chExt cx="5136" cy="1008"/>
          </a:xfrm>
        </p:grpSpPr>
        <p:sp>
          <p:nvSpPr>
            <p:cNvPr id="1032" name="Arc 2"/>
            <p:cNvSpPr>
              <a:spLocks/>
            </p:cNvSpPr>
            <p:nvPr/>
          </p:nvSpPr>
          <p:spPr bwMode="invGray">
            <a:xfrm>
              <a:off x="3595" y="625"/>
              <a:ext cx="1829" cy="1008"/>
            </a:xfrm>
            <a:custGeom>
              <a:avLst/>
              <a:gdLst>
                <a:gd name="T0" fmla="*/ 0 w 21912"/>
                <a:gd name="T1" fmla="*/ 0 h 43200"/>
                <a:gd name="T2" fmla="*/ 0 w 21912"/>
                <a:gd name="T3" fmla="*/ 0 h 43200"/>
                <a:gd name="T4" fmla="*/ 0 w 21912"/>
                <a:gd name="T5" fmla="*/ 0 h 43200"/>
                <a:gd name="T6" fmla="*/ 0 60000 65536"/>
                <a:gd name="T7" fmla="*/ 0 60000 65536"/>
                <a:gd name="T8" fmla="*/ 0 60000 65536"/>
              </a:gdLst>
              <a:ahLst/>
              <a:cxnLst>
                <a:cxn ang="T6">
                  <a:pos x="T0" y="T1"/>
                </a:cxn>
                <a:cxn ang="T7">
                  <a:pos x="T2" y="T3"/>
                </a:cxn>
                <a:cxn ang="T8">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lnTo>
                    <a:pt x="300" y="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Arc 3"/>
            <p:cNvSpPr>
              <a:spLocks/>
            </p:cNvSpPr>
            <p:nvPr/>
          </p:nvSpPr>
          <p:spPr bwMode="invGray">
            <a:xfrm>
              <a:off x="3548" y="729"/>
              <a:ext cx="1831" cy="800"/>
            </a:xfrm>
            <a:custGeom>
              <a:avLst/>
              <a:gdLst>
                <a:gd name="T0" fmla="*/ 0 w 21924"/>
                <a:gd name="T1" fmla="*/ 0 h 43200"/>
                <a:gd name="T2" fmla="*/ 0 w 21924"/>
                <a:gd name="T3" fmla="*/ 0 h 43200"/>
                <a:gd name="T4" fmla="*/ 0 w 21924"/>
                <a:gd name="T5" fmla="*/ 0 h 43200"/>
                <a:gd name="T6" fmla="*/ 0 60000 65536"/>
                <a:gd name="T7" fmla="*/ 0 60000 65536"/>
                <a:gd name="T8" fmla="*/ 0 60000 65536"/>
              </a:gdLst>
              <a:ahLst/>
              <a:cxnLst>
                <a:cxn ang="T6">
                  <a:pos x="T0" y="T1"/>
                </a:cxn>
                <a:cxn ang="T7">
                  <a:pos x="T2" y="T3"/>
                </a:cxn>
                <a:cxn ang="T8">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lnTo>
                    <a:pt x="312" y="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Arc 4"/>
            <p:cNvSpPr>
              <a:spLocks/>
            </p:cNvSpPr>
            <p:nvPr/>
          </p:nvSpPr>
          <p:spPr bwMode="invGray">
            <a:xfrm>
              <a:off x="3521" y="868"/>
              <a:ext cx="1830" cy="522"/>
            </a:xfrm>
            <a:custGeom>
              <a:avLst/>
              <a:gdLst>
                <a:gd name="T0" fmla="*/ 0 w 21925"/>
                <a:gd name="T1" fmla="*/ 0 h 43200"/>
                <a:gd name="T2" fmla="*/ 0 w 21925"/>
                <a:gd name="T3" fmla="*/ 0 h 43200"/>
                <a:gd name="T4" fmla="*/ 0 w 21925"/>
                <a:gd name="T5" fmla="*/ 0 h 43200"/>
                <a:gd name="T6" fmla="*/ 0 60000 65536"/>
                <a:gd name="T7" fmla="*/ 0 60000 65536"/>
                <a:gd name="T8" fmla="*/ 0 60000 65536"/>
              </a:gdLst>
              <a:ahLst/>
              <a:cxnLst>
                <a:cxn ang="T6">
                  <a:pos x="T0" y="T1"/>
                </a:cxn>
                <a:cxn ang="T7">
                  <a:pos x="T2" y="T3"/>
                </a:cxn>
                <a:cxn ang="T8">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lnTo>
                    <a:pt x="313" y="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AutoShape 5"/>
            <p:cNvSpPr>
              <a:spLocks noChangeArrowheads="1"/>
            </p:cNvSpPr>
            <p:nvPr/>
          </p:nvSpPr>
          <p:spPr bwMode="invGray">
            <a:xfrm>
              <a:off x="288" y="1076"/>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defRPr/>
              </a:pPr>
              <a:endParaRPr lang="en-US" altLang="en-US" smtClean="0">
                <a:solidFill>
                  <a:srgbClr val="FFFFCC"/>
                </a:solidFill>
              </a:endParaRPr>
            </a:p>
          </p:txBody>
        </p:sp>
      </p:grpSp>
      <p:sp>
        <p:nvSpPr>
          <p:cNvPr id="1027" name="Rectangle 7"/>
          <p:cNvSpPr>
            <a:spLocks noGrp="1" noChangeArrowheads="1"/>
          </p:cNvSpPr>
          <p:nvPr>
            <p:ph type="title"/>
          </p:nvPr>
        </p:nvSpPr>
        <p:spPr bwMode="auto">
          <a:xfrm>
            <a:off x="685800" y="3810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1028" name="Rectangle 8"/>
          <p:cNvSpPr>
            <a:spLocks noGrp="1" noChangeArrowheads="1"/>
          </p:cNvSpPr>
          <p:nvPr>
            <p:ph type="body" idx="1"/>
          </p:nvPr>
        </p:nvSpPr>
        <p:spPr bwMode="auto">
          <a:xfrm>
            <a:off x="685800" y="20574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3" name="Rectangle 9"/>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eaLnBrk="1" hangingPunct="1">
              <a:defRPr sz="1400">
                <a:solidFill>
                  <a:srgbClr val="FFFFCC"/>
                </a:solidFill>
                <a:latin typeface="Arial" charset="0"/>
              </a:defRPr>
            </a:lvl1pPr>
          </a:lstStyle>
          <a:p>
            <a:pPr>
              <a:defRPr/>
            </a:pPr>
            <a:endParaRPr lang="en-US"/>
          </a:p>
        </p:txBody>
      </p:sp>
      <p:sp>
        <p:nvSpPr>
          <p:cNvPr id="1034" name="Rectangle 10"/>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eaLnBrk="1" hangingPunct="1">
              <a:defRPr sz="1400">
                <a:solidFill>
                  <a:srgbClr val="FFFFCC"/>
                </a:solidFill>
                <a:latin typeface="Arial" charset="0"/>
              </a:defRPr>
            </a:lvl1pPr>
          </a:lstStyle>
          <a:p>
            <a:pPr>
              <a:defRPr/>
            </a:pPr>
            <a:endParaRPr lang="en-US"/>
          </a:p>
        </p:txBody>
      </p:sp>
      <p:sp>
        <p:nvSpPr>
          <p:cNvPr id="1035" name="Rectangle 11"/>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eaLnBrk="1" hangingPunct="1">
              <a:defRPr sz="1400">
                <a:solidFill>
                  <a:srgbClr val="FFFFCC"/>
                </a:solidFill>
                <a:latin typeface="Arial" panose="020B0604020202020204" pitchFamily="34" charset="0"/>
              </a:defRPr>
            </a:lvl1pPr>
          </a:lstStyle>
          <a:p>
            <a:pPr>
              <a:defRPr/>
            </a:pPr>
            <a:fld id="{DB014F0B-F4E2-47DC-88F5-508EE1821C99}"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 id="2147484074" r:id="rId12"/>
  </p:sldLayoutIdLst>
  <p:txStyles>
    <p:titleStyle>
      <a:lvl1pPr algn="r" rtl="0" eaLnBrk="0" fontAlgn="base" hangingPunct="0">
        <a:spcBef>
          <a:spcPct val="0"/>
        </a:spcBef>
        <a:spcAft>
          <a:spcPct val="0"/>
        </a:spcAft>
        <a:defRPr sz="4400" i="1">
          <a:solidFill>
            <a:schemeClr val="tx2"/>
          </a:solidFill>
          <a:latin typeface="+mj-lt"/>
          <a:ea typeface="+mj-ea"/>
          <a:cs typeface="+mj-cs"/>
        </a:defRPr>
      </a:lvl1pPr>
      <a:lvl2pPr algn="r" rtl="0" eaLnBrk="0" fontAlgn="base" hangingPunct="0">
        <a:spcBef>
          <a:spcPct val="0"/>
        </a:spcBef>
        <a:spcAft>
          <a:spcPct val="0"/>
        </a:spcAft>
        <a:defRPr sz="4400" i="1">
          <a:solidFill>
            <a:schemeClr val="tx2"/>
          </a:solidFill>
          <a:latin typeface="Times New Roman" pitchFamily="18" charset="0"/>
        </a:defRPr>
      </a:lvl2pPr>
      <a:lvl3pPr algn="r" rtl="0" eaLnBrk="0" fontAlgn="base" hangingPunct="0">
        <a:spcBef>
          <a:spcPct val="0"/>
        </a:spcBef>
        <a:spcAft>
          <a:spcPct val="0"/>
        </a:spcAft>
        <a:defRPr sz="4400" i="1">
          <a:solidFill>
            <a:schemeClr val="tx2"/>
          </a:solidFill>
          <a:latin typeface="Times New Roman" pitchFamily="18" charset="0"/>
        </a:defRPr>
      </a:lvl3pPr>
      <a:lvl4pPr algn="r" rtl="0" eaLnBrk="0" fontAlgn="base" hangingPunct="0">
        <a:spcBef>
          <a:spcPct val="0"/>
        </a:spcBef>
        <a:spcAft>
          <a:spcPct val="0"/>
        </a:spcAft>
        <a:defRPr sz="4400" i="1">
          <a:solidFill>
            <a:schemeClr val="tx2"/>
          </a:solidFill>
          <a:latin typeface="Times New Roman" pitchFamily="18" charset="0"/>
        </a:defRPr>
      </a:lvl4pPr>
      <a:lvl5pPr algn="r" rtl="0" eaLnBrk="0" fontAlgn="base" hangingPunct="0">
        <a:spcBef>
          <a:spcPct val="0"/>
        </a:spcBef>
        <a:spcAft>
          <a:spcPct val="0"/>
        </a:spcAft>
        <a:defRPr sz="4400" i="1">
          <a:solidFill>
            <a:schemeClr val="tx2"/>
          </a:solidFill>
          <a:latin typeface="Times New Roman" pitchFamily="18" charset="0"/>
        </a:defRPr>
      </a:lvl5pPr>
      <a:lvl6pPr marL="457200" algn="r" rtl="0" fontAlgn="base">
        <a:spcBef>
          <a:spcPct val="0"/>
        </a:spcBef>
        <a:spcAft>
          <a:spcPct val="0"/>
        </a:spcAft>
        <a:defRPr sz="4400" i="1">
          <a:solidFill>
            <a:schemeClr val="tx2"/>
          </a:solidFill>
          <a:latin typeface="Times New Roman" pitchFamily="18" charset="0"/>
        </a:defRPr>
      </a:lvl6pPr>
      <a:lvl7pPr marL="914400" algn="r" rtl="0" fontAlgn="base">
        <a:spcBef>
          <a:spcPct val="0"/>
        </a:spcBef>
        <a:spcAft>
          <a:spcPct val="0"/>
        </a:spcAft>
        <a:defRPr sz="4400" i="1">
          <a:solidFill>
            <a:schemeClr val="tx2"/>
          </a:solidFill>
          <a:latin typeface="Times New Roman" pitchFamily="18" charset="0"/>
        </a:defRPr>
      </a:lvl7pPr>
      <a:lvl8pPr marL="1371600" algn="r" rtl="0" fontAlgn="base">
        <a:spcBef>
          <a:spcPct val="0"/>
        </a:spcBef>
        <a:spcAft>
          <a:spcPct val="0"/>
        </a:spcAft>
        <a:defRPr sz="4400" i="1">
          <a:solidFill>
            <a:schemeClr val="tx2"/>
          </a:solidFill>
          <a:latin typeface="Times New Roman" pitchFamily="18" charset="0"/>
        </a:defRPr>
      </a:lvl8pPr>
      <a:lvl9pPr marL="1828800" algn="r" rtl="0" fontAlgn="base">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Char char="–"/>
        <a:defRPr sz="2800">
          <a:solidFill>
            <a:schemeClr val="tx1"/>
          </a:solidFill>
          <a:latin typeface="+mn-lt"/>
        </a:defRPr>
      </a:lvl2pPr>
      <a:lvl3pPr marL="1143000" indent="-228600" algn="l" rtl="0" eaLnBrk="0" fontAlgn="base" hangingPunct="0">
        <a:spcBef>
          <a:spcPct val="20000"/>
        </a:spcBef>
        <a:spcAft>
          <a:spcPct val="0"/>
        </a:spcAft>
        <a:buClr>
          <a:schemeClr val="tx2"/>
        </a:buClr>
        <a:buChar char="•"/>
        <a:defRPr sz="2400">
          <a:solidFill>
            <a:schemeClr val="tx1"/>
          </a:solidFill>
          <a:latin typeface="+mn-lt"/>
        </a:defRPr>
      </a:lvl3pPr>
      <a:lvl4pPr marL="1600200" indent="-228600" algn="l" rtl="0" eaLnBrk="0" fontAlgn="base" hangingPunct="0">
        <a:spcBef>
          <a:spcPct val="20000"/>
        </a:spcBef>
        <a:spcAft>
          <a:spcPct val="0"/>
        </a:spcAft>
        <a:buClr>
          <a:schemeClr val="tx2"/>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wmf"/><Relationship Id="rId1" Type="http://schemas.openxmlformats.org/officeDocument/2006/relationships/slideLayout" Target="../slideLayouts/slideLayout7.xml"/><Relationship Id="rId5" Type="http://schemas.openxmlformats.org/officeDocument/2006/relationships/image" Target="../media/image25.wmf"/><Relationship Id="rId4" Type="http://schemas.openxmlformats.org/officeDocument/2006/relationships/image" Target="../media/image24.wmf"/></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685800" y="304800"/>
            <a:ext cx="8001000" cy="838200"/>
          </a:xfrm>
        </p:spPr>
        <p:txBody>
          <a:bodyPr/>
          <a:lstStyle/>
          <a:p>
            <a:pPr algn="ctr" eaLnBrk="1" hangingPunct="1"/>
            <a:r>
              <a:rPr lang="en-US" altLang="en-US" sz="6600" i="0" smtClean="0">
                <a:cs typeface="Times New Roman" panose="02020603050405020304" pitchFamily="18" charset="0"/>
              </a:rPr>
              <a:t>Bohr’s atomic model</a:t>
            </a:r>
            <a:endParaRPr lang="en-US" altLang="en-US" sz="6600" i="0" smtClean="0"/>
          </a:p>
        </p:txBody>
      </p:sp>
      <p:sp>
        <p:nvSpPr>
          <p:cNvPr id="15363" name="Subtitle 1"/>
          <p:cNvSpPr>
            <a:spLocks noGrp="1"/>
          </p:cNvSpPr>
          <p:nvPr>
            <p:ph type="subTitle" sz="quarter" idx="1"/>
          </p:nvPr>
        </p:nvSpPr>
        <p:spPr/>
        <p:txBody>
          <a:bodyPr/>
          <a:lstStyle/>
          <a:p>
            <a:endParaRPr lang="en-US" alt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85800" y="228600"/>
            <a:ext cx="7772400" cy="609600"/>
          </a:xfrm>
        </p:spPr>
        <p:txBody>
          <a:bodyPr/>
          <a:lstStyle/>
          <a:p>
            <a:pPr algn="ctr"/>
            <a:r>
              <a:rPr lang="en-US" altLang="en-US" b="1" dirty="0" smtClean="0"/>
              <a:t/>
            </a:r>
            <a:br>
              <a:rPr lang="en-US" altLang="en-US" b="1" dirty="0" smtClean="0"/>
            </a:br>
            <a:r>
              <a:rPr lang="en-US" altLang="en-US" b="1" i="0" dirty="0" smtClean="0"/>
              <a:t>Democritus</a:t>
            </a:r>
            <a:endParaRPr lang="en-US" altLang="en-US" i="0" dirty="0" smtClean="0"/>
          </a:p>
        </p:txBody>
      </p:sp>
      <p:sp>
        <p:nvSpPr>
          <p:cNvPr id="16387" name="Content Placeholder 2"/>
          <p:cNvSpPr>
            <a:spLocks noGrp="1"/>
          </p:cNvSpPr>
          <p:nvPr>
            <p:ph idx="1"/>
          </p:nvPr>
        </p:nvSpPr>
        <p:spPr>
          <a:xfrm>
            <a:off x="685800" y="1371600"/>
            <a:ext cx="7772400" cy="4800600"/>
          </a:xfrm>
        </p:spPr>
        <p:txBody>
          <a:bodyPr/>
          <a:lstStyle/>
          <a:p>
            <a:pPr>
              <a:spcBef>
                <a:spcPct val="0"/>
              </a:spcBef>
              <a:buClrTx/>
              <a:buFontTx/>
              <a:buNone/>
            </a:pPr>
            <a:r>
              <a:rPr lang="en-US" altLang="en-US" dirty="0" smtClean="0"/>
              <a:t>Believed universe made of invisible units called atoms </a:t>
            </a:r>
          </a:p>
          <a:p>
            <a:pPr>
              <a:spcBef>
                <a:spcPct val="0"/>
              </a:spcBef>
              <a:buClrTx/>
              <a:buFontTx/>
              <a:buNone/>
            </a:pPr>
            <a:r>
              <a:rPr lang="en-US" altLang="en-US" dirty="0" smtClean="0"/>
              <a:t>• Named them Atoms</a:t>
            </a:r>
          </a:p>
          <a:p>
            <a:pPr>
              <a:spcBef>
                <a:spcPct val="0"/>
              </a:spcBef>
              <a:buClrTx/>
              <a:buFontTx/>
              <a:buNone/>
            </a:pPr>
            <a:r>
              <a:rPr lang="en-US" altLang="en-US" dirty="0" smtClean="0"/>
              <a:t>• 400 BC</a:t>
            </a:r>
          </a:p>
          <a:p>
            <a:pPr>
              <a:spcBef>
                <a:spcPct val="0"/>
              </a:spcBef>
              <a:buClrTx/>
              <a:buFontTx/>
              <a:buNone/>
            </a:pPr>
            <a:r>
              <a:rPr lang="en-US" altLang="en-US" dirty="0" smtClean="0"/>
              <a:t>• Aristotle said “He’s a quack!!!”</a:t>
            </a:r>
          </a:p>
          <a:p>
            <a:pPr>
              <a:spcBef>
                <a:spcPct val="0"/>
              </a:spcBef>
              <a:buClrTx/>
              <a:buFontTx/>
              <a:buNone/>
            </a:pPr>
            <a:r>
              <a:rPr lang="en-US" altLang="en-US" dirty="0" smtClean="0"/>
              <a:t>• Took 2000 </a:t>
            </a:r>
            <a:r>
              <a:rPr lang="en-US" altLang="en-US" dirty="0" err="1" smtClean="0"/>
              <a:t>yrs</a:t>
            </a:r>
            <a:r>
              <a:rPr lang="en-US" altLang="en-US" dirty="0" smtClean="0"/>
              <a:t> to  be proved right!</a:t>
            </a:r>
          </a:p>
          <a:p>
            <a:endParaRPr lang="en-US" alt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76200"/>
            <a:ext cx="7772400" cy="609600"/>
          </a:xfrm>
        </p:spPr>
        <p:txBody>
          <a:bodyPr/>
          <a:lstStyle/>
          <a:p>
            <a:r>
              <a:rPr lang="en-US" altLang="en-US" i="0" dirty="0" smtClean="0"/>
              <a:t>Development of Atomic Models</a:t>
            </a:r>
          </a:p>
        </p:txBody>
      </p:sp>
      <p:sp>
        <p:nvSpPr>
          <p:cNvPr id="17411" name="AutoShape 3">
            <a:hlinkClick r:id="rId3" action="ppaction://hlinksldjump" highlightClick="1"/>
          </p:cNvPr>
          <p:cNvSpPr>
            <a:spLocks noChangeArrowheads="1"/>
          </p:cNvSpPr>
          <p:nvPr/>
        </p:nvSpPr>
        <p:spPr bwMode="auto">
          <a:xfrm>
            <a:off x="0" y="6172200"/>
            <a:ext cx="609600" cy="357188"/>
          </a:xfrm>
          <a:prstGeom prst="actionButtonBeginning">
            <a:avLst/>
          </a:prstGeom>
          <a:solidFill>
            <a:schemeClr val="bg1">
              <a:alpha val="50195"/>
            </a:scheme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nvGrpSpPr>
          <p:cNvPr id="17412" name="Group 1"/>
          <p:cNvGrpSpPr>
            <a:grpSpLocks/>
          </p:cNvGrpSpPr>
          <p:nvPr/>
        </p:nvGrpSpPr>
        <p:grpSpPr bwMode="auto">
          <a:xfrm>
            <a:off x="228600" y="685800"/>
            <a:ext cx="8609013" cy="6211888"/>
            <a:chOff x="2052640" y="1590675"/>
            <a:chExt cx="5176835" cy="4914904"/>
          </a:xfrm>
        </p:grpSpPr>
        <p:grpSp>
          <p:nvGrpSpPr>
            <p:cNvPr id="17413" name="Group 4"/>
            <p:cNvGrpSpPr>
              <a:grpSpLocks/>
            </p:cNvGrpSpPr>
            <p:nvPr/>
          </p:nvGrpSpPr>
          <p:grpSpPr bwMode="auto">
            <a:xfrm>
              <a:off x="5435600" y="1590675"/>
              <a:ext cx="1793875" cy="2252664"/>
              <a:chOff x="3424" y="1002"/>
              <a:chExt cx="1130" cy="1419"/>
            </a:xfrm>
          </p:grpSpPr>
          <p:pic>
            <p:nvPicPr>
              <p:cNvPr id="17423" name="Picture 5" descr="models of the atom"/>
              <p:cNvPicPr>
                <a:picLocks noChangeAspect="1" noChangeArrowheads="1"/>
              </p:cNvPicPr>
              <p:nvPr/>
            </p:nvPicPr>
            <p:blipFill>
              <a:blip r:embed="rId4">
                <a:lum bright="2000" contrast="12000"/>
                <a:extLst>
                  <a:ext uri="{28A0092B-C50C-407E-A947-70E740481C1C}">
                    <a14:useLocalDpi xmlns:a14="http://schemas.microsoft.com/office/drawing/2010/main" val="0"/>
                  </a:ext>
                </a:extLst>
              </a:blip>
              <a:srcRect l="57658" t="5783" r="10010" b="69934"/>
              <a:stretch>
                <a:fillRect/>
              </a:stretch>
            </p:blipFill>
            <p:spPr bwMode="auto">
              <a:xfrm>
                <a:off x="3471" y="1002"/>
                <a:ext cx="969"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2" name="Text Box 6"/>
              <p:cNvSpPr txBox="1">
                <a:spLocks noChangeArrowheads="1"/>
              </p:cNvSpPr>
              <p:nvPr/>
            </p:nvSpPr>
            <p:spPr bwMode="auto">
              <a:xfrm>
                <a:off x="3424" y="1869"/>
                <a:ext cx="1130" cy="55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800" b="1" dirty="0">
                    <a:latin typeface="+mn-lt"/>
                  </a:rPr>
                  <a:t>Rutherford model</a:t>
                </a:r>
              </a:p>
              <a:p>
                <a:pPr>
                  <a:defRPr/>
                </a:pPr>
                <a:r>
                  <a:rPr lang="en-US" altLang="en-US" sz="1200" b="1" dirty="0">
                    <a:latin typeface="+mn-lt"/>
                  </a:rPr>
                  <a:t>In the early twentieth century, Rutherford</a:t>
                </a:r>
              </a:p>
              <a:p>
                <a:pPr>
                  <a:defRPr/>
                </a:pPr>
                <a:r>
                  <a:rPr lang="en-US" altLang="en-US" sz="1200" b="1" dirty="0">
                    <a:latin typeface="+mn-lt"/>
                  </a:rPr>
                  <a:t>showed that most of an atom's mass is</a:t>
                </a:r>
              </a:p>
              <a:p>
                <a:pPr>
                  <a:defRPr/>
                </a:pPr>
                <a:r>
                  <a:rPr lang="en-US" altLang="en-US" sz="1200" b="1" dirty="0">
                    <a:latin typeface="+mn-lt"/>
                  </a:rPr>
                  <a:t>concentrated in a small, positively charged</a:t>
                </a:r>
              </a:p>
              <a:p>
                <a:pPr>
                  <a:defRPr/>
                </a:pPr>
                <a:r>
                  <a:rPr lang="en-US" altLang="en-US" sz="1200" b="1" dirty="0">
                    <a:latin typeface="+mn-lt"/>
                  </a:rPr>
                  <a:t>region called the nucleus.</a:t>
                </a:r>
              </a:p>
            </p:txBody>
          </p:sp>
        </p:grpSp>
        <p:grpSp>
          <p:nvGrpSpPr>
            <p:cNvPr id="17414" name="Group 7"/>
            <p:cNvGrpSpPr>
              <a:grpSpLocks/>
            </p:cNvGrpSpPr>
            <p:nvPr/>
          </p:nvGrpSpPr>
          <p:grpSpPr bwMode="auto">
            <a:xfrm>
              <a:off x="2052640" y="4002093"/>
              <a:ext cx="1905001" cy="2228853"/>
              <a:chOff x="1293" y="2521"/>
              <a:chExt cx="1200" cy="1404"/>
            </a:xfrm>
          </p:grpSpPr>
          <p:sp>
            <p:nvSpPr>
              <p:cNvPr id="50184" name="Text Box 8"/>
              <p:cNvSpPr txBox="1">
                <a:spLocks noChangeArrowheads="1"/>
              </p:cNvSpPr>
              <p:nvPr/>
            </p:nvSpPr>
            <p:spPr bwMode="auto">
              <a:xfrm>
                <a:off x="1304" y="3465"/>
                <a:ext cx="1189" cy="4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800" b="1" dirty="0">
                    <a:latin typeface="+mn-lt"/>
                  </a:rPr>
                  <a:t>Bohr model</a:t>
                </a:r>
              </a:p>
              <a:p>
                <a:pPr>
                  <a:defRPr/>
                </a:pPr>
                <a:r>
                  <a:rPr lang="en-US" altLang="en-US" sz="1200" b="1" dirty="0">
                    <a:latin typeface="+mn-lt"/>
                  </a:rPr>
                  <a:t>After Rutherford's discovery, Bohr proposed</a:t>
                </a:r>
              </a:p>
              <a:p>
                <a:pPr>
                  <a:defRPr/>
                </a:pPr>
                <a:r>
                  <a:rPr lang="en-US" altLang="en-US" sz="1200" b="1" dirty="0">
                    <a:latin typeface="+mn-lt"/>
                  </a:rPr>
                  <a:t>that electrons travel in definite orbits around</a:t>
                </a:r>
              </a:p>
              <a:p>
                <a:pPr>
                  <a:defRPr/>
                </a:pPr>
                <a:r>
                  <a:rPr lang="en-US" altLang="en-US" sz="1200" b="1" dirty="0">
                    <a:latin typeface="+mn-lt"/>
                  </a:rPr>
                  <a:t>the nucleus.</a:t>
                </a:r>
              </a:p>
            </p:txBody>
          </p:sp>
          <p:pic>
            <p:nvPicPr>
              <p:cNvPr id="17422" name="Picture 9" descr="models of the atom"/>
              <p:cNvPicPr>
                <a:picLocks noChangeAspect="1" noChangeArrowheads="1"/>
              </p:cNvPicPr>
              <p:nvPr/>
            </p:nvPicPr>
            <p:blipFill>
              <a:blip r:embed="rId4">
                <a:lum bright="2000" contrast="12000"/>
                <a:extLst>
                  <a:ext uri="{28A0092B-C50C-407E-A947-70E740481C1C}">
                    <a14:useLocalDpi xmlns:a14="http://schemas.microsoft.com/office/drawing/2010/main" val="0"/>
                  </a:ext>
                </a:extLst>
              </a:blip>
              <a:srcRect l="16417" t="51674" r="49249" b="22925"/>
              <a:stretch>
                <a:fillRect/>
              </a:stretch>
            </p:blipFill>
            <p:spPr bwMode="auto">
              <a:xfrm>
                <a:off x="1293" y="2521"/>
                <a:ext cx="1029"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15" name="Group 10"/>
            <p:cNvGrpSpPr>
              <a:grpSpLocks/>
            </p:cNvGrpSpPr>
            <p:nvPr/>
          </p:nvGrpSpPr>
          <p:grpSpPr bwMode="auto">
            <a:xfrm>
              <a:off x="2062164" y="1608138"/>
              <a:ext cx="1989138" cy="2070102"/>
              <a:chOff x="1299" y="1013"/>
              <a:chExt cx="1253" cy="1304"/>
            </a:xfrm>
          </p:grpSpPr>
          <p:sp>
            <p:nvSpPr>
              <p:cNvPr id="50187" name="Text Box 11"/>
              <p:cNvSpPr txBox="1">
                <a:spLocks noChangeArrowheads="1"/>
              </p:cNvSpPr>
              <p:nvPr/>
            </p:nvSpPr>
            <p:spPr bwMode="auto">
              <a:xfrm>
                <a:off x="1316" y="1857"/>
                <a:ext cx="1236" cy="4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800" b="1" dirty="0">
                    <a:latin typeface="+mn-lt"/>
                  </a:rPr>
                  <a:t>Thomson model</a:t>
                </a:r>
              </a:p>
              <a:p>
                <a:pPr>
                  <a:defRPr/>
                </a:pPr>
                <a:r>
                  <a:rPr lang="en-US" altLang="en-US" sz="1200" b="1" dirty="0">
                    <a:latin typeface="+mn-lt"/>
                  </a:rPr>
                  <a:t>In the nineteenth century, Thomson described</a:t>
                </a:r>
              </a:p>
              <a:p>
                <a:pPr>
                  <a:defRPr/>
                </a:pPr>
                <a:r>
                  <a:rPr lang="en-US" altLang="en-US" sz="1200" b="1" dirty="0">
                    <a:latin typeface="+mn-lt"/>
                  </a:rPr>
                  <a:t>the atom as a ball of positive charge containing</a:t>
                </a:r>
              </a:p>
              <a:p>
                <a:pPr>
                  <a:defRPr/>
                </a:pPr>
                <a:r>
                  <a:rPr lang="en-US" altLang="en-US" sz="1200" b="1" dirty="0">
                    <a:latin typeface="+mn-lt"/>
                  </a:rPr>
                  <a:t>a number of electrons.</a:t>
                </a:r>
              </a:p>
            </p:txBody>
          </p:sp>
          <p:pic>
            <p:nvPicPr>
              <p:cNvPr id="17420" name="Picture 12" descr="models of the atom"/>
              <p:cNvPicPr>
                <a:picLocks noChangeAspect="1" noChangeArrowheads="1"/>
              </p:cNvPicPr>
              <p:nvPr/>
            </p:nvPicPr>
            <p:blipFill>
              <a:blip r:embed="rId4">
                <a:lum bright="2000" contrast="12000"/>
                <a:extLst>
                  <a:ext uri="{28A0092B-C50C-407E-A947-70E740481C1C}">
                    <a14:useLocalDpi xmlns:a14="http://schemas.microsoft.com/office/drawing/2010/main" val="0"/>
                  </a:ext>
                </a:extLst>
              </a:blip>
              <a:srcRect l="15622" t="6119" r="49171" b="69128"/>
              <a:stretch>
                <a:fillRect/>
              </a:stretch>
            </p:blipFill>
            <p:spPr bwMode="auto">
              <a:xfrm>
                <a:off x="1299" y="1013"/>
                <a:ext cx="1055" cy="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16" name="Group 13"/>
            <p:cNvGrpSpPr>
              <a:grpSpLocks/>
            </p:cNvGrpSpPr>
            <p:nvPr/>
          </p:nvGrpSpPr>
          <p:grpSpPr bwMode="auto">
            <a:xfrm>
              <a:off x="5281613" y="4002090"/>
              <a:ext cx="1947862" cy="2503489"/>
              <a:chOff x="3327" y="2521"/>
              <a:chExt cx="1227" cy="1577"/>
            </a:xfrm>
          </p:grpSpPr>
          <p:sp>
            <p:nvSpPr>
              <p:cNvPr id="50190" name="Text Box 14"/>
              <p:cNvSpPr txBox="1">
                <a:spLocks noChangeArrowheads="1"/>
              </p:cNvSpPr>
              <p:nvPr/>
            </p:nvSpPr>
            <p:spPr bwMode="auto">
              <a:xfrm>
                <a:off x="3327" y="3546"/>
                <a:ext cx="1227" cy="5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1800" b="1" dirty="0">
                    <a:latin typeface="+mn-lt"/>
                  </a:rPr>
                  <a:t>Quantum mechanical model</a:t>
                </a:r>
              </a:p>
              <a:p>
                <a:pPr>
                  <a:defRPr/>
                </a:pPr>
                <a:r>
                  <a:rPr lang="en-US" altLang="en-US" sz="1200" b="1" dirty="0">
                    <a:latin typeface="+mn-lt"/>
                  </a:rPr>
                  <a:t>Modern atomic theory described the</a:t>
                </a:r>
              </a:p>
              <a:p>
                <a:pPr>
                  <a:defRPr/>
                </a:pPr>
                <a:r>
                  <a:rPr lang="en-US" altLang="en-US" sz="1200" b="1" dirty="0">
                    <a:latin typeface="+mn-lt"/>
                  </a:rPr>
                  <a:t>electronic structure of the atom as the</a:t>
                </a:r>
              </a:p>
              <a:p>
                <a:pPr>
                  <a:defRPr/>
                </a:pPr>
                <a:r>
                  <a:rPr lang="en-US" altLang="en-US" sz="1200" b="1" dirty="0">
                    <a:latin typeface="+mn-lt"/>
                  </a:rPr>
                  <a:t>probability of finding electrons within</a:t>
                </a:r>
              </a:p>
              <a:p>
                <a:pPr>
                  <a:defRPr/>
                </a:pPr>
                <a:r>
                  <a:rPr lang="en-US" altLang="en-US" sz="1200" b="1" dirty="0">
                    <a:latin typeface="+mn-lt"/>
                  </a:rPr>
                  <a:t>certain regions of space. (</a:t>
                </a:r>
                <a:r>
                  <a:rPr lang="en-US" altLang="en-US" sz="1200" b="1" u="sng" dirty="0">
                    <a:latin typeface="+mn-lt"/>
                  </a:rPr>
                  <a:t>orbitals</a:t>
                </a:r>
                <a:r>
                  <a:rPr lang="en-US" altLang="en-US" sz="1200" dirty="0">
                    <a:latin typeface="+mn-lt"/>
                  </a:rPr>
                  <a:t>)</a:t>
                </a:r>
                <a:endParaRPr lang="en-US" altLang="en-US" sz="1200" b="1" dirty="0">
                  <a:latin typeface="+mn-lt"/>
                </a:endParaRPr>
              </a:p>
            </p:txBody>
          </p:sp>
          <p:pic>
            <p:nvPicPr>
              <p:cNvPr id="17418" name="Picture 15" descr="models of the atom"/>
              <p:cNvPicPr>
                <a:picLocks noChangeAspect="1" noChangeArrowheads="1"/>
              </p:cNvPicPr>
              <p:nvPr/>
            </p:nvPicPr>
            <p:blipFill>
              <a:blip r:embed="rId4">
                <a:lum bright="2000" contrast="12000"/>
                <a:extLst>
                  <a:ext uri="{28A0092B-C50C-407E-A947-70E740481C1C}">
                    <a14:useLocalDpi xmlns:a14="http://schemas.microsoft.com/office/drawing/2010/main" val="0"/>
                  </a:ext>
                </a:extLst>
              </a:blip>
              <a:srcRect l="55455" t="44585" r="7608" b="21992"/>
              <a:stretch>
                <a:fillRect/>
              </a:stretch>
            </p:blipFill>
            <p:spPr bwMode="auto">
              <a:xfrm>
                <a:off x="3327" y="2521"/>
                <a:ext cx="1107" cy="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25400" y="3733800"/>
            <a:ext cx="9118600" cy="2667000"/>
          </a:xfrm>
        </p:spPr>
        <p:txBody>
          <a:bodyPr/>
          <a:lstStyle/>
          <a:p>
            <a:r>
              <a:rPr lang="en-US" altLang="en-US" b="1" smtClean="0"/>
              <a:t>John Dalton (1803), </a:t>
            </a:r>
            <a:r>
              <a:rPr lang="en-US" altLang="en-US" i="1" smtClean="0"/>
              <a:t>England</a:t>
            </a:r>
            <a:r>
              <a:rPr lang="en-US" altLang="en-US" b="1" smtClean="0"/>
              <a:t> - </a:t>
            </a:r>
            <a:r>
              <a:rPr lang="en-US" altLang="en-US" smtClean="0"/>
              <a:t>formed the atomic theory, which states that all matter is composed of tiny, indestructible particles called atoms that are all alike and have the same atomic weight. This is first scientific model. Atom is un break able part, it has some positive(+ve) and negative(-ve) charges.</a:t>
            </a:r>
          </a:p>
          <a:p>
            <a:endParaRPr lang="en-US" altLang="en-US" sz="3000" smtClean="0"/>
          </a:p>
        </p:txBody>
      </p:sp>
      <p:grpSp>
        <p:nvGrpSpPr>
          <p:cNvPr id="19459" name="Group 5"/>
          <p:cNvGrpSpPr>
            <a:grpSpLocks/>
          </p:cNvGrpSpPr>
          <p:nvPr/>
        </p:nvGrpSpPr>
        <p:grpSpPr bwMode="auto">
          <a:xfrm>
            <a:off x="4325938" y="33338"/>
            <a:ext cx="4689475" cy="3852862"/>
            <a:chOff x="5486400" y="4367212"/>
            <a:chExt cx="2486025" cy="1941685"/>
          </a:xfrm>
        </p:grpSpPr>
        <p:pic>
          <p:nvPicPr>
            <p:cNvPr id="19461" name="Picture 2" descr="http://hi.fi.tripod.com/timeline/images/plum_pudding_mode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4367212"/>
              <a:ext cx="2486025" cy="1628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629468" y="6021685"/>
              <a:ext cx="1966770" cy="287212"/>
            </a:xfrm>
            <a:prstGeom prst="rect">
              <a:avLst/>
            </a:prstGeom>
          </p:spPr>
          <p:txBody>
            <a:bodyPr wrap="none">
              <a:spAutoFit/>
            </a:bodyPr>
            <a:lstStyle/>
            <a:p>
              <a:pPr>
                <a:defRPr/>
              </a:pPr>
              <a:r>
                <a:rPr lang="en-US" sz="2800" dirty="0">
                  <a:solidFill>
                    <a:schemeClr val="tx2">
                      <a:lumMod val="75000"/>
                    </a:schemeClr>
                  </a:solidFill>
                  <a:latin typeface="+mn-lt"/>
                </a:rPr>
                <a:t>         The Plum-Pudding</a:t>
              </a:r>
            </a:p>
          </p:txBody>
        </p:sp>
      </p:grpSp>
      <p:pic>
        <p:nvPicPr>
          <p:cNvPr id="19460" name="Picture 4" descr="dal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25400"/>
            <a:ext cx="3098800" cy="3175000"/>
          </a:xfrm>
          <a:prstGeom prst="rect">
            <a:avLst/>
          </a:prstGeom>
          <a:noFill/>
          <a:ln w="25400">
            <a:solidFill>
              <a:srgbClr val="FFFF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idx="4294967295"/>
          </p:nvPr>
        </p:nvSpPr>
        <p:spPr>
          <a:xfrm>
            <a:off x="457200" y="0"/>
            <a:ext cx="7924800" cy="762000"/>
          </a:xfrm>
        </p:spPr>
        <p:txBody>
          <a:bodyPr/>
          <a:lstStyle/>
          <a:p>
            <a:pPr algn="ctr" eaLnBrk="1" hangingPunct="1"/>
            <a:r>
              <a:rPr lang="en-US" altLang="en-US" i="0" smtClean="0"/>
              <a:t>     Discovery of the Electron</a:t>
            </a:r>
          </a:p>
        </p:txBody>
      </p:sp>
      <p:sp>
        <p:nvSpPr>
          <p:cNvPr id="15363" name="Text Box 4"/>
          <p:cNvSpPr txBox="1">
            <a:spLocks noChangeArrowheads="1"/>
          </p:cNvSpPr>
          <p:nvPr/>
        </p:nvSpPr>
        <p:spPr bwMode="auto">
          <a:xfrm>
            <a:off x="76200" y="927100"/>
            <a:ext cx="8991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defRPr/>
            </a:pPr>
            <a:r>
              <a:rPr lang="en-US" altLang="en-US" sz="3200" dirty="0" smtClean="0">
                <a:latin typeface="+mn-lt"/>
              </a:rPr>
              <a:t>                In 1897, J.J. Thomson used a </a:t>
            </a:r>
            <a:r>
              <a:rPr lang="en-US" altLang="en-US" sz="3200" i="1" u="sng" dirty="0" smtClean="0">
                <a:latin typeface="+mn-lt"/>
              </a:rPr>
              <a:t>cathode ray                               </a:t>
            </a:r>
            <a:r>
              <a:rPr lang="en-US" altLang="en-US" sz="3200" b="1" i="1" dirty="0" smtClean="0">
                <a:latin typeface="+mn-lt"/>
              </a:rPr>
              <a:t>		</a:t>
            </a:r>
            <a:r>
              <a:rPr lang="en-US" altLang="en-US" sz="3200" i="1" u="sng" dirty="0" smtClean="0">
                <a:latin typeface="+mn-lt"/>
              </a:rPr>
              <a:t>tube</a:t>
            </a:r>
            <a:r>
              <a:rPr lang="en-US" altLang="en-US" sz="3200" dirty="0" smtClean="0">
                <a:latin typeface="+mn-lt"/>
              </a:rPr>
              <a:t> to deduce the presence of a   		         negatively charged particle: the </a:t>
            </a:r>
            <a:r>
              <a:rPr lang="en-US" altLang="en-US" sz="3200" b="1" dirty="0" smtClean="0">
                <a:solidFill>
                  <a:srgbClr val="00B0F0"/>
                </a:solidFill>
                <a:latin typeface="+mn-lt"/>
              </a:rPr>
              <a:t>electron</a:t>
            </a:r>
          </a:p>
          <a:p>
            <a:pPr eaLnBrk="1" hangingPunct="1">
              <a:spcBef>
                <a:spcPct val="0"/>
              </a:spcBef>
              <a:buClrTx/>
              <a:buSzTx/>
              <a:buFontTx/>
              <a:buNone/>
              <a:defRPr/>
            </a:pPr>
            <a:r>
              <a:rPr lang="en-US" altLang="en-US" sz="1600" b="1" dirty="0" smtClean="0">
                <a:solidFill>
                  <a:srgbClr val="00B0F0"/>
                </a:solidFill>
              </a:rPr>
              <a:t>  </a:t>
            </a:r>
          </a:p>
        </p:txBody>
      </p:sp>
      <p:pic>
        <p:nvPicPr>
          <p:cNvPr id="20484" name="Picture 6" descr="cathoderaytube"/>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143000" y="2743200"/>
            <a:ext cx="6967538" cy="3925888"/>
          </a:xfrm>
          <a:ln w="19050">
            <a:solidFill>
              <a:srgbClr val="FFFF00"/>
            </a:solidFill>
            <a:miter lim="800000"/>
            <a:headEnd/>
            <a:tailEnd/>
          </a:ln>
        </p:spPr>
      </p:pic>
      <p:pic>
        <p:nvPicPr>
          <p:cNvPr id="20485" name="Picture 4" descr="thom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643063" cy="228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91600" cy="1143000"/>
          </a:xfrm>
        </p:spPr>
        <p:txBody>
          <a:bodyPr/>
          <a:lstStyle/>
          <a:p>
            <a:pPr algn="ctr" eaLnBrk="1" hangingPunct="1"/>
            <a:r>
              <a:rPr lang="en-US" altLang="en-US" sz="3800" b="1" i="0" smtClean="0"/>
              <a:t>Thomson:  “Plum Pudding” or “Chocolate Chip Cookie” Model</a:t>
            </a:r>
          </a:p>
        </p:txBody>
      </p:sp>
      <p:sp>
        <p:nvSpPr>
          <p:cNvPr id="18435" name="Rectangle 3"/>
          <p:cNvSpPr>
            <a:spLocks noGrp="1" noChangeArrowheads="1"/>
          </p:cNvSpPr>
          <p:nvPr>
            <p:ph type="body" idx="1"/>
          </p:nvPr>
        </p:nvSpPr>
        <p:spPr>
          <a:xfrm>
            <a:off x="76200" y="1268413"/>
            <a:ext cx="8763000" cy="2435225"/>
          </a:xfrm>
        </p:spPr>
        <p:txBody>
          <a:bodyPr/>
          <a:lstStyle/>
          <a:p>
            <a:pPr eaLnBrk="1" hangingPunct="1">
              <a:lnSpc>
                <a:spcPct val="90000"/>
              </a:lnSpc>
            </a:pPr>
            <a:r>
              <a:rPr lang="en-US" altLang="en-US" sz="2800" smtClean="0"/>
              <a:t>using available data on the atom, </a:t>
            </a:r>
            <a:r>
              <a:rPr lang="en-US" altLang="en-US" sz="2800" b="1" smtClean="0"/>
              <a:t>J.J. Thomson</a:t>
            </a:r>
            <a:r>
              <a:rPr lang="en-US" altLang="en-US" sz="2800" smtClean="0"/>
              <a:t> came up with the idea of having charges embedded with Dalton’s Billiard Balls</a:t>
            </a:r>
          </a:p>
          <a:p>
            <a:pPr eaLnBrk="1" hangingPunct="1">
              <a:lnSpc>
                <a:spcPct val="90000"/>
              </a:lnSpc>
            </a:pPr>
            <a:r>
              <a:rPr lang="en-US" altLang="en-US" sz="2800" smtClean="0"/>
              <a:t>Also used cathode ray experiment to discover the existance of the electron</a:t>
            </a:r>
          </a:p>
        </p:txBody>
      </p:sp>
      <p:grpSp>
        <p:nvGrpSpPr>
          <p:cNvPr id="2" name="Group 9"/>
          <p:cNvGrpSpPr>
            <a:grpSpLocks/>
          </p:cNvGrpSpPr>
          <p:nvPr/>
        </p:nvGrpSpPr>
        <p:grpSpPr bwMode="auto">
          <a:xfrm>
            <a:off x="915988" y="4038600"/>
            <a:ext cx="2970212" cy="1441450"/>
            <a:chOff x="577" y="2544"/>
            <a:chExt cx="1871" cy="650"/>
          </a:xfrm>
        </p:grpSpPr>
        <p:sp>
          <p:nvSpPr>
            <p:cNvPr id="21520" name="Rectangle 5"/>
            <p:cNvSpPr>
              <a:spLocks noChangeArrowheads="1"/>
            </p:cNvSpPr>
            <p:nvPr/>
          </p:nvSpPr>
          <p:spPr bwMode="auto">
            <a:xfrm>
              <a:off x="577" y="2544"/>
              <a:ext cx="1203" cy="650"/>
            </a:xfrm>
            <a:prstGeom prst="rect">
              <a:avLst/>
            </a:prstGeom>
            <a:noFill/>
            <a:ln w="9525">
              <a:solidFill>
                <a:srgbClr val="339966"/>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tx2"/>
                </a:buClr>
                <a:buChar char="–"/>
                <a:defRPr sz="2800">
                  <a:solidFill>
                    <a:schemeClr val="tx1"/>
                  </a:solidFill>
                  <a:latin typeface="Times New Roman" panose="02020603050405020304" pitchFamily="18" charset="0"/>
                </a:defRPr>
              </a:lvl2pPr>
              <a:lvl3pPr marL="1143000" indent="-228600">
                <a:spcBef>
                  <a:spcPct val="20000"/>
                </a:spcBef>
                <a:buClr>
                  <a:schemeClr val="tx2"/>
                </a:buClr>
                <a:buChar char="•"/>
                <a:defRPr sz="2400">
                  <a:solidFill>
                    <a:schemeClr val="tx1"/>
                  </a:solidFill>
                  <a:latin typeface="Times New Roman" panose="02020603050405020304" pitchFamily="18" charset="0"/>
                </a:defRPr>
              </a:lvl3pPr>
              <a:lvl4pPr marL="1600200" indent="-228600">
                <a:spcBef>
                  <a:spcPct val="20000"/>
                </a:spcBef>
                <a:buClr>
                  <a:schemeClr val="tx2"/>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en-US" sz="2400">
                  <a:latin typeface="Arial" panose="020B0604020202020204" pitchFamily="34" charset="0"/>
                </a:rPr>
                <a:t>positive</a:t>
              </a:r>
            </a:p>
            <a:p>
              <a:pPr algn="ctr">
                <a:spcBef>
                  <a:spcPct val="0"/>
                </a:spcBef>
                <a:buClrTx/>
                <a:buFontTx/>
                <a:buNone/>
              </a:pPr>
              <a:r>
                <a:rPr lang="en-US" altLang="en-US" sz="1600">
                  <a:latin typeface="Arial" panose="020B0604020202020204" pitchFamily="34" charset="0"/>
                </a:rPr>
                <a:t>(evenly distributed)</a:t>
              </a:r>
              <a:endParaRPr lang="en-US" altLang="en-US" sz="2400">
                <a:latin typeface="Arial" panose="020B0604020202020204" pitchFamily="34" charset="0"/>
              </a:endParaRPr>
            </a:p>
            <a:p>
              <a:pPr algn="ctr">
                <a:spcBef>
                  <a:spcPct val="0"/>
                </a:spcBef>
                <a:buClrTx/>
                <a:buFontTx/>
                <a:buNone/>
              </a:pPr>
              <a:r>
                <a:rPr lang="en-US" altLang="en-US" sz="2400">
                  <a:latin typeface="Arial" panose="020B0604020202020204" pitchFamily="34" charset="0"/>
                </a:rPr>
                <a:t>“dough”</a:t>
              </a:r>
            </a:p>
            <a:p>
              <a:pPr algn="ctr">
                <a:spcBef>
                  <a:spcPct val="0"/>
                </a:spcBef>
                <a:buClrTx/>
                <a:buFontTx/>
                <a:buNone/>
              </a:pPr>
              <a:r>
                <a:rPr lang="en-US" altLang="en-US" sz="2400">
                  <a:latin typeface="Arial" panose="020B0604020202020204" pitchFamily="34" charset="0"/>
                </a:rPr>
                <a:t> part</a:t>
              </a:r>
            </a:p>
          </p:txBody>
        </p:sp>
        <p:sp>
          <p:nvSpPr>
            <p:cNvPr id="21521" name="Line 7"/>
            <p:cNvSpPr>
              <a:spLocks noChangeShapeType="1"/>
            </p:cNvSpPr>
            <p:nvPr/>
          </p:nvSpPr>
          <p:spPr bwMode="auto">
            <a:xfrm flipV="1">
              <a:off x="1632" y="2784"/>
              <a:ext cx="816" cy="96"/>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10"/>
          <p:cNvGrpSpPr>
            <a:grpSpLocks/>
          </p:cNvGrpSpPr>
          <p:nvPr/>
        </p:nvGrpSpPr>
        <p:grpSpPr bwMode="auto">
          <a:xfrm>
            <a:off x="5029200" y="3962400"/>
            <a:ext cx="2974975" cy="908050"/>
            <a:chOff x="3168" y="2496"/>
            <a:chExt cx="1874" cy="572"/>
          </a:xfrm>
        </p:grpSpPr>
        <p:sp>
          <p:nvSpPr>
            <p:cNvPr id="21518" name="Rectangle 6"/>
            <p:cNvSpPr>
              <a:spLocks noChangeArrowheads="1"/>
            </p:cNvSpPr>
            <p:nvPr/>
          </p:nvSpPr>
          <p:spPr bwMode="auto">
            <a:xfrm>
              <a:off x="3970" y="2544"/>
              <a:ext cx="1072" cy="524"/>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tx2"/>
                </a:buClr>
                <a:buChar char="–"/>
                <a:defRPr sz="2800">
                  <a:solidFill>
                    <a:schemeClr val="tx1"/>
                  </a:solidFill>
                  <a:latin typeface="Times New Roman" panose="02020603050405020304" pitchFamily="18" charset="0"/>
                </a:defRPr>
              </a:lvl2pPr>
              <a:lvl3pPr marL="1143000" indent="-228600">
                <a:spcBef>
                  <a:spcPct val="20000"/>
                </a:spcBef>
                <a:buClr>
                  <a:schemeClr val="tx2"/>
                </a:buClr>
                <a:buChar char="•"/>
                <a:defRPr sz="2400">
                  <a:solidFill>
                    <a:schemeClr val="tx1"/>
                  </a:solidFill>
                  <a:latin typeface="Times New Roman" panose="02020603050405020304" pitchFamily="18" charset="0"/>
                </a:defRPr>
              </a:lvl3pPr>
              <a:lvl4pPr marL="1600200" indent="-228600">
                <a:spcBef>
                  <a:spcPct val="20000"/>
                </a:spcBef>
                <a:buClr>
                  <a:schemeClr val="tx2"/>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en-US" sz="2400">
                  <a:latin typeface="Arial" panose="020B0604020202020204" pitchFamily="34" charset="0"/>
                </a:rPr>
                <a:t>negative</a:t>
              </a:r>
            </a:p>
            <a:p>
              <a:pPr algn="ctr">
                <a:spcBef>
                  <a:spcPct val="0"/>
                </a:spcBef>
                <a:buClrTx/>
                <a:buFontTx/>
                <a:buNone/>
              </a:pPr>
              <a:r>
                <a:rPr lang="en-US" altLang="en-US" sz="2400">
                  <a:latin typeface="Arial" panose="020B0604020202020204" pitchFamily="34" charset="0"/>
                </a:rPr>
                <a:t>“chocolate”</a:t>
              </a:r>
            </a:p>
          </p:txBody>
        </p:sp>
        <p:sp>
          <p:nvSpPr>
            <p:cNvPr id="21519" name="Line 8"/>
            <p:cNvSpPr>
              <a:spLocks noChangeShapeType="1"/>
            </p:cNvSpPr>
            <p:nvPr/>
          </p:nvSpPr>
          <p:spPr bwMode="auto">
            <a:xfrm flipH="1" flipV="1">
              <a:off x="3168" y="2496"/>
              <a:ext cx="864" cy="240"/>
            </a:xfrm>
            <a:prstGeom prst="line">
              <a:avLst/>
            </a:prstGeom>
            <a:noFill/>
            <a:ln w="25400">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8444" name="Rectangle 12"/>
          <p:cNvSpPr>
            <a:spLocks noChangeArrowheads="1"/>
          </p:cNvSpPr>
          <p:nvPr/>
        </p:nvSpPr>
        <p:spPr bwMode="auto">
          <a:xfrm>
            <a:off x="1595438" y="6324600"/>
            <a:ext cx="6392862" cy="461963"/>
          </a:xfrm>
          <a:prstGeom prst="rect">
            <a:avLst/>
          </a:prstGeom>
          <a:solidFill>
            <a:srgbClr val="000000"/>
          </a:solidFill>
          <a:ln w="25400">
            <a:solidFill>
              <a:srgbClr val="FFFF00"/>
            </a:solidFill>
            <a:miter lim="800000"/>
            <a:headEnd/>
            <a:tailEnd/>
          </a:ln>
        </p:spPr>
        <p:txBody>
          <a:bodyPr>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tx2"/>
              </a:buClr>
              <a:buChar char="–"/>
              <a:defRPr sz="2800">
                <a:solidFill>
                  <a:schemeClr val="tx1"/>
                </a:solidFill>
                <a:latin typeface="Times New Roman" panose="02020603050405020304" pitchFamily="18" charset="0"/>
              </a:defRPr>
            </a:lvl2pPr>
            <a:lvl3pPr marL="1143000" indent="-228600">
              <a:spcBef>
                <a:spcPct val="20000"/>
              </a:spcBef>
              <a:buClr>
                <a:schemeClr val="tx2"/>
              </a:buClr>
              <a:buChar char="•"/>
              <a:defRPr sz="2400">
                <a:solidFill>
                  <a:schemeClr val="tx1"/>
                </a:solidFill>
                <a:latin typeface="Times New Roman" panose="02020603050405020304" pitchFamily="18" charset="0"/>
              </a:defRPr>
            </a:lvl3pPr>
            <a:lvl4pPr marL="1600200" indent="-228600">
              <a:spcBef>
                <a:spcPct val="20000"/>
              </a:spcBef>
              <a:buClr>
                <a:schemeClr val="tx2"/>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2400">
                <a:solidFill>
                  <a:srgbClr val="FFFF00"/>
                </a:solidFill>
                <a:latin typeface="Arial" panose="020B0604020202020204" pitchFamily="34" charset="0"/>
              </a:rPr>
              <a:t>note: this model kept Dalton’s key ideas intact</a:t>
            </a:r>
            <a:endParaRPr lang="en-US" altLang="en-US" sz="2400">
              <a:latin typeface="Arial" panose="020B0604020202020204" pitchFamily="34" charset="0"/>
            </a:endParaRPr>
          </a:p>
        </p:txBody>
      </p:sp>
      <p:grpSp>
        <p:nvGrpSpPr>
          <p:cNvPr id="21511" name="Group 3"/>
          <p:cNvGrpSpPr>
            <a:grpSpLocks/>
          </p:cNvGrpSpPr>
          <p:nvPr/>
        </p:nvGrpSpPr>
        <p:grpSpPr bwMode="auto">
          <a:xfrm>
            <a:off x="3282950" y="3352800"/>
            <a:ext cx="2562225" cy="2971800"/>
            <a:chOff x="3282950" y="3352800"/>
            <a:chExt cx="2562225" cy="2971800"/>
          </a:xfrm>
        </p:grpSpPr>
        <p:pic>
          <p:nvPicPr>
            <p:cNvPr id="21512" name="Picture 4" descr="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8825" y="3352800"/>
              <a:ext cx="2546350"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13" name="Group 11"/>
            <p:cNvGrpSpPr>
              <a:grpSpLocks/>
            </p:cNvGrpSpPr>
            <p:nvPr/>
          </p:nvGrpSpPr>
          <p:grpSpPr bwMode="auto">
            <a:xfrm>
              <a:off x="3282950" y="4495800"/>
              <a:ext cx="2562225" cy="1828800"/>
              <a:chOff x="2667000" y="4191000"/>
              <a:chExt cx="3352800" cy="1828800"/>
            </a:xfrm>
          </p:grpSpPr>
          <p:sp>
            <p:nvSpPr>
              <p:cNvPr id="21514" name="Line 14"/>
              <p:cNvSpPr>
                <a:spLocks noChangeShapeType="1"/>
              </p:cNvSpPr>
              <p:nvPr/>
            </p:nvSpPr>
            <p:spPr bwMode="auto">
              <a:xfrm>
                <a:off x="2667000" y="4267200"/>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5" name="Line 15"/>
              <p:cNvSpPr>
                <a:spLocks noChangeShapeType="1"/>
              </p:cNvSpPr>
              <p:nvPr/>
            </p:nvSpPr>
            <p:spPr bwMode="auto">
              <a:xfrm>
                <a:off x="6019800" y="4191000"/>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6" name="Line 16"/>
              <p:cNvSpPr>
                <a:spLocks noChangeShapeType="1"/>
              </p:cNvSpPr>
              <p:nvPr/>
            </p:nvSpPr>
            <p:spPr bwMode="auto">
              <a:xfrm>
                <a:off x="2667000" y="5715000"/>
                <a:ext cx="3352800" cy="0"/>
              </a:xfrm>
              <a:prstGeom prst="line">
                <a:avLst/>
              </a:prstGeom>
              <a:noFill/>
              <a:ln w="952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7" name="Text Box 17"/>
              <p:cNvSpPr txBox="1">
                <a:spLocks noChangeArrowheads="1"/>
              </p:cNvSpPr>
              <p:nvPr/>
            </p:nvSpPr>
            <p:spPr bwMode="auto">
              <a:xfrm>
                <a:off x="3733800" y="5562600"/>
                <a:ext cx="1163638"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latin typeface="Comic Sans MS" panose="030F0702030302020204" pitchFamily="66" charset="0"/>
                  </a:rPr>
                  <a:t>10</a:t>
                </a:r>
                <a:r>
                  <a:rPr lang="en-US" altLang="en-US" b="1" baseline="30000">
                    <a:latin typeface="Comic Sans MS" panose="030F0702030302020204" pitchFamily="66" charset="0"/>
                  </a:rPr>
                  <a:t>-10</a:t>
                </a:r>
                <a:r>
                  <a:rPr lang="en-US" altLang="en-US" b="1">
                    <a:latin typeface="Comic Sans MS" panose="030F0702030302020204" pitchFamily="66" charset="0"/>
                  </a:rPr>
                  <a:t>m</a:t>
                </a:r>
              </a:p>
            </p:txBody>
          </p:sp>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P spid="18444"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0" y="304800"/>
            <a:ext cx="9144000" cy="4800600"/>
          </a:xfrm>
        </p:spPr>
        <p:txBody>
          <a:bodyPr/>
          <a:lstStyle/>
          <a:p>
            <a:r>
              <a:rPr lang="en-US" altLang="en-US" b="1" smtClean="0"/>
              <a:t>J. J. THOMSON:</a:t>
            </a:r>
            <a:r>
              <a:rPr lang="en-US" altLang="en-US" smtClean="0"/>
              <a:t> He discovered the electron in 1891. The name of electron was suggested by Stony.</a:t>
            </a:r>
          </a:p>
          <a:p>
            <a:endParaRPr lang="en-US" altLang="en-US" smtClean="0"/>
          </a:p>
          <a:p>
            <a:r>
              <a:rPr lang="en-US" altLang="en-US" smtClean="0"/>
              <a:t> Thomson says that atom is uniformly distributed. There is no empty space inside the atom. Electron are in static equilibrium with positive (+ve) charge.</a:t>
            </a:r>
          </a:p>
          <a:p>
            <a:endParaRPr lang="en-US" altLang="en-US" smtClean="0"/>
          </a:p>
          <a:p>
            <a:r>
              <a:rPr lang="en-US" altLang="en-US" b="1" smtClean="0"/>
              <a:t>DRAW BACKS:</a:t>
            </a:r>
            <a:r>
              <a:rPr lang="en-US" altLang="en-US" smtClean="0"/>
              <a:t> No concept of nucleus. Most of alpha particles passed from gold foil, few are deflected through large angle, some are bouncing back.</a:t>
            </a:r>
          </a:p>
          <a:p>
            <a:endParaRPr lang="en-US" altLang="en-US"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7"/>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D67AB3A-A42C-4335-BC51-0BCE323959A2}" type="slidenum">
              <a:rPr lang="en-US" altLang="en-US" sz="1400" smtClean="0">
                <a:solidFill>
                  <a:srgbClr val="FFFFCC"/>
                </a:solidFill>
                <a:latin typeface="Arial" panose="020B0604020202020204" pitchFamily="34" charset="0"/>
              </a:rPr>
              <a:pPr/>
              <a:t>8</a:t>
            </a:fld>
            <a:endParaRPr lang="en-US" altLang="en-US" sz="1400" smtClean="0">
              <a:solidFill>
                <a:srgbClr val="FFFFCC"/>
              </a:solidFill>
              <a:latin typeface="Arial" panose="020B0604020202020204" pitchFamily="34" charset="0"/>
            </a:endParaRPr>
          </a:p>
        </p:txBody>
      </p:sp>
      <p:sp>
        <p:nvSpPr>
          <p:cNvPr id="222210" name="Rectangle 2"/>
          <p:cNvSpPr>
            <a:spLocks noChangeArrowheads="1"/>
          </p:cNvSpPr>
          <p:nvPr/>
        </p:nvSpPr>
        <p:spPr bwMode="auto">
          <a:xfrm>
            <a:off x="1447800" y="381000"/>
            <a:ext cx="7391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3333CC"/>
              </a:buClr>
              <a:buSzPct val="65000"/>
              <a:buFont typeface="Wingdings" panose="05000000000000000000" pitchFamily="2" charset="2"/>
              <a:buChar char="n"/>
              <a:defRPr sz="2600">
                <a:solidFill>
                  <a:schemeClr val="tx1"/>
                </a:solidFill>
                <a:latin typeface="Arial" panose="020B0604020202020204" pitchFamily="34" charset="0"/>
              </a:defRPr>
            </a:lvl1pPr>
            <a:lvl2pPr marL="669925" indent="-325438">
              <a:spcBef>
                <a:spcPct val="20000"/>
              </a:spcBef>
              <a:buClr>
                <a:srgbClr val="3333CC"/>
              </a:buClr>
              <a:buSzPct val="60000"/>
              <a:buFont typeface="Wingdings" panose="05000000000000000000" pitchFamily="2" charset="2"/>
              <a:buChar char="q"/>
              <a:defRPr sz="2200">
                <a:solidFill>
                  <a:schemeClr val="tx1"/>
                </a:solidFill>
                <a:latin typeface="Arial" panose="020B0604020202020204" pitchFamily="34" charset="0"/>
              </a:defRPr>
            </a:lvl2pPr>
            <a:lvl3pPr marL="1022350" indent="-350838">
              <a:spcBef>
                <a:spcPct val="20000"/>
              </a:spcBef>
              <a:buClr>
                <a:srgbClr val="3333CC"/>
              </a:buClr>
              <a:buSzPct val="65000"/>
              <a:buFont typeface="Wingdings" panose="05000000000000000000" pitchFamily="2" charset="2"/>
              <a:buChar char="n"/>
              <a:defRPr sz="2000">
                <a:solidFill>
                  <a:schemeClr val="tx1"/>
                </a:solidFill>
                <a:latin typeface="Arial" panose="020B0604020202020204" pitchFamily="34" charset="0"/>
              </a:defRPr>
            </a:lvl3pPr>
            <a:lvl4pPr marL="1339850" indent="-315913">
              <a:spcBef>
                <a:spcPct val="20000"/>
              </a:spcBef>
              <a:buClr>
                <a:srgbClr val="3333CC"/>
              </a:buClr>
              <a:buSzPct val="70000"/>
              <a:buFont typeface="Wingdings" panose="05000000000000000000" pitchFamily="2" charset="2"/>
              <a:buChar char="q"/>
              <a:defRPr>
                <a:solidFill>
                  <a:schemeClr val="tx1"/>
                </a:solidFill>
                <a:latin typeface="Arial" panose="020B0604020202020204" pitchFamily="34" charset="0"/>
              </a:defRPr>
            </a:lvl4pPr>
            <a:lvl5pPr marL="1681163" indent="-339725">
              <a:spcBef>
                <a:spcPct val="20000"/>
              </a:spcBef>
              <a:buClr>
                <a:srgbClr val="3333CC"/>
              </a:buClr>
              <a:buSzPct val="75000"/>
              <a:buFont typeface="Wingdings" panose="05000000000000000000" pitchFamily="2" charset="2"/>
              <a:buChar char="§"/>
              <a:defRPr>
                <a:solidFill>
                  <a:schemeClr val="tx1"/>
                </a:solidFill>
                <a:latin typeface="Arial" panose="020B0604020202020204" pitchFamily="34" charset="0"/>
              </a:defRPr>
            </a:lvl5pPr>
            <a:lvl6pPr marL="2138363" indent="-339725" fontAlgn="base">
              <a:spcBef>
                <a:spcPct val="20000"/>
              </a:spcBef>
              <a:spcAft>
                <a:spcPct val="0"/>
              </a:spcAft>
              <a:buClr>
                <a:srgbClr val="3333CC"/>
              </a:buClr>
              <a:buSzPct val="75000"/>
              <a:buFont typeface="Wingdings" panose="05000000000000000000" pitchFamily="2" charset="2"/>
              <a:buChar char="§"/>
              <a:defRPr>
                <a:solidFill>
                  <a:schemeClr val="tx1"/>
                </a:solidFill>
                <a:latin typeface="Arial" panose="020B0604020202020204" pitchFamily="34" charset="0"/>
              </a:defRPr>
            </a:lvl6pPr>
            <a:lvl7pPr marL="2595563" indent="-339725" fontAlgn="base">
              <a:spcBef>
                <a:spcPct val="20000"/>
              </a:spcBef>
              <a:spcAft>
                <a:spcPct val="0"/>
              </a:spcAft>
              <a:buClr>
                <a:srgbClr val="3333CC"/>
              </a:buClr>
              <a:buSzPct val="75000"/>
              <a:buFont typeface="Wingdings" panose="05000000000000000000" pitchFamily="2" charset="2"/>
              <a:buChar char="§"/>
              <a:defRPr>
                <a:solidFill>
                  <a:schemeClr val="tx1"/>
                </a:solidFill>
                <a:latin typeface="Arial" panose="020B0604020202020204" pitchFamily="34" charset="0"/>
              </a:defRPr>
            </a:lvl7pPr>
            <a:lvl8pPr marL="3052763" indent="-339725" fontAlgn="base">
              <a:spcBef>
                <a:spcPct val="20000"/>
              </a:spcBef>
              <a:spcAft>
                <a:spcPct val="0"/>
              </a:spcAft>
              <a:buClr>
                <a:srgbClr val="3333CC"/>
              </a:buClr>
              <a:buSzPct val="75000"/>
              <a:buFont typeface="Wingdings" panose="05000000000000000000" pitchFamily="2" charset="2"/>
              <a:buChar char="§"/>
              <a:defRPr>
                <a:solidFill>
                  <a:schemeClr val="tx1"/>
                </a:solidFill>
                <a:latin typeface="Arial" panose="020B0604020202020204" pitchFamily="34" charset="0"/>
              </a:defRPr>
            </a:lvl8pPr>
            <a:lvl9pPr marL="3509963" indent="-339725" fontAlgn="base">
              <a:spcBef>
                <a:spcPct val="20000"/>
              </a:spcBef>
              <a:spcAft>
                <a:spcPct val="0"/>
              </a:spcAft>
              <a:buClr>
                <a:srgbClr val="3333CC"/>
              </a:buClr>
              <a:buSzPct val="75000"/>
              <a:buFont typeface="Wingdings" panose="05000000000000000000" pitchFamily="2" charset="2"/>
              <a:buChar char="§"/>
              <a:defRPr>
                <a:solidFill>
                  <a:schemeClr val="tx1"/>
                </a:solidFill>
                <a:latin typeface="Arial" panose="020B0604020202020204" pitchFamily="34" charset="0"/>
              </a:defRPr>
            </a:lvl9pPr>
          </a:lstStyle>
          <a:p>
            <a:pPr eaLnBrk="1" hangingPunct="1">
              <a:defRPr/>
            </a:pPr>
            <a:r>
              <a:rPr lang="en-US" altLang="en-US" sz="2800" dirty="0" smtClean="0">
                <a:solidFill>
                  <a:srgbClr val="00B0F0"/>
                </a:solidFill>
                <a:latin typeface="+mn-lt"/>
              </a:rPr>
              <a:t>Rutherford proposed that an atom has a very small positively charged core (nucleus) surrounded by the negative electrons.</a:t>
            </a:r>
          </a:p>
        </p:txBody>
      </p:sp>
      <p:sp>
        <p:nvSpPr>
          <p:cNvPr id="24580" name="Rectangle 3"/>
          <p:cNvSpPr>
            <a:spLocks noGrp="1" noChangeArrowheads="1"/>
          </p:cNvSpPr>
          <p:nvPr>
            <p:ph type="title"/>
          </p:nvPr>
        </p:nvSpPr>
        <p:spPr>
          <a:xfrm>
            <a:off x="457200" y="152400"/>
            <a:ext cx="8226425" cy="407988"/>
          </a:xfrm>
        </p:spPr>
        <p:txBody>
          <a:bodyPr/>
          <a:lstStyle/>
          <a:p>
            <a:pPr algn="ctr"/>
            <a:r>
              <a:rPr lang="en-US" altLang="en-US" sz="3600" i="0" smtClean="0"/>
              <a:t>Rutherford’s Atomic Model</a:t>
            </a:r>
          </a:p>
        </p:txBody>
      </p:sp>
      <p:grpSp>
        <p:nvGrpSpPr>
          <p:cNvPr id="24581" name="Group 1"/>
          <p:cNvGrpSpPr>
            <a:grpSpLocks/>
          </p:cNvGrpSpPr>
          <p:nvPr/>
        </p:nvGrpSpPr>
        <p:grpSpPr bwMode="auto">
          <a:xfrm>
            <a:off x="455613" y="2119313"/>
            <a:ext cx="8439150" cy="3311525"/>
            <a:chOff x="204716" y="1989210"/>
            <a:chExt cx="8439222" cy="3311525"/>
          </a:xfrm>
        </p:grpSpPr>
        <p:pic>
          <p:nvPicPr>
            <p:cNvPr id="24584" name="Picture 4" descr="04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00" y="1989210"/>
              <a:ext cx="2738438"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5"/>
            <p:cNvPicPr>
              <a:picLocks noChangeAspect="1" noChangeArrowheads="1"/>
            </p:cNvPicPr>
            <p:nvPr/>
          </p:nvPicPr>
          <p:blipFill>
            <a:blip r:embed="rId3">
              <a:lum bright="-12000" contrast="36000"/>
              <a:extLst>
                <a:ext uri="{28A0092B-C50C-407E-A947-70E740481C1C}">
                  <a14:useLocalDpi xmlns:a14="http://schemas.microsoft.com/office/drawing/2010/main" val="0"/>
                </a:ext>
              </a:extLst>
            </a:blip>
            <a:srcRect/>
            <a:stretch>
              <a:fillRect/>
            </a:stretch>
          </p:blipFill>
          <p:spPr bwMode="auto">
            <a:xfrm>
              <a:off x="204716" y="1989210"/>
              <a:ext cx="4724400" cy="331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6" name="Line 6"/>
            <p:cNvSpPr>
              <a:spLocks noChangeShapeType="1"/>
            </p:cNvSpPr>
            <p:nvPr/>
          </p:nvSpPr>
          <p:spPr bwMode="auto">
            <a:xfrm>
              <a:off x="4953000" y="3581400"/>
              <a:ext cx="19050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1" name="Rectangle 5"/>
          <p:cNvSpPr>
            <a:spLocks noChangeArrowheads="1"/>
          </p:cNvSpPr>
          <p:nvPr/>
        </p:nvSpPr>
        <p:spPr bwMode="auto">
          <a:xfrm>
            <a:off x="611188" y="5715000"/>
            <a:ext cx="8070850" cy="482600"/>
          </a:xfrm>
          <a:prstGeom prst="rect">
            <a:avLst/>
          </a:prstGeom>
          <a:solidFill>
            <a:srgbClr val="000000"/>
          </a:solidFill>
          <a:ln w="25400">
            <a:solidFill>
              <a:srgbClr val="FFFF00"/>
            </a:solidFill>
            <a:miter lim="800000"/>
            <a:headEnd/>
            <a:tailEnd/>
          </a:ln>
        </p:spPr>
        <p:txBody>
          <a:bodyPr wrap="none">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tx2"/>
              </a:buClr>
              <a:buChar char="–"/>
              <a:defRPr sz="2800">
                <a:solidFill>
                  <a:schemeClr val="tx1"/>
                </a:solidFill>
                <a:latin typeface="Times New Roman" panose="02020603050405020304" pitchFamily="18" charset="0"/>
              </a:defRPr>
            </a:lvl2pPr>
            <a:lvl3pPr marL="1143000" indent="-228600">
              <a:spcBef>
                <a:spcPct val="20000"/>
              </a:spcBef>
              <a:buClr>
                <a:schemeClr val="tx2"/>
              </a:buClr>
              <a:buChar char="•"/>
              <a:defRPr sz="2400">
                <a:solidFill>
                  <a:schemeClr val="tx1"/>
                </a:solidFill>
                <a:latin typeface="Times New Roman" panose="02020603050405020304" pitchFamily="18" charset="0"/>
              </a:defRPr>
            </a:lvl3pPr>
            <a:lvl4pPr marL="1600200" indent="-228600">
              <a:spcBef>
                <a:spcPct val="20000"/>
              </a:spcBef>
              <a:buClr>
                <a:schemeClr val="tx2"/>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2400">
                <a:solidFill>
                  <a:srgbClr val="FFFF00"/>
                </a:solidFill>
                <a:latin typeface="Arial" panose="020B0604020202020204" pitchFamily="34" charset="0"/>
              </a:rPr>
              <a:t>note: this model completely changed the definition of atom</a:t>
            </a:r>
            <a:endParaRPr lang="en-US" altLang="en-US" sz="2400">
              <a:latin typeface="Arial" panose="020B0604020202020204" pitchFamily="34" charset="0"/>
            </a:endParaRPr>
          </a:p>
        </p:txBody>
      </p:sp>
      <p:pic>
        <p:nvPicPr>
          <p:cNvPr id="2458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913"/>
            <a:ext cx="1447800" cy="189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86800" cy="5715000"/>
          </a:xfrm>
        </p:spPr>
        <p:txBody>
          <a:bodyPr/>
          <a:lstStyle/>
          <a:p>
            <a:pPr>
              <a:defRPr/>
            </a:pPr>
            <a:r>
              <a:rPr lang="en-US" sz="2800" b="1" dirty="0"/>
              <a:t>RUTHER </a:t>
            </a:r>
            <a:r>
              <a:rPr lang="en-US" sz="2800" b="1" dirty="0" smtClean="0"/>
              <a:t>FORD (</a:t>
            </a:r>
            <a:r>
              <a:rPr lang="en-US" sz="2800" b="1" dirty="0"/>
              <a:t>1909</a:t>
            </a:r>
            <a:r>
              <a:rPr lang="en-US" sz="2800" b="1" dirty="0" smtClean="0"/>
              <a:t>):</a:t>
            </a:r>
            <a:r>
              <a:rPr lang="en-US" sz="2800" dirty="0" smtClean="0"/>
              <a:t> </a:t>
            </a:r>
            <a:r>
              <a:rPr lang="en-US" sz="2800" dirty="0"/>
              <a:t>He </a:t>
            </a:r>
            <a:r>
              <a:rPr lang="en-US" sz="2800" dirty="0" smtClean="0"/>
              <a:t>used the results of his gold-foil experiment and discovered </a:t>
            </a:r>
            <a:r>
              <a:rPr lang="en-US" sz="2800" dirty="0"/>
              <a:t>the nucleus, free space within an atom, that’s why alpha particles passed easily from gold foil. </a:t>
            </a:r>
            <a:endParaRPr lang="en-US" sz="2800" dirty="0" smtClean="0"/>
          </a:p>
          <a:p>
            <a:pPr>
              <a:defRPr/>
            </a:pPr>
            <a:endParaRPr lang="en-US" sz="2800" dirty="0"/>
          </a:p>
          <a:p>
            <a:pPr>
              <a:defRPr/>
            </a:pPr>
            <a:r>
              <a:rPr lang="en-US" sz="2800" dirty="0" smtClean="0"/>
              <a:t>Total </a:t>
            </a:r>
            <a:r>
              <a:rPr lang="en-US" sz="2800" dirty="0"/>
              <a:t>charge on nucleus. Atom is like solar system. Nucleus consists protons and </a:t>
            </a:r>
            <a:r>
              <a:rPr lang="en-US" sz="2800" dirty="0" smtClean="0"/>
              <a:t>neutrons.</a:t>
            </a:r>
          </a:p>
          <a:p>
            <a:pPr marL="0" indent="0">
              <a:buFontTx/>
              <a:buNone/>
              <a:defRPr/>
            </a:pPr>
            <a:endParaRPr lang="en-US" sz="2800" dirty="0"/>
          </a:p>
          <a:p>
            <a:pPr>
              <a:defRPr/>
            </a:pPr>
            <a:r>
              <a:rPr lang="en-US" sz="2800" b="1" dirty="0"/>
              <a:t>DRAW BACKS:</a:t>
            </a:r>
            <a:r>
              <a:rPr lang="en-US" sz="2800" dirty="0"/>
              <a:t> Total charge on nucleus, electrons moving around nucleus, during motion they radiating energy and will fall in nucleus</a:t>
            </a:r>
            <a:r>
              <a:rPr lang="en-US" sz="2800" dirty="0" smtClean="0"/>
              <a:t>.</a:t>
            </a:r>
          </a:p>
          <a:p>
            <a:pPr>
              <a:defRPr/>
            </a:pPr>
            <a:endParaRPr lang="en-US" sz="2800" dirty="0"/>
          </a:p>
          <a:p>
            <a:pPr>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228600" y="838200"/>
            <a:ext cx="8534400" cy="5257800"/>
          </a:xfrm>
        </p:spPr>
        <p:txBody>
          <a:bodyPr/>
          <a:lstStyle/>
          <a:p>
            <a:pPr eaLnBrk="1" hangingPunct="1">
              <a:lnSpc>
                <a:spcPct val="90000"/>
              </a:lnSpc>
            </a:pPr>
            <a:r>
              <a:rPr lang="en-US" altLang="en-US" smtClean="0"/>
              <a:t>during the 1900s evidence was discovered regarding charges:</a:t>
            </a:r>
          </a:p>
          <a:p>
            <a:pPr lvl="1" eaLnBrk="1" hangingPunct="1">
              <a:lnSpc>
                <a:spcPct val="90000"/>
              </a:lnSpc>
            </a:pPr>
            <a:r>
              <a:rPr lang="en-US" altLang="en-US" smtClean="0"/>
              <a:t>atoms have positive (Rutherford’s contribution) and negative (Thomson’s contribution) parts</a:t>
            </a:r>
          </a:p>
          <a:p>
            <a:pPr lvl="1" eaLnBrk="1" hangingPunct="1">
              <a:lnSpc>
                <a:spcPct val="90000"/>
              </a:lnSpc>
            </a:pPr>
            <a:r>
              <a:rPr lang="en-US" altLang="en-US" smtClean="0"/>
              <a:t>charges interact:</a:t>
            </a:r>
          </a:p>
          <a:p>
            <a:pPr lvl="1" eaLnBrk="1" hangingPunct="1">
              <a:lnSpc>
                <a:spcPct val="90000"/>
              </a:lnSpc>
            </a:pPr>
            <a:endParaRPr lang="en-US" altLang="en-US" smtClean="0"/>
          </a:p>
          <a:p>
            <a:pPr lvl="1" eaLnBrk="1" hangingPunct="1">
              <a:lnSpc>
                <a:spcPct val="90000"/>
              </a:lnSpc>
            </a:pPr>
            <a:endParaRPr lang="en-US" altLang="en-US" smtClean="0"/>
          </a:p>
          <a:p>
            <a:pPr lvl="1" eaLnBrk="1" hangingPunct="1">
              <a:lnSpc>
                <a:spcPct val="90000"/>
              </a:lnSpc>
            </a:pPr>
            <a:endParaRPr lang="en-US" altLang="en-US" smtClean="0"/>
          </a:p>
          <a:p>
            <a:pPr lvl="1" eaLnBrk="1" hangingPunct="1">
              <a:lnSpc>
                <a:spcPct val="90000"/>
              </a:lnSpc>
            </a:pPr>
            <a:endParaRPr lang="en-US" altLang="en-US" smtClean="0"/>
          </a:p>
          <a:p>
            <a:pPr lvl="1" eaLnBrk="1" hangingPunct="1">
              <a:lnSpc>
                <a:spcPct val="90000"/>
              </a:lnSpc>
            </a:pPr>
            <a:endParaRPr lang="en-US" altLang="en-US" smtClean="0"/>
          </a:p>
          <a:p>
            <a:pPr lvl="1" eaLnBrk="1" hangingPunct="1">
              <a:lnSpc>
                <a:spcPct val="90000"/>
              </a:lnSpc>
            </a:pPr>
            <a:endParaRPr lang="en-US" altLang="en-US" smtClean="0"/>
          </a:p>
          <a:p>
            <a:pPr eaLnBrk="1" hangingPunct="1">
              <a:lnSpc>
                <a:spcPct val="90000"/>
              </a:lnSpc>
            </a:pPr>
            <a:r>
              <a:rPr lang="en-US" altLang="en-US" smtClean="0"/>
              <a:t>as a result, revisions to Dalton’s model had to be made</a:t>
            </a:r>
          </a:p>
        </p:txBody>
      </p:sp>
      <p:sp>
        <p:nvSpPr>
          <p:cNvPr id="13315" name="Text Box 6"/>
          <p:cNvSpPr txBox="1">
            <a:spLocks noChangeArrowheads="1"/>
          </p:cNvSpPr>
          <p:nvPr/>
        </p:nvSpPr>
        <p:spPr bwMode="auto">
          <a:xfrm>
            <a:off x="914400" y="-76200"/>
            <a:ext cx="7315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defRPr/>
            </a:pPr>
            <a:r>
              <a:rPr lang="en-US" altLang="en-US" sz="4400" dirty="0" smtClean="0">
                <a:solidFill>
                  <a:schemeClr val="tx2">
                    <a:lumMod val="75000"/>
                  </a:schemeClr>
                </a:solidFill>
                <a:latin typeface="+mj-lt"/>
              </a:rPr>
              <a:t>New Evidence</a:t>
            </a:r>
          </a:p>
        </p:txBody>
      </p:sp>
      <p:pic>
        <p:nvPicPr>
          <p:cNvPr id="17413" name="Picture 5" descr="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048000"/>
            <a:ext cx="2667000"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413"/>
                                        </p:tgtEl>
                                        <p:attrNameLst>
                                          <p:attrName>style.visibility</p:attrName>
                                        </p:attrNameLst>
                                      </p:cBhvr>
                                      <p:to>
                                        <p:strVal val="visible"/>
                                      </p:to>
                                    </p:set>
                                    <p:anim calcmode="lin" valueType="num">
                                      <p:cBhvr additive="base">
                                        <p:cTn id="25" dur="500" fill="hold"/>
                                        <p:tgtEl>
                                          <p:spTgt spid="17413"/>
                                        </p:tgtEl>
                                        <p:attrNameLst>
                                          <p:attrName>ppt_x</p:attrName>
                                        </p:attrNameLst>
                                      </p:cBhvr>
                                      <p:tavLst>
                                        <p:tav tm="0">
                                          <p:val>
                                            <p:strVal val="0-#ppt_w/2"/>
                                          </p:val>
                                        </p:tav>
                                        <p:tav tm="100000">
                                          <p:val>
                                            <p:strVal val="#ppt_x"/>
                                          </p:val>
                                        </p:tav>
                                      </p:tavLst>
                                    </p:anim>
                                    <p:anim calcmode="lin" valueType="num">
                                      <p:cBhvr additive="base">
                                        <p:cTn id="26" dur="500" fill="hold"/>
                                        <p:tgtEl>
                                          <p:spTgt spid="174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11">
                                            <p:txEl>
                                              <p:pRg st="9" end="9"/>
                                            </p:txEl>
                                          </p:spTgt>
                                        </p:tgtEl>
                                        <p:attrNameLst>
                                          <p:attrName>style.visibility</p:attrName>
                                        </p:attrNameLst>
                                      </p:cBhvr>
                                      <p:to>
                                        <p:strVal val="visible"/>
                                      </p:to>
                                    </p:set>
                                    <p:anim calcmode="lin" valueType="num">
                                      <p:cBhvr additive="base">
                                        <p:cTn id="31" dur="500" fill="hold"/>
                                        <p:tgtEl>
                                          <p:spTgt spid="17411">
                                            <p:txEl>
                                              <p:pRg st="9" end="9"/>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1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381000"/>
            <a:ext cx="7772400" cy="533400"/>
          </a:xfrm>
        </p:spPr>
        <p:txBody>
          <a:bodyPr/>
          <a:lstStyle/>
          <a:p>
            <a:pPr algn="ctr" eaLnBrk="1" hangingPunct="1"/>
            <a:r>
              <a:rPr lang="en-US" altLang="en-US" i="0" dirty="0" err="1" smtClean="0"/>
              <a:t>Niels</a:t>
            </a:r>
            <a:r>
              <a:rPr lang="en-US" altLang="en-US" i="0" dirty="0" smtClean="0"/>
              <a:t> Bohr</a:t>
            </a:r>
          </a:p>
        </p:txBody>
      </p:sp>
      <p:sp>
        <p:nvSpPr>
          <p:cNvPr id="27651" name="Rectangle 3"/>
          <p:cNvSpPr>
            <a:spLocks noGrp="1" noChangeArrowheads="1"/>
          </p:cNvSpPr>
          <p:nvPr>
            <p:ph type="body" sz="half" idx="1"/>
          </p:nvPr>
        </p:nvSpPr>
        <p:spPr>
          <a:xfrm>
            <a:off x="152400" y="1600200"/>
            <a:ext cx="4800600" cy="4114800"/>
          </a:xfrm>
        </p:spPr>
        <p:txBody>
          <a:bodyPr/>
          <a:lstStyle/>
          <a:p>
            <a:pPr eaLnBrk="1" hangingPunct="1"/>
            <a:r>
              <a:rPr lang="en-US" altLang="en-US" dirty="0" smtClean="0"/>
              <a:t>Discovered that electrons exist in several distinct layers or levels</a:t>
            </a:r>
          </a:p>
          <a:p>
            <a:pPr eaLnBrk="1" hangingPunct="1"/>
            <a:r>
              <a:rPr lang="en-US" altLang="en-US" dirty="0" smtClean="0"/>
              <a:t>“Jimmy Neutron Model”</a:t>
            </a:r>
          </a:p>
          <a:p>
            <a:pPr eaLnBrk="1" hangingPunct="1"/>
            <a:r>
              <a:rPr lang="en-US" altLang="en-US" dirty="0" smtClean="0"/>
              <a:t>Travel around nucleus like planets travel around sun</a:t>
            </a:r>
          </a:p>
          <a:p>
            <a:pPr eaLnBrk="1" hangingPunct="1"/>
            <a:r>
              <a:rPr lang="en-US" altLang="en-US" dirty="0" smtClean="0"/>
              <a:t>Electrons Orbit </a:t>
            </a:r>
          </a:p>
          <a:p>
            <a:pPr eaLnBrk="1" hangingPunct="1"/>
            <a:r>
              <a:rPr lang="en-US" altLang="en-US" dirty="0" smtClean="0"/>
              <a:t>Electrons can jump between levels with energy being added/released</a:t>
            </a:r>
          </a:p>
        </p:txBody>
      </p:sp>
      <p:pic>
        <p:nvPicPr>
          <p:cNvPr id="27652" name="Picture 5"/>
          <p:cNvPicPr>
            <a:picLocks noGrp="1" noChangeAspect="1" noChangeArrowheads="1"/>
          </p:cNvPicPr>
          <p:nvPr>
            <p:ph type="body" sz="half" idx="2"/>
          </p:nvPr>
        </p:nvPicPr>
        <p:blipFill>
          <a:blip r:embed="rId2">
            <a:extLst>
              <a:ext uri="{28A0092B-C50C-407E-A947-70E740481C1C}">
                <a14:useLocalDpi xmlns:a14="http://schemas.microsoft.com/office/drawing/2010/main" val="0"/>
              </a:ext>
            </a:extLst>
          </a:blip>
          <a:srcRect/>
          <a:stretch>
            <a:fillRect/>
          </a:stretch>
        </p:blipFill>
        <p:spPr>
          <a:xfrm>
            <a:off x="6019800" y="3581400"/>
            <a:ext cx="2209800" cy="2667000"/>
          </a:xfrm>
          <a:noFill/>
        </p:spPr>
      </p:pic>
      <p:pic>
        <p:nvPicPr>
          <p:cNvPr id="27653" name="Picture 7" descr="a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295400"/>
            <a:ext cx="2286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Line 8"/>
          <p:cNvSpPr>
            <a:spLocks noChangeShapeType="1"/>
          </p:cNvSpPr>
          <p:nvPr/>
        </p:nvSpPr>
        <p:spPr bwMode="auto">
          <a:xfrm flipV="1">
            <a:off x="4114800" y="2590800"/>
            <a:ext cx="762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7350" y="387350"/>
            <a:ext cx="8680450" cy="1631216"/>
          </a:xfrm>
          <a:prstGeom prst="rect">
            <a:avLst/>
          </a:prstGeom>
          <a:noFill/>
        </p:spPr>
        <p:txBody>
          <a:bodyPr wrap="square">
            <a:spAutoFit/>
          </a:bodyPr>
          <a:lstStyle/>
          <a:p>
            <a:pPr eaLnBrk="1" fontAlgn="auto" hangingPunct="1">
              <a:spcBef>
                <a:spcPts val="0"/>
              </a:spcBef>
              <a:spcAft>
                <a:spcPts val="0"/>
              </a:spcAft>
              <a:defRPr/>
            </a:pPr>
            <a:r>
              <a:rPr lang="en-US" sz="3600" b="1" dirty="0">
                <a:solidFill>
                  <a:schemeClr val="tx2">
                    <a:lumMod val="75000"/>
                  </a:schemeClr>
                </a:solidFill>
                <a:latin typeface="+mj-lt"/>
              </a:rPr>
              <a:t>Bohr's Model of the Atom Bohr's model:</a:t>
            </a:r>
            <a:endParaRPr lang="en-US" sz="3600" dirty="0">
              <a:solidFill>
                <a:schemeClr val="tx2">
                  <a:lumMod val="75000"/>
                </a:schemeClr>
              </a:solidFill>
              <a:latin typeface="+mj-lt"/>
            </a:endParaRPr>
          </a:p>
          <a:p>
            <a:pPr eaLnBrk="1" fontAlgn="auto" hangingPunct="1">
              <a:spcBef>
                <a:spcPts val="0"/>
              </a:spcBef>
              <a:spcAft>
                <a:spcPts val="0"/>
              </a:spcAft>
              <a:defRPr/>
            </a:pPr>
            <a:r>
              <a:rPr lang="en-US" sz="3200" dirty="0" smtClean="0">
                <a:latin typeface="+mj-lt"/>
              </a:rPr>
              <a:t>electrons </a:t>
            </a:r>
            <a:r>
              <a:rPr lang="en-US" sz="3200" dirty="0">
                <a:latin typeface="+mj-lt"/>
              </a:rPr>
              <a:t>orbit the nucleus like planets 	orbit the sun</a:t>
            </a:r>
          </a:p>
          <a:p>
            <a:pPr eaLnBrk="1" fontAlgn="auto" hangingPunct="1">
              <a:spcBef>
                <a:spcPts val="0"/>
              </a:spcBef>
              <a:spcAft>
                <a:spcPts val="0"/>
              </a:spcAft>
              <a:defRPr/>
            </a:pPr>
            <a:endParaRPr lang="en-US" sz="3200" b="1" dirty="0">
              <a:latin typeface="+mj-lt"/>
            </a:endParaRPr>
          </a:p>
        </p:txBody>
      </p:sp>
      <p:pic>
        <p:nvPicPr>
          <p:cNvPr id="2867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362200"/>
            <a:ext cx="4926013"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title"/>
          </p:nvPr>
        </p:nvSpPr>
        <p:spPr>
          <a:xfrm>
            <a:off x="228600" y="304800"/>
            <a:ext cx="8686800" cy="457200"/>
          </a:xfrm>
        </p:spPr>
        <p:txBody>
          <a:bodyPr/>
          <a:lstStyle/>
          <a:p>
            <a:pPr algn="ctr"/>
            <a:r>
              <a:rPr lang="en-US" altLang="en-US" i="0" smtClean="0"/>
              <a:t>Bohr</a:t>
            </a:r>
            <a:r>
              <a:rPr lang="fr-FR" altLang="en-US" i="0" smtClean="0"/>
              <a:t>'</a:t>
            </a:r>
            <a:r>
              <a:rPr lang="en-US" altLang="en-US" i="0" smtClean="0"/>
              <a:t>s Model of the Hydrogen Atom</a:t>
            </a:r>
          </a:p>
        </p:txBody>
      </p:sp>
      <p:sp>
        <p:nvSpPr>
          <p:cNvPr id="29699" name="Rectangle 6"/>
          <p:cNvSpPr>
            <a:spLocks noGrp="1" noChangeArrowheads="1"/>
          </p:cNvSpPr>
          <p:nvPr>
            <p:ph type="body" idx="1"/>
          </p:nvPr>
        </p:nvSpPr>
        <p:spPr>
          <a:xfrm>
            <a:off x="228600" y="609600"/>
            <a:ext cx="8763000" cy="4114800"/>
          </a:xfrm>
        </p:spPr>
        <p:txBody>
          <a:bodyPr/>
          <a:lstStyle/>
          <a:p>
            <a:r>
              <a:rPr lang="en-US" altLang="en-US" smtClean="0"/>
              <a:t>Bohr</a:t>
            </a:r>
            <a:r>
              <a:rPr lang="fr-FR" altLang="en-US" smtClean="0"/>
              <a:t>'</a:t>
            </a:r>
            <a:r>
              <a:rPr lang="en-US" altLang="en-US" smtClean="0"/>
              <a:t>s model of the hydrogen atom is based on four assumptions. The first two are specific to his model. They are as follows:</a:t>
            </a:r>
          </a:p>
          <a:p>
            <a:endParaRPr lang="en-US" altLang="en-US" sz="3600" smtClean="0"/>
          </a:p>
          <a:p>
            <a:pPr lvl="1"/>
            <a:r>
              <a:rPr lang="en-US" altLang="en-US" sz="3200" smtClean="0"/>
              <a:t>The electron in a hydrogen atom moves in a circular orbit about the nucleus.</a:t>
            </a:r>
          </a:p>
          <a:p>
            <a:pPr lvl="1"/>
            <a:r>
              <a:rPr lang="en-US" altLang="en-US" sz="3200" smtClean="0"/>
              <a:t>Only certain circular orbits are allowed. In these orbits the angular momentum h/2</a:t>
            </a:r>
            <a:r>
              <a:rPr lang="el-GR" altLang="en-US" sz="3200" smtClean="0"/>
              <a:t>π</a:t>
            </a:r>
            <a:r>
              <a:rPr lang="en-US" altLang="en-US" sz="3200" smtClean="0"/>
              <a:t> of the electron is quantized, just like energy is quantized in Einstein</a:t>
            </a:r>
            <a:r>
              <a:rPr lang="fr-FR" altLang="en-US" sz="3200" smtClean="0"/>
              <a:t>'</a:t>
            </a:r>
            <a:r>
              <a:rPr lang="en-US" altLang="en-US" sz="3200" smtClean="0"/>
              <a:t>s photon model of light.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5"/>
          <p:cNvSpPr>
            <a:spLocks noGrp="1" noChangeArrowheads="1"/>
          </p:cNvSpPr>
          <p:nvPr>
            <p:ph type="title"/>
          </p:nvPr>
        </p:nvSpPr>
        <p:spPr>
          <a:xfrm>
            <a:off x="0" y="0"/>
            <a:ext cx="9144000" cy="685800"/>
          </a:xfrm>
        </p:spPr>
        <p:txBody>
          <a:bodyPr/>
          <a:lstStyle/>
          <a:p>
            <a:pPr algn="ctr"/>
            <a:r>
              <a:rPr lang="en-US" i="0" dirty="0" smtClean="0"/>
              <a:t>Bohr</a:t>
            </a:r>
            <a:r>
              <a:rPr lang="fr-FR" i="0" dirty="0" smtClean="0"/>
              <a:t>'</a:t>
            </a:r>
            <a:r>
              <a:rPr lang="en-US" i="0" dirty="0" smtClean="0"/>
              <a:t>s Model of the Hydrogen Atom</a:t>
            </a:r>
            <a:endParaRPr lang="en-US" i="0" dirty="0"/>
          </a:p>
        </p:txBody>
      </p:sp>
      <p:sp>
        <p:nvSpPr>
          <p:cNvPr id="1030" name="Rectangle 6"/>
          <p:cNvSpPr>
            <a:spLocks noGrp="1" noChangeArrowheads="1"/>
          </p:cNvSpPr>
          <p:nvPr>
            <p:ph type="body" idx="1"/>
          </p:nvPr>
        </p:nvSpPr>
        <p:spPr>
          <a:xfrm>
            <a:off x="0" y="990600"/>
            <a:ext cx="9144000" cy="5486400"/>
          </a:xfrm>
        </p:spPr>
        <p:txBody>
          <a:bodyPr/>
          <a:lstStyle/>
          <a:p>
            <a:r>
              <a:rPr lang="en-US" dirty="0" smtClean="0"/>
              <a:t>The next two assumptions are more general:</a:t>
            </a:r>
          </a:p>
          <a:p>
            <a:pPr lvl="1"/>
            <a:r>
              <a:rPr lang="en-US" sz="3200" dirty="0" smtClean="0"/>
              <a:t>Electrons do not give off electromagnetic radiation when they are in an allowed orbit. Thus, the orbits are stable.</a:t>
            </a:r>
          </a:p>
          <a:p>
            <a:pPr lvl="1"/>
            <a:r>
              <a:rPr lang="en-US" sz="3200" dirty="0" smtClean="0"/>
              <a:t>Electromagnetic radiation is given off or absorbed only when an electron changes from one allowed orbit to another. If the energy difference between the two allowed orbits is </a:t>
            </a:r>
            <a:r>
              <a:rPr lang="el-GR" sz="3200" dirty="0" smtClean="0"/>
              <a:t>Δ</a:t>
            </a:r>
            <a:r>
              <a:rPr lang="en-US" sz="3200" i="1" dirty="0" smtClean="0"/>
              <a:t>E</a:t>
            </a:r>
            <a:r>
              <a:rPr lang="en-US" sz="3200" dirty="0" smtClean="0"/>
              <a:t>, then the frequency, </a:t>
            </a:r>
            <a:r>
              <a:rPr lang="en-US" sz="3200" i="1" dirty="0" smtClean="0"/>
              <a:t>f</a:t>
            </a:r>
            <a:r>
              <a:rPr lang="en-US" sz="3200" dirty="0" smtClean="0"/>
              <a:t>, of the photon that is emitted or absorbed is given by </a:t>
            </a:r>
            <a:r>
              <a:rPr lang="el-GR" sz="3200" dirty="0" smtClean="0"/>
              <a:t>Δ</a:t>
            </a:r>
            <a:r>
              <a:rPr lang="en-US" sz="3200" i="1" dirty="0" smtClean="0"/>
              <a:t>E</a:t>
            </a:r>
            <a:r>
              <a:rPr lang="en-US" sz="3200" dirty="0" smtClean="0"/>
              <a:t> = </a:t>
            </a:r>
            <a:r>
              <a:rPr lang="en-US" sz="3200" i="1" dirty="0" smtClean="0"/>
              <a:t>hf</a:t>
            </a:r>
            <a:r>
              <a:rPr lang="en-US" sz="3200" dirty="0" smtClean="0"/>
              <a:t>.</a:t>
            </a:r>
          </a:p>
          <a:p>
            <a:pPr lvl="1"/>
            <a:endParaRPr lang="en-US" sz="3200" dirty="0" smtClean="0"/>
          </a:p>
          <a:p>
            <a:pPr lvl="1"/>
            <a:endParaRPr lang="en-US" dirty="0"/>
          </a:p>
          <a:p>
            <a:pPr lvl="1"/>
            <a:endParaRPr lang="en-US" dirty="0"/>
          </a:p>
        </p:txBody>
      </p:sp>
    </p:spTree>
    <p:extLst>
      <p:ext uri="{BB962C8B-B14F-4D97-AF65-F5344CB8AC3E}">
        <p14:creationId xmlns:p14="http://schemas.microsoft.com/office/powerpoint/2010/main" val="18453801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228600"/>
            <a:ext cx="7772400" cy="685800"/>
          </a:xfrm>
        </p:spPr>
        <p:txBody>
          <a:bodyPr/>
          <a:lstStyle/>
          <a:p>
            <a:pPr algn="ctr"/>
            <a:r>
              <a:rPr lang="en-US" altLang="en-US" i="0" smtClean="0"/>
              <a:t>Bohr’s idea</a:t>
            </a:r>
          </a:p>
        </p:txBody>
      </p:sp>
      <p:pic>
        <p:nvPicPr>
          <p:cNvPr id="33795" name="Picture 4" descr="Boh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0" y="304800"/>
            <a:ext cx="2003425" cy="2590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3796" name="Picture 6" descr="model-bohr-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133600" y="1460500"/>
            <a:ext cx="6705600" cy="5397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797" name="Text Box 8"/>
          <p:cNvSpPr txBox="1">
            <a:spLocks noChangeArrowheads="1"/>
          </p:cNvSpPr>
          <p:nvPr/>
        </p:nvSpPr>
        <p:spPr bwMode="auto">
          <a:xfrm>
            <a:off x="0" y="4267200"/>
            <a:ext cx="17859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chemeClr val="accent2"/>
                </a:solidFill>
                <a:latin typeface="Comic Sans MS" panose="030F0702030302020204" pitchFamily="66" charset="0"/>
              </a:rPr>
              <a:t>“Allowed”</a:t>
            </a:r>
          </a:p>
          <a:p>
            <a:pPr algn="ctr"/>
            <a:r>
              <a:rPr lang="en-US" altLang="en-US" sz="2800" b="1">
                <a:solidFill>
                  <a:schemeClr val="accent2"/>
                </a:solidFill>
                <a:latin typeface="Comic Sans MS" panose="030F0702030302020204" pitchFamily="66" charset="0"/>
              </a:rPr>
              <a:t>orbits</a:t>
            </a:r>
          </a:p>
        </p:txBody>
      </p:sp>
      <p:sp>
        <p:nvSpPr>
          <p:cNvPr id="33798" name="Line 9"/>
          <p:cNvSpPr>
            <a:spLocks noChangeShapeType="1"/>
          </p:cNvSpPr>
          <p:nvPr/>
        </p:nvSpPr>
        <p:spPr bwMode="auto">
          <a:xfrm flipV="1">
            <a:off x="1900238" y="4268788"/>
            <a:ext cx="457200" cy="155575"/>
          </a:xfrm>
          <a:prstGeom prst="line">
            <a:avLst/>
          </a:prstGeom>
          <a:noFill/>
          <a:ln w="317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9" name="Line 10"/>
          <p:cNvSpPr>
            <a:spLocks noChangeShapeType="1"/>
          </p:cNvSpPr>
          <p:nvPr/>
        </p:nvSpPr>
        <p:spPr bwMode="auto">
          <a:xfrm flipV="1">
            <a:off x="1828800" y="4343400"/>
            <a:ext cx="1219200" cy="304800"/>
          </a:xfrm>
          <a:prstGeom prst="line">
            <a:avLst/>
          </a:prstGeom>
          <a:noFill/>
          <a:ln w="317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0" name="Line 11"/>
          <p:cNvSpPr>
            <a:spLocks noChangeShapeType="1"/>
          </p:cNvSpPr>
          <p:nvPr/>
        </p:nvSpPr>
        <p:spPr bwMode="auto">
          <a:xfrm flipV="1">
            <a:off x="1752600" y="4495800"/>
            <a:ext cx="2057400" cy="609600"/>
          </a:xfrm>
          <a:prstGeom prst="line">
            <a:avLst/>
          </a:prstGeom>
          <a:noFill/>
          <a:ln w="317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title"/>
          </p:nvPr>
        </p:nvSpPr>
        <p:spPr>
          <a:xfrm>
            <a:off x="0" y="0"/>
            <a:ext cx="8915400" cy="609600"/>
          </a:xfrm>
        </p:spPr>
        <p:txBody>
          <a:bodyPr/>
          <a:lstStyle/>
          <a:p>
            <a:pPr algn="ctr"/>
            <a:r>
              <a:rPr lang="en-US" altLang="en-US" i="0" smtClean="0"/>
              <a:t>Bohr</a:t>
            </a:r>
            <a:r>
              <a:rPr lang="fr-FR" altLang="en-US" i="0" smtClean="0"/>
              <a:t>'</a:t>
            </a:r>
            <a:r>
              <a:rPr lang="en-US" altLang="en-US" i="0" smtClean="0"/>
              <a:t>s Model of the Hydrogen Atom</a:t>
            </a:r>
          </a:p>
        </p:txBody>
      </p:sp>
      <p:sp>
        <p:nvSpPr>
          <p:cNvPr id="34819" name="Rectangle 6"/>
          <p:cNvSpPr>
            <a:spLocks noGrp="1" noChangeArrowheads="1"/>
          </p:cNvSpPr>
          <p:nvPr>
            <p:ph type="body" idx="1"/>
          </p:nvPr>
        </p:nvSpPr>
        <p:spPr>
          <a:xfrm>
            <a:off x="228600" y="609600"/>
            <a:ext cx="8686800" cy="4114800"/>
          </a:xfrm>
        </p:spPr>
        <p:txBody>
          <a:bodyPr/>
          <a:lstStyle/>
          <a:p>
            <a:r>
              <a:rPr lang="en-US" altLang="en-US" smtClean="0"/>
              <a:t>To summarize, Bohr</a:t>
            </a:r>
            <a:r>
              <a:rPr lang="fr-FR" altLang="en-US" smtClean="0"/>
              <a:t>'</a:t>
            </a:r>
            <a:r>
              <a:rPr lang="en-US" altLang="en-US" smtClean="0"/>
              <a:t>s model retains the classical picture of an electron orbiting a nucleus. It also adds the quantum requirements that only certain orbits are allowed and no radiation is given off from these orbits.</a:t>
            </a:r>
          </a:p>
          <a:p>
            <a:r>
              <a:rPr lang="en-US" altLang="en-US" smtClean="0"/>
              <a:t>To determine the allowed Bohr orbits—those with specific radii and specific energies—we apply two conditions.</a:t>
            </a:r>
          </a:p>
          <a:p>
            <a:r>
              <a:rPr lang="en-US" altLang="en-US" smtClean="0"/>
              <a:t>First, the electron moves in a circular orbit of radius </a:t>
            </a:r>
            <a:r>
              <a:rPr lang="en-US" altLang="en-US" i="1" smtClean="0"/>
              <a:t>r</a:t>
            </a:r>
            <a:r>
              <a:rPr lang="en-US" altLang="en-US" smtClean="0"/>
              <a:t> and speed </a:t>
            </a:r>
            <a:r>
              <a:rPr lang="en-US" altLang="en-US" i="1" smtClean="0"/>
              <a:t>v</a:t>
            </a:r>
            <a:r>
              <a:rPr lang="en-US" altLang="en-US" smtClean="0"/>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p:nvPr>
        </p:nvSpPr>
        <p:spPr>
          <a:xfrm>
            <a:off x="-381000" y="0"/>
            <a:ext cx="9829800" cy="573088"/>
          </a:xfrm>
        </p:spPr>
        <p:txBody>
          <a:bodyPr/>
          <a:lstStyle/>
          <a:p>
            <a:pPr algn="ctr"/>
            <a:r>
              <a:rPr lang="en-US" altLang="en-US" sz="3800" i="0" smtClean="0"/>
              <a:t>Radius of Bohr</a:t>
            </a:r>
            <a:r>
              <a:rPr lang="fr-FR" altLang="en-US" sz="3800" i="0" smtClean="0"/>
              <a:t>'</a:t>
            </a:r>
            <a:r>
              <a:rPr lang="en-US" altLang="en-US" sz="3800" i="0" smtClean="0"/>
              <a:t>s Model of the Hydrogen Atom</a:t>
            </a:r>
          </a:p>
        </p:txBody>
      </p:sp>
      <p:sp>
        <p:nvSpPr>
          <p:cNvPr id="36867" name="Rectangle 6"/>
          <p:cNvSpPr>
            <a:spLocks noGrp="1" noChangeArrowheads="1"/>
          </p:cNvSpPr>
          <p:nvPr>
            <p:ph type="body" idx="1"/>
          </p:nvPr>
        </p:nvSpPr>
        <p:spPr>
          <a:xfrm>
            <a:off x="-76200" y="4267200"/>
            <a:ext cx="9296400" cy="1905000"/>
          </a:xfrm>
        </p:spPr>
        <p:txBody>
          <a:bodyPr/>
          <a:lstStyle/>
          <a:p>
            <a:r>
              <a:rPr lang="en-US" altLang="en-US" sz="2800" smtClean="0"/>
              <a:t>As a result, the electron experiences a centripetal acceleration toward the nucleus of magnitude </a:t>
            </a:r>
            <a:r>
              <a:rPr lang="en-US" altLang="en-US" sz="2800" i="1" smtClean="0"/>
              <a:t>a</a:t>
            </a:r>
            <a:r>
              <a:rPr lang="en-US" altLang="en-US" sz="2800" smtClean="0"/>
              <a:t> = </a:t>
            </a:r>
            <a:r>
              <a:rPr lang="en-US" altLang="en-US" sz="2800" i="1" smtClean="0"/>
              <a:t>v</a:t>
            </a:r>
            <a:r>
              <a:rPr lang="en-US" altLang="en-US" sz="2800" baseline="30000" smtClean="0"/>
              <a:t>2</a:t>
            </a:r>
            <a:r>
              <a:rPr lang="en-US" altLang="en-US" sz="2800" smtClean="0"/>
              <a:t>/</a:t>
            </a:r>
            <a:r>
              <a:rPr lang="en-US" altLang="en-US" sz="2800" i="1" smtClean="0"/>
              <a:t>r</a:t>
            </a:r>
            <a:r>
              <a:rPr lang="en-US" altLang="en-US" sz="2800" smtClean="0"/>
              <a:t>.</a:t>
            </a:r>
          </a:p>
          <a:p>
            <a:r>
              <a:rPr lang="en-US" altLang="en-US" sz="2800" smtClean="0"/>
              <a:t>From Newton</a:t>
            </a:r>
            <a:r>
              <a:rPr lang="fr-FR" altLang="en-US" sz="2800" smtClean="0"/>
              <a:t>'</a:t>
            </a:r>
            <a:r>
              <a:rPr lang="en-US" altLang="en-US" sz="2800" smtClean="0"/>
              <a:t>s second law of motion, we know that a force, </a:t>
            </a:r>
            <a:r>
              <a:rPr lang="en-US" altLang="en-US" sz="2800" i="1" smtClean="0"/>
              <a:t>F</a:t>
            </a:r>
            <a:r>
              <a:rPr lang="en-US" altLang="en-US" sz="2800" smtClean="0"/>
              <a:t> = </a:t>
            </a:r>
            <a:r>
              <a:rPr lang="en-US" altLang="en-US" sz="2800" i="1" smtClean="0"/>
              <a:t>ma</a:t>
            </a:r>
            <a:r>
              <a:rPr lang="en-US" altLang="en-US" sz="2800" smtClean="0"/>
              <a:t>, is required to produce an acceleration. In this case, the force is the electrostatic force </a:t>
            </a:r>
            <a:r>
              <a:rPr lang="en-US" altLang="en-US" sz="2800" i="1" smtClean="0"/>
              <a:t>F</a:t>
            </a:r>
            <a:r>
              <a:rPr lang="en-US" altLang="en-US" sz="2800" smtClean="0"/>
              <a:t> = </a:t>
            </a:r>
            <a:r>
              <a:rPr lang="en-US" altLang="en-US" sz="2800" i="1" smtClean="0"/>
              <a:t>ke</a:t>
            </a:r>
            <a:r>
              <a:rPr lang="en-US" altLang="en-US" sz="2800" baseline="30000" smtClean="0"/>
              <a:t>2</a:t>
            </a:r>
            <a:r>
              <a:rPr lang="en-US" altLang="en-US" sz="2800" smtClean="0"/>
              <a:t>/</a:t>
            </a:r>
            <a:r>
              <a:rPr lang="en-US" altLang="en-US" sz="2800" i="1" smtClean="0"/>
              <a:t>r</a:t>
            </a:r>
            <a:r>
              <a:rPr lang="en-US" altLang="en-US" sz="2800" baseline="30000" smtClean="0"/>
              <a:t>2</a:t>
            </a:r>
            <a:r>
              <a:rPr lang="en-US" altLang="en-US" sz="2800" smtClean="0"/>
              <a:t>.</a:t>
            </a:r>
          </a:p>
        </p:txBody>
      </p:sp>
      <p:pic>
        <p:nvPicPr>
          <p:cNvPr id="36868" name="Picture 6" descr="25_07_Figure.jpg"/>
          <p:cNvPicPr>
            <a:picLocks noChangeAspect="1"/>
          </p:cNvPicPr>
          <p:nvPr/>
        </p:nvPicPr>
        <p:blipFill>
          <a:blip r:embed="rId3">
            <a:extLst>
              <a:ext uri="{28A0092B-C50C-407E-A947-70E740481C1C}">
                <a14:useLocalDpi xmlns:a14="http://schemas.microsoft.com/office/drawing/2010/main" val="0"/>
              </a:ext>
            </a:extLst>
          </a:blip>
          <a:srcRect b="2992"/>
          <a:stretch>
            <a:fillRect/>
          </a:stretch>
        </p:blipFill>
        <p:spPr bwMode="auto">
          <a:xfrm>
            <a:off x="2895600" y="533400"/>
            <a:ext cx="3692525"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title"/>
          </p:nvPr>
        </p:nvSpPr>
        <p:spPr>
          <a:xfrm>
            <a:off x="0" y="76200"/>
            <a:ext cx="9144000" cy="533400"/>
          </a:xfrm>
        </p:spPr>
        <p:txBody>
          <a:bodyPr/>
          <a:lstStyle/>
          <a:p>
            <a:pPr algn="ctr"/>
            <a:r>
              <a:rPr lang="en-US" altLang="en-US" sz="3600" i="0" smtClean="0"/>
              <a:t>Radius of Bohr</a:t>
            </a:r>
            <a:r>
              <a:rPr lang="fr-FR" altLang="en-US" sz="3600" i="0" smtClean="0"/>
              <a:t>'</a:t>
            </a:r>
            <a:r>
              <a:rPr lang="en-US" altLang="en-US" sz="3600" i="0" smtClean="0"/>
              <a:t>s Model of the Hydrogen Atom</a:t>
            </a:r>
          </a:p>
        </p:txBody>
      </p:sp>
      <p:sp>
        <p:nvSpPr>
          <p:cNvPr id="1030" name="Rectangle 6"/>
          <p:cNvSpPr>
            <a:spLocks noGrp="1" noRot="1" noChangeAspect="1" noMove="1" noResize="1" noEditPoints="1" noAdjustHandles="1" noChangeArrowheads="1" noChangeShapeType="1" noTextEdit="1"/>
          </p:cNvSpPr>
          <p:nvPr>
            <p:ph type="body" idx="1"/>
          </p:nvPr>
        </p:nvSpPr>
        <p:spPr>
          <a:xfrm>
            <a:off x="76200" y="457200"/>
            <a:ext cx="9067799" cy="5716587"/>
          </a:xfrm>
          <a:blipFill rotWithShape="0">
            <a:blip r:embed="rId3"/>
            <a:stretch>
              <a:fillRect l="-1547" t="-1493" r="-807" b="-14819"/>
            </a:stretch>
          </a:blipFill>
          <a:extLst/>
        </p:spPr>
        <p:txBody>
          <a:bodyPr/>
          <a:lstStyle/>
          <a:p>
            <a:r>
              <a:rPr lang="en-US">
                <a:noFill/>
              </a:rPr>
              <a:t> </a:t>
            </a:r>
          </a:p>
        </p:txBody>
      </p:sp>
      <p:cxnSp>
        <p:nvCxnSpPr>
          <p:cNvPr id="3" name="Straight Arrow Connector 2"/>
          <p:cNvCxnSpPr/>
          <p:nvPr/>
        </p:nvCxnSpPr>
        <p:spPr bwMode="auto">
          <a:xfrm>
            <a:off x="5562600" y="3657600"/>
            <a:ext cx="1219200" cy="0"/>
          </a:xfrm>
          <a:prstGeom prst="straightConnector1">
            <a:avLst/>
          </a:prstGeom>
          <a:ln>
            <a:solidFill>
              <a:srgbClr val="00B0F0"/>
            </a:solidFill>
            <a:headEnd type="none" w="sm" len="sm"/>
            <a:tailEnd type="triangle"/>
          </a:ln>
          <a:extLst/>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idx="1"/>
          </p:nvPr>
        </p:nvSpPr>
        <p:spPr>
          <a:xfrm>
            <a:off x="0" y="0"/>
            <a:ext cx="9144000" cy="6858000"/>
          </a:xfrm>
          <a:blipFill rotWithShape="0">
            <a:blip r:embed="rId2"/>
            <a:stretch>
              <a:fillRect/>
            </a:stretch>
          </a:blipFill>
          <a:extLst/>
        </p:spPr>
        <p:txBody>
          <a:bodyPr/>
          <a:lstStyle/>
          <a:p>
            <a:r>
              <a:rPr lang="en-US">
                <a:noFill/>
              </a:rPr>
              <a:t> </a:t>
            </a:r>
          </a:p>
        </p:txBody>
      </p:sp>
      <p:cxnSp>
        <p:nvCxnSpPr>
          <p:cNvPr id="4" name="Straight Arrow Connector 3"/>
          <p:cNvCxnSpPr/>
          <p:nvPr/>
        </p:nvCxnSpPr>
        <p:spPr bwMode="auto">
          <a:xfrm>
            <a:off x="5257800" y="6172200"/>
            <a:ext cx="1219200" cy="0"/>
          </a:xfrm>
          <a:prstGeom prst="straightConnector1">
            <a:avLst/>
          </a:prstGeom>
          <a:ln>
            <a:solidFill>
              <a:srgbClr val="00B0F0"/>
            </a:solidFill>
            <a:headEnd type="none" w="sm" len="sm"/>
            <a:tailEnd type="triangle"/>
          </a:ln>
          <a:extLst/>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Grp="1" noChangeArrowheads="1"/>
          </p:cNvSpPr>
          <p:nvPr>
            <p:ph type="title"/>
          </p:nvPr>
        </p:nvSpPr>
        <p:spPr>
          <a:xfrm>
            <a:off x="76200" y="0"/>
            <a:ext cx="9067800" cy="685800"/>
          </a:xfrm>
        </p:spPr>
        <p:txBody>
          <a:bodyPr/>
          <a:lstStyle/>
          <a:p>
            <a:pPr algn="ctr"/>
            <a:r>
              <a:rPr lang="en-US" altLang="en-US" i="0" smtClean="0"/>
              <a:t>Bohr</a:t>
            </a:r>
            <a:r>
              <a:rPr lang="fr-FR" altLang="en-US" i="0" smtClean="0"/>
              <a:t>'</a:t>
            </a:r>
            <a:r>
              <a:rPr lang="en-US" altLang="en-US" i="0" smtClean="0"/>
              <a:t>s Model of the Hydrogen Atom</a:t>
            </a:r>
          </a:p>
        </p:txBody>
      </p:sp>
      <p:sp>
        <p:nvSpPr>
          <p:cNvPr id="1030" name="Rectangle 6"/>
          <p:cNvSpPr>
            <a:spLocks noGrp="1" noRot="1" noChangeAspect="1" noMove="1" noResize="1" noEditPoints="1" noAdjustHandles="1" noChangeArrowheads="1" noChangeShapeType="1" noTextEdit="1"/>
          </p:cNvSpPr>
          <p:nvPr>
            <p:ph type="body" idx="1"/>
          </p:nvPr>
        </p:nvSpPr>
        <p:spPr>
          <a:xfrm>
            <a:off x="228600" y="838200"/>
            <a:ext cx="8686800" cy="5334000"/>
          </a:xfrm>
          <a:blipFill rotWithShape="0">
            <a:blip r:embed="rId3"/>
            <a:stretch>
              <a:fillRect l="-1614" t="-1600" r="-1684"/>
            </a:stretch>
          </a:blipFill>
          <a:extLst/>
        </p:spPr>
        <p:txBody>
          <a:bodyPr/>
          <a:lstStyle/>
          <a:p>
            <a:r>
              <a:rPr lang="en-US">
                <a:noFill/>
              </a:rPr>
              <a:t> </a:t>
            </a:r>
          </a:p>
        </p:txBody>
      </p:sp>
      <p:pic>
        <p:nvPicPr>
          <p:cNvPr id="41988" name="Picture 6" descr="Slide 24.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724400"/>
            <a:ext cx="7315200"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title"/>
          </p:nvPr>
        </p:nvSpPr>
        <p:spPr>
          <a:xfrm>
            <a:off x="0" y="-152400"/>
            <a:ext cx="9144000" cy="762000"/>
          </a:xfrm>
        </p:spPr>
        <p:txBody>
          <a:bodyPr/>
          <a:lstStyle/>
          <a:p>
            <a:pPr algn="ctr"/>
            <a:r>
              <a:rPr lang="en-US" altLang="en-US" i="0" smtClean="0"/>
              <a:t>Bohr</a:t>
            </a:r>
            <a:r>
              <a:rPr lang="fr-FR" altLang="en-US" i="0" smtClean="0"/>
              <a:t>'</a:t>
            </a:r>
            <a:r>
              <a:rPr lang="en-US" altLang="en-US" i="0" smtClean="0"/>
              <a:t>s Model of the Hydrogen Atom</a:t>
            </a:r>
          </a:p>
        </p:txBody>
      </p:sp>
      <p:sp>
        <p:nvSpPr>
          <p:cNvPr id="1030" name="Rectangle 6"/>
          <p:cNvSpPr>
            <a:spLocks noGrp="1" noChangeArrowheads="1"/>
          </p:cNvSpPr>
          <p:nvPr>
            <p:ph type="body" idx="1"/>
          </p:nvPr>
        </p:nvSpPr>
        <p:spPr>
          <a:xfrm>
            <a:off x="304800" y="609600"/>
            <a:ext cx="8686800" cy="5562600"/>
          </a:xfrm>
        </p:spPr>
        <p:txBody>
          <a:bodyPr/>
          <a:lstStyle/>
          <a:p>
            <a:pPr>
              <a:defRPr/>
            </a:pPr>
            <a:r>
              <a:rPr lang="en-US" sz="2800" dirty="0" smtClean="0"/>
              <a:t>The radius of the first Bohr orbit, which corresponds to</a:t>
            </a:r>
            <a:br>
              <a:rPr lang="en-US" sz="2800" dirty="0" smtClean="0"/>
            </a:br>
            <a:r>
              <a:rPr lang="en-US" sz="2800" i="1" dirty="0" smtClean="0"/>
              <a:t>n</a:t>
            </a:r>
            <a:r>
              <a:rPr lang="en-US" sz="2800" dirty="0" smtClean="0"/>
              <a:t> = 1, is</a:t>
            </a:r>
          </a:p>
          <a:p>
            <a:pPr marL="0" indent="0">
              <a:buFontTx/>
              <a:buNone/>
              <a:defRPr/>
            </a:pPr>
            <a:r>
              <a:rPr lang="en-US" sz="2800" dirty="0" smtClean="0"/>
              <a:t>                              </a:t>
            </a:r>
            <a:r>
              <a:rPr lang="en-US" sz="2800" i="1" dirty="0" smtClean="0"/>
              <a:t>r</a:t>
            </a:r>
            <a:r>
              <a:rPr lang="en-US" sz="2800" baseline="-25000" dirty="0" smtClean="0"/>
              <a:t>1</a:t>
            </a:r>
            <a:r>
              <a:rPr lang="en-US" sz="2800" dirty="0" smtClean="0"/>
              <a:t> = 5.29 x 10</a:t>
            </a:r>
            <a:r>
              <a:rPr lang="en-US" sz="2800" baseline="30000" dirty="0" smtClean="0"/>
              <a:t>−11 </a:t>
            </a:r>
            <a:r>
              <a:rPr lang="en-US" sz="2800" dirty="0" smtClean="0"/>
              <a:t>m</a:t>
            </a:r>
          </a:p>
          <a:p>
            <a:pPr>
              <a:defRPr/>
            </a:pPr>
            <a:r>
              <a:rPr lang="en-US" sz="2800" dirty="0" smtClean="0"/>
              <a:t>This is known as the Bohr radius. It sets the typical size of a hydrogen atom. The higher orbits in the Bohr model increase in radius as </a:t>
            </a:r>
            <a:r>
              <a:rPr lang="en-US" sz="2800" i="1" dirty="0" smtClean="0"/>
              <a:t>n</a:t>
            </a:r>
            <a:r>
              <a:rPr lang="en-US" sz="2800" baseline="30000" dirty="0" smtClean="0"/>
              <a:t>2</a:t>
            </a:r>
            <a:r>
              <a:rPr lang="en-US" sz="2800" dirty="0" smtClean="0"/>
              <a:t>, as indicated in the figure below.</a:t>
            </a:r>
            <a:endParaRPr lang="en-US" sz="2800" dirty="0"/>
          </a:p>
        </p:txBody>
      </p:sp>
      <p:pic>
        <p:nvPicPr>
          <p:cNvPr id="44036" name="Picture 6" descr="25_08_Figure.jpg"/>
          <p:cNvPicPr>
            <a:picLocks noChangeAspect="1"/>
          </p:cNvPicPr>
          <p:nvPr/>
        </p:nvPicPr>
        <p:blipFill>
          <a:blip r:embed="rId3">
            <a:extLst>
              <a:ext uri="{28A0092B-C50C-407E-A947-70E740481C1C}">
                <a14:useLocalDpi xmlns:a14="http://schemas.microsoft.com/office/drawing/2010/main" val="0"/>
              </a:ext>
            </a:extLst>
          </a:blip>
          <a:srcRect b="2795"/>
          <a:stretch>
            <a:fillRect/>
          </a:stretch>
        </p:blipFill>
        <p:spPr bwMode="auto">
          <a:xfrm>
            <a:off x="2919413" y="3529013"/>
            <a:ext cx="3305175"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75" y="381000"/>
            <a:ext cx="314642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3" name="Picture 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533400"/>
            <a:ext cx="263525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3276600"/>
            <a:ext cx="428625"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5" name="Rectangle 9"/>
          <p:cNvSpPr>
            <a:spLocks noChangeArrowheads="1"/>
          </p:cNvSpPr>
          <p:nvPr/>
        </p:nvSpPr>
        <p:spPr bwMode="auto">
          <a:xfrm>
            <a:off x="3733800" y="1447800"/>
            <a:ext cx="51054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Char char="•"/>
              <a:defRPr sz="3200">
                <a:solidFill>
                  <a:schemeClr val="tx1"/>
                </a:solidFill>
                <a:latin typeface="Times New Roman" panose="02020603050405020304" pitchFamily="18" charset="0"/>
              </a:defRPr>
            </a:lvl1pPr>
            <a:lvl2pPr marL="669925" indent="-325438">
              <a:spcBef>
                <a:spcPct val="20000"/>
              </a:spcBef>
              <a:buClr>
                <a:schemeClr val="tx2"/>
              </a:buClr>
              <a:buChar char="–"/>
              <a:defRPr sz="2800">
                <a:solidFill>
                  <a:schemeClr val="tx1"/>
                </a:solidFill>
                <a:latin typeface="Times New Roman" panose="02020603050405020304" pitchFamily="18" charset="0"/>
              </a:defRPr>
            </a:lvl2pPr>
            <a:lvl3pPr marL="1022350" indent="-350838">
              <a:spcBef>
                <a:spcPct val="20000"/>
              </a:spcBef>
              <a:buClr>
                <a:schemeClr val="tx2"/>
              </a:buClr>
              <a:buChar char="•"/>
              <a:defRPr sz="2400">
                <a:solidFill>
                  <a:schemeClr val="tx1"/>
                </a:solidFill>
                <a:latin typeface="Times New Roman" panose="02020603050405020304" pitchFamily="18" charset="0"/>
              </a:defRPr>
            </a:lvl3pPr>
            <a:lvl4pPr marL="1339850" indent="-315913">
              <a:spcBef>
                <a:spcPct val="20000"/>
              </a:spcBef>
              <a:buClr>
                <a:schemeClr val="tx2"/>
              </a:buClr>
              <a:buChar char="–"/>
              <a:defRPr sz="2000">
                <a:solidFill>
                  <a:schemeClr val="tx1"/>
                </a:solidFill>
                <a:latin typeface="Times New Roman" panose="02020603050405020304" pitchFamily="18" charset="0"/>
              </a:defRPr>
            </a:lvl4pPr>
            <a:lvl5pPr marL="1681163" indent="-339725">
              <a:spcBef>
                <a:spcPct val="20000"/>
              </a:spcBef>
              <a:buClr>
                <a:schemeClr val="tx2"/>
              </a:buClr>
              <a:buChar char="•"/>
              <a:defRPr sz="2000">
                <a:solidFill>
                  <a:schemeClr val="tx1"/>
                </a:solidFill>
                <a:latin typeface="Times New Roman" panose="02020603050405020304" pitchFamily="18" charset="0"/>
              </a:defRPr>
            </a:lvl5pPr>
            <a:lvl6pPr marL="2138363" indent="-339725"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595563" indent="-339725"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052763" indent="-339725"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509963" indent="-339725"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buClr>
                <a:srgbClr val="3333CC"/>
              </a:buClr>
              <a:buSzPct val="65000"/>
              <a:buFont typeface="Wingdings" panose="05000000000000000000" pitchFamily="2" charset="2"/>
              <a:buNone/>
            </a:pPr>
            <a:r>
              <a:rPr lang="en-US" altLang="en-US" sz="1800" dirty="0">
                <a:latin typeface="Arial" panose="020B0604020202020204" pitchFamily="34" charset="0"/>
              </a:rPr>
              <a:t>radius of the hydrogen atom for stationary states, n = 1, 2, 3, …</a:t>
            </a:r>
          </a:p>
          <a:p>
            <a:pPr eaLnBrk="1" hangingPunct="1">
              <a:buClr>
                <a:srgbClr val="3333CC"/>
              </a:buClr>
              <a:buSzPct val="65000"/>
              <a:buFont typeface="Wingdings" panose="05000000000000000000" pitchFamily="2" charset="2"/>
              <a:buChar char="n"/>
            </a:pPr>
            <a:endParaRPr lang="en-US" altLang="en-US" sz="1800" dirty="0">
              <a:latin typeface="Arial" panose="020B0604020202020204" pitchFamily="34" charset="0"/>
            </a:endParaRPr>
          </a:p>
          <a:p>
            <a:pPr eaLnBrk="1" hangingPunct="1">
              <a:buClr>
                <a:srgbClr val="3333CC"/>
              </a:buClr>
              <a:buSzPct val="65000"/>
              <a:buFont typeface="Wingdings" panose="05000000000000000000" pitchFamily="2" charset="2"/>
              <a:buChar char="n"/>
            </a:pPr>
            <a:endParaRPr lang="en-US" altLang="en-US" sz="1800" dirty="0">
              <a:latin typeface="Arial" panose="020B0604020202020204" pitchFamily="34" charset="0"/>
            </a:endParaRPr>
          </a:p>
          <a:p>
            <a:pPr eaLnBrk="1" hangingPunct="1">
              <a:buClr>
                <a:srgbClr val="3333CC"/>
              </a:buClr>
              <a:buSzPct val="65000"/>
              <a:buFont typeface="Wingdings" panose="05000000000000000000" pitchFamily="2" charset="2"/>
              <a:buNone/>
            </a:pPr>
            <a:r>
              <a:rPr lang="en-US" altLang="en-US" sz="1800" dirty="0">
                <a:latin typeface="Arial" panose="020B0604020202020204" pitchFamily="34" charset="0"/>
              </a:rPr>
              <a:t>The smallest diameter of the hydrogen atom is two times the Bohr radius </a:t>
            </a:r>
            <a:r>
              <a:rPr lang="en-US" altLang="en-US" sz="1800" dirty="0">
                <a:latin typeface="Arial" panose="020B0604020202020204" pitchFamily="34" charset="0"/>
                <a:cs typeface="Arial" panose="020B0604020202020204" pitchFamily="34" charset="0"/>
              </a:rPr>
              <a:t>≈ 1 Å = 0.1 nm</a:t>
            </a:r>
          </a:p>
          <a:p>
            <a:pPr eaLnBrk="1" hangingPunct="1">
              <a:buClr>
                <a:srgbClr val="3333CC"/>
              </a:buClr>
              <a:buSzPct val="65000"/>
              <a:buFont typeface="Wingdings" panose="05000000000000000000" pitchFamily="2" charset="2"/>
              <a:buChar char="n"/>
            </a:pPr>
            <a:endParaRPr lang="en-US" altLang="en-US" sz="1800" dirty="0">
              <a:latin typeface="Arial" panose="020B0604020202020204" pitchFamily="34" charset="0"/>
            </a:endParaRPr>
          </a:p>
          <a:p>
            <a:pPr eaLnBrk="1" hangingPunct="1">
              <a:buClr>
                <a:srgbClr val="3333CC"/>
              </a:buClr>
              <a:buSzPct val="65000"/>
              <a:buFont typeface="Wingdings" panose="05000000000000000000" pitchFamily="2" charset="2"/>
              <a:buChar char="n"/>
            </a:pPr>
            <a:endParaRPr lang="en-US" altLang="en-US" sz="1800" dirty="0">
              <a:latin typeface="Arial" panose="020B0604020202020204" pitchFamily="34" charset="0"/>
            </a:endParaRPr>
          </a:p>
          <a:p>
            <a:pPr eaLnBrk="1" hangingPunct="1">
              <a:buClr>
                <a:srgbClr val="3333CC"/>
              </a:buClr>
              <a:buSzPct val="65000"/>
              <a:buFont typeface="Wingdings" panose="05000000000000000000" pitchFamily="2" charset="2"/>
              <a:buChar char="n"/>
            </a:pPr>
            <a:r>
              <a:rPr lang="en-US" altLang="en-US" sz="1800" i="1" dirty="0">
                <a:latin typeface="Arial" panose="020B0604020202020204" pitchFamily="34" charset="0"/>
              </a:rPr>
              <a:t>n</a:t>
            </a:r>
            <a:r>
              <a:rPr lang="en-US" altLang="en-US" sz="1800" dirty="0">
                <a:latin typeface="Arial" panose="020B0604020202020204" pitchFamily="34" charset="0"/>
              </a:rPr>
              <a:t> = 1 gives its lowest energy state (called the “</a:t>
            </a:r>
            <a:r>
              <a:rPr lang="en-US" altLang="en-US" sz="1800" dirty="0">
                <a:solidFill>
                  <a:srgbClr val="000000"/>
                </a:solidFill>
                <a:latin typeface="Arial" panose="020B0604020202020204" pitchFamily="34" charset="0"/>
              </a:rPr>
              <a:t>ground” state</a:t>
            </a:r>
            <a:r>
              <a:rPr lang="en-US" altLang="en-US" sz="1800" dirty="0">
                <a:latin typeface="Arial" panose="020B0604020202020204" pitchFamily="34" charset="0"/>
              </a:rPr>
              <a:t>), </a:t>
            </a:r>
            <a:r>
              <a:rPr lang="en-US" altLang="en-US" sz="1800" b="1" dirty="0">
                <a:latin typeface="Arial" panose="020B0604020202020204" pitchFamily="34" charset="0"/>
              </a:rPr>
              <a:t>there is formally no E</a:t>
            </a:r>
            <a:r>
              <a:rPr lang="en-US" altLang="en-US" sz="1800" b="1" baseline="-25000" dirty="0">
                <a:latin typeface="Arial" panose="020B0604020202020204" pitchFamily="34" charset="0"/>
              </a:rPr>
              <a:t>0 </a:t>
            </a:r>
            <a:r>
              <a:rPr lang="en-US" altLang="en-US" sz="1800" b="1" dirty="0">
                <a:latin typeface="Arial" panose="020B0604020202020204" pitchFamily="34" charset="0"/>
              </a:rPr>
              <a:t>since quantum numbers start with 1 and are positive integers </a:t>
            </a:r>
          </a:p>
          <a:p>
            <a:pPr eaLnBrk="1" hangingPunct="1">
              <a:buClr>
                <a:srgbClr val="3333CC"/>
              </a:buClr>
              <a:buSzPct val="65000"/>
              <a:buFont typeface="Wingdings" panose="05000000000000000000" pitchFamily="2" charset="2"/>
              <a:buChar char="n"/>
            </a:pPr>
            <a:endParaRPr lang="en-US" altLang="en-US" sz="1800" b="1" dirty="0">
              <a:latin typeface="Arial" panose="020B0604020202020204" pitchFamily="34" charset="0"/>
            </a:endParaRPr>
          </a:p>
          <a:p>
            <a:pPr eaLnBrk="1" hangingPunct="1">
              <a:buClr>
                <a:srgbClr val="3333CC"/>
              </a:buClr>
              <a:buSzPct val="65000"/>
              <a:buFont typeface="Wingdings" panose="05000000000000000000" pitchFamily="2" charset="2"/>
              <a:buChar char="n"/>
            </a:pPr>
            <a:endParaRPr lang="en-US" altLang="en-US" sz="1800" dirty="0">
              <a:latin typeface="Arial" panose="020B0604020202020204" pitchFamily="34" charset="0"/>
            </a:endParaRPr>
          </a:p>
        </p:txBody>
      </p:sp>
      <p:pic>
        <p:nvPicPr>
          <p:cNvPr id="4608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5184775"/>
            <a:ext cx="4191000"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7" name="Text Box 11"/>
          <p:cNvSpPr txBox="1">
            <a:spLocks noChangeArrowheads="1"/>
          </p:cNvSpPr>
          <p:nvPr/>
        </p:nvSpPr>
        <p:spPr bwMode="auto">
          <a:xfrm>
            <a:off x="152400" y="6019800"/>
            <a:ext cx="8153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t>But some books may call it E</a:t>
            </a:r>
            <a:r>
              <a:rPr lang="en-US" altLang="en-US" baseline="-25000"/>
              <a:t>0</a:t>
            </a:r>
            <a:r>
              <a:rPr lang="en-US" altLang="en-US"/>
              <a:t> nevertheless, E</a:t>
            </a:r>
            <a:r>
              <a:rPr lang="en-US" altLang="en-US" baseline="-25000"/>
              <a:t>1</a:t>
            </a:r>
            <a:r>
              <a:rPr lang="en-US" altLang="en-US"/>
              <a:t> is also called 1 Rydberg </a:t>
            </a:r>
            <a:r>
              <a:rPr lang="en-US" altLang="en-US">
                <a:cs typeface="Arial" panose="020B0604020202020204" pitchFamily="34" charset="0"/>
              </a:rPr>
              <a:t>≈ 13.6 eV</a:t>
            </a:r>
            <a:r>
              <a:rPr lang="en-US" altLang="en-US"/>
              <a:t>, needs to be divided by h and c in order to get the Rydberg constant in m</a:t>
            </a:r>
            <a:r>
              <a:rPr lang="en-US" altLang="en-US" baseline="30000"/>
              <a:t>-1</a:t>
            </a:r>
            <a:r>
              <a:rPr lang="en-US" altLang="en-US"/>
              <a:t> </a:t>
            </a:r>
          </a:p>
        </p:txBody>
      </p:sp>
      <p:sp>
        <p:nvSpPr>
          <p:cNvPr id="46088" name="Text Box 12"/>
          <p:cNvSpPr txBox="1">
            <a:spLocks noChangeArrowheads="1"/>
          </p:cNvSpPr>
          <p:nvPr/>
        </p:nvSpPr>
        <p:spPr bwMode="auto">
          <a:xfrm>
            <a:off x="1" y="2093913"/>
            <a:ext cx="126682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solidFill>
                  <a:srgbClr val="FF0000"/>
                </a:solidFill>
              </a:rPr>
              <a:t>Note that this is a “flat model”, apparently 2D</a:t>
            </a: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title"/>
          </p:nvPr>
        </p:nvSpPr>
        <p:spPr>
          <a:xfrm>
            <a:off x="76200" y="0"/>
            <a:ext cx="8915400" cy="609600"/>
          </a:xfrm>
        </p:spPr>
        <p:txBody>
          <a:bodyPr/>
          <a:lstStyle/>
          <a:p>
            <a:pPr algn="ctr"/>
            <a:r>
              <a:rPr lang="en-US" altLang="en-US" i="0" smtClean="0"/>
              <a:t>Bohr</a:t>
            </a:r>
            <a:r>
              <a:rPr lang="fr-FR" altLang="en-US" i="0" smtClean="0"/>
              <a:t>'</a:t>
            </a:r>
            <a:r>
              <a:rPr lang="en-US" altLang="en-US" i="0" smtClean="0"/>
              <a:t>s Model of the Hydrogen Atom</a:t>
            </a:r>
          </a:p>
        </p:txBody>
      </p:sp>
      <p:sp>
        <p:nvSpPr>
          <p:cNvPr id="1030" name="Rectangle 6"/>
          <p:cNvSpPr>
            <a:spLocks noGrp="1" noRot="1" noChangeAspect="1" noMove="1" noResize="1" noEditPoints="1" noAdjustHandles="1" noChangeArrowheads="1" noChangeShapeType="1" noTextEdit="1"/>
          </p:cNvSpPr>
          <p:nvPr>
            <p:ph type="body" idx="1"/>
          </p:nvPr>
        </p:nvSpPr>
        <p:spPr>
          <a:xfrm>
            <a:off x="304800" y="457200"/>
            <a:ext cx="8839200" cy="4876800"/>
          </a:xfrm>
          <a:blipFill rotWithShape="0">
            <a:blip r:embed="rId3"/>
            <a:stretch>
              <a:fillRect l="-1517" t="-1750" r="-1172" b="-28875"/>
            </a:stretch>
          </a:blipFill>
          <a:extLst/>
        </p:spPr>
        <p:txBody>
          <a:bodyPr/>
          <a:lstStyle/>
          <a:p>
            <a:r>
              <a:rPr lang="en-US">
                <a:noFill/>
              </a:rPr>
              <a:t> </a:t>
            </a:r>
          </a:p>
        </p:txBody>
      </p:sp>
      <p:pic>
        <p:nvPicPr>
          <p:cNvPr id="47108" name="Picture 6" descr="Slide-26.jpg"/>
          <p:cNvPicPr>
            <a:picLocks noChangeAspect="1"/>
          </p:cNvPicPr>
          <p:nvPr/>
        </p:nvPicPr>
        <p:blipFill>
          <a:blip r:embed="rId4">
            <a:extLst>
              <a:ext uri="{28A0092B-C50C-407E-A947-70E740481C1C}">
                <a14:useLocalDpi xmlns:a14="http://schemas.microsoft.com/office/drawing/2010/main" val="0"/>
              </a:ext>
            </a:extLst>
          </a:blip>
          <a:srcRect l="56784"/>
          <a:stretch>
            <a:fillRect/>
          </a:stretch>
        </p:blipFill>
        <p:spPr bwMode="auto">
          <a:xfrm>
            <a:off x="6248400" y="1524000"/>
            <a:ext cx="762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idx="1"/>
          </p:nvPr>
        </p:nvSpPr>
        <p:spPr>
          <a:xfrm>
            <a:off x="76200" y="0"/>
            <a:ext cx="9067800" cy="6858000"/>
          </a:xfrm>
          <a:blipFill rotWithShape="0">
            <a:blip r:embed="rId2"/>
            <a:stretch>
              <a:fillRect l="-1748"/>
            </a:stretch>
          </a:blipFill>
          <a:extLst/>
        </p:spPr>
        <p:txBody>
          <a:bodyPr/>
          <a:lstStyle/>
          <a:p>
            <a:r>
              <a:rPr lang="en-US">
                <a:noFill/>
              </a:rPr>
              <a:t> </a:t>
            </a:r>
          </a:p>
        </p:txBody>
      </p:sp>
      <p:cxnSp>
        <p:nvCxnSpPr>
          <p:cNvPr id="5" name="Straight Arrow Connector 4"/>
          <p:cNvCxnSpPr/>
          <p:nvPr/>
        </p:nvCxnSpPr>
        <p:spPr bwMode="auto">
          <a:xfrm>
            <a:off x="4267200" y="5867400"/>
            <a:ext cx="1219200" cy="0"/>
          </a:xfrm>
          <a:prstGeom prst="straightConnector1">
            <a:avLst/>
          </a:prstGeom>
          <a:ln>
            <a:solidFill>
              <a:srgbClr val="00B0F0"/>
            </a:solidFill>
            <a:headEnd type="none" w="sm" len="sm"/>
            <a:tailEnd type="triangle"/>
          </a:ln>
          <a:extLst/>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Rot="1" noChangeAspect="1" noMove="1" noResize="1" noEditPoints="1" noAdjustHandles="1" noChangeArrowheads="1" noChangeShapeType="1" noTextEdit="1"/>
          </p:cNvSpPr>
          <p:nvPr>
            <p:ph idx="1"/>
          </p:nvPr>
        </p:nvSpPr>
        <p:spPr>
          <a:xfrm>
            <a:off x="228600" y="76200"/>
            <a:ext cx="8610600" cy="6019800"/>
          </a:xfrm>
          <a:blipFill rotWithShape="0">
            <a:blip r:embed="rId2"/>
            <a:stretch>
              <a:fillRect l="-1841" t="-1418"/>
            </a:stretch>
          </a:blipFill>
          <a:extLst/>
        </p:spPr>
        <p:txBody>
          <a:bodyPr/>
          <a:lstStyle/>
          <a:p>
            <a:r>
              <a:rPr lang="en-US">
                <a:noFill/>
              </a:rPr>
              <a:t> </a:t>
            </a:r>
          </a:p>
        </p:txBody>
      </p:sp>
      <p:pic>
        <p:nvPicPr>
          <p:cNvPr id="50179" name="Picture 4" descr="Slide 2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5334000"/>
            <a:ext cx="642143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a:extLst>
              <a:ext uri="{28A0092B-C50C-407E-A947-70E740481C1C}">
                <a14:useLocalDpi xmlns:a14="http://schemas.microsoft.com/office/drawing/2010/main" val="0"/>
              </a:ext>
            </a:extLst>
          </a:blip>
          <a:srcRect b="3600"/>
          <a:stretch>
            <a:fillRect/>
          </a:stretch>
        </p:blipFill>
        <p:spPr bwMode="auto">
          <a:xfrm>
            <a:off x="609600" y="533400"/>
            <a:ext cx="7721600" cy="558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3715" name="Text Box 3"/>
          <p:cNvSpPr txBox="1">
            <a:spLocks noChangeArrowheads="1"/>
          </p:cNvSpPr>
          <p:nvPr/>
        </p:nvSpPr>
        <p:spPr bwMode="auto">
          <a:xfrm>
            <a:off x="1295400" y="-76200"/>
            <a:ext cx="7350125" cy="58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defRPr/>
            </a:pPr>
            <a:r>
              <a:rPr lang="en-US" altLang="en-US" sz="3200" b="1" dirty="0">
                <a:solidFill>
                  <a:schemeClr val="tx2">
                    <a:lumMod val="75000"/>
                  </a:schemeClr>
                </a:solidFill>
                <a:latin typeface="+mj-lt"/>
                <a:ea typeface="MS PGothic" panose="020B0600070205080204" pitchFamily="34" charset="-128"/>
              </a:rPr>
              <a:t>Ionized Helium is also a 1-electron atom</a:t>
            </a:r>
          </a:p>
        </p:txBody>
      </p:sp>
      <p:sp>
        <p:nvSpPr>
          <p:cNvPr id="243716" name="Rectangle 4"/>
          <p:cNvSpPr>
            <a:spLocks noChangeArrowheads="1"/>
          </p:cNvSpPr>
          <p:nvPr/>
        </p:nvSpPr>
        <p:spPr bwMode="auto">
          <a:xfrm>
            <a:off x="1295400" y="3810000"/>
            <a:ext cx="7162800" cy="457200"/>
          </a:xfrm>
          <a:prstGeom prst="rect">
            <a:avLst/>
          </a:prstGeom>
          <a:noFill/>
          <a:ln w="9525">
            <a:solidFill>
              <a:srgbClr val="FA0C15"/>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43717" name="Rectangle 5"/>
          <p:cNvSpPr>
            <a:spLocks noChangeArrowheads="1"/>
          </p:cNvSpPr>
          <p:nvPr/>
        </p:nvSpPr>
        <p:spPr bwMode="auto">
          <a:xfrm>
            <a:off x="1447800" y="1676400"/>
            <a:ext cx="7162800" cy="457200"/>
          </a:xfrm>
          <a:prstGeom prst="rect">
            <a:avLst/>
          </a:prstGeom>
          <a:noFill/>
          <a:ln w="9525">
            <a:solidFill>
              <a:srgbClr val="FA0C15"/>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43718" name="Rectangle 6"/>
          <p:cNvSpPr>
            <a:spLocks noChangeArrowheads="1"/>
          </p:cNvSpPr>
          <p:nvPr/>
        </p:nvSpPr>
        <p:spPr bwMode="auto">
          <a:xfrm>
            <a:off x="1447800" y="990600"/>
            <a:ext cx="7162800" cy="457200"/>
          </a:xfrm>
          <a:prstGeom prst="rect">
            <a:avLst/>
          </a:prstGeom>
          <a:noFill/>
          <a:ln w="9525">
            <a:solidFill>
              <a:srgbClr val="FA0C15"/>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37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37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37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6" grpId="0" animBg="1"/>
      <p:bldP spid="243717" grpId="0" animBg="1"/>
      <p:bldP spid="2437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Grp="1" noChangeArrowheads="1"/>
          </p:cNvSpPr>
          <p:nvPr>
            <p:ph type="title"/>
          </p:nvPr>
        </p:nvSpPr>
        <p:spPr>
          <a:xfrm>
            <a:off x="0" y="0"/>
            <a:ext cx="9144000" cy="609600"/>
          </a:xfrm>
        </p:spPr>
        <p:txBody>
          <a:bodyPr/>
          <a:lstStyle/>
          <a:p>
            <a:pPr algn="ctr"/>
            <a:r>
              <a:rPr lang="en-US" altLang="en-US" i="0" smtClean="0"/>
              <a:t>Bohr</a:t>
            </a:r>
            <a:r>
              <a:rPr lang="fr-FR" altLang="en-US" i="0" smtClean="0"/>
              <a:t>'</a:t>
            </a:r>
            <a:r>
              <a:rPr lang="en-US" altLang="en-US" i="0" smtClean="0"/>
              <a:t>s Model of the Hydrogen Atom</a:t>
            </a:r>
          </a:p>
        </p:txBody>
      </p:sp>
      <p:pic>
        <p:nvPicPr>
          <p:cNvPr id="53251" name="Picture 3" descr="Slide 35_02.jpg"/>
          <p:cNvPicPr>
            <a:picLocks noChangeAspect="1"/>
          </p:cNvPicPr>
          <p:nvPr/>
        </p:nvPicPr>
        <p:blipFill>
          <a:blip r:embed="rId3">
            <a:extLst>
              <a:ext uri="{28A0092B-C50C-407E-A947-70E740481C1C}">
                <a14:useLocalDpi xmlns:a14="http://schemas.microsoft.com/office/drawing/2010/main" val="0"/>
              </a:ext>
            </a:extLst>
          </a:blip>
          <a:srcRect b="2805"/>
          <a:stretch>
            <a:fillRect/>
          </a:stretch>
        </p:blipFill>
        <p:spPr bwMode="auto">
          <a:xfrm>
            <a:off x="755650" y="585788"/>
            <a:ext cx="7632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5298" name="Content Placeholder 2"/>
              <p:cNvSpPr>
                <a:spLocks noGrp="1"/>
              </p:cNvSpPr>
              <p:nvPr>
                <p:ph idx="1"/>
              </p:nvPr>
            </p:nvSpPr>
            <p:spPr>
              <a:xfrm>
                <a:off x="76200" y="990600"/>
                <a:ext cx="9067800" cy="5181600"/>
              </a:xfrm>
            </p:spPr>
            <p:txBody>
              <a:bodyPr/>
              <a:lstStyle/>
              <a:p>
                <a:r>
                  <a:rPr lang="en-US" altLang="en-US" dirty="0" smtClean="0"/>
                  <a:t>According to Bohr’s postulate</a:t>
                </a:r>
              </a:p>
              <a:p>
                <a14:m>
                  <m:oMath xmlns:m="http://schemas.openxmlformats.org/officeDocument/2006/math">
                    <m:r>
                      <a:rPr lang="en-US" altLang="en-US" b="0" i="1" smtClean="0">
                        <a:latin typeface="Cambria Math" panose="02040503050406030204" pitchFamily="18" charset="0"/>
                      </a:rPr>
                      <m:t>𝐸</m:t>
                    </m:r>
                    <m:r>
                      <a:rPr lang="en-US" altLang="en-US" b="0" i="1" smtClean="0">
                        <a:latin typeface="Cambria Math" panose="02040503050406030204" pitchFamily="18" charset="0"/>
                      </a:rPr>
                      <m:t>=</m:t>
                    </m:r>
                    <m:r>
                      <a:rPr lang="en-US" altLang="en-US" b="0" i="1" smtClean="0">
                        <a:latin typeface="Cambria Math" panose="02040503050406030204" pitchFamily="18" charset="0"/>
                      </a:rPr>
                      <m:t>h</m:t>
                    </m:r>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 </m:t>
                    </m:r>
                    <m:sSub>
                      <m:sSubPr>
                        <m:ctrlPr>
                          <a:rPr lang="en-US" altLang="en-US" b="0" i="1" smtClean="0">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𝐸</m:t>
                        </m:r>
                      </m:e>
                      <m:sub>
                        <m:r>
                          <a:rPr lang="en-US" altLang="en-US" b="0" i="1" smtClean="0">
                            <a:latin typeface="Cambria Math" panose="02040503050406030204" pitchFamily="18" charset="0"/>
                            <a:ea typeface="Cambria Math" panose="02040503050406030204" pitchFamily="18" charset="0"/>
                          </a:rPr>
                          <m:t>𝑖</m:t>
                        </m:r>
                      </m:sub>
                    </m:sSub>
                    <m:r>
                      <a:rPr lang="en-US" altLang="en-US" b="0" i="1" smtClean="0">
                        <a:latin typeface="Cambria Math" panose="02040503050406030204" pitchFamily="18" charset="0"/>
                        <a:ea typeface="Cambria Math" panose="02040503050406030204" pitchFamily="18" charset="0"/>
                      </a:rPr>
                      <m:t>−</m:t>
                    </m:r>
                    <m:sSub>
                      <m:sSubPr>
                        <m:ctrlPr>
                          <a:rPr lang="en-US" altLang="en-US" b="0" i="1" smtClean="0">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𝐸</m:t>
                        </m:r>
                      </m:e>
                      <m:sub>
                        <m:r>
                          <a:rPr lang="en-US" altLang="en-US" b="0" i="1" smtClean="0">
                            <a:latin typeface="Cambria Math" panose="02040503050406030204" pitchFamily="18" charset="0"/>
                            <a:ea typeface="Cambria Math" panose="02040503050406030204" pitchFamily="18" charset="0"/>
                          </a:rPr>
                          <m:t>𝑓</m:t>
                        </m:r>
                      </m:sub>
                    </m:sSub>
                  </m:oMath>
                </a14:m>
                <a:endParaRPr lang="en-US" altLang="en-US" dirty="0" smtClean="0"/>
              </a:p>
              <a:p>
                <a14:m>
                  <m:oMath xmlns:m="http://schemas.openxmlformats.org/officeDocument/2006/math">
                    <m:r>
                      <a:rPr lang="en-US" altLang="en-US" b="0" i="1" smtClean="0">
                        <a:latin typeface="Cambria Math" panose="02040503050406030204" pitchFamily="18" charset="0"/>
                      </a:rPr>
                      <m:t>h</m:t>
                    </m:r>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d>
                      <m:dPr>
                        <m:ctrlPr>
                          <a:rPr lang="en-US" altLang="en-US" b="0" i="1" smtClean="0">
                            <a:latin typeface="Cambria Math" panose="02040503050406030204" pitchFamily="18" charset="0"/>
                            <a:ea typeface="Cambria Math" panose="02040503050406030204" pitchFamily="18" charset="0"/>
                          </a:rPr>
                        </m:ctrlPr>
                      </m:dPr>
                      <m:e>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ea typeface="Cambria Math" panose="02040503050406030204" pitchFamily="18" charset="0"/>
                                      </a:rPr>
                                      <m:t>𝑖</m:t>
                                    </m:r>
                                  </m:sub>
                                </m:sSub>
                              </m:e>
                              <m:sup>
                                <m:r>
                                  <a:rPr lang="en-US" altLang="en-US" b="0" i="1" dirty="0" smtClean="0">
                                    <a:latin typeface="Cambria Math" panose="02040503050406030204" pitchFamily="18" charset="0"/>
                                  </a:rPr>
                                  <m:t>2</m:t>
                                </m:r>
                              </m:sup>
                            </m:sSup>
                          </m:den>
                        </m:f>
                      </m:e>
                    </m:d>
                    <m:r>
                      <a:rPr lang="en-US" altLang="en-US" b="0" i="1" smtClean="0">
                        <a:latin typeface="Cambria Math" panose="02040503050406030204" pitchFamily="18" charset="0"/>
                        <a:ea typeface="Cambria Math" panose="02040503050406030204" pitchFamily="18" charset="0"/>
                      </a:rPr>
                      <m:t>−</m:t>
                    </m:r>
                    <m:d>
                      <m:dPr>
                        <m:ctrlPr>
                          <a:rPr lang="en-US" altLang="en-US" b="0" i="1" smtClean="0">
                            <a:latin typeface="Cambria Math" panose="02040503050406030204" pitchFamily="18" charset="0"/>
                            <a:ea typeface="Cambria Math" panose="02040503050406030204" pitchFamily="18" charset="0"/>
                          </a:rPr>
                        </m:ctrlPr>
                      </m:dPr>
                      <m:e>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e>
                    </m:d>
                  </m:oMath>
                </a14:m>
                <a:endParaRPr lang="en-US" altLang="en-US" b="0" dirty="0" smtClean="0">
                  <a:ea typeface="Cambria Math" panose="02040503050406030204" pitchFamily="18" charset="0"/>
                </a:endParaRPr>
              </a:p>
              <a:p>
                <a14:m>
                  <m:oMath xmlns:m="http://schemas.openxmlformats.org/officeDocument/2006/math">
                    <m:r>
                      <a:rPr lang="en-US" altLang="en-US" b="0" i="1" smtClean="0">
                        <a:latin typeface="Cambria Math" panose="02040503050406030204" pitchFamily="18" charset="0"/>
                      </a:rPr>
                      <m:t>h</m:t>
                    </m:r>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ea typeface="Cambria Math" panose="02040503050406030204" pitchFamily="18" charset="0"/>
                                  </a:rPr>
                                  <m:t>𝑖</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r>
                      <a:rPr lang="en-US" altLang="en-US" b="0" i="1" smtClean="0">
                        <a:latin typeface="Cambria Math" panose="02040503050406030204" pitchFamily="18" charset="0"/>
                      </a:rPr>
                      <m:t>h</m:t>
                    </m:r>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r>
                      <a:rPr lang="en-US" altLang="en-US" b="0" i="1" dirty="0" smtClean="0">
                        <a:latin typeface="Cambria Math" panose="02040503050406030204" pitchFamily="18" charset="0"/>
                      </a:rPr>
                      <m:t>𝑋</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r>
                      <a:rPr lang="en-US" altLang="en-US" b="0" i="1" smtClean="0">
                        <a:latin typeface="Cambria Math" panose="02040503050406030204" pitchFamily="18" charset="0"/>
                      </a:rPr>
                      <m:t>h</m:t>
                    </m:r>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a:t>
                </a:r>
              </a:p>
            </p:txBody>
          </p:sp>
        </mc:Choice>
        <mc:Fallback xmlns="">
          <p:sp>
            <p:nvSpPr>
              <p:cNvPr id="55298" name="Content Placeholder 2"/>
              <p:cNvSpPr>
                <a:spLocks noGrp="1" noRot="1" noChangeAspect="1" noMove="1" noResize="1" noEditPoints="1" noAdjustHandles="1" noChangeArrowheads="1" noChangeShapeType="1" noTextEdit="1"/>
              </p:cNvSpPr>
              <p:nvPr>
                <p:ph idx="1"/>
              </p:nvPr>
            </p:nvSpPr>
            <p:spPr>
              <a:xfrm>
                <a:off x="76200" y="990600"/>
                <a:ext cx="9067800" cy="5181600"/>
              </a:xfrm>
              <a:blipFill rotWithShape="0">
                <a:blip r:embed="rId2"/>
                <a:stretch>
                  <a:fillRect l="-1547" t="-1647" b="-4118"/>
                </a:stretch>
              </a:blipFill>
            </p:spPr>
            <p:txBody>
              <a:bodyPr/>
              <a:lstStyle/>
              <a:p>
                <a:r>
                  <a:rPr lang="en-US">
                    <a:noFill/>
                  </a:rPr>
                  <a:t> </a:t>
                </a:r>
              </a:p>
            </p:txBody>
          </p:sp>
        </mc:Fallback>
      </mc:AlternateContent>
      <p:sp>
        <p:nvSpPr>
          <p:cNvPr id="55299" name="Rectangle 5"/>
          <p:cNvSpPr>
            <a:spLocks noGrp="1" noChangeArrowheads="1"/>
          </p:cNvSpPr>
          <p:nvPr>
            <p:ph type="title"/>
          </p:nvPr>
        </p:nvSpPr>
        <p:spPr>
          <a:xfrm>
            <a:off x="685800" y="0"/>
            <a:ext cx="7772400" cy="762000"/>
          </a:xfrm>
        </p:spPr>
        <p:txBody>
          <a:bodyPr/>
          <a:lstStyle/>
          <a:p>
            <a:pPr algn="ctr"/>
            <a:r>
              <a:rPr lang="en-US" altLang="en-US" i="0" smtClean="0"/>
              <a:t>Frequency of the Hydrogen Atom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0"/>
                <a:ext cx="9144000" cy="6858000"/>
              </a:xfrm>
            </p:spPr>
            <p:txBody>
              <a:bodyPr/>
              <a:lstStyle/>
              <a:p>
                <a14:m>
                  <m:oMath xmlns:m="http://schemas.openxmlformats.org/officeDocument/2006/math">
                    <m:r>
                      <a:rPr lang="en-US" altLang="en-US" b="0" i="1" smtClean="0">
                        <a:latin typeface="Cambria Math" panose="02040503050406030204" pitchFamily="18" charset="0"/>
                        <a:ea typeface="Cambria Math" panose="02040503050406030204" pitchFamily="18" charset="0"/>
                      </a:rPr>
                      <m:t>𝜗</m:t>
                    </m:r>
                    <m:r>
                      <a:rPr lang="en-US" altLang="en-US" b="0" i="0" smtClean="0">
                        <a:latin typeface="Cambria Math" panose="02040503050406030204" pitchFamily="18" charset="0"/>
                        <a:ea typeface="Cambria Math" panose="02040503050406030204" pitchFamily="18" charset="0"/>
                      </a:rPr>
                      <m:t>2</m:t>
                    </m:r>
                    <m:r>
                      <m:rPr>
                        <m:sty m:val="p"/>
                      </m:rPr>
                      <a:rPr lang="el-GR" altLang="en-US" b="0" i="1" smtClean="0">
                        <a:latin typeface="Cambria Math" panose="02040503050406030204" pitchFamily="18" charset="0"/>
                        <a:ea typeface="Cambria Math" panose="02040503050406030204" pitchFamily="18" charset="0"/>
                      </a:rPr>
                      <m:t>π</m:t>
                    </m:r>
                    <m:r>
                      <a:rPr lang="en-US" altLang="en-US" b="0" i="1" smtClean="0">
                        <a:latin typeface="Cambria Math" panose="02040503050406030204" pitchFamily="18" charset="0"/>
                        <a:ea typeface="Cambria Math" panose="02040503050406030204" pitchFamily="18" charset="0"/>
                      </a:rPr>
                      <m:t>ℏ=</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32</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 (</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14:m>
                  <m:oMath xmlns:m="http://schemas.openxmlformats.org/officeDocument/2006/math">
                    <m:r>
                      <a:rPr lang="en-US" altLang="en-US" b="0" i="1" smtClean="0">
                        <a:latin typeface="Cambria Math" panose="02040503050406030204" pitchFamily="18" charset="0"/>
                        <a:ea typeface="Cambria Math" panose="02040503050406030204" pitchFamily="18" charset="0"/>
                      </a:rPr>
                      <m:t>⸫ℏ=</m:t>
                    </m:r>
                    <m:f>
                      <m:fPr>
                        <m:ctrlPr>
                          <a:rPr lang="en-US" altLang="en-US" b="0" i="1" smtClean="0">
                            <a:latin typeface="Cambria Math" panose="02040503050406030204" pitchFamily="18" charset="0"/>
                            <a:ea typeface="Cambria Math" panose="02040503050406030204" pitchFamily="18" charset="0"/>
                          </a:rPr>
                        </m:ctrlPr>
                      </m:fPr>
                      <m:num>
                        <m:r>
                          <a:rPr lang="en-US" altLang="en-US" b="0" i="1" smtClean="0">
                            <a:latin typeface="Cambria Math" panose="02040503050406030204" pitchFamily="18" charset="0"/>
                            <a:ea typeface="Cambria Math" panose="02040503050406030204" pitchFamily="18" charset="0"/>
                          </a:rPr>
                          <m:t>h</m:t>
                        </m:r>
                      </m:num>
                      <m:den>
                        <m:r>
                          <a:rPr lang="en-US" altLang="en-US" b="0" i="1" smtClean="0">
                            <a:latin typeface="Cambria Math" panose="02040503050406030204" pitchFamily="18" charset="0"/>
                            <a:ea typeface="Cambria Math" panose="02040503050406030204" pitchFamily="18" charset="0"/>
                          </a:rPr>
                          <m:t>2</m:t>
                        </m:r>
                        <m:r>
                          <a:rPr lang="en-US" altLang="en-US" b="0" i="1" smtClean="0">
                            <a:latin typeface="Cambria Math" panose="02040503050406030204" pitchFamily="18" charset="0"/>
                            <a:ea typeface="Cambria Math" panose="02040503050406030204" pitchFamily="18" charset="0"/>
                          </a:rPr>
                          <m:t>𝜋</m:t>
                        </m:r>
                      </m:den>
                    </m:f>
                    <m:r>
                      <a:rPr lang="en-US" altLang="en-US" b="0" i="0" smtClean="0">
                        <a:latin typeface="Cambria Math" panose="02040503050406030204" pitchFamily="18" charset="0"/>
                        <a:ea typeface="Cambria Math" panose="02040503050406030204" pitchFamily="18" charset="0"/>
                      </a:rPr>
                      <m:t>=2</m:t>
                    </m:r>
                    <m:r>
                      <m:rPr>
                        <m:sty m:val="p"/>
                      </m:rPr>
                      <a:rPr lang="el-GR" altLang="en-US" b="0" i="1" smtClean="0">
                        <a:latin typeface="Cambria Math" panose="02040503050406030204" pitchFamily="18" charset="0"/>
                        <a:ea typeface="Cambria Math" panose="02040503050406030204" pitchFamily="18" charset="0"/>
                      </a:rPr>
                      <m:t>π</m:t>
                    </m:r>
                    <m:r>
                      <a:rPr lang="en-US" altLang="en-US" b="0" i="1" smtClean="0">
                        <a:latin typeface="Cambria Math" panose="02040503050406030204" pitchFamily="18" charset="0"/>
                        <a:ea typeface="Cambria Math" panose="02040503050406030204" pitchFamily="18" charset="0"/>
                      </a:rPr>
                      <m:t>ℏ=</m:t>
                    </m:r>
                    <m:r>
                      <a:rPr lang="en-US" altLang="en-US" b="0" i="1" smtClean="0">
                        <a:latin typeface="Cambria Math" panose="02040503050406030204" pitchFamily="18" charset="0"/>
                        <a:ea typeface="Cambria Math" panose="02040503050406030204" pitchFamily="18" charset="0"/>
                      </a:rPr>
                      <m:t>h</m:t>
                    </m:r>
                  </m:oMath>
                </a14:m>
                <a:endParaRPr lang="en-US" altLang="en-US" b="0" dirty="0" smtClean="0">
                  <a:ea typeface="Cambria Math" panose="02040503050406030204" pitchFamily="18" charset="0"/>
                </a:endParaRPr>
              </a:p>
              <a:p>
                <a14:m>
                  <m:oMath xmlns:m="http://schemas.openxmlformats.org/officeDocument/2006/math">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64</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ea typeface="Cambria Math" panose="02040503050406030204" pitchFamily="18" charset="0"/>
                              </a:rPr>
                              <m:t>3</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3</m:t>
                            </m:r>
                          </m:sup>
                        </m:sSup>
                      </m:den>
                    </m:f>
                    <m:r>
                      <a:rPr lang="en-US" altLang="en-US" b="0" i="1" dirty="0" smtClean="0">
                        <a:latin typeface="Cambria Math" panose="02040503050406030204" pitchFamily="18" charset="0"/>
                      </a:rPr>
                      <m:t> (</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𝑐</m:t>
                        </m:r>
                      </m:num>
                      <m:den>
                        <m:r>
                          <a:rPr lang="en-US" altLang="en-US" b="0" i="1" dirty="0" smtClean="0">
                            <a:latin typeface="Cambria Math" panose="02040503050406030204" pitchFamily="18" charset="0"/>
                            <a:ea typeface="Cambria Math" panose="02040503050406030204" pitchFamily="18" charset="0"/>
                          </a:rPr>
                          <m:t>𝜆</m:t>
                        </m:r>
                      </m:den>
                    </m:f>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64</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ea typeface="Cambria Math" panose="02040503050406030204" pitchFamily="18" charset="0"/>
                              </a:rPr>
                              <m:t>3</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3</m:t>
                            </m:r>
                          </m:sup>
                        </m:sSup>
                      </m:den>
                    </m:f>
                    <m:r>
                      <a:rPr lang="en-US" altLang="en-US" b="0" i="1" dirty="0" smtClean="0">
                        <a:latin typeface="Cambria Math" panose="02040503050406030204" pitchFamily="18" charset="0"/>
                      </a:rPr>
                      <m:t> (</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r>
                          <a:rPr lang="en-US" altLang="en-US" b="0" i="1" dirty="0" smtClean="0">
                            <a:latin typeface="Cambria Math" panose="02040503050406030204" pitchFamily="18" charset="0"/>
                            <a:ea typeface="Cambria Math" panose="02040503050406030204" pitchFamily="18" charset="0"/>
                          </a:rPr>
                          <m:t>𝜆</m:t>
                        </m:r>
                      </m:den>
                    </m:f>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𝑒</m:t>
                            </m:r>
                          </m:e>
                          <m:sup>
                            <m:r>
                              <a:rPr lang="en-US" altLang="en-US" b="0" i="1" dirty="0" smtClean="0">
                                <a:latin typeface="Cambria Math" panose="02040503050406030204" pitchFamily="18" charset="0"/>
                              </a:rPr>
                              <m:t>4</m:t>
                            </m:r>
                          </m:sup>
                        </m:sSup>
                        <m:r>
                          <a:rPr lang="en-US" altLang="en-US" b="0" i="1" dirty="0" smtClean="0">
                            <a:latin typeface="Cambria Math" panose="02040503050406030204" pitchFamily="18" charset="0"/>
                          </a:rPr>
                          <m:t>𝑚</m:t>
                        </m:r>
                      </m:num>
                      <m:den>
                        <m:r>
                          <a:rPr lang="en-US" altLang="en-US" b="0" i="1" dirty="0" smtClean="0">
                            <a:latin typeface="Cambria Math" panose="02040503050406030204" pitchFamily="18" charset="0"/>
                          </a:rPr>
                          <m:t>64</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ea typeface="Cambria Math" panose="02040503050406030204" pitchFamily="18" charset="0"/>
                              </a:rPr>
                              <m:t>𝜋</m:t>
                            </m:r>
                          </m:e>
                          <m:sup>
                            <m:r>
                              <a:rPr lang="en-US" altLang="en-US" b="0" i="1" dirty="0" smtClean="0">
                                <a:latin typeface="Cambria Math" panose="02040503050406030204" pitchFamily="18" charset="0"/>
                                <a:ea typeface="Cambria Math" panose="02040503050406030204" pitchFamily="18" charset="0"/>
                              </a:rPr>
                              <m:t>3</m:t>
                            </m:r>
                          </m:sup>
                        </m:sSup>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ea typeface="Cambria Math" panose="02040503050406030204" pitchFamily="18" charset="0"/>
                                  </a:rPr>
                                  <m:t>𝜖</m:t>
                                </m:r>
                              </m:e>
                              <m:sub>
                                <m:r>
                                  <a:rPr lang="en-US" altLang="en-US" b="0" i="1" dirty="0" smtClean="0">
                                    <a:latin typeface="Cambria Math" panose="02040503050406030204" pitchFamily="18" charset="0"/>
                                  </a:rPr>
                                  <m:t>𝑜</m:t>
                                </m:r>
                              </m:sub>
                            </m:sSub>
                          </m:e>
                          <m:sup>
                            <m:r>
                              <a:rPr lang="en-US" altLang="en-US" b="0" i="1" dirty="0" smtClean="0">
                                <a:latin typeface="Cambria Math" panose="02040503050406030204" pitchFamily="18" charset="0"/>
                              </a:rPr>
                              <m:t>2</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ℏ</m:t>
                            </m:r>
                          </m:e>
                          <m:sup>
                            <m:r>
                              <a:rPr lang="en-US" altLang="en-US" b="0" i="1" dirty="0" smtClean="0">
                                <a:latin typeface="Cambria Math" panose="02040503050406030204" pitchFamily="18" charset="0"/>
                              </a:rPr>
                              <m:t>3</m:t>
                            </m:r>
                          </m:sup>
                        </m:sSup>
                        <m:r>
                          <a:rPr lang="en-US" altLang="en-US" b="0" i="1" dirty="0" smtClean="0">
                            <a:latin typeface="Cambria Math" panose="02040503050406030204" pitchFamily="18" charset="0"/>
                          </a:rPr>
                          <m:t>𝑐</m:t>
                        </m:r>
                      </m:den>
                    </m:f>
                    <m:r>
                      <a:rPr lang="en-US" altLang="en-US" b="0" i="1" dirty="0" smtClean="0">
                        <a:latin typeface="Cambria Math" panose="02040503050406030204" pitchFamily="18" charset="0"/>
                      </a:rPr>
                      <m:t> (</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r>
                      <a:rPr lang="en-US" altLang="en-US" b="0" i="1" smtClean="0">
                        <a:latin typeface="Cambria Math" panose="02040503050406030204" pitchFamily="18" charset="0"/>
                        <a:ea typeface="Cambria Math" panose="02040503050406030204" pitchFamily="18" charset="0"/>
                      </a:rPr>
                      <m:t>𝜗</m:t>
                    </m:r>
                    <m:r>
                      <a:rPr lang="en-US" altLang="en-US" b="0" i="1" smtClean="0">
                        <a:latin typeface="Cambria Math" panose="02040503050406030204" pitchFamily="18" charset="0"/>
                        <a:ea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r>
                          <a:rPr lang="en-US" altLang="en-US" b="0" i="1" dirty="0" smtClean="0">
                            <a:latin typeface="Cambria Math" panose="02040503050406030204" pitchFamily="18" charset="0"/>
                            <a:ea typeface="Cambria Math" panose="02040503050406030204" pitchFamily="18" charset="0"/>
                          </a:rPr>
                          <m:t>𝜆</m:t>
                        </m:r>
                      </m:den>
                    </m:f>
                    <m:r>
                      <a:rPr lang="en-US" altLang="en-US" b="0" i="1" smtClean="0">
                        <a:latin typeface="Cambria Math" panose="02040503050406030204" pitchFamily="18" charset="0"/>
                        <a:ea typeface="Cambria Math" panose="02040503050406030204" pitchFamily="18" charset="0"/>
                      </a:rPr>
                      <m:t>=</m:t>
                    </m:r>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𝑅</m:t>
                        </m:r>
                      </m:e>
                      <m:sub>
                        <m:r>
                          <a:rPr lang="en-US" altLang="en-US" b="0" i="1" dirty="0" smtClean="0">
                            <a:latin typeface="Cambria Math" panose="02040503050406030204" pitchFamily="18" charset="0"/>
                          </a:rPr>
                          <m:t>𝐻</m:t>
                        </m:r>
                      </m:sub>
                    </m:sSub>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𝑓</m:t>
                                </m:r>
                              </m:sub>
                            </m:sSub>
                          </m:e>
                          <m:sup>
                            <m:r>
                              <a:rPr lang="en-US" altLang="en-US" b="0" i="1" dirty="0" smtClean="0">
                                <a:latin typeface="Cambria Math" panose="02040503050406030204" pitchFamily="18" charset="0"/>
                              </a:rPr>
                              <m:t>2</m:t>
                            </m:r>
                          </m:sup>
                        </m:sSup>
                      </m:den>
                    </m:f>
                    <m:r>
                      <a:rPr lang="en-US" altLang="en-US" b="0" i="1"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0" i="1" dirty="0" smtClean="0">
                            <a:latin typeface="Cambria Math" panose="02040503050406030204" pitchFamily="18" charset="0"/>
                          </a:rPr>
                          <m:t>1</m:t>
                        </m:r>
                      </m:num>
                      <m:den>
                        <m:sSup>
                          <m:sSupPr>
                            <m:ctrlPr>
                              <a:rPr lang="en-US" altLang="en-US" b="0" i="1" dirty="0" smtClean="0">
                                <a:latin typeface="Cambria Math" panose="02040503050406030204" pitchFamily="18" charset="0"/>
                              </a:rPr>
                            </m:ctrlPr>
                          </m:sSupPr>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𝑛</m:t>
                                </m:r>
                              </m:e>
                              <m:sub>
                                <m:r>
                                  <a:rPr lang="en-US" altLang="en-US" b="0" i="1" dirty="0" smtClean="0">
                                    <a:latin typeface="Cambria Math" panose="02040503050406030204" pitchFamily="18" charset="0"/>
                                  </a:rPr>
                                  <m:t>𝑖</m:t>
                                </m:r>
                              </m:sub>
                            </m:sSub>
                          </m:e>
                          <m:sup>
                            <m:r>
                              <a:rPr lang="en-US" altLang="en-US" b="0" i="1" dirty="0" smtClean="0">
                                <a:latin typeface="Cambria Math" panose="02040503050406030204" pitchFamily="18" charset="0"/>
                              </a:rPr>
                              <m:t>2</m:t>
                            </m:r>
                          </m:sup>
                        </m:sSup>
                      </m:den>
                    </m:f>
                  </m:oMath>
                </a14:m>
                <a:r>
                  <a:rPr lang="en-US" altLang="en-US" b="0" dirty="0" smtClean="0">
                    <a:ea typeface="Cambria Math" panose="02040503050406030204" pitchFamily="18" charset="0"/>
                  </a:rPr>
                  <a:t>)   </a:t>
                </a:r>
              </a:p>
              <a:p>
                <a14:m>
                  <m:oMath xmlns:m="http://schemas.openxmlformats.org/officeDocument/2006/math">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𝑅</m:t>
                        </m:r>
                      </m:e>
                      <m:sub>
                        <m:r>
                          <a:rPr lang="en-US" altLang="en-US" b="0" i="1" dirty="0" smtClean="0">
                            <a:latin typeface="Cambria Math" panose="02040503050406030204" pitchFamily="18" charset="0"/>
                          </a:rPr>
                          <m:t>𝐻</m:t>
                        </m:r>
                      </m:sub>
                    </m:sSub>
                  </m:oMath>
                </a14:m>
                <a:r>
                  <a:rPr lang="en-US" altLang="en-US" dirty="0" smtClean="0"/>
                  <a:t> is Rydberg constant</a:t>
                </a:r>
              </a:p>
              <a:p>
                <a14:m>
                  <m:oMath xmlns:m="http://schemas.openxmlformats.org/officeDocument/2006/math">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𝑅</m:t>
                        </m:r>
                      </m:e>
                      <m:sub>
                        <m:r>
                          <a:rPr lang="en-US" altLang="en-US" b="0" i="1" dirty="0" smtClean="0">
                            <a:latin typeface="Cambria Math" panose="02040503050406030204" pitchFamily="18" charset="0"/>
                          </a:rPr>
                          <m:t>𝐻</m:t>
                        </m:r>
                      </m:sub>
                    </m:sSub>
                    <m:r>
                      <a:rPr lang="en-US" altLang="en-US" b="0" i="1" dirty="0" smtClean="0">
                        <a:latin typeface="Cambria Math" panose="02040503050406030204" pitchFamily="18" charset="0"/>
                      </a:rPr>
                      <m:t>=1.09</m:t>
                    </m:r>
                    <m:r>
                      <a:rPr lang="en-US" altLang="en-US" b="0" i="1" dirty="0" smtClean="0">
                        <a:latin typeface="Cambria Math" panose="02040503050406030204" pitchFamily="18" charset="0"/>
                      </a:rPr>
                      <m:t>𝑋</m:t>
                    </m:r>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10</m:t>
                        </m:r>
                      </m:e>
                      <m:sup>
                        <m:r>
                          <a:rPr lang="en-US" altLang="en-US" b="0" i="1" dirty="0" smtClean="0">
                            <a:latin typeface="Cambria Math" panose="02040503050406030204" pitchFamily="18" charset="0"/>
                          </a:rPr>
                          <m:t>7</m:t>
                        </m:r>
                      </m:sup>
                    </m:sSup>
                    <m:sSup>
                      <m:sSupPr>
                        <m:ctrlPr>
                          <a:rPr lang="en-US" altLang="en-US" b="0" i="1" dirty="0" smtClean="0">
                            <a:latin typeface="Cambria Math" panose="02040503050406030204" pitchFamily="18" charset="0"/>
                          </a:rPr>
                        </m:ctrlPr>
                      </m:sSupPr>
                      <m:e>
                        <m:r>
                          <a:rPr lang="en-US" altLang="en-US" b="0" i="1" dirty="0" smtClean="0">
                            <a:latin typeface="Cambria Math" panose="02040503050406030204" pitchFamily="18" charset="0"/>
                          </a:rPr>
                          <m:t>𝑚</m:t>
                        </m:r>
                      </m:e>
                      <m:sup>
                        <m:r>
                          <a:rPr lang="en-US" altLang="en-US" b="0" i="1" dirty="0" smtClean="0">
                            <a:latin typeface="Cambria Math" panose="02040503050406030204" pitchFamily="18" charset="0"/>
                          </a:rPr>
                          <m:t>−1</m:t>
                        </m:r>
                      </m:sup>
                    </m:sSup>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0"/>
                <a:ext cx="9144000" cy="6858000"/>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805772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INTS" val="1"/>
  <p:tag name="TIME" val="15"/>
</p:tagLst>
</file>

<file path=ppt/theme/theme1.xml><?xml version="1.0" encoding="utf-8"?>
<a:theme xmlns:a="http://schemas.openxmlformats.org/drawingml/2006/main" name="Fireball">
  <a:themeElements>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fontScheme name="Firebal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clrMap bg1="dk2" tx1="lt1" bg2="dk1" tx2="lt2" accent1="accent1" accent2="accent2" accent3="accent3" accent4="accent4" accent5="accent5" accent6="accent6" hlink="hlink" folHlink="folHlink"/>
    </a:extraClrScheme>
    <a:extraClrScheme>
      <a:clrScheme name="Fireball 2">
        <a:dk1>
          <a:srgbClr val="000000"/>
        </a:dk1>
        <a:lt1>
          <a:srgbClr val="FFFFFF"/>
        </a:lt1>
        <a:dk2>
          <a:srgbClr val="FF9900"/>
        </a:dk2>
        <a:lt2>
          <a:srgbClr val="5F5F5F"/>
        </a:lt2>
        <a:accent1>
          <a:srgbClr val="FF9933"/>
        </a:accent1>
        <a:accent2>
          <a:srgbClr val="CC0066"/>
        </a:accent2>
        <a:accent3>
          <a:srgbClr val="FFFFFF"/>
        </a:accent3>
        <a:accent4>
          <a:srgbClr val="000000"/>
        </a:accent4>
        <a:accent5>
          <a:srgbClr val="FFCAAD"/>
        </a:accent5>
        <a:accent6>
          <a:srgbClr val="B9005C"/>
        </a:accent6>
        <a:hlink>
          <a:srgbClr val="CC00CC"/>
        </a:hlink>
        <a:folHlink>
          <a:srgbClr val="990099"/>
        </a:folHlink>
      </a:clrScheme>
      <a:clrMap bg1="lt1" tx1="dk1" bg2="lt2" tx2="dk2" accent1="accent1" accent2="accent2" accent3="accent3" accent4="accent4" accent5="accent5" accent6="accent6" hlink="hlink" folHlink="folHlink"/>
    </a:extraClrScheme>
    <a:extraClrScheme>
      <a:clrScheme name="Firebal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680</TotalTime>
  <Words>1054</Words>
  <Application>Microsoft Office PowerPoint</Application>
  <PresentationFormat>On-screen Show (4:3)</PresentationFormat>
  <Paragraphs>145</Paragraphs>
  <Slides>29</Slides>
  <Notes>12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MS PGothic</vt:lpstr>
      <vt:lpstr>MS PGothic</vt:lpstr>
      <vt:lpstr>Arial</vt:lpstr>
      <vt:lpstr>Calibri</vt:lpstr>
      <vt:lpstr>Cambria Math</vt:lpstr>
      <vt:lpstr>Comic Sans MS</vt:lpstr>
      <vt:lpstr>Times New Roman</vt:lpstr>
      <vt:lpstr>Wingdings</vt:lpstr>
      <vt:lpstr>Fireball</vt:lpstr>
      <vt:lpstr>Bohr’s atomic model</vt:lpstr>
      <vt:lpstr> Democritus</vt:lpstr>
      <vt:lpstr>Development of Atomic Models</vt:lpstr>
      <vt:lpstr>PowerPoint Presentation</vt:lpstr>
      <vt:lpstr>     Discovery of the Electron</vt:lpstr>
      <vt:lpstr>Thomson:  “Plum Pudding” or “Chocolate Chip Cookie” Model</vt:lpstr>
      <vt:lpstr>PowerPoint Presentation</vt:lpstr>
      <vt:lpstr>Rutherford’s Atomic Model</vt:lpstr>
      <vt:lpstr>PowerPoint Presentation</vt:lpstr>
      <vt:lpstr>PowerPoint Presentation</vt:lpstr>
      <vt:lpstr>Niels Bohr</vt:lpstr>
      <vt:lpstr>PowerPoint Presentation</vt:lpstr>
      <vt:lpstr>Bohr's Model of the Hydrogen Atom</vt:lpstr>
      <vt:lpstr>Bohr's Model of the Hydrogen Atom</vt:lpstr>
      <vt:lpstr>Bohr’s idea</vt:lpstr>
      <vt:lpstr>Bohr's Model of the Hydrogen Atom</vt:lpstr>
      <vt:lpstr>Radius of Bohr's Model of the Hydrogen Atom</vt:lpstr>
      <vt:lpstr>Radius of Bohr's Model of the Hydrogen Atom</vt:lpstr>
      <vt:lpstr>PowerPoint Presentation</vt:lpstr>
      <vt:lpstr>Bohr's Model of the Hydrogen Atom</vt:lpstr>
      <vt:lpstr>Bohr's Model of the Hydrogen Atom</vt:lpstr>
      <vt:lpstr>PowerPoint Presentation</vt:lpstr>
      <vt:lpstr>Bohr's Model of the Hydrogen Atom</vt:lpstr>
      <vt:lpstr>PowerPoint Presentation</vt:lpstr>
      <vt:lpstr>PowerPoint Presentation</vt:lpstr>
      <vt:lpstr>PowerPoint Presentation</vt:lpstr>
      <vt:lpstr>Bohr's Model of the Hydrogen Atom</vt:lpstr>
      <vt:lpstr>Frequency of the Hydrogen Atom</vt:lpstr>
      <vt:lpstr>PowerPoint Presentation</vt:lpstr>
    </vt:vector>
  </TitlesOfParts>
  <Company>Jefferson County Schools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Notation</dc:title>
  <dc:creator>S11</dc:creator>
  <cp:lastModifiedBy>ilyas</cp:lastModifiedBy>
  <cp:revision>152</cp:revision>
  <dcterms:created xsi:type="dcterms:W3CDTF">2008-10-21T13:17:36Z</dcterms:created>
  <dcterms:modified xsi:type="dcterms:W3CDTF">2023-04-16T04:03:43Z</dcterms:modified>
</cp:coreProperties>
</file>