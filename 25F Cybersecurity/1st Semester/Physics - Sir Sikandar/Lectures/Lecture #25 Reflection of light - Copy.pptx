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9"/>
  </p:notesMasterIdLst>
  <p:sldIdLst>
    <p:sldId id="301" r:id="rId2"/>
    <p:sldId id="258" r:id="rId3"/>
    <p:sldId id="259" r:id="rId4"/>
    <p:sldId id="260" r:id="rId5"/>
    <p:sldId id="303" r:id="rId6"/>
    <p:sldId id="304" r:id="rId7"/>
    <p:sldId id="30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434" autoAdjust="0"/>
  </p:normalViewPr>
  <p:slideViewPr>
    <p:cSldViewPr snapToGrid="0">
      <p:cViewPr varScale="1">
        <p:scale>
          <a:sx n="55" d="100"/>
          <a:sy n="55" d="100"/>
        </p:scale>
        <p:origin x="107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B64F75-0181-481D-9E3B-37E8E7DEC131}" type="datetimeFigureOut">
              <a:rPr lang="en-US" smtClean="0"/>
              <a:t>10/15/2023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13F5F7-4C37-4720-85E5-3C48BA16162D}" type="slidenum">
              <a:rPr lang="en-US" smtClean="0"/>
              <a:t>‹#›</a:t>
            </a:fld>
            <a:endParaRPr lang="en-US"/>
          </a:p>
        </p:txBody>
      </p:sp>
    </p:spTree>
    <p:extLst>
      <p:ext uri="{BB962C8B-B14F-4D97-AF65-F5344CB8AC3E}">
        <p14:creationId xmlns:p14="http://schemas.microsoft.com/office/powerpoint/2010/main" val="37670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41A9DE43-379D-C92E-077F-8D39CA55A6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5BC47D2D-4637-CC47-EFF6-F5662C3D694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7892" name="Slide Number Placeholder 3">
            <a:extLst>
              <a:ext uri="{FF2B5EF4-FFF2-40B4-BE49-F238E27FC236}">
                <a16:creationId xmlns:a16="http://schemas.microsoft.com/office/drawing/2014/main" id="{71E5B880-1F2D-C9FB-4AAA-89BA2A6E68D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1C9DD2EE-0399-4829-9E23-F1B42364052A}" type="slidenum">
              <a:rPr lang="en-US" altLang="en-US" sz="1200" smtClean="0">
                <a:solidFill>
                  <a:srgbClr val="000000"/>
                </a:solidFill>
              </a:rPr>
              <a:pPr/>
              <a:t>1</a:t>
            </a:fld>
            <a:endParaRPr lang="en-US" altLang="en-US" sz="1200">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13F5F7-4C37-4720-85E5-3C48BA16162D}" type="slidenum">
              <a:rPr lang="en-US" smtClean="0"/>
              <a:t>5</a:t>
            </a:fld>
            <a:endParaRPr lang="en-US"/>
          </a:p>
        </p:txBody>
      </p:sp>
    </p:spTree>
    <p:extLst>
      <p:ext uri="{BB962C8B-B14F-4D97-AF65-F5344CB8AC3E}">
        <p14:creationId xmlns:p14="http://schemas.microsoft.com/office/powerpoint/2010/main" val="2921796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42578748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3918684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157605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1933723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6E647F-B033-4A56-9850-898665B2CA16}" type="datetimeFigureOut">
              <a:rPr lang="en-US" smtClean="0"/>
              <a:t>10/15/2023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816913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6E647F-B033-4A56-9850-898665B2CA16}" type="datetimeFigureOut">
              <a:rPr lang="en-US" smtClean="0"/>
              <a:t>10/15/2023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36002890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6E647F-B033-4A56-9850-898665B2CA16}" type="datetimeFigureOut">
              <a:rPr lang="en-US" smtClean="0"/>
              <a:t>10/15/2023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4099522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3095608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10339789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3659148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565B29F-433E-4040-AA4D-BA1486151DB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05722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28888177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65B29F-433E-4040-AA4D-BA1486151DB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693095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406E647F-B033-4A56-9850-898665B2CA16}" type="datetimeFigureOut">
              <a:rPr lang="en-US" smtClean="0"/>
              <a:t>10/15/2023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14839472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3416663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6E647F-B033-4A56-9850-898665B2CA16}" type="datetimeFigureOut">
              <a:rPr lang="en-US" smtClean="0"/>
              <a:t>10/15/2023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565B29F-433E-4040-AA4D-BA1486151DBD}" type="slidenum">
              <a:rPr lang="en-US" smtClean="0"/>
              <a:t>‹#›</a:t>
            </a:fld>
            <a:endParaRPr lang="en-US"/>
          </a:p>
        </p:txBody>
      </p:sp>
    </p:spTree>
    <p:extLst>
      <p:ext uri="{BB962C8B-B14F-4D97-AF65-F5344CB8AC3E}">
        <p14:creationId xmlns:p14="http://schemas.microsoft.com/office/powerpoint/2010/main" val="1515088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406E647F-B033-4A56-9850-898665B2CA16}" type="datetimeFigureOut">
              <a:rPr lang="en-US" smtClean="0"/>
              <a:t>10/15/2023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565B29F-433E-4040-AA4D-BA1486151DBD}" type="slidenum">
              <a:rPr lang="en-US" smtClean="0"/>
              <a:t>‹#›</a:t>
            </a:fld>
            <a:endParaRPr lang="en-US"/>
          </a:p>
        </p:txBody>
      </p:sp>
    </p:spTree>
    <p:extLst>
      <p:ext uri="{BB962C8B-B14F-4D97-AF65-F5344CB8AC3E}">
        <p14:creationId xmlns:p14="http://schemas.microsoft.com/office/powerpoint/2010/main" val="425401462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 id="2147483752" r:id="rId14"/>
    <p:sldLayoutId id="2147483753" r:id="rId15"/>
    <p:sldLayoutId id="214748375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a:extLst>
              <a:ext uri="{FF2B5EF4-FFF2-40B4-BE49-F238E27FC236}">
                <a16:creationId xmlns:a16="http://schemas.microsoft.com/office/drawing/2014/main" id="{5612AF87-AB65-0BD7-112C-ED057D130DA5}"/>
              </a:ext>
            </a:extLst>
          </p:cNvPr>
          <p:cNvSpPr>
            <a:spLocks noGrp="1"/>
          </p:cNvSpPr>
          <p:nvPr>
            <p:ph type="ctrTitle"/>
          </p:nvPr>
        </p:nvSpPr>
        <p:spPr>
          <a:xfrm>
            <a:off x="2895600" y="-152400"/>
            <a:ext cx="8388350" cy="838200"/>
          </a:xfrm>
        </p:spPr>
        <p:txBody>
          <a:bodyPr/>
          <a:lstStyle/>
          <a:p>
            <a:pPr eaLnBrk="1" hangingPunct="1"/>
            <a:r>
              <a:rPr lang="en-US" altLang="en-US" sz="2000" b="1" u="sng">
                <a:latin typeface="Times New Roman" panose="02020603050405020304" pitchFamily="18" charset="0"/>
                <a:cs typeface="Times New Roman" panose="02020603050405020304" pitchFamily="18" charset="0"/>
              </a:rPr>
              <a:t>DAWOOD UNIVERSITY OF ENGINEERING AND TECHNOLOGY</a:t>
            </a:r>
            <a:br>
              <a:rPr lang="en-US" altLang="en-US" sz="2000" b="1" u="sng">
                <a:latin typeface="Times New Roman" panose="02020603050405020304" pitchFamily="18" charset="0"/>
                <a:cs typeface="Times New Roman" panose="02020603050405020304" pitchFamily="18" charset="0"/>
              </a:rPr>
            </a:br>
            <a:r>
              <a:rPr lang="en-US" altLang="en-US" sz="2000" b="1" u="sng">
                <a:latin typeface="Times New Roman" panose="02020603050405020304" pitchFamily="18" charset="0"/>
                <a:cs typeface="Times New Roman" panose="02020603050405020304" pitchFamily="18" charset="0"/>
              </a:rPr>
              <a:t>DEPARTMENT OF BASIC SCIENCES AND HUMANITIES </a:t>
            </a:r>
          </a:p>
        </p:txBody>
      </p:sp>
      <p:sp>
        <p:nvSpPr>
          <p:cNvPr id="3" name="Subtitle 2">
            <a:extLst>
              <a:ext uri="{FF2B5EF4-FFF2-40B4-BE49-F238E27FC236}">
                <a16:creationId xmlns:a16="http://schemas.microsoft.com/office/drawing/2014/main" id="{66C1F489-BF8A-60EF-E2F7-F771E81F3855}"/>
              </a:ext>
            </a:extLst>
          </p:cNvPr>
          <p:cNvSpPr>
            <a:spLocks noGrp="1"/>
          </p:cNvSpPr>
          <p:nvPr>
            <p:ph type="subTitle" idx="1"/>
          </p:nvPr>
        </p:nvSpPr>
        <p:spPr>
          <a:xfrm>
            <a:off x="2667000" y="860426"/>
            <a:ext cx="8001000" cy="5997575"/>
          </a:xfrm>
        </p:spPr>
        <p:txBody>
          <a:bodyPr rtlCol="0">
            <a:normAutofit fontScale="77500" lnSpcReduction="20000"/>
          </a:bodyPr>
          <a:lstStyle/>
          <a:p>
            <a:pPr>
              <a:defRPr/>
            </a:pPr>
            <a:r>
              <a:rPr lang="en-US" sz="2900" b="1" dirty="0">
                <a:latin typeface="Times New Roman" panose="02020603050405020304" pitchFamily="18" charset="0"/>
                <a:cs typeface="Times New Roman" panose="02020603050405020304" pitchFamily="18" charset="0"/>
              </a:rPr>
              <a:t>Subject:                  				Applied Physics</a:t>
            </a:r>
          </a:p>
          <a:p>
            <a:pPr>
              <a:defRPr/>
            </a:pPr>
            <a:r>
              <a:rPr lang="en-US" sz="2900" b="1" dirty="0">
                <a:latin typeface="Times New Roman" panose="02020603050405020304" pitchFamily="18" charset="0"/>
                <a:cs typeface="Times New Roman" panose="02020603050405020304" pitchFamily="18" charset="0"/>
              </a:rPr>
              <a:t>Course code:					BS-1001</a:t>
            </a:r>
          </a:p>
          <a:p>
            <a:pPr>
              <a:defRPr/>
            </a:pPr>
            <a:r>
              <a:rPr lang="en-US" sz="2900" b="1" dirty="0">
                <a:latin typeface="Times New Roman" panose="02020603050405020304" pitchFamily="18" charset="0"/>
                <a:cs typeface="Times New Roman" panose="02020603050405020304" pitchFamily="18" charset="0"/>
              </a:rPr>
              <a:t>Discipline: 						Bachelor of Cyber Security</a:t>
            </a:r>
          </a:p>
          <a:p>
            <a:pPr>
              <a:defRPr/>
            </a:pPr>
            <a:r>
              <a:rPr lang="en-US" sz="2900" b="1" dirty="0">
                <a:latin typeface="Times New Roman" panose="02020603050405020304" pitchFamily="18" charset="0"/>
                <a:cs typeface="Times New Roman" panose="02020603050405020304" pitchFamily="18" charset="0"/>
              </a:rPr>
              <a:t>Semester:						First Semester,    First year</a:t>
            </a:r>
          </a:p>
          <a:p>
            <a:pPr>
              <a:defRPr/>
            </a:pPr>
            <a:r>
              <a:rPr lang="en-US" sz="2900" b="1" dirty="0">
                <a:latin typeface="Times New Roman" panose="02020603050405020304" pitchFamily="18" charset="0"/>
                <a:cs typeface="Times New Roman" panose="02020603050405020304" pitchFamily="18" charset="0"/>
              </a:rPr>
              <a:t>Effectiveness:					Batch-2023					</a:t>
            </a:r>
          </a:p>
          <a:p>
            <a:pPr>
              <a:defRPr/>
            </a:pPr>
            <a:r>
              <a:rPr lang="en-US" sz="2900" b="1" dirty="0">
                <a:latin typeface="Times New Roman" panose="02020603050405020304" pitchFamily="18" charset="0"/>
                <a:cs typeface="Times New Roman" panose="02020603050405020304" pitchFamily="18" charset="0"/>
              </a:rPr>
              <a:t>Course type:					Compulsory				</a:t>
            </a:r>
          </a:p>
          <a:p>
            <a:pPr>
              <a:defRPr/>
            </a:pPr>
            <a:r>
              <a:rPr lang="en-US" sz="2900" b="1" dirty="0">
                <a:latin typeface="Times New Roman" panose="02020603050405020304" pitchFamily="18" charset="0"/>
                <a:cs typeface="Times New Roman" panose="02020603050405020304" pitchFamily="18" charset="0"/>
              </a:rPr>
              <a:t>Marks:							Theory: 100           	Practical: 50</a:t>
            </a:r>
          </a:p>
          <a:p>
            <a:pPr>
              <a:defRPr/>
            </a:pPr>
            <a:r>
              <a:rPr lang="en-US" sz="2900" b="1" dirty="0">
                <a:latin typeface="Times New Roman" panose="02020603050405020304" pitchFamily="18" charset="0"/>
                <a:cs typeface="Times New Roman" panose="02020603050405020304" pitchFamily="18" charset="0"/>
              </a:rPr>
              <a:t>Credit Hours:					3 CH				1CH</a:t>
            </a:r>
          </a:p>
          <a:p>
            <a:pPr>
              <a:defRPr/>
            </a:pPr>
            <a:r>
              <a:rPr lang="en-US" sz="2900" b="1" dirty="0">
                <a:latin typeface="Times New Roman" panose="02020603050405020304" pitchFamily="18" charset="0"/>
                <a:cs typeface="Times New Roman" panose="02020603050405020304" pitchFamily="18" charset="0"/>
              </a:rPr>
              <a:t>Teaching Scheme:				3HRS/week		3HRS/week</a:t>
            </a:r>
          </a:p>
          <a:p>
            <a:pPr>
              <a:defRPr/>
            </a:pPr>
            <a:r>
              <a:rPr lang="en-US" sz="2900" b="1" dirty="0">
                <a:latin typeface="Times New Roman" panose="02020603050405020304" pitchFamily="18" charset="0"/>
                <a:cs typeface="Times New Roman" panose="02020603050405020304" pitchFamily="18" charset="0"/>
              </a:rPr>
              <a:t>Assessment:					20% sessional, 30% Mid semester, 								50% Final Exam</a:t>
            </a:r>
          </a:p>
          <a:p>
            <a:pPr>
              <a:defRPr/>
            </a:pPr>
            <a:r>
              <a:rPr lang="en-US" sz="2900" b="1" dirty="0">
                <a:latin typeface="Times New Roman" panose="02020603050405020304" pitchFamily="18" charset="0"/>
                <a:cs typeface="Times New Roman" panose="02020603050405020304" pitchFamily="18" charset="0"/>
              </a:rPr>
              <a:t>Books:</a:t>
            </a:r>
          </a:p>
          <a:p>
            <a:pPr>
              <a:lnSpc>
                <a:spcPct val="120000"/>
              </a:lnSpc>
              <a:defRPr/>
            </a:pPr>
            <a:r>
              <a:rPr lang="en-US" sz="2900" b="1" dirty="0">
                <a:latin typeface="Times New Roman" panose="02020603050405020304" pitchFamily="18" charset="0"/>
                <a:cs typeface="Times New Roman" panose="02020603050405020304" pitchFamily="18" charset="0"/>
              </a:rPr>
              <a:t>1.	 physics For scientists and engineers by </a:t>
            </a:r>
            <a:r>
              <a:rPr lang="en-US" sz="2900" b="1" dirty="0" err="1">
                <a:latin typeface="Times New Roman" panose="02020603050405020304" pitchFamily="18" charset="0"/>
                <a:cs typeface="Times New Roman" panose="02020603050405020304" pitchFamily="18" charset="0"/>
              </a:rPr>
              <a:t>Serway</a:t>
            </a:r>
            <a:r>
              <a:rPr lang="en-US" sz="2900" b="1" dirty="0">
                <a:latin typeface="Times New Roman" panose="02020603050405020304" pitchFamily="18" charset="0"/>
                <a:cs typeface="Times New Roman" panose="02020603050405020304" pitchFamily="18" charset="0"/>
              </a:rPr>
              <a:t> Jewett</a:t>
            </a:r>
          </a:p>
          <a:p>
            <a:pPr>
              <a:lnSpc>
                <a:spcPct val="120000"/>
              </a:lnSpc>
              <a:defRPr/>
            </a:pPr>
            <a:r>
              <a:rPr lang="en-US" sz="2900" b="1" dirty="0">
                <a:latin typeface="Times New Roman" panose="02020603050405020304" pitchFamily="18" charset="0"/>
                <a:cs typeface="Times New Roman" panose="02020603050405020304" pitchFamily="18" charset="0"/>
              </a:rPr>
              <a:t>2. 	Semi conductor Physics by </a:t>
            </a:r>
            <a:r>
              <a:rPr lang="en-US" sz="2900" b="1" dirty="0" err="1">
                <a:latin typeface="Times New Roman" panose="02020603050405020304" pitchFamily="18" charset="0"/>
                <a:cs typeface="Times New Roman" panose="02020603050405020304" pitchFamily="18" charset="0"/>
              </a:rPr>
              <a:t>Macalve</a:t>
            </a:r>
            <a:endParaRPr lang="en-US" sz="2900" b="1" dirty="0">
              <a:latin typeface="Times New Roman" panose="02020603050405020304" pitchFamily="18" charset="0"/>
              <a:cs typeface="Times New Roman" panose="02020603050405020304" pitchFamily="18" charset="0"/>
            </a:endParaRPr>
          </a:p>
          <a:p>
            <a:pPr>
              <a:lnSpc>
                <a:spcPct val="120000"/>
              </a:lnSpc>
              <a:defRPr/>
            </a:pPr>
            <a:r>
              <a:rPr lang="en-US" sz="2900" b="1" dirty="0">
                <a:latin typeface="Times New Roman" panose="02020603050405020304" pitchFamily="18" charset="0"/>
                <a:cs typeface="Times New Roman" panose="02020603050405020304" pitchFamily="18" charset="0"/>
              </a:rPr>
              <a:t>3.	University physics by Freemen and Young</a:t>
            </a:r>
          </a:p>
        </p:txBody>
      </p:sp>
      <p:pic>
        <p:nvPicPr>
          <p:cNvPr id="36868" name="Picture 3">
            <a:extLst>
              <a:ext uri="{FF2B5EF4-FFF2-40B4-BE49-F238E27FC236}">
                <a16:creationId xmlns:a16="http://schemas.microsoft.com/office/drawing/2014/main" id="{0206DBFC-1872-23BF-E208-D2F72B27F8A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22226"/>
            <a:ext cx="1371600" cy="138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8D44E099-FC66-4167-A593-8F6FBB5EE0E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47171E04-FEC4-4208-A619-A786E42348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2" name="Freeform 12">
              <a:extLst>
                <a:ext uri="{FF2B5EF4-FFF2-40B4-BE49-F238E27FC236}">
                  <a16:creationId xmlns:a16="http://schemas.microsoft.com/office/drawing/2014/main" id="{F3DE8019-884E-41C9-A54C-AC668CA526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3" name="Freeform 13">
              <a:extLst>
                <a:ext uri="{FF2B5EF4-FFF2-40B4-BE49-F238E27FC236}">
                  <a16:creationId xmlns:a16="http://schemas.microsoft.com/office/drawing/2014/main" id="{462C1647-5880-4037-8FCE-16E1F646C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4" name="Freeform 14">
              <a:extLst>
                <a:ext uri="{FF2B5EF4-FFF2-40B4-BE49-F238E27FC236}">
                  <a16:creationId xmlns:a16="http://schemas.microsoft.com/office/drawing/2014/main" id="{C91082BE-FDAA-4A80-88B6-C5F5AD0C29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5" name="Freeform 15">
              <a:extLst>
                <a:ext uri="{FF2B5EF4-FFF2-40B4-BE49-F238E27FC236}">
                  <a16:creationId xmlns:a16="http://schemas.microsoft.com/office/drawing/2014/main" id="{059FE918-3CB9-43E6-8025-22A9C21C48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6" name="Freeform 16">
              <a:extLst>
                <a:ext uri="{FF2B5EF4-FFF2-40B4-BE49-F238E27FC236}">
                  <a16:creationId xmlns:a16="http://schemas.microsoft.com/office/drawing/2014/main" id="{E30464D7-34FF-42C8-8686-C3A865E90C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7" name="Freeform 17">
              <a:extLst>
                <a:ext uri="{FF2B5EF4-FFF2-40B4-BE49-F238E27FC236}">
                  <a16:creationId xmlns:a16="http://schemas.microsoft.com/office/drawing/2014/main" id="{07281894-7888-434B-BC17-FB67B4879C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8" name="Freeform 18">
              <a:extLst>
                <a:ext uri="{FF2B5EF4-FFF2-40B4-BE49-F238E27FC236}">
                  <a16:creationId xmlns:a16="http://schemas.microsoft.com/office/drawing/2014/main" id="{7CDF6636-2EE5-4477-B1E7-136C9B4F3C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9" name="Freeform 19">
              <a:extLst>
                <a:ext uri="{FF2B5EF4-FFF2-40B4-BE49-F238E27FC236}">
                  <a16:creationId xmlns:a16="http://schemas.microsoft.com/office/drawing/2014/main" id="{6A01C238-0F7D-4DF5-A879-3290200089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20" name="Freeform 20">
              <a:extLst>
                <a:ext uri="{FF2B5EF4-FFF2-40B4-BE49-F238E27FC236}">
                  <a16:creationId xmlns:a16="http://schemas.microsoft.com/office/drawing/2014/main" id="{AA10B8D3-BE6D-40AB-BA54-12C4758E58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21" name="Freeform 21">
              <a:extLst>
                <a:ext uri="{FF2B5EF4-FFF2-40B4-BE49-F238E27FC236}">
                  <a16:creationId xmlns:a16="http://schemas.microsoft.com/office/drawing/2014/main" id="{4CD8C1DF-88C2-4F11-AA23-36D5B5BD3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2" name="Freeform 22">
              <a:extLst>
                <a:ext uri="{FF2B5EF4-FFF2-40B4-BE49-F238E27FC236}">
                  <a16:creationId xmlns:a16="http://schemas.microsoft.com/office/drawing/2014/main" id="{9AF01696-99FF-4093-938A-38D0C72232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4" name="Group 23">
            <a:extLst>
              <a:ext uri="{FF2B5EF4-FFF2-40B4-BE49-F238E27FC236}">
                <a16:creationId xmlns:a16="http://schemas.microsoft.com/office/drawing/2014/main" id="{629FAB3C-6A93-4306-8525-B9FC787B15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8838005D-B3A9-4E56-9BFB-3DD99E4BBB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6" name="Freeform 28">
              <a:extLst>
                <a:ext uri="{FF2B5EF4-FFF2-40B4-BE49-F238E27FC236}">
                  <a16:creationId xmlns:a16="http://schemas.microsoft.com/office/drawing/2014/main" id="{6450237E-A2DE-4BA3-AF9F-06399E5CF1D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7" name="Freeform 29">
              <a:extLst>
                <a:ext uri="{FF2B5EF4-FFF2-40B4-BE49-F238E27FC236}">
                  <a16:creationId xmlns:a16="http://schemas.microsoft.com/office/drawing/2014/main" id="{A643E849-3FBA-4248-B0DF-9D6737E232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8" name="Freeform 30">
              <a:extLst>
                <a:ext uri="{FF2B5EF4-FFF2-40B4-BE49-F238E27FC236}">
                  <a16:creationId xmlns:a16="http://schemas.microsoft.com/office/drawing/2014/main" id="{231C0782-59AA-4C4F-8B86-85102F701A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9" name="Freeform 31">
              <a:extLst>
                <a:ext uri="{FF2B5EF4-FFF2-40B4-BE49-F238E27FC236}">
                  <a16:creationId xmlns:a16="http://schemas.microsoft.com/office/drawing/2014/main" id="{E19975F5-4F93-41BF-9A6D-1E6CFDFF1D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30" name="Freeform 32">
              <a:extLst>
                <a:ext uri="{FF2B5EF4-FFF2-40B4-BE49-F238E27FC236}">
                  <a16:creationId xmlns:a16="http://schemas.microsoft.com/office/drawing/2014/main" id="{AE6458FC-D3D9-469F-A8FB-0431BD156B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31" name="Freeform 33">
              <a:extLst>
                <a:ext uri="{FF2B5EF4-FFF2-40B4-BE49-F238E27FC236}">
                  <a16:creationId xmlns:a16="http://schemas.microsoft.com/office/drawing/2014/main" id="{90B9693F-2248-4DB8-A528-52C13C636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2" name="Freeform 34">
              <a:extLst>
                <a:ext uri="{FF2B5EF4-FFF2-40B4-BE49-F238E27FC236}">
                  <a16:creationId xmlns:a16="http://schemas.microsoft.com/office/drawing/2014/main" id="{11CC5E15-09A8-41A0-930D-434F7D8D6F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3" name="Freeform 35">
              <a:extLst>
                <a:ext uri="{FF2B5EF4-FFF2-40B4-BE49-F238E27FC236}">
                  <a16:creationId xmlns:a16="http://schemas.microsoft.com/office/drawing/2014/main" id="{B5566C56-67EC-43D7-A3D2-3CCBEDAFC6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4" name="Freeform 36">
              <a:extLst>
                <a:ext uri="{FF2B5EF4-FFF2-40B4-BE49-F238E27FC236}">
                  <a16:creationId xmlns:a16="http://schemas.microsoft.com/office/drawing/2014/main" id="{CF74AC36-5E17-4D3B-A93B-1645741EBF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5" name="Freeform 37">
              <a:extLst>
                <a:ext uri="{FF2B5EF4-FFF2-40B4-BE49-F238E27FC236}">
                  <a16:creationId xmlns:a16="http://schemas.microsoft.com/office/drawing/2014/main" id="{39818481-D2FB-4507-B11D-8C6342ACF4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6" name="Freeform 38">
              <a:extLst>
                <a:ext uri="{FF2B5EF4-FFF2-40B4-BE49-F238E27FC236}">
                  <a16:creationId xmlns:a16="http://schemas.microsoft.com/office/drawing/2014/main" id="{E996F5F0-3979-44D1-9AE3-1251DA5D2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8" name="Rectangle 37">
            <a:extLst>
              <a:ext uri="{FF2B5EF4-FFF2-40B4-BE49-F238E27FC236}">
                <a16:creationId xmlns:a16="http://schemas.microsoft.com/office/drawing/2014/main" id="{05C469C2-FE8F-491E-9139-7E7F8BB38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11">
            <a:extLst>
              <a:ext uri="{FF2B5EF4-FFF2-40B4-BE49-F238E27FC236}">
                <a16:creationId xmlns:a16="http://schemas.microsoft.com/office/drawing/2014/main" id="{0D31E63E-1DE1-4400-9D1A-FA0378B29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2" name="TextBox 1">
            <a:extLst>
              <a:ext uri="{FF2B5EF4-FFF2-40B4-BE49-F238E27FC236}">
                <a16:creationId xmlns:a16="http://schemas.microsoft.com/office/drawing/2014/main" id="{BC39A976-171C-82BA-BDAF-7A69F047CFA9}"/>
              </a:ext>
            </a:extLst>
          </p:cNvPr>
          <p:cNvSpPr txBox="1"/>
          <p:nvPr/>
        </p:nvSpPr>
        <p:spPr>
          <a:xfrm>
            <a:off x="2137144" y="148856"/>
            <a:ext cx="5245790" cy="565519"/>
          </a:xfrm>
          <a:prstGeom prst="rect">
            <a:avLst/>
          </a:prstGeom>
        </p:spPr>
        <p:txBody>
          <a:bodyPr vert="horz" lIns="91440" tIns="45720" rIns="91440" bIns="45720" rtlCol="0" anchor="t">
            <a:normAutofit fontScale="92500" lnSpcReduction="10000"/>
          </a:bodyPr>
          <a:lstStyle/>
          <a:p>
            <a:pPr defTabSz="457200">
              <a:spcBef>
                <a:spcPct val="0"/>
              </a:spcBef>
              <a:spcAft>
                <a:spcPts val="600"/>
              </a:spcAft>
            </a:pPr>
            <a:r>
              <a:rPr lang="en-US" sz="3600" b="1" u="sng" dirty="0">
                <a:solidFill>
                  <a:schemeClr val="tx1">
                    <a:lumMod val="85000"/>
                    <a:lumOff val="15000"/>
                  </a:schemeClr>
                </a:solidFill>
                <a:latin typeface="Times New Roman" panose="02020603050405020304" pitchFamily="18" charset="0"/>
                <a:ea typeface="+mj-ea"/>
                <a:cs typeface="Times New Roman" panose="02020603050405020304" pitchFamily="18" charset="0"/>
              </a:rPr>
              <a:t>REFLECTION</a:t>
            </a:r>
          </a:p>
        </p:txBody>
      </p:sp>
      <p:sp>
        <p:nvSpPr>
          <p:cNvPr id="5" name="TextBox 4">
            <a:extLst>
              <a:ext uri="{FF2B5EF4-FFF2-40B4-BE49-F238E27FC236}">
                <a16:creationId xmlns:a16="http://schemas.microsoft.com/office/drawing/2014/main" id="{962DFE17-6D8F-3315-6CCB-9F40E5ED6E07}"/>
              </a:ext>
            </a:extLst>
          </p:cNvPr>
          <p:cNvSpPr txBox="1"/>
          <p:nvPr/>
        </p:nvSpPr>
        <p:spPr>
          <a:xfrm>
            <a:off x="1657765" y="714375"/>
            <a:ext cx="5278820" cy="5994769"/>
          </a:xfrm>
          <a:prstGeom prst="rect">
            <a:avLst/>
          </a:prstGeom>
        </p:spPr>
        <p:txBody>
          <a:bodyPr vert="horz" lIns="91440" tIns="45720" rIns="91440" bIns="45720" rtlCol="0">
            <a:normAutofit/>
          </a:bodyPr>
          <a:lstStyle/>
          <a:p>
            <a:pPr defTabSz="457200">
              <a:lnSpc>
                <a:spcPct val="150000"/>
              </a:lnSpc>
              <a:spcBef>
                <a:spcPts val="1000"/>
              </a:spcBef>
              <a:buClr>
                <a:schemeClr val="accent1"/>
              </a:buClr>
              <a:buFont typeface="Wingdings 3" charset="2"/>
              <a:buChar char=""/>
            </a:pPr>
            <a:r>
              <a:rPr lang="en-US" sz="2800" dirty="0">
                <a:solidFill>
                  <a:schemeClr val="tx1">
                    <a:lumMod val="75000"/>
                    <a:lumOff val="25000"/>
                  </a:schemeClr>
                </a:solidFill>
                <a:latin typeface="Times New Roman" panose="02020603050405020304" pitchFamily="18" charset="0"/>
                <a:cs typeface="Times New Roman" panose="02020603050405020304" pitchFamily="18" charset="0"/>
              </a:rPr>
              <a:t>When a ray of light approaches a smooth polished surface and the light ray bounces back, it is called as Reflection of Light. The incident ray that land on the surface is reflected off the surface as well and so the ray that bounces back is termed as Reflected ray.</a:t>
            </a:r>
          </a:p>
        </p:txBody>
      </p:sp>
      <p:pic>
        <p:nvPicPr>
          <p:cNvPr id="3" name="Picture 2" descr="A diagram of a mirror reflection&#10;&#10;Description automatically generated">
            <a:extLst>
              <a:ext uri="{FF2B5EF4-FFF2-40B4-BE49-F238E27FC236}">
                <a16:creationId xmlns:a16="http://schemas.microsoft.com/office/drawing/2014/main" id="{3B556EE5-0241-DACF-732A-F723E3F3DD23}"/>
              </a:ext>
            </a:extLst>
          </p:cNvPr>
          <p:cNvPicPr>
            <a:picLocks noChangeAspect="1"/>
          </p:cNvPicPr>
          <p:nvPr/>
        </p:nvPicPr>
        <p:blipFill rotWithShape="1">
          <a:blip r:embed="rId2"/>
          <a:srcRect t="13490" r="-1" b="-1"/>
          <a:stretch/>
        </p:blipFill>
        <p:spPr>
          <a:xfrm>
            <a:off x="7736146" y="624111"/>
            <a:ext cx="3768466" cy="2627322"/>
          </a:xfrm>
          <a:prstGeom prst="rect">
            <a:avLst/>
          </a:prstGeom>
        </p:spPr>
      </p:pic>
      <p:grpSp>
        <p:nvGrpSpPr>
          <p:cNvPr id="8" name="Group 7">
            <a:extLst>
              <a:ext uri="{FF2B5EF4-FFF2-40B4-BE49-F238E27FC236}">
                <a16:creationId xmlns:a16="http://schemas.microsoft.com/office/drawing/2014/main" id="{4620AE67-83AE-5DB6-0243-783D48CFC3AD}"/>
              </a:ext>
            </a:extLst>
          </p:cNvPr>
          <p:cNvGrpSpPr/>
          <p:nvPr/>
        </p:nvGrpSpPr>
        <p:grpSpPr>
          <a:xfrm>
            <a:off x="7382934" y="637086"/>
            <a:ext cx="4781842" cy="5892801"/>
            <a:chOff x="7736146" y="637087"/>
            <a:chExt cx="3768466" cy="5419236"/>
          </a:xfrm>
        </p:grpSpPr>
        <p:pic>
          <p:nvPicPr>
            <p:cNvPr id="6" name="Picture 5" descr="A diagram of a mirror reflection&#10;&#10;Description automatically generated">
              <a:extLst>
                <a:ext uri="{FF2B5EF4-FFF2-40B4-BE49-F238E27FC236}">
                  <a16:creationId xmlns:a16="http://schemas.microsoft.com/office/drawing/2014/main" id="{26160F0C-D931-B9D0-5879-457EC387CBBE}"/>
                </a:ext>
              </a:extLst>
            </p:cNvPr>
            <p:cNvPicPr>
              <a:picLocks noChangeAspect="1"/>
            </p:cNvPicPr>
            <p:nvPr/>
          </p:nvPicPr>
          <p:blipFill rotWithShape="1">
            <a:blip r:embed="rId2"/>
            <a:srcRect t="13490" r="-1" b="-1"/>
            <a:stretch/>
          </p:blipFill>
          <p:spPr>
            <a:xfrm>
              <a:off x="7736146" y="637087"/>
              <a:ext cx="3768466" cy="2627322"/>
            </a:xfrm>
            <a:prstGeom prst="rect">
              <a:avLst/>
            </a:prstGeom>
          </p:spPr>
        </p:pic>
        <p:pic>
          <p:nvPicPr>
            <p:cNvPr id="7" name="Picture 6" descr="A tree in the water&#10;&#10;Description automatically generated">
              <a:extLst>
                <a:ext uri="{FF2B5EF4-FFF2-40B4-BE49-F238E27FC236}">
                  <a16:creationId xmlns:a16="http://schemas.microsoft.com/office/drawing/2014/main" id="{C8060523-B3B0-74B6-992F-E3E0556BF90C}"/>
                </a:ext>
              </a:extLst>
            </p:cNvPr>
            <p:cNvPicPr>
              <a:picLocks noChangeAspect="1"/>
            </p:cNvPicPr>
            <p:nvPr/>
          </p:nvPicPr>
          <p:blipFill rotWithShape="1">
            <a:blip r:embed="rId3">
              <a:extLst>
                <a:ext uri="{28A0092B-C50C-407E-A947-70E740481C1C}">
                  <a14:useLocalDpi xmlns:a14="http://schemas.microsoft.com/office/drawing/2010/main" val="0"/>
                </a:ext>
              </a:extLst>
            </a:blip>
            <a:srcRect r="-2" b="12850"/>
            <a:stretch/>
          </p:blipFill>
          <p:spPr>
            <a:xfrm>
              <a:off x="7736146" y="3429000"/>
              <a:ext cx="3768466" cy="2627323"/>
            </a:xfrm>
            <a:prstGeom prst="rect">
              <a:avLst/>
            </a:prstGeom>
          </p:spPr>
        </p:pic>
      </p:grpSp>
    </p:spTree>
    <p:extLst>
      <p:ext uri="{BB962C8B-B14F-4D97-AF65-F5344CB8AC3E}">
        <p14:creationId xmlns:p14="http://schemas.microsoft.com/office/powerpoint/2010/main" val="28796308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87836-2F8D-FD3B-B7C5-7E0343B8F111}"/>
              </a:ext>
            </a:extLst>
          </p:cNvPr>
          <p:cNvSpPr txBox="1"/>
          <p:nvPr/>
        </p:nvSpPr>
        <p:spPr>
          <a:xfrm>
            <a:off x="2131654" y="221672"/>
            <a:ext cx="6345382" cy="646331"/>
          </a:xfrm>
          <a:prstGeom prst="rect">
            <a:avLst/>
          </a:prstGeom>
          <a:noFill/>
        </p:spPr>
        <p:txBody>
          <a:bodyPr wrap="square" rtlCol="0">
            <a:spAutoFit/>
          </a:bodyPr>
          <a:lstStyle/>
          <a:p>
            <a:r>
              <a:rPr lang="en-US" sz="3600" b="1" u="sng" dirty="0">
                <a:latin typeface="Times New Roman" panose="02020603050405020304" pitchFamily="18" charset="0"/>
                <a:cs typeface="Times New Roman" panose="02020603050405020304" pitchFamily="18" charset="0"/>
              </a:rPr>
              <a:t>TYPES OF REFLECTION</a:t>
            </a:r>
          </a:p>
        </p:txBody>
      </p:sp>
      <p:sp>
        <p:nvSpPr>
          <p:cNvPr id="3" name="TextBox 2">
            <a:extLst>
              <a:ext uri="{FF2B5EF4-FFF2-40B4-BE49-F238E27FC236}">
                <a16:creationId xmlns:a16="http://schemas.microsoft.com/office/drawing/2014/main" id="{4CFDD625-5963-E37C-C41D-AC3C046B1D26}"/>
              </a:ext>
            </a:extLst>
          </p:cNvPr>
          <p:cNvSpPr txBox="1"/>
          <p:nvPr/>
        </p:nvSpPr>
        <p:spPr>
          <a:xfrm>
            <a:off x="1437649" y="1143802"/>
            <a:ext cx="6345383" cy="5693866"/>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1. Regular Reflection:</a:t>
            </a:r>
          </a:p>
          <a:p>
            <a:r>
              <a:rPr lang="en-US" sz="2800" dirty="0">
                <a:latin typeface="Times New Roman" panose="02020603050405020304" pitchFamily="18" charset="0"/>
                <a:cs typeface="Times New Roman" panose="02020603050405020304" pitchFamily="18" charset="0"/>
              </a:rPr>
              <a:t>The regular reflection takes place when a light ray hits a smooth polished surface like plane mirror, a stainless steel ana a thin sheet of aluminum.</a:t>
            </a:r>
          </a:p>
          <a:p>
            <a:endParaRPr lang="en-US" sz="2800" dirty="0">
              <a:latin typeface="Times New Roman" panose="02020603050405020304" pitchFamily="18" charset="0"/>
              <a:cs typeface="Times New Roman" panose="02020603050405020304" pitchFamily="18" charset="0"/>
            </a:endParaRPr>
          </a:p>
          <a:p>
            <a:r>
              <a:rPr lang="en-US" sz="2800" b="1" u="sng" dirty="0">
                <a:latin typeface="Times New Roman" panose="02020603050405020304" pitchFamily="18" charset="0"/>
                <a:cs typeface="Times New Roman" panose="02020603050405020304" pitchFamily="18" charset="0"/>
              </a:rPr>
              <a:t>2. Irregular Reflection:</a:t>
            </a:r>
          </a:p>
          <a:p>
            <a:endParaRPr lang="en-US" sz="2800" b="1" u="sng"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irregular reflection takes place when light rays hits rough or unpolishes surface like wood, paper etc.</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Here, the light after reflection is reflected in different directions.</a:t>
            </a:r>
            <a:endParaRPr lang="en-US" sz="2800" b="1" u="sng"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AABFA56-2B7E-8645-581C-928ECA12F9A8}"/>
              </a:ext>
            </a:extLst>
          </p:cNvPr>
          <p:cNvPicPr>
            <a:picLocks noChangeAspect="1"/>
          </p:cNvPicPr>
          <p:nvPr/>
        </p:nvPicPr>
        <p:blipFill>
          <a:blip r:embed="rId2"/>
          <a:stretch>
            <a:fillRect/>
          </a:stretch>
        </p:blipFill>
        <p:spPr>
          <a:xfrm>
            <a:off x="7486650" y="868003"/>
            <a:ext cx="4705350" cy="5867400"/>
          </a:xfrm>
          <a:prstGeom prst="rect">
            <a:avLst/>
          </a:prstGeom>
        </p:spPr>
      </p:pic>
    </p:spTree>
    <p:extLst>
      <p:ext uri="{BB962C8B-B14F-4D97-AF65-F5344CB8AC3E}">
        <p14:creationId xmlns:p14="http://schemas.microsoft.com/office/powerpoint/2010/main" val="2028267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916EE-A02E-93C0-1A80-F148616076B9}"/>
              </a:ext>
            </a:extLst>
          </p:cNvPr>
          <p:cNvSpPr>
            <a:spLocks noGrp="1"/>
          </p:cNvSpPr>
          <p:nvPr>
            <p:ph type="title"/>
          </p:nvPr>
        </p:nvSpPr>
        <p:spPr>
          <a:xfrm>
            <a:off x="1539432" y="-72257"/>
            <a:ext cx="9499175" cy="627839"/>
          </a:xfrm>
        </p:spPr>
        <p:txBody>
          <a:bodyPr>
            <a:normAutofit fontScale="90000"/>
          </a:bodyPr>
          <a:lstStyle/>
          <a:p>
            <a:r>
              <a:rPr lang="en-US" b="1" u="sng" dirty="0">
                <a:latin typeface="Times New Roman" panose="02020603050405020304" pitchFamily="18" charset="0"/>
                <a:cs typeface="Times New Roman" panose="02020603050405020304" pitchFamily="18" charset="0"/>
              </a:rPr>
              <a:t>Law Of  Reflection</a:t>
            </a:r>
          </a:p>
        </p:txBody>
      </p:sp>
      <p:sp>
        <p:nvSpPr>
          <p:cNvPr id="3" name="Content Placeholder 2">
            <a:extLst>
              <a:ext uri="{FF2B5EF4-FFF2-40B4-BE49-F238E27FC236}">
                <a16:creationId xmlns:a16="http://schemas.microsoft.com/office/drawing/2014/main" id="{905A80E8-AD5D-AA4C-6DFA-21EB1814DBF2}"/>
              </a:ext>
            </a:extLst>
          </p:cNvPr>
          <p:cNvSpPr>
            <a:spLocks noGrp="1"/>
          </p:cNvSpPr>
          <p:nvPr>
            <p:ph idx="1"/>
          </p:nvPr>
        </p:nvSpPr>
        <p:spPr>
          <a:xfrm>
            <a:off x="1655179" y="347242"/>
            <a:ext cx="10536821" cy="5908876"/>
          </a:xfrm>
        </p:spPr>
        <p:txBody>
          <a:bodyPr>
            <a:noAutofit/>
          </a:bodyPr>
          <a:lstStyle/>
          <a:p>
            <a:pPr>
              <a:lnSpc>
                <a:spcPct val="150000"/>
              </a:lnSpc>
            </a:pPr>
            <a:r>
              <a:rPr lang="en-US" sz="2400" dirty="0">
                <a:latin typeface="Times New Roman" panose="02020603050405020304" pitchFamily="18" charset="0"/>
                <a:cs typeface="Times New Roman" panose="02020603050405020304" pitchFamily="18" charset="0"/>
              </a:rPr>
              <a:t>There are two laws of reflection .</a:t>
            </a:r>
          </a:p>
          <a:p>
            <a:pPr marL="0" indent="0">
              <a:lnSpc>
                <a:spcPct val="150000"/>
              </a:lnSpc>
              <a:buNone/>
            </a:pPr>
            <a:r>
              <a:rPr lang="en-US" sz="2400" dirty="0">
                <a:latin typeface="Times New Roman" panose="02020603050405020304" pitchFamily="18" charset="0"/>
                <a:cs typeface="Times New Roman" panose="02020603050405020304" pitchFamily="18" charset="0"/>
              </a:rPr>
              <a:t>1. The Angle of the reflection ray equals the angle of the incident ray, with respect to normal.</a:t>
            </a:r>
          </a:p>
          <a:p>
            <a:pPr marL="0" indent="0">
              <a:lnSpc>
                <a:spcPct val="150000"/>
              </a:lnSpc>
              <a:buNone/>
            </a:pPr>
            <a:r>
              <a:rPr lang="en-US" sz="2400" dirty="0">
                <a:latin typeface="Times New Roman" panose="02020603050405020304" pitchFamily="18" charset="0"/>
                <a:cs typeface="Times New Roman" panose="02020603050405020304" pitchFamily="18" charset="0"/>
              </a:rPr>
              <a:t>2. The incident ray, reflected ray, and normal all the lie in the same plane. The incident and reflected ray are on opposite sides of the normal.</a:t>
            </a:r>
          </a:p>
        </p:txBody>
      </p:sp>
      <p:pic>
        <p:nvPicPr>
          <p:cNvPr id="7" name="Picture 6">
            <a:extLst>
              <a:ext uri="{FF2B5EF4-FFF2-40B4-BE49-F238E27FC236}">
                <a16:creationId xmlns:a16="http://schemas.microsoft.com/office/drawing/2014/main" id="{1A0CD2D2-BC81-E185-0C26-354BBEB811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8797" y="3336400"/>
            <a:ext cx="6428509" cy="3616036"/>
          </a:xfrm>
          <a:prstGeom prst="rect">
            <a:avLst/>
          </a:prstGeom>
        </p:spPr>
      </p:pic>
    </p:spTree>
    <p:extLst>
      <p:ext uri="{BB962C8B-B14F-4D97-AF65-F5344CB8AC3E}">
        <p14:creationId xmlns:p14="http://schemas.microsoft.com/office/powerpoint/2010/main" val="2446523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5"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7"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8"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9"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50"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51"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52"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3"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4"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5"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6"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7"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58" name="Group 57">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59"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60"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61"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2"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3"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4"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5"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6"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7"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8"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9"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70"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1" name="Rectangle 70">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useBgFill="1">
        <p:nvSpPr>
          <p:cNvPr id="42" name="Rectangle 41">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4028" y="-84103"/>
            <a:ext cx="3650279" cy="624165"/>
          </a:xfrm>
        </p:spPr>
        <p:txBody>
          <a:bodyPr vert="horz" lIns="91440" tIns="45720" rIns="91440" bIns="45720" rtlCol="0" anchor="t">
            <a:normAutofit fontScale="90000"/>
          </a:bodyPr>
          <a:lstStyle/>
          <a:p>
            <a:r>
              <a:rPr lang="en-US" sz="3600" b="1" u="sng" dirty="0">
                <a:latin typeface="Times New Roman" panose="02020603050405020304" pitchFamily="18" charset="0"/>
                <a:cs typeface="Times New Roman" panose="02020603050405020304" pitchFamily="18" charset="0"/>
              </a:rPr>
              <a:t>REFRACTION</a:t>
            </a:r>
            <a:endParaRPr lang="en-US" sz="3600" u="sng" dirty="0">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ext Placeholder 3"/>
          <p:cNvSpPr>
            <a:spLocks noGrp="1"/>
          </p:cNvSpPr>
          <p:nvPr>
            <p:ph type="body" sz="half" idx="2"/>
          </p:nvPr>
        </p:nvSpPr>
        <p:spPr>
          <a:xfrm>
            <a:off x="283531" y="521696"/>
            <a:ext cx="6580255" cy="6087446"/>
          </a:xfrm>
        </p:spPr>
        <p:txBody>
          <a:bodyPr vert="horz" lIns="91440" tIns="45720" rIns="91440" bIns="45720" rtlCol="0">
            <a:normAutofit/>
          </a:bodyPr>
          <a:lstStyle/>
          <a:p>
            <a:pPr algn="just">
              <a:lnSpc>
                <a:spcPct val="90000"/>
              </a:lnSpc>
              <a:buFont typeface="Wingdings 3" charset="2"/>
              <a:buChar char=""/>
            </a:pPr>
            <a:r>
              <a:rPr lang="en-US" dirty="0"/>
              <a:t> </a:t>
            </a:r>
            <a:r>
              <a:rPr lang="en-US" sz="2800" dirty="0">
                <a:latin typeface="Times New Roman" panose="02020603050405020304" pitchFamily="18" charset="0"/>
                <a:cs typeface="Times New Roman" panose="02020603050405020304" pitchFamily="18" charset="0"/>
              </a:rPr>
              <a:t>“Refraction is the change in the direction of a wave passing from one Transparent medium to another medium.”</a:t>
            </a:r>
          </a:p>
          <a:p>
            <a:pPr marL="0" indent="0" algn="just">
              <a:lnSpc>
                <a:spcPct val="90000"/>
              </a:lnSpc>
              <a:buFont typeface="Wingdings 3" charset="2"/>
              <a:buChar char=""/>
            </a:pP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oR</a:t>
            </a:r>
            <a:endParaRPr lang="en-US" sz="2800" dirty="0">
              <a:latin typeface="Times New Roman" panose="02020603050405020304" pitchFamily="18" charset="0"/>
              <a:cs typeface="Times New Roman" panose="02020603050405020304" pitchFamily="18" charset="0"/>
            </a:endParaRPr>
          </a:p>
          <a:p>
            <a:pPr algn="just">
              <a:lnSpc>
                <a:spcPct val="90000"/>
              </a:lnSpc>
              <a:buFont typeface="Wingdings 3" charset="2"/>
              <a:buChar char=""/>
            </a:pPr>
            <a:r>
              <a:rPr lang="en-US" sz="2800" dirty="0">
                <a:latin typeface="Times New Roman" panose="02020603050405020304" pitchFamily="18" charset="0"/>
                <a:cs typeface="Times New Roman" panose="02020603050405020304" pitchFamily="18" charset="0"/>
              </a:rPr>
              <a:t>Refraction is the bending of light (it also happens with sound, water and other waves) as it passes from one transparent substance into another. </a:t>
            </a:r>
          </a:p>
          <a:p>
            <a:pPr algn="just">
              <a:lnSpc>
                <a:spcPct val="90000"/>
              </a:lnSpc>
              <a:buFont typeface="Wingdings 3" charset="2"/>
              <a:buChar char=""/>
            </a:pPr>
            <a:endParaRPr lang="en-US" sz="2800" dirty="0">
              <a:latin typeface="Times New Roman" panose="02020603050405020304" pitchFamily="18" charset="0"/>
              <a:cs typeface="Times New Roman" panose="02020603050405020304" pitchFamily="18" charset="0"/>
            </a:endParaRPr>
          </a:p>
          <a:p>
            <a:pPr algn="just">
              <a:lnSpc>
                <a:spcPct val="90000"/>
              </a:lnSpc>
              <a:buFont typeface="Wingdings 3" charset="2"/>
              <a:buChar char=""/>
            </a:pPr>
            <a:r>
              <a:rPr lang="en-US" sz="2800" dirty="0">
                <a:latin typeface="Times New Roman" panose="02020603050405020304" pitchFamily="18" charset="0"/>
                <a:cs typeface="Times New Roman" panose="02020603050405020304" pitchFamily="18" charset="0"/>
              </a:rPr>
              <a:t>This bending by refraction makes it possible for us to have lenses, magnifying glasses, prisms and rainbows. Even our eyes depend upon this bending of light.</a:t>
            </a:r>
          </a:p>
        </p:txBody>
      </p:sp>
      <p:pic>
        <p:nvPicPr>
          <p:cNvPr id="5" name="Picture 4">
            <a:extLst>
              <a:ext uri="{FF2B5EF4-FFF2-40B4-BE49-F238E27FC236}">
                <a16:creationId xmlns:a16="http://schemas.microsoft.com/office/drawing/2014/main" id="{2F9E0B82-D4D3-0A5F-0BFE-DFDBEFD81FBA}"/>
              </a:ext>
            </a:extLst>
          </p:cNvPr>
          <p:cNvPicPr>
            <a:picLocks noChangeAspect="1"/>
          </p:cNvPicPr>
          <p:nvPr/>
        </p:nvPicPr>
        <p:blipFill>
          <a:blip r:embed="rId3"/>
          <a:stretch>
            <a:fillRect/>
          </a:stretch>
        </p:blipFill>
        <p:spPr>
          <a:xfrm>
            <a:off x="7062184" y="637445"/>
            <a:ext cx="5102591" cy="5252773"/>
          </a:xfrm>
          <a:prstGeom prst="rect">
            <a:avLst/>
          </a:prstGeom>
        </p:spPr>
      </p:pic>
      <p:sp>
        <p:nvSpPr>
          <p:cNvPr id="46"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206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5618" y="-137664"/>
            <a:ext cx="4870382" cy="763876"/>
          </a:xfrm>
        </p:spPr>
        <p:txBody>
          <a:bodyPr>
            <a:normAutofit/>
          </a:bodyPr>
          <a:lstStyle/>
          <a:p>
            <a:r>
              <a:rPr lang="en-US" sz="3200" b="1" u="sng" dirty="0">
                <a:latin typeface="Times New Roman" panose="02020603050405020304" pitchFamily="18" charset="0"/>
                <a:cs typeface="Times New Roman" panose="02020603050405020304" pitchFamily="18" charset="0"/>
              </a:rPr>
              <a:t>LAWS OF REFRACTION</a:t>
            </a:r>
            <a:endParaRPr lang="en-US" sz="3200" b="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1423684" y="636609"/>
                <a:ext cx="6805915" cy="6308201"/>
              </a:xfrm>
            </p:spPr>
            <p:txBody>
              <a:bodyPr>
                <a:normAutofit fontScale="92500" lnSpcReduction="10000"/>
              </a:bodyPr>
              <a:lstStyle/>
              <a:p>
                <a:pPr marL="0" indent="0">
                  <a:buNone/>
                </a:pPr>
                <a:r>
                  <a:rPr lang="en-PK" sz="2800" b="1" dirty="0">
                    <a:latin typeface="Times New Roman" panose="02020603050405020304" pitchFamily="18" charset="0"/>
                    <a:cs typeface="Times New Roman" panose="02020603050405020304" pitchFamily="18" charset="0"/>
                  </a:rPr>
                  <a:t>Laws of refraction state that:</a:t>
                </a:r>
                <a:endParaRPr lang="en-PK" sz="2800" dirty="0">
                  <a:latin typeface="Times New Roman" panose="02020603050405020304" pitchFamily="18" charset="0"/>
                  <a:cs typeface="Times New Roman" panose="02020603050405020304" pitchFamily="18" charset="0"/>
                </a:endParaRPr>
              </a:p>
              <a:p>
                <a:r>
                  <a:rPr lang="en-PK" sz="2800" dirty="0">
                    <a:latin typeface="Times New Roman" panose="02020603050405020304" pitchFamily="18" charset="0"/>
                    <a:cs typeface="Times New Roman" panose="02020603050405020304" pitchFamily="18" charset="0"/>
                  </a:rPr>
                  <a:t>The incident ray refracted ray, and the normal to the interface of two media at the point of incidence all lie on the same plane.</a:t>
                </a:r>
              </a:p>
              <a:p>
                <a:r>
                  <a:rPr lang="en-US" sz="2800" b="1" u="sng" dirty="0">
                    <a:latin typeface="Times New Roman" panose="02020603050405020304" pitchFamily="18" charset="0"/>
                    <a:cs typeface="Times New Roman" panose="02020603050405020304" pitchFamily="18" charset="0"/>
                  </a:rPr>
                  <a:t>SNELL’S LAW:</a:t>
                </a:r>
                <a:endParaRPr lang="en-US" sz="2800" dirty="0">
                  <a:latin typeface="Times New Roman" panose="02020603050405020304" pitchFamily="18" charset="0"/>
                  <a:cs typeface="Times New Roman" panose="02020603050405020304" pitchFamily="18" charset="0"/>
                </a:endParaRPr>
              </a:p>
              <a:p>
                <a:r>
                  <a:rPr lang="en-PK" sz="2800" dirty="0">
                    <a:latin typeface="Times New Roman" panose="02020603050405020304" pitchFamily="18" charset="0"/>
                    <a:cs typeface="Times New Roman" panose="02020603050405020304" pitchFamily="18" charset="0"/>
                  </a:rPr>
                  <a:t>The ratio of the sine of the angle of incidence to the sine of the angle of refraction is constant. This is also known as Snell's law of refraction.</a:t>
                </a:r>
                <a:endParaRPr lang="en-US" sz="2800" dirty="0">
                  <a:latin typeface="Times New Roman" panose="02020603050405020304" pitchFamily="18" charset="0"/>
                  <a:cs typeface="Times New Roman" panose="02020603050405020304" pitchFamily="18" charset="0"/>
                </a:endParaRPr>
              </a:p>
              <a:p>
                <a14:m>
                  <m:oMath xmlns:m="http://schemas.openxmlformats.org/officeDocument/2006/math">
                    <m:r>
                      <a:rPr lang="en-US" sz="2800" i="1">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𝑛</m:t>
                    </m:r>
                    <m:r>
                      <a:rPr lang="en-US" sz="2800" b="0" i="1" smtClean="0">
                        <a:latin typeface="Cambria Math" panose="02040503050406030204" pitchFamily="18" charset="0"/>
                        <a:cs typeface="Times New Roman" panose="02020603050405020304" pitchFamily="18" charset="0"/>
                      </a:rPr>
                      <m:t>=</m:t>
                    </m:r>
                    <m:f>
                      <m:fPr>
                        <m:ctrlPr>
                          <a:rPr lang="en-US" sz="2800" b="0" i="1" smtClean="0">
                            <a:latin typeface="Cambria Math" panose="02040503050406030204" pitchFamily="18" charset="0"/>
                            <a:cs typeface="Times New Roman" panose="02020603050405020304" pitchFamily="18" charset="0"/>
                          </a:rPr>
                        </m:ctrlPr>
                      </m:fPr>
                      <m:num>
                        <m:r>
                          <a:rPr lang="en-US" sz="2800" b="0" i="1" smtClean="0">
                            <a:latin typeface="Cambria Math" panose="02040503050406030204" pitchFamily="18" charset="0"/>
                            <a:cs typeface="Times New Roman" panose="02020603050405020304" pitchFamily="18" charset="0"/>
                          </a:rPr>
                          <m:t>𝑠𝑖𝑛</m:t>
                        </m:r>
                        <m:r>
                          <a:rPr lang="en-US" sz="2800" b="0" i="1" smtClean="0">
                            <a:latin typeface="Cambria Math" panose="02040503050406030204" pitchFamily="18" charset="0"/>
                            <a:cs typeface="Times New Roman" panose="02020603050405020304" pitchFamily="18" charset="0"/>
                          </a:rPr>
                          <m:t>&lt;</m:t>
                        </m:r>
                        <m:r>
                          <a:rPr lang="en-US" sz="2800" b="0" i="1" smtClean="0">
                            <a:latin typeface="Cambria Math" panose="02040503050406030204" pitchFamily="18" charset="0"/>
                            <a:cs typeface="Times New Roman" panose="02020603050405020304" pitchFamily="18" charset="0"/>
                          </a:rPr>
                          <m:t>𝑖</m:t>
                        </m:r>
                      </m:num>
                      <m:den>
                        <m:r>
                          <a:rPr lang="en-US" sz="2800" b="0" i="1" smtClean="0">
                            <a:latin typeface="Cambria Math" panose="02040503050406030204" pitchFamily="18" charset="0"/>
                            <a:cs typeface="Times New Roman" panose="02020603050405020304" pitchFamily="18" charset="0"/>
                          </a:rPr>
                          <m:t>𝑠𝑢𝑛</m:t>
                        </m:r>
                        <m:r>
                          <a:rPr lang="en-US" sz="2800" b="0" i="1" smtClean="0">
                            <a:latin typeface="Cambria Math" panose="02040503050406030204" pitchFamily="18" charset="0"/>
                            <a:cs typeface="Times New Roman" panose="02020603050405020304" pitchFamily="18" charset="0"/>
                          </a:rPr>
                          <m:t>&lt;</m:t>
                        </m:r>
                        <m:r>
                          <a:rPr lang="en-US" sz="2800" b="0" i="1" smtClean="0">
                            <a:latin typeface="Cambria Math" panose="02040503050406030204" pitchFamily="18" charset="0"/>
                            <a:cs typeface="Times New Roman" panose="02020603050405020304" pitchFamily="18" charset="0"/>
                          </a:rPr>
                          <m:t>𝑟</m:t>
                        </m:r>
                      </m:den>
                    </m:f>
                  </m:oMath>
                </a14:m>
                <a:endParaRPr lang="en-US" sz="2800" dirty="0">
                  <a:latin typeface="Times New Roman" panose="02020603050405020304" pitchFamily="18" charset="0"/>
                  <a:cs typeface="Times New Roman" panose="02020603050405020304" pitchFamily="18" charset="0"/>
                </a:endParaRPr>
              </a:p>
              <a:p>
                <a14:m>
                  <m:oMath xmlns:m="http://schemas.openxmlformats.org/officeDocument/2006/math">
                    <m:r>
                      <a:rPr lang="en-US" sz="2800" b="0" i="1" smtClean="0">
                        <a:latin typeface="Cambria Math" panose="02040503050406030204" pitchFamily="18" charset="0"/>
                        <a:cs typeface="Times New Roman" panose="02020603050405020304" pitchFamily="18" charset="0"/>
                      </a:rPr>
                      <m:t>𝑛</m:t>
                    </m:r>
                    <m:r>
                      <a:rPr lang="en-US" sz="2800" b="0" i="1" smtClean="0">
                        <a:latin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cs typeface="Times New Roman" panose="02020603050405020304" pitchFamily="18" charset="0"/>
                      </a:rPr>
                      <m:t>𝑟𝑒𝑓𝑟𝑎𝑐𝑡𝑖𝑣𝑒</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𝐼𝑛𝑑𝑒𝑥</m:t>
                    </m:r>
                  </m:oMath>
                </a14:m>
                <a:endParaRPr lang="en-US" sz="2800" b="0" dirty="0">
                  <a:latin typeface="Times New Roman" panose="02020603050405020304" pitchFamily="18" charset="0"/>
                  <a:cs typeface="Times New Roman" panose="02020603050405020304" pitchFamily="18" charset="0"/>
                </a:endParaRPr>
              </a:p>
              <a:p>
                <a14:m>
                  <m:oMath xmlns:m="http://schemas.openxmlformats.org/officeDocument/2006/math">
                    <m:r>
                      <a:rPr lang="en-US" sz="2800" b="0" i="1" smtClean="0">
                        <a:latin typeface="Cambria Math" panose="02040503050406030204" pitchFamily="18" charset="0"/>
                        <a:cs typeface="Times New Roman" panose="02020603050405020304" pitchFamily="18" charset="0"/>
                      </a:rPr>
                      <m:t>𝑖</m:t>
                    </m:r>
                    <m:r>
                      <a:rPr lang="en-US" sz="2800" b="0" i="1" smtClean="0">
                        <a:latin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cs typeface="Times New Roman" panose="02020603050405020304" pitchFamily="18" charset="0"/>
                      </a:rPr>
                      <m:t>𝑎𝑛𝑔𝑙𝑒</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𝑜𝑓</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𝑖𝑛𝑐𝑖𝑑𝑒𝑛𝑡</m:t>
                    </m:r>
                  </m:oMath>
                </a14:m>
                <a:endParaRPr lang="en-US" sz="2800" b="0" dirty="0">
                  <a:latin typeface="Times New Roman" panose="02020603050405020304" pitchFamily="18" charset="0"/>
                  <a:cs typeface="Times New Roman" panose="02020603050405020304" pitchFamily="18" charset="0"/>
                </a:endParaRPr>
              </a:p>
              <a:p>
                <a14:m>
                  <m:oMath xmlns:m="http://schemas.openxmlformats.org/officeDocument/2006/math">
                    <m:r>
                      <a:rPr lang="en-US" sz="2800" b="0" i="1" smtClean="0">
                        <a:latin typeface="Cambria Math" panose="02040503050406030204" pitchFamily="18" charset="0"/>
                        <a:cs typeface="Times New Roman" panose="02020603050405020304" pitchFamily="18" charset="0"/>
                      </a:rPr>
                      <m:t>𝑟</m:t>
                    </m:r>
                    <m:r>
                      <a:rPr lang="en-US" sz="2800" b="0" i="1" smtClean="0">
                        <a:latin typeface="Cambria Math" panose="02040503050406030204" pitchFamily="18" charset="0"/>
                        <a:cs typeface="Times New Roman" panose="02020603050405020304" pitchFamily="18" charset="0"/>
                      </a:rPr>
                      <m:t>=</m:t>
                    </m:r>
                    <m:r>
                      <a:rPr lang="en-US" sz="2800" b="0" i="1" smtClean="0">
                        <a:latin typeface="Cambria Math" panose="02040503050406030204" pitchFamily="18" charset="0"/>
                        <a:cs typeface="Times New Roman" panose="02020603050405020304" pitchFamily="18" charset="0"/>
                      </a:rPr>
                      <m:t>𝑎𝑛𝑔𝑙𝑒</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𝑜𝑓</m:t>
                    </m:r>
                    <m:r>
                      <a:rPr lang="en-US" sz="2800" b="0" i="1" smtClean="0">
                        <a:latin typeface="Cambria Math" panose="02040503050406030204" pitchFamily="18" charset="0"/>
                        <a:cs typeface="Times New Roman" panose="02020603050405020304" pitchFamily="18" charset="0"/>
                      </a:rPr>
                      <m:t> </m:t>
                    </m:r>
                    <m:r>
                      <a:rPr lang="en-US" sz="2800" b="0" i="1" smtClean="0">
                        <a:latin typeface="Cambria Math" panose="02040503050406030204" pitchFamily="18" charset="0"/>
                        <a:cs typeface="Times New Roman" panose="02020603050405020304" pitchFamily="18" charset="0"/>
                      </a:rPr>
                      <m:t>𝑟𝑒𝑓𝑟𝑎𝑐𝑡𝑖𝑜𝑛</m:t>
                    </m:r>
                    <m:r>
                      <a:rPr lang="en-US" sz="2800" b="0" i="1" smtClean="0">
                        <a:latin typeface="Cambria Math" panose="02040503050406030204" pitchFamily="18" charset="0"/>
                        <a:cs typeface="Times New Roman" panose="02020603050405020304" pitchFamily="18" charset="0"/>
                      </a:rPr>
                      <m:t> </m:t>
                    </m:r>
                  </m:oMath>
                </a14:m>
                <a:endParaRPr lang="en-US" sz="2800" b="0" dirty="0">
                  <a:latin typeface="Times New Roman" panose="02020603050405020304" pitchFamily="18" charset="0"/>
                  <a:cs typeface="Times New Roman" panose="02020603050405020304" pitchFamily="18" charset="0"/>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1423684" y="636609"/>
                <a:ext cx="6805915" cy="6308201"/>
              </a:xfrm>
              <a:blipFill>
                <a:blip r:embed="rId2"/>
                <a:stretch>
                  <a:fillRect l="-1613"/>
                </a:stretch>
              </a:blipFill>
            </p:spPr>
            <p:txBody>
              <a:bodyPr/>
              <a:lstStyle/>
              <a:p>
                <a:r>
                  <a:rPr lang="en-US">
                    <a:noFill/>
                  </a:rPr>
                  <a:t> </a:t>
                </a:r>
              </a:p>
            </p:txBody>
          </p:sp>
        </mc:Fallback>
      </mc:AlternateContent>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2278" y="902825"/>
            <a:ext cx="4089722" cy="4687747"/>
          </a:xfrm>
          <a:prstGeom prst="rect">
            <a:avLst/>
          </a:prstGeom>
        </p:spPr>
      </p:pic>
    </p:spTree>
    <p:extLst>
      <p:ext uri="{BB962C8B-B14F-4D97-AF65-F5344CB8AC3E}">
        <p14:creationId xmlns:p14="http://schemas.microsoft.com/office/powerpoint/2010/main" val="439709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2206C3-890C-F346-8D4B-253A5E86D4D7}"/>
              </a:ext>
            </a:extLst>
          </p:cNvPr>
          <p:cNvSpPr>
            <a:spLocks noGrp="1"/>
          </p:cNvSpPr>
          <p:nvPr>
            <p:ph idx="1"/>
          </p:nvPr>
        </p:nvSpPr>
        <p:spPr>
          <a:xfrm>
            <a:off x="1759352" y="946778"/>
            <a:ext cx="5451676" cy="5998032"/>
          </a:xfrm>
        </p:spPr>
        <p:txBody>
          <a:bodyPr>
            <a:normAutofit fontScale="92500" lnSpcReduction="10000"/>
          </a:bodyPr>
          <a:lstStyle/>
          <a:p>
            <a:pPr marL="0" indent="0">
              <a:lnSpc>
                <a:spcPct val="160000"/>
              </a:lnSpc>
              <a:buNone/>
            </a:pPr>
            <a:r>
              <a:rPr lang="en-US" sz="3000" dirty="0">
                <a:latin typeface="Times New Roman" panose="02020603050405020304" pitchFamily="18" charset="0"/>
                <a:cs typeface="Times New Roman" panose="02020603050405020304" pitchFamily="18" charset="0"/>
              </a:rPr>
              <a:t>When a ray of light passes through a rectangular glass slab, it gets   </a:t>
            </a:r>
          </a:p>
          <a:p>
            <a:pPr marL="0" indent="0">
              <a:lnSpc>
                <a:spcPct val="160000"/>
              </a:lnSpc>
              <a:buNone/>
            </a:pPr>
            <a:r>
              <a:rPr lang="en-US" sz="3000" dirty="0">
                <a:latin typeface="Times New Roman" panose="02020603050405020304" pitchFamily="18" charset="0"/>
                <a:cs typeface="Times New Roman" panose="02020603050405020304" pitchFamily="18" charset="0"/>
              </a:rPr>
              <a:t>bent twice at the air- glass interface and at the glass- air interface.</a:t>
            </a:r>
          </a:p>
          <a:p>
            <a:pPr marL="0" indent="0">
              <a:lnSpc>
                <a:spcPct val="160000"/>
              </a:lnSpc>
              <a:buNone/>
            </a:pPr>
            <a:endParaRPr lang="en-US" sz="3000" dirty="0">
              <a:latin typeface="Times New Roman" panose="02020603050405020304" pitchFamily="18" charset="0"/>
              <a:cs typeface="Times New Roman" panose="02020603050405020304" pitchFamily="18" charset="0"/>
            </a:endParaRPr>
          </a:p>
          <a:p>
            <a:pPr>
              <a:lnSpc>
                <a:spcPct val="160000"/>
              </a:lnSpc>
            </a:pPr>
            <a:r>
              <a:rPr lang="en-US" sz="3000" dirty="0">
                <a:latin typeface="Times New Roman" panose="02020603050405020304" pitchFamily="18" charset="0"/>
                <a:cs typeface="Times New Roman" panose="02020603050405020304" pitchFamily="18" charset="0"/>
              </a:rPr>
              <a:t>The emergent ray is parallel to the incident ray and is </a:t>
            </a:r>
          </a:p>
          <a:p>
            <a:pPr marL="0" indent="0">
              <a:lnSpc>
                <a:spcPct val="160000"/>
              </a:lnSpc>
              <a:buNone/>
            </a:pPr>
            <a:r>
              <a:rPr lang="en-US" sz="3000" dirty="0">
                <a:latin typeface="Times New Roman" panose="02020603050405020304" pitchFamily="18" charset="0"/>
                <a:cs typeface="Times New Roman" panose="02020603050405020304" pitchFamily="18" charset="0"/>
              </a:rPr>
              <a:t>   displaced through a distance.</a:t>
            </a:r>
          </a:p>
          <a:p>
            <a:pPr marL="0" indent="0">
              <a:buNone/>
            </a:pPr>
            <a:endParaRPr lang="en-US" sz="2800" b="1" u="sng" dirty="0">
              <a:solidFill>
                <a:schemeClr val="bg1"/>
              </a:solidFill>
              <a:latin typeface="Arial Black" panose="020B0604020202020204" pitchFamily="34" charset="0"/>
              <a:cs typeface="Arial Black" panose="020B0604020202020204" pitchFamily="34" charset="0"/>
            </a:endParaRPr>
          </a:p>
        </p:txBody>
      </p:sp>
      <p:pic>
        <p:nvPicPr>
          <p:cNvPr id="5" name="Picture 5">
            <a:extLst>
              <a:ext uri="{FF2B5EF4-FFF2-40B4-BE49-F238E27FC236}">
                <a16:creationId xmlns:a16="http://schemas.microsoft.com/office/drawing/2014/main" id="{8223CFDE-BB40-D149-B88C-8FF6F6390E32}"/>
              </a:ext>
            </a:extLst>
          </p:cNvPr>
          <p:cNvPicPr>
            <a:picLocks noChangeAspect="1"/>
          </p:cNvPicPr>
          <p:nvPr/>
        </p:nvPicPr>
        <p:blipFill rotWithShape="1">
          <a:blip r:embed="rId2"/>
          <a:srcRect t="17417"/>
          <a:stretch/>
        </p:blipFill>
        <p:spPr>
          <a:xfrm>
            <a:off x="7614927" y="946778"/>
            <a:ext cx="4577073" cy="4964444"/>
          </a:xfrm>
          <a:prstGeom prst="rect">
            <a:avLst/>
          </a:prstGeom>
        </p:spPr>
      </p:pic>
      <p:sp>
        <p:nvSpPr>
          <p:cNvPr id="6" name="Title 5">
            <a:extLst>
              <a:ext uri="{FF2B5EF4-FFF2-40B4-BE49-F238E27FC236}">
                <a16:creationId xmlns:a16="http://schemas.microsoft.com/office/drawing/2014/main" id="{6728E60A-471B-452C-4640-F0CDFDDC83CA}"/>
              </a:ext>
            </a:extLst>
          </p:cNvPr>
          <p:cNvSpPr>
            <a:spLocks noGrp="1"/>
          </p:cNvSpPr>
          <p:nvPr>
            <p:ph type="title"/>
          </p:nvPr>
        </p:nvSpPr>
        <p:spPr>
          <a:xfrm>
            <a:off x="1759353" y="229316"/>
            <a:ext cx="9745260" cy="717462"/>
          </a:xfrm>
        </p:spPr>
        <p:txBody>
          <a:bodyPr>
            <a:normAutofit fontScale="90000"/>
          </a:bodyPr>
          <a:lstStyle/>
          <a:p>
            <a:r>
              <a:rPr lang="en-US" sz="3600" b="1" u="sng" dirty="0">
                <a:solidFill>
                  <a:schemeClr val="tx1"/>
                </a:solidFill>
                <a:latin typeface="Times New Roman" panose="02020603050405020304" pitchFamily="18" charset="0"/>
                <a:cs typeface="Times New Roman" panose="02020603050405020304" pitchFamily="18" charset="0"/>
              </a:rPr>
              <a:t>Refraction of light through glass slab</a:t>
            </a:r>
            <a:r>
              <a:rPr lang="en-US" b="1" u="sng" dirty="0">
                <a:solidFill>
                  <a:schemeClr val="tx1"/>
                </a:solidFill>
                <a:latin typeface="Times New Roman" panose="02020603050405020304" pitchFamily="18" charset="0"/>
                <a:cs typeface="Times New Roman" panose="02020603050405020304" pitchFamily="18" charset="0"/>
              </a:rPr>
              <a:t>:</a:t>
            </a:r>
            <a:br>
              <a:rPr lang="en-US" b="1" u="sng" dirty="0">
                <a:solidFill>
                  <a:schemeClr val="bg1"/>
                </a:solidFill>
                <a:latin typeface="Arial Black" panose="020B0604020202020204" pitchFamily="34" charset="0"/>
                <a:cs typeface="Arial Black" panose="020B0604020202020204" pitchFamily="34" charset="0"/>
              </a:rPr>
            </a:br>
            <a:endParaRPr lang="en-US" dirty="0"/>
          </a:p>
        </p:txBody>
      </p:sp>
    </p:spTree>
    <p:extLst>
      <p:ext uri="{BB962C8B-B14F-4D97-AF65-F5344CB8AC3E}">
        <p14:creationId xmlns:p14="http://schemas.microsoft.com/office/powerpoint/2010/main" val="3181284234"/>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TM03457444[[fn=Basis]]</Template>
  <TotalTime>564</TotalTime>
  <Words>601</Words>
  <Application>Microsoft Office PowerPoint</Application>
  <PresentationFormat>Widescreen</PresentationFormat>
  <Paragraphs>51</Paragraphs>
  <Slides>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Arial Black</vt:lpstr>
      <vt:lpstr>Calibri</vt:lpstr>
      <vt:lpstr>Cambria Math</vt:lpstr>
      <vt:lpstr>Century Gothic</vt:lpstr>
      <vt:lpstr>Times New Roman</vt:lpstr>
      <vt:lpstr>Wingdings 3</vt:lpstr>
      <vt:lpstr>Wisp</vt:lpstr>
      <vt:lpstr>DAWOOD UNIVERSITY OF ENGINEERING AND TECHNOLOGY DEPARTMENT OF BASIC SCIENCES AND HUMANITIES </vt:lpstr>
      <vt:lpstr>PowerPoint Presentation</vt:lpstr>
      <vt:lpstr>PowerPoint Presentation</vt:lpstr>
      <vt:lpstr>Law Of  Reflection</vt:lpstr>
      <vt:lpstr>REFRACTION</vt:lpstr>
      <vt:lpstr>LAWS OF REFRACTION</vt:lpstr>
      <vt:lpstr>Refraction of light through glass slab: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ilyas</dc:creator>
  <cp:lastModifiedBy>mohammad ilyasabro</cp:lastModifiedBy>
  <cp:revision>130</cp:revision>
  <dcterms:created xsi:type="dcterms:W3CDTF">2022-11-05T03:27:22Z</dcterms:created>
  <dcterms:modified xsi:type="dcterms:W3CDTF">2023-10-15T05:52:44Z</dcterms:modified>
</cp:coreProperties>
</file>