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6"/>
  </p:notesMasterIdLst>
  <p:sldIdLst>
    <p:sldId id="272" r:id="rId2"/>
    <p:sldId id="273" r:id="rId3"/>
    <p:sldId id="274" r:id="rId4"/>
    <p:sldId id="275" r:id="rId5"/>
    <p:sldId id="276" r:id="rId6"/>
    <p:sldId id="294" r:id="rId7"/>
    <p:sldId id="293" r:id="rId8"/>
    <p:sldId id="299" r:id="rId9"/>
    <p:sldId id="300" r:id="rId10"/>
    <p:sldId id="279" r:id="rId11"/>
    <p:sldId id="277" r:id="rId12"/>
    <p:sldId id="278" r:id="rId13"/>
    <p:sldId id="290" r:id="rId14"/>
    <p:sldId id="291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00FFFF"/>
    <a:srgbClr val="FFFF00"/>
    <a:srgbClr val="9933FF"/>
    <a:srgbClr val="9900CC"/>
    <a:srgbClr val="CC00CC"/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7182C39-B7BA-47F0-B7F3-ABE860B3CE76}" type="datetimeFigureOut">
              <a:rPr lang="en-US"/>
              <a:pPr>
                <a:defRPr/>
              </a:pPr>
              <a:t>4/11/2023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09DC054-8F4D-417A-8790-82E43DB0FD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9855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032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457200" y="2363788"/>
            <a:ext cx="8153400" cy="1600200"/>
            <a:chOff x="288" y="1489"/>
            <a:chExt cx="5136" cy="1008"/>
          </a:xfrm>
        </p:grpSpPr>
        <p:sp>
          <p:nvSpPr>
            <p:cNvPr id="5" name="Arc 2"/>
            <p:cNvSpPr>
              <a:spLocks/>
            </p:cNvSpPr>
            <p:nvPr/>
          </p:nvSpPr>
          <p:spPr bwMode="invGray">
            <a:xfrm>
              <a:off x="3595" y="1489"/>
              <a:ext cx="1829" cy="1008"/>
            </a:xfrm>
            <a:custGeom>
              <a:avLst/>
              <a:gdLst>
                <a:gd name="T0" fmla="*/ 0 w 21912"/>
                <a:gd name="T1" fmla="*/ 0 h 43200"/>
                <a:gd name="T2" fmla="*/ 0 w 21912"/>
                <a:gd name="T3" fmla="*/ 0 h 43200"/>
                <a:gd name="T4" fmla="*/ 0 w 2191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12" h="43200" fill="none" extrusionOk="0">
                  <a:moveTo>
                    <a:pt x="300" y="0"/>
                  </a:moveTo>
                  <a:cubicBezTo>
                    <a:pt x="304" y="0"/>
                    <a:pt x="308" y="-1"/>
                    <a:pt x="312" y="0"/>
                  </a:cubicBezTo>
                  <a:cubicBezTo>
                    <a:pt x="12241" y="0"/>
                    <a:pt x="21912" y="9670"/>
                    <a:pt x="21912" y="21600"/>
                  </a:cubicBezTo>
                  <a:cubicBezTo>
                    <a:pt x="21912" y="33529"/>
                    <a:pt x="12241" y="43200"/>
                    <a:pt x="312" y="43200"/>
                  </a:cubicBezTo>
                  <a:cubicBezTo>
                    <a:pt x="207" y="43200"/>
                    <a:pt x="103" y="43199"/>
                    <a:pt x="0" y="43197"/>
                  </a:cubicBezTo>
                </a:path>
                <a:path w="21912" h="43200" stroke="0" extrusionOk="0">
                  <a:moveTo>
                    <a:pt x="300" y="0"/>
                  </a:moveTo>
                  <a:cubicBezTo>
                    <a:pt x="304" y="0"/>
                    <a:pt x="308" y="-1"/>
                    <a:pt x="312" y="0"/>
                  </a:cubicBezTo>
                  <a:cubicBezTo>
                    <a:pt x="12241" y="0"/>
                    <a:pt x="21912" y="9670"/>
                    <a:pt x="21912" y="21600"/>
                  </a:cubicBezTo>
                  <a:cubicBezTo>
                    <a:pt x="21912" y="33529"/>
                    <a:pt x="12241" y="43200"/>
                    <a:pt x="312" y="43200"/>
                  </a:cubicBezTo>
                  <a:cubicBezTo>
                    <a:pt x="207" y="43200"/>
                    <a:pt x="103" y="43199"/>
                    <a:pt x="0" y="43197"/>
                  </a:cubicBezTo>
                  <a:lnTo>
                    <a:pt x="312" y="21600"/>
                  </a:lnTo>
                  <a:lnTo>
                    <a:pt x="3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6633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Arc 3"/>
            <p:cNvSpPr>
              <a:spLocks/>
            </p:cNvSpPr>
            <p:nvPr/>
          </p:nvSpPr>
          <p:spPr bwMode="invGray">
            <a:xfrm>
              <a:off x="3548" y="1593"/>
              <a:ext cx="1831" cy="800"/>
            </a:xfrm>
            <a:custGeom>
              <a:avLst/>
              <a:gdLst>
                <a:gd name="T0" fmla="*/ 0 w 21924"/>
                <a:gd name="T1" fmla="*/ 0 h 43200"/>
                <a:gd name="T2" fmla="*/ 0 w 21924"/>
                <a:gd name="T3" fmla="*/ 0 h 43200"/>
                <a:gd name="T4" fmla="*/ 0 w 21924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24" h="43200" fill="none" extrusionOk="0">
                  <a:moveTo>
                    <a:pt x="312" y="0"/>
                  </a:moveTo>
                  <a:cubicBezTo>
                    <a:pt x="316" y="0"/>
                    <a:pt x="320" y="-1"/>
                    <a:pt x="324" y="0"/>
                  </a:cubicBezTo>
                  <a:cubicBezTo>
                    <a:pt x="12253" y="0"/>
                    <a:pt x="21924" y="9670"/>
                    <a:pt x="21924" y="21600"/>
                  </a:cubicBezTo>
                  <a:cubicBezTo>
                    <a:pt x="21924" y="33529"/>
                    <a:pt x="12253" y="43200"/>
                    <a:pt x="324" y="43200"/>
                  </a:cubicBezTo>
                  <a:cubicBezTo>
                    <a:pt x="215" y="43200"/>
                    <a:pt x="107" y="43199"/>
                    <a:pt x="0" y="43197"/>
                  </a:cubicBezTo>
                </a:path>
                <a:path w="21924" h="43200" stroke="0" extrusionOk="0">
                  <a:moveTo>
                    <a:pt x="312" y="0"/>
                  </a:moveTo>
                  <a:cubicBezTo>
                    <a:pt x="316" y="0"/>
                    <a:pt x="320" y="-1"/>
                    <a:pt x="324" y="0"/>
                  </a:cubicBezTo>
                  <a:cubicBezTo>
                    <a:pt x="12253" y="0"/>
                    <a:pt x="21924" y="9670"/>
                    <a:pt x="21924" y="21600"/>
                  </a:cubicBezTo>
                  <a:cubicBezTo>
                    <a:pt x="21924" y="33529"/>
                    <a:pt x="12253" y="43200"/>
                    <a:pt x="324" y="43200"/>
                  </a:cubicBezTo>
                  <a:cubicBezTo>
                    <a:pt x="215" y="43200"/>
                    <a:pt x="107" y="43199"/>
                    <a:pt x="0" y="43197"/>
                  </a:cubicBezTo>
                  <a:lnTo>
                    <a:pt x="324" y="21600"/>
                  </a:lnTo>
                  <a:lnTo>
                    <a:pt x="31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8944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Arc 4"/>
            <p:cNvSpPr>
              <a:spLocks/>
            </p:cNvSpPr>
            <p:nvPr/>
          </p:nvSpPr>
          <p:spPr bwMode="invGray">
            <a:xfrm>
              <a:off x="3521" y="1732"/>
              <a:ext cx="1830" cy="522"/>
            </a:xfrm>
            <a:custGeom>
              <a:avLst/>
              <a:gdLst>
                <a:gd name="T0" fmla="*/ 0 w 21925"/>
                <a:gd name="T1" fmla="*/ 0 h 43200"/>
                <a:gd name="T2" fmla="*/ 0 w 21925"/>
                <a:gd name="T3" fmla="*/ 0 h 43200"/>
                <a:gd name="T4" fmla="*/ 0 w 21925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25" h="43200" fill="none" extrusionOk="0">
                  <a:moveTo>
                    <a:pt x="313" y="0"/>
                  </a:moveTo>
                  <a:cubicBezTo>
                    <a:pt x="317" y="0"/>
                    <a:pt x="321" y="-1"/>
                    <a:pt x="325" y="0"/>
                  </a:cubicBezTo>
                  <a:cubicBezTo>
                    <a:pt x="12254" y="0"/>
                    <a:pt x="21925" y="9670"/>
                    <a:pt x="21925" y="21600"/>
                  </a:cubicBezTo>
                  <a:cubicBezTo>
                    <a:pt x="21925" y="33529"/>
                    <a:pt x="12254" y="43200"/>
                    <a:pt x="325" y="43200"/>
                  </a:cubicBezTo>
                  <a:cubicBezTo>
                    <a:pt x="216" y="43200"/>
                    <a:pt x="108" y="43199"/>
                    <a:pt x="0" y="43197"/>
                  </a:cubicBezTo>
                </a:path>
                <a:path w="21925" h="43200" stroke="0" extrusionOk="0">
                  <a:moveTo>
                    <a:pt x="313" y="0"/>
                  </a:moveTo>
                  <a:cubicBezTo>
                    <a:pt x="317" y="0"/>
                    <a:pt x="321" y="-1"/>
                    <a:pt x="325" y="0"/>
                  </a:cubicBezTo>
                  <a:cubicBezTo>
                    <a:pt x="12254" y="0"/>
                    <a:pt x="21925" y="9670"/>
                    <a:pt x="21925" y="21600"/>
                  </a:cubicBezTo>
                  <a:cubicBezTo>
                    <a:pt x="21925" y="33529"/>
                    <a:pt x="12254" y="43200"/>
                    <a:pt x="325" y="43200"/>
                  </a:cubicBezTo>
                  <a:cubicBezTo>
                    <a:pt x="216" y="43200"/>
                    <a:pt x="108" y="43199"/>
                    <a:pt x="0" y="43197"/>
                  </a:cubicBezTo>
                  <a:lnTo>
                    <a:pt x="325" y="21600"/>
                  </a:lnTo>
                  <a:lnTo>
                    <a:pt x="313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B75B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5"/>
            <p:cNvSpPr>
              <a:spLocks noChangeArrowheads="1"/>
            </p:cNvSpPr>
            <p:nvPr/>
          </p:nvSpPr>
          <p:spPr bwMode="invGray">
            <a:xfrm>
              <a:off x="288" y="1940"/>
              <a:ext cx="4988" cy="104"/>
            </a:xfrm>
            <a:prstGeom prst="roundRect">
              <a:avLst>
                <a:gd name="adj" fmla="val 49995"/>
              </a:avLst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solidFill>
                  <a:srgbClr val="FFFFCC"/>
                </a:solidFill>
              </a:endParaRPr>
            </a:p>
          </p:txBody>
        </p:sp>
      </p:grpSp>
      <p:sp>
        <p:nvSpPr>
          <p:cNvPr id="3079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447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9" name="Rectangle 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7E1904C-87D9-4B7D-9E15-BD53B64EFC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844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71EA73A-0C2C-41C3-9BD3-D2300F2609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135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D107BB9-5829-4F9F-AB75-A91810AEEB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759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057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057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68293CE-8777-4C49-BED2-BFB3868842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637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368B422-9DD0-4557-A59F-AF5539DA61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707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A43D7A-7AD2-4969-9105-12CDCDD040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2339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F91396E-6B32-4F83-ABD0-FE28E87F6D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539F121-5B50-4C06-B493-0BB2613741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4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5F9744B-6F83-4DAA-AE01-9787D4EFFE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389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C8EF08F-30DC-46BC-898B-64C71D1E93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5703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4D86239-BBD4-4EC0-92E7-312B7015BB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2760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27026-10EF-4F95-9A95-C06F028B77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5967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/>
          <p:cNvGrpSpPr>
            <a:grpSpLocks/>
          </p:cNvGrpSpPr>
          <p:nvPr/>
        </p:nvGrpSpPr>
        <p:grpSpPr bwMode="auto">
          <a:xfrm>
            <a:off x="457200" y="992188"/>
            <a:ext cx="8153400" cy="1600200"/>
            <a:chOff x="288" y="625"/>
            <a:chExt cx="5136" cy="1008"/>
          </a:xfrm>
        </p:grpSpPr>
        <p:sp>
          <p:nvSpPr>
            <p:cNvPr id="1032" name="Arc 2"/>
            <p:cNvSpPr>
              <a:spLocks/>
            </p:cNvSpPr>
            <p:nvPr/>
          </p:nvSpPr>
          <p:spPr bwMode="invGray">
            <a:xfrm>
              <a:off x="3595" y="625"/>
              <a:ext cx="1829" cy="1008"/>
            </a:xfrm>
            <a:custGeom>
              <a:avLst/>
              <a:gdLst>
                <a:gd name="T0" fmla="*/ 0 w 21912"/>
                <a:gd name="T1" fmla="*/ 0 h 43200"/>
                <a:gd name="T2" fmla="*/ 0 w 21912"/>
                <a:gd name="T3" fmla="*/ 0 h 43200"/>
                <a:gd name="T4" fmla="*/ 0 w 21912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12" h="43200" fill="none" extrusionOk="0">
                  <a:moveTo>
                    <a:pt x="300" y="0"/>
                  </a:moveTo>
                  <a:cubicBezTo>
                    <a:pt x="304" y="0"/>
                    <a:pt x="308" y="-1"/>
                    <a:pt x="312" y="0"/>
                  </a:cubicBezTo>
                  <a:cubicBezTo>
                    <a:pt x="12241" y="0"/>
                    <a:pt x="21912" y="9670"/>
                    <a:pt x="21912" y="21600"/>
                  </a:cubicBezTo>
                  <a:cubicBezTo>
                    <a:pt x="21912" y="33529"/>
                    <a:pt x="12241" y="43200"/>
                    <a:pt x="312" y="43200"/>
                  </a:cubicBezTo>
                  <a:cubicBezTo>
                    <a:pt x="207" y="43200"/>
                    <a:pt x="103" y="43199"/>
                    <a:pt x="0" y="43197"/>
                  </a:cubicBezTo>
                </a:path>
                <a:path w="21912" h="43200" stroke="0" extrusionOk="0">
                  <a:moveTo>
                    <a:pt x="300" y="0"/>
                  </a:moveTo>
                  <a:cubicBezTo>
                    <a:pt x="304" y="0"/>
                    <a:pt x="308" y="-1"/>
                    <a:pt x="312" y="0"/>
                  </a:cubicBezTo>
                  <a:cubicBezTo>
                    <a:pt x="12241" y="0"/>
                    <a:pt x="21912" y="9670"/>
                    <a:pt x="21912" y="21600"/>
                  </a:cubicBezTo>
                  <a:cubicBezTo>
                    <a:pt x="21912" y="33529"/>
                    <a:pt x="12241" y="43200"/>
                    <a:pt x="312" y="43200"/>
                  </a:cubicBezTo>
                  <a:cubicBezTo>
                    <a:pt x="207" y="43200"/>
                    <a:pt x="103" y="43199"/>
                    <a:pt x="0" y="43197"/>
                  </a:cubicBezTo>
                  <a:lnTo>
                    <a:pt x="312" y="21600"/>
                  </a:lnTo>
                  <a:lnTo>
                    <a:pt x="3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6633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" name="Arc 3"/>
            <p:cNvSpPr>
              <a:spLocks/>
            </p:cNvSpPr>
            <p:nvPr/>
          </p:nvSpPr>
          <p:spPr bwMode="invGray">
            <a:xfrm>
              <a:off x="3548" y="729"/>
              <a:ext cx="1831" cy="800"/>
            </a:xfrm>
            <a:custGeom>
              <a:avLst/>
              <a:gdLst>
                <a:gd name="T0" fmla="*/ 0 w 21924"/>
                <a:gd name="T1" fmla="*/ 0 h 43200"/>
                <a:gd name="T2" fmla="*/ 0 w 21924"/>
                <a:gd name="T3" fmla="*/ 0 h 43200"/>
                <a:gd name="T4" fmla="*/ 0 w 21924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24" h="43200" fill="none" extrusionOk="0">
                  <a:moveTo>
                    <a:pt x="312" y="0"/>
                  </a:moveTo>
                  <a:cubicBezTo>
                    <a:pt x="316" y="0"/>
                    <a:pt x="320" y="-1"/>
                    <a:pt x="324" y="0"/>
                  </a:cubicBezTo>
                  <a:cubicBezTo>
                    <a:pt x="12253" y="0"/>
                    <a:pt x="21924" y="9670"/>
                    <a:pt x="21924" y="21600"/>
                  </a:cubicBezTo>
                  <a:cubicBezTo>
                    <a:pt x="21924" y="33529"/>
                    <a:pt x="12253" y="43200"/>
                    <a:pt x="324" y="43200"/>
                  </a:cubicBezTo>
                  <a:cubicBezTo>
                    <a:pt x="215" y="43200"/>
                    <a:pt x="107" y="43199"/>
                    <a:pt x="0" y="43197"/>
                  </a:cubicBezTo>
                </a:path>
                <a:path w="21924" h="43200" stroke="0" extrusionOk="0">
                  <a:moveTo>
                    <a:pt x="312" y="0"/>
                  </a:moveTo>
                  <a:cubicBezTo>
                    <a:pt x="316" y="0"/>
                    <a:pt x="320" y="-1"/>
                    <a:pt x="324" y="0"/>
                  </a:cubicBezTo>
                  <a:cubicBezTo>
                    <a:pt x="12253" y="0"/>
                    <a:pt x="21924" y="9670"/>
                    <a:pt x="21924" y="21600"/>
                  </a:cubicBezTo>
                  <a:cubicBezTo>
                    <a:pt x="21924" y="33529"/>
                    <a:pt x="12253" y="43200"/>
                    <a:pt x="324" y="43200"/>
                  </a:cubicBezTo>
                  <a:cubicBezTo>
                    <a:pt x="215" y="43200"/>
                    <a:pt x="107" y="43199"/>
                    <a:pt x="0" y="43197"/>
                  </a:cubicBezTo>
                  <a:lnTo>
                    <a:pt x="324" y="21600"/>
                  </a:lnTo>
                  <a:lnTo>
                    <a:pt x="31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8944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" name="Arc 4"/>
            <p:cNvSpPr>
              <a:spLocks/>
            </p:cNvSpPr>
            <p:nvPr/>
          </p:nvSpPr>
          <p:spPr bwMode="invGray">
            <a:xfrm>
              <a:off x="3521" y="868"/>
              <a:ext cx="1830" cy="522"/>
            </a:xfrm>
            <a:custGeom>
              <a:avLst/>
              <a:gdLst>
                <a:gd name="T0" fmla="*/ 0 w 21925"/>
                <a:gd name="T1" fmla="*/ 0 h 43200"/>
                <a:gd name="T2" fmla="*/ 0 w 21925"/>
                <a:gd name="T3" fmla="*/ 0 h 43200"/>
                <a:gd name="T4" fmla="*/ 0 w 21925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925" h="43200" fill="none" extrusionOk="0">
                  <a:moveTo>
                    <a:pt x="313" y="0"/>
                  </a:moveTo>
                  <a:cubicBezTo>
                    <a:pt x="317" y="0"/>
                    <a:pt x="321" y="-1"/>
                    <a:pt x="325" y="0"/>
                  </a:cubicBezTo>
                  <a:cubicBezTo>
                    <a:pt x="12254" y="0"/>
                    <a:pt x="21925" y="9670"/>
                    <a:pt x="21925" y="21600"/>
                  </a:cubicBezTo>
                  <a:cubicBezTo>
                    <a:pt x="21925" y="33529"/>
                    <a:pt x="12254" y="43200"/>
                    <a:pt x="325" y="43200"/>
                  </a:cubicBezTo>
                  <a:cubicBezTo>
                    <a:pt x="216" y="43200"/>
                    <a:pt x="108" y="43199"/>
                    <a:pt x="0" y="43197"/>
                  </a:cubicBezTo>
                </a:path>
                <a:path w="21925" h="43200" stroke="0" extrusionOk="0">
                  <a:moveTo>
                    <a:pt x="313" y="0"/>
                  </a:moveTo>
                  <a:cubicBezTo>
                    <a:pt x="317" y="0"/>
                    <a:pt x="321" y="-1"/>
                    <a:pt x="325" y="0"/>
                  </a:cubicBezTo>
                  <a:cubicBezTo>
                    <a:pt x="12254" y="0"/>
                    <a:pt x="21925" y="9670"/>
                    <a:pt x="21925" y="21600"/>
                  </a:cubicBezTo>
                  <a:cubicBezTo>
                    <a:pt x="21925" y="33529"/>
                    <a:pt x="12254" y="43200"/>
                    <a:pt x="325" y="43200"/>
                  </a:cubicBezTo>
                  <a:cubicBezTo>
                    <a:pt x="216" y="43200"/>
                    <a:pt x="108" y="43199"/>
                    <a:pt x="0" y="43197"/>
                  </a:cubicBezTo>
                  <a:lnTo>
                    <a:pt x="325" y="21600"/>
                  </a:lnTo>
                  <a:lnTo>
                    <a:pt x="313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B75B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AutoShape 5"/>
            <p:cNvSpPr>
              <a:spLocks noChangeArrowheads="1"/>
            </p:cNvSpPr>
            <p:nvPr/>
          </p:nvSpPr>
          <p:spPr bwMode="invGray">
            <a:xfrm>
              <a:off x="288" y="1076"/>
              <a:ext cx="4988" cy="104"/>
            </a:xfrm>
            <a:prstGeom prst="roundRect">
              <a:avLst>
                <a:gd name="adj" fmla="val 49995"/>
              </a:avLst>
            </a:prstGeom>
            <a:gradFill rotWithShape="0">
              <a:gsLst>
                <a:gs pos="0">
                  <a:srgbClr val="000000"/>
                </a:gs>
                <a:gs pos="20000">
                  <a:srgbClr val="000040"/>
                </a:gs>
                <a:gs pos="50000">
                  <a:srgbClr val="400040"/>
                </a:gs>
                <a:gs pos="75000">
                  <a:srgbClr val="8F0040"/>
                </a:gs>
                <a:gs pos="89999">
                  <a:srgbClr val="F27300"/>
                </a:gs>
                <a:gs pos="100000">
                  <a:srgbClr val="FFBF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solidFill>
                  <a:srgbClr val="FFFFCC"/>
                </a:solidFill>
              </a:endParaRPr>
            </a:p>
          </p:txBody>
        </p: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0574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FFFFCC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FFFFCC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FFCC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009621A-6D2F-467D-B547-D3FBEA1555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062" r:id="rId1"/>
    <p:sldLayoutId id="2147484063" r:id="rId2"/>
    <p:sldLayoutId id="2147484064" r:id="rId3"/>
    <p:sldLayoutId id="2147484065" r:id="rId4"/>
    <p:sldLayoutId id="2147484066" r:id="rId5"/>
    <p:sldLayoutId id="2147484067" r:id="rId6"/>
    <p:sldLayoutId id="2147484068" r:id="rId7"/>
    <p:sldLayoutId id="2147484069" r:id="rId8"/>
    <p:sldLayoutId id="2147484070" r:id="rId9"/>
    <p:sldLayoutId id="2147484071" r:id="rId10"/>
    <p:sldLayoutId id="2147484072" r:id="rId11"/>
    <p:sldLayoutId id="2147484073" r:id="rId12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jpeg"/><Relationship Id="rId4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pPr algn="ctr" eaLnBrk="1" hangingPunct="1"/>
            <a:r>
              <a:rPr lang="en-US" altLang="en-US" sz="6600" smtClean="0"/>
              <a:t>Compton effect</a:t>
            </a:r>
          </a:p>
        </p:txBody>
      </p:sp>
      <p:sp>
        <p:nvSpPr>
          <p:cNvPr id="15363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685800"/>
          </a:xfrm>
        </p:spPr>
        <p:txBody>
          <a:bodyPr/>
          <a:lstStyle/>
          <a:p>
            <a:pPr algn="ctr" eaLnBrk="1" hangingPunct="1"/>
            <a:r>
              <a:rPr lang="en-US" altLang="en-US" i="0" smtClean="0"/>
              <a:t>Arthur Holly Compton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0" indent="0" eaLnBrk="1" hangingPunct="1"/>
            <a:r>
              <a:rPr lang="en-US" altLang="en-US" smtClean="0"/>
              <a:t>1892 – 1962</a:t>
            </a:r>
          </a:p>
          <a:p>
            <a:pPr marL="0" indent="0" eaLnBrk="1" hangingPunct="1"/>
            <a:r>
              <a:rPr lang="en-US" altLang="en-US" smtClean="0"/>
              <a:t>American physicist</a:t>
            </a:r>
          </a:p>
          <a:p>
            <a:pPr marL="0" indent="0" eaLnBrk="1" hangingPunct="1"/>
            <a:r>
              <a:rPr lang="en-US" altLang="en-US" smtClean="0"/>
              <a:t>Director of the lab at the University of Chicago</a:t>
            </a:r>
          </a:p>
          <a:p>
            <a:pPr marL="0" indent="0" eaLnBrk="1" hangingPunct="1"/>
            <a:r>
              <a:rPr lang="en-US" altLang="en-US" smtClean="0"/>
              <a:t>Discovered the Compton Effect</a:t>
            </a:r>
          </a:p>
          <a:p>
            <a:pPr marL="0" indent="0" eaLnBrk="1" hangingPunct="1"/>
            <a:r>
              <a:rPr lang="en-US" altLang="en-US" smtClean="0"/>
              <a:t>Shared the Nobel Prize in 1927</a:t>
            </a:r>
          </a:p>
        </p:txBody>
      </p:sp>
      <p:pic>
        <p:nvPicPr>
          <p:cNvPr id="16388" name="Picture 6" descr="40p1198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94275" y="1219200"/>
            <a:ext cx="3689350" cy="48958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-76200"/>
            <a:ext cx="8077200" cy="762000"/>
          </a:xfrm>
        </p:spPr>
        <p:txBody>
          <a:bodyPr/>
          <a:lstStyle/>
          <a:p>
            <a:pPr algn="ctr" eaLnBrk="1" hangingPunct="1"/>
            <a:r>
              <a:rPr lang="en-US" altLang="en-US" i="0" smtClean="0"/>
              <a:t>The Compton Effect, Introduction</a:t>
            </a:r>
          </a:p>
        </p:txBody>
      </p:sp>
      <p:sp>
        <p:nvSpPr>
          <p:cNvPr id="17411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914400"/>
            <a:ext cx="8382000" cy="4191000"/>
          </a:xfrm>
        </p:spPr>
        <p:txBody>
          <a:bodyPr/>
          <a:lstStyle/>
          <a:p>
            <a:pPr marL="0" indent="0" eaLnBrk="1" hangingPunct="1"/>
            <a:r>
              <a:rPr lang="en-US" altLang="en-US" smtClean="0"/>
              <a:t>Compton and Debye extended Einstein’s idea of photon momentum.</a:t>
            </a:r>
          </a:p>
          <a:p>
            <a:pPr marL="0" indent="0" eaLnBrk="1" hangingPunct="1"/>
            <a:endParaRPr lang="en-US" altLang="en-US" smtClean="0"/>
          </a:p>
          <a:p>
            <a:pPr marL="0" indent="0" eaLnBrk="1" hangingPunct="1"/>
            <a:r>
              <a:rPr lang="en-US" altLang="en-US" smtClean="0"/>
              <a:t>The two groups of experimenters accumulated evidence of the inadequacy of the classical wave theory.</a:t>
            </a:r>
          </a:p>
          <a:p>
            <a:pPr marL="0" indent="0" eaLnBrk="1" hangingPunct="1"/>
            <a:endParaRPr lang="en-US" altLang="en-US" smtClean="0"/>
          </a:p>
          <a:p>
            <a:pPr marL="0" indent="0" eaLnBrk="1" hangingPunct="1"/>
            <a:r>
              <a:rPr lang="en-US" altLang="en-US" smtClean="0"/>
              <a:t>The classical wave theory of light failed to explain the scattering of x-rays from electrons.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88" y="0"/>
            <a:ext cx="9144000" cy="762000"/>
          </a:xfrm>
        </p:spPr>
        <p:txBody>
          <a:bodyPr/>
          <a:lstStyle/>
          <a:p>
            <a:pPr algn="ctr" eaLnBrk="1" hangingPunct="1"/>
            <a:r>
              <a:rPr lang="en-US" altLang="en-US" i="0" smtClean="0"/>
              <a:t>Compton Effect, Classical Predictions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8788" y="1981200"/>
            <a:ext cx="8609012" cy="3886200"/>
          </a:xfrm>
        </p:spPr>
        <p:txBody>
          <a:bodyPr/>
          <a:lstStyle/>
          <a:p>
            <a:pPr marL="0" indent="0" eaLnBrk="1" hangingPunct="1"/>
            <a:r>
              <a:rPr lang="en-US" altLang="en-US" sz="3600" smtClean="0"/>
              <a:t>According to the classical theory, em waves incident on electrons should:</a:t>
            </a:r>
          </a:p>
          <a:p>
            <a:pPr lvl="1" eaLnBrk="1" hangingPunct="1"/>
            <a:r>
              <a:rPr lang="en-US" altLang="en-US" sz="3200" smtClean="0"/>
              <a:t>Have radiation pressure that should cause the electrons to accelerate</a:t>
            </a:r>
          </a:p>
          <a:p>
            <a:pPr lvl="1" eaLnBrk="1" hangingPunct="1"/>
            <a:r>
              <a:rPr lang="en-US" altLang="en-US" sz="3200" smtClean="0"/>
              <a:t>Set the electrons oscillating</a:t>
            </a:r>
          </a:p>
          <a:p>
            <a:pPr lvl="2" eaLnBrk="1" hangingPunct="1"/>
            <a:r>
              <a:rPr lang="en-US" altLang="en-US" sz="2800" smtClean="0"/>
              <a:t>There should be a range of frequencies for the scattered electrons.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570913" cy="655638"/>
          </a:xfrm>
        </p:spPr>
        <p:txBody>
          <a:bodyPr/>
          <a:lstStyle/>
          <a:p>
            <a:pPr algn="ctr" eaLnBrk="1" hangingPunct="1"/>
            <a:r>
              <a:rPr lang="en-US" altLang="en-US" i="0" smtClean="0"/>
              <a:t>Compton Effect, Observations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447800"/>
            <a:ext cx="4343400" cy="4683125"/>
          </a:xfrm>
        </p:spPr>
        <p:txBody>
          <a:bodyPr/>
          <a:lstStyle/>
          <a:p>
            <a:pPr marL="0" indent="0" eaLnBrk="1" hangingPunct="1"/>
            <a:r>
              <a:rPr lang="en-US" altLang="en-US" smtClean="0"/>
              <a:t>Compton’s experiments showed that, at any given angle, only </a:t>
            </a:r>
            <a:r>
              <a:rPr lang="en-US" altLang="en-US" i="1" smtClean="0"/>
              <a:t>one</a:t>
            </a:r>
            <a:r>
              <a:rPr lang="en-US" altLang="en-US" smtClean="0"/>
              <a:t> frequency of radiation is observed.</a:t>
            </a:r>
          </a:p>
          <a:p>
            <a:pPr marL="0" indent="0" eaLnBrk="1" hangingPunct="1"/>
            <a:endParaRPr lang="en-US" altLang="en-US" sz="2600" smtClean="0"/>
          </a:p>
        </p:txBody>
      </p:sp>
      <p:pic>
        <p:nvPicPr>
          <p:cNvPr id="19460" name="Picture 6" descr="4013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95800" y="1062038"/>
            <a:ext cx="4532313" cy="50482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20483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990600"/>
            <a:ext cx="9144000" cy="5867400"/>
          </a:xfr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-76200" y="0"/>
            <a:ext cx="9296400" cy="65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Times New Roman" pitchFamily="18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Times New Roman" pitchFamily="18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Times New Roman" pitchFamily="18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4400" i="1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4000" i="0" dirty="0" smtClean="0"/>
              <a:t>X-ray scattering: The Compton experiment</a:t>
            </a:r>
            <a:endParaRPr lang="en-US" altLang="en-US" sz="4000" i="0" kern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503238"/>
          </a:xfrm>
        </p:spPr>
        <p:txBody>
          <a:bodyPr/>
          <a:lstStyle/>
          <a:p>
            <a:r>
              <a:rPr lang="en-US" altLang="en-US" sz="4000" i="0" smtClean="0"/>
              <a:t>X-ray scattering: The Compton experiment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338" y="1077913"/>
            <a:ext cx="9110662" cy="5094287"/>
          </a:xfrm>
        </p:spPr>
        <p:txBody>
          <a:bodyPr/>
          <a:lstStyle/>
          <a:p>
            <a:pPr lvl="1">
              <a:lnSpc>
                <a:spcPct val="95000"/>
              </a:lnSpc>
              <a:buFontTx/>
              <a:buChar char="•"/>
            </a:pPr>
            <a:r>
              <a:rPr lang="en-US" altLang="en-US" dirty="0" smtClean="0"/>
              <a:t>In the Compton experiment, x rays are scattered from electrons. The scattered x rays have a longer wavelength than the incident x rays, and the scattered wavelength depends on the scattering   angle </a:t>
            </a:r>
            <a:r>
              <a:rPr lang="en-US" altLang="en-US" i="1" dirty="0" smtClean="0">
                <a:sym typeface="Symbol" panose="05050102010706020507" pitchFamily="18" charset="2"/>
              </a:rPr>
              <a:t></a:t>
            </a:r>
            <a:r>
              <a:rPr lang="en-US" altLang="en-US" dirty="0" smtClean="0"/>
              <a:t>.</a:t>
            </a:r>
          </a:p>
          <a:p>
            <a:pPr lvl="1">
              <a:lnSpc>
                <a:spcPct val="95000"/>
              </a:lnSpc>
              <a:buFontTx/>
              <a:buChar char="•"/>
            </a:pPr>
            <a:endParaRPr lang="en-US" altLang="en-US" dirty="0" smtClean="0"/>
          </a:p>
          <a:p>
            <a:pPr lvl="1">
              <a:lnSpc>
                <a:spcPct val="95000"/>
              </a:lnSpc>
              <a:buFontTx/>
              <a:buChar char="•"/>
            </a:pPr>
            <a:r>
              <a:rPr lang="en-US" altLang="en-US" dirty="0" smtClean="0"/>
              <a:t>Explanation: When an incident photon collides with an electron, it transfers some of its energy to the electron. The scattered photon has less energy and a longer wavelength than the incident photon.  These are elastic collisions, so both momentum and energy are conserved.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6200"/>
            <a:ext cx="9144000" cy="685800"/>
          </a:xfrm>
        </p:spPr>
        <p:txBody>
          <a:bodyPr/>
          <a:lstStyle/>
          <a:p>
            <a:r>
              <a:rPr lang="en-US" altLang="en-US" i="0" dirty="0" smtClean="0"/>
              <a:t>Compton Effect, Classical Predictions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609600"/>
                <a:ext cx="8915400" cy="6248400"/>
              </a:xfrm>
            </p:spPr>
            <p:txBody>
              <a:bodyPr/>
              <a:lstStyle/>
              <a:p>
                <a:r>
                  <a:rPr lang="en-US" sz="2400" b="1" dirty="0" smtClean="0"/>
                  <a:t>Before collision</a:t>
                </a:r>
              </a:p>
              <a:p>
                <a:r>
                  <a:rPr lang="en-US" sz="2400" dirty="0" smtClean="0"/>
                  <a:t>Energy of photon		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h𝑓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Momentum of photon p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Energy of electron		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Momentum of </a:t>
                </a:r>
                <a:r>
                  <a:rPr lang="en-US" sz="2400" dirty="0" smtClean="0"/>
                  <a:t>electron  p	= 0</a:t>
                </a:r>
              </a:p>
              <a:p>
                <a:r>
                  <a:rPr lang="en-US" sz="2400" b="1" dirty="0" smtClean="0"/>
                  <a:t>After collision</a:t>
                </a:r>
              </a:p>
              <a:p>
                <a:r>
                  <a:rPr lang="en-US" sz="2400" dirty="0" smtClean="0"/>
                  <a:t>Energy of photon		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Momentum of photon p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Angle of photon		=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Energy of electron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Momentum of electron  p	= </a:t>
                </a:r>
                <a:r>
                  <a:rPr lang="en-US" sz="2400" dirty="0" smtClean="0"/>
                  <a:t>p</a:t>
                </a:r>
              </a:p>
              <a:p>
                <a:r>
                  <a:rPr lang="en-US" sz="2400" dirty="0" smtClean="0"/>
                  <a:t>Angle of electron		=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𝚽</m:t>
                    </m:r>
                  </m:oMath>
                </a14:m>
                <a:endParaRPr lang="en-US" sz="2800" dirty="0" smtClean="0"/>
              </a:p>
              <a:p>
                <a:endParaRPr lang="en-US" sz="2800" dirty="0" smtClean="0"/>
              </a:p>
              <a:p>
                <a:endParaRPr lang="en-US" sz="2800" dirty="0" smtClean="0"/>
              </a:p>
              <a:p>
                <a:endParaRPr lang="en-US" sz="28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609600"/>
                <a:ext cx="8915400" cy="6248400"/>
              </a:xfrm>
              <a:blipFill rotWithShape="0">
                <a:blip r:embed="rId2"/>
                <a:stretch>
                  <a:fillRect l="-958" t="-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7090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9144000" cy="6858000"/>
              </a:xfrm>
            </p:spPr>
            <p:txBody>
              <a:bodyPr/>
              <a:lstStyle/>
              <a:p>
                <a:r>
                  <a:rPr lang="en-US" sz="3000" dirty="0" smtClean="0"/>
                  <a:t>According to law of conservation of energy</a:t>
                </a:r>
              </a:p>
              <a:p>
                <a:r>
                  <a:rPr lang="en-US" sz="3000" b="0" dirty="0" smtClean="0"/>
                  <a:t>           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h𝑓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p>
                      <m:sSup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000" b="0" dirty="0" smtClean="0"/>
              </a:p>
              <a:p>
                <a:r>
                  <a:rPr lang="en-US" sz="3000" dirty="0" smtClean="0"/>
                  <a:t>           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h𝑓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p>
                      <m:sSup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000" dirty="0" smtClean="0"/>
                  <a:t>		1</a:t>
                </a:r>
              </a:p>
              <a:p>
                <a:r>
                  <a:rPr lang="en-US" sz="3000" dirty="0" smtClean="0"/>
                  <a:t>According to law of conservation of momentum</a:t>
                </a:r>
              </a:p>
              <a:p>
                <a:r>
                  <a:rPr lang="en-US" sz="3000" dirty="0" smtClean="0"/>
                  <a:t>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h𝑓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+0=</m:t>
                    </m:r>
                    <m:f>
                      <m:f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h𝑓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𝑝𝑐𝑜𝑠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</m:oMath>
                </a14:m>
                <a:r>
                  <a:rPr lang="en-US" sz="3000" dirty="0" smtClean="0"/>
                  <a:t> 		   2   Horizontal</a:t>
                </a:r>
              </a:p>
              <a:p>
                <a:r>
                  <a:rPr lang="en-US" sz="3000" dirty="0"/>
                  <a:t>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0+0=</m:t>
                    </m:r>
                    <m:f>
                      <m:f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h𝑓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</m:oMath>
                </a14:m>
                <a:r>
                  <a:rPr lang="en-US" sz="3000" dirty="0" smtClean="0"/>
                  <a:t>		             3   Vertical</a:t>
                </a:r>
              </a:p>
              <a:p>
                <a:r>
                  <a:rPr lang="en-US" sz="3000" dirty="0" smtClean="0"/>
                  <a:t>Using equation 1, 2 &amp; 3 we get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 </m:t>
                    </m:r>
                    <m:f>
                      <m:f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sSub>
                          <m:sSubPr>
                            <m:ctrlPr>
                              <a:rPr lang="en-US" sz="3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sSup>
                          <m:sSupPr>
                            <m:ctrlPr>
                              <a:rPr lang="en-US" sz="3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(1−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 smtClean="0"/>
                  <a:t>		            4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sSub>
                          <m:sSubPr>
                            <m:ctrlPr>
                              <a:rPr lang="en-US" sz="3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(1−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 smtClean="0"/>
                  <a:t>		</a:t>
                </a:r>
                <a14:m>
                  <m:oMath xmlns:m="http://schemas.openxmlformats.org/officeDocument/2006/math">
                    <m:r>
                      <a:rPr lang="en-US" sz="3000" i="1" smtClean="0">
                        <a:latin typeface="Cambria Math" panose="02040503050406030204" pitchFamily="18" charset="0"/>
                      </a:rPr>
                      <m:t>⸫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endParaRPr lang="en-US" sz="3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9144000" cy="6858000"/>
              </a:xfrm>
              <a:blipFill rotWithShape="0">
                <a:blip r:embed="rId3"/>
                <a:stretch>
                  <a:fillRect l="-1333" t="-1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 bwMode="auto">
          <a:xfrm>
            <a:off x="5867400" y="1447800"/>
            <a:ext cx="1295400" cy="0"/>
          </a:xfrm>
          <a:prstGeom prst="straightConnector1">
            <a:avLst/>
          </a:prstGeom>
          <a:ln>
            <a:solidFill>
              <a:srgbClr val="00B0F0"/>
            </a:solidFill>
            <a:headEnd type="none" w="sm" len="sm"/>
            <a:tailEnd type="triangle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 bwMode="auto">
          <a:xfrm>
            <a:off x="5372100" y="2667000"/>
            <a:ext cx="1295400" cy="0"/>
          </a:xfrm>
          <a:prstGeom prst="straightConnector1">
            <a:avLst/>
          </a:prstGeom>
          <a:ln>
            <a:solidFill>
              <a:srgbClr val="00B0F0"/>
            </a:solidFill>
            <a:headEnd type="none" w="sm" len="sm"/>
            <a:tailEnd type="triangle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 bwMode="auto">
          <a:xfrm>
            <a:off x="5219700" y="3429000"/>
            <a:ext cx="1295400" cy="0"/>
          </a:xfrm>
          <a:prstGeom prst="straightConnector1">
            <a:avLst/>
          </a:prstGeom>
          <a:ln>
            <a:solidFill>
              <a:srgbClr val="00B0F0"/>
            </a:solidFill>
            <a:headEnd type="none" w="sm" len="sm"/>
            <a:tailEnd type="triangle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 bwMode="auto">
          <a:xfrm>
            <a:off x="4887036" y="4800600"/>
            <a:ext cx="1295400" cy="0"/>
          </a:xfrm>
          <a:prstGeom prst="straightConnector1">
            <a:avLst/>
          </a:prstGeom>
          <a:ln>
            <a:solidFill>
              <a:srgbClr val="00B0F0"/>
            </a:solidFill>
            <a:headEnd type="none" w="sm" len="sm"/>
            <a:tailEnd type="triangle"/>
          </a:ln>
          <a:ex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1031330"/>
              </p:ext>
            </p:extLst>
          </p:nvPr>
        </p:nvGraphicFramePr>
        <p:xfrm>
          <a:off x="1524000" y="6019800"/>
          <a:ext cx="4343400" cy="838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7" name="Equation" r:id="rId4" imgW="1675673" imgH="393529" progId="Equation.3">
                  <p:embed/>
                </p:oleObj>
              </mc:Choice>
              <mc:Fallback>
                <p:oleObj name="Equation" r:id="rId4" imgW="167567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6019800"/>
                        <a:ext cx="4343400" cy="838199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0898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7538" y="14288"/>
            <a:ext cx="7772400" cy="762000"/>
          </a:xfrm>
        </p:spPr>
        <p:txBody>
          <a:bodyPr/>
          <a:lstStyle/>
          <a:p>
            <a:pPr algn="ctr" eaLnBrk="1" hangingPunct="1"/>
            <a:r>
              <a:rPr lang="en-US" altLang="en-US" i="0" smtClean="0"/>
              <a:t>Compton Wavelength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altLang="en-US" dirty="0" smtClean="0"/>
              <a:t>The factor </a:t>
            </a:r>
            <a:r>
              <a:rPr lang="en-US" altLang="en-US" i="1" dirty="0" smtClean="0"/>
              <a:t>h/m</a:t>
            </a:r>
            <a:r>
              <a:rPr lang="en-US" altLang="en-US" i="1" baseline="-25000" dirty="0" smtClean="0"/>
              <a:t>0 </a:t>
            </a:r>
            <a:r>
              <a:rPr lang="en-US" altLang="en-US" i="1" dirty="0" smtClean="0"/>
              <a:t>c</a:t>
            </a:r>
            <a:r>
              <a:rPr lang="en-US" altLang="en-US" dirty="0" smtClean="0"/>
              <a:t> </a:t>
            </a:r>
            <a:r>
              <a:rPr lang="en-US" altLang="en-US" dirty="0" smtClean="0"/>
              <a:t>in the equation is called the </a:t>
            </a:r>
            <a:r>
              <a:rPr lang="en-US" altLang="en-US" b="1" dirty="0" smtClean="0"/>
              <a:t>Compton wavelength</a:t>
            </a:r>
            <a:r>
              <a:rPr lang="en-US" altLang="en-US" dirty="0" smtClean="0"/>
              <a:t> of the electron and is </a:t>
            </a:r>
          </a:p>
          <a:p>
            <a:pPr marL="0" indent="0" eaLnBrk="1" hangingPunct="1"/>
            <a:endParaRPr lang="en-US" altLang="en-US" dirty="0" smtClean="0"/>
          </a:p>
          <a:p>
            <a:pPr marL="0" indent="0" eaLnBrk="1" hangingPunct="1"/>
            <a:endParaRPr lang="en-US" altLang="en-US" dirty="0" smtClean="0"/>
          </a:p>
          <a:p>
            <a:pPr marL="0" indent="0" eaLnBrk="1" hangingPunct="1"/>
            <a:r>
              <a:rPr lang="en-US" altLang="en-US" dirty="0" smtClean="0"/>
              <a:t>The </a:t>
            </a:r>
            <a:r>
              <a:rPr lang="en-US" altLang="en-US" dirty="0" smtClean="0"/>
              <a:t>un shifted </a:t>
            </a:r>
            <a:r>
              <a:rPr lang="en-US" altLang="en-US" dirty="0" smtClean="0"/>
              <a:t>wavelength, </a:t>
            </a:r>
            <a:r>
              <a:rPr lang="en-US" altLang="en-US" i="1" dirty="0" err="1" smtClean="0">
                <a:latin typeface="Lucida Grande"/>
                <a:cs typeface="Arial" panose="020B0604020202020204" pitchFamily="34" charset="0"/>
              </a:rPr>
              <a:t>λ</a:t>
            </a:r>
            <a:r>
              <a:rPr lang="en-US" altLang="en-US" baseline="-25000" dirty="0" err="1" smtClean="0"/>
              <a:t>o</a:t>
            </a:r>
            <a:r>
              <a:rPr lang="en-US" altLang="en-US" dirty="0" smtClean="0"/>
              <a:t>, is caused by x-rays scattered from the electrons that are tightly bound to the target atoms.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7683" y="3276600"/>
            <a:ext cx="2572109" cy="685896"/>
          </a:xfrm>
          <a:prstGeom prst="rect">
            <a:avLst/>
          </a:prstGeom>
          <a:ln>
            <a:solidFill>
              <a:srgbClr val="00B0F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Compton Effect, Explanation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675" name="Rectangle 5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eaLnBrk="1" hangingPunct="1"/>
                <a:r>
                  <a:rPr lang="en-US" altLang="en-US" dirty="0" smtClean="0"/>
                  <a:t>The results could be explained by treating the photons as point-like particles having energy </a:t>
                </a:r>
                <a:r>
                  <a:rPr lang="en-US" altLang="en-US" i="1" dirty="0" err="1" smtClean="0"/>
                  <a:t>hƒ</a:t>
                </a:r>
                <a:r>
                  <a:rPr lang="en-US" altLang="en-US" dirty="0" smtClean="0"/>
                  <a:t> and </a:t>
                </a:r>
                <a:r>
                  <a:rPr lang="en-US" altLang="en-US" dirty="0" smtClean="0"/>
                  <a:t>momentum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endParaRPr lang="en-US" altLang="en-US" i="1" dirty="0" smtClean="0"/>
              </a:p>
              <a:p>
                <a:pPr marL="0" indent="0" eaLnBrk="1" hangingPunct="1"/>
                <a:r>
                  <a:rPr lang="en-US" altLang="en-US" dirty="0" smtClean="0"/>
                  <a:t>Assume the energy and momentum of the isolated system of the colliding photon-electron are conserved.</a:t>
                </a:r>
              </a:p>
              <a:p>
                <a:pPr marL="0" indent="0" eaLnBrk="1" hangingPunct="1"/>
                <a:r>
                  <a:rPr lang="en-US" altLang="en-US" dirty="0" smtClean="0"/>
                  <a:t>This scattering phenomena is known as the </a:t>
                </a:r>
                <a:r>
                  <a:rPr lang="en-US" altLang="en-US" b="1" dirty="0" smtClean="0"/>
                  <a:t>Compton effect.</a:t>
                </a:r>
              </a:p>
            </p:txBody>
          </p:sp>
        </mc:Choice>
        <mc:Fallback>
          <p:sp>
            <p:nvSpPr>
              <p:cNvPr id="28675" name="Rectang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039" t="-2074" r="-2902" b="-1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924800" cy="457200"/>
          </a:xfrm>
        </p:spPr>
        <p:txBody>
          <a:bodyPr/>
          <a:lstStyle/>
          <a:p>
            <a:pPr algn="ctr" eaLnBrk="1" hangingPunct="1"/>
            <a:r>
              <a:rPr lang="en-US" altLang="en-US" i="0" smtClean="0"/>
              <a:t>Compton Shift Equation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143000"/>
            <a:ext cx="4419600" cy="4411663"/>
          </a:xfrm>
        </p:spPr>
        <p:txBody>
          <a:bodyPr/>
          <a:lstStyle/>
          <a:p>
            <a:pPr marL="0" indent="0" eaLnBrk="1" hangingPunct="1"/>
            <a:r>
              <a:rPr lang="en-US" altLang="en-US" smtClean="0"/>
              <a:t>The graphs show the scattered x-rays for various angles.</a:t>
            </a:r>
          </a:p>
          <a:p>
            <a:pPr marL="0" indent="0" eaLnBrk="1" hangingPunct="1"/>
            <a:r>
              <a:rPr lang="en-US" altLang="en-US" smtClean="0"/>
              <a:t>The shifted peak, </a:t>
            </a:r>
            <a:r>
              <a:rPr lang="en-US" altLang="en-US" i="1" smtClean="0">
                <a:latin typeface="Lucida Grande"/>
                <a:cs typeface="Arial" panose="020B0604020202020204" pitchFamily="34" charset="0"/>
              </a:rPr>
              <a:t>λ</a:t>
            </a:r>
            <a:r>
              <a:rPr lang="en-US" altLang="en-US" smtClean="0"/>
              <a:t>’, is caused by the scattering of free electrons.</a:t>
            </a:r>
          </a:p>
          <a:p>
            <a:pPr marL="0" indent="0" eaLnBrk="1" hangingPunct="1"/>
            <a:endParaRPr lang="en-US" altLang="en-US" smtClean="0"/>
          </a:p>
          <a:p>
            <a:pPr lvl="1" eaLnBrk="1" hangingPunct="1"/>
            <a:r>
              <a:rPr lang="en-US" altLang="en-US" smtClean="0"/>
              <a:t>This is called the </a:t>
            </a:r>
            <a:r>
              <a:rPr lang="en-US" altLang="en-US" b="1" smtClean="0"/>
              <a:t>Compton shift equation.</a:t>
            </a:r>
            <a:endParaRPr lang="en-US" altLang="en-US" smtClean="0"/>
          </a:p>
        </p:txBody>
      </p:sp>
      <p:graphicFrame>
        <p:nvGraphicFramePr>
          <p:cNvPr id="29700" name="Object 7"/>
          <p:cNvGraphicFramePr>
            <a:graphicFrameLocks noChangeAspect="1"/>
          </p:cNvGraphicFramePr>
          <p:nvPr/>
        </p:nvGraphicFramePr>
        <p:xfrm>
          <a:off x="762000" y="4191000"/>
          <a:ext cx="228600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3" name="Equation" r:id="rId3" imgW="1511300" imgH="431800" progId="Equation.DSMT4">
                  <p:embed/>
                </p:oleObj>
              </mc:Choice>
              <mc:Fallback>
                <p:oleObj name="Equation" r:id="rId3" imgW="15113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191000"/>
                        <a:ext cx="2286000" cy="654050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1" name="Picture 7" descr="401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838200"/>
            <a:ext cx="4038600" cy="55213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2"/>
          <p:cNvSpPr>
            <a:spLocks noGrp="1"/>
          </p:cNvSpPr>
          <p:nvPr>
            <p:ph idx="1"/>
          </p:nvPr>
        </p:nvSpPr>
        <p:spPr>
          <a:xfrm>
            <a:off x="0" y="-76200"/>
            <a:ext cx="9144000" cy="2971800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en-GB" altLang="en-US" sz="2400" b="1" dirty="0" smtClean="0">
                <a:solidFill>
                  <a:schemeClr val="tx2">
                    <a:lumMod val="75000"/>
                  </a:schemeClr>
                </a:solidFill>
              </a:rPr>
              <a:t>Limitation     </a:t>
            </a:r>
            <a:r>
              <a:rPr lang="en-US" altLang="en-US" sz="2400" dirty="0" smtClean="0">
                <a:solidFill>
                  <a:srgbClr val="FF0000"/>
                </a:solidFill>
              </a:rPr>
              <a:t>Visible  light can not cause Compton Effect.</a:t>
            </a:r>
          </a:p>
          <a:p>
            <a:pPr>
              <a:buFontTx/>
              <a:buNone/>
              <a:defRPr/>
            </a:pPr>
            <a:r>
              <a:rPr lang="en-US" altLang="en-US" sz="2400" dirty="0" smtClean="0"/>
              <a:t>		As the maximum Compton shift is 0.0484  </a:t>
            </a:r>
            <a:r>
              <a:rPr lang="en-US" altLang="en-US" sz="2400" dirty="0" err="1" smtClean="0"/>
              <a:t>A</a:t>
            </a:r>
            <a:r>
              <a:rPr lang="en-US" altLang="en-US" sz="2400" baseline="30000" dirty="0" err="1" smtClean="0"/>
              <a:t>o</a:t>
            </a:r>
            <a:r>
              <a:rPr lang="en-US" altLang="en-US" sz="2400" baseline="30000" dirty="0" smtClean="0"/>
              <a:t>   </a:t>
            </a:r>
            <a:r>
              <a:rPr lang="en-US" altLang="en-US" sz="2400" dirty="0" smtClean="0"/>
              <a:t> Hence  Compton shift is insignificant  for visible radiation. Therefore Compton Effect can be observed only when, the striking photon is highly energetic.</a:t>
            </a:r>
            <a:endParaRPr lang="en-US" altLang="en-US" sz="2400" u="sng" dirty="0" smtClean="0"/>
          </a:p>
          <a:p>
            <a:pPr>
              <a:defRPr/>
            </a:pPr>
            <a:r>
              <a:rPr lang="en-US" altLang="en-US" sz="2400" dirty="0" smtClean="0"/>
              <a:t>     </a:t>
            </a:r>
            <a:r>
              <a:rPr lang="en-US" altLang="en-US" sz="2400" dirty="0" smtClean="0">
                <a:solidFill>
                  <a:srgbClr val="FF0000"/>
                </a:solidFill>
              </a:rPr>
              <a:t>Scattering atom should be of low atomic no</a:t>
            </a:r>
            <a:r>
              <a:rPr lang="en-US" altLang="en-US" sz="2400" dirty="0" smtClean="0"/>
              <a:t>.</a:t>
            </a:r>
          </a:p>
          <a:p>
            <a:pPr algn="just">
              <a:buFontTx/>
              <a:buNone/>
              <a:defRPr/>
            </a:pPr>
            <a:r>
              <a:rPr lang="en-US" altLang="en-US" sz="2400" dirty="0" smtClean="0"/>
              <a:t>		For higher atomic number , the number of loosely bound electrons are less , hence the probability of modified component is less Hence Compton shift is negligible . Therefore  the intensity of unmodified component is large.</a:t>
            </a:r>
          </a:p>
          <a:p>
            <a:pPr>
              <a:buFontTx/>
              <a:buNone/>
              <a:defRPr/>
            </a:pPr>
            <a:endParaRPr lang="en-US" altLang="en-US" sz="2400" dirty="0" smtClean="0">
              <a:latin typeface="Franklin Gothic Book" panose="020B0503020102020204" pitchFamily="34" charset="0"/>
            </a:endParaRPr>
          </a:p>
        </p:txBody>
      </p:sp>
      <p:sp>
        <p:nvSpPr>
          <p:cNvPr id="36867" name="Rectangle 5"/>
          <p:cNvSpPr>
            <a:spLocks noChangeArrowheads="1"/>
          </p:cNvSpPr>
          <p:nvPr/>
        </p:nvSpPr>
        <p:spPr bwMode="auto">
          <a:xfrm>
            <a:off x="0" y="3552825"/>
            <a:ext cx="9144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en-US" sz="2400" b="1" dirty="0" smtClean="0">
                <a:solidFill>
                  <a:schemeClr val="tx2"/>
                </a:solidFill>
                <a:latin typeface="Franklin Gothic Book" panose="020B0503020102020204" pitchFamily="34" charset="0"/>
              </a:rPr>
              <a:t>      </a:t>
            </a:r>
            <a:r>
              <a:rPr lang="en-US" altLang="en-US" sz="2400" b="1" dirty="0" smtClean="0">
                <a:solidFill>
                  <a:schemeClr val="tx2"/>
                </a:solidFill>
                <a:latin typeface="+mn-lt"/>
              </a:rPr>
              <a:t>Explanation on the basis of Quantum theory</a:t>
            </a:r>
          </a:p>
          <a:p>
            <a:pPr eaLnBrk="1" hangingPunct="1">
              <a:spcBef>
                <a:spcPct val="0"/>
              </a:spcBef>
              <a:buClrTx/>
              <a:defRPr/>
            </a:pPr>
            <a:r>
              <a:rPr lang="en-US" altLang="en-US" sz="2000" i="1" u="sng" dirty="0" smtClean="0">
                <a:solidFill>
                  <a:srgbClr val="FF0000"/>
                </a:solidFill>
                <a:latin typeface="+mn-lt"/>
              </a:rPr>
              <a:t>Modified Component</a:t>
            </a:r>
            <a:r>
              <a:rPr lang="en-US" altLang="en-US" sz="2400" dirty="0" smtClean="0">
                <a:latin typeface="+mn-lt"/>
              </a:rPr>
              <a:t> – Elastic Collision of X-ray photon with free or loosely bound  electron.</a:t>
            </a:r>
          </a:p>
          <a:p>
            <a:pPr eaLnBrk="1" hangingPunct="1">
              <a:spcBef>
                <a:spcPct val="0"/>
              </a:spcBef>
              <a:buClrTx/>
              <a:defRPr/>
            </a:pPr>
            <a:r>
              <a:rPr lang="en-US" altLang="en-US" sz="2000" i="1" u="sng" dirty="0" smtClean="0">
                <a:solidFill>
                  <a:srgbClr val="FF0000"/>
                </a:solidFill>
                <a:latin typeface="+mn-lt"/>
              </a:rPr>
              <a:t>Unmodified Component</a:t>
            </a:r>
            <a:r>
              <a:rPr lang="en-US" altLang="en-US" sz="2400" i="1" u="sng" dirty="0" smtClean="0">
                <a:latin typeface="+mn-lt"/>
              </a:rPr>
              <a:t> - </a:t>
            </a:r>
            <a:r>
              <a:rPr lang="en-US" altLang="en-US" sz="2400" dirty="0" smtClean="0">
                <a:latin typeface="+mn-lt"/>
              </a:rPr>
              <a:t>Collision of X-ray photon with tightly bound electron. </a:t>
            </a:r>
          </a:p>
          <a:p>
            <a:pPr eaLnBrk="1" hangingPunct="1">
              <a:spcBef>
                <a:spcPct val="0"/>
              </a:spcBef>
              <a:buClrTx/>
              <a:defRPr/>
            </a:pPr>
            <a:r>
              <a:rPr lang="en-US" altLang="en-US" sz="2400" dirty="0" smtClean="0">
                <a:latin typeface="+mn-lt"/>
              </a:rPr>
              <a:t>In this case  whole atom is involved in the collision and hence m</a:t>
            </a:r>
            <a:r>
              <a:rPr lang="en-US" altLang="en-US" sz="2400" baseline="-25000" dirty="0" smtClean="0">
                <a:latin typeface="+mn-lt"/>
              </a:rPr>
              <a:t>0 </a:t>
            </a:r>
            <a:r>
              <a:rPr lang="en-US" altLang="en-US" sz="2400" dirty="0" smtClean="0">
                <a:latin typeface="+mn-lt"/>
              </a:rPr>
              <a:t>(mass of electron) in the Compton   shift is replaced by M (mass of atom). As M&gt;&gt; m</a:t>
            </a:r>
            <a:r>
              <a:rPr lang="en-US" altLang="en-US" sz="2400" baseline="-25000" dirty="0" smtClean="0">
                <a:latin typeface="+mn-lt"/>
              </a:rPr>
              <a:t>0</a:t>
            </a:r>
            <a:r>
              <a:rPr lang="en-US" altLang="en-US" sz="2400" dirty="0" smtClean="0">
                <a:latin typeface="+mn-lt"/>
              </a:rPr>
              <a:t> Compton shift is negligible. Hence  unmodified </a:t>
            </a:r>
            <a:r>
              <a:rPr lang="en-US" altLang="en-US" sz="2400" dirty="0" smtClean="0">
                <a:latin typeface="Franklin Gothic Book" panose="020B0503020102020204" pitchFamily="34" charset="0"/>
              </a:rPr>
              <a:t>components  exists.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en-US" sz="2400" b="1" dirty="0" smtClean="0">
              <a:solidFill>
                <a:schemeClr val="tx2"/>
              </a:solidFill>
              <a:latin typeface="Franklin Gothic Book" panose="020B05030201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en-US" sz="2400" b="1" dirty="0" smtClean="0">
              <a:solidFill>
                <a:schemeClr val="tx2"/>
              </a:solidFill>
              <a:latin typeface="Franklin Gothic Book" panose="020B05030201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en-US" sz="2400" b="1" dirty="0" smtClean="0">
              <a:solidFill>
                <a:schemeClr val="tx2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609600"/>
          </a:xfrm>
        </p:spPr>
        <p:txBody>
          <a:bodyPr/>
          <a:lstStyle/>
          <a:p>
            <a:pPr algn="ctr" eaLnBrk="1" hangingPunct="1"/>
            <a:r>
              <a:rPr lang="en-US" altLang="en-US" sz="3200" b="1" i="0" smtClean="0"/>
              <a:t>Failure of Classical Theory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381000"/>
            <a:ext cx="8991600" cy="4953000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According to classical wave theory, X-rays are regarded as electromagnetic waves of frequency </a:t>
            </a:r>
          </a:p>
          <a:p>
            <a:pPr eaLnBrk="1" hangingPunct="1"/>
            <a:r>
              <a:rPr lang="en-US" altLang="en-US" sz="2800" smtClean="0"/>
              <a:t>If these X-rays are incident on a material  then it causes electron in the material to oscillate with the same frequency.</a:t>
            </a:r>
          </a:p>
          <a:p>
            <a:pPr eaLnBrk="1" hangingPunct="1"/>
            <a:r>
              <a:rPr lang="en-US" altLang="en-US" sz="2800" smtClean="0"/>
              <a:t>These electron reradiate with same frequency in the form of electromagnetic waves .</a:t>
            </a:r>
          </a:p>
          <a:p>
            <a:pPr eaLnBrk="1" hangingPunct="1"/>
            <a:r>
              <a:rPr lang="en-US" altLang="en-US" sz="2800" smtClean="0"/>
              <a:t>Hence, the scattered wave or radiation should have same wavelength as that of incident radiation.</a:t>
            </a:r>
          </a:p>
          <a:p>
            <a:pPr eaLnBrk="1" hangingPunct="1"/>
            <a:r>
              <a:rPr lang="en-US" altLang="en-US" sz="2800" smtClean="0"/>
              <a:t>Secondly electron radiate uniformly in all directions.</a:t>
            </a:r>
          </a:p>
          <a:p>
            <a:pPr eaLnBrk="1" hangingPunct="1"/>
            <a:r>
              <a:rPr lang="en-US" altLang="en-US" sz="2800" b="1" smtClean="0"/>
              <a:t>Wavelength of scattered radiation should not depend on scattering angle </a:t>
            </a:r>
            <a:r>
              <a:rPr lang="el-GR" altLang="en-US" sz="2800" b="1" smtClean="0"/>
              <a:t>Φ</a:t>
            </a:r>
            <a:r>
              <a:rPr lang="en-US" altLang="en-US" sz="2800" b="1" smtClean="0"/>
              <a:t>.</a:t>
            </a:r>
          </a:p>
          <a:p>
            <a:pPr eaLnBrk="1" hangingPunct="1"/>
            <a:r>
              <a:rPr lang="en-US" altLang="en-US" sz="2800" b="1" smtClean="0"/>
              <a:t> Thus, Classical theory does not give the explanation of modified wavelength</a:t>
            </a:r>
            <a:r>
              <a:rPr lang="en-US" altLang="en-US" sz="2800" smtClean="0"/>
              <a:t>.</a:t>
            </a:r>
            <a:endParaRPr lang="el-GR" altLang="en-US" sz="2800" smtClean="0"/>
          </a:p>
          <a:p>
            <a:pPr eaLnBrk="1" hangingPunct="1"/>
            <a:endParaRPr lang="el-GR" altLang="en-US" sz="2000" smtClean="0">
              <a:latin typeface="Franklin Gothic Book" panose="020B0503020102020204" pitchFamily="34" charset="0"/>
            </a:endParaRPr>
          </a:p>
          <a:p>
            <a:pPr eaLnBrk="1" hangingPunct="1"/>
            <a:endParaRPr lang="en-US" altLang="en-US" sz="2000" smtClean="0">
              <a:latin typeface="Franklin Gothic Book" panose="020B0503020102020204" pitchFamily="34" charset="0"/>
            </a:endParaRPr>
          </a:p>
          <a:p>
            <a:pPr eaLnBrk="1" hangingPunct="1"/>
            <a:endParaRPr lang="en-US" altLang="en-US" sz="2800" smtClean="0"/>
          </a:p>
        </p:txBody>
      </p:sp>
      <p:graphicFrame>
        <p:nvGraphicFramePr>
          <p:cNvPr id="31748" name="Object 5"/>
          <p:cNvGraphicFramePr>
            <a:graphicFrameLocks noChangeAspect="1"/>
          </p:cNvGraphicFramePr>
          <p:nvPr/>
        </p:nvGraphicFramePr>
        <p:xfrm>
          <a:off x="4800600" y="1981200"/>
          <a:ext cx="2778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4" name="Equation" r:id="rId3" imgW="126835" imgH="139518" progId="Equation.3">
                  <p:embed/>
                </p:oleObj>
              </mc:Choice>
              <mc:Fallback>
                <p:oleObj name="Equation" r:id="rId3" imgW="126835" imgH="13951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981200"/>
                        <a:ext cx="2778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9" name="Object 7"/>
          <p:cNvGraphicFramePr>
            <a:graphicFrameLocks noChangeAspect="1"/>
          </p:cNvGraphicFramePr>
          <p:nvPr/>
        </p:nvGraphicFramePr>
        <p:xfrm>
          <a:off x="5791200" y="2667000"/>
          <a:ext cx="277813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5" name="Equation" r:id="rId5" imgW="126835" imgH="139518" progId="Equation.3">
                  <p:embed/>
                </p:oleObj>
              </mc:Choice>
              <mc:Fallback>
                <p:oleObj name="Equation" r:id="rId5" imgW="126835" imgH="13951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2667000"/>
                        <a:ext cx="277813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8"/>
          <p:cNvGraphicFramePr>
            <a:graphicFrameLocks noChangeAspect="1"/>
          </p:cNvGraphicFramePr>
          <p:nvPr/>
        </p:nvGraphicFramePr>
        <p:xfrm>
          <a:off x="6400800" y="3048000"/>
          <a:ext cx="2778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6" name="Equation" r:id="rId6" imgW="126835" imgH="139518" progId="Equation.3">
                  <p:embed/>
                </p:oleObj>
              </mc:Choice>
              <mc:Fallback>
                <p:oleObj name="Equation" r:id="rId6" imgW="126835" imgH="13951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3048000"/>
                        <a:ext cx="2778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ireball">
  <a:themeElements>
    <a:clrScheme name="Fireball 1">
      <a:dk1>
        <a:srgbClr val="5F5F5F"/>
      </a:dk1>
      <a:lt1>
        <a:srgbClr val="FFFFCC"/>
      </a:lt1>
      <a:dk2>
        <a:srgbClr val="000000"/>
      </a:dk2>
      <a:lt2>
        <a:srgbClr val="FFCC66"/>
      </a:lt2>
      <a:accent1>
        <a:srgbClr val="FF9933"/>
      </a:accent1>
      <a:accent2>
        <a:srgbClr val="CC0066"/>
      </a:accent2>
      <a:accent3>
        <a:srgbClr val="AAAAAA"/>
      </a:accent3>
      <a:accent4>
        <a:srgbClr val="DADAAE"/>
      </a:accent4>
      <a:accent5>
        <a:srgbClr val="FFCAAD"/>
      </a:accent5>
      <a:accent6>
        <a:srgbClr val="B9005C"/>
      </a:accent6>
      <a:hlink>
        <a:srgbClr val="CC00CC"/>
      </a:hlink>
      <a:folHlink>
        <a:srgbClr val="990099"/>
      </a:folHlink>
    </a:clrScheme>
    <a:fontScheme name="Fireball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Fireball 1">
        <a:dk1>
          <a:srgbClr val="5F5F5F"/>
        </a:dk1>
        <a:lt1>
          <a:srgbClr val="FFFFCC"/>
        </a:lt1>
        <a:dk2>
          <a:srgbClr val="000000"/>
        </a:dk2>
        <a:lt2>
          <a:srgbClr val="FFCC66"/>
        </a:lt2>
        <a:accent1>
          <a:srgbClr val="FF9933"/>
        </a:accent1>
        <a:accent2>
          <a:srgbClr val="CC0066"/>
        </a:accent2>
        <a:accent3>
          <a:srgbClr val="AAAAAA"/>
        </a:accent3>
        <a:accent4>
          <a:srgbClr val="DADAAE"/>
        </a:accent4>
        <a:accent5>
          <a:srgbClr val="FFCAAD"/>
        </a:accent5>
        <a:accent6>
          <a:srgbClr val="B9005C"/>
        </a:accent6>
        <a:hlink>
          <a:srgbClr val="CC00CC"/>
        </a:hlink>
        <a:folHlink>
          <a:srgbClr val="99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reball 2">
        <a:dk1>
          <a:srgbClr val="000000"/>
        </a:dk1>
        <a:lt1>
          <a:srgbClr val="FFFFFF"/>
        </a:lt1>
        <a:dk2>
          <a:srgbClr val="FF9900"/>
        </a:dk2>
        <a:lt2>
          <a:srgbClr val="5F5F5F"/>
        </a:lt2>
        <a:accent1>
          <a:srgbClr val="FF9933"/>
        </a:accent1>
        <a:accent2>
          <a:srgbClr val="CC0066"/>
        </a:accent2>
        <a:accent3>
          <a:srgbClr val="FFFFFF"/>
        </a:accent3>
        <a:accent4>
          <a:srgbClr val="000000"/>
        </a:accent4>
        <a:accent5>
          <a:srgbClr val="FFCAAD"/>
        </a:accent5>
        <a:accent6>
          <a:srgbClr val="B9005C"/>
        </a:accent6>
        <a:hlink>
          <a:srgbClr val="CC00CC"/>
        </a:hlink>
        <a:folHlink>
          <a:srgbClr val="9900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eball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643</TotalTime>
  <Words>556</Words>
  <Application>Microsoft Office PowerPoint</Application>
  <PresentationFormat>On-screen Show (4:3)</PresentationFormat>
  <Paragraphs>80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Times New Roman</vt:lpstr>
      <vt:lpstr>Arial</vt:lpstr>
      <vt:lpstr>Calibri</vt:lpstr>
      <vt:lpstr>Franklin Gothic Book</vt:lpstr>
      <vt:lpstr>Symbol</vt:lpstr>
      <vt:lpstr>Lucida Grande</vt:lpstr>
      <vt:lpstr>Fireball</vt:lpstr>
      <vt:lpstr>MathType 5.0 Equation</vt:lpstr>
      <vt:lpstr>Microsoft Equation 3.0</vt:lpstr>
      <vt:lpstr>Compton effect</vt:lpstr>
      <vt:lpstr>Arthur Holly Compton</vt:lpstr>
      <vt:lpstr>The Compton Effect, Introduction</vt:lpstr>
      <vt:lpstr>Compton Effect, Classical Predictions</vt:lpstr>
      <vt:lpstr>Compton Effect, Observations</vt:lpstr>
      <vt:lpstr>PowerPoint Presentation</vt:lpstr>
      <vt:lpstr>X-ray scattering: The Compton experiment</vt:lpstr>
      <vt:lpstr>Compton Effect, Classical Predictions</vt:lpstr>
      <vt:lpstr>PowerPoint Presentation</vt:lpstr>
      <vt:lpstr>Compton Wavelength</vt:lpstr>
      <vt:lpstr>Compton Effect, Explanation</vt:lpstr>
      <vt:lpstr>Compton Shift Equation</vt:lpstr>
      <vt:lpstr>PowerPoint Presentation</vt:lpstr>
      <vt:lpstr>Failure of Classical Theory</vt:lpstr>
    </vt:vector>
  </TitlesOfParts>
  <Company>Jefferson County Schools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Notation</dc:title>
  <dc:creator>S11</dc:creator>
  <cp:lastModifiedBy>ilyas</cp:lastModifiedBy>
  <cp:revision>97</cp:revision>
  <dcterms:created xsi:type="dcterms:W3CDTF">2008-10-21T13:17:36Z</dcterms:created>
  <dcterms:modified xsi:type="dcterms:W3CDTF">2023-04-11T06:22:57Z</dcterms:modified>
</cp:coreProperties>
</file>