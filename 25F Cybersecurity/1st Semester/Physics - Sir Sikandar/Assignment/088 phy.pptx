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12/18/2025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12/18/2025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4.jpeg" /><Relationship Id="rId1" Type="http://schemas.openxmlformats.org/officeDocument/2006/relationships/slideLayout" Target="../slideLayouts/slideLayout2.xml" /><Relationship Id="rId5" Type="http://schemas.openxmlformats.org/officeDocument/2006/relationships/image" Target="../media/image7.jpeg" /><Relationship Id="rId4" Type="http://schemas.openxmlformats.org/officeDocument/2006/relationships/image" Target="../media/image6.jpeg" /></Relationships>
</file>

<file path=ppt/slides/_rels/slide4.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D6290-7DEB-9497-450E-39F870F236B8}"/>
              </a:ext>
            </a:extLst>
          </p:cNvPr>
          <p:cNvSpPr>
            <a:spLocks noGrp="1"/>
          </p:cNvSpPr>
          <p:nvPr>
            <p:ph type="ctrTitle"/>
          </p:nvPr>
        </p:nvSpPr>
        <p:spPr/>
        <p:txBody>
          <a:bodyPr>
            <a:normAutofit/>
          </a:bodyPr>
          <a:lstStyle/>
          <a:p>
            <a:r>
              <a:rPr lang="en-US" sz="4000" b="1" u="sng" dirty="0"/>
              <a:t>Basic of atomic Theory </a:t>
            </a:r>
            <a:br>
              <a:rPr lang="en-US" sz="4000" b="1" u="sng" dirty="0"/>
            </a:br>
            <a:r>
              <a:rPr lang="en-US" sz="4000" b="1" u="sng" dirty="0"/>
              <a:t>introduction to particle physics </a:t>
            </a:r>
            <a:br>
              <a:rPr lang="en-US" sz="4000" b="1" u="sng" dirty="0"/>
            </a:br>
            <a:r>
              <a:rPr lang="en-US" sz="4000" b="1" u="sng" dirty="0"/>
              <a:t>standard model</a:t>
            </a:r>
          </a:p>
        </p:txBody>
      </p:sp>
      <p:sp>
        <p:nvSpPr>
          <p:cNvPr id="3" name="Subtitle 2">
            <a:extLst>
              <a:ext uri="{FF2B5EF4-FFF2-40B4-BE49-F238E27FC236}">
                <a16:creationId xmlns:a16="http://schemas.microsoft.com/office/drawing/2014/main" id="{86E19D95-650C-C0B7-50B4-62AFCE7D7F21}"/>
              </a:ext>
            </a:extLst>
          </p:cNvPr>
          <p:cNvSpPr>
            <a:spLocks noGrp="1"/>
          </p:cNvSpPr>
          <p:nvPr>
            <p:ph type="subTitle" idx="1"/>
          </p:nvPr>
        </p:nvSpPr>
        <p:spPr/>
        <p:txBody>
          <a:bodyPr/>
          <a:lstStyle/>
          <a:p>
            <a:r>
              <a:rPr lang="en-US" b="1" u="sng" dirty="0" err="1">
                <a:solidFill>
                  <a:schemeClr val="tx2">
                    <a:lumMod val="75000"/>
                  </a:schemeClr>
                </a:solidFill>
              </a:rPr>
              <a:t>Taha</a:t>
            </a:r>
            <a:r>
              <a:rPr lang="en-US" b="1" u="sng" dirty="0">
                <a:solidFill>
                  <a:schemeClr val="tx2">
                    <a:lumMod val="75000"/>
                  </a:schemeClr>
                </a:solidFill>
              </a:rPr>
              <a:t> Khan </a:t>
            </a:r>
          </a:p>
          <a:p>
            <a:r>
              <a:rPr lang="en-US" b="1" u="sng" dirty="0">
                <a:solidFill>
                  <a:schemeClr val="tx2">
                    <a:lumMod val="75000"/>
                  </a:schemeClr>
                </a:solidFill>
              </a:rPr>
              <a:t>25F-CY-088</a:t>
            </a:r>
          </a:p>
        </p:txBody>
      </p:sp>
    </p:spTree>
    <p:extLst>
      <p:ext uri="{BB962C8B-B14F-4D97-AF65-F5344CB8AC3E}">
        <p14:creationId xmlns:p14="http://schemas.microsoft.com/office/powerpoint/2010/main" val="2244587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42C98-1AC4-7C42-208B-F576441BB3A0}"/>
              </a:ext>
            </a:extLst>
          </p:cNvPr>
          <p:cNvSpPr>
            <a:spLocks noGrp="1"/>
          </p:cNvSpPr>
          <p:nvPr>
            <p:ph type="title"/>
          </p:nvPr>
        </p:nvSpPr>
        <p:spPr/>
        <p:txBody>
          <a:bodyPr/>
          <a:lstStyle/>
          <a:p>
            <a:r>
              <a:rPr lang="en-US" b="1" u="sng" dirty="0"/>
              <a:t>1. Basic of atomic theory </a:t>
            </a:r>
          </a:p>
        </p:txBody>
      </p:sp>
      <p:sp>
        <p:nvSpPr>
          <p:cNvPr id="6" name="Content Placeholder 5">
            <a:extLst>
              <a:ext uri="{FF2B5EF4-FFF2-40B4-BE49-F238E27FC236}">
                <a16:creationId xmlns:a16="http://schemas.microsoft.com/office/drawing/2014/main" id="{0451D4C8-5AC5-D1C7-9DB1-DCAEBF17F1BC}"/>
              </a:ext>
            </a:extLst>
          </p:cNvPr>
          <p:cNvSpPr>
            <a:spLocks noGrp="1"/>
          </p:cNvSpPr>
          <p:nvPr>
            <p:ph sz="quarter" idx="13"/>
          </p:nvPr>
        </p:nvSpPr>
        <p:spPr>
          <a:xfrm>
            <a:off x="382968" y="2214693"/>
            <a:ext cx="10073890" cy="4208047"/>
          </a:xfrm>
        </p:spPr>
        <p:txBody>
          <a:bodyPr>
            <a:normAutofit/>
          </a:bodyPr>
          <a:lstStyle/>
          <a:p>
            <a:r>
              <a:rPr lang="en-US" b="1" dirty="0"/>
              <a:t>① Basic of Atomic Theory</a:t>
            </a:r>
            <a:r>
              <a:rPr lang="en-US" dirty="0"/>
              <a:t>
</a:t>
            </a:r>
            <a:r>
              <a:rPr lang="en-US" b="1" dirty="0"/>
              <a:t>Definition</a:t>
            </a:r>
            <a:r>
              <a:rPr lang="en-US" dirty="0"/>
              <a:t>
Atomic theory explains that all matter is made of small particles called atoms, which consist of electrons, protons, and neutrons.
</a:t>
            </a:r>
            <a:r>
              <a:rPr lang="en-US" b="1" dirty="0"/>
              <a:t>Introduction</a:t>
            </a:r>
            <a:r>
              <a:rPr lang="en-US" dirty="0"/>
              <a:t>
Atoms are the fundamental building blocks of matter. An atom contains a tiny nucleus made of protons and neutrons, surrounded by electrons in different energy levels.</a:t>
            </a:r>
          </a:p>
        </p:txBody>
      </p:sp>
    </p:spTree>
    <p:extLst>
      <p:ext uri="{BB962C8B-B14F-4D97-AF65-F5344CB8AC3E}">
        <p14:creationId xmlns:p14="http://schemas.microsoft.com/office/powerpoint/2010/main" val="3932845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A795F-E850-FA65-3F60-B943697C2D4F}"/>
              </a:ext>
            </a:extLst>
          </p:cNvPr>
          <p:cNvSpPr>
            <a:spLocks noGrp="1"/>
          </p:cNvSpPr>
          <p:nvPr>
            <p:ph type="title"/>
          </p:nvPr>
        </p:nvSpPr>
        <p:spPr/>
        <p:txBody>
          <a:bodyPr/>
          <a:lstStyle/>
          <a:p>
            <a:r>
              <a:rPr lang="en-US" b="1" u="sng" dirty="0"/>
              <a:t>History of atomic theory </a:t>
            </a:r>
          </a:p>
        </p:txBody>
      </p:sp>
      <p:sp>
        <p:nvSpPr>
          <p:cNvPr id="3" name="Content Placeholder 2">
            <a:extLst>
              <a:ext uri="{FF2B5EF4-FFF2-40B4-BE49-F238E27FC236}">
                <a16:creationId xmlns:a16="http://schemas.microsoft.com/office/drawing/2014/main" id="{D739C0DC-C16E-4309-2B96-D7E20C2355A8}"/>
              </a:ext>
            </a:extLst>
          </p:cNvPr>
          <p:cNvSpPr>
            <a:spLocks noGrp="1"/>
          </p:cNvSpPr>
          <p:nvPr>
            <p:ph sz="quarter" idx="13"/>
          </p:nvPr>
        </p:nvSpPr>
        <p:spPr>
          <a:xfrm>
            <a:off x="477724" y="2367092"/>
            <a:ext cx="6865078" cy="4232583"/>
          </a:xfrm>
        </p:spPr>
        <p:txBody>
          <a:bodyPr>
            <a:normAutofit/>
          </a:bodyPr>
          <a:lstStyle/>
          <a:p>
            <a:pPr marL="0" indent="0">
              <a:buNone/>
            </a:pPr>
            <a:r>
              <a:rPr lang="en-US" b="1" u="sng"/>
              <a:t>Democritus (400 BC)</a:t>
            </a:r>
            <a:r>
              <a:rPr lang="en-US"/>
              <a:t>
First concept of indivisible atoms</a:t>
            </a:r>
          </a:p>
          <a:p>
            <a:pPr marL="0" indent="0">
              <a:buNone/>
            </a:pPr>
            <a:r>
              <a:rPr lang="en-US" b="1" u="sng"/>
              <a:t>John Dalton (1803)
</a:t>
            </a:r>
            <a:r>
              <a:rPr lang="en-US"/>
              <a:t> Experimental atomic theory </a:t>
            </a:r>
          </a:p>
          <a:p>
            <a:pPr marL="0" indent="0">
              <a:buNone/>
            </a:pPr>
            <a:r>
              <a:rPr lang="en-US" b="1" u="sng"/>
              <a:t>J.J. Thomson (1897)</a:t>
            </a:r>
            <a:r>
              <a:rPr lang="en-US"/>
              <a:t>
Electron discovery, Plum pudding model</a:t>
            </a:r>
          </a:p>
          <a:p>
            <a:pPr marL="0" indent="0">
              <a:buNone/>
            </a:pPr>
            <a:r>
              <a:rPr lang="en-US" b="1" u="sng"/>
              <a:t>Bohr (1913)</a:t>
            </a:r>
            <a:r>
              <a:rPr lang="en-US"/>
              <a:t>
Electrons in fixed energy levels</a:t>
            </a:r>
            <a:endParaRPr lang="en-US" dirty="0"/>
          </a:p>
        </p:txBody>
      </p:sp>
      <p:pic>
        <p:nvPicPr>
          <p:cNvPr id="5" name="Picture 4">
            <a:extLst>
              <a:ext uri="{FF2B5EF4-FFF2-40B4-BE49-F238E27FC236}">
                <a16:creationId xmlns:a16="http://schemas.microsoft.com/office/drawing/2014/main" id="{A100901E-8F1C-CFA2-DED2-9593CE1A4307}"/>
              </a:ext>
            </a:extLst>
          </p:cNvPr>
          <p:cNvPicPr>
            <a:picLocks noChangeAspect="1"/>
          </p:cNvPicPr>
          <p:nvPr/>
        </p:nvPicPr>
        <p:blipFill>
          <a:blip r:embed="rId2"/>
          <a:stretch>
            <a:fillRect/>
          </a:stretch>
        </p:blipFill>
        <p:spPr>
          <a:xfrm>
            <a:off x="6096000" y="2018184"/>
            <a:ext cx="1579882" cy="1996971"/>
          </a:xfrm>
          <a:prstGeom prst="rect">
            <a:avLst/>
          </a:prstGeom>
        </p:spPr>
      </p:pic>
      <p:pic>
        <p:nvPicPr>
          <p:cNvPr id="6" name="Picture 5">
            <a:extLst>
              <a:ext uri="{FF2B5EF4-FFF2-40B4-BE49-F238E27FC236}">
                <a16:creationId xmlns:a16="http://schemas.microsoft.com/office/drawing/2014/main" id="{34266988-DF33-3152-ABFA-4DBFAF1018C7}"/>
              </a:ext>
            </a:extLst>
          </p:cNvPr>
          <p:cNvPicPr>
            <a:picLocks noChangeAspect="1"/>
          </p:cNvPicPr>
          <p:nvPr/>
        </p:nvPicPr>
        <p:blipFill>
          <a:blip r:embed="rId3"/>
          <a:stretch>
            <a:fillRect/>
          </a:stretch>
        </p:blipFill>
        <p:spPr>
          <a:xfrm>
            <a:off x="6193251" y="4416336"/>
            <a:ext cx="1615673" cy="1996971"/>
          </a:xfrm>
          <a:prstGeom prst="rect">
            <a:avLst/>
          </a:prstGeom>
        </p:spPr>
      </p:pic>
      <p:pic>
        <p:nvPicPr>
          <p:cNvPr id="7" name="Picture 6">
            <a:extLst>
              <a:ext uri="{FF2B5EF4-FFF2-40B4-BE49-F238E27FC236}">
                <a16:creationId xmlns:a16="http://schemas.microsoft.com/office/drawing/2014/main" id="{BCF24AD9-7FFB-E0D6-024A-87498B59D110}"/>
              </a:ext>
            </a:extLst>
          </p:cNvPr>
          <p:cNvPicPr>
            <a:picLocks noChangeAspect="1"/>
          </p:cNvPicPr>
          <p:nvPr/>
        </p:nvPicPr>
        <p:blipFill>
          <a:blip r:embed="rId4"/>
          <a:stretch>
            <a:fillRect/>
          </a:stretch>
        </p:blipFill>
        <p:spPr>
          <a:xfrm>
            <a:off x="8759199" y="2018184"/>
            <a:ext cx="1794456" cy="1768199"/>
          </a:xfrm>
          <a:prstGeom prst="rect">
            <a:avLst/>
          </a:prstGeom>
        </p:spPr>
      </p:pic>
      <p:pic>
        <p:nvPicPr>
          <p:cNvPr id="8" name="Picture 7">
            <a:extLst>
              <a:ext uri="{FF2B5EF4-FFF2-40B4-BE49-F238E27FC236}">
                <a16:creationId xmlns:a16="http://schemas.microsoft.com/office/drawing/2014/main" id="{5136B8B5-2C4C-5DEE-AD3C-1B71B6537ABF}"/>
              </a:ext>
            </a:extLst>
          </p:cNvPr>
          <p:cNvPicPr>
            <a:picLocks noChangeAspect="1"/>
          </p:cNvPicPr>
          <p:nvPr/>
        </p:nvPicPr>
        <p:blipFill>
          <a:blip r:embed="rId5"/>
          <a:stretch>
            <a:fillRect/>
          </a:stretch>
        </p:blipFill>
        <p:spPr>
          <a:xfrm>
            <a:off x="8662998" y="4416336"/>
            <a:ext cx="1890657" cy="1893616"/>
          </a:xfrm>
          <a:prstGeom prst="rect">
            <a:avLst/>
          </a:prstGeom>
        </p:spPr>
      </p:pic>
    </p:spTree>
    <p:extLst>
      <p:ext uri="{BB962C8B-B14F-4D97-AF65-F5344CB8AC3E}">
        <p14:creationId xmlns:p14="http://schemas.microsoft.com/office/powerpoint/2010/main" val="2640271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1D0FF-AC0A-0D22-3A59-07B658EF9DBE}"/>
              </a:ext>
            </a:extLst>
          </p:cNvPr>
          <p:cNvSpPr>
            <a:spLocks noGrp="1"/>
          </p:cNvSpPr>
          <p:nvPr>
            <p:ph type="title"/>
          </p:nvPr>
        </p:nvSpPr>
        <p:spPr/>
        <p:txBody>
          <a:bodyPr>
            <a:normAutofit/>
          </a:bodyPr>
          <a:lstStyle/>
          <a:p>
            <a:r>
              <a:rPr lang="en-US" b="1" u="sng" dirty="0"/>
              <a:t>Mathematical formula and applications </a:t>
            </a:r>
          </a:p>
        </p:txBody>
      </p:sp>
      <p:sp>
        <p:nvSpPr>
          <p:cNvPr id="3" name="Content Placeholder 2">
            <a:extLst>
              <a:ext uri="{FF2B5EF4-FFF2-40B4-BE49-F238E27FC236}">
                <a16:creationId xmlns:a16="http://schemas.microsoft.com/office/drawing/2014/main" id="{8D415B28-18F7-D82D-8DD7-D5EAE15410E6}"/>
              </a:ext>
            </a:extLst>
          </p:cNvPr>
          <p:cNvSpPr>
            <a:spLocks noGrp="1"/>
          </p:cNvSpPr>
          <p:nvPr>
            <p:ph sz="quarter" idx="13"/>
          </p:nvPr>
        </p:nvSpPr>
        <p:spPr>
          <a:xfrm>
            <a:off x="302521" y="1746747"/>
            <a:ext cx="9411210" cy="4852928"/>
          </a:xfrm>
        </p:spPr>
        <p:txBody>
          <a:bodyPr>
            <a:normAutofit/>
          </a:bodyPr>
          <a:lstStyle/>
          <a:p>
            <a:r>
              <a:rPr lang="en-US" b="1" u="sng" dirty="0"/>
              <a:t>Mathematical Formula (Bohr Model)</a:t>
            </a:r>
            <a:r>
              <a:rPr lang="en-US" dirty="0"/>
              <a:t>
Energy of electron in nth orbit:</a:t>
            </a:r>
          </a:p>
          <a:p>
            <a:pPr marL="0" indent="0">
              <a:buNone/>
            </a:pPr>
            <a:r>
              <a:rPr lang="en-US" dirty="0"/>
              <a:t>
</a:t>
            </a:r>
            <a:r>
              <a:rPr lang="en-US" b="1" u="sng" dirty="0"/>
              <a:t>Applications of Atomic Theory</a:t>
            </a:r>
            <a:r>
              <a:rPr lang="en-US" dirty="0"/>
              <a:t>
Explains chemical bonding and reactions
Used in nuclear energy (fission &amp; fusion)
Foundation of periodic table
Used in lasers, semiconductors, and electronics </a:t>
            </a:r>
          </a:p>
        </p:txBody>
      </p:sp>
      <p:pic>
        <p:nvPicPr>
          <p:cNvPr id="4" name="Picture 3">
            <a:extLst>
              <a:ext uri="{FF2B5EF4-FFF2-40B4-BE49-F238E27FC236}">
                <a16:creationId xmlns:a16="http://schemas.microsoft.com/office/drawing/2014/main" id="{822F84BD-A0C5-D60D-D760-4050C99C19A5}"/>
              </a:ext>
            </a:extLst>
          </p:cNvPr>
          <p:cNvPicPr>
            <a:picLocks noChangeAspect="1"/>
          </p:cNvPicPr>
          <p:nvPr/>
        </p:nvPicPr>
        <p:blipFill>
          <a:blip r:embed="rId2"/>
          <a:stretch>
            <a:fillRect/>
          </a:stretch>
        </p:blipFill>
        <p:spPr>
          <a:xfrm>
            <a:off x="4713956" y="2297606"/>
            <a:ext cx="1739725" cy="846517"/>
          </a:xfrm>
          <a:prstGeom prst="rect">
            <a:avLst/>
          </a:prstGeom>
        </p:spPr>
      </p:pic>
    </p:spTree>
    <p:extLst>
      <p:ext uri="{BB962C8B-B14F-4D97-AF65-F5344CB8AC3E}">
        <p14:creationId xmlns:p14="http://schemas.microsoft.com/office/powerpoint/2010/main" val="2061126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8F0BF-8341-0408-7B3B-E017FE8D2E4D}"/>
              </a:ext>
            </a:extLst>
          </p:cNvPr>
          <p:cNvSpPr>
            <a:spLocks noGrp="1"/>
          </p:cNvSpPr>
          <p:nvPr>
            <p:ph type="title"/>
          </p:nvPr>
        </p:nvSpPr>
        <p:spPr/>
        <p:txBody>
          <a:bodyPr/>
          <a:lstStyle/>
          <a:p>
            <a:r>
              <a:rPr lang="en-US" b="1" u="sng" dirty="0"/>
              <a:t>Introduction to particle physics </a:t>
            </a:r>
          </a:p>
        </p:txBody>
      </p:sp>
      <p:sp>
        <p:nvSpPr>
          <p:cNvPr id="3" name="Content Placeholder 2">
            <a:extLst>
              <a:ext uri="{FF2B5EF4-FFF2-40B4-BE49-F238E27FC236}">
                <a16:creationId xmlns:a16="http://schemas.microsoft.com/office/drawing/2014/main" id="{C89C7EA3-4DEE-DB26-7AAD-790CBB39A0B9}"/>
              </a:ext>
            </a:extLst>
          </p:cNvPr>
          <p:cNvSpPr>
            <a:spLocks noGrp="1"/>
          </p:cNvSpPr>
          <p:nvPr>
            <p:ph sz="quarter" idx="13"/>
          </p:nvPr>
        </p:nvSpPr>
        <p:spPr>
          <a:xfrm>
            <a:off x="294502" y="1971513"/>
            <a:ext cx="8262718" cy="4687676"/>
          </a:xfrm>
        </p:spPr>
        <p:txBody>
          <a:bodyPr/>
          <a:lstStyle/>
          <a:p>
            <a:r>
              <a:rPr lang="en-US" b="1" u="sng" dirty="0"/>
              <a:t>Definition</a:t>
            </a:r>
            <a:r>
              <a:rPr lang="en-US" dirty="0"/>
              <a:t>
Particle physics studies the smallest known particles of the universe (quarks, leptons, neutrinos) and the forces acting between them.</a:t>
            </a:r>
          </a:p>
          <a:p>
            <a:pPr marL="0" indent="0">
              <a:buNone/>
            </a:pPr>
            <a:r>
              <a:rPr lang="en-US" dirty="0"/>
              <a:t>
</a:t>
            </a:r>
            <a:r>
              <a:rPr lang="en-US" b="1" u="sng" dirty="0"/>
              <a:t>Introduction</a:t>
            </a:r>
            <a:r>
              <a:rPr lang="en-US" dirty="0"/>
              <a:t>
While atomic theory explains atoms, particle physics goes deeper to explore particles inside protons and neutrons. It studies high-energy interactions using particle accelerators like CERN. It aims to understand how the universe began and what it is made of.</a:t>
            </a:r>
          </a:p>
        </p:txBody>
      </p:sp>
    </p:spTree>
    <p:extLst>
      <p:ext uri="{BB962C8B-B14F-4D97-AF65-F5344CB8AC3E}">
        <p14:creationId xmlns:p14="http://schemas.microsoft.com/office/powerpoint/2010/main" val="1243959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B574B-47E2-2FBD-0E72-15042A376890}"/>
              </a:ext>
            </a:extLst>
          </p:cNvPr>
          <p:cNvSpPr>
            <a:spLocks noGrp="1"/>
          </p:cNvSpPr>
          <p:nvPr>
            <p:ph type="title"/>
          </p:nvPr>
        </p:nvSpPr>
        <p:spPr/>
        <p:txBody>
          <a:bodyPr/>
          <a:lstStyle/>
          <a:p>
            <a:r>
              <a:rPr lang="en-US" b="1" u="sng" dirty="0"/>
              <a:t>History</a:t>
            </a:r>
          </a:p>
        </p:txBody>
      </p:sp>
      <p:sp>
        <p:nvSpPr>
          <p:cNvPr id="3" name="Content Placeholder 2">
            <a:extLst>
              <a:ext uri="{FF2B5EF4-FFF2-40B4-BE49-F238E27FC236}">
                <a16:creationId xmlns:a16="http://schemas.microsoft.com/office/drawing/2014/main" id="{241D33F5-66AD-36E5-5005-87113A466516}"/>
              </a:ext>
            </a:extLst>
          </p:cNvPr>
          <p:cNvSpPr>
            <a:spLocks noGrp="1"/>
          </p:cNvSpPr>
          <p:nvPr>
            <p:ph sz="quarter" idx="13"/>
          </p:nvPr>
        </p:nvSpPr>
        <p:spPr>
          <a:xfrm>
            <a:off x="230016" y="2367092"/>
            <a:ext cx="8422105" cy="4338744"/>
          </a:xfrm>
        </p:spPr>
        <p:txBody>
          <a:bodyPr>
            <a:normAutofit fontScale="85000" lnSpcReduction="20000"/>
          </a:bodyPr>
          <a:lstStyle/>
          <a:p>
            <a:r>
              <a:rPr lang="en-US" b="1" u="sng" dirty="0"/>
              <a:t>1930s</a:t>
            </a:r>
            <a:r>
              <a:rPr lang="en-US" dirty="0"/>
              <a:t>
Discovery of neutron &amp; beginning of nuclear physics</a:t>
            </a:r>
          </a:p>
          <a:p>
            <a:endParaRPr lang="en-US" dirty="0"/>
          </a:p>
          <a:p>
            <a:r>
              <a:rPr lang="en-US" b="1" u="sng" dirty="0"/>
              <a:t>1960s</a:t>
            </a:r>
            <a:r>
              <a:rPr lang="en-US" dirty="0"/>
              <a:t>
Quark model proposed by Gell-Mann &amp; Zweig</a:t>
            </a:r>
          </a:p>
          <a:p>
            <a:endParaRPr lang="en-US" dirty="0"/>
          </a:p>
          <a:p>
            <a:r>
              <a:rPr lang="en-US" b="1" u="sng" dirty="0"/>
              <a:t>1970s–1980s</a:t>
            </a:r>
            <a:r>
              <a:rPr lang="en-US" dirty="0"/>
              <a:t>
Development of Standard Model</a:t>
            </a:r>
          </a:p>
          <a:p>
            <a:endParaRPr lang="en-US" dirty="0"/>
          </a:p>
          <a:p>
            <a:r>
              <a:rPr lang="en-US" b="1" u="sng" dirty="0"/>
              <a:t>2012</a:t>
            </a:r>
            <a:r>
              <a:rPr lang="en-US" dirty="0"/>
              <a:t>
Higgs Boson discovered at CERN</a:t>
            </a:r>
          </a:p>
        </p:txBody>
      </p:sp>
    </p:spTree>
    <p:extLst>
      <p:ext uri="{BB962C8B-B14F-4D97-AF65-F5344CB8AC3E}">
        <p14:creationId xmlns:p14="http://schemas.microsoft.com/office/powerpoint/2010/main" val="1236879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E4896-5E35-9F4D-E629-11FE9A95C0B6}"/>
              </a:ext>
            </a:extLst>
          </p:cNvPr>
          <p:cNvSpPr>
            <a:spLocks noGrp="1"/>
          </p:cNvSpPr>
          <p:nvPr>
            <p:ph type="title"/>
          </p:nvPr>
        </p:nvSpPr>
        <p:spPr/>
        <p:txBody>
          <a:bodyPr/>
          <a:lstStyle/>
          <a:p>
            <a:r>
              <a:rPr lang="en-US" b="1" u="sng" dirty="0"/>
              <a:t>Mathematical formula and applications </a:t>
            </a:r>
          </a:p>
        </p:txBody>
      </p:sp>
      <p:sp>
        <p:nvSpPr>
          <p:cNvPr id="3" name="Content Placeholder 2">
            <a:extLst>
              <a:ext uri="{FF2B5EF4-FFF2-40B4-BE49-F238E27FC236}">
                <a16:creationId xmlns:a16="http://schemas.microsoft.com/office/drawing/2014/main" id="{43454958-8EDA-556D-72B0-45F5B2DFF023}"/>
              </a:ext>
            </a:extLst>
          </p:cNvPr>
          <p:cNvSpPr>
            <a:spLocks noGrp="1"/>
          </p:cNvSpPr>
          <p:nvPr>
            <p:ph sz="quarter" idx="13"/>
          </p:nvPr>
        </p:nvSpPr>
        <p:spPr>
          <a:xfrm>
            <a:off x="0" y="2367092"/>
            <a:ext cx="8457492" cy="4490908"/>
          </a:xfrm>
        </p:spPr>
        <p:txBody>
          <a:bodyPr>
            <a:normAutofit/>
          </a:bodyPr>
          <a:lstStyle/>
          <a:p>
            <a:r>
              <a:rPr lang="en-US" b="1" u="sng" dirty="0"/>
              <a:t>Formula</a:t>
            </a:r>
          </a:p>
          <a:p>
            <a:r>
              <a:rPr lang="en-US" dirty="0">
                <a:latin typeface="+mj-lt"/>
                <a:cs typeface="Aharoni" panose="02010803020104030203" pitchFamily="2" charset="-79"/>
              </a:rPr>
              <a:t>E=mc²</a:t>
            </a:r>
          </a:p>
          <a:p>
            <a:endParaRPr lang="en-US" dirty="0">
              <a:latin typeface="+mj-lt"/>
              <a:cs typeface="Aharoni" panose="02010803020104030203" pitchFamily="2" charset="-79"/>
            </a:endParaRPr>
          </a:p>
          <a:p>
            <a:r>
              <a:rPr lang="en-US" b="1" u="sng" dirty="0">
                <a:latin typeface="+mj-lt"/>
                <a:cs typeface="Aharoni" panose="02010803020104030203" pitchFamily="2" charset="-79"/>
              </a:rPr>
              <a:t>Applications of Particle Physics</a:t>
            </a:r>
            <a:r>
              <a:rPr lang="en-US" dirty="0">
                <a:latin typeface="+mj-lt"/>
                <a:cs typeface="Aharoni" panose="02010803020104030203" pitchFamily="2" charset="-79"/>
              </a:rPr>
              <a:t>
Creation of medical technologies (PET, MRI, radiation therapy)
Development of semiconductors &amp; nanotechnology
Understanding cosmic rays and Big Bang
Nuclear reactors &amp; particle accelerators</a:t>
            </a:r>
          </a:p>
        </p:txBody>
      </p:sp>
    </p:spTree>
    <p:extLst>
      <p:ext uri="{BB962C8B-B14F-4D97-AF65-F5344CB8AC3E}">
        <p14:creationId xmlns:p14="http://schemas.microsoft.com/office/powerpoint/2010/main" val="203483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AD5CB-78EB-A359-3CEA-ADB450CC24D2}"/>
              </a:ext>
            </a:extLst>
          </p:cNvPr>
          <p:cNvSpPr>
            <a:spLocks noGrp="1"/>
          </p:cNvSpPr>
          <p:nvPr>
            <p:ph type="title"/>
          </p:nvPr>
        </p:nvSpPr>
        <p:spPr/>
        <p:txBody>
          <a:bodyPr/>
          <a:lstStyle/>
          <a:p>
            <a:r>
              <a:rPr lang="en-US" b="1" u="sng" dirty="0"/>
              <a:t>Standard model</a:t>
            </a:r>
          </a:p>
        </p:txBody>
      </p:sp>
      <p:sp>
        <p:nvSpPr>
          <p:cNvPr id="3" name="Content Placeholder 2">
            <a:extLst>
              <a:ext uri="{FF2B5EF4-FFF2-40B4-BE49-F238E27FC236}">
                <a16:creationId xmlns:a16="http://schemas.microsoft.com/office/drawing/2014/main" id="{1FE76981-A14C-EC81-F1B6-1B12D083A477}"/>
              </a:ext>
            </a:extLst>
          </p:cNvPr>
          <p:cNvSpPr>
            <a:spLocks noGrp="1"/>
          </p:cNvSpPr>
          <p:nvPr>
            <p:ph sz="quarter" idx="13"/>
          </p:nvPr>
        </p:nvSpPr>
        <p:spPr>
          <a:xfrm>
            <a:off x="230015" y="2367092"/>
            <a:ext cx="9448329" cy="4214889"/>
          </a:xfrm>
        </p:spPr>
        <p:txBody>
          <a:bodyPr/>
          <a:lstStyle/>
          <a:p>
            <a:r>
              <a:rPr lang="en-US" b="1" u="sng" dirty="0"/>
              <a:t>Definition</a:t>
            </a:r>
            <a:r>
              <a:rPr lang="en-US" dirty="0"/>
              <a:t>
The Standard Model is a scientific theory that classifies all fundamental particles and three forces of nature (strong, weak, and electromagnetic, excluding gravity).
</a:t>
            </a:r>
            <a:r>
              <a:rPr lang="en-US" b="1" u="sng" dirty="0"/>
              <a:t>Introduction</a:t>
            </a:r>
            <a:r>
              <a:rPr lang="en-US" dirty="0"/>
              <a:t>
The Standard Model explains how matter is built from quarks and leptons, and how forces act through bosons. It is the most accepted theory in modern physics, successfully predicting the Higgs Boson in 2012.</a:t>
            </a:r>
          </a:p>
        </p:txBody>
      </p:sp>
    </p:spTree>
    <p:extLst>
      <p:ext uri="{BB962C8B-B14F-4D97-AF65-F5344CB8AC3E}">
        <p14:creationId xmlns:p14="http://schemas.microsoft.com/office/powerpoint/2010/main" val="1635452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67260-914F-E2F1-F32C-5CCDDE932311}"/>
              </a:ext>
            </a:extLst>
          </p:cNvPr>
          <p:cNvSpPr>
            <a:spLocks noGrp="1"/>
          </p:cNvSpPr>
          <p:nvPr>
            <p:ph type="title"/>
          </p:nvPr>
        </p:nvSpPr>
        <p:spPr/>
        <p:txBody>
          <a:bodyPr/>
          <a:lstStyle/>
          <a:p>
            <a:r>
              <a:rPr lang="en-US" b="1" u="sng" dirty="0"/>
              <a:t>History </a:t>
            </a:r>
          </a:p>
        </p:txBody>
      </p:sp>
      <p:sp>
        <p:nvSpPr>
          <p:cNvPr id="3" name="Content Placeholder 2">
            <a:extLst>
              <a:ext uri="{FF2B5EF4-FFF2-40B4-BE49-F238E27FC236}">
                <a16:creationId xmlns:a16="http://schemas.microsoft.com/office/drawing/2014/main" id="{7C6945E6-17AA-23BD-A704-98C6C86A0D2C}"/>
              </a:ext>
            </a:extLst>
          </p:cNvPr>
          <p:cNvSpPr>
            <a:spLocks noGrp="1"/>
          </p:cNvSpPr>
          <p:nvPr>
            <p:ph sz="quarter" idx="13"/>
          </p:nvPr>
        </p:nvSpPr>
        <p:spPr>
          <a:xfrm>
            <a:off x="176936" y="2367092"/>
            <a:ext cx="7325108" cy="4126422"/>
          </a:xfrm>
        </p:spPr>
        <p:txBody>
          <a:bodyPr>
            <a:normAutofit/>
          </a:bodyPr>
          <a:lstStyle/>
          <a:p>
            <a:r>
              <a:rPr lang="en-US" b="1" u="sng" dirty="0"/>
              <a:t>1960s</a:t>
            </a:r>
            <a:r>
              <a:rPr lang="en-US" dirty="0"/>
              <a:t>
Unification of weak and electromagnetic force
</a:t>
            </a:r>
            <a:r>
              <a:rPr lang="en-US" b="1" u="sng" dirty="0"/>
              <a:t>1970s</a:t>
            </a:r>
            <a:r>
              <a:rPr lang="en-US" dirty="0"/>
              <a:t>
Quark model + particle classification
</a:t>
            </a:r>
            <a:r>
              <a:rPr lang="en-US" b="1" u="sng" dirty="0"/>
              <a:t>2000s</a:t>
            </a:r>
            <a:r>
              <a:rPr lang="en-US" dirty="0"/>
              <a:t>
Model experimentally verified
</a:t>
            </a:r>
            <a:r>
              <a:rPr lang="en-US" b="1" u="sng" dirty="0"/>
              <a:t>2012</a:t>
            </a:r>
            <a:r>
              <a:rPr lang="en-US" dirty="0"/>
              <a:t>
Higgs Boson discovered (CERN)</a:t>
            </a:r>
          </a:p>
        </p:txBody>
      </p:sp>
    </p:spTree>
    <p:extLst>
      <p:ext uri="{BB962C8B-B14F-4D97-AF65-F5344CB8AC3E}">
        <p14:creationId xmlns:p14="http://schemas.microsoft.com/office/powerpoint/2010/main" val="2978944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93113-4671-D7B9-0696-2F740DB9AA7D}"/>
              </a:ext>
            </a:extLst>
          </p:cNvPr>
          <p:cNvSpPr>
            <a:spLocks noGrp="1"/>
          </p:cNvSpPr>
          <p:nvPr>
            <p:ph type="title"/>
          </p:nvPr>
        </p:nvSpPr>
        <p:spPr/>
        <p:txBody>
          <a:bodyPr/>
          <a:lstStyle/>
          <a:p>
            <a:r>
              <a:rPr lang="en-US" b="1" u="sng" dirty="0"/>
              <a:t>Applications of standard model</a:t>
            </a:r>
          </a:p>
        </p:txBody>
      </p:sp>
      <p:sp>
        <p:nvSpPr>
          <p:cNvPr id="3" name="Content Placeholder 2">
            <a:extLst>
              <a:ext uri="{FF2B5EF4-FFF2-40B4-BE49-F238E27FC236}">
                <a16:creationId xmlns:a16="http://schemas.microsoft.com/office/drawing/2014/main" id="{0B9F96FF-3E12-7BEF-1215-6D68D5BE0AA9}"/>
              </a:ext>
            </a:extLst>
          </p:cNvPr>
          <p:cNvSpPr>
            <a:spLocks noGrp="1"/>
          </p:cNvSpPr>
          <p:nvPr>
            <p:ph sz="quarter" idx="13"/>
          </p:nvPr>
        </p:nvSpPr>
        <p:spPr>
          <a:xfrm>
            <a:off x="141548" y="2367092"/>
            <a:ext cx="8899831" cy="4267970"/>
          </a:xfrm>
        </p:spPr>
        <p:txBody>
          <a:bodyPr/>
          <a:lstStyle/>
          <a:p>
            <a:r>
              <a:rPr lang="en-US" b="1" u="sng" dirty="0"/>
              <a:t>Applications of Standard Model</a:t>
            </a:r>
          </a:p>
          <a:p>
            <a:pPr marL="0" indent="0">
              <a:buNone/>
            </a:pPr>
            <a:r>
              <a:rPr lang="en-US" dirty="0"/>
              <a:t>
Explains formation of matter and energy
Used in cosmology &amp; dark matter study
Development of particle accelerators
Basis for quantum field theory
Used in advanced medical radiation technology</a:t>
            </a:r>
          </a:p>
        </p:txBody>
      </p:sp>
    </p:spTree>
    <p:extLst>
      <p:ext uri="{BB962C8B-B14F-4D97-AF65-F5344CB8AC3E}">
        <p14:creationId xmlns:p14="http://schemas.microsoft.com/office/powerpoint/2010/main" val="3864004018"/>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Droplet</vt:lpstr>
      <vt:lpstr>Basic of atomic Theory  introduction to particle physics  standard model</vt:lpstr>
      <vt:lpstr>1. Basic of atomic theory </vt:lpstr>
      <vt:lpstr>History of atomic theory </vt:lpstr>
      <vt:lpstr>Mathematical formula and applications </vt:lpstr>
      <vt:lpstr>Introduction to particle physics </vt:lpstr>
      <vt:lpstr>History</vt:lpstr>
      <vt:lpstr>Mathematical formula and applications </vt:lpstr>
      <vt:lpstr>Standard model</vt:lpstr>
      <vt:lpstr>History </vt:lpstr>
      <vt:lpstr>Applications of standard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of atomic Theory  introduction to particle physics  standard model</dc:title>
  <dc:creator>Noor Bhatti</dc:creator>
  <cp:lastModifiedBy>Noor Bhatti</cp:lastModifiedBy>
  <cp:revision>1</cp:revision>
  <dcterms:created xsi:type="dcterms:W3CDTF">2025-12-18T07:05:46Z</dcterms:created>
  <dcterms:modified xsi:type="dcterms:W3CDTF">2025-12-18T07:36:47Z</dcterms:modified>
</cp:coreProperties>
</file>