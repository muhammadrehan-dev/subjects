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4291" autoAdjust="0"/>
  </p:normalViewPr>
  <p:slideViewPr>
    <p:cSldViewPr snapToGrid="0">
      <p:cViewPr varScale="1">
        <p:scale>
          <a:sx n="61" d="100"/>
          <a:sy n="61" d="100"/>
        </p:scale>
        <p:origin x="108" y="234"/>
      </p:cViewPr>
      <p:guideLst/>
    </p:cSldViewPr>
  </p:slideViewPr>
  <p:outlineViewPr>
    <p:cViewPr>
      <p:scale>
        <a:sx n="33" d="100"/>
        <a:sy n="33" d="100"/>
      </p:scale>
      <p:origin x="0" y="-84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8019E-3F03-460B-BD98-1E9BDAA82F58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4F5CA-270B-41CF-B3DF-B5B2D6180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0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4F5CA-270B-41CF-B3DF-B5B2D61801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82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4F5CA-270B-41CF-B3DF-B5B2D61801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6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4F5CA-270B-41CF-B3DF-B5B2D61801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2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A4FB-983D-79A7-6EA4-E0AF2C8AF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269C4-838A-3D28-49EE-93F0FCA2F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BB833-AF7B-10FE-17EC-61AA8890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A148-69CE-4948-30D6-F424CD9B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73EB5-793C-591A-4873-9261617F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3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8264-1871-10AE-5FD3-36D0C240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FD13F-026F-D20C-9420-F5A038C1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2CCD-B1B4-C664-7D58-B87C53B4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9F67-70A2-A333-3EEE-4E9C6D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7569A-81CC-C01A-BCDE-0372CDA0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A350-F792-68E7-98B3-B73EE8F6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501E5-40B9-7CDA-C1E8-15E073FAA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2EB6-9EED-18A8-9916-91526ACB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FA904-FA3B-C317-F616-D24914E6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661BD-150C-6989-6A7C-F4F846A7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0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49BB-49DA-C6A9-05F8-181E258B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FF29-1A86-A83E-26E0-7EB410537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59FCB-9DAE-161A-1169-33D1BBC5B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2236E-C45B-0282-3218-E5F31A62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C67D3-A3B1-0663-4B73-363A820B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3E5D7-2AF1-ECA5-1B61-8D084DB6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ED96-8F46-FC63-DFD2-8B9513C9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B9FC5-24CC-6479-7AAF-C2042FCD5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82D72-8D34-EB02-4E4F-324C5D2B5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C1F79-862B-C626-762C-902AAF510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6E058-F43F-622C-2E38-7914AC385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576C9-6FAD-1A2E-9231-A1C61377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74682-9148-224F-0C0B-53446D7A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C0BF7-145C-D2E9-4CEE-EFEDEDC4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1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844C-E58A-7695-258D-CB816982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B5597-9252-F9FE-C1BD-6B442B18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4F87E-01BB-4A6E-D83B-2DA8F5D3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40EE1-60E0-F268-089E-88494047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0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32FFC-0D34-A794-2900-E87C49B0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A6895-14E7-E026-0C55-BEE2C5BA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8D08D-723E-9A42-5A38-E588EA86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1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DEDE-250D-6211-986C-63277A71C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5C85-A784-580D-CCE7-820F77D08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9C009-21E4-5927-FE36-2958FC0DD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54E4E-ECB3-62B2-369C-73A8820F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1E7C3-4593-4189-D768-20CAD5C1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B9B06-2344-C129-2CA6-18339CF2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7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B6E4-10DE-C808-AD5B-41495F0B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57D-1DC4-9B8B-03F8-135D32302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DB8CC-639A-DE7A-5707-D9C9FEE3D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7C5BF-5922-1FF5-C3F1-30F0C4FC1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C0FA7-FBB5-EAA8-ED9B-383FCC18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04E4-8D90-939B-BF68-C0473EF7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5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5DDB-595E-9C01-DFD2-1A6ECFB3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452D9-6496-0B7C-4A9F-5DC3737B7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234C1-E41B-AF64-EC14-789C483D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2EBE1-EB55-4550-EBE0-C964C326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874D9-2B6F-1C1F-866C-C3EE18F3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0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2476F-B107-9536-86BD-43FF09560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D46B1-EAD6-792F-2A8D-F9DC9499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1243-F55F-3BA6-97F3-79B4AA05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D55B1-E680-A3F3-EE2A-B0509650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0CAF-F199-7F53-8600-9321093F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2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3F840-1FA0-0185-E704-46807368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E37AF-0743-3DCC-C299-2F58A18BB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431F4-2DEF-A2B1-CBA0-70C7A74FE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B8066-3AD1-4EC0-9EC0-B6335C10F93B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097AE-0729-509C-E025-23E00943D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66C79-AA63-9FEB-81F2-971DB4BD9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4679A-65A5-4872-AECD-C738051CF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0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1.png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16.png"/><Relationship Id="rId4" Type="http://schemas.microsoft.com/office/2007/relationships/hdphoto" Target="../media/hdphoto12.wdp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7.wdp"/><Relationship Id="rId3" Type="http://schemas.microsoft.com/office/2007/relationships/hdphoto" Target="../media/hdphoto15.wdp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6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microsoft.com/office/2007/relationships/hdphoto" Target="../media/hdphoto22.wdp"/><Relationship Id="rId7" Type="http://schemas.microsoft.com/office/2007/relationships/hdphoto" Target="../media/hdphoto2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23.wdp"/><Relationship Id="rId4" Type="http://schemas.openxmlformats.org/officeDocument/2006/relationships/image" Target="../media/image28.png"/><Relationship Id="rId9" Type="http://schemas.microsoft.com/office/2007/relationships/hdphoto" Target="../media/hdphoto25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1975A-7CF2-3C5D-55CF-5199E4694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Basic of atomic theories, Introduction to particle physics, Standard Model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6F270-B368-9DF1-4CFF-A0E156095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Name: </a:t>
            </a:r>
            <a:r>
              <a:rPr lang="en-US" b="1" i="1" dirty="0">
                <a:solidFill>
                  <a:schemeClr val="bg1"/>
                </a:solidFill>
              </a:rPr>
              <a:t>Asiya Shoaib</a:t>
            </a:r>
          </a:p>
          <a:p>
            <a:r>
              <a:rPr lang="en-US" b="1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Roll No: 072-CY 25-F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94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C3B-4377-33F8-8571-06F0F7C6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Basic Atomic Theory (History):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6234-9163-6C1B-B85E-8E37D9FE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18834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Democritus (400 BC): </a:t>
            </a:r>
            <a:r>
              <a:rPr lang="en-US" dirty="0">
                <a:solidFill>
                  <a:schemeClr val="bg1"/>
                </a:solidFill>
              </a:rPr>
              <a:t>Atoms are indivisible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Dalton (1803): </a:t>
            </a:r>
            <a:r>
              <a:rPr lang="en-US" dirty="0">
                <a:solidFill>
                  <a:schemeClr val="bg1"/>
                </a:solidFill>
              </a:rPr>
              <a:t>Atoms combine in fixed ratios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Thomson (1897): </a:t>
            </a:r>
            <a:r>
              <a:rPr lang="en-US" dirty="0">
                <a:solidFill>
                  <a:schemeClr val="bg1"/>
                </a:solidFill>
              </a:rPr>
              <a:t>Electron discovered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Rutherford (1911):</a:t>
            </a:r>
            <a:r>
              <a:rPr lang="en-US" dirty="0">
                <a:solidFill>
                  <a:schemeClr val="bg1"/>
                </a:solidFill>
              </a:rPr>
              <a:t> discovery of the nucleus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Bohr (1913): </a:t>
            </a:r>
            <a:r>
              <a:rPr lang="en-US" dirty="0">
                <a:solidFill>
                  <a:schemeClr val="bg1"/>
                </a:solidFill>
              </a:rPr>
              <a:t>Electrons move in orbits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Schrödinger &amp; Heisenberg (1926): </a:t>
            </a:r>
            <a:r>
              <a:rPr lang="en-US" dirty="0"/>
              <a:t>Electron cloud, quantum model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1B487-956A-7446-F1A6-88F1C0B03554}"/>
              </a:ext>
            </a:extLst>
          </p:cNvPr>
          <p:cNvSpPr/>
          <p:nvPr/>
        </p:nvSpPr>
        <p:spPr>
          <a:xfrm>
            <a:off x="9317421" y="2427890"/>
            <a:ext cx="1891862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E91450-D6F1-AAEE-2D17-C8F0435A6BF1}"/>
              </a:ext>
            </a:extLst>
          </p:cNvPr>
          <p:cNvSpPr/>
          <p:nvPr/>
        </p:nvSpPr>
        <p:spPr>
          <a:xfrm>
            <a:off x="9585434" y="3200400"/>
            <a:ext cx="2191407" cy="146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0CB249-1D92-D643-F686-31AA7AC89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8958" y="1825625"/>
            <a:ext cx="2824822" cy="332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4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5010-B02D-7ED0-6825-C8101CDB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Basic Atomic Theory (Introduction):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5D179-D948-2213-5BC0-6371C39A9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573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Atomic theory explains structure of matter.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Matter is made of atoms.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Atoms are very small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Atoms form all elements.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E7B03-C76D-C62C-1151-8670D3287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7980" y="2380593"/>
            <a:ext cx="2714625" cy="20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8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8449-EA41-0246-BCA1-529A53E0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Dalton’s Atomic Theory: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CB65-42BC-F725-2259-CCE52571A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Proposed by John Dalton.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Atoms are indivisible.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Atoms of same element are identical.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Chemical reactions rearrange atoms.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B45A2-0EB2-01DE-6EC3-BD862C067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2415" y="2081047"/>
            <a:ext cx="2857500" cy="223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7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20B0-FC26-6D37-D3ED-8652382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Thomson’s Atomic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D68E-B2D5-A319-F260-C4445903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Electron was discovered by J.J. Thomson.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 is positively charged sphere.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Electrons are embedded in it.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Called plum pudding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D7E92-2314-4621-CF78-D452DAC03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654" y="2522485"/>
            <a:ext cx="2857500" cy="18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5D23-CD3A-9E03-D730-62274210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Rutherford’s Atomic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C0EA-0622-4E17-5F4F-61A30496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Gold foil experiment was performed.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 has dense nucleus.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Most of atom is empty space.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Electrons move around nucleus.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E784A-2EFE-3C93-F9D2-ED4FD04C8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2563" y="2286002"/>
            <a:ext cx="2810854" cy="211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3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3299-F864-CC63-9D7B-C1363A95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Bohr’s Atomic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95A2-4E2C-5531-3476-51E6F336D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Electrons move in fixed orbits.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Each orbit has fixed energy.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Energy is absorbed or emitted.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Explains hydrogen spectrum.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E63C3-C707-8FAE-0D54-95294C260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3500" y="1920221"/>
            <a:ext cx="2870299" cy="25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9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3D82B-0128-4F69-038F-0AB0DD52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Atomic Theory (Mathematical Form):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F4AC2-555B-92F5-69F5-39910CDAAD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Electrons have quantized energy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ar-A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ar-AE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ar-AE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ar-AE" b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m:rPr>
                            <m:nor/>
                          </m:rPr>
                          <a:rPr lang="ar-AE" b="1" i="1">
                            <a:solidFill>
                              <a:schemeClr val="bg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1">
                            <a:solidFill>
                              <a:schemeClr val="bg1"/>
                            </a:solidFill>
                          </a:rPr>
                          <m:t>eV</m:t>
                        </m:r>
                      </m:num>
                      <m:den>
                        <m:sSup>
                          <m:sSupPr>
                            <m:ctrlPr>
                              <a:rPr lang="ar-AE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ar-AE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Where:</a:t>
                </a:r>
              </a:p>
              <a:p>
                <a:r>
                  <a:rPr lang="en-US" b="1" dirty="0">
                    <a:solidFill>
                      <a:schemeClr val="bg1"/>
                    </a:solidFill>
                  </a:rPr>
                  <a:t>Eₙ</a:t>
                </a:r>
                <a:r>
                  <a:rPr lang="en-US" dirty="0">
                    <a:solidFill>
                      <a:schemeClr val="bg1"/>
                    </a:solidFill>
                  </a:rPr>
                  <a:t> = Energy of electron at nth orbit</a:t>
                </a:r>
              </a:p>
              <a:p>
                <a:r>
                  <a:rPr lang="en-US" b="1" dirty="0">
                    <a:solidFill>
                      <a:schemeClr val="bg1"/>
                    </a:solidFill>
                  </a:rPr>
                  <a:t>n</a:t>
                </a:r>
                <a:r>
                  <a:rPr lang="en-US" dirty="0">
                    <a:solidFill>
                      <a:schemeClr val="bg1"/>
                    </a:solidFill>
                  </a:rPr>
                  <a:t> = Principal quantum number (1, 2, 3…)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−</a:t>
                </a:r>
                <a:r>
                  <a:rPr lang="en-US" b="1" dirty="0">
                    <a:solidFill>
                      <a:schemeClr val="bg1"/>
                    </a:solidFill>
                  </a:rPr>
                  <a:t>13.6 eV </a:t>
                </a:r>
                <a:r>
                  <a:rPr lang="en-US" dirty="0">
                    <a:solidFill>
                      <a:schemeClr val="bg1"/>
                    </a:solidFill>
                  </a:rPr>
                  <a:t>= Energy of electron in ground state (n = 1)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F4AC2-555B-92F5-69F5-39910CDAA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39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8551-A2F4-52CD-ED8E-6FE3DC82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Applications of Atomic Theories: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5951-59D1-F6AB-A811-D5A180F4C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nuclear energy.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medical X-rays.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Explains chemical bonding.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electronics.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B8CA8-86A1-DAAF-B925-9931672E8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890" y="3058510"/>
            <a:ext cx="1150882" cy="901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64961-4E60-6B7F-BC55-46415BFC5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5890" y="1825624"/>
            <a:ext cx="1150882" cy="933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1CBF33-2A87-1BB9-AFAC-384566210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5890" y="4410567"/>
            <a:ext cx="1150883" cy="131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1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3D9C-411A-225F-B639-0E00ED02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Particle Physics (History):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B4C1-53BC-BB82-2D76-C04C9A642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42283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1897:</a:t>
            </a:r>
            <a:r>
              <a:rPr lang="en-US" dirty="0">
                <a:solidFill>
                  <a:schemeClr val="bg1"/>
                </a:solidFill>
              </a:rPr>
              <a:t> Electron discovered.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1932:</a:t>
            </a:r>
            <a:r>
              <a:rPr lang="en-US" dirty="0">
                <a:solidFill>
                  <a:schemeClr val="bg1"/>
                </a:solidFill>
              </a:rPr>
              <a:t> Neutron discovered.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20th century: </a:t>
            </a:r>
            <a:r>
              <a:rPr lang="en-US" dirty="0">
                <a:solidFill>
                  <a:schemeClr val="bg1"/>
                </a:solidFill>
              </a:rPr>
              <a:t>Many particles identified.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5BD3E-0CC4-0F9D-D4F4-AD871E007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3897" y="1825625"/>
            <a:ext cx="3000695" cy="213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3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4869-6ED3-8864-B7E7-BFF399D8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Particle Physics (Introduction):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87894-056F-B829-DA66-BF286E1E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Particle physics studies smallest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Explains forces of nature.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Uses high energy experiments.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Helps understand universe.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7037C-CAC2-C68E-88F5-5309DFBB22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58786" y="2506721"/>
            <a:ext cx="2619375" cy="190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2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F3CF-DE3A-9856-5F0B-CE81BC4D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Fundamental Particles: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56DE-E80B-9CE3-CCAF-AF4DA96F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Leptons are light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Quarks form protons and neutrons.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Bosons carry forces.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Particles build matter.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544A5-F55B-E047-C3BA-16873A507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92672" y="1888688"/>
            <a:ext cx="3231931" cy="298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6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6D88-F651-E3BC-AD41-90C093DB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Fundamental Forces: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203F-6E76-97EE-29BE-14DAF70FF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Gravitational force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Electromagnetic force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Strong nuclear force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Weak nuclear force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93AF6-C6D2-8189-0228-82927A045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9047" y="1907625"/>
            <a:ext cx="1213946" cy="804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69134-61F1-8392-7D63-39F8C4708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9047" y="2802782"/>
            <a:ext cx="1213946" cy="1094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4F8221-7794-06D8-415F-13E35280E7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9047" y="4130561"/>
            <a:ext cx="1213946" cy="945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EA426-FF20-C1BE-49B0-D1883BE768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9047" y="5246432"/>
            <a:ext cx="1213946" cy="109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8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29CC-69E8-AED3-41D4-63E2963E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Particle Physics (Mathematical Form):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37544-7A81-BD64-26C2-CEF453F3D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Mass and energy are related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                         </a:t>
            </a:r>
            <a:r>
              <a:rPr lang="en-US" b="1" dirty="0">
                <a:solidFill>
                  <a:schemeClr val="bg1"/>
                </a:solidFill>
              </a:rPr>
              <a:t>E = mc²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Where:</a:t>
            </a:r>
          </a:p>
          <a:p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</a:rPr>
              <a:t> = Energy</a:t>
            </a:r>
          </a:p>
          <a:p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= Mass</a:t>
            </a:r>
          </a:p>
          <a:p>
            <a:r>
              <a:rPr lang="en-US" b="1" dirty="0">
                <a:solidFill>
                  <a:schemeClr val="bg1"/>
                </a:solidFill>
              </a:rPr>
              <a:t>c</a:t>
            </a:r>
            <a:r>
              <a:rPr lang="en-US" dirty="0">
                <a:solidFill>
                  <a:schemeClr val="bg1"/>
                </a:solidFill>
              </a:rPr>
              <a:t> = Speed of light in vacuum (</a:t>
            </a:r>
            <a:r>
              <a:rPr lang="en-US" b="1" dirty="0">
                <a:solidFill>
                  <a:schemeClr val="bg1"/>
                </a:solidFill>
              </a:rPr>
              <a:t>c = 3 × 10⁸ m/s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9506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DA88-1E3B-3737-2229-11599AE9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Applications of Particle Physics: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5C63-018D-5896-D31E-AEE709CF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cancer treatment.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nuclear power plants.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space research.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security scanners.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FD7BE-DAA8-9E55-282F-90CEF074A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49406" y="2121114"/>
            <a:ext cx="1576553" cy="921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8141E8-2887-2840-D395-404C13D63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404" y="3114615"/>
            <a:ext cx="1576555" cy="921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4C4260-1224-AA73-2E5A-46AF138E7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49400" y="4115074"/>
            <a:ext cx="1576555" cy="803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E15574-1258-AAD4-851E-B5708C2E63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49400" y="5029202"/>
            <a:ext cx="1576555" cy="10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1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CC57-4E8A-567F-C623-0C60AB28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Standard Model (History):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DCD0-A73F-68E3-EE17-4A5FF136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8747232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Glashow (</a:t>
            </a:r>
            <a:r>
              <a:rPr lang="en-US" b="1" dirty="0">
                <a:solidFill>
                  <a:schemeClr val="bg1"/>
                </a:solidFill>
              </a:rPr>
              <a:t>1960</a:t>
            </a:r>
            <a:r>
              <a:rPr lang="en-US" dirty="0">
                <a:solidFill>
                  <a:schemeClr val="bg1"/>
                </a:solidFill>
              </a:rPr>
              <a:t>): Proposed unification of electromagnetic and weak forces.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Weinberg &amp; Salam (</a:t>
            </a:r>
            <a:r>
              <a:rPr lang="en-US" b="1" dirty="0">
                <a:solidFill>
                  <a:schemeClr val="bg1"/>
                </a:solidFill>
              </a:rPr>
              <a:t>1967</a:t>
            </a:r>
            <a:r>
              <a:rPr lang="en-US" dirty="0">
                <a:solidFill>
                  <a:schemeClr val="bg1"/>
                </a:solidFill>
              </a:rPr>
              <a:t>): Developed electroweak theory.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Quantum Chromodynamics (</a:t>
            </a:r>
            <a:r>
              <a:rPr lang="en-US" b="1" dirty="0">
                <a:solidFill>
                  <a:schemeClr val="bg1"/>
                </a:solidFill>
              </a:rPr>
              <a:t>1970s</a:t>
            </a:r>
            <a:r>
              <a:rPr lang="en-US" dirty="0">
                <a:solidFill>
                  <a:schemeClr val="bg1"/>
                </a:solidFill>
              </a:rPr>
              <a:t>): Formulated strong force theory.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 and Z bosons (</a:t>
            </a:r>
            <a:r>
              <a:rPr lang="en-US" b="1" dirty="0">
                <a:solidFill>
                  <a:schemeClr val="bg1"/>
                </a:solidFill>
              </a:rPr>
              <a:t>1983</a:t>
            </a:r>
            <a:r>
              <a:rPr lang="en-US" dirty="0">
                <a:solidFill>
                  <a:schemeClr val="bg1"/>
                </a:solidFill>
              </a:rPr>
              <a:t>): Discovered, confirming electroweak theory.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Higgs boson (</a:t>
            </a:r>
            <a:r>
              <a:rPr lang="en-US" b="1" dirty="0">
                <a:solidFill>
                  <a:schemeClr val="bg1"/>
                </a:solidFill>
              </a:rPr>
              <a:t>2012</a:t>
            </a:r>
            <a:r>
              <a:rPr lang="en-US" dirty="0">
                <a:solidFill>
                  <a:schemeClr val="bg1"/>
                </a:solidFill>
              </a:rPr>
              <a:t>): Discovered at CERN, confirming Standard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1AAA5-EC8F-B6DB-9301-BD22F627E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38310" y="2333297"/>
            <a:ext cx="2543175" cy="22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09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C570-94C7-539F-CA06-DC2C6598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Standard Model (Introduction):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EB5BA-C7B5-E1F0-E337-FA838E39E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Standard Model explains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Explains three fundamental forces.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Based on quantum theory.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Widely accepted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04A30-65A1-F9F7-BFF0-B19183D6E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6171" y="2286000"/>
            <a:ext cx="2619375" cy="211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74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4081-C1BD-7E4C-1735-C6E44F06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Components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BBB3-B31A-26ED-4C27-1BC5095F4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Quarks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Leptons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Gauge bosons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Higgs boson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E121D-095F-8063-3480-4038417B2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58848" y="2159874"/>
            <a:ext cx="2771607" cy="236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6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CA76-3F11-6FA5-E24E-C9F5C703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Higgs Boson: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989F-5CE6-527B-4630-4E7F992EB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Gives mass to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Predicted by Standard Model.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Discovered in 2012.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Important discovery.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D9435-3FC4-B0CB-0719-12F2B4ECC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9100" y="2285999"/>
            <a:ext cx="2857500" cy="212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07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29C8-6998-C425-D1D8-33DED8CC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Applications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30B1-0800-32B2-E1B5-CC0FB6F62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particle research.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Used in nuclear physics.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Helps understand universe.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Basis of modern physics.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F7E0C-8B15-E1F5-5B1D-C588D4EDB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3379" y="1884078"/>
            <a:ext cx="1560787" cy="827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23375-07E9-7F51-00D8-E6523011A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3379" y="2936433"/>
            <a:ext cx="1560787" cy="827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466375-C23D-3D38-6501-5990E3E634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3379" y="4074724"/>
            <a:ext cx="1560787" cy="827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9697A-A5BD-4C5C-0584-BD1F27B0C4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3378" y="5120121"/>
            <a:ext cx="1560787" cy="82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73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EA6-3AF8-535F-D0EB-77EC418C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Limitations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8D40-9672-EDD5-9C83-6954D73DC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Does not include gravity.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Cannot explain dark matter.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Cannot explain dark energy.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Needs improvement.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4021D-A2C5-7383-2BD4-307E31447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71034" y="4729654"/>
            <a:ext cx="961697" cy="835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7D33A8-8177-8539-C84C-AD144D89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034" y="2932380"/>
            <a:ext cx="961697" cy="835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F34CA2-BD1A-494E-527A-70B50C081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034" y="3894081"/>
            <a:ext cx="961697" cy="693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56ABE-B367-CECA-8296-2B5769E11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034" y="1951312"/>
            <a:ext cx="961697" cy="8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5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AD95-1F33-FF46-D592-678B3E1D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84BAD-5D38-42A3-1270-CBD2A33B8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Atomic theories explain matter.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Particle physics explains particles.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Standard Model unifies forces.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Physics research is ongoing.</a:t>
            </a:r>
          </a:p>
        </p:txBody>
      </p:sp>
    </p:spTree>
    <p:extLst>
      <p:ext uri="{BB962C8B-B14F-4D97-AF65-F5344CB8AC3E}">
        <p14:creationId xmlns:p14="http://schemas.microsoft.com/office/powerpoint/2010/main" val="76299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636</Words>
  <Application>Microsoft Office PowerPoint</Application>
  <PresentationFormat>Widescreen</PresentationFormat>
  <Paragraphs>115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Rounded MT Bold</vt:lpstr>
      <vt:lpstr>Calibri</vt:lpstr>
      <vt:lpstr>Calibri Light</vt:lpstr>
      <vt:lpstr>Cambria Math</vt:lpstr>
      <vt:lpstr>Source Sans 3</vt:lpstr>
      <vt:lpstr>Wingdings</vt:lpstr>
      <vt:lpstr>Office Theme</vt:lpstr>
      <vt:lpstr>Basic of atomic theories, Introduction to particle physics, Standard Model</vt:lpstr>
      <vt:lpstr> Basic Atomic Theory (History): </vt:lpstr>
      <vt:lpstr>Basic Atomic Theory (Introduction):</vt:lpstr>
      <vt:lpstr>Dalton’s Atomic Theory:</vt:lpstr>
      <vt:lpstr>Thomson’s Atomic Model:</vt:lpstr>
      <vt:lpstr>Rutherford’s Atomic Model:</vt:lpstr>
      <vt:lpstr>Bohr’s Atomic Model:</vt:lpstr>
      <vt:lpstr>Atomic Theory (Mathematical Form):</vt:lpstr>
      <vt:lpstr>Applications of Atomic Theories:</vt:lpstr>
      <vt:lpstr>Particle Physics (History):</vt:lpstr>
      <vt:lpstr>Particle Physics (Introduction):</vt:lpstr>
      <vt:lpstr>Fundamental Particles:</vt:lpstr>
      <vt:lpstr>Fundamental Forces:</vt:lpstr>
      <vt:lpstr>Particle Physics (Mathematical Form):</vt:lpstr>
      <vt:lpstr>Applications of Particle Physics:</vt:lpstr>
      <vt:lpstr>Standard Model (History):</vt:lpstr>
      <vt:lpstr>Standard Model (Introduction):</vt:lpstr>
      <vt:lpstr>Components of Standard Model:</vt:lpstr>
      <vt:lpstr>Higgs Boson:</vt:lpstr>
      <vt:lpstr>Applications of Standard Model:</vt:lpstr>
      <vt:lpstr>Limitations of Standard Model: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6</cp:revision>
  <dcterms:created xsi:type="dcterms:W3CDTF">2025-12-17T17:16:49Z</dcterms:created>
  <dcterms:modified xsi:type="dcterms:W3CDTF">2025-12-18T17:18:14Z</dcterms:modified>
</cp:coreProperties>
</file>