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307" r:id="rId18"/>
    <p:sldId id="271" r:id="rId19"/>
    <p:sldId id="273" r:id="rId20"/>
    <p:sldId id="274" r:id="rId21"/>
    <p:sldId id="275" r:id="rId22"/>
    <p:sldId id="276" r:id="rId23"/>
    <p:sldId id="277" r:id="rId24"/>
    <p:sldId id="278" r:id="rId25"/>
    <p:sldId id="286" r:id="rId26"/>
    <p:sldId id="287" r:id="rId27"/>
    <p:sldId id="288" r:id="rId28"/>
    <p:sldId id="295" r:id="rId29"/>
    <p:sldId id="289" r:id="rId30"/>
    <p:sldId id="294" r:id="rId31"/>
    <p:sldId id="290" r:id="rId32"/>
    <p:sldId id="291" r:id="rId33"/>
    <p:sldId id="283" r:id="rId34"/>
    <p:sldId id="284" r:id="rId35"/>
    <p:sldId id="285" r:id="rId36"/>
    <p:sldId id="280" r:id="rId37"/>
    <p:sldId id="281" r:id="rId38"/>
    <p:sldId id="306" r:id="rId39"/>
    <p:sldId id="296" r:id="rId40"/>
    <p:sldId id="304" r:id="rId41"/>
    <p:sldId id="297" r:id="rId42"/>
    <p:sldId id="298" r:id="rId43"/>
    <p:sldId id="299" r:id="rId44"/>
    <p:sldId id="300" r:id="rId45"/>
    <p:sldId id="305" r:id="rId46"/>
    <p:sldId id="301" r:id="rId47"/>
    <p:sldId id="303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2BB21-ABD3-6780-9473-447A0096B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ECB9B2-D54A-D670-588E-36D62B76E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8FA38-B8BF-36B5-45E1-3F16C2B7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15FA-2301-430E-A038-97F9CD0F40F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393E2-7B0D-B1C4-FCCA-89C1DCB80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BF689-1FD7-3C71-6859-AD6DA4BA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29D4-0847-4AFC-A284-22D35515F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1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98A7C-24B2-A518-EC7F-34AC39A4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74D5D-04E0-53BD-E63F-253EF837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EE8F4-D392-5308-0BA8-DB25A3EA7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15FA-2301-430E-A038-97F9CD0F40F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49149-A524-AFB5-D17B-A8F584DFB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BD436-801E-1A91-F2AF-6C975FC6C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29D4-0847-4AFC-A284-22D35515F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7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13CB3-4688-8F49-4AF9-8D7933B5B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D3CE1-A1D9-20B9-B85C-82A7C4E51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EF37E-AE24-BED3-E48E-4141F1493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15FA-2301-430E-A038-97F9CD0F40F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C34A0-121D-A210-939D-18A35BEF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5E5BC-F2BF-A75A-8516-32917A0FF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29D4-0847-4AFC-A284-22D35515F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5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81E57-E7FC-A4BC-BF5A-EA8779D1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2C35-24B5-CA04-344E-930B0B124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88284-C079-69C3-8679-9A439E5F2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4CD25-122A-9B22-9B1D-60DA1B2E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15FA-2301-430E-A038-97F9CD0F40F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1A532-B058-3E13-7E66-3EF425A36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24A31-7BA9-7C0F-A668-3653E7A77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29D4-0847-4AFC-A284-22D35515F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E1DDB-2317-0A72-6F7E-ED073E7D4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B93A3-3776-ABE7-86C6-7BDB1B7D7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783C8-D39D-6C00-4EF8-0D2A4AB40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F1878F-992B-62C1-1EFA-48FF7FCBD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F840F-D495-DD03-18F4-D1F3E07D5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548B1D-A0B6-35A5-3906-A7AFA4833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15FA-2301-430E-A038-97F9CD0F40F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4E6596-EDC5-C574-EBCC-E6D0E4C77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F3CD9E-02A3-0A05-846F-E23EB5FE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29D4-0847-4AFC-A284-22D35515F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06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2953-0DF2-1E8D-716D-C2AA2CF08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78893-53F2-1570-204C-25B0F64D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15FA-2301-430E-A038-97F9CD0F40F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C54597-64EE-6019-EDFD-E8BEF88C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371B8-99CC-C292-2314-CA2DFBD3C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29D4-0847-4AFC-A284-22D35515F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8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F7CA7-4487-F3C0-E5A7-2D6990295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15FA-2301-430E-A038-97F9CD0F40F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A8777F-8402-3E46-DE79-645AB85F0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863B6-7B11-F341-FB33-59B503A7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29D4-0847-4AFC-A284-22D35515F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E340-F570-72AF-4D13-71CED696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61FDD-9876-2139-86BC-0A263A2F8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DF2B4-0CF5-A892-6FAA-2431C7886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4A455-520B-7817-EFB1-F50F2B123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15FA-2301-430E-A038-97F9CD0F40F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BB91-D6EA-C7A7-8409-1BD31E210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68074-CF2A-17AA-06B4-BBCA2CD5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29D4-0847-4AFC-A284-22D35515F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79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A74BE-EED4-BA3F-1421-F520ADC7B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8BEA5-0112-138D-6F07-6971A68F6D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8941C-BC41-BE85-EF0F-255FD2380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D09C9-D456-9952-1351-A5A5EE422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15FA-2301-430E-A038-97F9CD0F40F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3E5D9-F200-F67D-EBBB-0B666D5AB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C03C5-7C08-9000-57DC-6399396E4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29D4-0847-4AFC-A284-22D35515F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406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0FEAE-15A1-1B56-EDDD-C798CB72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4D366-0602-8612-A3A1-4297CC7E8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BB76B-882B-7A4C-F51E-71FEE6F9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15FA-2301-430E-A038-97F9CD0F40F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51DFB-CDD7-A617-C050-30DB24749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A5F75-628B-F65A-B759-1C2F255C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29D4-0847-4AFC-A284-22D35515F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87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82110-8EDA-A61C-FAEC-8D0EAA6E5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D8C59-6EDF-4CEC-A838-2CA604394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9ABDE-8BC9-A199-7A42-3375876C4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15FA-2301-430E-A038-97F9CD0F40F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A0BF6-80FC-7DD8-446A-A4CCF587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794F4-BAC6-7FF7-42F0-0C438145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29D4-0847-4AFC-A284-22D35515F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3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BCA41C-19F7-6038-DC28-0A80BFBC5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B8F04-74A4-09B8-ECE9-815A0AEE4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A424-EFE6-711C-ADA8-FE43C51B9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BF15FA-2301-430E-A038-97F9CD0F40F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9BEB1-7FAA-EC70-F36E-5ED56BE8A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31088-8227-1545-0D5A-ACEF7B872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0B29D4-0847-4AFC-A284-22D35515F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06ADB-548E-D564-9658-23FE57E39C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3046673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0081-77B0-B0C4-B430-2454B96D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366C0-3995-30A8-A380-AF131C5C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Management Systems (DBMS) are often used by many users at the same time. To handle multiple users, different architectures have been developed. </a:t>
            </a:r>
          </a:p>
          <a:p>
            <a:r>
              <a:rPr lang="en-US" dirty="0"/>
              <a:t>Teleprocessing</a:t>
            </a:r>
          </a:p>
          <a:p>
            <a:r>
              <a:rPr lang="en-US" dirty="0"/>
              <a:t>File-server</a:t>
            </a:r>
          </a:p>
          <a:p>
            <a:r>
              <a:rPr lang="en-US" dirty="0"/>
              <a:t>Client-server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847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3A28-395E-A28A-ABBB-9FBA148E2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Teleprocessing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30C1-DDFE-B4D6-4A68-1BB0C3041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earliest approach for multi-user systems.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8A1C1C-4F37-BA95-6673-2506F8DF4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566219"/>
            <a:ext cx="5781367" cy="309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43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58E4-3B67-2F0D-8679-6BCEC507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24051-F75B-D6BA-D448-60D0D6255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central computer with a single CPU.</a:t>
            </a:r>
          </a:p>
          <a:p>
            <a:r>
              <a:rPr lang="en-US" dirty="0"/>
              <a:t>Several user terminals (called “dumb terminals” because they cannot process anything themselves).</a:t>
            </a:r>
          </a:p>
          <a:p>
            <a:r>
              <a:rPr lang="en-US" dirty="0"/>
              <a:t>Terminals are connected (cabled) to the central computer.</a:t>
            </a:r>
          </a:p>
          <a:p>
            <a:r>
              <a:rPr lang="en-US" dirty="0"/>
              <a:t>User requests (input) go to the central computer → application program → DBMS → back to terminal.</a:t>
            </a:r>
          </a:p>
        </p:txBody>
      </p:sp>
    </p:spTree>
    <p:extLst>
      <p:ext uri="{BB962C8B-B14F-4D97-AF65-F5344CB8AC3E}">
        <p14:creationId xmlns:p14="http://schemas.microsoft.com/office/powerpoint/2010/main" val="1998714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ED60-A8CB-BB10-779D-093AFA27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80E6C-437B-1BF4-E657-C399C8FA5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</a:t>
            </a:r>
          </a:p>
          <a:p>
            <a:r>
              <a:rPr lang="en-US" dirty="0"/>
              <a:t>The central computer must handle everything:</a:t>
            </a:r>
          </a:p>
          <a:p>
            <a:r>
              <a:rPr lang="en-US" dirty="0"/>
              <a:t>Running the DBMS</a:t>
            </a:r>
          </a:p>
          <a:p>
            <a:r>
              <a:rPr lang="en-US" dirty="0"/>
              <a:t>Running the application programs</a:t>
            </a:r>
          </a:p>
          <a:p>
            <a:r>
              <a:rPr lang="en-US" dirty="0"/>
              <a:t>Formatting and preparing output for each terminal</a:t>
            </a:r>
          </a:p>
          <a:p>
            <a:r>
              <a:rPr lang="en-US" dirty="0"/>
              <a:t>This creates a heavy load on the central machine and limits performance.</a:t>
            </a:r>
          </a:p>
        </p:txBody>
      </p:sp>
    </p:spTree>
    <p:extLst>
      <p:ext uri="{BB962C8B-B14F-4D97-AF65-F5344CB8AC3E}">
        <p14:creationId xmlns:p14="http://schemas.microsoft.com/office/powerpoint/2010/main" val="682954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FCDC-232D-C9B4-8F03-28FCDEE70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File-Server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C7842-BE79-1C73-9262-2ACF46638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file-server is a computer on a network whose main purpose is to provide shared storage for files (documents, images, databases, etc.)</a:t>
            </a:r>
          </a:p>
          <a:p>
            <a:r>
              <a:rPr lang="en-US" dirty="0"/>
              <a:t>It acts like a shared hard disk for all users on the network.</a:t>
            </a:r>
          </a:p>
        </p:txBody>
      </p:sp>
    </p:spTree>
    <p:extLst>
      <p:ext uri="{BB962C8B-B14F-4D97-AF65-F5344CB8AC3E}">
        <p14:creationId xmlns:p14="http://schemas.microsoft.com/office/powerpoint/2010/main" val="3405765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1938-0D7B-D264-148E-431149864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B779BE-C079-300C-DA0D-09ECFFB9B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9806" y="2138516"/>
            <a:ext cx="8288593" cy="401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7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EF61-6E07-E22E-E602-5CE027308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35BDD-0C14-E71B-F7E1-85260E834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Environment: Usually within a Local Area Network (LAN).</a:t>
            </a:r>
          </a:p>
          <a:p>
            <a:r>
              <a:rPr lang="en-US" dirty="0"/>
              <a:t>The file-server holds the files needed by applications and the DBMS.</a:t>
            </a:r>
          </a:p>
          <a:p>
            <a:r>
              <a:rPr lang="en-US" dirty="0"/>
              <a:t>However:</a:t>
            </a:r>
          </a:p>
          <a:p>
            <a:r>
              <a:rPr lang="en-US" dirty="0"/>
              <a:t>Applications and the DBMS run on each workstation (client PC).</a:t>
            </a:r>
          </a:p>
          <a:p>
            <a:r>
              <a:rPr lang="en-US" dirty="0"/>
              <a:t>When data is needed, the workstation requests the files from the server.</a:t>
            </a:r>
          </a:p>
        </p:txBody>
      </p:sp>
    </p:spTree>
    <p:extLst>
      <p:ext uri="{BB962C8B-B14F-4D97-AF65-F5344CB8AC3E}">
        <p14:creationId xmlns:p14="http://schemas.microsoft.com/office/powerpoint/2010/main" val="1820860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49DDC-4D63-52F4-E8E6-8FCB9984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D8878-CC53-D67A-3DD5-9D35DE1B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r>
              <a:rPr lang="en-US" dirty="0"/>
              <a:t>A user asks for </a:t>
            </a:r>
            <a:r>
              <a:rPr lang="en-US" i="1" dirty="0"/>
              <a:t>names of staff working at branch 163 Main St</a:t>
            </a:r>
          </a:p>
          <a:p>
            <a:r>
              <a:rPr lang="en-US" dirty="0"/>
              <a:t>Problem: The file-server does not understand SQL.</a:t>
            </a:r>
          </a:p>
          <a:p>
            <a:r>
              <a:rPr lang="en-US" dirty="0"/>
              <a:t>So instead of sending only the correct staff names, it sends the entire Branch and Staff files to the workstation.</a:t>
            </a:r>
          </a:p>
          <a:p>
            <a:r>
              <a:rPr lang="en-US" dirty="0"/>
              <a:t>The workstation’s DBMS then filters out the result.</a:t>
            </a:r>
          </a:p>
          <a:p>
            <a:r>
              <a:rPr lang="en-US" dirty="0"/>
              <a:t>This creates huge unnecessary network traffic.</a:t>
            </a:r>
          </a:p>
        </p:txBody>
      </p:sp>
    </p:spTree>
    <p:extLst>
      <p:ext uri="{BB962C8B-B14F-4D97-AF65-F5344CB8AC3E}">
        <p14:creationId xmlns:p14="http://schemas.microsoft.com/office/powerpoint/2010/main" val="1686174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2BD3-83E1-9455-329A-977E459F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6B7B5-7D12-2B2F-4BAE-AD5E8475C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High Network Traffic</a:t>
            </a:r>
          </a:p>
          <a:p>
            <a:r>
              <a:rPr lang="en-US" dirty="0"/>
              <a:t>Because large database files are transferred across the network (instead of just query results).</a:t>
            </a:r>
          </a:p>
          <a:p>
            <a:r>
              <a:rPr lang="en-US" b="1" dirty="0"/>
              <a:t>Full DBMS Required on Each Workstation</a:t>
            </a:r>
          </a:p>
          <a:p>
            <a:r>
              <a:rPr lang="en-US" dirty="0"/>
              <a:t>Every client must install and run its own DBMS software, which increases cost and complexity.</a:t>
            </a:r>
          </a:p>
        </p:txBody>
      </p:sp>
    </p:spTree>
    <p:extLst>
      <p:ext uri="{BB962C8B-B14F-4D97-AF65-F5344CB8AC3E}">
        <p14:creationId xmlns:p14="http://schemas.microsoft.com/office/powerpoint/2010/main" val="1839902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D4DB9-746D-B432-6904-3E0E4AFEA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453E1-7120-B8AE-6511-D5197AC63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Concurrency, Recovery, and Integrity Issues</a:t>
            </a:r>
          </a:p>
          <a:p>
            <a:r>
              <a:rPr lang="en-US" dirty="0"/>
              <a:t>Multiple DBMS instances (one on each workstation) may try to update the same database files at the same time.</a:t>
            </a:r>
          </a:p>
          <a:p>
            <a:endParaRPr lang="en-US" dirty="0"/>
          </a:p>
          <a:p>
            <a:r>
              <a:rPr lang="en-US" dirty="0"/>
              <a:t>This makes synchronization and consistency control difficult</a:t>
            </a:r>
          </a:p>
          <a:p>
            <a:r>
              <a:rPr lang="en-US" dirty="0"/>
              <a:t>Recovery from failures is also more complicated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81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996B4-B896-F053-735F-5DC0D35E2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Client–Server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BAAB9-F853-8F8C-9CCC-FA8BA69B2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it was developed</a:t>
            </a:r>
          </a:p>
          <a:p>
            <a:r>
              <a:rPr lang="en-US" dirty="0"/>
              <a:t>The Teleprocessing and File-server architectures both had serious drawbacks:</a:t>
            </a:r>
          </a:p>
          <a:p>
            <a:r>
              <a:rPr lang="en-US" dirty="0"/>
              <a:t>Teleprocessing: Too much load on one central machine.</a:t>
            </a:r>
          </a:p>
          <a:p>
            <a:r>
              <a:rPr lang="en-US" dirty="0"/>
              <a:t>File-server: High network traffic, full DBMS copies on each client, and difficult concurrency control.</a:t>
            </a:r>
          </a:p>
        </p:txBody>
      </p:sp>
    </p:spTree>
    <p:extLst>
      <p:ext uri="{BB962C8B-B14F-4D97-AF65-F5344CB8AC3E}">
        <p14:creationId xmlns:p14="http://schemas.microsoft.com/office/powerpoint/2010/main" val="3017509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1729F-1F57-7F73-8747-EBEC404A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Client–Server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5B0B9F-FB61-1799-51C7-F22A9E538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1536" y="1976284"/>
            <a:ext cx="7344696" cy="390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28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1428-D456-4457-EBE6-5C6BE9B6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Client–Server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952A1-56E3-EBB7-BFB1-1EC6FC850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Client</a:t>
            </a:r>
            <a:r>
              <a:rPr lang="en-US" dirty="0"/>
              <a:t>: The software (and computer) that requests some resource.</a:t>
            </a:r>
          </a:p>
          <a:p>
            <a:r>
              <a:rPr lang="en-US" b="1" dirty="0"/>
              <a:t>Server</a:t>
            </a:r>
            <a:r>
              <a:rPr lang="en-US" dirty="0"/>
              <a:t>: The software (and computer) that provides that resource</a:t>
            </a:r>
          </a:p>
          <a:p>
            <a:r>
              <a:rPr lang="en-US" dirty="0"/>
              <a:t>Client and server can be on the same machine or on different machines in a network (most often in a LAN).</a:t>
            </a:r>
          </a:p>
          <a:p>
            <a:r>
              <a:rPr lang="en-US" dirty="0"/>
              <a:t>In databases, usually: </a:t>
            </a:r>
          </a:p>
          <a:p>
            <a:r>
              <a:rPr lang="en-US" dirty="0"/>
              <a:t>The client runs on the user’s desktop or workstation.</a:t>
            </a:r>
          </a:p>
          <a:p>
            <a:r>
              <a:rPr lang="en-US" dirty="0"/>
              <a:t>The server is a centralized machine running the DBMS.</a:t>
            </a:r>
          </a:p>
        </p:txBody>
      </p:sp>
    </p:spTree>
    <p:extLst>
      <p:ext uri="{BB962C8B-B14F-4D97-AF65-F5344CB8AC3E}">
        <p14:creationId xmlns:p14="http://schemas.microsoft.com/office/powerpoint/2010/main" val="1655503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50B3-81EA-B87B-8360-D2982235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Data-intensive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5A73D-52C1-E786-2B31-6ED68FB34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 in client–server DBMS systems are built from four components:</a:t>
            </a:r>
          </a:p>
          <a:p>
            <a:r>
              <a:rPr lang="en-US" b="1" dirty="0"/>
              <a:t>1. Database</a:t>
            </a:r>
            <a:r>
              <a:rPr lang="en-US" dirty="0"/>
              <a:t> – The actual stored data.</a:t>
            </a:r>
          </a:p>
          <a:p>
            <a:r>
              <a:rPr lang="en-US" b="1" dirty="0"/>
              <a:t>2. Transaction logic</a:t>
            </a:r>
            <a:r>
              <a:rPr lang="en-US" dirty="0"/>
              <a:t> – Manages transactions</a:t>
            </a:r>
          </a:p>
          <a:p>
            <a:r>
              <a:rPr lang="en-US" dirty="0"/>
              <a:t>Handles commit (permanent save) and rollback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694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E2D7-81E0-72A0-5E95-0F7AB6B8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63866-E947-622D-D325-81C459842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Business &amp; Data Application Logic</a:t>
            </a:r>
          </a:p>
          <a:p>
            <a:r>
              <a:rPr lang="en-US" b="1" dirty="0"/>
              <a:t>Business application logic</a:t>
            </a:r>
            <a:r>
              <a:rPr lang="en-US" dirty="0"/>
              <a:t> : Organizational rules and policies.</a:t>
            </a:r>
          </a:p>
          <a:p>
            <a:r>
              <a:rPr lang="en-US" dirty="0"/>
              <a:t>Example. A student can register for a course only if prerequisites have been completed.</a:t>
            </a:r>
          </a:p>
          <a:p>
            <a:r>
              <a:rPr lang="en-US" dirty="0"/>
              <a:t>Ensures data reliability and consistency.</a:t>
            </a:r>
          </a:p>
          <a:p>
            <a:r>
              <a:rPr lang="en-US" b="1" dirty="0"/>
              <a:t>Data application logic</a:t>
            </a:r>
            <a:r>
              <a:rPr lang="en-US" dirty="0"/>
              <a:t> : Database operations that enforce or support these rules.</a:t>
            </a:r>
          </a:p>
          <a:p>
            <a:r>
              <a:rPr lang="en-US" b="1" dirty="0"/>
              <a:t>4. User interface</a:t>
            </a:r>
            <a:r>
              <a:rPr lang="en-US" dirty="0"/>
              <a:t> – The part that interacts with the end-user.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745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35AD-C42D-51DF-16EE-E205DB3B2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A57E7-4672-CF4E-DF4B-728547FBA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the business rule says:</a:t>
            </a:r>
          </a:p>
          <a:p>
            <a:r>
              <a:rPr lang="en-US" dirty="0"/>
              <a:t>Only students who have passed Programming Fundamentals can register for Data Structures.</a:t>
            </a:r>
          </a:p>
          <a:p>
            <a:r>
              <a:rPr lang="en-US" dirty="0"/>
              <a:t>The data application logic might perform database operations such as:</a:t>
            </a:r>
          </a:p>
          <a:p>
            <a:r>
              <a:rPr lang="en-US" dirty="0"/>
              <a:t>It checks the database to see whether Ali passed.</a:t>
            </a:r>
          </a:p>
          <a:p>
            <a:r>
              <a:rPr lang="en-US" dirty="0"/>
              <a:t>If he passed: Allow registration</a:t>
            </a:r>
          </a:p>
          <a:p>
            <a:r>
              <a:rPr lang="en-US" dirty="0"/>
              <a:t>Otherwise. Reject</a:t>
            </a:r>
          </a:p>
        </p:txBody>
      </p:sp>
    </p:spTree>
    <p:extLst>
      <p:ext uri="{BB962C8B-B14F-4D97-AF65-F5344CB8AC3E}">
        <p14:creationId xmlns:p14="http://schemas.microsoft.com/office/powerpoint/2010/main" val="3186861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D4F0-0266-82E7-E89A-6F735BA5F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two-tier client server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0C248D-CB5D-5BD7-DEC6-F77B79A36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8071" y="2568857"/>
            <a:ext cx="8155858" cy="341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2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EA43-E2CB-6ADE-26F3-86660A79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Two-tier Client–Server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D2B1-A52C-E912-07AF-28BB7546B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Tier 1 (Client):</a:t>
            </a:r>
            <a:endParaRPr lang="en-US" dirty="0"/>
          </a:p>
          <a:p>
            <a:r>
              <a:rPr lang="en-US" dirty="0"/>
              <a:t>Mainly responsible for presentation services (UI).</a:t>
            </a:r>
          </a:p>
          <a:p>
            <a:r>
              <a:rPr lang="en-US" dirty="0"/>
              <a:t>May handle some basic application logic.</a:t>
            </a:r>
          </a:p>
          <a:p>
            <a:r>
              <a:rPr lang="en-US" b="1" dirty="0"/>
              <a:t>Tier 2 (Server):</a:t>
            </a:r>
            <a:endParaRPr lang="en-US" dirty="0"/>
          </a:p>
          <a:p>
            <a:r>
              <a:rPr lang="en-US" dirty="0"/>
              <a:t>Provides data services (query processing, transaction management).</a:t>
            </a:r>
          </a:p>
          <a:p>
            <a:r>
              <a:rPr lang="en-US" dirty="0"/>
              <a:t>Also handles:</a:t>
            </a:r>
          </a:p>
          <a:p>
            <a:pPr lvl="1"/>
            <a:r>
              <a:rPr lang="en-US" dirty="0"/>
              <a:t>Authorization and access control</a:t>
            </a:r>
          </a:p>
          <a:p>
            <a:pPr lvl="1"/>
            <a:r>
              <a:rPr lang="en-US" dirty="0"/>
              <a:t>Integrity constraints</a:t>
            </a:r>
          </a:p>
          <a:p>
            <a:pPr lvl="1"/>
            <a:r>
              <a:rPr lang="en-US" dirty="0"/>
              <a:t>Concurrency control</a:t>
            </a:r>
          </a:p>
          <a:p>
            <a:pPr lvl="1"/>
            <a:r>
              <a:rPr lang="en-US" dirty="0"/>
              <a:t>Recovery and backup</a:t>
            </a:r>
          </a:p>
          <a:p>
            <a:pPr lvl="1"/>
            <a:r>
              <a:rPr lang="en-US" dirty="0"/>
              <a:t>Catalog management (metadata)</a:t>
            </a:r>
          </a:p>
        </p:txBody>
      </p:sp>
    </p:spTree>
    <p:extLst>
      <p:ext uri="{BB962C8B-B14F-4D97-AF65-F5344CB8AC3E}">
        <p14:creationId xmlns:p14="http://schemas.microsoft.com/office/powerpoint/2010/main" val="315305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128AE-9999-B539-F852-A60783187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3768-EAEA-6B68-D19C-5EEB08E6B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b="1" dirty="0"/>
              <a:t>User:</a:t>
            </a:r>
            <a:r>
              <a:rPr lang="en-US" dirty="0"/>
              <a:t> </a:t>
            </a:r>
          </a:p>
          <a:p>
            <a:r>
              <a:rPr lang="en-US" dirty="0"/>
              <a:t>User enters a request (e.g., “Show all staff at branch 163 Main St.”).</a:t>
            </a:r>
          </a:p>
          <a:p>
            <a:r>
              <a:rPr lang="en-US" b="1" dirty="0"/>
              <a:t>2. Client</a:t>
            </a:r>
            <a:r>
              <a:rPr lang="en-US" dirty="0"/>
              <a:t>:</a:t>
            </a:r>
          </a:p>
          <a:p>
            <a:r>
              <a:rPr lang="en-US" dirty="0"/>
              <a:t>Checks the request syntax.</a:t>
            </a:r>
          </a:p>
          <a:p>
            <a:r>
              <a:rPr lang="en-US" dirty="0"/>
              <a:t>Generates an SQL query.</a:t>
            </a:r>
          </a:p>
          <a:p>
            <a:r>
              <a:rPr lang="en-US" dirty="0"/>
              <a:t>Sends it to the server.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128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9E181-5CD9-5928-485E-99709185B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47309-613B-088E-AFBA-FD8CBB9C8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Server</a:t>
            </a:r>
            <a:r>
              <a:rPr lang="en-US" dirty="0"/>
              <a:t>:</a:t>
            </a:r>
          </a:p>
          <a:p>
            <a:r>
              <a:rPr lang="en-US" dirty="0"/>
              <a:t>Verifies authorization and integrity constraints.</a:t>
            </a:r>
          </a:p>
          <a:p>
            <a:r>
              <a:rPr lang="en-US" dirty="0"/>
              <a:t>Executes the query (with transaction, concurrency, recovery support).</a:t>
            </a:r>
          </a:p>
          <a:p>
            <a:r>
              <a:rPr lang="en-US" dirty="0"/>
              <a:t>Returns only the result to the client.</a:t>
            </a:r>
          </a:p>
          <a:p>
            <a:r>
              <a:rPr lang="en-US" b="1" dirty="0"/>
              <a:t>4. Client:</a:t>
            </a:r>
          </a:p>
          <a:p>
            <a:r>
              <a:rPr lang="en-US" dirty="0"/>
              <a:t>Formats the result for the user (e.g., displays staff names).</a:t>
            </a:r>
          </a:p>
        </p:txBody>
      </p:sp>
    </p:spTree>
    <p:extLst>
      <p:ext uri="{BB962C8B-B14F-4D97-AF65-F5344CB8AC3E}">
        <p14:creationId xmlns:p14="http://schemas.microsoft.com/office/powerpoint/2010/main" val="1856046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4A1CB-02D9-2A34-353A-752F6D21F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Client–Server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1ACB0-3966-ADFF-287B-1BC290CA1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Wider access to databases</a:t>
            </a:r>
            <a:r>
              <a:rPr lang="en-US" dirty="0"/>
              <a:t> – clients across the network can access the centralized server.</a:t>
            </a:r>
          </a:p>
          <a:p>
            <a:r>
              <a:rPr lang="en-US" b="1" dirty="0"/>
              <a:t>Better performance</a:t>
            </a:r>
            <a:r>
              <a:rPr lang="en-US" dirty="0"/>
              <a:t> – tasks are split: client handles UI, server handles DBMS; both CPUs can work in parallel.</a:t>
            </a:r>
          </a:p>
          <a:p>
            <a:r>
              <a:rPr lang="en-US" b="1" dirty="0"/>
              <a:t>Lower hardware costs</a:t>
            </a:r>
            <a:r>
              <a:rPr lang="en-US" dirty="0"/>
              <a:t> – only the server needs to be powerful; clients can be ordinary PCs.</a:t>
            </a:r>
          </a:p>
          <a:p>
            <a:r>
              <a:rPr lang="en-US" b="1" dirty="0"/>
              <a:t>Reduced communication costs</a:t>
            </a:r>
            <a:r>
              <a:rPr lang="en-US" dirty="0"/>
              <a:t> – only results (not whole files) are sent over the network.</a:t>
            </a:r>
          </a:p>
          <a:p>
            <a:r>
              <a:rPr lang="en-US" b="1" dirty="0"/>
              <a:t>Increased consistency</a:t>
            </a:r>
            <a:r>
              <a:rPr lang="en-US" dirty="0"/>
              <a:t> – integrity constraints are checked centrally at the server, not by each client separately.</a:t>
            </a:r>
          </a:p>
          <a:p>
            <a:r>
              <a:rPr lang="en-US" b="1" dirty="0"/>
              <a:t>Open systems support</a:t>
            </a:r>
            <a:r>
              <a:rPr lang="en-US" dirty="0"/>
              <a:t> – works naturally with standard networked systems.</a:t>
            </a:r>
          </a:p>
        </p:txBody>
      </p:sp>
    </p:spTree>
    <p:extLst>
      <p:ext uri="{BB962C8B-B14F-4D97-AF65-F5344CB8AC3E}">
        <p14:creationId xmlns:p14="http://schemas.microsoft.com/office/powerpoint/2010/main" val="618765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6D3AE-CA8E-C5FF-3304-7EBF3D93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topologies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F3B587-6D2C-972B-F20E-C44CC7939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8479" y="2152048"/>
            <a:ext cx="3869148" cy="2714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F3B300-7547-075A-230A-072A55F5F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884" y="2336781"/>
            <a:ext cx="3046464" cy="234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40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5B195-16C0-9747-E120-7F8B501C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topologies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CAC0A6-BDF4-D58E-5E9F-E396B2390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8890" y="2153265"/>
            <a:ext cx="6209071" cy="288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664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5818B-74DE-2AF4-F867-79B9A2991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Three-Tier Client–Server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5E04-2B90-1657-A422-55FFF82AC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Introduced in the mid-1990s, the three-tier architecture added a middle tier to solve these problems:</a:t>
            </a:r>
          </a:p>
          <a:p>
            <a:r>
              <a:rPr lang="en-US" b="1" dirty="0"/>
              <a:t>1. User Interface Layer (Client Tier)</a:t>
            </a:r>
          </a:p>
          <a:p>
            <a:r>
              <a:rPr lang="en-US" dirty="0"/>
              <a:t>Runs on the end-user’s machine.</a:t>
            </a:r>
          </a:p>
          <a:p>
            <a:r>
              <a:rPr lang="en-US" dirty="0"/>
              <a:t>Responsible only for the presentation (UI) and maybe simple input checks.</a:t>
            </a:r>
          </a:p>
          <a:p>
            <a:r>
              <a:rPr lang="en-US" dirty="0"/>
              <a:t>Clients are now “thin clients” (lighter, cheaper, less powerful machines).</a:t>
            </a:r>
          </a:p>
        </p:txBody>
      </p:sp>
    </p:spTree>
    <p:extLst>
      <p:ext uri="{BB962C8B-B14F-4D97-AF65-F5344CB8AC3E}">
        <p14:creationId xmlns:p14="http://schemas.microsoft.com/office/powerpoint/2010/main" val="88538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E849F-352A-F777-F28B-16C17D551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78945-57EE-1DD7-5F27-211AB124D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Business Logic &amp; Data Processing Layer (Middle Tier / Application Server)</a:t>
            </a:r>
            <a:endParaRPr lang="en-US" dirty="0"/>
          </a:p>
          <a:p>
            <a:r>
              <a:rPr lang="en-US" dirty="0"/>
              <a:t>Runs on a separate server.</a:t>
            </a:r>
          </a:p>
          <a:p>
            <a:r>
              <a:rPr lang="en-US" dirty="0"/>
              <a:t>Contains the core business rules and logic (e.g., validating transactions, applying policies, processing workflows).</a:t>
            </a:r>
          </a:p>
          <a:p>
            <a:r>
              <a:rPr lang="en-US" dirty="0"/>
              <a:t>Handles multiple clients at once.</a:t>
            </a:r>
          </a:p>
          <a:p>
            <a:r>
              <a:rPr lang="en-US" dirty="0"/>
              <a:t>Acts as a “bridge” between the client and the database.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729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F589-B8C1-8FAC-7224-A0F8A056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DAE0C-F224-73BA-E736-A5E029CAF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3.Data Layer (Database Server)</a:t>
            </a:r>
            <a:endParaRPr lang="en-US" dirty="0"/>
          </a:p>
          <a:p>
            <a:r>
              <a:rPr lang="en-US" dirty="0"/>
              <a:t>Runs the DBMS.</a:t>
            </a:r>
          </a:p>
          <a:p>
            <a:r>
              <a:rPr lang="en-US" dirty="0"/>
              <a:t>Responsible only for storing and retrieving data.</a:t>
            </a:r>
          </a:p>
          <a:p>
            <a:r>
              <a:rPr lang="en-US" dirty="0"/>
              <a:t>Interacts with the middle tier, not directly with clients.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32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A18A3-04DF-0D16-8825-ED262F7D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Three-Tier Client–Server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AB6008-1E5F-552B-BBB9-95EA6101CB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6502" y="2320131"/>
            <a:ext cx="6813755" cy="405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655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7B96B-F251-014F-055C-4EDC66B45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70F7F-755D-2F84-E03E-15737A2C6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client</a:t>
            </a:r>
            <a:r>
              <a:rPr lang="en-US" dirty="0"/>
              <a:t> (UI) sends a request to the </a:t>
            </a:r>
            <a:r>
              <a:rPr lang="en-US" b="1" dirty="0"/>
              <a:t>application server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application server</a:t>
            </a:r>
            <a:r>
              <a:rPr lang="en-US" dirty="0"/>
              <a:t> processes business rules, then generates database queries.</a:t>
            </a:r>
          </a:p>
          <a:p>
            <a:r>
              <a:rPr lang="en-US" dirty="0"/>
              <a:t>The </a:t>
            </a:r>
            <a:r>
              <a:rPr lang="en-US" b="1" dirty="0"/>
              <a:t>database server (DBMS)</a:t>
            </a:r>
            <a:r>
              <a:rPr lang="en-US" dirty="0"/>
              <a:t> executes the queries and sends results back to the application server.</a:t>
            </a:r>
          </a:p>
          <a:p>
            <a:r>
              <a:rPr lang="en-US" dirty="0"/>
              <a:t>The </a:t>
            </a:r>
            <a:r>
              <a:rPr lang="en-US" b="1" dirty="0"/>
              <a:t>application server</a:t>
            </a:r>
            <a:r>
              <a:rPr lang="en-US" dirty="0"/>
              <a:t> formats and applies further processing, then sends results back to the client.</a:t>
            </a:r>
          </a:p>
        </p:txBody>
      </p:sp>
    </p:spTree>
    <p:extLst>
      <p:ext uri="{BB962C8B-B14F-4D97-AF65-F5344CB8AC3E}">
        <p14:creationId xmlns:p14="http://schemas.microsoft.com/office/powerpoint/2010/main" val="761827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397D6-AE4C-6A27-83D8-0BF3DA18F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Was Needed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F9D0C-1F57-8C73-AC87-7E93568D7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two-tier model</a:t>
            </a:r>
            <a:r>
              <a:rPr lang="en-US" dirty="0"/>
              <a:t> (client + DBMS server) worked fine for small to medium systems, but when applications expanded to </a:t>
            </a:r>
            <a:r>
              <a:rPr lang="en-US" b="1" dirty="0"/>
              <a:t>hundreds or thousands of users</a:t>
            </a:r>
            <a:r>
              <a:rPr lang="en-US" dirty="0"/>
              <a:t>, it faced problems:</a:t>
            </a:r>
          </a:p>
          <a:p>
            <a:r>
              <a:rPr lang="en-US" b="1" dirty="0"/>
              <a:t>Fat Client</a:t>
            </a:r>
            <a:endParaRPr lang="en-US" dirty="0"/>
          </a:p>
          <a:p>
            <a:r>
              <a:rPr lang="en-US" dirty="0"/>
              <a:t>Clients needed lots of resources (CPU, RAM, disk space) to run business logic locally.</a:t>
            </a:r>
          </a:p>
          <a:p>
            <a:r>
              <a:rPr lang="en-US" dirty="0"/>
              <a:t>This increased hardware costs.</a:t>
            </a:r>
          </a:p>
          <a:p>
            <a:r>
              <a:rPr lang="en-US" b="1" dirty="0"/>
              <a:t>Administration Overhead</a:t>
            </a:r>
            <a:endParaRPr lang="en-US" dirty="0"/>
          </a:p>
          <a:p>
            <a:pPr lvl="1"/>
            <a:r>
              <a:rPr lang="en-US" dirty="0"/>
              <a:t>Each client needed its own copy of application software, making updates and maintenance difficult.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198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7FFD-42E5-E639-25BB-96B0130C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over Two-Tier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A8E68-8BC2-2DF3-2931-591935378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Thin clients</a:t>
            </a:r>
            <a:r>
              <a:rPr lang="en-US" dirty="0"/>
              <a:t> → cheaper hardware requirements.</a:t>
            </a:r>
          </a:p>
          <a:p>
            <a:r>
              <a:rPr lang="en-US" b="1" dirty="0"/>
              <a:t>Centralized maintenance</a:t>
            </a:r>
            <a:r>
              <a:rPr lang="en-US" dirty="0"/>
              <a:t> → business logic is only on the application server, not on every client.</a:t>
            </a:r>
          </a:p>
          <a:p>
            <a:r>
              <a:rPr lang="en-US" b="1" dirty="0"/>
              <a:t>Modularity</a:t>
            </a:r>
            <a:r>
              <a:rPr lang="en-US" dirty="0"/>
              <a:t> → easy to replace or upgrade one tier without affecting others.</a:t>
            </a:r>
          </a:p>
          <a:p>
            <a:r>
              <a:rPr lang="en-US" b="1" dirty="0"/>
              <a:t>Load balancing</a:t>
            </a:r>
            <a:r>
              <a:rPr lang="en-US" dirty="0"/>
              <a:t> → application servers can distribute requests before hitting the database.</a:t>
            </a:r>
          </a:p>
          <a:p>
            <a:r>
              <a:rPr lang="en-US" b="1" dirty="0"/>
              <a:t>Naturally fits into web systems:</a:t>
            </a:r>
          </a:p>
          <a:p>
            <a:r>
              <a:rPr lang="en-US" dirty="0"/>
              <a:t>Browser = thin client</a:t>
            </a:r>
          </a:p>
          <a:p>
            <a:r>
              <a:rPr lang="en-US" dirty="0"/>
              <a:t>Web server = application server</a:t>
            </a:r>
          </a:p>
          <a:p>
            <a:r>
              <a:rPr lang="en-US" dirty="0"/>
              <a:t>Database server = DBMS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383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6619B-7E66-5D13-804E-DCAA6C24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B1F86-3324-D312-557A-9DFCE715B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Banking System (Web App):</a:t>
            </a:r>
            <a:endParaRPr lang="en-US" dirty="0"/>
          </a:p>
          <a:p>
            <a:pPr lvl="1"/>
            <a:r>
              <a:rPr lang="en-US" dirty="0"/>
              <a:t>Client: Customer uses a web browser to request account balance.</a:t>
            </a:r>
          </a:p>
          <a:p>
            <a:pPr lvl="1"/>
            <a:r>
              <a:rPr lang="en-US" dirty="0"/>
              <a:t>Application Server: Applies business rules (check authentication, calculate interest, apply security rules).</a:t>
            </a:r>
          </a:p>
          <a:p>
            <a:pPr lvl="1"/>
            <a:r>
              <a:rPr lang="en-US" dirty="0"/>
              <a:t>Database Server: Fetches the customer’s account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4790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7C89A-3909-38C0-5663-D27316295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N-Tier Architectures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B6850E-8326-7117-EBEF-472A3D5230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9677" y="1825625"/>
            <a:ext cx="60763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046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D3B88-A280-74FC-2D48-18086669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E20D8-9286-6631-09A3-7808CF9E2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It Means</a:t>
            </a:r>
          </a:p>
          <a:p>
            <a:r>
              <a:rPr lang="en-US" b="1" dirty="0"/>
              <a:t>N-tier</a:t>
            </a:r>
            <a:r>
              <a:rPr lang="en-US" dirty="0"/>
              <a:t> architecture is simply an </a:t>
            </a:r>
            <a:r>
              <a:rPr lang="en-US" b="1" dirty="0"/>
              <a:t>extension of the three-tier model</a:t>
            </a:r>
            <a:r>
              <a:rPr lang="en-US" dirty="0"/>
              <a:t>.</a:t>
            </a:r>
          </a:p>
          <a:p>
            <a:r>
              <a:rPr lang="en-US" dirty="0"/>
              <a:t>Instead of just three layers (Client, Application, Database), the system can be broken into </a:t>
            </a:r>
            <a:r>
              <a:rPr lang="en-US" b="1" dirty="0"/>
              <a:t>more layers (n layers)</a:t>
            </a:r>
            <a:r>
              <a:rPr lang="en-US" dirty="0"/>
              <a:t> depending on the complexity and scalability needs.</a:t>
            </a:r>
          </a:p>
          <a:p>
            <a:r>
              <a:rPr lang="en-US" dirty="0"/>
              <a:t>Each tier runs on its </a:t>
            </a:r>
            <a:r>
              <a:rPr lang="en-US" b="1" dirty="0"/>
              <a:t>own server or group of servers</a:t>
            </a:r>
            <a:r>
              <a:rPr lang="en-US" dirty="0"/>
              <a:t> and is responsible for a </a:t>
            </a:r>
            <a:r>
              <a:rPr lang="en-US" b="1" dirty="0"/>
              <a:t>specific function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4787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A166A-47E7-4169-B6AA-6E7083507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1C3FD-4285-F076-B12D-4DB57FC86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 of Expanding Three-Tier</a:t>
            </a:r>
          </a:p>
          <a:p>
            <a:r>
              <a:rPr lang="en-US" dirty="0"/>
              <a:t>In </a:t>
            </a:r>
            <a:r>
              <a:rPr lang="en-US" b="1" dirty="0"/>
              <a:t>three-tier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Client (UI)</a:t>
            </a:r>
            <a:endParaRPr lang="en-US" dirty="0"/>
          </a:p>
          <a:p>
            <a:pPr lvl="1"/>
            <a:r>
              <a:rPr lang="en-US" b="1" dirty="0"/>
              <a:t>Application/Business logic</a:t>
            </a:r>
            <a:endParaRPr lang="en-US" dirty="0"/>
          </a:p>
          <a:p>
            <a:pPr lvl="1"/>
            <a:r>
              <a:rPr lang="en-US" b="1" dirty="0"/>
              <a:t>Database</a:t>
            </a:r>
            <a:endParaRPr lang="en-US" dirty="0"/>
          </a:p>
          <a:p>
            <a:r>
              <a:rPr lang="en-US" dirty="0"/>
              <a:t>In </a:t>
            </a:r>
            <a:r>
              <a:rPr lang="en-US" b="1" dirty="0"/>
              <a:t>n-tier (say 4-tier)</a:t>
            </a:r>
            <a:r>
              <a:rPr lang="en-US" dirty="0"/>
              <a:t>, you could split the middle tier:</a:t>
            </a:r>
          </a:p>
          <a:p>
            <a:pPr lvl="1"/>
            <a:r>
              <a:rPr lang="en-US" b="1" dirty="0"/>
              <a:t>Web Server (Presentation Tier)</a:t>
            </a:r>
            <a:r>
              <a:rPr lang="en-US" dirty="0"/>
              <a:t> → handles HTTP requests, static content.</a:t>
            </a:r>
          </a:p>
          <a:p>
            <a:pPr lvl="1"/>
            <a:r>
              <a:rPr lang="en-US" b="1" dirty="0"/>
              <a:t>Application Server (Business Logic Tier)</a:t>
            </a:r>
            <a:r>
              <a:rPr lang="en-US" dirty="0"/>
              <a:t> → processes business rules, transactions.</a:t>
            </a:r>
          </a:p>
          <a:p>
            <a:pPr lvl="1"/>
            <a:r>
              <a:rPr lang="en-US" b="1" dirty="0"/>
              <a:t>Database Server (Data Tier)</a:t>
            </a:r>
            <a:r>
              <a:rPr lang="en-US" dirty="0"/>
              <a:t> → stores and retrieves data.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658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0F741-7EA7-3A2E-A8B5-7C40167FB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Typical N-Tier Example in Web Systems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05114-9BF1-7DCF-017F-C28B68771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Client Tier</a:t>
            </a:r>
            <a:r>
              <a:rPr lang="en-US" dirty="0"/>
              <a:t> → User’s browser or mobile app.</a:t>
            </a:r>
          </a:p>
          <a:p>
            <a:r>
              <a:rPr lang="en-US" b="1" dirty="0"/>
              <a:t>Web Server Tier</a:t>
            </a:r>
            <a:r>
              <a:rPr lang="en-US" dirty="0"/>
              <a:t> → Handles HTTP requests, delivers web pages.</a:t>
            </a:r>
          </a:p>
          <a:p>
            <a:r>
              <a:rPr lang="en-US" b="1" dirty="0"/>
              <a:t>Application Server Tier</a:t>
            </a:r>
            <a:r>
              <a:rPr lang="en-US" dirty="0"/>
              <a:t> → Executes business logic, enforces rules.</a:t>
            </a:r>
          </a:p>
          <a:p>
            <a:r>
              <a:rPr lang="en-US" b="1" dirty="0"/>
              <a:t>Database Server Tier</a:t>
            </a:r>
            <a:r>
              <a:rPr lang="en-US" dirty="0"/>
              <a:t> → Stores relational or NoSQL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069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A635-AA4F-9AE7-5416-0BBE8B52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Three-Schema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7709-33E5-FA5F-F190-C1D765B33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of the three-schema architecture is to separate user applications from the physical database. It provides three distinct levels of abstraction:</a:t>
            </a:r>
          </a:p>
          <a:p>
            <a:r>
              <a:rPr lang="en-US" dirty="0"/>
              <a:t> User applications refer to the programs, tools, or interfaces that people use to interact with the database in order to perform tasks.</a:t>
            </a:r>
          </a:p>
          <a:p>
            <a:r>
              <a:rPr lang="en-US" dirty="0"/>
              <a:t>Internal Level (Physical Storage Schema)</a:t>
            </a:r>
          </a:p>
          <a:p>
            <a:r>
              <a:rPr lang="en-US" dirty="0"/>
              <a:t>Conceptual Level (Community Schema)</a:t>
            </a:r>
          </a:p>
          <a:p>
            <a:r>
              <a:rPr lang="en-US" dirty="0"/>
              <a:t>External Level (User Views)</a:t>
            </a:r>
          </a:p>
        </p:txBody>
      </p:sp>
    </p:spTree>
    <p:extLst>
      <p:ext uri="{BB962C8B-B14F-4D97-AF65-F5344CB8AC3E}">
        <p14:creationId xmlns:p14="http://schemas.microsoft.com/office/powerpoint/2010/main" val="37744098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CAB7A-CD03-6028-653A-50B74809E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Three-Schema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112771-5034-7558-6BE9-67B3FEA2B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0968" y="2491581"/>
            <a:ext cx="7447935" cy="346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7922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58E9-5009-7313-DB4A-25DB5C8B2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Level (Physical Storage Schema)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35634-A2A3-2636-4050-55A16DEF6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Describes how data is physically stored in the database.</a:t>
            </a:r>
          </a:p>
          <a:p>
            <a:r>
              <a:rPr lang="en-US" dirty="0"/>
              <a:t>Includes details such as storage structures (files, indexes, hashing), and access paths.</a:t>
            </a:r>
          </a:p>
          <a:p>
            <a:r>
              <a:rPr lang="en-US" dirty="0"/>
              <a:t>Uses a physical data model.</a:t>
            </a:r>
          </a:p>
        </p:txBody>
      </p:sp>
    </p:spTree>
    <p:extLst>
      <p:ext uri="{BB962C8B-B14F-4D97-AF65-F5344CB8AC3E}">
        <p14:creationId xmlns:p14="http://schemas.microsoft.com/office/powerpoint/2010/main" val="42601278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BD37D-65DC-2EDC-C5F6-983DC838E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56267-55B2-D6A9-51ED-1AABF03A5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university database stores </a:t>
            </a:r>
            <a:r>
              <a:rPr lang="en-US" b="1" dirty="0"/>
              <a:t>Exam Results</a:t>
            </a:r>
            <a:r>
              <a:rPr lang="en-US" dirty="0"/>
              <a:t> in a table:</a:t>
            </a:r>
          </a:p>
          <a:p>
            <a:r>
              <a:rPr lang="en-US" dirty="0"/>
              <a:t>Result(</a:t>
            </a:r>
            <a:r>
              <a:rPr lang="en-US" dirty="0" err="1"/>
              <a:t>RollNo</a:t>
            </a:r>
            <a:r>
              <a:rPr lang="en-US" dirty="0"/>
              <a:t>, </a:t>
            </a:r>
            <a:r>
              <a:rPr lang="en-US" dirty="0" err="1"/>
              <a:t>CourseCode</a:t>
            </a:r>
            <a:r>
              <a:rPr lang="en-US" dirty="0"/>
              <a:t>, Marks)</a:t>
            </a:r>
          </a:p>
          <a:p>
            <a:r>
              <a:rPr lang="en-US" dirty="0"/>
              <a:t>Initially, data is stored on a </a:t>
            </a:r>
            <a:r>
              <a:rPr lang="en-US" b="1" dirty="0"/>
              <a:t>local server</a:t>
            </a:r>
            <a:r>
              <a:rPr lang="en-US" dirty="0"/>
              <a:t> at the university.</a:t>
            </a:r>
          </a:p>
          <a:p>
            <a:r>
              <a:rPr lang="en-US" dirty="0"/>
              <a:t>Later, the university upgrades:</a:t>
            </a:r>
          </a:p>
          <a:p>
            <a:r>
              <a:rPr lang="en-US" dirty="0"/>
              <a:t>Partitions data (1st-year results on one disk, 2nd-year results on another).</a:t>
            </a:r>
          </a:p>
          <a:p>
            <a:r>
              <a:rPr lang="en-US" b="1" dirty="0"/>
              <a:t>Impact on App (Result Portal).</a:t>
            </a:r>
          </a:p>
          <a:p>
            <a:r>
              <a:rPr lang="en-US" dirty="0"/>
              <a:t>Roll No: 21CS45</a:t>
            </a:r>
          </a:p>
          <a:p>
            <a:r>
              <a:rPr lang="en-US" dirty="0"/>
              <a:t>Course: DBMS</a:t>
            </a:r>
          </a:p>
          <a:p>
            <a:r>
              <a:rPr lang="en-US" dirty="0"/>
              <a:t>Marks: 87</a:t>
            </a:r>
          </a:p>
          <a:p>
            <a:r>
              <a:rPr lang="en-US" dirty="0"/>
              <a:t>The student does not know (or care) if data is on a hard disk, SSD, or cloud.</a:t>
            </a:r>
          </a:p>
          <a:p>
            <a:r>
              <a:rPr lang="en-US" b="1" dirty="0"/>
              <a:t>physical independence</a:t>
            </a:r>
            <a:r>
              <a:rPr lang="en-US" dirty="0"/>
              <a:t> → the </a:t>
            </a:r>
            <a:r>
              <a:rPr lang="en-US" b="1" dirty="0"/>
              <a:t>storage changed</a:t>
            </a:r>
            <a:r>
              <a:rPr lang="en-US" dirty="0"/>
              <a:t>, but the </a:t>
            </a:r>
            <a:r>
              <a:rPr lang="en-US" b="1" dirty="0"/>
              <a:t>app view remained the same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73299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F9402-2594-AA9E-FB62-121E195BE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Conceptual Level (Community Schema)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9B571-751D-FE26-45DD-24BA45D65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Describes the structure of the whole database as seen by the community of users.</a:t>
            </a:r>
          </a:p>
          <a:p>
            <a:r>
              <a:rPr lang="en-US" dirty="0"/>
              <a:t>Defines entities, data types, relationships, constraints, and user operations.</a:t>
            </a:r>
          </a:p>
          <a:p>
            <a:r>
              <a:rPr lang="en-US" dirty="0"/>
              <a:t>Hides details of the physical storage.</a:t>
            </a:r>
          </a:p>
        </p:txBody>
      </p:sp>
    </p:spTree>
    <p:extLst>
      <p:ext uri="{BB962C8B-B14F-4D97-AF65-F5344CB8AC3E}">
        <p14:creationId xmlns:p14="http://schemas.microsoft.com/office/powerpoint/2010/main" val="665704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9959-19C2-02F4-0C5F-EC973CCE1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External Level (User Views)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97C07-6449-5FE9-302F-3E6DE41D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Describes the part of the database that a specific user group is interested in.</a:t>
            </a:r>
          </a:p>
          <a:p>
            <a:r>
              <a:rPr lang="en-US" dirty="0"/>
              <a:t>Each user (or application) may have a different external schema.</a:t>
            </a:r>
          </a:p>
          <a:p>
            <a:r>
              <a:rPr lang="en-US" dirty="0"/>
              <a:t>Hides the rest of the database not relevant to that user.</a:t>
            </a:r>
          </a:p>
          <a:p>
            <a:r>
              <a:rPr lang="en-US" dirty="0"/>
              <a:t>Example: a student’s external view may show only </a:t>
            </a:r>
            <a:r>
              <a:rPr lang="en-US" i="1" dirty="0"/>
              <a:t>Name</a:t>
            </a:r>
            <a:r>
              <a:rPr lang="en-US" dirty="0"/>
              <a:t> and </a:t>
            </a:r>
            <a:r>
              <a:rPr lang="en-US" i="1" dirty="0"/>
              <a:t>GPA</a:t>
            </a:r>
            <a:r>
              <a:rPr lang="en-US" dirty="0"/>
              <a:t>, while the admin’s view shows </a:t>
            </a:r>
            <a:r>
              <a:rPr lang="en-US" i="1" dirty="0"/>
              <a:t>Name, </a:t>
            </a:r>
            <a:r>
              <a:rPr lang="en-US" i="1" dirty="0" err="1"/>
              <a:t>RollNo</a:t>
            </a:r>
            <a:r>
              <a:rPr lang="en-US" i="1" dirty="0"/>
              <a:t>, GPA, </a:t>
            </a:r>
            <a:r>
              <a:rPr lang="en-US" i="1" dirty="0" err="1"/>
              <a:t>FeeStatus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67356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2F43E-BAAD-A302-74A2-FA736090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Independence in the Three-Schema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18CF3-6FA9-6565-626A-AC16A913A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Independence</a:t>
            </a:r>
            <a:r>
              <a:rPr lang="en-US" dirty="0"/>
              <a:t> is the ability to change the schema at one level of a database system without affecting the schema at the next higher level.</a:t>
            </a:r>
          </a:p>
        </p:txBody>
      </p:sp>
    </p:spTree>
    <p:extLst>
      <p:ext uri="{BB962C8B-B14F-4D97-AF65-F5344CB8AC3E}">
        <p14:creationId xmlns:p14="http://schemas.microsoft.com/office/powerpoint/2010/main" val="40836474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F4DB-6A09-F758-AFDC-99E7E11F6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Logical Data Independence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54903-ACCD-63E5-099C-79D203E04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Definition:</a:t>
            </a:r>
            <a:r>
              <a:rPr lang="en-US" dirty="0"/>
              <a:t> The ability to change the conceptual schema without requiring changes to external schemas or application programs.</a:t>
            </a:r>
          </a:p>
          <a:p>
            <a:r>
              <a:rPr lang="en-US" dirty="0"/>
              <a:t>Change structure without affecting user views.</a:t>
            </a:r>
          </a:p>
          <a:p>
            <a:r>
              <a:rPr lang="en-US" dirty="0"/>
              <a:t>Logical data independence ensures user applications (like portals, reports) still work even when new attributes are added.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678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1B6C0-7C29-6347-2605-FCEB8AB9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9CC9C-4D02-82E6-632C-FF9046A37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Suppose the university has a Student table:</a:t>
            </a:r>
          </a:p>
          <a:p>
            <a:r>
              <a:rPr lang="en-US" dirty="0"/>
              <a:t>Student(</a:t>
            </a:r>
            <a:r>
              <a:rPr lang="en-US" dirty="0" err="1"/>
              <a:t>RollNo</a:t>
            </a:r>
            <a:r>
              <a:rPr lang="en-US" dirty="0"/>
              <a:t>, Name, Address)</a:t>
            </a:r>
          </a:p>
          <a:p>
            <a:r>
              <a:rPr lang="en-US" dirty="0"/>
              <a:t>Roll No: 21CS45</a:t>
            </a:r>
          </a:p>
          <a:p>
            <a:r>
              <a:rPr lang="en-US" dirty="0"/>
              <a:t>Name: Ayesha Khan</a:t>
            </a:r>
          </a:p>
          <a:p>
            <a:r>
              <a:rPr lang="en-US" dirty="0"/>
              <a:t>Address: House #12, University Road, Karachi</a:t>
            </a:r>
          </a:p>
          <a:p>
            <a:r>
              <a:rPr lang="en-US" dirty="0"/>
              <a:t>Later, the administration decides to store more details by splitting </a:t>
            </a:r>
            <a:r>
              <a:rPr lang="en-US" b="1" dirty="0"/>
              <a:t>Address</a:t>
            </a:r>
            <a:r>
              <a:rPr lang="en-US" dirty="0"/>
              <a:t> into: Student(</a:t>
            </a:r>
            <a:r>
              <a:rPr lang="en-US" dirty="0" err="1"/>
              <a:t>RollNo</a:t>
            </a:r>
            <a:r>
              <a:rPr lang="en-US" dirty="0"/>
              <a:t>, Name, Street, </a:t>
            </a:r>
            <a:r>
              <a:rPr lang="en-US" dirty="0" err="1"/>
              <a:t>City,postcode</a:t>
            </a:r>
            <a:r>
              <a:rPr lang="en-US" dirty="0"/>
              <a:t>)</a:t>
            </a:r>
          </a:p>
          <a:p>
            <a:r>
              <a:rPr lang="en-US" b="1" dirty="0"/>
              <a:t>Impact on App (Student Portal)</a:t>
            </a:r>
          </a:p>
          <a:p>
            <a:r>
              <a:rPr lang="en-US" dirty="0"/>
              <a:t>The </a:t>
            </a:r>
            <a:r>
              <a:rPr lang="en-US" b="1" dirty="0"/>
              <a:t>student portal</a:t>
            </a:r>
            <a:r>
              <a:rPr lang="en-US" dirty="0"/>
              <a:t> (app) still shows a single “Address” field on the screen: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1328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CD861-7827-F0B4-2AE4-C989C7E25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Physical Data Independence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00D32-77A9-CABB-F48D-ADB450A3D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 The ability to change the internal schema (physical storage) without changing the conceptual schema (logical structure).</a:t>
            </a:r>
          </a:p>
          <a:p>
            <a:r>
              <a:rPr lang="en-US" dirty="0"/>
              <a:t>Applications and queries remain unchanged</a:t>
            </a:r>
          </a:p>
        </p:txBody>
      </p:sp>
    </p:spTree>
    <p:extLst>
      <p:ext uri="{BB962C8B-B14F-4D97-AF65-F5344CB8AC3E}">
        <p14:creationId xmlns:p14="http://schemas.microsoft.com/office/powerpoint/2010/main" val="5758792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1235F-2511-F530-5D18-6FE5FEC12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CE354-6A76-A514-B96F-1318012D1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university database stores </a:t>
            </a:r>
            <a:r>
              <a:rPr lang="en-US" b="1" dirty="0"/>
              <a:t>Exam Results</a:t>
            </a:r>
            <a:r>
              <a:rPr lang="en-US" dirty="0"/>
              <a:t> in a table:</a:t>
            </a:r>
          </a:p>
          <a:p>
            <a:r>
              <a:rPr lang="en-US" dirty="0"/>
              <a:t>Result(</a:t>
            </a:r>
            <a:r>
              <a:rPr lang="en-US" dirty="0" err="1"/>
              <a:t>RollNo</a:t>
            </a:r>
            <a:r>
              <a:rPr lang="en-US" dirty="0"/>
              <a:t>, </a:t>
            </a:r>
            <a:r>
              <a:rPr lang="en-US" dirty="0" err="1"/>
              <a:t>CourseCode</a:t>
            </a:r>
            <a:r>
              <a:rPr lang="en-US" dirty="0"/>
              <a:t>, Marks)</a:t>
            </a:r>
          </a:p>
          <a:p>
            <a:r>
              <a:rPr lang="en-US" dirty="0"/>
              <a:t>Initially, data is stored on a </a:t>
            </a:r>
            <a:r>
              <a:rPr lang="en-US" b="1" dirty="0"/>
              <a:t>local server</a:t>
            </a:r>
            <a:r>
              <a:rPr lang="en-US" dirty="0"/>
              <a:t> at the university.</a:t>
            </a:r>
          </a:p>
          <a:p>
            <a:r>
              <a:rPr lang="en-US" dirty="0"/>
              <a:t>Later, the university upgrades:</a:t>
            </a:r>
          </a:p>
          <a:p>
            <a:r>
              <a:rPr lang="en-US" dirty="0"/>
              <a:t>Partitions data (1st-year results on one disk, 2nd-year results on another).</a:t>
            </a:r>
          </a:p>
          <a:p>
            <a:r>
              <a:rPr lang="en-US" b="1" dirty="0"/>
              <a:t>Impact on App (Result Portal).</a:t>
            </a:r>
          </a:p>
          <a:p>
            <a:r>
              <a:rPr lang="en-US" dirty="0"/>
              <a:t>Roll No: 21CS45</a:t>
            </a:r>
          </a:p>
          <a:p>
            <a:r>
              <a:rPr lang="en-US" dirty="0"/>
              <a:t>Course: DBMS</a:t>
            </a:r>
          </a:p>
          <a:p>
            <a:r>
              <a:rPr lang="en-US" dirty="0"/>
              <a:t>Marks: 87</a:t>
            </a:r>
          </a:p>
          <a:p>
            <a:r>
              <a:rPr lang="en-US" dirty="0"/>
              <a:t>The student does not know (or care) if data is on a hard disk, SSD, or cloud.</a:t>
            </a:r>
          </a:p>
          <a:p>
            <a:r>
              <a:rPr lang="en-US" b="1" dirty="0"/>
              <a:t>physical independence</a:t>
            </a:r>
            <a:r>
              <a:rPr lang="en-US" dirty="0"/>
              <a:t> → the </a:t>
            </a:r>
            <a:r>
              <a:rPr lang="en-US" b="1" dirty="0"/>
              <a:t>storage changed</a:t>
            </a:r>
            <a:r>
              <a:rPr lang="en-US" dirty="0"/>
              <a:t>, but the </a:t>
            </a:r>
            <a:r>
              <a:rPr lang="en-US" b="1" dirty="0"/>
              <a:t>app view remained the same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625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2190</Words>
  <Application>Microsoft Office PowerPoint</Application>
  <PresentationFormat>Widescreen</PresentationFormat>
  <Paragraphs>233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Aptos</vt:lpstr>
      <vt:lpstr>Aptos Display</vt:lpstr>
      <vt:lpstr>Arial</vt:lpstr>
      <vt:lpstr>Office Theme</vt:lpstr>
      <vt:lpstr>Database System</vt:lpstr>
      <vt:lpstr>Database Architecture</vt:lpstr>
      <vt:lpstr>Teleprocessing </vt:lpstr>
      <vt:lpstr>How it works </vt:lpstr>
      <vt:lpstr>PowerPoint Presentation</vt:lpstr>
      <vt:lpstr>File-Server Architecture</vt:lpstr>
      <vt:lpstr>PowerPoint Presentation</vt:lpstr>
      <vt:lpstr>How It Works </vt:lpstr>
      <vt:lpstr>PowerPoint Presentation</vt:lpstr>
      <vt:lpstr>Main Disadvantages</vt:lpstr>
      <vt:lpstr>PowerPoint Presentation</vt:lpstr>
      <vt:lpstr>Client–Server Architecture</vt:lpstr>
      <vt:lpstr>Client–Server Architecture</vt:lpstr>
      <vt:lpstr>Client–Server Architecture</vt:lpstr>
      <vt:lpstr>Components of Data-intensive Applications</vt:lpstr>
      <vt:lpstr>PowerPoint Presentation</vt:lpstr>
      <vt:lpstr>PowerPoint Presentation</vt:lpstr>
      <vt:lpstr>Traditional two-tier client server architecture</vt:lpstr>
      <vt:lpstr>Two-tier Client–Server Architecture</vt:lpstr>
      <vt:lpstr>Example Workflow</vt:lpstr>
      <vt:lpstr>PowerPoint Presentation</vt:lpstr>
      <vt:lpstr>Advantages of Client–Server Architecture</vt:lpstr>
      <vt:lpstr>Client-server topologies</vt:lpstr>
      <vt:lpstr>Client-server topologies</vt:lpstr>
      <vt:lpstr>Three-Tier Client–Server Architecture</vt:lpstr>
      <vt:lpstr>PowerPoint Presentation</vt:lpstr>
      <vt:lpstr>PowerPoint Presentation</vt:lpstr>
      <vt:lpstr>Three-Tier Client–Server Architecture</vt:lpstr>
      <vt:lpstr>How It Works</vt:lpstr>
      <vt:lpstr>Why It Was Needed </vt:lpstr>
      <vt:lpstr>Advantages over Two-Tier</vt:lpstr>
      <vt:lpstr>Example</vt:lpstr>
      <vt:lpstr>N-Tier Architectures</vt:lpstr>
      <vt:lpstr>PowerPoint Presentation</vt:lpstr>
      <vt:lpstr>PowerPoint Presentation</vt:lpstr>
      <vt:lpstr>Typical N-Tier Example in Web Systems </vt:lpstr>
      <vt:lpstr>Three-Schema Architecture</vt:lpstr>
      <vt:lpstr>Three-Schema Architecture</vt:lpstr>
      <vt:lpstr>Internal Level (Physical Storage Schema)</vt:lpstr>
      <vt:lpstr>Example</vt:lpstr>
      <vt:lpstr>2. Conceptual Level (Community Schema)</vt:lpstr>
      <vt:lpstr>3. External Level (User Views)</vt:lpstr>
      <vt:lpstr>Data Independence in the Three-Schema Architecture</vt:lpstr>
      <vt:lpstr>Logical Data Independence </vt:lpstr>
      <vt:lpstr>Example</vt:lpstr>
      <vt:lpstr>Physical Data Independence 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Yasir Aziz</dc:creator>
  <cp:lastModifiedBy>Arfan Ahmed Naich</cp:lastModifiedBy>
  <cp:revision>35</cp:revision>
  <dcterms:created xsi:type="dcterms:W3CDTF">2025-09-16T05:06:27Z</dcterms:created>
  <dcterms:modified xsi:type="dcterms:W3CDTF">2026-08-27T18:43:39Z</dcterms:modified>
</cp:coreProperties>
</file>