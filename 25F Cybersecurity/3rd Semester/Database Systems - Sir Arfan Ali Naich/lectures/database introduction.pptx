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2" r:id="rId3"/>
    <p:sldId id="310" r:id="rId4"/>
    <p:sldId id="311" r:id="rId5"/>
    <p:sldId id="313" r:id="rId6"/>
    <p:sldId id="257" r:id="rId7"/>
    <p:sldId id="258" r:id="rId8"/>
    <p:sldId id="325" r:id="rId9"/>
    <p:sldId id="259" r:id="rId10"/>
    <p:sldId id="309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320" r:id="rId20"/>
    <p:sldId id="296" r:id="rId21"/>
    <p:sldId id="303" r:id="rId22"/>
    <p:sldId id="294" r:id="rId23"/>
    <p:sldId id="295" r:id="rId24"/>
    <p:sldId id="297" r:id="rId25"/>
    <p:sldId id="305" r:id="rId26"/>
    <p:sldId id="306" r:id="rId27"/>
    <p:sldId id="308" r:id="rId28"/>
    <p:sldId id="304" r:id="rId29"/>
    <p:sldId id="316" r:id="rId30"/>
    <p:sldId id="321" r:id="rId31"/>
    <p:sldId id="317" r:id="rId32"/>
    <p:sldId id="319" r:id="rId33"/>
    <p:sldId id="301" r:id="rId34"/>
    <p:sldId id="322" r:id="rId35"/>
    <p:sldId id="302" r:id="rId36"/>
    <p:sldId id="323" r:id="rId37"/>
    <p:sldId id="314" r:id="rId38"/>
    <p:sldId id="315" r:id="rId39"/>
    <p:sldId id="270" r:id="rId40"/>
    <p:sldId id="271" r:id="rId41"/>
    <p:sldId id="324" r:id="rId42"/>
    <p:sldId id="273" r:id="rId43"/>
    <p:sldId id="274" r:id="rId44"/>
    <p:sldId id="275" r:id="rId45"/>
    <p:sldId id="276" r:id="rId46"/>
    <p:sldId id="277" r:id="rId47"/>
    <p:sldId id="279" r:id="rId48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  <p:sldId id="288" r:id="rId57"/>
    <p:sldId id="289" r:id="rId58"/>
    <p:sldId id="290" r:id="rId59"/>
    <p:sldId id="291" r:id="rId60"/>
    <p:sldId id="292" r:id="rId61"/>
    <p:sldId id="293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8F95-5144-F72A-D343-CDB41EA95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C1854-808A-3E98-3474-8D54C7B2A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FC34D-F0B6-5EBA-1A51-724DB926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22FC9-1F6F-DF54-AAA5-836AF691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537D7-B351-C53D-B43A-25945565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5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6E35-46BF-09A4-F6FB-C490CE1F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72D46-BD7F-C55B-0CEC-7741EC4B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6A58-EA85-B37F-F785-CEF2413AB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82F98-CEDD-4FDC-ABBF-0566CC80E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F2B6D-C0C6-75C1-5396-4DA542D0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101D-56C9-D27C-A2E2-6CC6555C0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4F9A0-54E1-9739-63DE-12961E4EA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71A9C-94BB-F3A0-081B-6CADA251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57008-D0D7-B00B-6CCA-E583F49F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8AF86-E6FF-6E13-0BFE-B1787DCE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8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40FA-FC9A-2020-61DB-97AE0E90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4EC7-D7C6-DFE9-E813-40B48E4E3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7BD28-F9DB-B87B-E58D-203E4F264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47D8-E8A6-FE74-2426-8BFE6418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0E01E-9D92-FD0B-D101-2B89BBC6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875B2-7453-F3BF-4025-12B24E2D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3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300F-D1BB-AE09-BE08-87F1A4B4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97AA4-38A9-8640-C97B-340AAD97D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F038-3D15-63FC-25D4-393ADA784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44B2D4-B281-4EF4-F93C-B0C42678F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A4612B-CB95-E92D-4F98-D31B40010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8C890-B2CA-49B5-E283-501A070F6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2F72E-0FE7-BD1B-7CDE-A2603CB6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5F64F-95AA-B80C-2721-B7693543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2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ED22-B7B0-9285-2676-5B31F6B7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5CC00-0C59-9C0A-21CA-F226DE44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FEB95-A9F4-B1E6-41C3-A7E8F078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8C329-7D9D-0DC4-F5D9-8D1D1C04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7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E9C5C-E9C5-22E3-A6B7-E369858F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31770-91C5-81DF-66FB-174678CA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FAA5-1D57-E96A-B48F-F4BB9018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7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E1CC-55FC-B79C-DF29-74DF5AB9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C9FE-224A-DE92-3D4B-511A8B5B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0AF62-5544-667C-63D4-D2A8351FF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BB5F1-09C5-9C1D-56FF-5ACAA3C6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F39B9-F432-A196-E18E-F54D4061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DB28E-B226-7D8E-8F1D-7C4F89E9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0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A0F3-B3EA-A25E-3F38-7F1D4A3A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08ACF-4990-56CA-9BC5-640DB2E1D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3C71A-AF46-8EB1-EDD9-65AC5A703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3F305-4935-D7C9-6AC9-0C5F7F99D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AA9F8-1D05-97AA-83D4-7219DF83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E01E-927F-94EC-32FB-8CF6403B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7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4D15-77CE-3F3E-315B-0FDCA91F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73FAC-910E-8B48-8DA2-A59BB2E0E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C9E0-421A-EAD5-B313-4AC7E612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3AFE8-5DF2-3B67-08F3-B439916F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2813F-64EA-10A6-6D70-CCC76053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04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FB8F25-D229-830F-0DA5-A4CFF8215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FD344-EFDE-4C7B-21FF-653095D93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ABE3A-0FFA-4045-681B-21D776D06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4252-B532-EB4E-3D29-BA253D98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E4E37-D713-55BC-A2ED-F5879247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63CE4-37A9-4919-3EA5-7987FBBB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685EC-465A-5EB0-8A34-300648BB7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D1DC7-D692-D4FA-BD97-172F93DB6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4893E-149A-4936-91B1-FE7E3645C72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BBEFA-97DC-710A-574F-C50FD3B16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70738-2D38-C96C-7E92-7D07DFCFF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79E20-7861-41B4-A20E-0F47DEC6E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3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E1A4-F3CF-1F5C-2074-308AF0F85A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B03CB-14E3-1F70-AB76-34E09C093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12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7798-A3EB-8445-EADD-BEB9EC96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of this course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E46E1E-16D3-F9CE-3ECB-CD22740E0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of this course to provide a foundation in database concepts, models, and architecture, enabling students to understand the structure and functionality of database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6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C22A-E760-9B76-D598-AA67C556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4B4AE1-28D2-7549-EA9E-A5AB68ACB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826" y="1690688"/>
            <a:ext cx="9085006" cy="372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4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921E-6AAE-B91C-B323-531EE63F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3596E4-1FF2-24CD-86D0-673653748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Concepts of Database Management, Starks, Lisa Friedrichsen, Lisa Ruffolo, Ellen Monk, Cengage Learning, Latest Edition.</a:t>
            </a:r>
          </a:p>
          <a:p>
            <a:r>
              <a:rPr lang="en-US" dirty="0"/>
              <a:t>2. Database Management Systems, Raghu Ramakrishnan and Johannes Gehrke, </a:t>
            </a:r>
            <a:r>
              <a:rPr lang="en-US" dirty="0" err="1"/>
              <a:t>McGrawHill</a:t>
            </a:r>
            <a:r>
              <a:rPr lang="en-US" dirty="0"/>
              <a:t>, Latest Edition. </a:t>
            </a:r>
          </a:p>
          <a:p>
            <a:r>
              <a:rPr lang="en-US" dirty="0"/>
              <a:t>3. Database System Concepts, Avi Silberschatz, Henry F. Korth, and S. Sudarshan, </a:t>
            </a:r>
            <a:r>
              <a:rPr lang="en-US" dirty="0" err="1"/>
              <a:t>McGrawHill</a:t>
            </a:r>
            <a:r>
              <a:rPr lang="en-US" dirty="0"/>
              <a:t>, Latest Edition.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94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76B-F7FF-4A4E-9EC7-32E0BDB9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2830B-85EA-ECFA-0023-2936FA41F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Sessional</a:t>
            </a:r>
          </a:p>
          <a:p>
            <a:r>
              <a:rPr lang="en-US" dirty="0"/>
              <a:t>(Assignment/ Quiz + Presentation)=10+10=20</a:t>
            </a:r>
          </a:p>
          <a:p>
            <a:r>
              <a:rPr lang="en-US" b="1" dirty="0"/>
              <a:t>Midterm</a:t>
            </a:r>
          </a:p>
          <a:p>
            <a:r>
              <a:rPr lang="en-US" dirty="0"/>
              <a:t>30 Marks</a:t>
            </a:r>
          </a:p>
          <a:p>
            <a:r>
              <a:rPr lang="en-US" b="1" dirty="0"/>
              <a:t>Final</a:t>
            </a:r>
          </a:p>
          <a:p>
            <a:r>
              <a:rPr lang="en-US" dirty="0"/>
              <a:t>50 Marks</a:t>
            </a:r>
          </a:p>
        </p:txBody>
      </p:sp>
    </p:spTree>
    <p:extLst>
      <p:ext uri="{BB962C8B-B14F-4D97-AF65-F5344CB8AC3E}">
        <p14:creationId xmlns:p14="http://schemas.microsoft.com/office/powerpoint/2010/main" val="2895889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DAC8-CF3F-8AAE-ACBC-CDD1FEF3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B716F-2EFB-954A-249C-60D752042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Raw facts and figures that have no meaning on their own.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Numbers. 42, 105, 2023-10-27</a:t>
            </a:r>
          </a:p>
          <a:p>
            <a:r>
              <a:rPr lang="en-US" dirty="0"/>
              <a:t>Words: Red, Green</a:t>
            </a:r>
          </a:p>
          <a:p>
            <a:r>
              <a:rPr lang="en-US" dirty="0"/>
              <a:t>symbol. #,&amp;,@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96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1F55-3F09-A7E5-74DF-9921E342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62861-A8A9-E915-7D1C-1F82CD5B0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 </a:t>
            </a:r>
            <a:r>
              <a:rPr lang="en-US" dirty="0"/>
              <a:t>Processed or organized data that is meaningful and useful for decision-making.</a:t>
            </a:r>
          </a:p>
          <a:p>
            <a:r>
              <a:rPr lang="en-US" dirty="0"/>
              <a:t>Example.</a:t>
            </a:r>
          </a:p>
          <a:p>
            <a:r>
              <a:rPr lang="en-US" dirty="0"/>
              <a:t>42, 105, 2023-10-27</a:t>
            </a:r>
          </a:p>
          <a:p>
            <a:r>
              <a:rPr lang="en-US" dirty="0"/>
              <a:t>"42 units of Product #105 were sold on October 27, 2023.“</a:t>
            </a:r>
          </a:p>
          <a:p>
            <a:r>
              <a:rPr lang="en-US" dirty="0"/>
              <a:t>"Red light means Stop.“</a:t>
            </a:r>
          </a:p>
          <a:p>
            <a:r>
              <a:rPr lang="en-US" dirty="0"/>
              <a:t>"The average score of the class is 70.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15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3B04-E552-601F-E86C-012ACD8D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D370-DEB3-DF79-3B35-05CF2C57F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Definition: </a:t>
            </a:r>
            <a:r>
              <a:rPr lang="en-US" dirty="0"/>
              <a:t>A database is an organized collection of related data that can be easily stored, searched, retrieved, and updated.</a:t>
            </a:r>
          </a:p>
          <a:p>
            <a:pPr lvl="0"/>
            <a:r>
              <a:rPr lang="en-US" b="1" dirty="0"/>
              <a:t>Organized collection</a:t>
            </a:r>
            <a:r>
              <a:rPr lang="en-US" dirty="0"/>
              <a:t> → Data is arranged properly. </a:t>
            </a:r>
          </a:p>
          <a:p>
            <a:pPr lvl="0"/>
            <a:r>
              <a:rPr lang="en-US" b="1" dirty="0"/>
              <a:t>Related data</a:t>
            </a:r>
            <a:r>
              <a:rPr lang="en-US" dirty="0"/>
              <a:t> → The data is connected to a particular subject or purpose. </a:t>
            </a:r>
          </a:p>
          <a:p>
            <a:pPr lvl="0"/>
            <a:r>
              <a:rPr lang="en-US" b="1" dirty="0"/>
              <a:t>Stored</a:t>
            </a:r>
            <a:r>
              <a:rPr lang="en-US" dirty="0"/>
              <a:t> → Data is saved for future use. </a:t>
            </a:r>
          </a:p>
          <a:p>
            <a:pPr lvl="0"/>
            <a:r>
              <a:rPr lang="en-US" b="1" dirty="0"/>
              <a:t>Retrieved</a:t>
            </a:r>
            <a:r>
              <a:rPr lang="en-US" dirty="0"/>
              <a:t> → We can find and access the required data. </a:t>
            </a:r>
          </a:p>
          <a:p>
            <a:pPr lvl="0"/>
            <a:r>
              <a:rPr lang="en-US" b="1" dirty="0"/>
              <a:t>Updated</a:t>
            </a:r>
            <a:r>
              <a:rPr lang="en-US" dirty="0"/>
              <a:t> → We can add, change, or delete data. </a:t>
            </a:r>
          </a:p>
          <a:p>
            <a:r>
              <a:rPr lang="en-US" b="1" dirty="0"/>
              <a:t>Example:</a:t>
            </a:r>
            <a:r>
              <a:rPr lang="en-US" dirty="0"/>
              <a:t> A university database stores students' names, roll numbers, departments, courses, and marks in an organized way.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683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4D4C-E7DB-8748-30FD-06158FF2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097CA-B518-940D-F113-A9F9036D2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Nature</a:t>
            </a:r>
            <a:r>
              <a:rPr lang="en-US" dirty="0"/>
              <a:t>: Data is structured in tables, records, or documents, usually managed by a DBMS (Database Management System).</a:t>
            </a:r>
          </a:p>
          <a:p>
            <a:r>
              <a:rPr lang="en-US" b="1" dirty="0"/>
              <a:t>Key Point</a:t>
            </a:r>
            <a:r>
              <a:rPr lang="en-US" dirty="0"/>
              <a:t>: Database = Systematic storage of data to generate information.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Names, telephone numbers, and addresses of your friends.</a:t>
            </a:r>
          </a:p>
          <a:p>
            <a:r>
              <a:rPr lang="en-US" dirty="0"/>
              <a:t>Each piece of information (name, phone, address) is related</a:t>
            </a:r>
            <a:r>
              <a:rPr lang="en-US" b="1" dirty="0"/>
              <a:t> </a:t>
            </a:r>
            <a:r>
              <a:rPr lang="en-US" dirty="0"/>
              <a:t>because it describes the same person.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67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9CBD-ED79-4CD3-8163-FF818DC7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898A-5B32-5A34-EB40-7B6E20AD5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r>
              <a:rPr lang="en-US" b="1" dirty="0"/>
              <a:t>Library Database</a:t>
            </a:r>
            <a:r>
              <a:rPr lang="en-US" dirty="0"/>
              <a:t>: Stores books, authors, members, and issue records.</a:t>
            </a:r>
          </a:p>
          <a:p>
            <a:r>
              <a:rPr lang="en-US" b="1" dirty="0"/>
              <a:t>Bank Database</a:t>
            </a:r>
            <a:r>
              <a:rPr lang="en-US" dirty="0"/>
              <a:t>: Stores customer details, account balances, and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83604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919E-98BE-AB60-A351-C5351670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Databases Exist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CA0B-D6DA-733A-7FFD-A18C8C1D1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Where Databases Exist</a:t>
            </a:r>
          </a:p>
          <a:p>
            <a:r>
              <a:rPr lang="en-US" dirty="0"/>
              <a:t>Mobile phones → contacts app stores names &amp; numbers.</a:t>
            </a:r>
          </a:p>
          <a:p>
            <a:r>
              <a:rPr lang="en-US" dirty="0"/>
              <a:t>Computer → MS Access, Excel, or other software can store the same info digitally.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870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AB5D-A824-C0BA-9AE5-93596048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Database Comes from a Real Source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D47D-D1E7-D851-441A-6FAEB34F9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Database Comes from a Real Source</a:t>
            </a:r>
          </a:p>
          <a:p>
            <a:r>
              <a:rPr lang="en-US" dirty="0"/>
              <a:t>Every database is built from some real-world source of data.</a:t>
            </a:r>
          </a:p>
          <a:p>
            <a:r>
              <a:rPr lang="en-US" dirty="0"/>
              <a:t>It reflects events and changes that happen in real life.</a:t>
            </a:r>
          </a:p>
          <a:p>
            <a:r>
              <a:rPr lang="en-US" dirty="0"/>
              <a:t> Example:</a:t>
            </a:r>
          </a:p>
          <a:p>
            <a:pPr lvl="0"/>
            <a:r>
              <a:rPr lang="en-US" dirty="0"/>
              <a:t>In a company’s HR database, if an employee is promoted, their job title, department, and salary information may be updated. </a:t>
            </a:r>
          </a:p>
          <a:p>
            <a:pPr lvl="0"/>
            <a:r>
              <a:rPr lang="en-US" dirty="0"/>
              <a:t>In a store database, if a customer buys a camera, the inventory count decreases automatically.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86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3999-1386-3F33-A70D-5B851FED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Must Stay Updated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B74AE-93FC-1FA9-DD5F-FD87B35F1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database to be accurate and reliable, it must always reflect the current state of the real world.</a:t>
            </a:r>
          </a:p>
          <a:p>
            <a:r>
              <a:rPr lang="en-US" dirty="0"/>
              <a:t>Any change must quickly update the database.</a:t>
            </a:r>
          </a:p>
          <a:p>
            <a:r>
              <a:rPr lang="en-US" dirty="0"/>
              <a:t> Example:</a:t>
            </a:r>
          </a:p>
          <a:p>
            <a:r>
              <a:rPr lang="en-US" dirty="0"/>
              <a:t>If Amazon sells 10 laptops today, its database must immediately reduce the stock count by 10.</a:t>
            </a:r>
          </a:p>
          <a:p>
            <a:r>
              <a:rPr lang="en-US" dirty="0"/>
              <a:t>If it doesn’t, customers might order laptops that are already out of stock.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77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9110-AAE5-6198-FAF9-A746BCD7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Databases Can Be Small or Huge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E0C4A-6A7C-D5F2-090E-32B8A9112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Small database</a:t>
            </a:r>
            <a:r>
              <a:rPr lang="en-US" dirty="0"/>
              <a:t>: An address book with only a few hundred names and phone numbers.</a:t>
            </a:r>
          </a:p>
          <a:p>
            <a:r>
              <a:rPr lang="en-US" b="1" dirty="0"/>
              <a:t>Medium database</a:t>
            </a:r>
            <a:r>
              <a:rPr lang="en-US" dirty="0"/>
              <a:t>: A library catalog with hundreds of thousands of books organized by title, author, or subject.</a:t>
            </a:r>
          </a:p>
          <a:p>
            <a:r>
              <a:rPr lang="en-US" b="1" dirty="0"/>
              <a:t>Huge database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Facebook’s database, which stores details of over a billion users, their posts, friendships, and privacy settings.</a:t>
            </a:r>
          </a:p>
          <a:p>
            <a:pPr lvl="1"/>
            <a:r>
              <a:rPr lang="en-US" dirty="0"/>
              <a:t>Amazon’s database, with 60+ million users and millions of products (42 terabytes of data stored on many servers).</a:t>
            </a:r>
          </a:p>
        </p:txBody>
      </p:sp>
    </p:spTree>
    <p:extLst>
      <p:ext uri="{BB962C8B-B14F-4D97-AF65-F5344CB8AC3E}">
        <p14:creationId xmlns:p14="http://schemas.microsoft.com/office/powerpoint/2010/main" val="971669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F884-EDD0-3CCE-DF27-2E6CAAE3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Databases Can Be Manual or Computerized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8BDC7-B267-AD35-1205-975D7DE8D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Databases Can Be Manual or Computerized</a:t>
            </a:r>
          </a:p>
          <a:p>
            <a:r>
              <a:rPr lang="en-US" b="1" dirty="0"/>
              <a:t>Manual database</a:t>
            </a:r>
            <a:r>
              <a:rPr lang="en-US" dirty="0"/>
              <a:t>: A library’s card catalog system (drawers with cards showing book details).</a:t>
            </a:r>
          </a:p>
          <a:p>
            <a:r>
              <a:rPr lang="en-US" b="1" dirty="0"/>
              <a:t>Computerized database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Maintained by application programs (custom-built software).</a:t>
            </a:r>
          </a:p>
          <a:p>
            <a:pPr lvl="1"/>
            <a:r>
              <a:rPr lang="en-US" dirty="0"/>
              <a:t>Or maintained by a Database Management System (DBMS) like Oracle, MySQL, SQL Server,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53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9F89-5EF2-1780-8D2E-E8CF3D47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Database Mirrors the Real World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59D94-9DF3-2E0C-2F32-7ACC50D21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database comes from some real-world source.</a:t>
            </a:r>
          </a:p>
          <a:p>
            <a:r>
              <a:rPr lang="en-US" dirty="0"/>
              <a:t>It’s not static: whenever something changes in reality, the database should also change.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i="1" dirty="0"/>
              <a:t>Example:</a:t>
            </a:r>
            <a:endParaRPr lang="en-US" dirty="0"/>
          </a:p>
          <a:p>
            <a:r>
              <a:rPr lang="en-US" dirty="0"/>
              <a:t>If a customer buys a camera, the sales database must record the purchase and reduce the stock.</a:t>
            </a:r>
          </a:p>
        </p:txBody>
      </p:sp>
    </p:spTree>
    <p:extLst>
      <p:ext uri="{BB962C8B-B14F-4D97-AF65-F5344CB8AC3E}">
        <p14:creationId xmlns:p14="http://schemas.microsoft.com/office/powerpoint/2010/main" val="496040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CAC9-6206-6518-1504-7F7DA71B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Accuracy and Reliability Require Updates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62C72-9E1E-5434-C4C1-ABBEDA3EE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database should always contain the latest information. </a:t>
            </a:r>
          </a:p>
          <a:p>
            <a:pPr lvl="0"/>
            <a:r>
              <a:rPr lang="en-US" dirty="0"/>
              <a:t>If the information is not updated on time, it may become incorrect or confusing.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Example:</a:t>
            </a:r>
            <a:br>
              <a:rPr lang="en-US" dirty="0"/>
            </a:br>
            <a:r>
              <a:rPr lang="en-US" dirty="0"/>
              <a:t>Amazon must instantly update product availability; otherwise, people could order items that are already sold out.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49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4F76-53EC-081E-C52B-060E4FA0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DBMS?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4F33-5C61-8646-ABB6-A3CE1E9C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Database Management System (DBMS) is software that helps users create, use, and manage databases.</a:t>
            </a:r>
          </a:p>
          <a:p>
            <a:r>
              <a:rPr lang="en-US" dirty="0"/>
              <a:t>It’s not a database itself, but the tool that manages the database.</a:t>
            </a:r>
          </a:p>
          <a:p>
            <a:r>
              <a:rPr lang="en-US" dirty="0"/>
              <a:t> Examples: Oracle, MySQL, Microsoft SQL Server, PostgreSQL, MongoDB.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43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A388-0338-0E6B-4FB9-C5E2CDF6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B9CE-3EF1-58A8-568C-C0BDFE1E0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Database System = Database + DBMS</a:t>
            </a:r>
          </a:p>
          <a:p>
            <a:r>
              <a:rPr lang="en-US" dirty="0"/>
              <a:t>The term database system means:</a:t>
            </a:r>
          </a:p>
          <a:p>
            <a:pPr lvl="1"/>
            <a:r>
              <a:rPr lang="en-US" dirty="0"/>
              <a:t>The database (the data itself).</a:t>
            </a:r>
          </a:p>
          <a:p>
            <a:pPr lvl="1"/>
            <a:r>
              <a:rPr lang="en-US" dirty="0"/>
              <a:t>The DBMS software (the manager of that data).</a:t>
            </a:r>
          </a:p>
          <a:p>
            <a:r>
              <a:rPr lang="en-US" dirty="0"/>
              <a:t> Analogy:</a:t>
            </a:r>
          </a:p>
          <a:p>
            <a:r>
              <a:rPr lang="en-US" b="1" dirty="0"/>
              <a:t>Database</a:t>
            </a:r>
            <a:r>
              <a:rPr lang="en-US" dirty="0"/>
              <a:t> = The library’s collection of books.</a:t>
            </a:r>
          </a:p>
          <a:p>
            <a:r>
              <a:rPr lang="en-US" b="1" dirty="0"/>
              <a:t>DBMS</a:t>
            </a:r>
            <a:r>
              <a:rPr lang="en-US" dirty="0"/>
              <a:t> = The librarian who organizes, secures, and helps retrieve books.</a:t>
            </a:r>
          </a:p>
          <a:p>
            <a:r>
              <a:rPr lang="en-US" b="1" dirty="0"/>
              <a:t>Database System</a:t>
            </a:r>
            <a:r>
              <a:rPr lang="en-US" dirty="0"/>
              <a:t> = The library + the librarian together.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61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A77E-90FB-956F-5DC2-9D67C9DC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system Environment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F070E6-552C-DE74-8855-432C6445B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7006" y="2010569"/>
            <a:ext cx="84508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69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4734-7C51-9EB2-8329-3E14A937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Metadata?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4CB1D-4DC1-EEA7-C66B-8CB13F3E7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Meta</a:t>
            </a:r>
            <a:r>
              <a:rPr lang="en-US" dirty="0"/>
              <a:t> = “about”</a:t>
            </a:r>
          </a:p>
          <a:p>
            <a:r>
              <a:rPr lang="en-US" b="1" dirty="0"/>
              <a:t>Metadata</a:t>
            </a:r>
            <a:r>
              <a:rPr lang="en-US" dirty="0"/>
              <a:t> = “data about data”</a:t>
            </a:r>
          </a:p>
          <a:p>
            <a:r>
              <a:rPr lang="en-US" dirty="0"/>
              <a:t>So, metadata is the descriptive information that tells the DBMS:</a:t>
            </a:r>
          </a:p>
          <a:p>
            <a:r>
              <a:rPr lang="en-US" b="1" dirty="0"/>
              <a:t>What data is stored?</a:t>
            </a:r>
            <a:r>
              <a:rPr lang="en-US" dirty="0"/>
              <a:t> (structure)</a:t>
            </a:r>
          </a:p>
          <a:p>
            <a:r>
              <a:rPr lang="en-US" b="1" dirty="0"/>
              <a:t>How is it stored?</a:t>
            </a:r>
            <a:r>
              <a:rPr lang="en-US" dirty="0"/>
              <a:t> (format, data type)</a:t>
            </a:r>
          </a:p>
          <a:p>
            <a:r>
              <a:rPr lang="en-US" b="1" dirty="0"/>
              <a:t>What rules apply?</a:t>
            </a:r>
            <a:r>
              <a:rPr lang="en-US" dirty="0"/>
              <a:t> (constraints)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1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8519-DB52-21F5-95EF-879E5F0D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D74DCA-9585-01BE-76DA-A5E075D15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7573" y="1920081"/>
            <a:ext cx="8568813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56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165C-F705-22D4-A248-0260C8A6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D939CC-3CCA-C3C3-1772-DF4151336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605" y="2605881"/>
            <a:ext cx="8406581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2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731A-544F-F8C9-FC30-A9F720FA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File-Based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60B7E-C46D-DF36-CBF3-83960F48D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early computing, organizations stored data in separate files.</a:t>
            </a:r>
          </a:p>
          <a:p>
            <a:r>
              <a:rPr lang="en-US" dirty="0"/>
              <a:t>Each application (payroll, admissions, library, accounting, etc.) had its own set of files and programs to manage them.</a:t>
            </a:r>
          </a:p>
          <a:p>
            <a:r>
              <a:rPr lang="en-US" dirty="0"/>
              <a:t>Example.</a:t>
            </a:r>
          </a:p>
          <a:p>
            <a:r>
              <a:rPr lang="en-US" dirty="0"/>
              <a:t>Accounting department keeps a file (student_fees.dat)</a:t>
            </a:r>
          </a:p>
          <a:p>
            <a:r>
              <a:rPr lang="en-US" dirty="0"/>
              <a:t>Examination department keeps a file (student_grades.dat)</a:t>
            </a:r>
          </a:p>
          <a:p>
            <a:r>
              <a:rPr lang="en-US" dirty="0"/>
              <a:t>Both contain overlapping student info (like name, roll number).</a:t>
            </a:r>
          </a:p>
        </p:txBody>
      </p:sp>
    </p:spTree>
    <p:extLst>
      <p:ext uri="{BB962C8B-B14F-4D97-AF65-F5344CB8AC3E}">
        <p14:creationId xmlns:p14="http://schemas.microsoft.com/office/powerpoint/2010/main" val="422549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EDE-92C7-DDF6-AAE3-131BFB5F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File-Based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8FDE4-DCF3-5639-CD48-4CB3D7F57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(a) Data Redundancy</a:t>
            </a:r>
          </a:p>
          <a:p>
            <a:r>
              <a:rPr lang="en-US" dirty="0"/>
              <a:t>Same data stored multiple times in different files.</a:t>
            </a:r>
          </a:p>
          <a:p>
            <a:r>
              <a:rPr lang="en-US" dirty="0"/>
              <a:t>Example: Student’s name and roll number stored in fees file, grade file, and hostel file.</a:t>
            </a:r>
          </a:p>
          <a:p>
            <a:r>
              <a:rPr lang="en-US" dirty="0"/>
              <a:t>Leads to wasted storage and unnecessary duplication.</a:t>
            </a:r>
          </a:p>
          <a:p>
            <a:r>
              <a:rPr lang="en-US" b="1" dirty="0"/>
              <a:t>(b) Data Inconsistency</a:t>
            </a:r>
          </a:p>
          <a:p>
            <a:r>
              <a:rPr lang="en-US" dirty="0"/>
              <a:t>Since data is stored in multiple places, updates may not be applied everywhere.</a:t>
            </a:r>
          </a:p>
          <a:p>
            <a:r>
              <a:rPr lang="en-US" dirty="0"/>
              <a:t>Example: If a student changes their major from </a:t>
            </a:r>
            <a:r>
              <a:rPr lang="en-US" i="1" dirty="0"/>
              <a:t>Math</a:t>
            </a:r>
            <a:r>
              <a:rPr lang="en-US" dirty="0"/>
              <a:t> to </a:t>
            </a:r>
            <a:r>
              <a:rPr lang="en-US" i="1" dirty="0"/>
              <a:t>CS</a:t>
            </a:r>
            <a:r>
              <a:rPr lang="en-US" dirty="0"/>
              <a:t>, the accounting file may be updated but the examination file may still show </a:t>
            </a:r>
            <a:r>
              <a:rPr lang="en-US" i="1" dirty="0"/>
              <a:t>Math</a:t>
            </a:r>
            <a:r>
              <a:rPr lang="en-US" dirty="0"/>
              <a:t>.</a:t>
            </a:r>
          </a:p>
          <a:p>
            <a:r>
              <a:rPr lang="en-US" dirty="0"/>
              <a:t>Result: conflicting or incorrect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21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F83D-3D1F-E438-169F-62A8FDC6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File-Based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EA763-D0FF-5903-AD98-B2C01669B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(c) Data Isolation</a:t>
            </a:r>
          </a:p>
          <a:p>
            <a:r>
              <a:rPr lang="en-US" dirty="0"/>
              <a:t>Data is scattered across many separate files, often in different formats.</a:t>
            </a:r>
          </a:p>
          <a:p>
            <a:r>
              <a:rPr lang="en-US" dirty="0"/>
              <a:t>Example: One file stores </a:t>
            </a:r>
            <a:r>
              <a:rPr lang="en-US" dirty="0" err="1"/>
              <a:t>StudentID</a:t>
            </a:r>
            <a:r>
              <a:rPr lang="en-US" dirty="0"/>
              <a:t> as an integer, another as a string.</a:t>
            </a:r>
          </a:p>
          <a:p>
            <a:r>
              <a:rPr lang="en-US" dirty="0"/>
              <a:t>This makes it hard to combine information (e.g., linking grades with fee payments).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22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C1A3-DFCB-820A-2892-6FC2B55B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File-Based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75E5F-88B8-CD34-F99D-249E47E18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(d) Integrity Problems</a:t>
            </a:r>
          </a:p>
          <a:p>
            <a:r>
              <a:rPr lang="en-US" dirty="0"/>
              <a:t>No centralized control means rules and constraints are hard to enforce.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Roll numbers must be unique.</a:t>
            </a:r>
          </a:p>
          <a:p>
            <a:pPr lvl="1"/>
            <a:r>
              <a:rPr lang="en-US" dirty="0"/>
              <a:t>Credit hours should be positive.</a:t>
            </a:r>
          </a:p>
          <a:p>
            <a:r>
              <a:rPr lang="en-US" dirty="0"/>
              <a:t>In file-based systems, every program must implement these checks separately → high chance of errors or violations.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1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F297-49C0-46DF-7413-EE528EB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the Database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ACB12-32E3-1932-D02D-51E801183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Database Approach:</a:t>
            </a:r>
            <a:endParaRPr lang="en-US" dirty="0"/>
          </a:p>
          <a:p>
            <a:pPr lvl="1"/>
            <a:r>
              <a:rPr lang="en-US" dirty="0"/>
              <a:t>A single database repository stores data once.</a:t>
            </a:r>
          </a:p>
          <a:p>
            <a:pPr lvl="1"/>
            <a:r>
              <a:rPr lang="en-US" dirty="0"/>
              <a:t>All users access it through the DBMS (queries, transactions, programs).</a:t>
            </a:r>
          </a:p>
          <a:p>
            <a:pPr lvl="1"/>
            <a:r>
              <a:rPr lang="en-US" dirty="0"/>
              <a:t>No unnecessary duplication, and changes update everywhere automatically.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24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4519-A077-13DA-FAC2-B38AC43F8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Self-Describing Nature of a Database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F075-8B36-5CB5-F381-4FEC0176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Database Management System (DBMS) stores the actual data as well as information that describes the data. This information is called metadata.</a:t>
            </a:r>
          </a:p>
          <a:p>
            <a:r>
              <a:rPr lang="en-US" dirty="0"/>
              <a:t>Metadata means “information about data.”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Metadata includes:</a:t>
            </a:r>
          </a:p>
          <a:p>
            <a:r>
              <a:rPr lang="en-US" b="1" dirty="0"/>
              <a:t>Table structure:</a:t>
            </a:r>
            <a:r>
              <a:rPr lang="en-US" dirty="0"/>
              <a:t> Tells us the table name, column names, and how tables are connected. 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979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8FA7-F7EA-143C-7C6E-70209BB3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1C0A-FDD1-ED9B-ECBE-1A2279E07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Data types:</a:t>
            </a:r>
            <a:r>
              <a:rPr lang="en-US" dirty="0"/>
              <a:t> Tells us what type of data can be stored, such as: </a:t>
            </a:r>
          </a:p>
          <a:p>
            <a:pPr lvl="1"/>
            <a:r>
              <a:rPr lang="en-US" b="1" dirty="0"/>
              <a:t>Integer</a:t>
            </a:r>
            <a:r>
              <a:rPr lang="en-US" dirty="0"/>
              <a:t> → whole numbers, e.g., 25 </a:t>
            </a:r>
          </a:p>
          <a:p>
            <a:pPr lvl="1"/>
            <a:r>
              <a:rPr lang="en-US" b="1" dirty="0"/>
              <a:t>String</a:t>
            </a:r>
            <a:r>
              <a:rPr lang="en-US" dirty="0"/>
              <a:t> → text, e.g., "Ali" </a:t>
            </a:r>
          </a:p>
          <a:p>
            <a:pPr lvl="1"/>
            <a:r>
              <a:rPr lang="en-US" b="1" dirty="0"/>
              <a:t>Date</a:t>
            </a:r>
            <a:r>
              <a:rPr lang="en-US" dirty="0"/>
              <a:t> → e.g., 23-08-2026 </a:t>
            </a:r>
          </a:p>
          <a:p>
            <a:pPr lvl="1"/>
            <a:r>
              <a:rPr lang="en-US" b="1" dirty="0"/>
              <a:t>Boolean</a:t>
            </a:r>
            <a:r>
              <a:rPr lang="en-US" dirty="0"/>
              <a:t> → True or False </a:t>
            </a:r>
          </a:p>
          <a:p>
            <a:pPr lvl="0"/>
            <a:r>
              <a:rPr lang="en-US" b="1" dirty="0"/>
              <a:t>Rules (Constraints):</a:t>
            </a:r>
            <a:r>
              <a:rPr lang="en-US" dirty="0"/>
              <a:t> Rules that control the data, such as: </a:t>
            </a:r>
          </a:p>
          <a:p>
            <a:pPr lvl="1"/>
            <a:r>
              <a:rPr lang="en-US" b="1" dirty="0"/>
              <a:t>Primary Key</a:t>
            </a:r>
            <a:r>
              <a:rPr lang="en-US" dirty="0"/>
              <a:t> → uniquely identifies each record. </a:t>
            </a:r>
          </a:p>
          <a:p>
            <a:pPr lvl="1"/>
            <a:r>
              <a:rPr lang="en-US" b="1" dirty="0"/>
              <a:t>Unique</a:t>
            </a:r>
            <a:r>
              <a:rPr lang="en-US" dirty="0"/>
              <a:t> → prevents duplicate values. </a:t>
            </a:r>
          </a:p>
          <a:p>
            <a:pPr lvl="1"/>
            <a:r>
              <a:rPr lang="en-US" b="1" dirty="0"/>
              <a:t>NOT NULL</a:t>
            </a:r>
            <a:r>
              <a:rPr lang="en-US" dirty="0"/>
              <a:t> → a value cannot be left empty. </a:t>
            </a:r>
          </a:p>
          <a:p>
            <a:pPr lvl="1"/>
            <a:r>
              <a:rPr lang="en-US" b="1" dirty="0"/>
              <a:t>Foreign Key</a:t>
            </a:r>
            <a:r>
              <a:rPr lang="en-US" dirty="0"/>
              <a:t> → connects one table to another.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31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BFA7-2C5D-74CE-D90F-59AF38429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Self-Describing Nature of a Database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9252E-B6B8-C54E-698E-F2B8BCFE4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If we want the Name of a student, the DBMS checks the catalog to know:</a:t>
            </a:r>
          </a:p>
          <a:p>
            <a:r>
              <a:rPr lang="en-US" dirty="0"/>
              <a:t>In which table the data exists.</a:t>
            </a:r>
          </a:p>
          <a:p>
            <a:r>
              <a:rPr lang="en-US" dirty="0"/>
              <a:t>Which column stores it.</a:t>
            </a:r>
          </a:p>
          <a:p>
            <a:r>
              <a:rPr lang="en-US" dirty="0"/>
              <a:t>What type of data it is (string, text, etc.).</a:t>
            </a:r>
          </a:p>
          <a:p>
            <a:r>
              <a:rPr lang="en-US" dirty="0"/>
              <a:t>Any rules that apply to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987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4A0A-B904-03E9-27B1-BF55C234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Insulation Between Programs and Data (Program–Data Independence)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7337B-F84F-B098-8C58-92BA1A807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 DBMS</a:t>
            </a:r>
          </a:p>
          <a:p>
            <a:r>
              <a:rPr lang="en-US" dirty="0"/>
              <a:t>Data definitions are stored centrally in the catalog (data dictionary).</a:t>
            </a:r>
          </a:p>
          <a:p>
            <a:r>
              <a:rPr lang="en-US" dirty="0"/>
              <a:t>Programs interact with data through the DBMS, not directly with file structures.</a:t>
            </a:r>
          </a:p>
          <a:p>
            <a:r>
              <a:rPr lang="en-US" dirty="0"/>
              <a:t>If you add a new field (like birth date in STUDENT), you only update the catalog; the existing programs don’t break.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667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3282-DE90-D881-02FF-47E7AE88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Support of Multiple Views of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3C16B-429B-EF52-6BE5-115A1585C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Different people use the same database for different purposes. They do not need to see all the information.</a:t>
            </a:r>
          </a:p>
          <a:p>
            <a:r>
              <a:rPr lang="en-US" dirty="0"/>
              <a:t>DBMS allows creation of views (subsets or derived data).</a:t>
            </a:r>
          </a:p>
          <a:p>
            <a:r>
              <a:rPr lang="en-US" dirty="0"/>
              <a:t>A view is a customized way of showing only the information a particular user needs.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Suppose a university database contains:</a:t>
            </a:r>
          </a:p>
          <a:p>
            <a:r>
              <a:rPr lang="en-US" dirty="0"/>
              <a:t>Student Name | Roll No. | Course | Grade | Fees | Address | Phone Number</a:t>
            </a:r>
          </a:p>
          <a:p>
            <a:pPr lvl="0"/>
            <a:r>
              <a:rPr lang="en-US" b="1" dirty="0"/>
              <a:t>Registrar:</a:t>
            </a:r>
            <a:r>
              <a:rPr lang="en-US" dirty="0"/>
              <a:t> May need a Transcript View showing: </a:t>
            </a:r>
          </a:p>
          <a:p>
            <a:pPr lvl="1"/>
            <a:r>
              <a:rPr lang="en-US" dirty="0"/>
              <a:t>Student Name , fees.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69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562D3-E8F1-60FE-2B09-0EBD56BC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19FBC-C9BF-657E-B40E-F192886D5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Course Coordinator:</a:t>
            </a:r>
            <a:r>
              <a:rPr lang="en-US" dirty="0"/>
              <a:t> May need a Prerequisites View showing: </a:t>
            </a:r>
          </a:p>
          <a:p>
            <a:pPr lvl="1"/>
            <a:r>
              <a:rPr lang="en-US" dirty="0"/>
              <a:t>Course Name </a:t>
            </a:r>
          </a:p>
          <a:p>
            <a:pPr lvl="1"/>
            <a:r>
              <a:rPr lang="en-US" dirty="0"/>
              <a:t>Prerequisite Course </a:t>
            </a:r>
          </a:p>
          <a:p>
            <a:r>
              <a:rPr lang="en-US" dirty="0"/>
              <a:t>The registrar does not need to see fees or phone numbers, and the course coordinator does not need all student details.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54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0CD1-CA6E-253A-5E5D-B8DE7DBA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4. Sharing of Data and Multiuser Transaction Processing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3B45-59EA-10CE-206F-5A83E803B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DBMS allows many users to use the same database at the same time.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an airline reservation system, many people may try to book seats at the same time. The DBMS makes sure that two people cannot book the same seat.</a:t>
            </a:r>
          </a:p>
          <a:p>
            <a:r>
              <a:rPr lang="en-US" b="1" dirty="0"/>
              <a:t>What does the DBMS do?</a:t>
            </a:r>
          </a:p>
          <a:p>
            <a:pPr lvl="0"/>
            <a:r>
              <a:rPr lang="en-US" b="1" dirty="0"/>
              <a:t>Concurrency Control:</a:t>
            </a:r>
            <a:br>
              <a:rPr lang="en-US" dirty="0"/>
            </a:br>
            <a:r>
              <a:rPr lang="en-US" dirty="0"/>
              <a:t>It manages multiple users so that their actions do not conflict with each other.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If two agents try to book Seat 15 at the same time, only one should be able to book it.</a:t>
            </a:r>
          </a:p>
        </p:txBody>
      </p:sp>
    </p:spTree>
    <p:extLst>
      <p:ext uri="{BB962C8B-B14F-4D97-AF65-F5344CB8AC3E}">
        <p14:creationId xmlns:p14="http://schemas.microsoft.com/office/powerpoint/2010/main" val="2123262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B715-0FB6-0E08-1792-B536B8B2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08D19-C706-FDB0-AD34-C5132FB55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Transaction Properties</a:t>
            </a:r>
          </a:p>
          <a:p>
            <a:r>
              <a:rPr lang="en-US" dirty="0"/>
              <a:t>A transaction is a group of related operations that should be completed as one unit.</a:t>
            </a:r>
          </a:p>
          <a:p>
            <a:pPr lvl="0"/>
            <a:r>
              <a:rPr lang="en-US" b="1" dirty="0"/>
              <a:t>Atomicity:</a:t>
            </a:r>
            <a:br>
              <a:rPr lang="en-US" dirty="0"/>
            </a:br>
            <a:r>
              <a:rPr lang="en-US" dirty="0"/>
              <a:t>Either all operations are completed, or none are completed.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When transferring money, money should be deducted from one account and added to the other. If something goes wrong, the whole transaction is cancelled. </a:t>
            </a:r>
          </a:p>
          <a:p>
            <a:pPr lvl="0"/>
            <a:r>
              <a:rPr lang="en-US" b="1" dirty="0"/>
              <a:t>Isolation:</a:t>
            </a:r>
          </a:p>
          <a:p>
            <a:pPr lvl="0"/>
            <a:r>
              <a:rPr lang="en-US" dirty="0"/>
              <a:t>The DBMS keeps the transactions isolated until the changes are properly completed.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If two people are making transactions at the same time, one transaction should not see incomplete changes from the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018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5F44-D2D8-F098-9944-BB5FC2CE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Sharing of Data and Multiuser Transaction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548A-E9B1-F136-43F6-13AE9EBF2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Consistency</a:t>
            </a:r>
          </a:p>
          <a:p>
            <a:r>
              <a:rPr lang="en-US" dirty="0"/>
              <a:t>Consistency means that the database must remain correct and follow all its rules before and after a transaction.</a:t>
            </a:r>
          </a:p>
          <a:p>
            <a:pPr lvl="0"/>
            <a:r>
              <a:rPr lang="en-US" dirty="0"/>
              <a:t>A transaction should not leave the database in an incorrect or invalid state. </a:t>
            </a:r>
          </a:p>
          <a:p>
            <a:pPr lvl="0"/>
            <a:r>
              <a:rPr lang="en-US" dirty="0"/>
              <a:t>All database rules and relationships must remain valid. </a:t>
            </a:r>
          </a:p>
          <a:p>
            <a:pPr lvl="0"/>
            <a:r>
              <a:rPr lang="en-US" dirty="0"/>
              <a:t>If a transaction breaks a rule, the DBMS rejects or cancels it.</a:t>
            </a:r>
          </a:p>
          <a:p>
            <a:pPr lvl="0"/>
            <a:r>
              <a:rPr lang="en-US" sz="2400" b="1" dirty="0"/>
              <a:t>Example. </a:t>
            </a:r>
            <a:r>
              <a:rPr lang="en-US" sz="2400" dirty="0"/>
              <a:t>If you transfer $500 from Account A to Account B, the total balance should remain the same before and after the transaction.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77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5361-B91D-7445-2258-C1A42F58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Sharing of Data and Multiuser Transaction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2C28-BB63-BEAD-58A2-35A266A8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Durability</a:t>
            </a:r>
          </a:p>
          <a:p>
            <a:r>
              <a:rPr lang="en-US" dirty="0"/>
              <a:t>Ensures that once a transaction is committed, its results are permanent.</a:t>
            </a:r>
          </a:p>
          <a:p>
            <a:r>
              <a:rPr lang="en-US" dirty="0"/>
              <a:t>Even if there is a power failure, crash, or system restart, the committed data must not be lost.</a:t>
            </a:r>
          </a:p>
          <a:p>
            <a:r>
              <a:rPr lang="en-US" dirty="0"/>
              <a:t>DBMS achieves this using logs, backups, and recovery mechanisms.</a:t>
            </a:r>
          </a:p>
          <a:p>
            <a:r>
              <a:rPr lang="en-US" dirty="0"/>
              <a:t>Example. If money is transferred and the bank confirms it, the transaction is guaranteed—it will not be rolled back, even if the system fails right after.</a:t>
            </a:r>
          </a:p>
        </p:txBody>
      </p:sp>
    </p:spTree>
    <p:extLst>
      <p:ext uri="{BB962C8B-B14F-4D97-AF65-F5344CB8AC3E}">
        <p14:creationId xmlns:p14="http://schemas.microsoft.com/office/powerpoint/2010/main" val="1999739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DBC3-9633-6788-68B9-E39C7EF1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Functions of a DBMS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57D61-41B0-A531-760E-130A2D266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DBMS performs four core functions:</a:t>
            </a:r>
          </a:p>
          <a:p>
            <a:r>
              <a:rPr lang="en-US" b="1" dirty="0"/>
              <a:t>(a) Defining a Database</a:t>
            </a:r>
          </a:p>
          <a:p>
            <a:r>
              <a:rPr lang="en-US" dirty="0"/>
              <a:t>Decide what data will be stored, what structure it will have, and what rules (constraints) apply.</a:t>
            </a:r>
          </a:p>
          <a:p>
            <a:r>
              <a:rPr lang="en-US" dirty="0"/>
              <a:t>This description is stored in a special place called the database catalog (or data dictionary).</a:t>
            </a:r>
          </a:p>
          <a:p>
            <a:r>
              <a:rPr lang="en-US" dirty="0"/>
              <a:t>This descriptive information is called metadata (data about data).</a:t>
            </a:r>
          </a:p>
          <a:p>
            <a:r>
              <a:rPr lang="en-US" dirty="0"/>
              <a:t> Example:</a:t>
            </a:r>
          </a:p>
          <a:p>
            <a:r>
              <a:rPr lang="en-US" dirty="0"/>
              <a:t>In a university DB:</a:t>
            </a:r>
          </a:p>
          <a:p>
            <a:pPr lvl="1"/>
            <a:r>
              <a:rPr lang="en-US" dirty="0"/>
              <a:t>A student ID must be a number.</a:t>
            </a:r>
          </a:p>
          <a:p>
            <a:pPr lvl="1"/>
            <a:r>
              <a:rPr lang="en-US" dirty="0"/>
              <a:t>A grade can only be A, B, C, D, or F.</a:t>
            </a:r>
          </a:p>
          <a:p>
            <a:pPr lvl="1"/>
            <a:r>
              <a:rPr lang="en-US" dirty="0"/>
              <a:t>These rules are part of the definition.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402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B8DA-23BF-304F-D3D6-21DA760E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Functions of a DBMS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14E4-7C33-6E52-C834-0D69E9446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(b) Constructing a Database</a:t>
            </a:r>
          </a:p>
          <a:p>
            <a:r>
              <a:rPr lang="en-US" dirty="0"/>
              <a:t>Actually, storing the data on disk, SSD, or other storage media.</a:t>
            </a:r>
          </a:p>
          <a:p>
            <a:r>
              <a:rPr lang="en-US" dirty="0"/>
              <a:t>The DBMS controls how data is organized internally so that it can be efficiently accessed.</a:t>
            </a:r>
          </a:p>
          <a:p>
            <a:r>
              <a:rPr lang="en-US" dirty="0"/>
              <a:t> Example:</a:t>
            </a:r>
          </a:p>
          <a:p>
            <a:r>
              <a:rPr lang="en-US" dirty="0"/>
              <a:t>Saving student records into tables inside the DB.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57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86B5-1E08-EE84-30B8-627EACD3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Functions of a DBMS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87C42-CD6F-DD60-CAF7-0D9647329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C) Manipulating a Database </a:t>
            </a:r>
          </a:p>
          <a:p>
            <a:r>
              <a:rPr lang="en-US" dirty="0"/>
              <a:t>Manipulating a database means using the data and making changes to it.</a:t>
            </a:r>
          </a:p>
          <a:p>
            <a:r>
              <a:rPr lang="en-US" dirty="0"/>
              <a:t>There are three common operations:</a:t>
            </a:r>
          </a:p>
          <a:p>
            <a:pPr lvl="0"/>
            <a:r>
              <a:rPr lang="en-US" b="1" dirty="0"/>
              <a:t>Querying:</a:t>
            </a:r>
            <a:r>
              <a:rPr lang="en-US" dirty="0"/>
              <a:t> Asking the database to find specific information.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“Show me all students studying Computer Science.” </a:t>
            </a:r>
          </a:p>
          <a:p>
            <a:pPr lvl="0"/>
            <a:r>
              <a:rPr lang="en-US" b="1" dirty="0"/>
              <a:t>Updating:</a:t>
            </a:r>
            <a:r>
              <a:rPr lang="en-US" dirty="0"/>
              <a:t> Changing existing information in the database.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“Change Ali’s major from Computer Science to Software Engineering.” </a:t>
            </a:r>
          </a:p>
          <a:p>
            <a:pPr lvl="0"/>
            <a:r>
              <a:rPr lang="en-US" b="1" dirty="0"/>
              <a:t>Reporting:</a:t>
            </a:r>
            <a:r>
              <a:rPr lang="en-US" dirty="0"/>
              <a:t> Preparing useful summaries from the data.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“Calculate the average GPA of all students.”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234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AC93-0AEF-DF11-A9C1-52E877E5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Functions of a DBMS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7408-F298-A1B4-15D9-74FCF7BB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(d) Sharing a Database</a:t>
            </a:r>
          </a:p>
          <a:p>
            <a:r>
              <a:rPr lang="en-US" dirty="0"/>
              <a:t>Multiple users and applications can access the database at the same time.</a:t>
            </a:r>
          </a:p>
          <a:p>
            <a:r>
              <a:rPr lang="en-US" dirty="0"/>
              <a:t>The DBMS ensures consistency and prevents conflicts.</a:t>
            </a:r>
          </a:p>
          <a:p>
            <a:r>
              <a:rPr lang="en-US" dirty="0"/>
              <a:t> Example:</a:t>
            </a:r>
          </a:p>
          <a:p>
            <a:r>
              <a:rPr lang="en-US" dirty="0"/>
              <a:t>In a bank DB, one customer withdraws money from an ATM while another transfers money online — both can happen safely at the same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2370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F274-C01E-310E-4144-EDC40812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Applications Talk to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4E53F-636A-FF62-A885-1EC529229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 (like a banking app, e-commerce website, or payroll system) don’t directly access the database.</a:t>
            </a:r>
          </a:p>
          <a:p>
            <a:r>
              <a:rPr lang="en-US" dirty="0"/>
              <a:t>The DBMS acts as a middleman between the application and the database.</a:t>
            </a:r>
          </a:p>
          <a:p>
            <a:r>
              <a:rPr lang="en-US" dirty="0"/>
              <a:t> They send queries or requests to the DBMS.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895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B061-DB18-923A-1F91-A1308D15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Functions of a DBMS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A861A-4476-ECFA-0473-D7A3E4EF5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DBMS does more than just store and retrieve data. It also:</a:t>
            </a:r>
          </a:p>
          <a:p>
            <a:r>
              <a:rPr lang="en-US" b="1" dirty="0"/>
              <a:t> Protects the Database</a:t>
            </a:r>
          </a:p>
          <a:p>
            <a:r>
              <a:rPr lang="en-US" b="1" dirty="0"/>
              <a:t>System Protection</a:t>
            </a:r>
            <a:r>
              <a:rPr lang="en-US" dirty="0"/>
              <a:t> → Prevents data loss from crashes, hardware failure, or software bugs.</a:t>
            </a:r>
          </a:p>
          <a:p>
            <a:r>
              <a:rPr lang="en-US" b="1" dirty="0"/>
              <a:t>Security Protection</a:t>
            </a:r>
            <a:r>
              <a:rPr lang="en-US" dirty="0"/>
              <a:t> → Ensures only authorized people can access data (passwords, permissions, encryption).</a:t>
            </a:r>
          </a:p>
          <a:p>
            <a:r>
              <a:rPr lang="en-US" dirty="0"/>
              <a:t> Example:</a:t>
            </a:r>
          </a:p>
          <a:p>
            <a:r>
              <a:rPr lang="en-US" dirty="0"/>
              <a:t>If a server crashes during a bank transfer, the DBMS ensures money is not lost or duplicated.</a:t>
            </a:r>
          </a:p>
          <a:p>
            <a:r>
              <a:rPr lang="en-US" dirty="0"/>
              <a:t>Unauthorized users can’t just open the bank’s database and see account details.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9163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49B7-61C8-D3EE-FDE9-5B5BACD6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03EF6-1046-F4D4-AE8D-FAE875756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Maintains the Database Over Time</a:t>
            </a:r>
          </a:p>
          <a:p>
            <a:r>
              <a:rPr lang="en-US" dirty="0"/>
              <a:t>Large databases may exist for years or decades.</a:t>
            </a:r>
          </a:p>
          <a:p>
            <a:r>
              <a:rPr lang="en-US" dirty="0"/>
              <a:t>A database is not normally created for only a few months. Organizations such as universities, banks, hospitals, and companies may use the same database for many years.</a:t>
            </a:r>
          </a:p>
          <a:p>
            <a:r>
              <a:rPr lang="en-US" dirty="0"/>
              <a:t> Example:</a:t>
            </a:r>
          </a:p>
          <a:p>
            <a:r>
              <a:rPr lang="en-US" dirty="0"/>
              <a:t>A university database might start with only </a:t>
            </a:r>
            <a:r>
              <a:rPr lang="en-US" b="1" dirty="0"/>
              <a:t>student names </a:t>
            </a:r>
            <a:r>
              <a:rPr lang="en-US" dirty="0"/>
              <a:t>and </a:t>
            </a:r>
            <a:r>
              <a:rPr lang="en-US" b="1" dirty="0"/>
              <a:t>grades</a:t>
            </a:r>
            <a:r>
              <a:rPr lang="en-US" dirty="0"/>
              <a:t>.</a:t>
            </a:r>
          </a:p>
          <a:p>
            <a:r>
              <a:rPr lang="en-US" dirty="0"/>
              <a:t>Later, it might need to add online course modules, payment records, and research data — all without starting over.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079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9877-BA7C-CFDB-18F8-AE08945D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General-Purpose DBMS vs. Special-Purpose Software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433D8-1451-A519-5D49-0D79F5D03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General-Purpose DBMS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Used for many kinds of applications (Oracle, MySQL, SQL Server).</a:t>
            </a:r>
          </a:p>
          <a:p>
            <a:pPr lvl="1"/>
            <a:r>
              <a:rPr lang="en-US" dirty="0"/>
              <a:t>Flexible and reusable.</a:t>
            </a:r>
          </a:p>
          <a:p>
            <a:r>
              <a:rPr lang="en-US" b="1" dirty="0"/>
              <a:t>Special-Purpose DBMS (Custom Programs)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Built for a single, specific application.</a:t>
            </a:r>
          </a:p>
          <a:p>
            <a:pPr lvl="1"/>
            <a:r>
              <a:rPr lang="en-US" dirty="0"/>
              <a:t>Example: An airline reservation system may use custom-built database software.</a:t>
            </a:r>
          </a:p>
          <a:p>
            <a:pPr lvl="1"/>
            <a:r>
              <a:rPr lang="en-US" dirty="0"/>
              <a:t>These can be faster for one job, but less flexible.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2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4261-D5CC-7B36-CA10-2C8BC498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AB08-AF5B-521D-BFDB-E1E658A5F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1.Data Redundancy and Inconsistency Control</a:t>
            </a:r>
          </a:p>
          <a:p>
            <a:r>
              <a:rPr lang="en-US" dirty="0"/>
              <a:t>In file systems, the same data might be stored in many places (redundancy), leading to inconsistency.</a:t>
            </a:r>
          </a:p>
          <a:p>
            <a:r>
              <a:rPr lang="en-US" dirty="0"/>
              <a:t>A DBMS centralizes data storage, reducing duplication and ensuring consistency.</a:t>
            </a:r>
          </a:p>
          <a:p>
            <a:r>
              <a:rPr lang="en-US" dirty="0"/>
              <a:t> Example: In a university DB, a student’s address is stored once, not separately in “fees,” “library,” and “exam” 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7875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2BE3-A1FC-4DAD-126D-23477433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EC27-A36F-D449-C7B1-F80C104B2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Data Sharing and Multiuser Access</a:t>
            </a:r>
          </a:p>
          <a:p>
            <a:r>
              <a:rPr lang="en-US" dirty="0"/>
              <a:t>A DBMS allows multiple users and applications to access the same data simultaneously.</a:t>
            </a:r>
          </a:p>
          <a:p>
            <a:r>
              <a:rPr lang="en-US" dirty="0"/>
              <a:t>It ensures consistency even when many people are working on it at once.</a:t>
            </a:r>
          </a:p>
          <a:p>
            <a:r>
              <a:rPr lang="en-US" dirty="0"/>
              <a:t> Example: In a bank, thousands of ATMs can access and update customer balances at the same time safely.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313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4F46-8721-2FCE-42B5-BE432845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E16F-3A54-D486-FE03-0C6862F5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 Data Integrity and Accuracy</a:t>
            </a:r>
          </a:p>
          <a:p>
            <a:r>
              <a:rPr lang="en-US" dirty="0"/>
              <a:t>A DBMS enforces rules (constraints) to ensure only valid data is stored.</a:t>
            </a:r>
          </a:p>
          <a:p>
            <a:r>
              <a:rPr lang="en-US" dirty="0"/>
              <a:t> Example: A student’s grade can only be A, B, C, D, F — not “Z.”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9538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AB74-C323-923E-D7C9-C059C15D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237EB-2789-2565-7E58-C94A7E91E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4.Data Security</a:t>
            </a:r>
          </a:p>
          <a:p>
            <a:r>
              <a:rPr lang="en-US" dirty="0"/>
              <a:t>DBMSs provide strong security features:</a:t>
            </a:r>
          </a:p>
          <a:p>
            <a:pPr lvl="1"/>
            <a:r>
              <a:rPr lang="en-US" dirty="0"/>
              <a:t>Authentication (who can log in).</a:t>
            </a:r>
          </a:p>
          <a:p>
            <a:pPr lvl="1"/>
            <a:r>
              <a:rPr lang="en-US" dirty="0"/>
              <a:t>Authorization (who can view/modify certain data).</a:t>
            </a:r>
          </a:p>
          <a:p>
            <a:pPr lvl="1"/>
            <a:r>
              <a:rPr lang="en-US" dirty="0"/>
              <a:t>Encryption.</a:t>
            </a:r>
          </a:p>
          <a:p>
            <a:r>
              <a:rPr lang="en-US" dirty="0"/>
              <a:t> Example: In a hospital DB, only doctors can access medical records; accountants can only see billing info.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8320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EDE0-445E-9604-2E9D-68DDB9F2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280F-E049-7DB7-90CE-A3AA13BF9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Backup and Recovery</a:t>
            </a:r>
          </a:p>
          <a:p>
            <a:r>
              <a:rPr lang="en-US" dirty="0"/>
              <a:t>DBMSs automatically provide backup and recovery mechanisms.</a:t>
            </a:r>
          </a:p>
          <a:p>
            <a:r>
              <a:rPr lang="en-US" dirty="0"/>
              <a:t>Even if the system crashes, data can be restored to a consistent state.</a:t>
            </a:r>
          </a:p>
          <a:p>
            <a:r>
              <a:rPr lang="en-US" dirty="0"/>
              <a:t> Example: In case of a power failure during a bank transfer, the DBMS ensures money is not lost or duplicated.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213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F02D7-F812-4D79-E152-B07B447D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895C-5AAC-3315-CDB0-687D7C226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Data Independence</a:t>
            </a:r>
          </a:p>
          <a:p>
            <a:r>
              <a:rPr lang="en-US" dirty="0"/>
              <a:t>Applications are insulated from changes in how data is physically stored.</a:t>
            </a:r>
          </a:p>
          <a:p>
            <a:r>
              <a:rPr lang="en-US" dirty="0"/>
              <a:t>Developers can change storage structures without changing application programs.</a:t>
            </a:r>
          </a:p>
          <a:p>
            <a:r>
              <a:rPr lang="en-US" dirty="0"/>
              <a:t> Example: Adding a new field “student email” in the DB doesn’t break existing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029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E129-B58C-656C-2BE9-671FBD7A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1290D-6503-B3BB-0640-E9DF6599D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Efficient Data Access</a:t>
            </a:r>
          </a:p>
          <a:p>
            <a:r>
              <a:rPr lang="en-US" dirty="0"/>
              <a:t>DBMSs provide powerful query languages (like SQL) to quickly retrieve, update, and analyze data.</a:t>
            </a:r>
          </a:p>
          <a:p>
            <a:r>
              <a:rPr lang="en-US" dirty="0"/>
              <a:t>Much faster than searching through raw files.</a:t>
            </a:r>
          </a:p>
          <a:p>
            <a:r>
              <a:rPr lang="en-US" dirty="0"/>
              <a:t> Example: Finding “all students in Computer Science with GPA &gt; 3.5” is one SQL query instead of manually scanning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721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36A7-08AD-2F61-6EF1-C54D5811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EDD6D-EE86-DCE7-A85C-76A8D77CD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8. Better Data Administration</a:t>
            </a:r>
          </a:p>
          <a:p>
            <a:r>
              <a:rPr lang="en-US" dirty="0"/>
              <a:t>A DBMS provides a centralized system to manage data.</a:t>
            </a:r>
          </a:p>
          <a:p>
            <a:r>
              <a:rPr lang="en-US" dirty="0"/>
              <a:t>Easier for administrators to monitor usage, performance, and security.</a:t>
            </a:r>
          </a:p>
          <a:p>
            <a:r>
              <a:rPr lang="en-US" b="1" dirty="0"/>
              <a:t>9. Support for Concurrent Transactions</a:t>
            </a:r>
          </a:p>
          <a:p>
            <a:r>
              <a:rPr lang="en-US" dirty="0"/>
              <a:t>Many users can perform transactions at the same time without interfering with each other (thanks to concurrency control).</a:t>
            </a:r>
          </a:p>
          <a:p>
            <a:r>
              <a:rPr lang="en-US" dirty="0"/>
              <a:t> Example: Multiple people booking airline seats at the same time — the DBMS ensures no two people get the same seat.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1130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472D-EB6D-C65C-D8D7-503291CE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History of Database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CF60-C9D2-1907-7B66-447D63B21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Early Database Applications (1960s–1980s)</a:t>
            </a:r>
          </a:p>
          <a:p>
            <a:r>
              <a:rPr lang="en-US" dirty="0"/>
              <a:t>Used </a:t>
            </a:r>
            <a:r>
              <a:rPr lang="en-US" b="1" dirty="0"/>
              <a:t>hierarchical</a:t>
            </a:r>
            <a:r>
              <a:rPr lang="en-US" dirty="0"/>
              <a:t> and </a:t>
            </a:r>
            <a:r>
              <a:rPr lang="en-US" b="1" dirty="0"/>
              <a:t>network database systems</a:t>
            </a:r>
            <a:r>
              <a:rPr lang="en-US" dirty="0"/>
              <a:t>.</a:t>
            </a:r>
          </a:p>
          <a:p>
            <a:r>
              <a:rPr lang="en-US" dirty="0"/>
              <a:t>Mainly applied in </a:t>
            </a:r>
            <a:r>
              <a:rPr lang="en-US" b="1" dirty="0"/>
              <a:t>large organizations</a:t>
            </a:r>
            <a:r>
              <a:rPr lang="en-US" dirty="0"/>
              <a:t> (corporations, universities, hospitals, banks).</a:t>
            </a:r>
          </a:p>
          <a:p>
            <a:r>
              <a:rPr lang="en-US" dirty="0"/>
              <a:t>Records had fixed, similar structures (e.g., student info, course info, grade info).</a:t>
            </a:r>
          </a:p>
          <a:p>
            <a:r>
              <a:rPr lang="en-US" b="1" dirty="0"/>
              <a:t>Problems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Data relationships were </a:t>
            </a:r>
            <a:r>
              <a:rPr lang="en-US" b="1" dirty="0"/>
              <a:t>mixed with physical storage</a:t>
            </a:r>
            <a:r>
              <a:rPr lang="en-US" dirty="0"/>
              <a:t> (e.g., grade records stored next to student record).</a:t>
            </a:r>
          </a:p>
          <a:p>
            <a:pPr lvl="1"/>
            <a:r>
              <a:rPr lang="en-US" dirty="0"/>
              <a:t>Hard to adapt when requirements changed (new queries = new programs).</a:t>
            </a:r>
          </a:p>
          <a:p>
            <a:pPr lvl="1"/>
            <a:r>
              <a:rPr lang="en-US" dirty="0"/>
              <a:t>Only </a:t>
            </a:r>
            <a:r>
              <a:rPr lang="en-US" b="1" dirty="0"/>
              <a:t>programming language interfaces</a:t>
            </a:r>
            <a:r>
              <a:rPr lang="en-US" dirty="0"/>
              <a:t> (no easy query tools).</a:t>
            </a:r>
          </a:p>
          <a:p>
            <a:r>
              <a:rPr lang="en-US" dirty="0"/>
              <a:t>These ran on </a:t>
            </a:r>
            <a:r>
              <a:rPr lang="en-US" b="1" dirty="0"/>
              <a:t>mainframe computers</a:t>
            </a:r>
            <a:r>
              <a:rPr lang="en-US" dirty="0"/>
              <a:t>, expensive and rigid.</a:t>
            </a:r>
          </a:p>
          <a:p>
            <a:r>
              <a:rPr lang="en-US" dirty="0"/>
              <a:t> Example: If you wanted a new report in a university DB, programmers had to rewrite big chunks of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031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BEEE-7FF6-6E22-5E66-D1E1380C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1CC8E-5991-DFBA-8C45-E62CAE05C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Relational Databases (1970s–1980s, Dominant Today)</a:t>
            </a:r>
          </a:p>
          <a:p>
            <a:r>
              <a:rPr lang="en-US" dirty="0"/>
              <a:t>Introduced by </a:t>
            </a:r>
            <a:r>
              <a:rPr lang="en-US" b="1" dirty="0"/>
              <a:t>E. F. Codd</a:t>
            </a:r>
            <a:r>
              <a:rPr lang="en-US" dirty="0"/>
              <a:t> in the 1970s.</a:t>
            </a:r>
          </a:p>
          <a:p>
            <a:r>
              <a:rPr lang="en-US" b="1" dirty="0"/>
              <a:t>Key idea</a:t>
            </a:r>
            <a:r>
              <a:rPr lang="en-US" dirty="0"/>
              <a:t>: Separate </a:t>
            </a:r>
            <a:r>
              <a:rPr lang="en-US" b="1" dirty="0"/>
              <a:t>conceptual data</a:t>
            </a:r>
            <a:r>
              <a:rPr lang="en-US" dirty="0"/>
              <a:t> (tables, relationships) from </a:t>
            </a:r>
            <a:r>
              <a:rPr lang="en-US" b="1" dirty="0"/>
              <a:t>physical storage</a:t>
            </a:r>
            <a:r>
              <a:rPr lang="en-US" dirty="0"/>
              <a:t>.</a:t>
            </a:r>
          </a:p>
          <a:p>
            <a:r>
              <a:rPr lang="en-US" dirty="0"/>
              <a:t>Introduced </a:t>
            </a:r>
            <a:r>
              <a:rPr lang="en-US" b="1" dirty="0"/>
              <a:t>SQL query language</a:t>
            </a:r>
            <a:r>
              <a:rPr lang="en-US" dirty="0"/>
              <a:t> → easier and faster to create new queries.</a:t>
            </a:r>
          </a:p>
          <a:p>
            <a:r>
              <a:rPr lang="en-US" dirty="0"/>
              <a:t>Provided </a:t>
            </a:r>
            <a:r>
              <a:rPr lang="en-US" b="1" dirty="0"/>
              <a:t>data abstraction</a:t>
            </a:r>
            <a:r>
              <a:rPr lang="en-US" dirty="0"/>
              <a:t> and </a:t>
            </a:r>
            <a:r>
              <a:rPr lang="en-US" b="1" dirty="0"/>
              <a:t>program-data independence</a:t>
            </a:r>
            <a:r>
              <a:rPr lang="en-US" dirty="0"/>
              <a:t>.</a:t>
            </a:r>
          </a:p>
          <a:p>
            <a:r>
              <a:rPr lang="en-US" dirty="0"/>
              <a:t>Initially slow, but improved with better indexing, optimization, and storage.</a:t>
            </a:r>
          </a:p>
          <a:p>
            <a:r>
              <a:rPr lang="en-US" dirty="0"/>
              <a:t>Became the </a:t>
            </a:r>
            <a:r>
              <a:rPr lang="en-US" b="1" dirty="0"/>
              <a:t>dominant DBMS model</a:t>
            </a:r>
            <a:r>
              <a:rPr lang="en-US" dirty="0"/>
              <a:t> used everywhere (small PCs to large servers).</a:t>
            </a:r>
          </a:p>
        </p:txBody>
      </p:sp>
    </p:spTree>
    <p:extLst>
      <p:ext uri="{BB962C8B-B14F-4D97-AF65-F5344CB8AC3E}">
        <p14:creationId xmlns:p14="http://schemas.microsoft.com/office/powerpoint/2010/main" val="12955387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5E92-D33C-BC2E-CBDF-B91F6D0D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DAA22-827A-E861-3824-4A5468B77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Object-Oriented Databases (1980s–1990s)</a:t>
            </a:r>
          </a:p>
          <a:p>
            <a:r>
              <a:rPr lang="en-US" dirty="0"/>
              <a:t>Came with the rise of </a:t>
            </a:r>
            <a:r>
              <a:rPr lang="en-US" b="1" dirty="0"/>
              <a:t>object-oriented programming</a:t>
            </a:r>
            <a:r>
              <a:rPr lang="en-US" dirty="0"/>
              <a:t> (C++, Java).</a:t>
            </a:r>
          </a:p>
          <a:p>
            <a:r>
              <a:rPr lang="en-US" dirty="0"/>
              <a:t>Could store </a:t>
            </a:r>
            <a:r>
              <a:rPr lang="en-US" b="1" dirty="0"/>
              <a:t>complex data</a:t>
            </a:r>
            <a:r>
              <a:rPr lang="en-US" dirty="0"/>
              <a:t> like multimedia, CAD designs, and engineering objects.</a:t>
            </a:r>
          </a:p>
          <a:p>
            <a:r>
              <a:rPr lang="en-US" dirty="0"/>
              <a:t>Supported features: </a:t>
            </a:r>
            <a:r>
              <a:rPr lang="en-US" b="1" dirty="0"/>
              <a:t>abstract data types, inheritance, encapsulation, object identity</a:t>
            </a:r>
            <a:r>
              <a:rPr lang="en-US" dirty="0"/>
              <a:t>.</a:t>
            </a:r>
          </a:p>
          <a:p>
            <a:r>
              <a:rPr lang="en-US" dirty="0"/>
              <a:t>Useful for </a:t>
            </a:r>
            <a:r>
              <a:rPr lang="en-US" b="1" dirty="0"/>
              <a:t>specialized fields</a:t>
            </a:r>
            <a:r>
              <a:rPr lang="en-US" dirty="0"/>
              <a:t> (engineering design, multimedia publishing).</a:t>
            </a:r>
          </a:p>
          <a:p>
            <a:r>
              <a:rPr lang="en-US" dirty="0"/>
              <a:t>Did not replace relational databases but influenced them → led to </a:t>
            </a:r>
            <a:r>
              <a:rPr lang="en-US" b="1" dirty="0"/>
              <a:t>object-relational DBMS (ORDBMS)</a:t>
            </a:r>
            <a:r>
              <a:rPr lang="en-US" dirty="0"/>
              <a:t>.</a:t>
            </a:r>
          </a:p>
          <a:p>
            <a:r>
              <a:rPr lang="en-US" dirty="0"/>
              <a:t> Example: A multimedia DB storing videos and images as objects.</a:t>
            </a:r>
          </a:p>
        </p:txBody>
      </p:sp>
    </p:spTree>
    <p:extLst>
      <p:ext uri="{BB962C8B-B14F-4D97-AF65-F5344CB8AC3E}">
        <p14:creationId xmlns:p14="http://schemas.microsoft.com/office/powerpoint/2010/main" val="24255563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3B76-A7C3-D6FF-3509-A3CB3857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35DCD-EC37-89F2-F0A7-3C18EC326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Web &amp; E-Commerce with XML (1990s–2000s)</a:t>
            </a:r>
          </a:p>
          <a:p>
            <a:r>
              <a:rPr lang="en-US" dirty="0"/>
              <a:t>With the growth of the </a:t>
            </a:r>
            <a:r>
              <a:rPr lang="en-US" b="1" dirty="0"/>
              <a:t>World Wide Web</a:t>
            </a:r>
            <a:r>
              <a:rPr lang="en-US" dirty="0"/>
              <a:t>, databases powered e-commerce.</a:t>
            </a:r>
          </a:p>
          <a:p>
            <a:r>
              <a:rPr lang="en-US" dirty="0"/>
              <a:t>Web pages often display </a:t>
            </a:r>
            <a:r>
              <a:rPr lang="en-US" b="1" dirty="0"/>
              <a:t>dynamic data</a:t>
            </a:r>
            <a:r>
              <a:rPr lang="en-US" dirty="0"/>
              <a:t> extracted from DBMSs (e.g., product prices, flight info).</a:t>
            </a:r>
          </a:p>
          <a:p>
            <a:r>
              <a:rPr lang="en-US" b="1" dirty="0"/>
              <a:t>XML (extended Markup Language)</a:t>
            </a:r>
            <a:r>
              <a:rPr lang="en-US" dirty="0"/>
              <a:t> became a standard for exchanging data between databases and web pages.</a:t>
            </a:r>
          </a:p>
          <a:p>
            <a:r>
              <a:rPr lang="en-US" dirty="0"/>
              <a:t> Example: Amazon product listings or airline flight search pages.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9052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7CDD9-0B98-DC07-1FFE-9EAFACD0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59B2-BDF2-DE89-BAF0-692FEA62F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Extended Database Capabilities (2000s)</a:t>
            </a:r>
          </a:p>
          <a:p>
            <a:r>
              <a:rPr lang="en-US" dirty="0"/>
              <a:t>DBMSs added support for </a:t>
            </a:r>
            <a:r>
              <a:rPr lang="en-US" b="1" dirty="0"/>
              <a:t>specialized applications</a:t>
            </a:r>
            <a:r>
              <a:rPr lang="en-US" dirty="0"/>
              <a:t> beyond traditional business data.</a:t>
            </a:r>
          </a:p>
          <a:p>
            <a:r>
              <a:rPr lang="en-US" dirty="0"/>
              <a:t>Applications included:</a:t>
            </a:r>
          </a:p>
          <a:p>
            <a:pPr lvl="1"/>
            <a:r>
              <a:rPr lang="en-US" b="1" dirty="0"/>
              <a:t>Scientific databases</a:t>
            </a:r>
            <a:r>
              <a:rPr lang="en-US" dirty="0"/>
              <a:t> (genome data, physics experiments).</a:t>
            </a:r>
          </a:p>
          <a:p>
            <a:pPr lvl="1"/>
            <a:r>
              <a:rPr lang="en-US" b="1" dirty="0"/>
              <a:t>Image/video storage</a:t>
            </a:r>
            <a:r>
              <a:rPr lang="en-US" dirty="0"/>
              <a:t> (X-rays, MRI scans, photos).</a:t>
            </a:r>
          </a:p>
          <a:p>
            <a:pPr lvl="1"/>
            <a:r>
              <a:rPr lang="en-US" b="1" dirty="0"/>
              <a:t>Data mining</a:t>
            </a:r>
            <a:r>
              <a:rPr lang="en-US" dirty="0"/>
              <a:t> (detecting fraud patterns).</a:t>
            </a:r>
          </a:p>
          <a:p>
            <a:pPr lvl="1"/>
            <a:r>
              <a:rPr lang="en-US" b="1" dirty="0"/>
              <a:t>Spatial databases</a:t>
            </a:r>
            <a:r>
              <a:rPr lang="en-US" dirty="0"/>
              <a:t> (maps, weather data, GPS).</a:t>
            </a:r>
          </a:p>
          <a:p>
            <a:pPr lvl="1"/>
            <a:r>
              <a:rPr lang="en-US" b="1" dirty="0"/>
              <a:t>Time-series databases</a:t>
            </a:r>
            <a:r>
              <a:rPr lang="en-US" dirty="0"/>
              <a:t> (economic trends, daily stock prices).</a:t>
            </a:r>
          </a:p>
          <a:p>
            <a:r>
              <a:rPr lang="en-US" dirty="0"/>
              <a:t>Needed new </a:t>
            </a:r>
            <a:r>
              <a:rPr lang="en-US" b="1" dirty="0"/>
              <a:t>data types, query operations, storage methods</a:t>
            </a:r>
            <a:r>
              <a:rPr lang="en-US" dirty="0"/>
              <a:t>.</a:t>
            </a:r>
          </a:p>
          <a:p>
            <a:r>
              <a:rPr lang="en-US" dirty="0"/>
              <a:t>DBMSs added </a:t>
            </a:r>
            <a:r>
              <a:rPr lang="en-US" b="1" dirty="0"/>
              <a:t>optional modules</a:t>
            </a:r>
            <a:r>
              <a:rPr lang="en-US" dirty="0"/>
              <a:t> (e.g., a time-series module).</a:t>
            </a:r>
          </a:p>
          <a:p>
            <a:r>
              <a:rPr lang="en-US" dirty="0"/>
              <a:t> Example: A hospital storing both patient records and X-ray images in the same DB system.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9171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95DF-A309-86B2-BBDA-BFD1690B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D85D-FB3F-12B7-C625-1B86DBBBD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Big Data &amp; NoSQL Databases (2000s–Present)</a:t>
            </a:r>
          </a:p>
          <a:p>
            <a:r>
              <a:rPr lang="en-US" dirty="0"/>
              <a:t>With </a:t>
            </a:r>
            <a:r>
              <a:rPr lang="en-US" b="1" dirty="0"/>
              <a:t>social media, search engines, e-commerce, and cloud computing</a:t>
            </a:r>
            <a:r>
              <a:rPr lang="en-US" dirty="0"/>
              <a:t>, data exploded.</a:t>
            </a:r>
          </a:p>
          <a:p>
            <a:r>
              <a:rPr lang="en-US" dirty="0"/>
              <a:t>Traditional SQL databases struggled with </a:t>
            </a:r>
            <a:r>
              <a:rPr lang="en-US" b="1" dirty="0"/>
              <a:t>huge volumes</a:t>
            </a:r>
            <a:r>
              <a:rPr lang="en-US" dirty="0"/>
              <a:t> and </a:t>
            </a:r>
            <a:r>
              <a:rPr lang="en-US" b="1" dirty="0"/>
              <a:t>unstructured data</a:t>
            </a:r>
            <a:r>
              <a:rPr lang="en-US" dirty="0"/>
              <a:t> (tweets, posts, logs).</a:t>
            </a:r>
          </a:p>
          <a:p>
            <a:r>
              <a:rPr lang="en-US" b="1" dirty="0"/>
              <a:t>NoSQL databases</a:t>
            </a:r>
            <a:r>
              <a:rPr lang="en-US" dirty="0"/>
              <a:t> emerged (Not Only SQL):</a:t>
            </a:r>
          </a:p>
          <a:p>
            <a:pPr lvl="1"/>
            <a:r>
              <a:rPr lang="en-US" dirty="0"/>
              <a:t>Handle massive, distributed data.</a:t>
            </a:r>
          </a:p>
          <a:p>
            <a:pPr lvl="1"/>
            <a:r>
              <a:rPr lang="en-US" dirty="0"/>
              <a:t>Provide fast search and retrieval.</a:t>
            </a:r>
          </a:p>
          <a:p>
            <a:pPr lvl="1"/>
            <a:r>
              <a:rPr lang="en-US" dirty="0"/>
              <a:t>Support nontraditional data (documents, graphs, key-value stores).</a:t>
            </a:r>
          </a:p>
          <a:p>
            <a:r>
              <a:rPr lang="en-US" dirty="0"/>
              <a:t>Often used </a:t>
            </a:r>
            <a:r>
              <a:rPr lang="en-US" b="1" dirty="0"/>
              <a:t>together with SQL systems</a:t>
            </a:r>
            <a:r>
              <a:rPr lang="en-US" dirty="0"/>
              <a:t> depending on application needs.</a:t>
            </a:r>
          </a:p>
          <a:p>
            <a:r>
              <a:rPr lang="en-US" dirty="0"/>
              <a:t> Example:</a:t>
            </a:r>
          </a:p>
          <a:p>
            <a:r>
              <a:rPr lang="en-US" dirty="0"/>
              <a:t>Facebook uses </a:t>
            </a:r>
            <a:r>
              <a:rPr lang="en-US" b="1" dirty="0"/>
              <a:t>SQL databases</a:t>
            </a:r>
            <a:r>
              <a:rPr lang="en-US" dirty="0"/>
              <a:t> for structured data (user info) + </a:t>
            </a:r>
            <a:r>
              <a:rPr lang="en-US" b="1" dirty="0"/>
              <a:t>NoSQL databases</a:t>
            </a:r>
            <a:r>
              <a:rPr lang="en-US" dirty="0"/>
              <a:t> for unstructured data (posts, messages, media).</a:t>
            </a:r>
          </a:p>
        </p:txBody>
      </p:sp>
    </p:spTree>
    <p:extLst>
      <p:ext uri="{BB962C8B-B14F-4D97-AF65-F5344CB8AC3E}">
        <p14:creationId xmlns:p14="http://schemas.microsoft.com/office/powerpoint/2010/main" val="1138035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833A-3285-E3E5-1EC8-95070D11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to Use a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8012-D16B-1ED8-6850-CDC500A36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avoid using a DBMS when:</a:t>
            </a:r>
          </a:p>
          <a:p>
            <a:r>
              <a:rPr lang="en-US" dirty="0"/>
              <a:t>The application is simple, fixed, and small.</a:t>
            </a:r>
          </a:p>
          <a:p>
            <a:r>
              <a:rPr lang="en-US" dirty="0"/>
              <a:t>Real-time speed is more important than DBMS features.</a:t>
            </a:r>
          </a:p>
          <a:p>
            <a:r>
              <a:rPr lang="en-US" dirty="0"/>
              <a:t>Storage is limited (embedded systems).</a:t>
            </a:r>
          </a:p>
          <a:p>
            <a:r>
              <a:rPr lang="en-US" dirty="0"/>
              <a:t>Only one user needs access.</a:t>
            </a:r>
          </a:p>
          <a:p>
            <a:r>
              <a:rPr lang="en-US" dirty="0"/>
              <a:t>In such cases, </a:t>
            </a:r>
            <a:r>
              <a:rPr lang="en-US" b="1" dirty="0"/>
              <a:t>custom file-based solutions</a:t>
            </a:r>
            <a:r>
              <a:rPr lang="en-US" dirty="0"/>
              <a:t> may be better.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85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3919</Words>
  <Application>Microsoft Office PowerPoint</Application>
  <PresentationFormat>Widescreen</PresentationFormat>
  <Paragraphs>360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Aptos</vt:lpstr>
      <vt:lpstr>Aptos Display</vt:lpstr>
      <vt:lpstr>Arial</vt:lpstr>
      <vt:lpstr>Office Theme</vt:lpstr>
      <vt:lpstr>Database systems</vt:lpstr>
      <vt:lpstr>Aim of this course</vt:lpstr>
      <vt:lpstr>Course Learning outcomes</vt:lpstr>
      <vt:lpstr>Books</vt:lpstr>
      <vt:lpstr>Marks Distribution</vt:lpstr>
      <vt:lpstr>Data</vt:lpstr>
      <vt:lpstr>Information</vt:lpstr>
      <vt:lpstr>Database</vt:lpstr>
      <vt:lpstr>Database</vt:lpstr>
      <vt:lpstr>Database</vt:lpstr>
      <vt:lpstr>Where Databases Exist </vt:lpstr>
      <vt:lpstr>A Database Comes from a Real Source </vt:lpstr>
      <vt:lpstr>Database Must Stay Updated </vt:lpstr>
      <vt:lpstr>Databases Can Be Small or Huge</vt:lpstr>
      <vt:lpstr>Databases Can Be Manual or Computerized </vt:lpstr>
      <vt:lpstr>A Database Mirrors the Real World </vt:lpstr>
      <vt:lpstr>Accuracy and Reliability Require Updates </vt:lpstr>
      <vt:lpstr>What is a DBMS?</vt:lpstr>
      <vt:lpstr>PowerPoint Presentation</vt:lpstr>
      <vt:lpstr>Database system Environment</vt:lpstr>
      <vt:lpstr>What is Metadata?</vt:lpstr>
      <vt:lpstr>Example</vt:lpstr>
      <vt:lpstr>Example</vt:lpstr>
      <vt:lpstr>File-Based System</vt:lpstr>
      <vt:lpstr>Limitations of File-Based Systems</vt:lpstr>
      <vt:lpstr>Limitations of File-Based Systems</vt:lpstr>
      <vt:lpstr>Limitations of File-Based Systems</vt:lpstr>
      <vt:lpstr>Characteristics of the Database Approach</vt:lpstr>
      <vt:lpstr>1. Self-Describing Nature of a Database System</vt:lpstr>
      <vt:lpstr>PowerPoint Presentation</vt:lpstr>
      <vt:lpstr>1. Self-Describing Nature of a Database System</vt:lpstr>
      <vt:lpstr>2. Insulation Between Programs and Data (Program–Data Independence)</vt:lpstr>
      <vt:lpstr>3. Support of Multiple Views of Data </vt:lpstr>
      <vt:lpstr>PowerPoint Presentation</vt:lpstr>
      <vt:lpstr> 4. Sharing of Data and Multiuser Transaction Processing </vt:lpstr>
      <vt:lpstr>PowerPoint Presentation</vt:lpstr>
      <vt:lpstr>4. Sharing of Data and Multiuser Transaction Processing</vt:lpstr>
      <vt:lpstr>4. Sharing of Data and Multiuser Transaction Processing</vt:lpstr>
      <vt:lpstr>Main Functions of a DBMS </vt:lpstr>
      <vt:lpstr>Main Functions of a DBMS</vt:lpstr>
      <vt:lpstr>Main Functions of a DBMS</vt:lpstr>
      <vt:lpstr>Main Functions of a DBMS</vt:lpstr>
      <vt:lpstr>How Applications Talk to a Database</vt:lpstr>
      <vt:lpstr>Extra Functions of a DBMS </vt:lpstr>
      <vt:lpstr>PowerPoint Presentation</vt:lpstr>
      <vt:lpstr>General-Purpose DBMS vs. Special-Purpose Software</vt:lpstr>
      <vt:lpstr>Advantages of using a DBMS.</vt:lpstr>
      <vt:lpstr>Advantages of using a DBMS</vt:lpstr>
      <vt:lpstr>Advantages of using a DBMS</vt:lpstr>
      <vt:lpstr>Advantages of using a DBMS</vt:lpstr>
      <vt:lpstr>Advantages of using a DBMS.</vt:lpstr>
      <vt:lpstr>Advantages of using a DBMS</vt:lpstr>
      <vt:lpstr>Advantages of using a DBMS</vt:lpstr>
      <vt:lpstr>Advantages of using a DBMS</vt:lpstr>
      <vt:lpstr>A Brief History of Database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Not to Use a DBMS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 Aziz</dc:creator>
  <cp:lastModifiedBy>Arfan Ahmed Naich</cp:lastModifiedBy>
  <cp:revision>78</cp:revision>
  <dcterms:created xsi:type="dcterms:W3CDTF">2025-08-23T18:20:20Z</dcterms:created>
  <dcterms:modified xsi:type="dcterms:W3CDTF">2026-08-26T18:18:46Z</dcterms:modified>
</cp:coreProperties>
</file>