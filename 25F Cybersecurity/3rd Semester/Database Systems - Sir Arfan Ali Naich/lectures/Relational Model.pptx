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6" r:id="rId11"/>
    <p:sldId id="264" r:id="rId12"/>
    <p:sldId id="280" r:id="rId13"/>
    <p:sldId id="265" r:id="rId14"/>
    <p:sldId id="267" r:id="rId15"/>
    <p:sldId id="273" r:id="rId16"/>
    <p:sldId id="268" r:id="rId17"/>
    <p:sldId id="269" r:id="rId18"/>
    <p:sldId id="274" r:id="rId19"/>
    <p:sldId id="270" r:id="rId20"/>
    <p:sldId id="271" r:id="rId21"/>
    <p:sldId id="275" r:id="rId22"/>
    <p:sldId id="287" r:id="rId23"/>
    <p:sldId id="288" r:id="rId24"/>
    <p:sldId id="289" r:id="rId25"/>
    <p:sldId id="283" r:id="rId26"/>
    <p:sldId id="276" r:id="rId27"/>
    <p:sldId id="282" r:id="rId28"/>
    <p:sldId id="278" r:id="rId29"/>
    <p:sldId id="284" r:id="rId30"/>
    <p:sldId id="277" r:id="rId31"/>
    <p:sldId id="286" r:id="rId32"/>
    <p:sldId id="279" r:id="rId33"/>
    <p:sldId id="28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8E55-07B5-1D57-8A5D-881C64833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FB46E-C360-2970-9473-40CCD7EE8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B0E6D-9576-6C6F-0421-879B0657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FFC0B-9468-314D-CA72-C5B517CF8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89892-6510-FAEE-4527-3EF5D6BC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0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80C2-A9D7-1B9F-E86C-F3D67EF5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996BD-F217-6BA6-048C-8DDD4C2D2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9164E-EC30-1474-7E8C-31C09263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2AFB3-6A12-0A02-6E99-C90EF1CE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BB664-E4A5-BAF9-9EA9-1B4C458E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36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416E-BA32-1D4D-BE4A-797147AC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D451E-BE44-E6CF-6267-40AFDCAF4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62278-4554-16EE-2EDF-0D883917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50562-05DE-848E-7F39-152A5CE0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F7722-2394-8BE3-42D6-BB6E4688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34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50B8-1A4A-9945-2A52-6FE3F617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7BC9A-DA52-3840-E20A-EC9DC2A9C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F46C3-48E8-7694-B3A0-A0595E853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3BC3F-8CF2-67E5-E8AF-8A3911052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D5D06-9B20-BC1B-5C62-448154ED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8109B-955D-35DA-072C-672E8FFE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4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B1F5-2BD8-0BEE-B30E-047FD5E5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68B74-333F-2F6A-AC37-0AA67D10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38B79-A944-8A54-BD0A-D06B1E73F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66441-8393-1AB8-D3FE-9600A3453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8018C-32D8-B0F7-5F70-117E8F637F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977DA-0FA7-465D-97CA-ACF3BF868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55455-3BC5-1B7C-F5A8-A36798A5C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686A3-5533-F956-B78D-C0B1AF9C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42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AE1E-0332-99D6-01D3-BF213DBA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C23E9-963C-4FBD-4C1F-E8067BF0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44434-5D3C-700C-5D7D-9CE606FA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1B357-778D-DBE6-64B2-2D1DF9CD4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5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A70772-9EC1-9BB7-1653-8A539D40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8B104-4C77-C19D-98C9-60BCCDE8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C8DC5-25AF-3DFD-5741-608D45F4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79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9080-92FA-EF15-C5A1-4F4E1C82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9169-081B-6CFA-E940-768348F47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E0B22-DB96-D448-9227-1C0514CB9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D531C-1CF7-205B-313F-6647F85A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E897D-1F5C-171B-A581-2530AE6C5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F3506-F9BB-8C44-AD31-1B3B2385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4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B932-717D-386A-F9AA-6337C4F9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675D6-D22B-4349-3C49-325FC2A8F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BA60D-F3CE-9F57-1D11-DC0855C07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1054C-CE75-34FA-0912-7244A41A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B34B7-B9AF-F380-1209-A59AFB1A7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5C2E-9764-3B71-B690-1F09BD25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1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1EAD-C100-DB97-EC97-CD736CB4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08E1C-3597-2A48-1C0A-A3B2CC3C2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1D336-C89A-E869-F637-2846E3C3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09819-B037-78B4-0A03-A310F45FF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A123E-C6E3-BD68-72EE-90FF2EE8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7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13842B-352A-1277-CD67-7712799AE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EC2A2-5D15-5A88-863E-BCE569E41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4010-6D68-DAB5-3FF1-1C804448C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555F9-DE42-5617-FE24-CFA56F23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98B02-FD60-6581-2774-DA1C726B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7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21621-D787-0B55-7C5B-AC7C418C0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67FE8-B131-ACFC-C48B-8BA25573A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11240-3623-F37A-6B82-2FE2F037D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E08C5-A60F-4CBC-99F2-A7EEAEC42C3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6C8D2-4C85-71AD-1535-58FC93A4B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8F69-C3EF-3654-C8D7-756E81B46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96CB0-F19F-41B5-B9B2-AD0BFF67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9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31A1-7445-7F01-86E1-4A87118BB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2271" y="1041400"/>
            <a:ext cx="9144000" cy="2387600"/>
          </a:xfrm>
        </p:spPr>
        <p:txBody>
          <a:bodyPr/>
          <a:lstStyle/>
          <a:p>
            <a:r>
              <a:rPr lang="en-US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103319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25E3-C2BE-555D-C845-1BCAF3F3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History of the Relational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77DE9-E375-A983-828C-385C6BBA8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relational model was first proposed by E. F. Codd in his seminal paper “A relational model of data for large shared data banks” (Codd, 1970).</a:t>
            </a:r>
          </a:p>
        </p:txBody>
      </p:sp>
    </p:spTree>
    <p:extLst>
      <p:ext uri="{BB962C8B-B14F-4D97-AF65-F5344CB8AC3E}">
        <p14:creationId xmlns:p14="http://schemas.microsoft.com/office/powerpoint/2010/main" val="248961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E74EE-0E7F-9573-381E-22D809BA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73CD3-2B0A-B57D-61C8-AEC23849A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relation</a:t>
            </a:r>
            <a:r>
              <a:rPr lang="en-US" dirty="0"/>
              <a:t> = a </a:t>
            </a:r>
            <a:r>
              <a:rPr lang="en-US" b="1" dirty="0"/>
              <a:t>table</a:t>
            </a:r>
            <a:r>
              <a:rPr lang="en-US" dirty="0"/>
              <a:t> with rows and columns.</a:t>
            </a:r>
          </a:p>
          <a:p>
            <a:r>
              <a:rPr lang="en-US" dirty="0"/>
              <a:t>It represents a set of data about objects (e.g., Branches, Staff).</a:t>
            </a:r>
          </a:p>
          <a:p>
            <a:r>
              <a:rPr lang="en-US" dirty="0"/>
              <a:t>Order of rows or columns does </a:t>
            </a:r>
            <a:r>
              <a:rPr lang="en-US" b="1" dirty="0"/>
              <a:t>not</a:t>
            </a:r>
            <a:r>
              <a:rPr lang="en-US" dirty="0"/>
              <a:t> affect the meaning of the relation.</a:t>
            </a:r>
          </a:p>
          <a:p>
            <a:r>
              <a:rPr lang="en-US" dirty="0"/>
              <a:t>Logical structure only (external &amp; conceptual levels), not physical.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0D22EE-F204-0BF0-89C8-95B073020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36" y="4370592"/>
            <a:ext cx="433387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7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F1D4-2D18-213B-2304-504B768FC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b="1" dirty="0"/>
              <a:t>Attribute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0A1BE-D8CC-5B29-E1FC-AF50AB9A5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attribute</a:t>
            </a:r>
            <a:r>
              <a:rPr lang="en-US" dirty="0"/>
              <a:t> = a </a:t>
            </a:r>
            <a:r>
              <a:rPr lang="en-US" b="1" dirty="0"/>
              <a:t>named column</a:t>
            </a:r>
            <a:r>
              <a:rPr lang="en-US" dirty="0"/>
              <a:t> of a relation.</a:t>
            </a:r>
          </a:p>
          <a:p>
            <a:r>
              <a:rPr lang="en-US" dirty="0"/>
              <a:t>Each column corresponds to a property of the entity.</a:t>
            </a:r>
          </a:p>
          <a:p>
            <a:r>
              <a:rPr lang="en-US" dirty="0"/>
              <a:t>Attributes can be in any order without changing the meaning.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CC4E14-E789-24C9-BF07-7FE837EF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155" y="3429000"/>
            <a:ext cx="4842694" cy="242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28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0FC4-7959-78AF-30FC-FFCF687C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b="1" dirty="0"/>
              <a:t>Domain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CD8D-7574-E43A-FC90-D5ABED12E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domain</a:t>
            </a:r>
            <a:r>
              <a:rPr lang="en-US" dirty="0"/>
              <a:t> = the </a:t>
            </a:r>
            <a:r>
              <a:rPr lang="en-US" b="1" dirty="0"/>
              <a:t>set of allowable values</a:t>
            </a:r>
            <a:r>
              <a:rPr lang="en-US" dirty="0"/>
              <a:t> for an attribute.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Branch No. values like B001–B999</a:t>
            </a:r>
          </a:p>
          <a:p>
            <a:r>
              <a:rPr lang="en-US" dirty="0"/>
              <a:t>Gender </a:t>
            </a:r>
            <a:r>
              <a:rPr lang="en-US" dirty="0">
                <a:sym typeface="Wingdings" panose="05000000000000000000" pitchFamily="2" charset="2"/>
              </a:rPr>
              <a:t> Male/ Female</a:t>
            </a:r>
          </a:p>
          <a:p>
            <a:r>
              <a:rPr lang="en-US" dirty="0">
                <a:sym typeface="Wingdings" panose="05000000000000000000" pitchFamily="2" charset="2"/>
              </a:rPr>
              <a:t>Salary-&gt; </a:t>
            </a:r>
            <a:r>
              <a:rPr lang="en-US" dirty="0"/>
              <a:t>monetary values in a defined range</a:t>
            </a:r>
          </a:p>
        </p:txBody>
      </p:sp>
    </p:spTree>
    <p:extLst>
      <p:ext uri="{BB962C8B-B14F-4D97-AF65-F5344CB8AC3E}">
        <p14:creationId xmlns:p14="http://schemas.microsoft.com/office/powerpoint/2010/main" val="386588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659D-1AC3-D260-F8D8-13F1C5B4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86CB58-6582-1811-4B6B-81546F5AA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8645" y="1902542"/>
            <a:ext cx="9896167" cy="364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4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FC2B-1DC0-73A6-9D4F-CB7C17B68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b="1" dirty="0"/>
              <a:t>Tuple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6758-E6A8-A18F-6849-2E96943F8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tuple</a:t>
            </a:r>
            <a:r>
              <a:rPr lang="en-US" dirty="0"/>
              <a:t> = a </a:t>
            </a:r>
            <a:r>
              <a:rPr lang="en-US" b="1" dirty="0"/>
              <a:t>row</a:t>
            </a:r>
            <a:r>
              <a:rPr lang="en-US" dirty="0"/>
              <a:t> of a relation.</a:t>
            </a:r>
          </a:p>
          <a:p>
            <a:r>
              <a:rPr lang="en-US" dirty="0"/>
              <a:t>Each tuple contains values for all attributes.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6ABA-CDFD-8400-22CB-C72AFED4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5. </a:t>
            </a:r>
            <a:r>
              <a:rPr lang="en-US" b="1" dirty="0"/>
              <a:t>Degree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1DC22-519C-D651-9466-8BCE818FA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degree</a:t>
            </a:r>
            <a:r>
              <a:rPr lang="en-US" dirty="0"/>
              <a:t> = number of attributes in a relation.</a:t>
            </a:r>
          </a:p>
          <a:p>
            <a:r>
              <a:rPr lang="en-US" dirty="0"/>
              <a:t>Example: Branch has 4 attributes → degree = 4.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2031A-124F-D51C-6C8F-0E708489D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239" y="3082413"/>
            <a:ext cx="6622025" cy="322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29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70C55-0DC6-D672-9282-23A621F6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b="1" dirty="0"/>
              <a:t>Cardinality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C7E36-4478-78E7-8E4E-031A11CEC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cardinality</a:t>
            </a:r>
            <a:r>
              <a:rPr lang="en-US" dirty="0"/>
              <a:t> = number of tuples (rows) in a relation at a given time.</a:t>
            </a:r>
          </a:p>
          <a:p>
            <a:r>
              <a:rPr lang="en-US" dirty="0"/>
              <a:t>Example: If Branch has 5 rows, cardinality = 5.</a:t>
            </a:r>
          </a:p>
          <a:p>
            <a:r>
              <a:rPr lang="en-US" dirty="0"/>
              <a:t>This changes dynamically as rows are added/deleted.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5C0945-C8CD-4CA6-4090-C0AEB9C35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00" y="4001294"/>
            <a:ext cx="446722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95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7260-4374-56C4-8536-892BCB6F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B4E0BC-1954-487E-D3D8-4697AA00B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9743" y="2079524"/>
            <a:ext cx="7197212" cy="370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34239-7EFE-FE94-8F59-5470AAC51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r>
              <a:rPr lang="en-US" b="1" dirty="0"/>
              <a:t>Relational Database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32A1D-7366-5336-C713-CBBEB7BD0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relational database</a:t>
            </a:r>
            <a:r>
              <a:rPr lang="en-US" dirty="0"/>
              <a:t> is built on the relational model. That means it is not just a random group of tables, but a set of well-structured relations that follow certain rules.</a:t>
            </a:r>
          </a:p>
          <a:p>
            <a:r>
              <a:rPr lang="en-US" b="1" dirty="0"/>
              <a:t>1. Collection of Relations</a:t>
            </a:r>
          </a:p>
          <a:p>
            <a:r>
              <a:rPr lang="en-US" dirty="0"/>
              <a:t>Each relation = a </a:t>
            </a:r>
            <a:r>
              <a:rPr lang="en-US" b="1" dirty="0"/>
              <a:t>table</a:t>
            </a:r>
            <a:r>
              <a:rPr lang="en-US" dirty="0"/>
              <a:t> with:</a:t>
            </a:r>
          </a:p>
          <a:p>
            <a:pPr lvl="1"/>
            <a:r>
              <a:rPr lang="en-US" dirty="0"/>
              <a:t>Rows (</a:t>
            </a:r>
            <a:r>
              <a:rPr lang="en-US" b="1" dirty="0"/>
              <a:t>tuples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Columns (</a:t>
            </a:r>
            <a:r>
              <a:rPr lang="en-US" b="1" dirty="0"/>
              <a:t>attributes</a:t>
            </a:r>
            <a:r>
              <a:rPr lang="en-US" dirty="0"/>
              <a:t>)</a:t>
            </a:r>
          </a:p>
          <a:p>
            <a:r>
              <a:rPr lang="en-US" dirty="0"/>
              <a:t>All relations in the database must have distinct names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67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A16EF-F285-1C85-D87D-C0F72150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C6B6-67FA-2D11-6E7B-4BB1C385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Normalization is the process of organizing tables in a database</a:t>
            </a:r>
          </a:p>
          <a:p>
            <a:r>
              <a:rPr lang="en-US" b="1" dirty="0"/>
              <a:t>Stored only once (no repetition): </a:t>
            </a:r>
            <a:r>
              <a:rPr lang="en-US" dirty="0"/>
              <a:t>Prevents storing the same fact in multiple places.</a:t>
            </a:r>
          </a:p>
          <a:p>
            <a:r>
              <a:rPr lang="en-US" b="1" dirty="0"/>
              <a:t>Consistent: </a:t>
            </a:r>
            <a:r>
              <a:rPr lang="en-US" dirty="0"/>
              <a:t>If a fact changes (like a student’s phone number), you only update it in one place.</a:t>
            </a:r>
          </a:p>
          <a:p>
            <a:r>
              <a:rPr lang="en-US" b="1" dirty="0"/>
              <a:t>Easy to maintain: </a:t>
            </a:r>
            <a:r>
              <a:rPr lang="en-US" dirty="0"/>
              <a:t> Avoids anomalies (errors like duplicate records, wrong updates, or missing values).</a:t>
            </a:r>
          </a:p>
          <a:p>
            <a:r>
              <a:rPr lang="en-US" dirty="0"/>
              <a:t>Improves </a:t>
            </a:r>
            <a:r>
              <a:rPr lang="en-US" b="1" dirty="0"/>
              <a:t>integrity</a:t>
            </a:r>
            <a:r>
              <a:rPr lang="en-US" dirty="0"/>
              <a:t> by enforcing rules between relations.</a:t>
            </a:r>
          </a:p>
        </p:txBody>
      </p:sp>
    </p:spTree>
    <p:extLst>
      <p:ext uri="{BB962C8B-B14F-4D97-AF65-F5344CB8AC3E}">
        <p14:creationId xmlns:p14="http://schemas.microsoft.com/office/powerpoint/2010/main" val="260388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F2FE-289F-7958-D49B-EB6DF6C8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Alternative Terminology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853725-B0C6-8CAB-09B4-186E330A9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197510"/>
            <a:ext cx="8937523" cy="280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11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CE424-945B-82C8-F377-63ED283E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Relations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F84CDF-63C7-377A-DE85-9542498F9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587" y="1991032"/>
            <a:ext cx="9556955" cy="36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50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AD722-0D17-C965-AFA0-B74B3BAB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schema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6C7BB-A412-21F8-73A7-8464C920E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relation schema</a:t>
            </a:r>
            <a:r>
              <a:rPr lang="en-US" dirty="0"/>
              <a:t> is like the structure of a table in a relational database.</a:t>
            </a:r>
          </a:p>
          <a:p>
            <a:pPr marL="0" indent="0">
              <a:buNone/>
            </a:pPr>
            <a:r>
              <a:rPr lang="en-US" dirty="0"/>
              <a:t> It specifies:</a:t>
            </a:r>
          </a:p>
          <a:p>
            <a:r>
              <a:rPr lang="en-US" b="1" dirty="0"/>
              <a:t>Relation (table) name:</a:t>
            </a:r>
            <a:r>
              <a:rPr lang="en-US" dirty="0"/>
              <a:t> the name of the table.</a:t>
            </a:r>
          </a:p>
          <a:p>
            <a:r>
              <a:rPr lang="en-US" b="1" dirty="0"/>
              <a:t>Set of attributes (columns)</a:t>
            </a:r>
            <a:r>
              <a:rPr lang="en-US" dirty="0"/>
              <a:t> → what columns the table will have.</a:t>
            </a:r>
          </a:p>
          <a:p>
            <a:r>
              <a:rPr lang="en-US" dirty="0"/>
              <a:t>Each attribute’s </a:t>
            </a:r>
            <a:r>
              <a:rPr lang="en-US" b="1" dirty="0"/>
              <a:t>domain</a:t>
            </a:r>
            <a:r>
              <a:rPr lang="en-US" dirty="0"/>
              <a:t> (the set of allowable values).</a:t>
            </a:r>
          </a:p>
          <a:p>
            <a:r>
              <a:rPr lang="en-US" b="1" dirty="0"/>
              <a:t>Domain of each attribute:</a:t>
            </a:r>
            <a:r>
              <a:rPr lang="en-US" dirty="0"/>
              <a:t> what type of values each column can store (like numbers, text,  etc.).</a:t>
            </a:r>
          </a:p>
        </p:txBody>
      </p:sp>
    </p:spTree>
    <p:extLst>
      <p:ext uri="{BB962C8B-B14F-4D97-AF65-F5344CB8AC3E}">
        <p14:creationId xmlns:p14="http://schemas.microsoft.com/office/powerpoint/2010/main" val="268122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B6D3-24A8-BEBD-F7F2-62957E18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 schema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41726-72F4-52A6-24B5-80C19EF64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relational database schema is like the overall design or structure of the entire database.</a:t>
            </a:r>
            <a:br>
              <a:rPr lang="en-US" dirty="0"/>
            </a:br>
            <a:r>
              <a:rPr lang="en-US" dirty="0"/>
              <a:t>It is the collection of all relation schemas (all the tables and their structures) in that database.</a:t>
            </a:r>
          </a:p>
          <a:p>
            <a:r>
              <a:rPr lang="en-US" dirty="0"/>
              <a:t>Each relation schema must have a </a:t>
            </a:r>
            <a:r>
              <a:rPr lang="en-US" b="1" dirty="0"/>
              <a:t>unique name</a:t>
            </a:r>
            <a:r>
              <a:rPr lang="en-US" dirty="0"/>
              <a:t>, so tables don’t get confused with one another.</a:t>
            </a:r>
          </a:p>
        </p:txBody>
      </p:sp>
    </p:spTree>
    <p:extLst>
      <p:ext uri="{BB962C8B-B14F-4D97-AF65-F5344CB8AC3E}">
        <p14:creationId xmlns:p14="http://schemas.microsoft.com/office/powerpoint/2010/main" val="648905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859C-2380-9B4C-CF28-2B2D41E9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E2200-15DC-6628-0D75-8CAE52A5B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relation (i.e., a table in a relational database) must satisfy certain rules that come from mathematics (set theory). These ensure consistency and simplicity in the model.</a:t>
            </a:r>
          </a:p>
          <a:p>
            <a:r>
              <a:rPr lang="en-US" b="1" dirty="0"/>
              <a:t>1. Unique Name</a:t>
            </a:r>
          </a:p>
          <a:p>
            <a:r>
              <a:rPr lang="en-US" dirty="0"/>
              <a:t>Every relation has a distinct name in the database schema.</a:t>
            </a:r>
          </a:p>
          <a:p>
            <a:r>
              <a:rPr lang="en-US" dirty="0"/>
              <a:t>Example.</a:t>
            </a:r>
          </a:p>
          <a:p>
            <a:r>
              <a:rPr lang="en-US" dirty="0"/>
              <a:t>Branch, staff are unique relation names.</a:t>
            </a:r>
          </a:p>
        </p:txBody>
      </p:sp>
    </p:spTree>
    <p:extLst>
      <p:ext uri="{BB962C8B-B14F-4D97-AF65-F5344CB8AC3E}">
        <p14:creationId xmlns:p14="http://schemas.microsoft.com/office/powerpoint/2010/main" val="1889873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0493F-A56D-AC5A-54DD-1BBBEA70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C673-C6BA-7835-C3E9-616853CE3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 Each cell of the relation contains exactly one  (single) value</a:t>
            </a:r>
          </a:p>
          <a:p>
            <a:r>
              <a:rPr lang="en-US" dirty="0"/>
              <a:t>Postcode = 75010 (valid)</a:t>
            </a:r>
          </a:p>
          <a:p>
            <a:r>
              <a:rPr lang="en-US" dirty="0"/>
              <a:t>Postcode = 75010, 75011  (not valid)</a:t>
            </a:r>
          </a:p>
          <a:p>
            <a:r>
              <a:rPr lang="en-US" dirty="0"/>
              <a:t>3. Distinct Attribute Names</a:t>
            </a:r>
          </a:p>
          <a:p>
            <a:r>
              <a:rPr lang="en-US" dirty="0"/>
              <a:t>Every attribute (column) must have a unique name within the relation.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Branch No, city, post code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162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1817-B5B5-CDE8-70DB-6D20605B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8E7BD-55F9-30F8-0715-978918C26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Same Domain for Attribute Values</a:t>
            </a:r>
          </a:p>
          <a:p>
            <a:r>
              <a:rPr lang="en-US" dirty="0"/>
              <a:t>All values in a column must come from the same domain.</a:t>
            </a:r>
          </a:p>
          <a:p>
            <a:r>
              <a:rPr lang="en-US" dirty="0"/>
              <a:t>Example: </a:t>
            </a:r>
          </a:p>
          <a:p>
            <a:r>
              <a:rPr lang="en-US" dirty="0"/>
              <a:t>Branch No: must always be branch numbers(B001-B999)</a:t>
            </a:r>
          </a:p>
          <a:p>
            <a:r>
              <a:rPr lang="en-US" b="1" dirty="0"/>
              <a:t>5. No Duplicate Tuples</a:t>
            </a:r>
          </a:p>
          <a:p>
            <a:r>
              <a:rPr lang="en-US" dirty="0"/>
              <a:t>Each row (tuple) must be unique in a relation.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(B005, 22 Deer </a:t>
            </a:r>
            <a:r>
              <a:rPr lang="en-US" dirty="0" err="1"/>
              <a:t>Rd,London</a:t>
            </a:r>
            <a:r>
              <a:rPr lang="en-US" dirty="0"/>
              <a:t>, SW1, 4EH)can appear </a:t>
            </a:r>
            <a:r>
              <a:rPr lang="en-US" b="1" dirty="0"/>
              <a:t>only once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531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D9EF-2BB7-A08B-9B4A-E3D347DCA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96D04-6F93-696C-B53A-A0D4A677E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b="1" dirty="0"/>
              <a:t>Order of Attributes Has No Significance</a:t>
            </a:r>
          </a:p>
          <a:p>
            <a:r>
              <a:rPr lang="en-US" dirty="0"/>
              <a:t>The arrangement of columns does not change the meaning of the relation.</a:t>
            </a:r>
          </a:p>
          <a:p>
            <a:r>
              <a:rPr lang="en-US" b="1" dirty="0"/>
              <a:t>7. Order of Tuples Has No Significance</a:t>
            </a:r>
          </a:p>
          <a:p>
            <a:r>
              <a:rPr lang="en-US" dirty="0"/>
              <a:t>Relations are sets of tuples → order does not matter.</a:t>
            </a:r>
          </a:p>
          <a:p>
            <a:r>
              <a:rPr lang="en-US" dirty="0"/>
              <a:t>Example: swapping the rows of branches B005 and B004 does not change the relation.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506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0AB5-ACEF-6F9C-CD97-8FA8BFDF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1F524-9470-A7CD-F1C3-C29ECFCFA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key is a special attribute (or a group of attributes/columns) in a relation (table) that is used to uniquely identify tuples (rows).</a:t>
            </a:r>
          </a:p>
        </p:txBody>
      </p:sp>
    </p:spTree>
    <p:extLst>
      <p:ext uri="{BB962C8B-B14F-4D97-AF65-F5344CB8AC3E}">
        <p14:creationId xmlns:p14="http://schemas.microsoft.com/office/powerpoint/2010/main" val="3428321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3CE3-C4EF-F961-AAF0-88C16B858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Super Key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1C5EF-6D1A-0F29-D18E-678B45A73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set of attributes that can uniquely identify a tuple.</a:t>
            </a:r>
          </a:p>
          <a:p>
            <a:r>
              <a:rPr lang="en-US" dirty="0"/>
              <a:t>Example: In a Student(</a:t>
            </a:r>
            <a:r>
              <a:rPr lang="en-US" dirty="0" err="1"/>
              <a:t>Student_ID</a:t>
            </a:r>
            <a:r>
              <a:rPr lang="en-US" dirty="0"/>
              <a:t>, Name, Email, Phone) table:</a:t>
            </a:r>
          </a:p>
          <a:p>
            <a:r>
              <a:rPr lang="en-US" dirty="0" err="1"/>
              <a:t>Student_ID</a:t>
            </a:r>
            <a:r>
              <a:rPr lang="en-US" dirty="0"/>
              <a:t>, Email, Phone</a:t>
            </a:r>
          </a:p>
          <a:p>
            <a:r>
              <a:rPr lang="en-US" dirty="0"/>
              <a:t>{</a:t>
            </a:r>
            <a:r>
              <a:rPr lang="en-US" dirty="0" err="1"/>
              <a:t>Student_ID</a:t>
            </a:r>
            <a:r>
              <a:rPr lang="en-US" dirty="0"/>
              <a:t>, Name}, {</a:t>
            </a:r>
            <a:r>
              <a:rPr lang="en-US" dirty="0" err="1"/>
              <a:t>Student_ID</a:t>
            </a:r>
            <a:r>
              <a:rPr lang="en-US" dirty="0"/>
              <a:t>, Email, Phone}</a:t>
            </a:r>
          </a:p>
          <a:p>
            <a:endParaRPr lang="en-US" b="1" dirty="0"/>
          </a:p>
          <a:p>
            <a:r>
              <a:rPr lang="en-US" dirty="0"/>
              <a:t>All are super keys because they can uniquely identify rows.</a:t>
            </a:r>
          </a:p>
        </p:txBody>
      </p:sp>
    </p:spTree>
    <p:extLst>
      <p:ext uri="{BB962C8B-B14F-4D97-AF65-F5344CB8AC3E}">
        <p14:creationId xmlns:p14="http://schemas.microsoft.com/office/powerpoint/2010/main" val="2945828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2CA0-C84A-1B78-6260-B82F5D56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key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68CD34-CBC5-9CB1-58B8-8C0E232B75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232957"/>
              </p:ext>
            </p:extLst>
          </p:nvPr>
        </p:nvGraphicFramePr>
        <p:xfrm>
          <a:off x="838200" y="2728451"/>
          <a:ext cx="10515600" cy="2713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423008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281829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651952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85303616"/>
                    </a:ext>
                  </a:extLst>
                </a:gridCol>
              </a:tblGrid>
              <a:tr h="678426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Mobile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624621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162556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Fatma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Fatima@gmail.com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76746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47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077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9F85-A1B3-3CED-3EC0-04C410D69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super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B282C-78B4-67EC-419A-05C94D30D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 </a:t>
            </a:r>
            <a:r>
              <a:rPr lang="en-US" dirty="0"/>
              <a:t>Unique for each student</a:t>
            </a:r>
          </a:p>
          <a:p>
            <a:r>
              <a:rPr lang="en-US" b="1" dirty="0"/>
              <a:t>Email</a:t>
            </a:r>
            <a:r>
              <a:rPr lang="en-US" dirty="0"/>
              <a:t> Unique for each student</a:t>
            </a:r>
          </a:p>
          <a:p>
            <a:r>
              <a:rPr lang="en-US" b="1" dirty="0"/>
              <a:t>Phone</a:t>
            </a:r>
            <a:r>
              <a:rPr lang="en-US" dirty="0"/>
              <a:t> Unique for each student</a:t>
            </a:r>
          </a:p>
          <a:p>
            <a:r>
              <a:rPr lang="en-US" b="1" dirty="0"/>
              <a:t>{ID, Name} </a:t>
            </a:r>
            <a:r>
              <a:rPr lang="en-US" dirty="0"/>
              <a:t>Still unique (but </a:t>
            </a:r>
            <a:r>
              <a:rPr lang="en-US" b="1" dirty="0"/>
              <a:t>has extra attribute</a:t>
            </a:r>
            <a:r>
              <a:rPr lang="en-US" dirty="0"/>
              <a:t>, Name is not needed).</a:t>
            </a:r>
          </a:p>
          <a:p>
            <a:r>
              <a:rPr lang="en-US" b="1" dirty="0"/>
              <a:t>{ID, Email} </a:t>
            </a:r>
            <a:r>
              <a:rPr lang="fr-FR" dirty="0"/>
              <a:t>Unique but </a:t>
            </a:r>
            <a:r>
              <a:rPr lang="fr-FR" dirty="0" err="1"/>
              <a:t>contains</a:t>
            </a:r>
            <a:r>
              <a:rPr lang="fr-FR" dirty="0"/>
              <a:t> extra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  <a:p>
            <a:r>
              <a:rPr lang="en-US" b="1" dirty="0"/>
              <a:t>{ID, Name, Email, Phone} </a:t>
            </a:r>
            <a:r>
              <a:rPr lang="en-US" dirty="0"/>
              <a:t>Unique but has all attributes (lots of extra).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5837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2447-F69C-FF71-B109-069DDCD3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Candidate key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B6E6D1-E7F0-A67C-3AE0-D907D0D4A7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391286"/>
              </p:ext>
            </p:extLst>
          </p:nvPr>
        </p:nvGraphicFramePr>
        <p:xfrm>
          <a:off x="1987345" y="3566793"/>
          <a:ext cx="8041560" cy="266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390">
                  <a:extLst>
                    <a:ext uri="{9D8B030D-6E8A-4147-A177-3AD203B41FA5}">
                      <a16:colId xmlns:a16="http://schemas.microsoft.com/office/drawing/2014/main" val="2813895975"/>
                    </a:ext>
                  </a:extLst>
                </a:gridCol>
                <a:gridCol w="2010390">
                  <a:extLst>
                    <a:ext uri="{9D8B030D-6E8A-4147-A177-3AD203B41FA5}">
                      <a16:colId xmlns:a16="http://schemas.microsoft.com/office/drawing/2014/main" val="2105304939"/>
                    </a:ext>
                  </a:extLst>
                </a:gridCol>
                <a:gridCol w="2010390">
                  <a:extLst>
                    <a:ext uri="{9D8B030D-6E8A-4147-A177-3AD203B41FA5}">
                      <a16:colId xmlns:a16="http://schemas.microsoft.com/office/drawing/2014/main" val="65726348"/>
                    </a:ext>
                  </a:extLst>
                </a:gridCol>
                <a:gridCol w="2010390">
                  <a:extLst>
                    <a:ext uri="{9D8B030D-6E8A-4147-A177-3AD203B41FA5}">
                      <a16:colId xmlns:a16="http://schemas.microsoft.com/office/drawing/2014/main" val="1207025665"/>
                    </a:ext>
                  </a:extLst>
                </a:gridCol>
              </a:tblGrid>
              <a:tr h="375024">
                <a:tc>
                  <a:txBody>
                    <a:bodyPr/>
                    <a:lstStyle/>
                    <a:p>
                      <a:r>
                        <a:rPr lang="en-US" dirty="0"/>
                        <a:t>Enrollment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783669"/>
                  </a:ext>
                </a:extLst>
              </a:tr>
              <a:tr h="214300">
                <a:tc>
                  <a:txBody>
                    <a:bodyPr/>
                    <a:lstStyle/>
                    <a:p>
                      <a:r>
                        <a:rPr lang="en-US" dirty="0"/>
                        <a:t>Cy-024-01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84597"/>
                  </a:ext>
                </a:extLst>
              </a:tr>
              <a:tr h="375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Cy-024-02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47536"/>
                  </a:ext>
                </a:extLst>
              </a:tr>
              <a:tr h="375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Cy-024-03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Mohammad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053493"/>
                  </a:ext>
                </a:extLst>
              </a:tr>
              <a:tr h="375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Cy-024-04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Mohammad 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841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1B22402-A766-BF79-ACFD-CCB829723B8B}"/>
              </a:ext>
            </a:extLst>
          </p:cNvPr>
          <p:cNvSpPr txBox="1"/>
          <p:nvPr/>
        </p:nvSpPr>
        <p:spPr>
          <a:xfrm>
            <a:off x="838200" y="1920200"/>
            <a:ext cx="80415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dirty="0"/>
              <a:t>Sometime a relation have more than one attribute that can uniquely identify each record in a table</a:t>
            </a:r>
          </a:p>
        </p:txBody>
      </p:sp>
    </p:spTree>
    <p:extLst>
      <p:ext uri="{BB962C8B-B14F-4D97-AF65-F5344CB8AC3E}">
        <p14:creationId xmlns:p14="http://schemas.microsoft.com/office/powerpoint/2010/main" val="4029304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1C63-BA1C-8CF9-E5C4-F7C76A81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9BD00-5155-F191-2D9F-EFD648DD0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Primary Key</a:t>
            </a:r>
          </a:p>
          <a:p>
            <a:r>
              <a:rPr lang="en-US" dirty="0"/>
              <a:t>The </a:t>
            </a:r>
            <a:r>
              <a:rPr lang="en-US" b="1" dirty="0"/>
              <a:t>chosen candidate key</a:t>
            </a:r>
            <a:r>
              <a:rPr lang="en-US" dirty="0"/>
              <a:t> to uniquely identify tuples in a relation.</a:t>
            </a:r>
          </a:p>
          <a:p>
            <a:r>
              <a:rPr lang="en-US" dirty="0"/>
              <a:t>Must satisfy:</a:t>
            </a:r>
          </a:p>
          <a:p>
            <a:pPr lvl="1"/>
            <a:r>
              <a:rPr lang="en-US" dirty="0"/>
              <a:t>Unique values.</a:t>
            </a:r>
          </a:p>
          <a:p>
            <a:pPr lvl="1"/>
            <a:r>
              <a:rPr lang="en-US" b="1" dirty="0"/>
              <a:t>Not null</a:t>
            </a:r>
            <a:r>
              <a:rPr lang="en-US" dirty="0"/>
              <a:t> (every tuple must have a value for the primary key).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82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A249-01CE-04E3-24C7-534D5F0C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9B345-0062-8AC0-69F0-6F8681454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Roll no is primary key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D2ECA8-711D-EDD1-D0E0-C55632AA9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379896"/>
              </p:ext>
            </p:extLst>
          </p:nvPr>
        </p:nvGraphicFramePr>
        <p:xfrm>
          <a:off x="2032000" y="2315496"/>
          <a:ext cx="8127999" cy="3318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68397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692859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91526608"/>
                    </a:ext>
                  </a:extLst>
                </a:gridCol>
              </a:tblGrid>
              <a:tr h="663678"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404432"/>
                  </a:ext>
                </a:extLst>
              </a:tr>
              <a:tr h="66367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191422"/>
                  </a:ext>
                </a:extLst>
              </a:tr>
              <a:tr h="66367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901407"/>
                  </a:ext>
                </a:extLst>
              </a:tr>
              <a:tr h="66367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287877"/>
                  </a:ext>
                </a:extLst>
              </a:tr>
              <a:tr h="66367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3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256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699A2-843B-504D-AD97-625A8714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62C6-3A5E-33BE-723A-A58FAA9C7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Alternate Key</a:t>
            </a:r>
          </a:p>
          <a:p>
            <a:r>
              <a:rPr lang="en-US" dirty="0"/>
              <a:t>The candidate keys that were </a:t>
            </a:r>
            <a:r>
              <a:rPr lang="en-US" b="1" dirty="0"/>
              <a:t>not chosen</a:t>
            </a:r>
            <a:r>
              <a:rPr lang="en-US" dirty="0"/>
              <a:t> as primary key.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The selected attribute is called primary key</a:t>
            </a:r>
          </a:p>
          <a:p>
            <a:r>
              <a:rPr lang="en-US" dirty="0"/>
              <a:t>The candidate attribute that is not selected for primary key is called alternate key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577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0E9C9-7498-9B7D-DC7A-62FC4E7A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218C53-C475-8A11-EE87-2CE4946F1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832" y="2153265"/>
            <a:ext cx="8686799" cy="312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41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923F-D52E-9B2D-83FD-D9D78E86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A7C71-2576-EAE7-AD46-F3D9D73F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Foreign Key</a:t>
            </a:r>
          </a:p>
          <a:p>
            <a:r>
              <a:rPr lang="en-US" dirty="0"/>
              <a:t>An attribute (or set of attributes) in one relation that refers to the </a:t>
            </a:r>
            <a:r>
              <a:rPr lang="en-US" b="1" dirty="0"/>
              <a:t>primary key</a:t>
            </a:r>
            <a:r>
              <a:rPr lang="en-US" dirty="0"/>
              <a:t> in another relation.</a:t>
            </a:r>
          </a:p>
          <a:p>
            <a:r>
              <a:rPr lang="en-US" dirty="0"/>
              <a:t>Used to maintain </a:t>
            </a:r>
            <a:r>
              <a:rPr lang="en-US" b="1" dirty="0"/>
              <a:t>referential integrity</a:t>
            </a:r>
            <a:r>
              <a:rPr lang="en-US" dirty="0"/>
              <a:t> (relationships between tables).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044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C5C3-89A8-9B02-1200-A494D74C2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B4699-A6A3-A5DF-C00C-01104FB53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Foreign key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9A6773-10FF-2449-8ED7-1F9FBC7F9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409357"/>
              </p:ext>
            </p:extLst>
          </p:nvPr>
        </p:nvGraphicFramePr>
        <p:xfrm>
          <a:off x="2032000" y="2197509"/>
          <a:ext cx="4191819" cy="1106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273">
                  <a:extLst>
                    <a:ext uri="{9D8B030D-6E8A-4147-A177-3AD203B41FA5}">
                      <a16:colId xmlns:a16="http://schemas.microsoft.com/office/drawing/2014/main" val="1038538930"/>
                    </a:ext>
                  </a:extLst>
                </a:gridCol>
                <a:gridCol w="1397273">
                  <a:extLst>
                    <a:ext uri="{9D8B030D-6E8A-4147-A177-3AD203B41FA5}">
                      <a16:colId xmlns:a16="http://schemas.microsoft.com/office/drawing/2014/main" val="3673782739"/>
                    </a:ext>
                  </a:extLst>
                </a:gridCol>
                <a:gridCol w="1397273">
                  <a:extLst>
                    <a:ext uri="{9D8B030D-6E8A-4147-A177-3AD203B41FA5}">
                      <a16:colId xmlns:a16="http://schemas.microsoft.com/office/drawing/2014/main" val="655055368"/>
                    </a:ext>
                  </a:extLst>
                </a:gridCol>
              </a:tblGrid>
              <a:tr h="368709"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24360"/>
                  </a:ext>
                </a:extLst>
              </a:tr>
              <a:tr h="36870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997422"/>
                  </a:ext>
                </a:extLst>
              </a:tr>
              <a:tr h="36870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7085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B9FFAD-1DC3-7F78-01E3-EEE6C35B3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453212"/>
              </p:ext>
            </p:extLst>
          </p:nvPr>
        </p:nvGraphicFramePr>
        <p:xfrm>
          <a:off x="6096000" y="3819832"/>
          <a:ext cx="406399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6">
                  <a:extLst>
                    <a:ext uri="{9D8B030D-6E8A-4147-A177-3AD203B41FA5}">
                      <a16:colId xmlns:a16="http://schemas.microsoft.com/office/drawing/2014/main" val="2805892090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3616888368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21400331"/>
                    </a:ext>
                  </a:extLst>
                </a:gridCol>
              </a:tblGrid>
              <a:tr h="170173">
                <a:tc>
                  <a:txBody>
                    <a:bodyPr/>
                    <a:lstStyle/>
                    <a:p>
                      <a:r>
                        <a:rPr lang="en-US" dirty="0"/>
                        <a:t>Roll 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08891"/>
                  </a:ext>
                </a:extLst>
              </a:tr>
              <a:tr h="17017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787474"/>
                  </a:ext>
                </a:extLst>
              </a:tr>
              <a:tr h="17017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386153"/>
                  </a:ext>
                </a:extLst>
              </a:tr>
              <a:tr h="29780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English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278163"/>
                  </a:ext>
                </a:extLst>
              </a:tr>
              <a:tr h="29780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Math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788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399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CEB6-7E70-FCA1-50AE-8C5196A8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F31A-B9FF-DC61-D584-FF65602B9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Composite Key</a:t>
            </a:r>
          </a:p>
          <a:p>
            <a:r>
              <a:rPr lang="en-US" dirty="0"/>
              <a:t>A key made of </a:t>
            </a:r>
            <a:r>
              <a:rPr lang="en-US" b="1" dirty="0"/>
              <a:t>two or more attributes</a:t>
            </a:r>
            <a:r>
              <a:rPr lang="en-US" dirty="0"/>
              <a:t> that together uniquely identify a tuple.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83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4E0B-65D8-B322-B949-701A47DE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2093A0-1A8B-A92C-DAAE-8963F79233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809022"/>
              </p:ext>
            </p:extLst>
          </p:nvPr>
        </p:nvGraphicFramePr>
        <p:xfrm>
          <a:off x="838200" y="1825625"/>
          <a:ext cx="10515597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91343570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1556841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99552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83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Information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5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95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Information security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724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Database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886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Information security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9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Database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346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80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1221</Words>
  <Application>Microsoft Office PowerPoint</Application>
  <PresentationFormat>Widescreen</PresentationFormat>
  <Paragraphs>217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Wingdings</vt:lpstr>
      <vt:lpstr>Office Theme</vt:lpstr>
      <vt:lpstr>Database</vt:lpstr>
      <vt:lpstr>Brief History of the Relational Model</vt:lpstr>
      <vt:lpstr>Relation</vt:lpstr>
      <vt:lpstr>2. Attribute</vt:lpstr>
      <vt:lpstr>3. Domain</vt:lpstr>
      <vt:lpstr>Example</vt:lpstr>
      <vt:lpstr>4. Tuple</vt:lpstr>
      <vt:lpstr> 5. Degree</vt:lpstr>
      <vt:lpstr>6. Cardinality</vt:lpstr>
      <vt:lpstr>PowerPoint Presentation</vt:lpstr>
      <vt:lpstr>7. Relational Database</vt:lpstr>
      <vt:lpstr>PowerPoint Presentation</vt:lpstr>
      <vt:lpstr>Alternative Terminology</vt:lpstr>
      <vt:lpstr>Mathematical Relations</vt:lpstr>
      <vt:lpstr>Relation schema </vt:lpstr>
      <vt:lpstr>Relational database schema </vt:lpstr>
      <vt:lpstr>Properties of a Relation</vt:lpstr>
      <vt:lpstr>PowerPoint Presentation</vt:lpstr>
      <vt:lpstr>PowerPoint Presentation</vt:lpstr>
      <vt:lpstr>PowerPoint Presentation</vt:lpstr>
      <vt:lpstr>Relational Keys</vt:lpstr>
      <vt:lpstr>Super Key </vt:lpstr>
      <vt:lpstr>Super key</vt:lpstr>
      <vt:lpstr>Possible super keys</vt:lpstr>
      <vt:lpstr>Candidate key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Yasir Aziz</dc:creator>
  <cp:lastModifiedBy>Arfan Ahmed Naich</cp:lastModifiedBy>
  <cp:revision>19</cp:revision>
  <dcterms:created xsi:type="dcterms:W3CDTF">2025-09-19T14:39:31Z</dcterms:created>
  <dcterms:modified xsi:type="dcterms:W3CDTF">2026-09-06T18:35:17Z</dcterms:modified>
</cp:coreProperties>
</file>