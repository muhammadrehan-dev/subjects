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1" r:id="rId6"/>
    <p:sldId id="262" r:id="rId7"/>
    <p:sldId id="263" r:id="rId8"/>
    <p:sldId id="264" r:id="rId9"/>
    <p:sldId id="265" r:id="rId10"/>
    <p:sldId id="266" r:id="rId11"/>
    <p:sldId id="267" r:id="rId12"/>
    <p:sldId id="268" r:id="rId13"/>
    <p:sldId id="269" r:id="rId14"/>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p:restoredLeft sz="15621" autoAdjust="0"/>
    <p:restoredTop sz="94638" autoAdjust="0"/>
  </p:normalViewPr>
  <p:slideViewPr>
    <p:cSldViewPr>
      <p:cViewPr varScale="1">
        <p:scale>
          <a:sx n="86" d="100"/>
          <a:sy n="86"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E4A61AD2-1124-4A48-834B-715C33A0AA9D}" type="datetimeFigureOut">
              <a:rPr lang="en-US" smtClean="0"/>
              <a:pPr/>
              <a:t>11/16/2025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E6609A8-8FBA-460F-BA58-2727D90C7150}"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E4A61AD2-1124-4A48-834B-715C33A0AA9D}" type="datetimeFigureOut">
              <a:rPr lang="en-US" smtClean="0"/>
              <a:pPr/>
              <a:t>11/16/2025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E6609A8-8FBA-460F-BA58-2727D90C7150}"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E4A61AD2-1124-4A48-834B-715C33A0AA9D}" type="datetimeFigureOut">
              <a:rPr lang="en-US" smtClean="0"/>
              <a:pPr/>
              <a:t>11/16/2025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E6609A8-8FBA-460F-BA58-2727D90C7150}"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E4A61AD2-1124-4A48-834B-715C33A0AA9D}" type="datetimeFigureOut">
              <a:rPr lang="en-US" smtClean="0"/>
              <a:pPr/>
              <a:t>11/16/2025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E6609A8-8FBA-460F-BA58-2727D90C7150}"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E4A61AD2-1124-4A48-834B-715C33A0AA9D}" type="datetimeFigureOut">
              <a:rPr lang="en-US" smtClean="0"/>
              <a:pPr/>
              <a:t>11/16/2025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E6609A8-8FBA-460F-BA58-2727D90C7150}"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E4A61AD2-1124-4A48-834B-715C33A0AA9D}" type="datetimeFigureOut">
              <a:rPr lang="en-US" smtClean="0"/>
              <a:pPr/>
              <a:t>11/16/2025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E6609A8-8FBA-460F-BA58-2727D90C7150}"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4A61AD2-1124-4A48-834B-715C33A0AA9D}" type="datetimeFigureOut">
              <a:rPr lang="en-US" smtClean="0"/>
              <a:pPr/>
              <a:t>11/16/2025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E6609A8-8FBA-460F-BA58-2727D90C7150}"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E4A61AD2-1124-4A48-834B-715C33A0AA9D}" type="datetimeFigureOut">
              <a:rPr lang="en-US" smtClean="0"/>
              <a:pPr/>
              <a:t>11/16/2025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E6609A8-8FBA-460F-BA58-2727D90C7150}"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E4A61AD2-1124-4A48-834B-715C33A0AA9D}" type="datetimeFigureOut">
              <a:rPr lang="en-US" smtClean="0"/>
              <a:pPr/>
              <a:t>11/16/2025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E6609A8-8FBA-460F-BA58-2727D90C7150}"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E4A61AD2-1124-4A48-834B-715C33A0AA9D}" type="datetimeFigureOut">
              <a:rPr lang="en-US" smtClean="0"/>
              <a:pPr/>
              <a:t>11/16/2025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E6609A8-8FBA-460F-BA58-2727D90C7150}"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E4A61AD2-1124-4A48-834B-715C33A0AA9D}" type="datetimeFigureOut">
              <a:rPr lang="en-US" smtClean="0"/>
              <a:pPr/>
              <a:t>11/16/2025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E6609A8-8FBA-460F-BA58-2727D90C7150}"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4A61AD2-1124-4A48-834B-715C33A0AA9D}" type="datetimeFigureOut">
              <a:rPr lang="en-US" smtClean="0"/>
              <a:pPr/>
              <a:t>11/16/2025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E6609A8-8FBA-460F-BA58-2727D90C7150}"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228600" y="2971800"/>
            <a:ext cx="6400800" cy="1143000"/>
          </a:xfrm>
        </p:spPr>
        <p:txBody>
          <a:bodyPr>
            <a:normAutofit/>
          </a:bodyPr>
          <a:lstStyle/>
          <a:p>
            <a:r>
              <a:rPr lang="en-US" sz="6000" b="1" dirty="0" smtClean="0">
                <a:solidFill>
                  <a:schemeClr val="accent4">
                    <a:lumMod val="75000"/>
                  </a:schemeClr>
                </a:solidFill>
                <a:latin typeface="Algerian" pitchFamily="82" charset="0"/>
              </a:rPr>
              <a:t>ICT in Business</a:t>
            </a:r>
            <a:endParaRPr lang="en-US" sz="6000" b="1" dirty="0">
              <a:solidFill>
                <a:schemeClr val="accent4">
                  <a:lumMod val="75000"/>
                </a:schemeClr>
              </a:solidFill>
              <a:latin typeface="Algerian" pitchFamily="82" charset="0"/>
            </a:endParaRPr>
          </a:p>
        </p:txBody>
      </p:sp>
      <p:sp>
        <p:nvSpPr>
          <p:cNvPr id="4" name="Title 1"/>
          <p:cNvSpPr>
            <a:spLocks noGrp="1"/>
          </p:cNvSpPr>
          <p:nvPr>
            <p:ph type="ctrTitle"/>
          </p:nvPr>
        </p:nvSpPr>
        <p:spPr>
          <a:xfrm>
            <a:off x="609600" y="533400"/>
            <a:ext cx="7924800" cy="1927225"/>
          </a:xfrm>
          <a:prstGeom prst="rect">
            <a:avLst/>
          </a:prstGeom>
        </p:spPr>
        <p:style>
          <a:lnRef idx="1">
            <a:schemeClr val="accent4"/>
          </a:lnRef>
          <a:fillRef idx="2">
            <a:schemeClr val="accent4"/>
          </a:fillRef>
          <a:effectRef idx="1">
            <a:schemeClr val="accent4"/>
          </a:effectRef>
          <a:fontRef idx="minor">
            <a:schemeClr val="dk1"/>
          </a:fontRef>
        </p:style>
        <p:txBody>
          <a:bodyPr vert="horz" lIns="91440" tIns="45720" rIns="91440" bIns="45720" rtlCol="0" anchor="ctr">
            <a:normAutofit fontScale="90000"/>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r>
              <a:rPr lang="en-US" b="1" dirty="0" smtClean="0">
                <a:latin typeface="Algerian" pitchFamily="82" charset="0"/>
              </a:rPr>
              <a:t>Welcome to information &amp; communication technology </a:t>
            </a:r>
            <a:endParaRPr lang="en-US" b="1" dirty="0">
              <a:latin typeface="Algerian" pitchFamily="82" charset="0"/>
            </a:endParaRPr>
          </a:p>
        </p:txBody>
      </p:sp>
      <p:pic>
        <p:nvPicPr>
          <p:cNvPr id="5" name="Picture 4" descr="download (3).jpg"/>
          <p:cNvPicPr>
            <a:picLocks noChangeAspect="1"/>
          </p:cNvPicPr>
          <p:nvPr/>
        </p:nvPicPr>
        <p:blipFill>
          <a:blip r:embed="rId2"/>
          <a:stretch>
            <a:fillRect/>
          </a:stretch>
        </p:blipFill>
        <p:spPr>
          <a:xfrm>
            <a:off x="5257800" y="4038600"/>
            <a:ext cx="3429000" cy="2057400"/>
          </a:xfrm>
          <a:prstGeom prst="rect">
            <a:avLst/>
          </a:prstGeom>
          <a:solidFill>
            <a:srgbClr val="FFFFFF">
              <a:shade val="85000"/>
            </a:srgbClr>
          </a:solidFill>
          <a:ln w="88900" cap="sq">
            <a:solidFill>
              <a:schemeClr val="accent4">
                <a:lumMod val="60000"/>
                <a:lumOff val="40000"/>
              </a:schemeClr>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cSld>
  <p:clrMapOvr>
    <a:masterClrMapping/>
  </p:clrMapOvr>
  <p:transition spd="slow">
    <p:dissolve/>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5400" b="1" dirty="0" smtClean="0">
                <a:solidFill>
                  <a:schemeClr val="accent4">
                    <a:lumMod val="75000"/>
                  </a:schemeClr>
                </a:solidFill>
                <a:latin typeface="Times New Roman" pitchFamily="18" charset="0"/>
                <a:cs typeface="Times New Roman" pitchFamily="18" charset="0"/>
              </a:rPr>
              <a:t>INFORMATION</a:t>
            </a:r>
            <a:endParaRPr lang="en-US" sz="5400" b="1" dirty="0">
              <a:solidFill>
                <a:schemeClr val="accent4">
                  <a:lumMod val="75000"/>
                </a:schemeClr>
              </a:solidFill>
              <a:latin typeface="Times New Roman" pitchFamily="18" charset="0"/>
              <a:cs typeface="Times New Roman" pitchFamily="18" charset="0"/>
            </a:endParaRPr>
          </a:p>
        </p:txBody>
      </p:sp>
      <p:sp>
        <p:nvSpPr>
          <p:cNvPr id="3" name="Cloud Callout 2"/>
          <p:cNvSpPr/>
          <p:nvPr/>
        </p:nvSpPr>
        <p:spPr>
          <a:xfrm>
            <a:off x="1371600" y="1752600"/>
            <a:ext cx="6629400" cy="3962400"/>
          </a:xfrm>
          <a:prstGeom prst="cloudCallou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en-US" sz="2000" b="1" dirty="0" smtClean="0">
                <a:solidFill>
                  <a:schemeClr val="accent4">
                    <a:lumMod val="75000"/>
                  </a:schemeClr>
                </a:solidFill>
                <a:latin typeface="Times New Roman" pitchFamily="18" charset="0"/>
                <a:cs typeface="Times New Roman" pitchFamily="18" charset="0"/>
              </a:rPr>
              <a:t>ICT is an essential part of modern business operations. It helps companies manage information , communicate effectively, mange data promote products and improve overall efficiency . ICT tools such as computers, internet and business software make work faster, easier, and more reliable.</a:t>
            </a:r>
            <a:endParaRPr lang="en-US" sz="2000" b="1" dirty="0">
              <a:solidFill>
                <a:schemeClr val="accent4">
                  <a:lumMod val="75000"/>
                </a:schemeClr>
              </a:solidFill>
              <a:latin typeface="Times New Roman" pitchFamily="18" charset="0"/>
              <a:cs typeface="Times New Roman" pitchFamily="18" charset="0"/>
            </a:endParaRPr>
          </a:p>
        </p:txBody>
      </p:sp>
    </p:spTree>
  </p:cSld>
  <p:clrMapOvr>
    <a:masterClrMapping/>
  </p:clrMapOvr>
  <p:transition spd="slow">
    <p:split orient="vert"/>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48400" y="0"/>
            <a:ext cx="2895600" cy="2133600"/>
          </a:xfrm>
        </p:spPr>
        <p:txBody>
          <a:bodyPr>
            <a:normAutofit/>
          </a:bodyPr>
          <a:lstStyle/>
          <a:p>
            <a:r>
              <a:rPr lang="en-US" sz="4000" b="1" dirty="0" smtClean="0">
                <a:solidFill>
                  <a:schemeClr val="accent4">
                    <a:lumMod val="75000"/>
                  </a:schemeClr>
                </a:solidFill>
                <a:latin typeface="Times New Roman" pitchFamily="18" charset="0"/>
                <a:cs typeface="Times New Roman" pitchFamily="18" charset="0"/>
              </a:rPr>
              <a:t>Importance </a:t>
            </a:r>
            <a:br>
              <a:rPr lang="en-US" sz="4000" b="1" dirty="0" smtClean="0">
                <a:solidFill>
                  <a:schemeClr val="accent4">
                    <a:lumMod val="75000"/>
                  </a:schemeClr>
                </a:solidFill>
                <a:latin typeface="Times New Roman" pitchFamily="18" charset="0"/>
                <a:cs typeface="Times New Roman" pitchFamily="18" charset="0"/>
              </a:rPr>
            </a:br>
            <a:r>
              <a:rPr lang="en-US" sz="4000" b="1" dirty="0" smtClean="0">
                <a:solidFill>
                  <a:schemeClr val="accent4">
                    <a:lumMod val="75000"/>
                  </a:schemeClr>
                </a:solidFill>
                <a:latin typeface="Times New Roman" pitchFamily="18" charset="0"/>
                <a:cs typeface="Times New Roman" pitchFamily="18" charset="0"/>
              </a:rPr>
              <a:t>of ICT in Business</a:t>
            </a:r>
            <a:endParaRPr lang="en-US" sz="4000" b="1" dirty="0">
              <a:solidFill>
                <a:schemeClr val="accent4">
                  <a:lumMod val="75000"/>
                </a:schemeClr>
              </a:solidFill>
              <a:latin typeface="Times New Roman" pitchFamily="18" charset="0"/>
              <a:cs typeface="Times New Roman" pitchFamily="18" charset="0"/>
            </a:endParaRPr>
          </a:p>
        </p:txBody>
      </p:sp>
      <p:sp>
        <p:nvSpPr>
          <p:cNvPr id="4" name="Right Arrow 3"/>
          <p:cNvSpPr/>
          <p:nvPr/>
        </p:nvSpPr>
        <p:spPr>
          <a:xfrm>
            <a:off x="228600" y="228600"/>
            <a:ext cx="5410200" cy="1676400"/>
          </a:xfrm>
          <a:prstGeom prst="rightArrow">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en-US" sz="3200" dirty="0" smtClean="0">
                <a:latin typeface="Times New Roman" pitchFamily="18" charset="0"/>
                <a:cs typeface="Times New Roman" pitchFamily="18" charset="0"/>
              </a:rPr>
              <a:t>Operate more efficiently.</a:t>
            </a:r>
            <a:endParaRPr lang="en-US" sz="3200" dirty="0">
              <a:latin typeface="Times New Roman" pitchFamily="18" charset="0"/>
              <a:cs typeface="Times New Roman" pitchFamily="18" charset="0"/>
            </a:endParaRPr>
          </a:p>
        </p:txBody>
      </p:sp>
      <p:sp>
        <p:nvSpPr>
          <p:cNvPr id="8" name="Right Arrow 7"/>
          <p:cNvSpPr/>
          <p:nvPr/>
        </p:nvSpPr>
        <p:spPr>
          <a:xfrm>
            <a:off x="1447800" y="1371600"/>
            <a:ext cx="5410200" cy="1676400"/>
          </a:xfrm>
          <a:prstGeom prst="rightArrow">
            <a:avLst/>
          </a:prstGeom>
        </p:spPr>
        <p:style>
          <a:lnRef idx="3">
            <a:schemeClr val="lt1"/>
          </a:lnRef>
          <a:fillRef idx="1">
            <a:schemeClr val="accent4"/>
          </a:fillRef>
          <a:effectRef idx="1">
            <a:schemeClr val="accent4"/>
          </a:effectRef>
          <a:fontRef idx="minor">
            <a:schemeClr val="lt1"/>
          </a:fontRef>
        </p:style>
        <p:txBody>
          <a:bodyPr rtlCol="0" anchor="ctr"/>
          <a:lstStyle/>
          <a:p>
            <a:pPr algn="ctr"/>
            <a:r>
              <a:rPr lang="en-US" sz="2800" dirty="0" smtClean="0">
                <a:latin typeface="Times New Roman" pitchFamily="18" charset="0"/>
                <a:cs typeface="Times New Roman" pitchFamily="18" charset="0"/>
              </a:rPr>
              <a:t>Reach customers worldwide</a:t>
            </a:r>
            <a:endParaRPr lang="en-US" sz="2800" dirty="0">
              <a:latin typeface="Times New Roman" pitchFamily="18" charset="0"/>
              <a:cs typeface="Times New Roman" pitchFamily="18" charset="0"/>
            </a:endParaRPr>
          </a:p>
        </p:txBody>
      </p:sp>
      <p:sp>
        <p:nvSpPr>
          <p:cNvPr id="9" name="Right Arrow 8"/>
          <p:cNvSpPr/>
          <p:nvPr/>
        </p:nvSpPr>
        <p:spPr>
          <a:xfrm>
            <a:off x="228600" y="2667000"/>
            <a:ext cx="5410200" cy="1676400"/>
          </a:xfrm>
          <a:prstGeom prst="rightArrow">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en-US" sz="2800" dirty="0" smtClean="0">
                <a:latin typeface="Times New Roman" pitchFamily="18" charset="0"/>
                <a:cs typeface="Times New Roman" pitchFamily="18" charset="0"/>
              </a:rPr>
              <a:t>Reduce costs and save time</a:t>
            </a:r>
            <a:endParaRPr lang="en-US" sz="2800" dirty="0">
              <a:latin typeface="Times New Roman" pitchFamily="18" charset="0"/>
              <a:cs typeface="Times New Roman" pitchFamily="18" charset="0"/>
            </a:endParaRPr>
          </a:p>
        </p:txBody>
      </p:sp>
      <p:sp>
        <p:nvSpPr>
          <p:cNvPr id="10" name="Right Arrow 9"/>
          <p:cNvSpPr/>
          <p:nvPr/>
        </p:nvSpPr>
        <p:spPr>
          <a:xfrm>
            <a:off x="1371600" y="3886200"/>
            <a:ext cx="5410200" cy="1676400"/>
          </a:xfrm>
          <a:prstGeom prst="rightArrow">
            <a:avLst/>
          </a:prstGeom>
        </p:spPr>
        <p:style>
          <a:lnRef idx="3">
            <a:schemeClr val="lt1"/>
          </a:lnRef>
          <a:fillRef idx="1">
            <a:schemeClr val="accent4"/>
          </a:fillRef>
          <a:effectRef idx="1">
            <a:schemeClr val="accent4"/>
          </a:effectRef>
          <a:fontRef idx="minor">
            <a:schemeClr val="lt1"/>
          </a:fontRef>
        </p:style>
        <p:txBody>
          <a:bodyPr rtlCol="0" anchor="ctr"/>
          <a:lstStyle/>
          <a:p>
            <a:pPr algn="ctr"/>
            <a:r>
              <a:rPr lang="en-US" sz="2000" dirty="0" smtClean="0">
                <a:latin typeface="Times New Roman" pitchFamily="18" charset="0"/>
                <a:cs typeface="Times New Roman" pitchFamily="18" charset="0"/>
              </a:rPr>
              <a:t>Improve communication and decision making </a:t>
            </a:r>
            <a:endParaRPr lang="en-US" sz="2000" dirty="0">
              <a:latin typeface="Times New Roman" pitchFamily="18" charset="0"/>
              <a:cs typeface="Times New Roman" pitchFamily="18" charset="0"/>
            </a:endParaRPr>
          </a:p>
        </p:txBody>
      </p:sp>
      <p:sp>
        <p:nvSpPr>
          <p:cNvPr id="11" name="Right Arrow 10"/>
          <p:cNvSpPr/>
          <p:nvPr/>
        </p:nvSpPr>
        <p:spPr>
          <a:xfrm>
            <a:off x="457200" y="5181600"/>
            <a:ext cx="5410200" cy="1676400"/>
          </a:xfrm>
          <a:prstGeom prst="rightArrow">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en-US" sz="2400" dirty="0" smtClean="0">
                <a:latin typeface="Times New Roman" pitchFamily="18" charset="0"/>
                <a:cs typeface="Times New Roman" pitchFamily="18" charset="0"/>
              </a:rPr>
              <a:t>Enhance customer service and satisfaction</a:t>
            </a:r>
            <a:endParaRPr lang="en-US" sz="2400" dirty="0">
              <a:latin typeface="Times New Roman" pitchFamily="18" charset="0"/>
              <a:cs typeface="Times New Roman" pitchFamily="18" charset="0"/>
            </a:endParaRPr>
          </a:p>
        </p:txBody>
      </p:sp>
    </p:spTree>
  </p:cSld>
  <p:clrMapOvr>
    <a:masterClrMapping/>
  </p:clrMapOvr>
  <p:transition spd="slow">
    <p:wheel spokes="8"/>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04800" y="2438400"/>
            <a:ext cx="4800600" cy="1085850"/>
          </a:xfrm>
        </p:spPr>
        <p:style>
          <a:lnRef idx="1">
            <a:schemeClr val="dk1"/>
          </a:lnRef>
          <a:fillRef idx="2">
            <a:schemeClr val="dk1"/>
          </a:fillRef>
          <a:effectRef idx="1">
            <a:schemeClr val="dk1"/>
          </a:effectRef>
          <a:fontRef idx="minor">
            <a:schemeClr val="dk1"/>
          </a:fontRef>
        </p:style>
        <p:txBody>
          <a:bodyPr>
            <a:normAutofit/>
          </a:bodyPr>
          <a:lstStyle/>
          <a:p>
            <a:r>
              <a:rPr lang="en-US" b="1" dirty="0" smtClean="0">
                <a:solidFill>
                  <a:schemeClr val="accent4">
                    <a:lumMod val="75000"/>
                  </a:schemeClr>
                </a:solidFill>
                <a:latin typeface="Times New Roman" pitchFamily="18" charset="0"/>
                <a:cs typeface="Times New Roman" pitchFamily="18" charset="0"/>
              </a:rPr>
              <a:t>Communications</a:t>
            </a:r>
            <a:endParaRPr lang="en-US" b="1" dirty="0">
              <a:solidFill>
                <a:schemeClr val="accent4">
                  <a:lumMod val="75000"/>
                </a:schemeClr>
              </a:solidFill>
              <a:latin typeface="Times New Roman" pitchFamily="18" charset="0"/>
              <a:cs typeface="Times New Roman" pitchFamily="18" charset="0"/>
            </a:endParaRPr>
          </a:p>
        </p:txBody>
      </p:sp>
      <p:sp>
        <p:nvSpPr>
          <p:cNvPr id="3" name="Subtitle 2"/>
          <p:cNvSpPr>
            <a:spLocks noGrp="1"/>
          </p:cNvSpPr>
          <p:nvPr>
            <p:ph type="subTitle" idx="1"/>
          </p:nvPr>
        </p:nvSpPr>
        <p:spPr>
          <a:xfrm>
            <a:off x="0" y="3886200"/>
            <a:ext cx="5638800" cy="2438400"/>
          </a:xfrm>
        </p:spPr>
        <p:txBody>
          <a:bodyPr>
            <a:normAutofit lnSpcReduction="10000"/>
          </a:bodyPr>
          <a:lstStyle/>
          <a:p>
            <a:r>
              <a:rPr lang="en-US" b="1" dirty="0" smtClean="0">
                <a:solidFill>
                  <a:schemeClr val="accent4">
                    <a:lumMod val="50000"/>
                  </a:schemeClr>
                </a:solidFill>
                <a:latin typeface="Times New Roman" pitchFamily="18" charset="0"/>
                <a:cs typeface="Times New Roman" pitchFamily="18" charset="0"/>
              </a:rPr>
              <a:t>ICT allows fast, easy and clear communication through emails, video conferencing, instant messaging apps and mobile phones.</a:t>
            </a:r>
            <a:endParaRPr lang="en-US" b="1" dirty="0">
              <a:solidFill>
                <a:schemeClr val="accent4">
                  <a:lumMod val="50000"/>
                </a:schemeClr>
              </a:solidFill>
              <a:latin typeface="Times New Roman" pitchFamily="18" charset="0"/>
              <a:cs typeface="Times New Roman" pitchFamily="18" charset="0"/>
            </a:endParaRPr>
          </a:p>
        </p:txBody>
      </p:sp>
      <p:sp>
        <p:nvSpPr>
          <p:cNvPr id="4" name="Title 1"/>
          <p:cNvSpPr txBox="1">
            <a:spLocks/>
          </p:cNvSpPr>
          <p:nvPr/>
        </p:nvSpPr>
        <p:spPr>
          <a:xfrm>
            <a:off x="609600" y="304800"/>
            <a:ext cx="7924800" cy="1752601"/>
          </a:xfrm>
          <a:prstGeom prst="rect">
            <a:avLst/>
          </a:prstGeom>
        </p:spPr>
        <p:style>
          <a:lnRef idx="1">
            <a:schemeClr val="accent4"/>
          </a:lnRef>
          <a:fillRef idx="2">
            <a:schemeClr val="accent4"/>
          </a:fillRef>
          <a:effectRef idx="1">
            <a:schemeClr val="accent4"/>
          </a:effectRef>
          <a:fontRef idx="minor">
            <a:schemeClr val="dk1"/>
          </a:fontRef>
        </p:style>
        <p:txBody>
          <a:bodyPr vert="horz" lIns="91440" tIns="45720" rIns="91440" bIns="45720" rtlCol="0" anchor="ctr">
            <a:normAutofit fontScale="97500"/>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r>
              <a:rPr lang="en-US" b="1" dirty="0" smtClean="0">
                <a:latin typeface="Algerian" pitchFamily="82" charset="0"/>
              </a:rPr>
              <a:t>Major uses of ICT in business</a:t>
            </a:r>
            <a:r>
              <a:rPr kumimoji="0" lang="en-US" sz="4400" b="1" i="0" u="none" strike="noStrike" kern="1200" cap="none" spc="0" normalizeH="0" baseline="0" noProof="0" dirty="0" smtClean="0">
                <a:ln>
                  <a:noFill/>
                </a:ln>
                <a:solidFill>
                  <a:schemeClr val="dk1"/>
                </a:solidFill>
                <a:effectLst/>
                <a:uLnTx/>
                <a:uFillTx/>
                <a:latin typeface="Algerian" pitchFamily="82" charset="0"/>
                <a:ea typeface="+mn-ea"/>
                <a:cs typeface="+mn-cs"/>
              </a:rPr>
              <a:t> </a:t>
            </a:r>
            <a:endParaRPr kumimoji="0" lang="en-US" sz="4400" b="1" i="0" u="none" strike="noStrike" kern="1200" cap="none" spc="0" normalizeH="0" baseline="0" noProof="0" dirty="0">
              <a:ln>
                <a:noFill/>
              </a:ln>
              <a:solidFill>
                <a:schemeClr val="dk1"/>
              </a:solidFill>
              <a:effectLst/>
              <a:uLnTx/>
              <a:uFillTx/>
              <a:latin typeface="Algerian" pitchFamily="82" charset="0"/>
              <a:ea typeface="+mn-ea"/>
              <a:cs typeface="+mn-cs"/>
            </a:endParaRPr>
          </a:p>
        </p:txBody>
      </p:sp>
      <p:pic>
        <p:nvPicPr>
          <p:cNvPr id="5" name="Picture 4" descr="download (4).jpg"/>
          <p:cNvPicPr>
            <a:picLocks noChangeAspect="1"/>
          </p:cNvPicPr>
          <p:nvPr/>
        </p:nvPicPr>
        <p:blipFill>
          <a:blip r:embed="rId2"/>
          <a:stretch>
            <a:fillRect/>
          </a:stretch>
        </p:blipFill>
        <p:spPr>
          <a:xfrm>
            <a:off x="5867400" y="2971800"/>
            <a:ext cx="3124200" cy="2286000"/>
          </a:xfrm>
          <a:prstGeom prst="snip2DiagRect">
            <a:avLst/>
          </a:prstGeom>
          <a:solidFill>
            <a:srgbClr val="FFFFFF">
              <a:shade val="85000"/>
            </a:srgbClr>
          </a:solidFill>
          <a:ln w="88900" cap="sq">
            <a:solidFill>
              <a:schemeClr val="accent4">
                <a:lumMod val="50000"/>
              </a:schemeClr>
            </a:solidFill>
            <a:miter lim="800000"/>
          </a:ln>
          <a:effectLst>
            <a:outerShdw blurRad="88900" algn="tl" rotWithShape="0">
              <a:srgbClr val="000000">
                <a:alpha val="45000"/>
              </a:srgbClr>
            </a:outerShdw>
          </a:effectLst>
          <a:scene3d>
            <a:camera prst="perspectiveLeft"/>
            <a:lightRig rig="twoPt" dir="t">
              <a:rot lat="0" lon="0" rev="7200000"/>
            </a:lightRig>
          </a:scene3d>
          <a:sp3d>
            <a:bevelT w="25400" h="19050"/>
            <a:contourClr>
              <a:srgbClr val="FFFFFF"/>
            </a:contourClr>
          </a:sp3d>
        </p:spPr>
      </p:pic>
    </p:spTree>
  </p:cSld>
  <p:clrMapOvr>
    <a:masterClrMapping/>
  </p:clrMapOvr>
  <p:transition spd="slow">
    <p:wipe dir="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2133600"/>
            <a:ext cx="8001000" cy="1600200"/>
          </a:xfrm>
        </p:spPr>
        <p:txBody>
          <a:bodyPr>
            <a:normAutofit/>
          </a:bodyPr>
          <a:lstStyle/>
          <a:p>
            <a:r>
              <a:rPr lang="en-US" sz="3200" dirty="0" smtClean="0">
                <a:solidFill>
                  <a:schemeClr val="accent4">
                    <a:lumMod val="50000"/>
                  </a:schemeClr>
                </a:solidFill>
                <a:latin typeface="Times New Roman" pitchFamily="18" charset="0"/>
                <a:cs typeface="Times New Roman" pitchFamily="18" charset="0"/>
              </a:rPr>
              <a:t>ICT helps store, organize and protect large amounts of business data such as employee records, sales reports, and inventories.</a:t>
            </a:r>
            <a:endParaRPr lang="en-US" sz="3200" dirty="0">
              <a:solidFill>
                <a:schemeClr val="accent4">
                  <a:lumMod val="50000"/>
                </a:schemeClr>
              </a:solidFill>
              <a:latin typeface="Times New Roman" pitchFamily="18" charset="0"/>
              <a:cs typeface="Times New Roman" pitchFamily="18" charset="0"/>
            </a:endParaRPr>
          </a:p>
        </p:txBody>
      </p:sp>
      <p:sp>
        <p:nvSpPr>
          <p:cNvPr id="3" name="Title 1"/>
          <p:cNvSpPr txBox="1">
            <a:spLocks/>
          </p:cNvSpPr>
          <p:nvPr/>
        </p:nvSpPr>
        <p:spPr>
          <a:xfrm>
            <a:off x="381000" y="228600"/>
            <a:ext cx="6019800" cy="1676400"/>
          </a:xfrm>
          <a:prstGeom prst="rect">
            <a:avLst/>
          </a:prstGeom>
        </p:spPr>
        <p:style>
          <a:lnRef idx="1">
            <a:schemeClr val="dk1"/>
          </a:lnRef>
          <a:fillRef idx="2">
            <a:schemeClr val="dk1"/>
          </a:fillRef>
          <a:effectRef idx="1">
            <a:schemeClr val="dk1"/>
          </a:effectRef>
          <a:fontRef idx="minor">
            <a:schemeClr val="dk1"/>
          </a:fontRef>
        </p:style>
        <p:txBody>
          <a:bodyPr vert="horz" lIns="91440" tIns="45720" rIns="91440" bIns="45720" rtlCol="0" anchor="ctr">
            <a:norm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lang="en-US" sz="4400" b="1" dirty="0" smtClean="0">
                <a:solidFill>
                  <a:schemeClr val="accent4">
                    <a:lumMod val="75000"/>
                  </a:schemeClr>
                </a:solidFill>
                <a:latin typeface="Times New Roman" pitchFamily="18" charset="0"/>
                <a:cs typeface="Times New Roman" pitchFamily="18" charset="0"/>
              </a:rPr>
              <a:t>Data management and record keeping</a:t>
            </a:r>
            <a:endParaRPr kumimoji="0" lang="en-US" sz="4400" b="1" i="0" u="none" strike="noStrike" kern="1200" cap="none" spc="0" normalizeH="0" baseline="0" noProof="0" dirty="0" smtClean="0">
              <a:ln>
                <a:noFill/>
              </a:ln>
              <a:solidFill>
                <a:schemeClr val="accent4">
                  <a:lumMod val="75000"/>
                </a:schemeClr>
              </a:solidFill>
              <a:effectLst/>
              <a:uLnTx/>
              <a:uFillTx/>
              <a:latin typeface="Times New Roman" pitchFamily="18" charset="0"/>
              <a:ea typeface="+mn-ea"/>
              <a:cs typeface="Times New Roman" pitchFamily="18" charset="0"/>
            </a:endParaRPr>
          </a:p>
        </p:txBody>
      </p:sp>
      <p:pic>
        <p:nvPicPr>
          <p:cNvPr id="4" name="Picture 3" descr="download (5).jpg"/>
          <p:cNvPicPr>
            <a:picLocks noChangeAspect="1"/>
          </p:cNvPicPr>
          <p:nvPr/>
        </p:nvPicPr>
        <p:blipFill>
          <a:blip r:embed="rId2"/>
          <a:stretch>
            <a:fillRect/>
          </a:stretch>
        </p:blipFill>
        <p:spPr>
          <a:xfrm>
            <a:off x="5029200" y="3886200"/>
            <a:ext cx="3429000" cy="2057400"/>
          </a:xfrm>
          <a:prstGeom prst="roundRect">
            <a:avLst>
              <a:gd name="adj" fmla="val 8594"/>
            </a:avLst>
          </a:prstGeom>
          <a:solidFill>
            <a:srgbClr val="FFFFFF">
              <a:shade val="85000"/>
            </a:srgbClr>
          </a:solidFill>
          <a:ln>
            <a:solidFill>
              <a:schemeClr val="accent4">
                <a:lumMod val="60000"/>
                <a:lumOff val="40000"/>
              </a:schemeClr>
            </a:solidFill>
          </a:ln>
          <a:effectLst>
            <a:outerShdw blurRad="76200" dir="13500000" sy="23000" kx="1200000" algn="br" rotWithShape="0">
              <a:prstClr val="black">
                <a:alpha val="20000"/>
              </a:prstClr>
            </a:outerShdw>
            <a:reflection blurRad="12700" stA="38000" endPos="28000" dist="5000" dir="5400000" sy="-100000" algn="bl" rotWithShape="0"/>
          </a:effectLst>
          <a:scene3d>
            <a:camera prst="obliqueTopRight"/>
            <a:lightRig rig="threePt" dir="t"/>
          </a:scene3d>
        </p:spPr>
      </p:pic>
    </p:spTree>
  </p:cSld>
  <p:clrMapOvr>
    <a:masterClrMapping/>
  </p:clrMapOvr>
  <p:transition spd="slow">
    <p:wip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1981200"/>
            <a:ext cx="7010400" cy="1676400"/>
          </a:xfrm>
        </p:spPr>
        <p:txBody>
          <a:bodyPr>
            <a:normAutofit/>
          </a:bodyPr>
          <a:lstStyle/>
          <a:p>
            <a:r>
              <a:rPr lang="en-US" sz="3200" dirty="0" smtClean="0">
                <a:solidFill>
                  <a:schemeClr val="accent4">
                    <a:lumMod val="50000"/>
                  </a:schemeClr>
                </a:solidFill>
                <a:latin typeface="Times New Roman" pitchFamily="18" charset="0"/>
                <a:cs typeface="Times New Roman" pitchFamily="18" charset="0"/>
              </a:rPr>
              <a:t>ICT supports digital marketing through website, social media and online advertisements.</a:t>
            </a:r>
            <a:endParaRPr lang="en-US" sz="3200" dirty="0">
              <a:solidFill>
                <a:schemeClr val="accent4">
                  <a:lumMod val="50000"/>
                </a:schemeClr>
              </a:solidFill>
              <a:latin typeface="Times New Roman" pitchFamily="18" charset="0"/>
              <a:cs typeface="Times New Roman" pitchFamily="18" charset="0"/>
            </a:endParaRPr>
          </a:p>
        </p:txBody>
      </p:sp>
      <p:sp>
        <p:nvSpPr>
          <p:cNvPr id="3" name="Title 1"/>
          <p:cNvSpPr txBox="1">
            <a:spLocks/>
          </p:cNvSpPr>
          <p:nvPr/>
        </p:nvSpPr>
        <p:spPr>
          <a:xfrm>
            <a:off x="457200" y="228600"/>
            <a:ext cx="6553200" cy="1524000"/>
          </a:xfrm>
          <a:prstGeom prst="rect">
            <a:avLst/>
          </a:prstGeom>
        </p:spPr>
        <p:style>
          <a:lnRef idx="1">
            <a:schemeClr val="dk1"/>
          </a:lnRef>
          <a:fillRef idx="2">
            <a:schemeClr val="dk1"/>
          </a:fillRef>
          <a:effectRef idx="1">
            <a:schemeClr val="dk1"/>
          </a:effectRef>
          <a:fontRef idx="minor">
            <a:schemeClr val="dk1"/>
          </a:fontRef>
        </p:style>
        <p:txBody>
          <a:bodyPr vert="horz" lIns="91440" tIns="45720" rIns="91440" bIns="45720" rtlCol="0" anchor="ctr">
            <a:norm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lang="en-US" sz="4400" b="1" dirty="0" smtClean="0">
                <a:solidFill>
                  <a:schemeClr val="accent4">
                    <a:lumMod val="75000"/>
                  </a:schemeClr>
                </a:solidFill>
                <a:latin typeface="Times New Roman" pitchFamily="18" charset="0"/>
                <a:cs typeface="Times New Roman" pitchFamily="18" charset="0"/>
              </a:rPr>
              <a:t>Marketing &amp; Advertisement</a:t>
            </a:r>
            <a:endParaRPr kumimoji="0" lang="en-US" sz="4400" b="1" i="0" u="none" strike="noStrike" kern="1200" cap="none" spc="0" normalizeH="0" baseline="0" noProof="0" dirty="0" smtClean="0">
              <a:ln>
                <a:noFill/>
              </a:ln>
              <a:solidFill>
                <a:schemeClr val="accent4">
                  <a:lumMod val="75000"/>
                </a:schemeClr>
              </a:solidFill>
              <a:effectLst/>
              <a:uLnTx/>
              <a:uFillTx/>
              <a:latin typeface="Times New Roman" pitchFamily="18" charset="0"/>
              <a:ea typeface="+mn-ea"/>
              <a:cs typeface="Times New Roman" pitchFamily="18" charset="0"/>
            </a:endParaRPr>
          </a:p>
        </p:txBody>
      </p:sp>
      <p:pic>
        <p:nvPicPr>
          <p:cNvPr id="4" name="Picture 3" descr="download (7).jpg"/>
          <p:cNvPicPr>
            <a:picLocks noChangeAspect="1"/>
          </p:cNvPicPr>
          <p:nvPr/>
        </p:nvPicPr>
        <p:blipFill>
          <a:blip r:embed="rId2"/>
          <a:stretch>
            <a:fillRect/>
          </a:stretch>
        </p:blipFill>
        <p:spPr>
          <a:xfrm>
            <a:off x="5181600" y="3657600"/>
            <a:ext cx="3733800" cy="2590800"/>
          </a:xfrm>
          <a:prstGeom prst="roundRect">
            <a:avLst>
              <a:gd name="adj" fmla="val 8594"/>
            </a:avLst>
          </a:prstGeom>
          <a:solidFill>
            <a:srgbClr val="FFFFFF">
              <a:shade val="85000"/>
            </a:srgbClr>
          </a:solidFill>
          <a:ln>
            <a:solidFill>
              <a:schemeClr val="accent4">
                <a:lumMod val="60000"/>
                <a:lumOff val="40000"/>
              </a:schemeClr>
            </a:solidFill>
          </a:ln>
          <a:effectLst>
            <a:outerShdw blurRad="76200" dir="13500000" sy="23000" kx="1200000" algn="br" rotWithShape="0">
              <a:prstClr val="black">
                <a:alpha val="20000"/>
              </a:prstClr>
            </a:outerShdw>
            <a:reflection blurRad="12700" stA="38000" endPos="28000" dist="5000" dir="5400000" sy="-100000" algn="bl" rotWithShape="0"/>
          </a:effectLst>
          <a:scene3d>
            <a:camera prst="obliqueTopRight"/>
            <a:lightRig rig="threePt" dir="t"/>
          </a:scene3d>
        </p:spPr>
      </p:pic>
    </p:spTree>
  </p:cSld>
  <p:clrMapOvr>
    <a:masterClrMapping/>
  </p:clrMapOvr>
  <p:transition spd="slow">
    <p:wipe dir="d"/>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752600"/>
            <a:ext cx="8229600" cy="1905000"/>
          </a:xfrm>
        </p:spPr>
        <p:txBody>
          <a:bodyPr>
            <a:normAutofit/>
          </a:bodyPr>
          <a:lstStyle/>
          <a:p>
            <a:r>
              <a:rPr lang="en-US" sz="3200" dirty="0" smtClean="0">
                <a:solidFill>
                  <a:schemeClr val="accent4">
                    <a:lumMod val="50000"/>
                  </a:schemeClr>
                </a:solidFill>
                <a:latin typeface="Times New Roman" pitchFamily="18" charset="0"/>
                <a:cs typeface="Times New Roman" pitchFamily="18" charset="0"/>
              </a:rPr>
              <a:t>ICT enables online buying and selling goods and services, allowing business to reach global customer.</a:t>
            </a:r>
            <a:endParaRPr lang="en-US" sz="3200" dirty="0">
              <a:solidFill>
                <a:schemeClr val="accent4">
                  <a:lumMod val="50000"/>
                </a:schemeClr>
              </a:solidFill>
              <a:latin typeface="Times New Roman" pitchFamily="18" charset="0"/>
              <a:cs typeface="Times New Roman" pitchFamily="18" charset="0"/>
            </a:endParaRPr>
          </a:p>
        </p:txBody>
      </p:sp>
      <p:sp>
        <p:nvSpPr>
          <p:cNvPr id="3" name="Title 1"/>
          <p:cNvSpPr txBox="1">
            <a:spLocks/>
          </p:cNvSpPr>
          <p:nvPr/>
        </p:nvSpPr>
        <p:spPr>
          <a:xfrm>
            <a:off x="609600" y="228600"/>
            <a:ext cx="5410200" cy="1371600"/>
          </a:xfrm>
          <a:prstGeom prst="rect">
            <a:avLst/>
          </a:prstGeom>
        </p:spPr>
        <p:style>
          <a:lnRef idx="1">
            <a:schemeClr val="dk1"/>
          </a:lnRef>
          <a:fillRef idx="2">
            <a:schemeClr val="dk1"/>
          </a:fillRef>
          <a:effectRef idx="1">
            <a:schemeClr val="dk1"/>
          </a:effectRef>
          <a:fontRef idx="minor">
            <a:schemeClr val="dk1"/>
          </a:fontRef>
        </p:style>
        <p:txBody>
          <a:bodyPr vert="horz" lIns="91440" tIns="45720" rIns="91440" bIns="45720" rtlCol="0" anchor="ctr">
            <a:norm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lang="en-US" sz="4400" b="1" dirty="0" smtClean="0">
                <a:solidFill>
                  <a:schemeClr val="accent4">
                    <a:lumMod val="75000"/>
                  </a:schemeClr>
                </a:solidFill>
                <a:latin typeface="Times New Roman" pitchFamily="18" charset="0"/>
                <a:cs typeface="Times New Roman" pitchFamily="18" charset="0"/>
              </a:rPr>
              <a:t>E-Commerce</a:t>
            </a:r>
            <a:endParaRPr kumimoji="0" lang="en-US" sz="4400" b="1" i="0" u="none" strike="noStrike" kern="1200" cap="none" spc="0" normalizeH="0" baseline="0" noProof="0" dirty="0" smtClean="0">
              <a:ln>
                <a:noFill/>
              </a:ln>
              <a:solidFill>
                <a:schemeClr val="accent4">
                  <a:lumMod val="75000"/>
                </a:schemeClr>
              </a:solidFill>
              <a:effectLst/>
              <a:uLnTx/>
              <a:uFillTx/>
              <a:latin typeface="Times New Roman" pitchFamily="18" charset="0"/>
              <a:ea typeface="+mn-ea"/>
              <a:cs typeface="Times New Roman" pitchFamily="18" charset="0"/>
            </a:endParaRPr>
          </a:p>
        </p:txBody>
      </p:sp>
      <p:pic>
        <p:nvPicPr>
          <p:cNvPr id="4" name="Picture 3" descr="download (8).jpg"/>
          <p:cNvPicPr>
            <a:picLocks noChangeAspect="1"/>
          </p:cNvPicPr>
          <p:nvPr/>
        </p:nvPicPr>
        <p:blipFill>
          <a:blip r:embed="rId2"/>
          <a:stretch>
            <a:fillRect/>
          </a:stretch>
        </p:blipFill>
        <p:spPr>
          <a:xfrm>
            <a:off x="4800600" y="3581400"/>
            <a:ext cx="3962400" cy="2514600"/>
          </a:xfrm>
          <a:prstGeom prst="roundRect">
            <a:avLst>
              <a:gd name="adj" fmla="val 8594"/>
            </a:avLst>
          </a:prstGeom>
          <a:solidFill>
            <a:srgbClr val="FFFFFF">
              <a:shade val="85000"/>
            </a:srgbClr>
          </a:solidFill>
          <a:ln>
            <a:solidFill>
              <a:schemeClr val="accent4">
                <a:lumMod val="60000"/>
                <a:lumOff val="40000"/>
              </a:schemeClr>
            </a:solidFill>
          </a:ln>
          <a:effectLst>
            <a:outerShdw blurRad="76200" dir="13500000" sy="23000" kx="1200000" algn="br" rotWithShape="0">
              <a:prstClr val="black">
                <a:alpha val="20000"/>
              </a:prstClr>
            </a:outerShdw>
            <a:reflection blurRad="12700" stA="38000" endPos="28000" dist="5000" dir="5400000" sy="-100000" algn="bl" rotWithShape="0"/>
          </a:effectLst>
          <a:scene3d>
            <a:camera prst="obliqueTopRight"/>
            <a:lightRig rig="threePt" dir="t"/>
          </a:scene3d>
        </p:spPr>
      </p:pic>
    </p:spTree>
  </p:cSld>
  <p:clrMapOvr>
    <a:masterClrMapping/>
  </p:clrMapOvr>
  <p:transition spd="slow">
    <p:wipe dir="u"/>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457200" y="2133600"/>
            <a:ext cx="7467600" cy="1752600"/>
          </a:xfrm>
        </p:spPr>
        <p:txBody>
          <a:bodyPr/>
          <a:lstStyle/>
          <a:p>
            <a:r>
              <a:rPr lang="en-US" dirty="0" smtClean="0">
                <a:solidFill>
                  <a:schemeClr val="accent4">
                    <a:lumMod val="50000"/>
                  </a:schemeClr>
                </a:solidFill>
                <a:latin typeface="Times New Roman" pitchFamily="18" charset="0"/>
                <a:cs typeface="Times New Roman" pitchFamily="18" charset="0"/>
              </a:rPr>
              <a:t>ICT assists in managing accounts, online transactions, and payroll systems efficiently.</a:t>
            </a:r>
            <a:endParaRPr lang="en-US" dirty="0">
              <a:solidFill>
                <a:schemeClr val="accent4">
                  <a:lumMod val="50000"/>
                </a:schemeClr>
              </a:solidFill>
              <a:latin typeface="Times New Roman" pitchFamily="18" charset="0"/>
              <a:cs typeface="Times New Roman" pitchFamily="18" charset="0"/>
            </a:endParaRPr>
          </a:p>
        </p:txBody>
      </p:sp>
      <p:sp>
        <p:nvSpPr>
          <p:cNvPr id="4" name="Title 1"/>
          <p:cNvSpPr txBox="1">
            <a:spLocks noGrp="1"/>
          </p:cNvSpPr>
          <p:nvPr>
            <p:ph type="ctrTitle"/>
          </p:nvPr>
        </p:nvSpPr>
        <p:spPr>
          <a:xfrm>
            <a:off x="304800" y="304800"/>
            <a:ext cx="7162800" cy="1470025"/>
          </a:xfrm>
          <a:prstGeom prst="rect">
            <a:avLst/>
          </a:prstGeom>
        </p:spPr>
        <p:style>
          <a:lnRef idx="1">
            <a:schemeClr val="dk1"/>
          </a:lnRef>
          <a:fillRef idx="2">
            <a:schemeClr val="dk1"/>
          </a:fillRef>
          <a:effectRef idx="1">
            <a:schemeClr val="dk1"/>
          </a:effectRef>
          <a:fontRef idx="minor">
            <a:schemeClr val="dk1"/>
          </a:fontRef>
        </p:style>
        <p:txBody>
          <a:bodyPr vert="horz" lIns="91440" tIns="45720" rIns="91440" bIns="45720" rtlCol="0" anchor="ctr">
            <a:norm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lang="en-US" sz="4400" b="1" dirty="0" smtClean="0">
                <a:solidFill>
                  <a:schemeClr val="accent4">
                    <a:lumMod val="75000"/>
                  </a:schemeClr>
                </a:solidFill>
                <a:latin typeface="Times New Roman" pitchFamily="18" charset="0"/>
                <a:cs typeface="Times New Roman" pitchFamily="18" charset="0"/>
              </a:rPr>
              <a:t>FINANCIAL MANAGEMENT</a:t>
            </a:r>
            <a:endParaRPr kumimoji="0" lang="en-US" sz="4400" b="1" i="0" u="none" strike="noStrike" kern="1200" cap="none" spc="0" normalizeH="0" baseline="0" noProof="0" dirty="0" smtClean="0">
              <a:ln>
                <a:noFill/>
              </a:ln>
              <a:solidFill>
                <a:schemeClr val="accent4">
                  <a:lumMod val="75000"/>
                </a:schemeClr>
              </a:solidFill>
              <a:effectLst/>
              <a:uLnTx/>
              <a:uFillTx/>
              <a:latin typeface="Times New Roman" pitchFamily="18" charset="0"/>
              <a:ea typeface="+mn-ea"/>
              <a:cs typeface="Times New Roman" pitchFamily="18" charset="0"/>
            </a:endParaRPr>
          </a:p>
        </p:txBody>
      </p:sp>
      <p:pic>
        <p:nvPicPr>
          <p:cNvPr id="5" name="Picture 4" descr="download (13).jpg"/>
          <p:cNvPicPr>
            <a:picLocks noChangeAspect="1"/>
          </p:cNvPicPr>
          <p:nvPr/>
        </p:nvPicPr>
        <p:blipFill>
          <a:blip r:embed="rId2"/>
          <a:stretch>
            <a:fillRect/>
          </a:stretch>
        </p:blipFill>
        <p:spPr>
          <a:xfrm>
            <a:off x="4724400" y="3733800"/>
            <a:ext cx="3276600" cy="1981200"/>
          </a:xfrm>
          <a:prstGeom prst="roundRect">
            <a:avLst>
              <a:gd name="adj" fmla="val 8594"/>
            </a:avLst>
          </a:prstGeom>
          <a:solidFill>
            <a:srgbClr val="FFFFFF">
              <a:shade val="85000"/>
            </a:srgbClr>
          </a:solidFill>
          <a:ln>
            <a:noFill/>
          </a:ln>
          <a:effectLst>
            <a:outerShdw blurRad="76200" dir="13500000" sy="23000" kx="1200000" algn="br" rotWithShape="0">
              <a:prstClr val="black">
                <a:alpha val="20000"/>
              </a:prstClr>
            </a:outerShdw>
            <a:reflection blurRad="12700" stA="38000" endPos="28000" dist="5000" dir="5400000" sy="-100000" algn="bl" rotWithShape="0"/>
          </a:effectLst>
          <a:scene3d>
            <a:camera prst="obliqueTopRight"/>
            <a:lightRig rig="threePt" dir="t"/>
          </a:scene3d>
        </p:spPr>
      </p:pic>
    </p:spTree>
  </p:cSld>
  <p:clrMapOvr>
    <a:masterClrMapping/>
  </p:clrMapOvr>
  <p:transition spd="slow">
    <p:cover dir="rd"/>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533400" y="2209800"/>
            <a:ext cx="7848600" cy="1752600"/>
          </a:xfrm>
        </p:spPr>
        <p:txBody>
          <a:bodyPr/>
          <a:lstStyle/>
          <a:p>
            <a:r>
              <a:rPr lang="en-US" dirty="0" smtClean="0">
                <a:solidFill>
                  <a:schemeClr val="accent4">
                    <a:lumMod val="50000"/>
                  </a:schemeClr>
                </a:solidFill>
              </a:rPr>
              <a:t>ICT  improves customer care through email, online chart, social media, and feedback systems.</a:t>
            </a:r>
            <a:endParaRPr lang="en-US" dirty="0">
              <a:solidFill>
                <a:schemeClr val="accent4">
                  <a:lumMod val="50000"/>
                </a:schemeClr>
              </a:solidFill>
            </a:endParaRPr>
          </a:p>
        </p:txBody>
      </p:sp>
      <p:sp>
        <p:nvSpPr>
          <p:cNvPr id="4" name="Title 1"/>
          <p:cNvSpPr txBox="1">
            <a:spLocks noGrp="1"/>
          </p:cNvSpPr>
          <p:nvPr>
            <p:ph type="ctrTitle"/>
          </p:nvPr>
        </p:nvSpPr>
        <p:spPr>
          <a:xfrm>
            <a:off x="381000" y="381000"/>
            <a:ext cx="7010400" cy="1470025"/>
          </a:xfrm>
          <a:prstGeom prst="rect">
            <a:avLst/>
          </a:prstGeom>
        </p:spPr>
        <p:style>
          <a:lnRef idx="1">
            <a:schemeClr val="dk1"/>
          </a:lnRef>
          <a:fillRef idx="2">
            <a:schemeClr val="dk1"/>
          </a:fillRef>
          <a:effectRef idx="1">
            <a:schemeClr val="dk1"/>
          </a:effectRef>
          <a:fontRef idx="minor">
            <a:schemeClr val="dk1"/>
          </a:fontRef>
        </p:style>
        <p:txBody>
          <a:bodyPr vert="horz" lIns="91440" tIns="45720" rIns="91440" bIns="45720" rtlCol="0" anchor="ctr">
            <a:norm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b="1" i="0" u="none" strike="noStrike" kern="1200" cap="none" spc="0" normalizeH="0" baseline="0" noProof="0" dirty="0" smtClean="0">
                <a:ln>
                  <a:noFill/>
                </a:ln>
                <a:solidFill>
                  <a:schemeClr val="accent4">
                    <a:lumMod val="75000"/>
                  </a:schemeClr>
                </a:solidFill>
                <a:effectLst/>
                <a:uLnTx/>
                <a:uFillTx/>
                <a:latin typeface="Times New Roman" pitchFamily="18" charset="0"/>
                <a:ea typeface="+mn-ea"/>
                <a:cs typeface="Times New Roman" pitchFamily="18" charset="0"/>
              </a:rPr>
              <a:t>CUSTOMER</a:t>
            </a:r>
            <a:r>
              <a:rPr kumimoji="0" lang="en-US" b="1" i="0" u="none" strike="noStrike" kern="1200" cap="none" spc="0" normalizeH="0" noProof="0" dirty="0" smtClean="0">
                <a:ln>
                  <a:noFill/>
                </a:ln>
                <a:solidFill>
                  <a:schemeClr val="accent4">
                    <a:lumMod val="75000"/>
                  </a:schemeClr>
                </a:solidFill>
                <a:effectLst/>
                <a:uLnTx/>
                <a:uFillTx/>
                <a:latin typeface="Times New Roman" pitchFamily="18" charset="0"/>
                <a:ea typeface="+mn-ea"/>
                <a:cs typeface="Times New Roman" pitchFamily="18" charset="0"/>
              </a:rPr>
              <a:t> SERVICE AND SUPPORT</a:t>
            </a:r>
            <a:endParaRPr kumimoji="0" lang="en-US" sz="4400" b="1" i="0" u="none" strike="noStrike" kern="1200" cap="none" spc="0" normalizeH="0" baseline="0" noProof="0" dirty="0" smtClean="0">
              <a:ln>
                <a:noFill/>
              </a:ln>
              <a:solidFill>
                <a:schemeClr val="accent4">
                  <a:lumMod val="75000"/>
                </a:schemeClr>
              </a:solidFill>
              <a:effectLst/>
              <a:uLnTx/>
              <a:uFillTx/>
              <a:latin typeface="Times New Roman" pitchFamily="18" charset="0"/>
              <a:ea typeface="+mn-ea"/>
              <a:cs typeface="Times New Roman" pitchFamily="18" charset="0"/>
            </a:endParaRPr>
          </a:p>
        </p:txBody>
      </p:sp>
      <p:pic>
        <p:nvPicPr>
          <p:cNvPr id="5" name="Picture 4" descr="images (1).jpg"/>
          <p:cNvPicPr>
            <a:picLocks noChangeAspect="1"/>
          </p:cNvPicPr>
          <p:nvPr/>
        </p:nvPicPr>
        <p:blipFill>
          <a:blip r:embed="rId2"/>
          <a:stretch>
            <a:fillRect/>
          </a:stretch>
        </p:blipFill>
        <p:spPr>
          <a:xfrm>
            <a:off x="4648200" y="4038600"/>
            <a:ext cx="3429000" cy="2133600"/>
          </a:xfrm>
          <a:prstGeom prst="roundRect">
            <a:avLst>
              <a:gd name="adj" fmla="val 8594"/>
            </a:avLst>
          </a:prstGeom>
          <a:solidFill>
            <a:srgbClr val="FFFFFF">
              <a:shade val="85000"/>
            </a:srgbClr>
          </a:solidFill>
          <a:ln>
            <a:noFill/>
          </a:ln>
          <a:effectLst>
            <a:outerShdw blurRad="76200" dir="13500000" sy="23000" kx="1200000" algn="br" rotWithShape="0">
              <a:prstClr val="black">
                <a:alpha val="20000"/>
              </a:prstClr>
            </a:outerShdw>
            <a:reflection blurRad="12700" stA="38000" endPos="28000" dist="5000" dir="5400000" sy="-100000" algn="bl" rotWithShape="0"/>
          </a:effectLst>
          <a:scene3d>
            <a:camera prst="obliqueTopRight"/>
            <a:lightRig rig="threePt" dir="t"/>
          </a:scene3d>
        </p:spPr>
      </p:pic>
    </p:spTree>
  </p:cSld>
  <p:clrMapOvr>
    <a:masterClrMapping/>
  </p:clrMapOvr>
  <p:transition spd="slow">
    <p:cover dir="lu"/>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381000" y="2438400"/>
            <a:ext cx="8229600" cy="3962400"/>
          </a:xfrm>
        </p:spPr>
        <p:txBody>
          <a:bodyPr>
            <a:normAutofit/>
          </a:bodyPr>
          <a:lstStyle/>
          <a:p>
            <a:pPr algn="l">
              <a:buFont typeface="Wingdings" pitchFamily="2" charset="2"/>
              <a:buChar char="v"/>
            </a:pPr>
            <a:r>
              <a:rPr lang="en-US" dirty="0" smtClean="0">
                <a:solidFill>
                  <a:schemeClr val="accent4">
                    <a:lumMod val="75000"/>
                  </a:schemeClr>
                </a:solidFill>
                <a:latin typeface="Times New Roman" pitchFamily="18" charset="0"/>
                <a:cs typeface="Times New Roman" pitchFamily="18" charset="0"/>
              </a:rPr>
              <a:t>Speeds up communication and data processing.</a:t>
            </a:r>
          </a:p>
          <a:p>
            <a:pPr algn="l">
              <a:buFont typeface="Wingdings" pitchFamily="2" charset="2"/>
              <a:buChar char="v"/>
            </a:pPr>
            <a:r>
              <a:rPr lang="en-US" dirty="0" smtClean="0">
                <a:solidFill>
                  <a:schemeClr val="accent4">
                    <a:lumMod val="75000"/>
                  </a:schemeClr>
                </a:solidFill>
                <a:latin typeface="Times New Roman" pitchFamily="18" charset="0"/>
                <a:cs typeface="Times New Roman" pitchFamily="18" charset="0"/>
              </a:rPr>
              <a:t>Expands market and reach globally.</a:t>
            </a:r>
          </a:p>
          <a:p>
            <a:pPr algn="l">
              <a:buFont typeface="Wingdings" pitchFamily="2" charset="2"/>
              <a:buChar char="v"/>
            </a:pPr>
            <a:r>
              <a:rPr lang="en-US" dirty="0" smtClean="0">
                <a:solidFill>
                  <a:schemeClr val="accent4">
                    <a:lumMod val="75000"/>
                  </a:schemeClr>
                </a:solidFill>
                <a:latin typeface="Times New Roman" pitchFamily="18" charset="0"/>
                <a:cs typeface="Times New Roman" pitchFamily="18" charset="0"/>
              </a:rPr>
              <a:t> </a:t>
            </a:r>
            <a:r>
              <a:rPr lang="en-US" dirty="0" smtClean="0">
                <a:solidFill>
                  <a:schemeClr val="accent4">
                    <a:lumMod val="75000"/>
                  </a:schemeClr>
                </a:solidFill>
                <a:latin typeface="Times New Roman" pitchFamily="18" charset="0"/>
                <a:cs typeface="Times New Roman" pitchFamily="18" charset="0"/>
              </a:rPr>
              <a:t>Exchange productivity and teamwork.</a:t>
            </a:r>
          </a:p>
          <a:p>
            <a:pPr algn="l">
              <a:buFont typeface="Wingdings" pitchFamily="2" charset="2"/>
              <a:buChar char="v"/>
            </a:pPr>
            <a:r>
              <a:rPr lang="en-US" dirty="0" smtClean="0">
                <a:solidFill>
                  <a:schemeClr val="accent4">
                    <a:lumMod val="75000"/>
                  </a:schemeClr>
                </a:solidFill>
                <a:latin typeface="Times New Roman" pitchFamily="18" charset="0"/>
                <a:cs typeface="Times New Roman" pitchFamily="18" charset="0"/>
              </a:rPr>
              <a:t> </a:t>
            </a:r>
            <a:r>
              <a:rPr lang="en-US" dirty="0" smtClean="0">
                <a:solidFill>
                  <a:schemeClr val="accent4">
                    <a:lumMod val="75000"/>
                  </a:schemeClr>
                </a:solidFill>
                <a:latin typeface="Times New Roman" pitchFamily="18" charset="0"/>
                <a:cs typeface="Times New Roman" pitchFamily="18" charset="0"/>
              </a:rPr>
              <a:t>Reduce paper usage and operational casts.</a:t>
            </a:r>
          </a:p>
          <a:p>
            <a:pPr algn="l">
              <a:buFont typeface="Wingdings" pitchFamily="2" charset="2"/>
              <a:buChar char="v"/>
            </a:pPr>
            <a:r>
              <a:rPr lang="en-US" dirty="0" smtClean="0">
                <a:solidFill>
                  <a:schemeClr val="accent4">
                    <a:lumMod val="75000"/>
                  </a:schemeClr>
                </a:solidFill>
                <a:latin typeface="Times New Roman" pitchFamily="18" charset="0"/>
                <a:cs typeface="Times New Roman" pitchFamily="18" charset="0"/>
              </a:rPr>
              <a:t> </a:t>
            </a:r>
            <a:r>
              <a:rPr lang="en-US" dirty="0" smtClean="0">
                <a:solidFill>
                  <a:schemeClr val="accent4">
                    <a:lumMod val="75000"/>
                  </a:schemeClr>
                </a:solidFill>
                <a:latin typeface="Times New Roman" pitchFamily="18" charset="0"/>
                <a:cs typeface="Times New Roman" pitchFamily="18" charset="0"/>
              </a:rPr>
              <a:t>Improves customer relationship management.</a:t>
            </a:r>
            <a:endParaRPr lang="en-US" dirty="0">
              <a:solidFill>
                <a:schemeClr val="accent4">
                  <a:lumMod val="75000"/>
                </a:schemeClr>
              </a:solidFill>
              <a:latin typeface="Times New Roman" pitchFamily="18" charset="0"/>
              <a:cs typeface="Times New Roman" pitchFamily="18" charset="0"/>
            </a:endParaRPr>
          </a:p>
        </p:txBody>
      </p:sp>
      <p:sp>
        <p:nvSpPr>
          <p:cNvPr id="6" name="Title 1"/>
          <p:cNvSpPr txBox="1">
            <a:spLocks noGrp="1"/>
          </p:cNvSpPr>
          <p:nvPr>
            <p:ph type="ctrTitle"/>
          </p:nvPr>
        </p:nvSpPr>
        <p:spPr>
          <a:xfrm>
            <a:off x="533400" y="381000"/>
            <a:ext cx="7772400" cy="1676400"/>
          </a:xfrm>
          <a:prstGeom prst="rect">
            <a:avLst/>
          </a:prstGeom>
        </p:spPr>
        <p:style>
          <a:lnRef idx="1">
            <a:schemeClr val="accent4"/>
          </a:lnRef>
          <a:fillRef idx="2">
            <a:schemeClr val="accent4"/>
          </a:fillRef>
          <a:effectRef idx="1">
            <a:schemeClr val="accent4"/>
          </a:effectRef>
          <a:fontRef idx="minor">
            <a:schemeClr val="dk1"/>
          </a:fontRef>
        </p:style>
        <p:txBody>
          <a:bodyPr vert="horz" lIns="91440" tIns="45720" rIns="91440" bIns="45720" rtlCol="0" anchor="ctr">
            <a:normAutofit fontScale="97500"/>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r>
              <a:rPr lang="en-US" b="1" dirty="0" smtClean="0">
                <a:latin typeface="Algerian" pitchFamily="82" charset="0"/>
              </a:rPr>
              <a:t>Advantages </a:t>
            </a:r>
            <a:r>
              <a:rPr lang="en-US" b="1" dirty="0" smtClean="0">
                <a:latin typeface="Algerian" pitchFamily="82" charset="0"/>
              </a:rPr>
              <a:t>of using </a:t>
            </a:r>
            <a:r>
              <a:rPr lang="en-US" b="1" dirty="0" smtClean="0">
                <a:latin typeface="Algerian" pitchFamily="82" charset="0"/>
              </a:rPr>
              <a:t>ICT in business</a:t>
            </a:r>
            <a:r>
              <a:rPr kumimoji="0" lang="en-US" sz="4400" b="1" i="0" u="none" strike="noStrike" kern="1200" cap="none" spc="0" normalizeH="0" baseline="0" noProof="0" dirty="0" smtClean="0">
                <a:ln>
                  <a:noFill/>
                </a:ln>
                <a:solidFill>
                  <a:schemeClr val="dk1"/>
                </a:solidFill>
                <a:effectLst/>
                <a:uLnTx/>
                <a:uFillTx/>
                <a:latin typeface="Algerian" pitchFamily="82" charset="0"/>
                <a:ea typeface="+mn-ea"/>
                <a:cs typeface="+mn-cs"/>
              </a:rPr>
              <a:t> </a:t>
            </a:r>
            <a:endParaRPr kumimoji="0" lang="en-US" sz="4400" b="1" i="0" u="none" strike="noStrike" kern="1200" cap="none" spc="0" normalizeH="0" baseline="0" noProof="0" dirty="0">
              <a:ln>
                <a:noFill/>
              </a:ln>
              <a:solidFill>
                <a:schemeClr val="dk1"/>
              </a:solidFill>
              <a:effectLst/>
              <a:uLnTx/>
              <a:uFillTx/>
              <a:latin typeface="Algerian" pitchFamily="82" charset="0"/>
              <a:ea typeface="+mn-ea"/>
              <a:cs typeface="+mn-cs"/>
            </a:endParaRPr>
          </a:p>
        </p:txBody>
      </p:sp>
    </p:spTree>
  </p:cSld>
  <p:clrMapOvr>
    <a:masterClrMapping/>
  </p:clrMapOvr>
  <p:transition spd="slow">
    <p:zoom/>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457200" y="2514600"/>
            <a:ext cx="8229600" cy="3733800"/>
          </a:xfrm>
        </p:spPr>
        <p:txBody>
          <a:bodyPr/>
          <a:lstStyle/>
          <a:p>
            <a:pPr algn="l">
              <a:buFont typeface="Wingdings" pitchFamily="2" charset="2"/>
              <a:buChar char="v"/>
            </a:pPr>
            <a:r>
              <a:rPr lang="en-US" dirty="0" smtClean="0"/>
              <a:t> </a:t>
            </a:r>
            <a:r>
              <a:rPr lang="en-US" sz="3600" dirty="0" smtClean="0">
                <a:solidFill>
                  <a:schemeClr val="accent4">
                    <a:lumMod val="75000"/>
                  </a:schemeClr>
                </a:solidFill>
                <a:latin typeface="Times New Roman" pitchFamily="18" charset="0"/>
                <a:cs typeface="Times New Roman" pitchFamily="18" charset="0"/>
              </a:rPr>
              <a:t>Cyber security risk and data theft.</a:t>
            </a:r>
          </a:p>
          <a:p>
            <a:pPr algn="l">
              <a:buFont typeface="Wingdings" pitchFamily="2" charset="2"/>
              <a:buChar char="v"/>
            </a:pPr>
            <a:r>
              <a:rPr lang="en-US" sz="3600" dirty="0" smtClean="0">
                <a:solidFill>
                  <a:schemeClr val="accent4">
                    <a:lumMod val="75000"/>
                  </a:schemeClr>
                </a:solidFill>
                <a:latin typeface="Times New Roman" pitchFamily="18" charset="0"/>
                <a:cs typeface="Times New Roman" pitchFamily="18" charset="0"/>
              </a:rPr>
              <a:t> </a:t>
            </a:r>
            <a:r>
              <a:rPr lang="en-US" sz="3600" dirty="0" smtClean="0">
                <a:solidFill>
                  <a:schemeClr val="accent4">
                    <a:lumMod val="75000"/>
                  </a:schemeClr>
                </a:solidFill>
                <a:latin typeface="Times New Roman" pitchFamily="18" charset="0"/>
                <a:cs typeface="Times New Roman" pitchFamily="18" charset="0"/>
              </a:rPr>
              <a:t>High setup and maintenance cost.</a:t>
            </a:r>
          </a:p>
          <a:p>
            <a:pPr algn="l">
              <a:buFont typeface="Wingdings" pitchFamily="2" charset="2"/>
              <a:buChar char="v"/>
            </a:pPr>
            <a:r>
              <a:rPr lang="en-US" sz="3600" dirty="0" smtClean="0">
                <a:solidFill>
                  <a:schemeClr val="accent4">
                    <a:lumMod val="75000"/>
                  </a:schemeClr>
                </a:solidFill>
                <a:latin typeface="Times New Roman" pitchFamily="18" charset="0"/>
                <a:cs typeface="Times New Roman" pitchFamily="18" charset="0"/>
              </a:rPr>
              <a:t> </a:t>
            </a:r>
            <a:r>
              <a:rPr lang="en-US" sz="3600" dirty="0" smtClean="0">
                <a:solidFill>
                  <a:schemeClr val="accent4">
                    <a:lumMod val="75000"/>
                  </a:schemeClr>
                </a:solidFill>
                <a:latin typeface="Times New Roman" pitchFamily="18" charset="0"/>
                <a:cs typeface="Times New Roman" pitchFamily="18" charset="0"/>
              </a:rPr>
              <a:t>Technical issues or system failures.</a:t>
            </a:r>
          </a:p>
          <a:p>
            <a:pPr algn="l">
              <a:buFont typeface="Wingdings" pitchFamily="2" charset="2"/>
              <a:buChar char="v"/>
            </a:pPr>
            <a:r>
              <a:rPr lang="en-US" sz="3600" dirty="0" smtClean="0">
                <a:solidFill>
                  <a:schemeClr val="accent4">
                    <a:lumMod val="75000"/>
                  </a:schemeClr>
                </a:solidFill>
                <a:latin typeface="Times New Roman" pitchFamily="18" charset="0"/>
                <a:cs typeface="Times New Roman" pitchFamily="18" charset="0"/>
              </a:rPr>
              <a:t> </a:t>
            </a:r>
            <a:r>
              <a:rPr lang="en-US" sz="3600" dirty="0" smtClean="0">
                <a:solidFill>
                  <a:schemeClr val="accent4">
                    <a:lumMod val="75000"/>
                  </a:schemeClr>
                </a:solidFill>
                <a:latin typeface="Times New Roman" pitchFamily="18" charset="0"/>
                <a:cs typeface="Times New Roman" pitchFamily="18" charset="0"/>
              </a:rPr>
              <a:t>Need for staff training and updates.</a:t>
            </a:r>
            <a:endParaRPr lang="en-US" sz="3600" dirty="0">
              <a:solidFill>
                <a:schemeClr val="accent4">
                  <a:lumMod val="75000"/>
                </a:schemeClr>
              </a:solidFill>
              <a:latin typeface="Times New Roman" pitchFamily="18" charset="0"/>
              <a:cs typeface="Times New Roman" pitchFamily="18" charset="0"/>
            </a:endParaRPr>
          </a:p>
        </p:txBody>
      </p:sp>
      <p:sp>
        <p:nvSpPr>
          <p:cNvPr id="4" name="Title 1"/>
          <p:cNvSpPr txBox="1">
            <a:spLocks noGrp="1"/>
          </p:cNvSpPr>
          <p:nvPr>
            <p:ph type="ctrTitle"/>
          </p:nvPr>
        </p:nvSpPr>
        <p:spPr>
          <a:xfrm>
            <a:off x="533400" y="381000"/>
            <a:ext cx="7772400" cy="1752600"/>
          </a:xfrm>
          <a:prstGeom prst="rect">
            <a:avLst/>
          </a:prstGeom>
        </p:spPr>
        <p:style>
          <a:lnRef idx="1">
            <a:schemeClr val="accent4"/>
          </a:lnRef>
          <a:fillRef idx="2">
            <a:schemeClr val="accent4"/>
          </a:fillRef>
          <a:effectRef idx="1">
            <a:schemeClr val="accent4"/>
          </a:effectRef>
          <a:fontRef idx="minor">
            <a:schemeClr val="dk1"/>
          </a:fontRef>
        </p:style>
        <p:txBody>
          <a:bodyPr vert="horz" lIns="91440" tIns="45720" rIns="91440" bIns="45720" rtlCol="0" anchor="ctr">
            <a:normAutofit fontScale="97500"/>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r>
              <a:rPr lang="en-US" b="1" dirty="0" smtClean="0">
                <a:latin typeface="Algerian" pitchFamily="82" charset="0"/>
              </a:rPr>
              <a:t>Challenges</a:t>
            </a:r>
            <a:r>
              <a:rPr lang="en-US" b="1" dirty="0" smtClean="0">
                <a:latin typeface="Algerian" pitchFamily="82" charset="0"/>
              </a:rPr>
              <a:t> </a:t>
            </a:r>
            <a:r>
              <a:rPr lang="en-US" b="1" dirty="0" smtClean="0">
                <a:latin typeface="Algerian" pitchFamily="82" charset="0"/>
              </a:rPr>
              <a:t>of ICT in business</a:t>
            </a:r>
            <a:r>
              <a:rPr kumimoji="0" lang="en-US" sz="4400" b="1" i="0" u="none" strike="noStrike" kern="1200" cap="none" spc="0" normalizeH="0" baseline="0" noProof="0" dirty="0" smtClean="0">
                <a:ln>
                  <a:noFill/>
                </a:ln>
                <a:solidFill>
                  <a:schemeClr val="dk1"/>
                </a:solidFill>
                <a:effectLst/>
                <a:uLnTx/>
                <a:uFillTx/>
                <a:latin typeface="Algerian" pitchFamily="82" charset="0"/>
                <a:ea typeface="+mn-ea"/>
                <a:cs typeface="+mn-cs"/>
              </a:rPr>
              <a:t> </a:t>
            </a:r>
            <a:endParaRPr kumimoji="0" lang="en-US" sz="4400" b="1" i="0" u="none" strike="noStrike" kern="1200" cap="none" spc="0" normalizeH="0" baseline="0" noProof="0" dirty="0">
              <a:ln>
                <a:noFill/>
              </a:ln>
              <a:solidFill>
                <a:schemeClr val="dk1"/>
              </a:solidFill>
              <a:effectLst/>
              <a:uLnTx/>
              <a:uFillTx/>
              <a:latin typeface="Algerian" pitchFamily="82" charset="0"/>
              <a:ea typeface="+mn-ea"/>
              <a:cs typeface="+mn-cs"/>
            </a:endParaRPr>
          </a:p>
        </p:txBody>
      </p:sp>
    </p:spTree>
  </p:cSld>
  <p:clrMapOvr>
    <a:masterClrMapping/>
  </p:clrMapOvr>
  <p:transition spd="slow">
    <p:plus/>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609600" y="2438400"/>
            <a:ext cx="7924800" cy="3505200"/>
          </a:xfrm>
        </p:spPr>
        <p:txBody>
          <a:bodyPr>
            <a:noAutofit/>
          </a:bodyPr>
          <a:lstStyle/>
          <a:p>
            <a:r>
              <a:rPr lang="en-US" dirty="0" smtClean="0">
                <a:solidFill>
                  <a:schemeClr val="accent4">
                    <a:lumMod val="75000"/>
                  </a:schemeClr>
                </a:solidFill>
                <a:latin typeface="Times New Roman" pitchFamily="18" charset="0"/>
                <a:cs typeface="Times New Roman" pitchFamily="18" charset="0"/>
              </a:rPr>
              <a:t>The future of business will depend even more on ICT through trends like Artificial Intelligence(AI), Cloud Computing, and Big Data.</a:t>
            </a:r>
          </a:p>
          <a:p>
            <a:r>
              <a:rPr lang="en-US" dirty="0" smtClean="0">
                <a:solidFill>
                  <a:schemeClr val="accent4">
                    <a:lumMod val="75000"/>
                  </a:schemeClr>
                </a:solidFill>
                <a:latin typeface="Times New Roman" pitchFamily="18" charset="0"/>
                <a:cs typeface="Times New Roman" pitchFamily="18" charset="0"/>
              </a:rPr>
              <a:t>These technologies will make decision-making smarter and business operations more automated.</a:t>
            </a:r>
            <a:endParaRPr lang="en-US" dirty="0">
              <a:solidFill>
                <a:schemeClr val="accent4">
                  <a:lumMod val="75000"/>
                </a:schemeClr>
              </a:solidFill>
              <a:latin typeface="Times New Roman" pitchFamily="18" charset="0"/>
              <a:cs typeface="Times New Roman" pitchFamily="18" charset="0"/>
            </a:endParaRPr>
          </a:p>
        </p:txBody>
      </p:sp>
      <p:sp>
        <p:nvSpPr>
          <p:cNvPr id="4" name="Title 1"/>
          <p:cNvSpPr txBox="1">
            <a:spLocks noGrp="1"/>
          </p:cNvSpPr>
          <p:nvPr>
            <p:ph type="ctrTitle"/>
          </p:nvPr>
        </p:nvSpPr>
        <p:spPr>
          <a:xfrm>
            <a:off x="609600" y="228600"/>
            <a:ext cx="7772400" cy="1676400"/>
          </a:xfrm>
          <a:prstGeom prst="rect">
            <a:avLst/>
          </a:prstGeom>
        </p:spPr>
        <p:style>
          <a:lnRef idx="1">
            <a:schemeClr val="accent4"/>
          </a:lnRef>
          <a:fillRef idx="2">
            <a:schemeClr val="accent4"/>
          </a:fillRef>
          <a:effectRef idx="1">
            <a:schemeClr val="accent4"/>
          </a:effectRef>
          <a:fontRef idx="minor">
            <a:schemeClr val="dk1"/>
          </a:fontRef>
        </p:style>
        <p:txBody>
          <a:bodyPr vert="horz" lIns="91440" tIns="45720" rIns="91440" bIns="45720" rtlCol="0" anchor="ctr">
            <a:normAutofit fontScale="97500"/>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r>
              <a:rPr lang="en-US" b="1" dirty="0" smtClean="0">
                <a:latin typeface="Algerian" pitchFamily="82" charset="0"/>
              </a:rPr>
              <a:t>Future of </a:t>
            </a:r>
            <a:r>
              <a:rPr lang="en-US" b="1" dirty="0" smtClean="0">
                <a:latin typeface="Algerian" pitchFamily="82" charset="0"/>
              </a:rPr>
              <a:t>ICT in business</a:t>
            </a:r>
            <a:r>
              <a:rPr kumimoji="0" lang="en-US" sz="4400" b="1" i="0" u="none" strike="noStrike" kern="1200" cap="none" spc="0" normalizeH="0" baseline="0" noProof="0" dirty="0" smtClean="0">
                <a:ln>
                  <a:noFill/>
                </a:ln>
                <a:solidFill>
                  <a:schemeClr val="dk1"/>
                </a:solidFill>
                <a:effectLst/>
                <a:uLnTx/>
                <a:uFillTx/>
                <a:latin typeface="Algerian" pitchFamily="82" charset="0"/>
                <a:ea typeface="+mn-ea"/>
                <a:cs typeface="+mn-cs"/>
              </a:rPr>
              <a:t> </a:t>
            </a:r>
            <a:endParaRPr kumimoji="0" lang="en-US" sz="4400" b="1" i="0" u="none" strike="noStrike" kern="1200" cap="none" spc="0" normalizeH="0" baseline="0" noProof="0" dirty="0">
              <a:ln>
                <a:noFill/>
              </a:ln>
              <a:solidFill>
                <a:schemeClr val="dk1"/>
              </a:solidFill>
              <a:effectLst/>
              <a:uLnTx/>
              <a:uFillTx/>
              <a:latin typeface="Algerian" pitchFamily="82" charset="0"/>
              <a:ea typeface="+mn-ea"/>
              <a:cs typeface="+mn-cs"/>
            </a:endParaRPr>
          </a:p>
        </p:txBody>
      </p:sp>
    </p:spTree>
  </p:cSld>
  <p:clrMapOvr>
    <a:masterClrMapping/>
  </p:clrMapOvr>
  <p:transition spd="slow">
    <p:circl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7772400" cy="1554162"/>
          </a:xfrm>
        </p:spPr>
        <p:style>
          <a:lnRef idx="1">
            <a:schemeClr val="dk1"/>
          </a:lnRef>
          <a:fillRef idx="2">
            <a:schemeClr val="dk1"/>
          </a:fillRef>
          <a:effectRef idx="1">
            <a:schemeClr val="dk1"/>
          </a:effectRef>
          <a:fontRef idx="minor">
            <a:schemeClr val="dk1"/>
          </a:fontRef>
        </p:style>
        <p:txBody>
          <a:bodyPr>
            <a:noAutofit/>
          </a:bodyPr>
          <a:lstStyle/>
          <a:p>
            <a:r>
              <a:rPr lang="en-US" sz="7200" b="1" dirty="0" smtClean="0">
                <a:solidFill>
                  <a:schemeClr val="accent4">
                    <a:lumMod val="50000"/>
                  </a:schemeClr>
                </a:solidFill>
                <a:latin typeface="Baskerville Old Face" pitchFamily="18" charset="0"/>
              </a:rPr>
              <a:t>CONCLUSION</a:t>
            </a:r>
            <a:endParaRPr lang="en-US" sz="7200" b="1" dirty="0">
              <a:solidFill>
                <a:schemeClr val="accent4">
                  <a:lumMod val="50000"/>
                </a:schemeClr>
              </a:solidFill>
              <a:latin typeface="Baskerville Old Face" pitchFamily="18" charset="0"/>
            </a:endParaRPr>
          </a:p>
        </p:txBody>
      </p:sp>
      <p:sp>
        <p:nvSpPr>
          <p:cNvPr id="3" name="Content Placeholder 2"/>
          <p:cNvSpPr>
            <a:spLocks noGrp="1"/>
          </p:cNvSpPr>
          <p:nvPr>
            <p:ph idx="1"/>
          </p:nvPr>
        </p:nvSpPr>
        <p:spPr>
          <a:xfrm>
            <a:off x="457200" y="2209800"/>
            <a:ext cx="8229600" cy="4525963"/>
          </a:xfrm>
        </p:spPr>
        <p:txBody>
          <a:bodyPr>
            <a:normAutofit/>
          </a:bodyPr>
          <a:lstStyle/>
          <a:p>
            <a:pPr algn="ctr">
              <a:buNone/>
            </a:pPr>
            <a:r>
              <a:rPr lang="en-US" sz="3600" dirty="0" smtClean="0">
                <a:solidFill>
                  <a:schemeClr val="accent4">
                    <a:lumMod val="75000"/>
                  </a:schemeClr>
                </a:solidFill>
                <a:latin typeface="Times New Roman" pitchFamily="18" charset="0"/>
                <a:cs typeface="Times New Roman" pitchFamily="18" charset="0"/>
              </a:rPr>
              <a:t>ICT has completely changed the business world by improving communication, management and global reach. It helps business work efficiently, serve customer better, and stay competitive. In short, ICT is the backbone of modern business success.</a:t>
            </a:r>
            <a:endParaRPr lang="en-US" sz="3600" dirty="0">
              <a:solidFill>
                <a:schemeClr val="accent4">
                  <a:lumMod val="75000"/>
                </a:schemeClr>
              </a:solidFill>
              <a:latin typeface="Times New Roman" pitchFamily="18" charset="0"/>
              <a:cs typeface="Times New Roman" pitchFamily="18" charset="0"/>
            </a:endParaRPr>
          </a:p>
        </p:txBody>
      </p:sp>
    </p:spTree>
  </p:cSld>
  <p:clrMapOvr>
    <a:masterClrMapping/>
  </p:clrMapOvr>
  <p:transition spd="slow">
    <p:comb/>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8498825</TotalTime>
  <Words>365</Words>
  <Application>Microsoft Office PowerPoint</Application>
  <PresentationFormat>On-screen Show (4:3)</PresentationFormat>
  <Paragraphs>39</Paragraphs>
  <Slides>13</Slides>
  <Notes>0</Notes>
  <HiddenSlides>0</HiddenSlides>
  <MMClips>0</MMClips>
  <ScaleCrop>false</ScaleCrop>
  <HeadingPairs>
    <vt:vector size="4" baseType="variant">
      <vt:variant>
        <vt:lpstr>Theme</vt:lpstr>
      </vt:variant>
      <vt:variant>
        <vt:i4>1</vt:i4>
      </vt:variant>
      <vt:variant>
        <vt:lpstr>Slide Titles</vt:lpstr>
      </vt:variant>
      <vt:variant>
        <vt:i4>13</vt:i4>
      </vt:variant>
    </vt:vector>
  </HeadingPairs>
  <TitlesOfParts>
    <vt:vector size="14" baseType="lpstr">
      <vt:lpstr>Office Theme</vt:lpstr>
      <vt:lpstr>Welcome to information &amp; communication technology </vt:lpstr>
      <vt:lpstr>INFORMATION</vt:lpstr>
      <vt:lpstr>Importance  of ICT in Business</vt:lpstr>
      <vt:lpstr>Communications</vt:lpstr>
      <vt:lpstr>ICT helps store, organize and protect large amounts of business data such as employee records, sales reports, and inventories.</vt:lpstr>
      <vt:lpstr>ICT supports digital marketing through website, social media and online advertisements.</vt:lpstr>
      <vt:lpstr>ICT enables online buying and selling goods and services, allowing business to reach global customer.</vt:lpstr>
      <vt:lpstr>FINANCIAL MANAGEMENT</vt:lpstr>
      <vt:lpstr>CUSTOMER SERVICE AND SUPPORT</vt:lpstr>
      <vt:lpstr>Advantages of using ICT in business </vt:lpstr>
      <vt:lpstr>Challenges of ICT in business </vt:lpstr>
      <vt:lpstr>Future of ICT in business </vt:lpstr>
      <vt:lpstr>CONCLUSION</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Welcome to information &amp; communication technology</dc:title>
  <dc:creator>Abdullah</dc:creator>
  <cp:lastModifiedBy>Abdullah</cp:lastModifiedBy>
  <cp:revision>13</cp:revision>
  <dcterms:created xsi:type="dcterms:W3CDTF">2009-09-16T18:02:19Z</dcterms:created>
  <dcterms:modified xsi:type="dcterms:W3CDTF">2025-11-16T07:30:13Z</dcterms:modified>
</cp:coreProperties>
</file>