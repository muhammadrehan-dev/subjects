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5" r:id="rId4"/>
    <p:sldId id="266" r:id="rId5"/>
    <p:sldId id="267" r:id="rId6"/>
    <p:sldId id="268" r:id="rId7"/>
    <p:sldId id="259" r:id="rId8"/>
    <p:sldId id="260" r:id="rId9"/>
    <p:sldId id="261" r:id="rId10"/>
    <p:sldId id="269" r:id="rId11"/>
    <p:sldId id="270" r:id="rId12"/>
    <p:sldId id="262" r:id="rId13"/>
    <p:sldId id="271" r:id="rId14"/>
    <p:sldId id="264"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270C2BE-B2C0-4EE7-A13F-251FCD67DA72}" type="datetimeFigureOut">
              <a:rPr lang="en-US" smtClean="0"/>
              <a:pPr/>
              <a:t>9/17/2009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70C2BE-B2C0-4EE7-A13F-251FCD67DA72}" type="datetimeFigureOut">
              <a:rPr lang="en-US" smtClean="0"/>
              <a:pPr/>
              <a:t>9/17/2009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270C2BE-B2C0-4EE7-A13F-251FCD67DA72}" type="datetimeFigureOut">
              <a:rPr lang="en-US" smtClean="0"/>
              <a:pPr/>
              <a:t>9/17/2009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270C2BE-B2C0-4EE7-A13F-251FCD67DA72}" type="datetimeFigureOut">
              <a:rPr lang="en-US" smtClean="0"/>
              <a:pPr/>
              <a:t>9/17/2009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270C2BE-B2C0-4EE7-A13F-251FCD67DA72}" type="datetimeFigureOut">
              <a:rPr lang="en-US" smtClean="0"/>
              <a:pPr/>
              <a:t>9/17/2009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270C2BE-B2C0-4EE7-A13F-251FCD67DA72}" type="datetimeFigureOut">
              <a:rPr lang="en-US" smtClean="0"/>
              <a:pPr/>
              <a:t>9/17/2009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70C2BE-B2C0-4EE7-A13F-251FCD67DA72}" type="datetimeFigureOut">
              <a:rPr lang="en-US" smtClean="0"/>
              <a:pPr/>
              <a:t>9/17/2009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70C2BE-B2C0-4EE7-A13F-251FCD67DA72}" type="datetimeFigureOut">
              <a:rPr lang="en-US" smtClean="0"/>
              <a:pPr/>
              <a:t>9/17/2009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70C2BE-B2C0-4EE7-A13F-251FCD67DA72}" type="datetimeFigureOut">
              <a:rPr lang="en-US" smtClean="0"/>
              <a:pPr/>
              <a:t>9/17/2009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70C2BE-B2C0-4EE7-A13F-251FCD67DA72}" type="datetimeFigureOut">
              <a:rPr lang="en-US" smtClean="0"/>
              <a:pPr/>
              <a:t>9/17/2009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270C2BE-B2C0-4EE7-A13F-251FCD67DA72}" type="datetimeFigureOut">
              <a:rPr lang="en-US" smtClean="0"/>
              <a:pPr/>
              <a:t>9/17/2009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27932D-0BC4-44B0-9C33-314625C48D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70C2BE-B2C0-4EE7-A13F-251FCD67DA72}" type="datetimeFigureOut">
              <a:rPr lang="en-US" smtClean="0"/>
              <a:pPr/>
              <a:t>9/17/2009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27932D-0BC4-44B0-9C33-314625C48D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95400"/>
            <a:ext cx="7772400" cy="1676400"/>
          </a:xfrm>
        </p:spPr>
        <p:txBody>
          <a:bodyPr>
            <a:normAutofit fontScale="90000"/>
          </a:bodyPr>
          <a:lstStyle/>
          <a:p>
            <a:r>
              <a:rPr lang="en-US" dirty="0" smtClean="0"/>
              <a:t> </a:t>
            </a:r>
            <a:r>
              <a:rPr lang="en-US" dirty="0" smtClean="0">
                <a:latin typeface="Algerian" pitchFamily="82" charset="0"/>
              </a:rPr>
              <a:t>Basics of atomic theories, introduction to particle physics, standard model</a:t>
            </a:r>
            <a:endParaRPr lang="en-US" dirty="0">
              <a:latin typeface="Algerian" pitchFamily="82" charset="0"/>
            </a:endParaRPr>
          </a:p>
        </p:txBody>
      </p:sp>
      <p:sp>
        <p:nvSpPr>
          <p:cNvPr id="3" name="Subtitle 2"/>
          <p:cNvSpPr>
            <a:spLocks noGrp="1"/>
          </p:cNvSpPr>
          <p:nvPr>
            <p:ph type="subTitle" idx="1"/>
          </p:nvPr>
        </p:nvSpPr>
        <p:spPr>
          <a:xfrm>
            <a:off x="381000" y="4038600"/>
            <a:ext cx="5181600" cy="1752600"/>
          </a:xfrm>
        </p:spPr>
        <p:txBody>
          <a:bodyPr/>
          <a:lstStyle/>
          <a:p>
            <a:pPr algn="l"/>
            <a:r>
              <a:rPr lang="en-US" dirty="0" smtClean="0"/>
              <a:t>NAME: AIZA NIZAM</a:t>
            </a:r>
          </a:p>
          <a:p>
            <a:pPr algn="l"/>
            <a:r>
              <a:rPr lang="en-US" dirty="0" smtClean="0"/>
              <a:t>ROLL NO: 25F-CY-103</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381000"/>
            <a:ext cx="7772400" cy="1752600"/>
          </a:xfrm>
          <a:ln/>
        </p:spPr>
        <p:style>
          <a:lnRef idx="3">
            <a:schemeClr val="lt1"/>
          </a:lnRef>
          <a:fillRef idx="1">
            <a:schemeClr val="accent2"/>
          </a:fillRef>
          <a:effectRef idx="1">
            <a:schemeClr val="accent2"/>
          </a:effectRef>
          <a:fontRef idx="minor">
            <a:schemeClr val="lt1"/>
          </a:fontRef>
        </p:style>
        <p:txBody>
          <a:bodyPr>
            <a:noAutofit/>
          </a:bodyPr>
          <a:lstStyle/>
          <a:p>
            <a:r>
              <a:rPr lang="en-US" sz="5400" dirty="0" smtClean="0">
                <a:latin typeface="Times New Roman" pitchFamily="18" charset="0"/>
                <a:cs typeface="Times New Roman" pitchFamily="18" charset="0"/>
              </a:rPr>
              <a:t>Basics Of Atomic Theories…</a:t>
            </a:r>
            <a:endParaRPr lang="en-US" sz="5400" dirty="0">
              <a:latin typeface="Times New Roman" pitchFamily="18" charset="0"/>
              <a:cs typeface="Times New Roman" pitchFamily="18" charset="0"/>
            </a:endParaRPr>
          </a:p>
        </p:txBody>
      </p:sp>
      <p:sp>
        <p:nvSpPr>
          <p:cNvPr id="3" name="Subtitle 2"/>
          <p:cNvSpPr>
            <a:spLocks noGrp="1"/>
          </p:cNvSpPr>
          <p:nvPr>
            <p:ph type="subTitle" idx="1"/>
          </p:nvPr>
        </p:nvSpPr>
        <p:spPr>
          <a:xfrm>
            <a:off x="762000" y="2895600"/>
            <a:ext cx="7848600" cy="3962400"/>
          </a:xfrm>
        </p:spPr>
        <p:txBody>
          <a:bodyPr>
            <a:normAutofit/>
          </a:bodyPr>
          <a:lstStyle/>
          <a:p>
            <a:r>
              <a:rPr lang="en-US" sz="4000" dirty="0" smtClean="0">
                <a:solidFill>
                  <a:schemeClr val="tx1">
                    <a:lumMod val="95000"/>
                    <a:lumOff val="5000"/>
                  </a:schemeClr>
                </a:solidFill>
                <a:latin typeface="Times New Roman" pitchFamily="18" charset="0"/>
                <a:cs typeface="Times New Roman" pitchFamily="18" charset="0"/>
              </a:rPr>
              <a:t>Atomic theory explains the </a:t>
            </a:r>
            <a:r>
              <a:rPr lang="en-US" sz="4000" b="1" dirty="0" smtClean="0">
                <a:solidFill>
                  <a:schemeClr val="tx1">
                    <a:lumMod val="95000"/>
                    <a:lumOff val="5000"/>
                  </a:schemeClr>
                </a:solidFill>
                <a:latin typeface="Times New Roman" pitchFamily="18" charset="0"/>
                <a:cs typeface="Times New Roman" pitchFamily="18" charset="0"/>
              </a:rPr>
              <a:t>structure of matter </a:t>
            </a:r>
            <a:r>
              <a:rPr lang="en-US" sz="4000" dirty="0" smtClean="0">
                <a:solidFill>
                  <a:schemeClr val="tx1">
                    <a:lumMod val="95000"/>
                    <a:lumOff val="5000"/>
                  </a:schemeClr>
                </a:solidFill>
                <a:latin typeface="Times New Roman" pitchFamily="18" charset="0"/>
                <a:cs typeface="Times New Roman" pitchFamily="18" charset="0"/>
              </a:rPr>
              <a:t>and how atoms behave. Over time, scientists proposed different models to explain atoms.</a:t>
            </a:r>
          </a:p>
          <a:p>
            <a:endParaRPr lang="en-US" dirty="0">
              <a:solidFill>
                <a:schemeClr val="tx1">
                  <a:lumMod val="95000"/>
                  <a:lumOff val="5000"/>
                </a:schemeClr>
              </a:solidFill>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1371600"/>
          </a:xfrm>
        </p:spPr>
        <p:style>
          <a:lnRef idx="3">
            <a:schemeClr val="lt1"/>
          </a:lnRef>
          <a:fillRef idx="1">
            <a:schemeClr val="accent2"/>
          </a:fillRef>
          <a:effectRef idx="1">
            <a:schemeClr val="accent2"/>
          </a:effectRef>
          <a:fontRef idx="minor">
            <a:schemeClr val="lt1"/>
          </a:fontRef>
        </p:style>
        <p:txBody>
          <a:bodyPr>
            <a:normAutofit fontScale="90000"/>
          </a:bodyPr>
          <a:lstStyle/>
          <a:p>
            <a:r>
              <a:rPr lang="en-US" dirty="0" smtClean="0"/>
              <a:t>a) </a:t>
            </a:r>
            <a:r>
              <a:rPr lang="en-US" b="1" dirty="0" smtClean="0">
                <a:latin typeface="Times New Roman" pitchFamily="18" charset="0"/>
                <a:cs typeface="Times New Roman" pitchFamily="18" charset="0"/>
              </a:rPr>
              <a:t>Dalton’s Atomic Theory (1803)</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4" name="Flowchart: Preparation 3"/>
          <p:cNvSpPr/>
          <p:nvPr/>
        </p:nvSpPr>
        <p:spPr>
          <a:xfrm>
            <a:off x="228600" y="1828800"/>
            <a:ext cx="4038600" cy="20574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400" dirty="0" smtClean="0">
                <a:latin typeface="Times New Roman" pitchFamily="18" charset="0"/>
                <a:cs typeface="Times New Roman" pitchFamily="18" charset="0"/>
              </a:rPr>
              <a:t>Matter is made of tiny, indivisible particles called </a:t>
            </a:r>
            <a:r>
              <a:rPr lang="en-US" sz="2400" b="1" dirty="0" smtClean="0">
                <a:latin typeface="Times New Roman" pitchFamily="18" charset="0"/>
                <a:cs typeface="Times New Roman" pitchFamily="18" charset="0"/>
              </a:rPr>
              <a:t>atoms.</a:t>
            </a:r>
            <a:endParaRPr lang="en-US" sz="2400" b="1" dirty="0">
              <a:latin typeface="Times New Roman" pitchFamily="18" charset="0"/>
              <a:cs typeface="Times New Roman" pitchFamily="18" charset="0"/>
            </a:endParaRPr>
          </a:p>
        </p:txBody>
      </p:sp>
      <p:sp>
        <p:nvSpPr>
          <p:cNvPr id="5" name="Flowchart: Preparation 4"/>
          <p:cNvSpPr/>
          <p:nvPr/>
        </p:nvSpPr>
        <p:spPr>
          <a:xfrm>
            <a:off x="457200" y="4343400"/>
            <a:ext cx="4114800" cy="20574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smtClean="0">
                <a:latin typeface="Times New Roman" pitchFamily="18" charset="0"/>
                <a:cs typeface="Times New Roman" pitchFamily="18" charset="0"/>
              </a:rPr>
              <a:t> Chemical reactions involve rearrangement of atoms.</a:t>
            </a:r>
          </a:p>
          <a:p>
            <a:pPr algn="ctr"/>
            <a:endParaRPr lang="en-US" dirty="0"/>
          </a:p>
        </p:txBody>
      </p:sp>
      <p:sp>
        <p:nvSpPr>
          <p:cNvPr id="6" name="Flowchart: Preparation 5"/>
          <p:cNvSpPr/>
          <p:nvPr/>
        </p:nvSpPr>
        <p:spPr>
          <a:xfrm>
            <a:off x="4572000" y="1828800"/>
            <a:ext cx="4114800" cy="20574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smtClean="0"/>
              <a:t> </a:t>
            </a:r>
            <a:r>
              <a:rPr lang="en-US" sz="2800" dirty="0" smtClean="0">
                <a:latin typeface="Times New Roman" pitchFamily="18" charset="0"/>
                <a:cs typeface="Times New Roman" pitchFamily="18" charset="0"/>
              </a:rPr>
              <a:t>Atoms of the same element are identical.</a:t>
            </a:r>
            <a:endParaRPr lang="en-US" sz="2800" dirty="0">
              <a:latin typeface="Times New Roman" pitchFamily="18" charset="0"/>
              <a:cs typeface="Times New Roman" pitchFamily="18" charset="0"/>
            </a:endParaRPr>
          </a:p>
        </p:txBody>
      </p:sp>
      <p:sp>
        <p:nvSpPr>
          <p:cNvPr id="10" name="Rounded Rectangle 9"/>
          <p:cNvSpPr/>
          <p:nvPr/>
        </p:nvSpPr>
        <p:spPr>
          <a:xfrm>
            <a:off x="4953000" y="4191000"/>
            <a:ext cx="3810000" cy="2286000"/>
          </a:xfrm>
          <a:prstGeom prst="round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b="1" dirty="0" smtClean="0">
                <a:latin typeface="Times New Roman" pitchFamily="18" charset="0"/>
                <a:cs typeface="Times New Roman" pitchFamily="18" charset="0"/>
              </a:rPr>
              <a:t>Limitation:</a:t>
            </a:r>
          </a:p>
          <a:p>
            <a:pPr algn="ctr"/>
            <a:r>
              <a:rPr lang="en-US" sz="2800" dirty="0" smtClean="0">
                <a:latin typeface="Times New Roman" pitchFamily="18" charset="0"/>
                <a:cs typeface="Times New Roman" pitchFamily="18" charset="0"/>
              </a:rPr>
              <a:t> Could not explain subatomic particles and isotopes.</a:t>
            </a:r>
            <a:endParaRPr lang="en-US" sz="2800" b="1" dirty="0">
              <a:ln w="18000">
                <a:solidFill>
                  <a:schemeClr val="accent2">
                    <a:satMod val="140000"/>
                  </a:schemeClr>
                </a:solidFill>
                <a:prstDash val="solid"/>
                <a:miter lim="800000"/>
              </a:ln>
              <a:noFill/>
              <a:effectLst>
                <a:outerShdw blurRad="25500" dist="23000" dir="7020000" algn="tl">
                  <a:srgbClr val="000000">
                    <a:alpha val="50000"/>
                  </a:srgbClr>
                </a:outerShdw>
              </a:effectLst>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effectLst>
            <a:outerShdw blurRad="152400" dist="317500" dir="5400000" sx="90000" sy="-19000" rotWithShape="0">
              <a:prstClr val="black">
                <a:alpha val="15000"/>
              </a:prstClr>
            </a:outerShdw>
          </a:effectLst>
        </p:spPr>
        <p:style>
          <a:lnRef idx="3">
            <a:schemeClr val="lt1"/>
          </a:lnRef>
          <a:fillRef idx="1">
            <a:schemeClr val="accent2"/>
          </a:fillRef>
          <a:effectRef idx="1">
            <a:schemeClr val="accent2"/>
          </a:effectRef>
          <a:fontRef idx="minor">
            <a:schemeClr val="lt1"/>
          </a:fontRef>
        </p:style>
        <p:txBody>
          <a:bodyPr>
            <a:normAutofit fontScale="90000"/>
          </a:bodyPr>
          <a:lstStyle/>
          <a:p>
            <a:r>
              <a:rPr lang="en-US" dirty="0" smtClean="0"/>
              <a:t>a) </a:t>
            </a:r>
            <a:r>
              <a:rPr lang="en-US" b="1" dirty="0" smtClean="0">
                <a:latin typeface="Times New Roman" pitchFamily="18" charset="0"/>
                <a:cs typeface="Times New Roman" pitchFamily="18" charset="0"/>
              </a:rPr>
              <a:t>Dalton’s Atomic Theory (1803)</a:t>
            </a:r>
            <a:br>
              <a:rPr lang="en-US" b="1" dirty="0" smtClean="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5" name="Title 1"/>
          <p:cNvSpPr txBox="1">
            <a:spLocks/>
          </p:cNvSpPr>
          <p:nvPr/>
        </p:nvSpPr>
        <p:spPr>
          <a:xfrm>
            <a:off x="457200" y="152400"/>
            <a:ext cx="8305800" cy="1371600"/>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ctr">
            <a:normAutofit fontScale="97500" lnSpcReduction="1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4400" dirty="0" smtClean="0"/>
              <a:t>b</a:t>
            </a:r>
            <a:r>
              <a:rPr kumimoji="0" lang="en-US" sz="4400" b="0" i="0" u="none" strike="noStrike" kern="1200" cap="none" spc="0" normalizeH="0" baseline="0" noProof="0" dirty="0" smtClean="0">
                <a:ln>
                  <a:noFill/>
                </a:ln>
                <a:solidFill>
                  <a:schemeClr val="lt1"/>
                </a:solidFill>
                <a:effectLst/>
                <a:uLnTx/>
                <a:uFillTx/>
                <a:latin typeface="+mn-lt"/>
                <a:ea typeface="+mn-ea"/>
                <a:cs typeface="+mn-cs"/>
              </a:rPr>
              <a:t>) </a:t>
            </a:r>
            <a:r>
              <a:rPr lang="en-US" sz="4400" b="1" dirty="0" smtClean="0">
                <a:latin typeface="Times New Roman" pitchFamily="18" charset="0"/>
                <a:cs typeface="Times New Roman" pitchFamily="18" charset="0"/>
              </a:rPr>
              <a:t>Thomson</a:t>
            </a:r>
            <a:r>
              <a:rPr kumimoji="0" lang="en-US" sz="4400" b="1" i="0" u="none" strike="noStrike" kern="1200" cap="none" spc="0" normalizeH="0" baseline="0" noProof="0" dirty="0" smtClean="0">
                <a:ln>
                  <a:noFill/>
                </a:ln>
                <a:solidFill>
                  <a:schemeClr val="lt1"/>
                </a:solidFill>
                <a:effectLst/>
                <a:uLnTx/>
                <a:uFillTx/>
                <a:latin typeface="Times New Roman" pitchFamily="18" charset="0"/>
                <a:ea typeface="+mn-ea"/>
                <a:cs typeface="Times New Roman" pitchFamily="18" charset="0"/>
              </a:rPr>
              <a:t> Atomic Model (1904)</a:t>
            </a:r>
            <a:br>
              <a:rPr kumimoji="0" lang="en-US" sz="4400" b="1" i="0" u="none" strike="noStrike" kern="1200" cap="none" spc="0" normalizeH="0" baseline="0" noProof="0" dirty="0" smtClean="0">
                <a:ln>
                  <a:noFill/>
                </a:ln>
                <a:solidFill>
                  <a:schemeClr val="lt1"/>
                </a:solidFill>
                <a:effectLst/>
                <a:uLnTx/>
                <a:uFillTx/>
                <a:latin typeface="Times New Roman" pitchFamily="18" charset="0"/>
                <a:ea typeface="+mn-ea"/>
                <a:cs typeface="Times New Roman" pitchFamily="18" charset="0"/>
              </a:rPr>
            </a:br>
            <a:endParaRPr kumimoji="0" lang="en-US" sz="4400" b="1" i="0" u="none" strike="noStrike" kern="1200" cap="none" spc="0" normalizeH="0" baseline="0" noProof="0" dirty="0">
              <a:ln>
                <a:noFill/>
              </a:ln>
              <a:solidFill>
                <a:schemeClr val="lt1"/>
              </a:solidFill>
              <a:effectLst/>
              <a:uLnTx/>
              <a:uFillTx/>
              <a:latin typeface="Times New Roman" pitchFamily="18" charset="0"/>
              <a:ea typeface="+mn-ea"/>
              <a:cs typeface="Times New Roman" pitchFamily="18" charset="0"/>
            </a:endParaRPr>
          </a:p>
        </p:txBody>
      </p:sp>
      <p:sp>
        <p:nvSpPr>
          <p:cNvPr id="10" name="Flowchart: Preparation 9"/>
          <p:cNvSpPr/>
          <p:nvPr/>
        </p:nvSpPr>
        <p:spPr>
          <a:xfrm>
            <a:off x="152400" y="1981200"/>
            <a:ext cx="36576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smtClean="0">
                <a:latin typeface="Times New Roman" pitchFamily="18" charset="0"/>
                <a:cs typeface="Times New Roman" pitchFamily="18" charset="0"/>
              </a:rPr>
              <a:t>Discovered the electron.</a:t>
            </a:r>
          </a:p>
          <a:p>
            <a:pPr algn="ctr"/>
            <a:endParaRPr lang="en-US" sz="3200" dirty="0">
              <a:latin typeface="Times New Roman" pitchFamily="18" charset="0"/>
              <a:cs typeface="Times New Roman" pitchFamily="18" charset="0"/>
            </a:endParaRPr>
          </a:p>
        </p:txBody>
      </p:sp>
      <p:sp>
        <p:nvSpPr>
          <p:cNvPr id="17" name="Flowchart: Preparation 16"/>
          <p:cNvSpPr/>
          <p:nvPr/>
        </p:nvSpPr>
        <p:spPr>
          <a:xfrm>
            <a:off x="4572000" y="1828800"/>
            <a:ext cx="4114800" cy="20574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smtClean="0">
                <a:latin typeface="Times New Roman" pitchFamily="18" charset="0"/>
                <a:cs typeface="Times New Roman" pitchFamily="18" charset="0"/>
              </a:rPr>
              <a:t>Atom is a positively charged sphere with electrons embedded in it (Plum Pudding Model).</a:t>
            </a:r>
            <a:endParaRPr lang="en-US" sz="2000" dirty="0">
              <a:latin typeface="Times New Roman" pitchFamily="18" charset="0"/>
              <a:cs typeface="Times New Roman" pitchFamily="18" charset="0"/>
            </a:endParaRPr>
          </a:p>
        </p:txBody>
      </p:sp>
      <p:sp>
        <p:nvSpPr>
          <p:cNvPr id="18" name="Rounded Rectangle 17"/>
          <p:cNvSpPr/>
          <p:nvPr/>
        </p:nvSpPr>
        <p:spPr>
          <a:xfrm>
            <a:off x="2743200" y="4267200"/>
            <a:ext cx="3962400" cy="2209800"/>
          </a:xfrm>
          <a:prstGeom prst="round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3600" b="1" dirty="0" smtClean="0">
                <a:latin typeface="Times New Roman" pitchFamily="18" charset="0"/>
                <a:cs typeface="Times New Roman" pitchFamily="18" charset="0"/>
              </a:rPr>
              <a:t>Limitation:</a:t>
            </a:r>
          </a:p>
          <a:p>
            <a:pPr algn="ctr"/>
            <a:r>
              <a:rPr lang="en-US" sz="3600" dirty="0" smtClean="0">
                <a:latin typeface="Times New Roman" pitchFamily="18" charset="0"/>
                <a:cs typeface="Times New Roman" pitchFamily="18" charset="0"/>
              </a:rPr>
              <a:t> No explanation of nucleus.</a:t>
            </a:r>
          </a:p>
          <a:p>
            <a:pPr algn="ctr"/>
            <a:endParaRPr lang="en-US"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Preparation 2"/>
          <p:cNvSpPr/>
          <p:nvPr/>
        </p:nvSpPr>
        <p:spPr>
          <a:xfrm>
            <a:off x="228600" y="4495800"/>
            <a:ext cx="36576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800" dirty="0" smtClean="0">
                <a:latin typeface="Times New Roman" pitchFamily="18" charset="0"/>
                <a:cs typeface="Times New Roman" pitchFamily="18" charset="0"/>
              </a:rPr>
              <a:t>Most of the atom is empty space.</a:t>
            </a:r>
            <a:endParaRPr lang="en-US" sz="2800" dirty="0">
              <a:latin typeface="Times New Roman" pitchFamily="18" charset="0"/>
              <a:cs typeface="Times New Roman" pitchFamily="18" charset="0"/>
            </a:endParaRPr>
          </a:p>
        </p:txBody>
      </p:sp>
      <p:sp>
        <p:nvSpPr>
          <p:cNvPr id="4" name="Flowchart: Preparation 3"/>
          <p:cNvSpPr/>
          <p:nvPr/>
        </p:nvSpPr>
        <p:spPr>
          <a:xfrm>
            <a:off x="4648200" y="1981200"/>
            <a:ext cx="36576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smtClean="0">
                <a:latin typeface="Times New Roman" pitchFamily="18" charset="0"/>
                <a:cs typeface="Times New Roman" pitchFamily="18" charset="0"/>
              </a:rPr>
              <a:t>Electrons revolve around the nucleus.</a:t>
            </a:r>
          </a:p>
          <a:p>
            <a:pPr algn="ctr"/>
            <a:endParaRPr lang="en-US" sz="2400" dirty="0">
              <a:latin typeface="Times New Roman" pitchFamily="18" charset="0"/>
              <a:cs typeface="Times New Roman" pitchFamily="18" charset="0"/>
            </a:endParaRPr>
          </a:p>
        </p:txBody>
      </p:sp>
      <p:sp>
        <p:nvSpPr>
          <p:cNvPr id="5" name="Flowchart: Preparation 4"/>
          <p:cNvSpPr/>
          <p:nvPr/>
        </p:nvSpPr>
        <p:spPr>
          <a:xfrm>
            <a:off x="152400" y="2057400"/>
            <a:ext cx="38100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smtClean="0">
                <a:latin typeface="Times New Roman" pitchFamily="18" charset="0"/>
                <a:cs typeface="Times New Roman" pitchFamily="18" charset="0"/>
              </a:rPr>
              <a:t>Atom has a small, dense, positively charged nucleus.</a:t>
            </a:r>
            <a:endParaRPr lang="en-US" sz="2400" dirty="0">
              <a:latin typeface="Times New Roman" pitchFamily="18" charset="0"/>
              <a:cs typeface="Times New Roman" pitchFamily="18" charset="0"/>
            </a:endParaRPr>
          </a:p>
        </p:txBody>
      </p:sp>
      <p:sp>
        <p:nvSpPr>
          <p:cNvPr id="6" name="Rounded Rectangle 5"/>
          <p:cNvSpPr/>
          <p:nvPr/>
        </p:nvSpPr>
        <p:spPr>
          <a:xfrm>
            <a:off x="4572000" y="4267200"/>
            <a:ext cx="3962400" cy="2209800"/>
          </a:xfrm>
          <a:prstGeom prst="round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3200" b="1" dirty="0" smtClean="0">
                <a:latin typeface="Times New Roman" pitchFamily="18" charset="0"/>
                <a:cs typeface="Times New Roman" pitchFamily="18" charset="0"/>
              </a:rPr>
              <a:t>Limitation:</a:t>
            </a:r>
          </a:p>
          <a:p>
            <a:pPr algn="ctr"/>
            <a:r>
              <a:rPr lang="en-US" sz="3200" dirty="0" smtClean="0">
                <a:latin typeface="Times New Roman" pitchFamily="18" charset="0"/>
                <a:cs typeface="Times New Roman" pitchFamily="18" charset="0"/>
              </a:rPr>
              <a:t> Could not explain atomic stability.</a:t>
            </a:r>
          </a:p>
          <a:p>
            <a:pPr algn="ctr"/>
            <a:endParaRPr lang="en-US"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7" name="Title 1"/>
          <p:cNvSpPr txBox="1">
            <a:spLocks noGrp="1"/>
          </p:cNvSpPr>
          <p:nvPr>
            <p:ph type="title"/>
          </p:nvPr>
        </p:nvSpPr>
        <p:spPr>
          <a:xfrm>
            <a:off x="457200" y="228600"/>
            <a:ext cx="8077200" cy="1401762"/>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ctr">
            <a:normAutofit fontScale="90000"/>
          </a:bodyPr>
          <a:lstStyle/>
          <a:p>
            <a:pPr lvl="0"/>
            <a:r>
              <a:rPr lang="en-US" dirty="0" smtClean="0"/>
              <a:t>c) Rutherford’s Atomic Model (1911)</a:t>
            </a:r>
            <a:endParaRPr kumimoji="0" lang="en-US" sz="4400" b="1" i="0" u="none" strike="noStrike" kern="1200" cap="none" spc="0" normalizeH="0" baseline="0" noProof="0" dirty="0">
              <a:ln>
                <a:noFill/>
              </a:ln>
              <a:solidFill>
                <a:schemeClr val="lt1"/>
              </a:solidFill>
              <a:effectLst/>
              <a:uLnTx/>
              <a:uFillTx/>
              <a:latin typeface="Times New Roman" pitchFamily="18" charset="0"/>
              <a:ea typeface="+mn-ea"/>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077200" cy="1401762"/>
          </a:xfrm>
        </p:spPr>
        <p:style>
          <a:lnRef idx="3">
            <a:schemeClr val="lt1"/>
          </a:lnRef>
          <a:fillRef idx="1">
            <a:schemeClr val="accent2"/>
          </a:fillRef>
          <a:effectRef idx="1">
            <a:schemeClr val="accent2"/>
          </a:effectRef>
          <a:fontRef idx="minor">
            <a:schemeClr val="lt1"/>
          </a:fontRef>
        </p:style>
        <p:txBody>
          <a:bodyPr>
            <a:normAutofit/>
          </a:bodyPr>
          <a:lstStyle/>
          <a:p>
            <a:r>
              <a:rPr lang="en-US" sz="4800" dirty="0" smtClean="0">
                <a:latin typeface="Times New Roman" pitchFamily="18" charset="0"/>
                <a:cs typeface="Times New Roman" pitchFamily="18" charset="0"/>
              </a:rPr>
              <a:t>Bohr’s Atomic Model (1913)</a:t>
            </a:r>
            <a:endParaRPr lang="en-US" sz="4800" dirty="0">
              <a:latin typeface="Times New Roman" pitchFamily="18" charset="0"/>
              <a:cs typeface="Times New Roman" pitchFamily="18" charset="0"/>
            </a:endParaRPr>
          </a:p>
        </p:txBody>
      </p:sp>
      <p:sp>
        <p:nvSpPr>
          <p:cNvPr id="5" name="Flowchart: Preparation 4"/>
          <p:cNvSpPr/>
          <p:nvPr/>
        </p:nvSpPr>
        <p:spPr>
          <a:xfrm>
            <a:off x="4876800" y="1981200"/>
            <a:ext cx="36576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dirty="0" smtClean="0">
                <a:latin typeface="Times New Roman" pitchFamily="18" charset="0"/>
                <a:cs typeface="Times New Roman" pitchFamily="18" charset="0"/>
              </a:rPr>
              <a:t>Energy is absorbed or emitted when electrons jump between levels.</a:t>
            </a:r>
            <a:endParaRPr lang="en-US" sz="2000" dirty="0">
              <a:latin typeface="Times New Roman" pitchFamily="18" charset="0"/>
              <a:cs typeface="Times New Roman" pitchFamily="18" charset="0"/>
            </a:endParaRPr>
          </a:p>
        </p:txBody>
      </p:sp>
      <p:sp>
        <p:nvSpPr>
          <p:cNvPr id="6" name="Flowchart: Preparation 5"/>
          <p:cNvSpPr/>
          <p:nvPr/>
        </p:nvSpPr>
        <p:spPr>
          <a:xfrm>
            <a:off x="381000" y="2057400"/>
            <a:ext cx="3657600" cy="1905000"/>
          </a:xfrm>
          <a:prstGeom prst="flowChartPreparation">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dirty="0" smtClean="0">
                <a:latin typeface="Times New Roman" pitchFamily="18" charset="0"/>
                <a:cs typeface="Times New Roman" pitchFamily="18" charset="0"/>
              </a:rPr>
              <a:t>Electrons move in </a:t>
            </a:r>
            <a:r>
              <a:rPr lang="en-US" sz="2400" b="1" dirty="0" smtClean="0">
                <a:latin typeface="Times New Roman" pitchFamily="18" charset="0"/>
                <a:cs typeface="Times New Roman" pitchFamily="18" charset="0"/>
              </a:rPr>
              <a:t>fixed </a:t>
            </a:r>
            <a:r>
              <a:rPr lang="en-US" sz="2400" b="1" dirty="0" smtClean="0">
                <a:latin typeface="Times New Roman" pitchFamily="18" charset="0"/>
                <a:cs typeface="Times New Roman" pitchFamily="18" charset="0"/>
              </a:rPr>
              <a:t>energy </a:t>
            </a:r>
            <a:r>
              <a:rPr lang="en-US" sz="2400" b="1" dirty="0" smtClean="0">
                <a:latin typeface="Times New Roman" pitchFamily="18" charset="0"/>
                <a:cs typeface="Times New Roman" pitchFamily="18" charset="0"/>
              </a:rPr>
              <a:t>levels</a:t>
            </a:r>
            <a:r>
              <a:rPr lang="en-US" sz="2400"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(orbits).</a:t>
            </a:r>
          </a:p>
          <a:p>
            <a:pPr algn="ctr"/>
            <a:endParaRPr lang="en-US" dirty="0"/>
          </a:p>
        </p:txBody>
      </p:sp>
      <p:sp>
        <p:nvSpPr>
          <p:cNvPr id="7" name="Rounded Rectangle 6"/>
          <p:cNvSpPr/>
          <p:nvPr/>
        </p:nvSpPr>
        <p:spPr>
          <a:xfrm>
            <a:off x="2667000" y="4267200"/>
            <a:ext cx="3962400" cy="2209800"/>
          </a:xfrm>
          <a:prstGeom prst="roundRect">
            <a:avLst/>
          </a:prstGeom>
          <a:effectLst>
            <a:glow rad="2286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smtClean="0">
                <a:latin typeface="Times New Roman" pitchFamily="18" charset="0"/>
                <a:cs typeface="Times New Roman" pitchFamily="18" charset="0"/>
              </a:rPr>
              <a:t>Importance:</a:t>
            </a:r>
          </a:p>
          <a:p>
            <a:pPr algn="ctr"/>
            <a:r>
              <a:rPr lang="en-US" sz="2800" dirty="0" smtClean="0">
                <a:latin typeface="Times New Roman" pitchFamily="18" charset="0"/>
                <a:cs typeface="Times New Roman" pitchFamily="18" charset="0"/>
              </a:rPr>
              <a:t> </a:t>
            </a:r>
            <a:r>
              <a:rPr lang="en-US" sz="2800" dirty="0" smtClean="0">
                <a:latin typeface="Times New Roman" pitchFamily="18" charset="0"/>
                <a:cs typeface="Times New Roman" pitchFamily="18" charset="0"/>
              </a:rPr>
              <a:t>Successfully explained hydrogen spectrum.</a:t>
            </a:r>
            <a:endParaRPr lang="en-US" sz="28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590800"/>
            <a:ext cx="8382000" cy="3124200"/>
          </a:xfrm>
        </p:spPr>
        <p:txBody>
          <a:bodyPr>
            <a:normAutofit/>
          </a:bodyPr>
          <a:lstStyle/>
          <a:p>
            <a:r>
              <a:rPr lang="en-US" sz="4400" b="1" dirty="0" smtClean="0">
                <a:solidFill>
                  <a:schemeClr val="tx1">
                    <a:lumMod val="95000"/>
                    <a:lumOff val="5000"/>
                  </a:schemeClr>
                </a:solidFill>
                <a:latin typeface="Times New Roman" pitchFamily="18" charset="0"/>
                <a:cs typeface="Times New Roman" pitchFamily="18" charset="0"/>
              </a:rPr>
              <a:t>Particle physics </a:t>
            </a:r>
            <a:r>
              <a:rPr lang="en-US" sz="4400" dirty="0" smtClean="0">
                <a:solidFill>
                  <a:schemeClr val="tx1">
                    <a:lumMod val="95000"/>
                    <a:lumOff val="5000"/>
                  </a:schemeClr>
                </a:solidFill>
                <a:latin typeface="Times New Roman" pitchFamily="18" charset="0"/>
                <a:cs typeface="Times New Roman" pitchFamily="18" charset="0"/>
              </a:rPr>
              <a:t>is the branch of physics that studies the </a:t>
            </a:r>
            <a:r>
              <a:rPr lang="en-US" sz="4400" b="1" dirty="0" smtClean="0">
                <a:solidFill>
                  <a:schemeClr val="tx1">
                    <a:lumMod val="95000"/>
                    <a:lumOff val="5000"/>
                  </a:schemeClr>
                </a:solidFill>
                <a:latin typeface="Times New Roman" pitchFamily="18" charset="0"/>
                <a:cs typeface="Times New Roman" pitchFamily="18" charset="0"/>
              </a:rPr>
              <a:t>fundamental </a:t>
            </a:r>
            <a:r>
              <a:rPr lang="en-US" sz="4400" b="1" dirty="0" smtClean="0">
                <a:solidFill>
                  <a:schemeClr val="tx1">
                    <a:lumMod val="95000"/>
                    <a:lumOff val="5000"/>
                  </a:schemeClr>
                </a:solidFill>
                <a:latin typeface="Times New Roman" pitchFamily="18" charset="0"/>
                <a:cs typeface="Times New Roman" pitchFamily="18" charset="0"/>
              </a:rPr>
              <a:t>particles of </a:t>
            </a:r>
            <a:r>
              <a:rPr lang="en-US" sz="4400" b="1" dirty="0" smtClean="0">
                <a:solidFill>
                  <a:schemeClr val="tx1">
                    <a:lumMod val="95000"/>
                    <a:lumOff val="5000"/>
                  </a:schemeClr>
                </a:solidFill>
                <a:latin typeface="Times New Roman" pitchFamily="18" charset="0"/>
                <a:cs typeface="Times New Roman" pitchFamily="18" charset="0"/>
              </a:rPr>
              <a:t>matter</a:t>
            </a:r>
            <a:r>
              <a:rPr lang="en-US" sz="4400" dirty="0" smtClean="0">
                <a:solidFill>
                  <a:schemeClr val="tx1">
                    <a:lumMod val="95000"/>
                    <a:lumOff val="5000"/>
                  </a:schemeClr>
                </a:solidFill>
                <a:latin typeface="Times New Roman" pitchFamily="18" charset="0"/>
                <a:cs typeface="Times New Roman" pitchFamily="18" charset="0"/>
              </a:rPr>
              <a:t> </a:t>
            </a:r>
            <a:r>
              <a:rPr lang="en-US" sz="4400" dirty="0" smtClean="0">
                <a:solidFill>
                  <a:schemeClr val="tx1">
                    <a:lumMod val="95000"/>
                    <a:lumOff val="5000"/>
                  </a:schemeClr>
                </a:solidFill>
                <a:latin typeface="Times New Roman" pitchFamily="18" charset="0"/>
                <a:cs typeface="Times New Roman" pitchFamily="18" charset="0"/>
              </a:rPr>
              <a:t>and the forces acting between them.</a:t>
            </a:r>
          </a:p>
          <a:p>
            <a:endParaRPr lang="en-US" dirty="0"/>
          </a:p>
        </p:txBody>
      </p:sp>
      <p:sp>
        <p:nvSpPr>
          <p:cNvPr id="4" name="Title 1"/>
          <p:cNvSpPr>
            <a:spLocks noGrp="1"/>
          </p:cNvSpPr>
          <p:nvPr>
            <p:ph type="ctrTitle"/>
          </p:nvPr>
        </p:nvSpPr>
        <p:spPr>
          <a:xfrm>
            <a:off x="685800" y="381000"/>
            <a:ext cx="7772400" cy="1600200"/>
          </a:xfrm>
          <a:ln/>
        </p:spPr>
        <p:style>
          <a:lnRef idx="3">
            <a:schemeClr val="lt1"/>
          </a:lnRef>
          <a:fillRef idx="1">
            <a:schemeClr val="accent2"/>
          </a:fillRef>
          <a:effectRef idx="1">
            <a:schemeClr val="accent2"/>
          </a:effectRef>
          <a:fontRef idx="minor">
            <a:schemeClr val="lt1"/>
          </a:fontRef>
        </p:style>
        <p:txBody>
          <a:bodyPr>
            <a:noAutofit/>
          </a:bodyPr>
          <a:lstStyle/>
          <a:p>
            <a:r>
              <a:rPr lang="en-US" sz="5400" dirty="0" smtClean="0">
                <a:latin typeface="Times New Roman" pitchFamily="18" charset="0"/>
                <a:cs typeface="Times New Roman" pitchFamily="18" charset="0"/>
              </a:rPr>
              <a:t>Introduction To Particle Physics</a:t>
            </a:r>
            <a:endParaRPr lang="en-US" sz="5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400800" y="6324600"/>
            <a:ext cx="2514600" cy="152400"/>
          </a:xfrm>
        </p:spPr>
        <p:txBody>
          <a:bodyPr>
            <a:normAutofit fontScale="25000" lnSpcReduction="20000"/>
          </a:bodyPr>
          <a:lstStyle/>
          <a:p>
            <a:endParaRPr lang="en-US" dirty="0"/>
          </a:p>
        </p:txBody>
      </p:sp>
      <p:sp>
        <p:nvSpPr>
          <p:cNvPr id="4" name="Title 1"/>
          <p:cNvSpPr>
            <a:spLocks noGrp="1"/>
          </p:cNvSpPr>
          <p:nvPr>
            <p:ph type="ctrTitle"/>
          </p:nvPr>
        </p:nvSpPr>
        <p:spPr>
          <a:xfrm>
            <a:off x="304800" y="152400"/>
            <a:ext cx="3886200" cy="1219200"/>
          </a:xfrm>
          <a:ln/>
        </p:spPr>
        <p:style>
          <a:lnRef idx="1">
            <a:schemeClr val="accent2"/>
          </a:lnRef>
          <a:fillRef idx="2">
            <a:schemeClr val="accent2"/>
          </a:fillRef>
          <a:effectRef idx="1">
            <a:schemeClr val="accent2"/>
          </a:effectRef>
          <a:fontRef idx="minor">
            <a:schemeClr val="dk1"/>
          </a:fontRef>
        </p:style>
        <p:txBody>
          <a:bodyPr>
            <a:normAutofit/>
          </a:bodyPr>
          <a:lstStyle/>
          <a:p>
            <a:r>
              <a:rPr lang="en-US" sz="6600" dirty="0" smtClean="0">
                <a:latin typeface="Times New Roman" pitchFamily="18" charset="0"/>
                <a:cs typeface="Times New Roman" pitchFamily="18" charset="0"/>
              </a:rPr>
              <a:t>Key Ideas</a:t>
            </a:r>
            <a:endParaRPr lang="en-US" sz="6600" dirty="0">
              <a:latin typeface="Times New Roman" pitchFamily="18" charset="0"/>
              <a:cs typeface="Times New Roman" pitchFamily="18" charset="0"/>
            </a:endParaRPr>
          </a:p>
        </p:txBody>
      </p:sp>
      <p:sp>
        <p:nvSpPr>
          <p:cNvPr id="5" name="Right Arrow 4"/>
          <p:cNvSpPr/>
          <p:nvPr/>
        </p:nvSpPr>
        <p:spPr>
          <a:xfrm>
            <a:off x="0" y="1828800"/>
            <a:ext cx="5562600" cy="1752600"/>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smtClean="0">
                <a:latin typeface="Times New Roman" pitchFamily="18" charset="0"/>
                <a:cs typeface="Times New Roman" pitchFamily="18" charset="0"/>
              </a:rPr>
              <a:t>All matter is made of </a:t>
            </a:r>
            <a:r>
              <a:rPr lang="en-US" sz="2800" dirty="0" smtClean="0">
                <a:latin typeface="Times New Roman" pitchFamily="18" charset="0"/>
                <a:cs typeface="Times New Roman" pitchFamily="18" charset="0"/>
              </a:rPr>
              <a:t>elementary particles.</a:t>
            </a:r>
            <a:endParaRPr lang="en-US" sz="2800" dirty="0">
              <a:latin typeface="Times New Roman" pitchFamily="18" charset="0"/>
              <a:cs typeface="Times New Roman" pitchFamily="18" charset="0"/>
            </a:endParaRPr>
          </a:p>
        </p:txBody>
      </p:sp>
      <p:sp>
        <p:nvSpPr>
          <p:cNvPr id="8" name="Right Arrow 7"/>
          <p:cNvSpPr/>
          <p:nvPr/>
        </p:nvSpPr>
        <p:spPr>
          <a:xfrm>
            <a:off x="457200" y="4800600"/>
            <a:ext cx="5334000" cy="2057400"/>
          </a:xfrm>
          <a:prstGeom prst="rightArrow">
            <a:avLst/>
          </a:prstGeom>
          <a:ln>
            <a:solidFill>
              <a:schemeClr val="accent3">
                <a:lumMod val="50000"/>
              </a:schemeClr>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smtClean="0">
                <a:latin typeface="Times New Roman" pitchFamily="18" charset="0"/>
                <a:cs typeface="Times New Roman" pitchFamily="18" charset="0"/>
              </a:rPr>
              <a:t>Particle </a:t>
            </a:r>
            <a:r>
              <a:rPr lang="en-US" sz="2400" dirty="0" smtClean="0">
                <a:latin typeface="Times New Roman" pitchFamily="18" charset="0"/>
                <a:cs typeface="Times New Roman" pitchFamily="18" charset="0"/>
              </a:rPr>
              <a:t>physics helps us understand the </a:t>
            </a:r>
            <a:r>
              <a:rPr lang="en-US" sz="2400" dirty="0" smtClean="0">
                <a:latin typeface="Times New Roman" pitchFamily="18" charset="0"/>
                <a:cs typeface="Times New Roman" pitchFamily="18" charset="0"/>
              </a:rPr>
              <a:t>origin </a:t>
            </a:r>
            <a:r>
              <a:rPr lang="en-US" sz="2400" dirty="0" smtClean="0">
                <a:latin typeface="Times New Roman" pitchFamily="18" charset="0"/>
                <a:cs typeface="Times New Roman" pitchFamily="18" charset="0"/>
              </a:rPr>
              <a:t>of the </a:t>
            </a:r>
            <a:r>
              <a:rPr lang="en-US" sz="2400" dirty="0" smtClean="0">
                <a:latin typeface="Times New Roman" pitchFamily="18" charset="0"/>
                <a:cs typeface="Times New Roman" pitchFamily="18" charset="0"/>
              </a:rPr>
              <a:t>universe</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9" name="Right Arrow 8"/>
          <p:cNvSpPr/>
          <p:nvPr/>
        </p:nvSpPr>
        <p:spPr>
          <a:xfrm>
            <a:off x="457200" y="3124200"/>
            <a:ext cx="5791200" cy="2057400"/>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dirty="0" smtClean="0">
                <a:latin typeface="Times New Roman" pitchFamily="18" charset="0"/>
                <a:cs typeface="Times New Roman" pitchFamily="18" charset="0"/>
              </a:rPr>
              <a:t>These particles are not made of anything smaller (as far as we know).</a:t>
            </a:r>
          </a:p>
          <a:p>
            <a:pPr algn="ctr"/>
            <a:endParaRPr lang="en-US" sz="3200" dirty="0">
              <a:latin typeface="Times New Roman" pitchFamily="18" charset="0"/>
              <a:cs typeface="Times New Roman" pitchFamily="18" charset="0"/>
            </a:endParaRPr>
          </a:p>
        </p:txBody>
      </p:sp>
      <p:sp>
        <p:nvSpPr>
          <p:cNvPr id="11" name="Rectangle 10"/>
          <p:cNvSpPr/>
          <p:nvPr/>
        </p:nvSpPr>
        <p:spPr>
          <a:xfrm>
            <a:off x="4724400" y="152400"/>
            <a:ext cx="4191000" cy="1524000"/>
          </a:xfrm>
          <a:prstGeom prst="rect">
            <a:avLst/>
          </a:prstGeom>
          <a:effectLst>
            <a:outerShdw blurRad="152400" dist="317500" dir="5400000" sx="90000" sy="-19000" rotWithShape="0">
              <a:prstClr val="black">
                <a:alpha val="15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600" b="1" dirty="0" smtClean="0">
                <a:latin typeface="Times New Roman" pitchFamily="18" charset="0"/>
                <a:cs typeface="Times New Roman" pitchFamily="18" charset="0"/>
              </a:rPr>
              <a:t>Main Categories  Of Particles</a:t>
            </a:r>
            <a:endParaRPr lang="en-US" sz="3600" b="1" dirty="0">
              <a:latin typeface="Times New Roman" pitchFamily="18" charset="0"/>
              <a:cs typeface="Times New Roman" pitchFamily="18" charset="0"/>
            </a:endParaRPr>
          </a:p>
        </p:txBody>
      </p:sp>
      <p:sp>
        <p:nvSpPr>
          <p:cNvPr id="12" name="TextBox 11"/>
          <p:cNvSpPr txBox="1"/>
          <p:nvPr/>
        </p:nvSpPr>
        <p:spPr>
          <a:xfrm>
            <a:off x="3352800" y="838200"/>
            <a:ext cx="184731" cy="369332"/>
          </a:xfrm>
          <a:prstGeom prst="rect">
            <a:avLst/>
          </a:prstGeom>
          <a:noFill/>
        </p:spPr>
        <p:txBody>
          <a:bodyPr wrap="none" rtlCol="0">
            <a:spAutoFit/>
          </a:bodyPr>
          <a:lstStyle/>
          <a:p>
            <a:endParaRPr lang="en-US" dirty="0"/>
          </a:p>
        </p:txBody>
      </p:sp>
      <p:sp>
        <p:nvSpPr>
          <p:cNvPr id="13" name="Hexagon 12"/>
          <p:cNvSpPr/>
          <p:nvPr/>
        </p:nvSpPr>
        <p:spPr>
          <a:xfrm>
            <a:off x="6248400" y="2209800"/>
            <a:ext cx="2667000" cy="1371600"/>
          </a:xfrm>
          <a:prstGeom prst="hexag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000" b="1" dirty="0" smtClean="0">
                <a:latin typeface="Times New Roman" pitchFamily="18" charset="0"/>
                <a:cs typeface="Times New Roman" pitchFamily="18" charset="0"/>
              </a:rPr>
              <a:t>Matter </a:t>
            </a:r>
            <a:r>
              <a:rPr lang="en-US" sz="2000" b="1" dirty="0" smtClean="0">
                <a:latin typeface="Times New Roman" pitchFamily="18" charset="0"/>
                <a:cs typeface="Times New Roman" pitchFamily="18" charset="0"/>
              </a:rPr>
              <a:t>particles </a:t>
            </a:r>
            <a:r>
              <a:rPr lang="en-US" sz="2000" dirty="0" smtClean="0">
                <a:latin typeface="Times New Roman" pitchFamily="18" charset="0"/>
                <a:cs typeface="Times New Roman" pitchFamily="18" charset="0"/>
              </a:rPr>
              <a:t>(quarks and leptons)</a:t>
            </a:r>
            <a:endParaRPr lang="en-US" sz="2000" dirty="0">
              <a:latin typeface="Times New Roman" pitchFamily="18" charset="0"/>
              <a:cs typeface="Times New Roman" pitchFamily="18" charset="0"/>
            </a:endParaRPr>
          </a:p>
        </p:txBody>
      </p:sp>
      <p:sp>
        <p:nvSpPr>
          <p:cNvPr id="14" name="Hexagon 13"/>
          <p:cNvSpPr/>
          <p:nvPr/>
        </p:nvSpPr>
        <p:spPr>
          <a:xfrm>
            <a:off x="6324600" y="4114800"/>
            <a:ext cx="2667000" cy="1371600"/>
          </a:xfrm>
          <a:prstGeom prst="hexago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400" b="1" dirty="0" smtClean="0">
                <a:latin typeface="Times New Roman" pitchFamily="18" charset="0"/>
                <a:cs typeface="Times New Roman" pitchFamily="18" charset="0"/>
              </a:rPr>
              <a:t>Force </a:t>
            </a:r>
            <a:r>
              <a:rPr lang="en-US" sz="2400" b="1" dirty="0" smtClean="0">
                <a:latin typeface="Times New Roman" pitchFamily="18" charset="0"/>
                <a:cs typeface="Times New Roman" pitchFamily="18" charset="0"/>
              </a:rPr>
              <a:t>particles </a:t>
            </a:r>
            <a:r>
              <a:rPr lang="en-US" sz="2400" dirty="0" smtClean="0">
                <a:latin typeface="Times New Roman" pitchFamily="18" charset="0"/>
                <a:cs typeface="Times New Roman" pitchFamily="18" charset="0"/>
              </a:rPr>
              <a:t>(bosons)</a:t>
            </a:r>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62000" y="2590800"/>
            <a:ext cx="7543800" cy="4267200"/>
          </a:xfrm>
        </p:spPr>
        <p:txBody>
          <a:bodyPr>
            <a:normAutofit/>
          </a:bodyPr>
          <a:lstStyle/>
          <a:p>
            <a:r>
              <a:rPr lang="en-US" sz="4000" dirty="0" smtClean="0">
                <a:solidFill>
                  <a:schemeClr val="tx1">
                    <a:lumMod val="95000"/>
                    <a:lumOff val="5000"/>
                  </a:schemeClr>
                </a:solidFill>
                <a:latin typeface="Times New Roman" pitchFamily="18" charset="0"/>
                <a:cs typeface="Times New Roman" pitchFamily="18" charset="0"/>
              </a:rPr>
              <a:t>The </a:t>
            </a:r>
            <a:r>
              <a:rPr lang="en-US" sz="4000" b="1" dirty="0" smtClean="0">
                <a:solidFill>
                  <a:schemeClr val="tx1">
                    <a:lumMod val="95000"/>
                    <a:lumOff val="5000"/>
                  </a:schemeClr>
                </a:solidFill>
                <a:latin typeface="Times New Roman" pitchFamily="18" charset="0"/>
                <a:cs typeface="Times New Roman" pitchFamily="18" charset="0"/>
              </a:rPr>
              <a:t>Standard Model </a:t>
            </a:r>
            <a:r>
              <a:rPr lang="en-US" sz="4000" dirty="0" smtClean="0">
                <a:solidFill>
                  <a:schemeClr val="tx1">
                    <a:lumMod val="95000"/>
                    <a:lumOff val="5000"/>
                  </a:schemeClr>
                </a:solidFill>
                <a:latin typeface="Times New Roman" pitchFamily="18" charset="0"/>
                <a:cs typeface="Times New Roman" pitchFamily="18" charset="0"/>
              </a:rPr>
              <a:t>is a well-tested theory that </a:t>
            </a:r>
            <a:r>
              <a:rPr lang="en-US" sz="4000" dirty="0" smtClean="0">
                <a:solidFill>
                  <a:schemeClr val="tx1">
                    <a:lumMod val="95000"/>
                    <a:lumOff val="5000"/>
                  </a:schemeClr>
                </a:solidFill>
                <a:latin typeface="Times New Roman" pitchFamily="18" charset="0"/>
                <a:cs typeface="Times New Roman" pitchFamily="18" charset="0"/>
              </a:rPr>
              <a:t>explains</a:t>
            </a:r>
          </a:p>
          <a:p>
            <a:pPr algn="l">
              <a:buFont typeface="Arial" pitchFamily="34" charset="0"/>
              <a:buChar char="•"/>
            </a:pPr>
            <a:r>
              <a:rPr lang="en-US" sz="4000" b="1" dirty="0" smtClean="0">
                <a:solidFill>
                  <a:schemeClr val="tx1">
                    <a:lumMod val="95000"/>
                    <a:lumOff val="5000"/>
                  </a:schemeClr>
                </a:solidFill>
                <a:latin typeface="Times New Roman" pitchFamily="18" charset="0"/>
                <a:cs typeface="Times New Roman" pitchFamily="18" charset="0"/>
              </a:rPr>
              <a:t>Fundamental </a:t>
            </a:r>
            <a:r>
              <a:rPr lang="en-US" sz="4000" b="1" dirty="0" smtClean="0">
                <a:solidFill>
                  <a:schemeClr val="tx1">
                    <a:lumMod val="95000"/>
                    <a:lumOff val="5000"/>
                  </a:schemeClr>
                </a:solidFill>
                <a:latin typeface="Times New Roman" pitchFamily="18" charset="0"/>
                <a:cs typeface="Times New Roman" pitchFamily="18" charset="0"/>
              </a:rPr>
              <a:t>particles</a:t>
            </a:r>
          </a:p>
          <a:p>
            <a:pPr algn="l">
              <a:buFont typeface="Arial" pitchFamily="34" charset="0"/>
              <a:buChar char="•"/>
            </a:pPr>
            <a:r>
              <a:rPr lang="en-US" sz="4000" b="1" dirty="0" smtClean="0">
                <a:solidFill>
                  <a:schemeClr val="tx1">
                    <a:lumMod val="95000"/>
                    <a:lumOff val="5000"/>
                  </a:schemeClr>
                </a:solidFill>
                <a:latin typeface="Times New Roman" pitchFamily="18" charset="0"/>
                <a:cs typeface="Times New Roman" pitchFamily="18" charset="0"/>
              </a:rPr>
              <a:t> </a:t>
            </a:r>
            <a:r>
              <a:rPr lang="en-US" sz="4000" b="1" dirty="0" smtClean="0">
                <a:solidFill>
                  <a:schemeClr val="tx1">
                    <a:lumMod val="95000"/>
                    <a:lumOff val="5000"/>
                  </a:schemeClr>
                </a:solidFill>
                <a:latin typeface="Times New Roman" pitchFamily="18" charset="0"/>
                <a:cs typeface="Times New Roman" pitchFamily="18" charset="0"/>
              </a:rPr>
              <a:t>Three basic forces of nature</a:t>
            </a:r>
          </a:p>
          <a:p>
            <a:pPr algn="l"/>
            <a:endParaRPr lang="en-US" dirty="0"/>
          </a:p>
          <a:p>
            <a:pPr algn="l"/>
            <a:endParaRPr lang="en-US" dirty="0"/>
          </a:p>
        </p:txBody>
      </p:sp>
      <p:sp>
        <p:nvSpPr>
          <p:cNvPr id="4" name="Title 1"/>
          <p:cNvSpPr>
            <a:spLocks noGrp="1"/>
          </p:cNvSpPr>
          <p:nvPr>
            <p:ph type="ctrTitle"/>
          </p:nvPr>
        </p:nvSpPr>
        <p:spPr>
          <a:xfrm>
            <a:off x="685800" y="304800"/>
            <a:ext cx="7772400" cy="1828800"/>
          </a:xfrm>
          <a:ln/>
        </p:spPr>
        <p:style>
          <a:lnRef idx="3">
            <a:schemeClr val="lt1"/>
          </a:lnRef>
          <a:fillRef idx="1">
            <a:schemeClr val="accent2"/>
          </a:fillRef>
          <a:effectRef idx="1">
            <a:schemeClr val="accent2"/>
          </a:effectRef>
          <a:fontRef idx="minor">
            <a:schemeClr val="lt1"/>
          </a:fontRef>
        </p:style>
        <p:txBody>
          <a:bodyPr>
            <a:normAutofit fontScale="90000"/>
          </a:bodyPr>
          <a:lstStyle/>
          <a:p>
            <a:r>
              <a:rPr lang="en-US" sz="6600" dirty="0" smtClean="0">
                <a:latin typeface="Times New Roman" pitchFamily="18" charset="0"/>
                <a:cs typeface="Times New Roman" pitchFamily="18" charset="0"/>
              </a:rPr>
              <a:t>The Standard Model Of Particle Physics</a:t>
            </a:r>
            <a:endParaRPr lang="en-US" sz="66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28600"/>
            <a:ext cx="7239000" cy="1143000"/>
          </a:xfrm>
          <a:effectLst>
            <a:glow rad="101600">
              <a:schemeClr val="accent2">
                <a:satMod val="175000"/>
                <a:alpha val="40000"/>
              </a:schemeClr>
            </a:glow>
            <a:outerShdw blurRad="40000" dist="20000" dir="54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a:normAutofit/>
          </a:bodyPr>
          <a:lstStyle/>
          <a:p>
            <a:r>
              <a:rPr lang="en-US" sz="5400" dirty="0" smtClean="0">
                <a:latin typeface="Times New Roman" pitchFamily="18" charset="0"/>
                <a:cs typeface="Times New Roman" pitchFamily="18" charset="0"/>
              </a:rPr>
              <a:t>Fundamental particles</a:t>
            </a:r>
            <a:endParaRPr lang="en-US" sz="5400" dirty="0">
              <a:latin typeface="Times New Roman" pitchFamily="18" charset="0"/>
              <a:cs typeface="Times New Roman" pitchFamily="18" charset="0"/>
            </a:endParaRPr>
          </a:p>
        </p:txBody>
      </p:sp>
      <p:sp>
        <p:nvSpPr>
          <p:cNvPr id="3" name="Content Placeholder 2"/>
          <p:cNvSpPr>
            <a:spLocks noGrp="1"/>
          </p:cNvSpPr>
          <p:nvPr>
            <p:ph sz="half" idx="1"/>
          </p:nvPr>
        </p:nvSpPr>
        <p:spPr>
          <a:xfrm>
            <a:off x="457200" y="1981200"/>
            <a:ext cx="4038600" cy="4144963"/>
          </a:xfrm>
        </p:spPr>
        <p:txBody>
          <a:bodyPr/>
          <a:lstStyle/>
          <a:p>
            <a:pPr>
              <a:buNone/>
            </a:pPr>
            <a:r>
              <a:rPr lang="en-US" sz="3200" b="1" dirty="0" smtClean="0">
                <a:latin typeface="Times New Roman" pitchFamily="18" charset="0"/>
                <a:cs typeface="Times New Roman" pitchFamily="18" charset="0"/>
              </a:rPr>
              <a:t>1. </a:t>
            </a:r>
            <a:r>
              <a:rPr lang="en-US" sz="3200" b="1" dirty="0" smtClean="0">
                <a:latin typeface="Times New Roman" pitchFamily="18" charset="0"/>
                <a:cs typeface="Times New Roman" pitchFamily="18" charset="0"/>
              </a:rPr>
              <a:t>Quarks</a:t>
            </a:r>
            <a:r>
              <a:rPr lang="en-US" sz="3200" dirty="0" smtClean="0">
                <a:latin typeface="Times New Roman" pitchFamily="18" charset="0"/>
                <a:cs typeface="Times New Roman" pitchFamily="18" charset="0"/>
              </a:rPr>
              <a:t> </a:t>
            </a:r>
            <a:endParaRPr lang="en-US" sz="3200" dirty="0" smtClean="0">
              <a:latin typeface="Times New Roman" pitchFamily="18" charset="0"/>
              <a:cs typeface="Times New Roman" pitchFamily="18" charset="0"/>
            </a:endParaRPr>
          </a:p>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Combine to form protons and neutrons</a:t>
            </a:r>
            <a:r>
              <a:rPr lang="en-US" sz="3200" dirty="0" smtClean="0">
                <a:latin typeface="Times New Roman" pitchFamily="18" charset="0"/>
                <a:cs typeface="Times New Roman" pitchFamily="18" charset="0"/>
              </a:rPr>
              <a:t>.</a:t>
            </a:r>
          </a:p>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Six types: up, down, charm, strange, top, bottom.</a:t>
            </a:r>
          </a:p>
          <a:p>
            <a:pPr>
              <a:buNone/>
            </a:pPr>
            <a:r>
              <a:rPr lang="en-US" sz="3200" dirty="0" smtClean="0">
                <a:latin typeface="Times New Roman" pitchFamily="18" charset="0"/>
                <a:cs typeface="Times New Roman" pitchFamily="18" charset="0"/>
              </a:rPr>
              <a:t> </a:t>
            </a:r>
          </a:p>
          <a:p>
            <a:endParaRPr lang="en-US" dirty="0"/>
          </a:p>
        </p:txBody>
      </p:sp>
      <p:sp>
        <p:nvSpPr>
          <p:cNvPr id="4" name="Content Placeholder 3"/>
          <p:cNvSpPr>
            <a:spLocks noGrp="1"/>
          </p:cNvSpPr>
          <p:nvPr>
            <p:ph sz="half" idx="2"/>
          </p:nvPr>
        </p:nvSpPr>
        <p:spPr>
          <a:xfrm>
            <a:off x="4648200" y="1981200"/>
            <a:ext cx="4038600" cy="4144963"/>
          </a:xfrm>
        </p:spPr>
        <p:txBody>
          <a:bodyPr/>
          <a:lstStyle/>
          <a:p>
            <a:pPr>
              <a:buNone/>
            </a:pPr>
            <a:r>
              <a:rPr lang="en-US" sz="3200" b="1" dirty="0" smtClean="0">
                <a:latin typeface="Times New Roman" pitchFamily="18" charset="0"/>
                <a:cs typeface="Times New Roman" pitchFamily="18" charset="0"/>
              </a:rPr>
              <a:t>2. </a:t>
            </a:r>
            <a:r>
              <a:rPr lang="en-US" sz="3200" b="1" dirty="0" smtClean="0">
                <a:latin typeface="Times New Roman" pitchFamily="18" charset="0"/>
                <a:cs typeface="Times New Roman" pitchFamily="18" charset="0"/>
              </a:rPr>
              <a:t>Leptons</a:t>
            </a:r>
            <a:endParaRPr lang="en-US" sz="3200" b="1" dirty="0" smtClean="0">
              <a:latin typeface="Times New Roman" pitchFamily="18" charset="0"/>
              <a:cs typeface="Times New Roman" pitchFamily="18" charset="0"/>
            </a:endParaRPr>
          </a:p>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Include electrons and neutrinos.</a:t>
            </a:r>
          </a:p>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Six types: electron, </a:t>
            </a:r>
            <a:r>
              <a:rPr lang="en-US" sz="3200" dirty="0" err="1" smtClean="0">
                <a:latin typeface="Times New Roman" pitchFamily="18" charset="0"/>
                <a:cs typeface="Times New Roman" pitchFamily="18" charset="0"/>
              </a:rPr>
              <a:t>muon</a:t>
            </a:r>
            <a:r>
              <a:rPr lang="en-US" sz="3200" dirty="0" smtClean="0">
                <a:latin typeface="Times New Roman" pitchFamily="18" charset="0"/>
                <a:cs typeface="Times New Roman" pitchFamily="18" charset="0"/>
              </a:rPr>
              <a:t>, tau, and their neutrinos.</a:t>
            </a:r>
          </a:p>
          <a:p>
            <a:pPr>
              <a:buNone/>
            </a:pPr>
            <a:r>
              <a:rPr lang="en-US" sz="3200" dirty="0" smtClean="0">
                <a:latin typeface="Times New Roman" pitchFamily="18" charset="0"/>
                <a:cs typeface="Times New Roman" pitchFamily="18" charset="0"/>
              </a:rPr>
              <a:t>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2362200"/>
            <a:ext cx="4038600" cy="3763963"/>
          </a:xfrm>
        </p:spPr>
        <p:txBody>
          <a:bodyPr/>
          <a:lstStyle/>
          <a:p>
            <a:pPr>
              <a:buNone/>
            </a:pPr>
            <a:r>
              <a:rPr lang="en-US" b="1" dirty="0" smtClean="0">
                <a:latin typeface="Times New Roman" pitchFamily="18" charset="0"/>
                <a:cs typeface="Times New Roman" pitchFamily="18" charset="0"/>
              </a:rPr>
              <a:t>Photon</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electromagnetic force</a:t>
            </a:r>
          </a:p>
          <a:p>
            <a:pPr>
              <a:buNone/>
            </a:pPr>
            <a:r>
              <a:rPr lang="en-US" b="1" dirty="0" smtClean="0">
                <a:latin typeface="Times New Roman" pitchFamily="18" charset="0"/>
                <a:cs typeface="Times New Roman" pitchFamily="18" charset="0"/>
              </a:rPr>
              <a:t>Gluon</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strong nuclear force</a:t>
            </a:r>
          </a:p>
          <a:p>
            <a:pPr>
              <a:buNone/>
            </a:pPr>
            <a:r>
              <a:rPr lang="en-US" b="1" dirty="0" smtClean="0">
                <a:latin typeface="Times New Roman" pitchFamily="18" charset="0"/>
                <a:cs typeface="Times New Roman" pitchFamily="18" charset="0"/>
              </a:rPr>
              <a:t>W </a:t>
            </a:r>
            <a:r>
              <a:rPr lang="en-US" b="1" dirty="0" smtClean="0">
                <a:latin typeface="Times New Roman" pitchFamily="18" charset="0"/>
                <a:cs typeface="Times New Roman" pitchFamily="18" charset="0"/>
              </a:rPr>
              <a:t>and Z </a:t>
            </a:r>
            <a:r>
              <a:rPr lang="en-US" b="1" dirty="0" smtClean="0">
                <a:latin typeface="Times New Roman" pitchFamily="18" charset="0"/>
                <a:cs typeface="Times New Roman" pitchFamily="18" charset="0"/>
              </a:rPr>
              <a:t>bosons </a:t>
            </a:r>
            <a:r>
              <a:rPr lang="en-US" dirty="0" smtClean="0">
                <a:latin typeface="Times New Roman" pitchFamily="18" charset="0"/>
                <a:cs typeface="Times New Roman" pitchFamily="18" charset="0"/>
              </a:rPr>
              <a:t>→ weak nuclear force</a:t>
            </a:r>
          </a:p>
          <a:p>
            <a:endParaRPr lang="en-US" dirty="0"/>
          </a:p>
        </p:txBody>
      </p:sp>
      <p:sp>
        <p:nvSpPr>
          <p:cNvPr id="4" name="Content Placeholder 3"/>
          <p:cNvSpPr>
            <a:spLocks noGrp="1"/>
          </p:cNvSpPr>
          <p:nvPr>
            <p:ph sz="half" idx="2"/>
          </p:nvPr>
        </p:nvSpPr>
        <p:spPr>
          <a:xfrm>
            <a:off x="5334000" y="2438400"/>
            <a:ext cx="3581400" cy="3687763"/>
          </a:xfrm>
        </p:spPr>
        <p:txBody>
          <a:bodyPr/>
          <a:lstStyle/>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Gives </a:t>
            </a:r>
            <a:r>
              <a:rPr lang="en-US" sz="3200" b="1" dirty="0" smtClean="0">
                <a:latin typeface="Times New Roman" pitchFamily="18" charset="0"/>
                <a:cs typeface="Times New Roman" pitchFamily="18" charset="0"/>
              </a:rPr>
              <a:t>mass</a:t>
            </a:r>
            <a:r>
              <a:rPr lang="en-US" sz="3200" dirty="0" smtClean="0">
                <a:latin typeface="Times New Roman" pitchFamily="18" charset="0"/>
                <a:cs typeface="Times New Roman" pitchFamily="18" charset="0"/>
              </a:rPr>
              <a:t> to fundamental particles</a:t>
            </a:r>
            <a:r>
              <a:rPr lang="en-US" sz="3200" dirty="0" smtClean="0">
                <a:latin typeface="Times New Roman" pitchFamily="18" charset="0"/>
                <a:cs typeface="Times New Roman" pitchFamily="18" charset="0"/>
              </a:rPr>
              <a:t>.</a:t>
            </a:r>
          </a:p>
          <a:p>
            <a:pPr>
              <a:buNone/>
            </a:pPr>
            <a:r>
              <a:rPr lang="en-US" sz="3200" dirty="0" smtClean="0">
                <a:latin typeface="Times New Roman" pitchFamily="18" charset="0"/>
                <a:cs typeface="Times New Roman" pitchFamily="18" charset="0"/>
              </a:rPr>
              <a:t> </a:t>
            </a:r>
            <a:r>
              <a:rPr lang="en-US" sz="3200" dirty="0" smtClean="0">
                <a:latin typeface="Times New Roman" pitchFamily="18" charset="0"/>
                <a:cs typeface="Times New Roman" pitchFamily="18" charset="0"/>
              </a:rPr>
              <a:t>Discovered in 2012.</a:t>
            </a:r>
          </a:p>
          <a:p>
            <a:endParaRPr lang="en-US" dirty="0"/>
          </a:p>
        </p:txBody>
      </p:sp>
      <p:sp>
        <p:nvSpPr>
          <p:cNvPr id="5" name="Title 1"/>
          <p:cNvSpPr>
            <a:spLocks noGrp="1"/>
          </p:cNvSpPr>
          <p:nvPr>
            <p:ph type="title"/>
          </p:nvPr>
        </p:nvSpPr>
        <p:spPr>
          <a:xfrm>
            <a:off x="304800" y="304800"/>
            <a:ext cx="4267200" cy="1782762"/>
          </a:xfrm>
          <a:effectLst>
            <a:glow rad="101600">
              <a:schemeClr val="accent2">
                <a:satMod val="175000"/>
                <a:alpha val="40000"/>
              </a:schemeClr>
            </a:glow>
            <a:outerShdw blurRad="40000" dist="20000" dir="54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a:normAutofit/>
          </a:bodyPr>
          <a:lstStyle/>
          <a:p>
            <a:r>
              <a:rPr lang="en-US" sz="5400" dirty="0" smtClean="0">
                <a:latin typeface="Times New Roman" pitchFamily="18" charset="0"/>
                <a:cs typeface="Times New Roman" pitchFamily="18" charset="0"/>
              </a:rPr>
              <a:t>Force Carrier particles</a:t>
            </a:r>
            <a:endParaRPr lang="en-US" sz="5400" dirty="0">
              <a:latin typeface="Times New Roman" pitchFamily="18" charset="0"/>
              <a:cs typeface="Times New Roman" pitchFamily="18" charset="0"/>
            </a:endParaRPr>
          </a:p>
        </p:txBody>
      </p:sp>
      <p:sp>
        <p:nvSpPr>
          <p:cNvPr id="6" name="Rectangle 5"/>
          <p:cNvSpPr/>
          <p:nvPr/>
        </p:nvSpPr>
        <p:spPr>
          <a:xfrm>
            <a:off x="5181600" y="304800"/>
            <a:ext cx="3733800" cy="1828800"/>
          </a:xfrm>
          <a:prstGeom prst="rect">
            <a:avLst/>
          </a:prstGeom>
          <a:effectLst>
            <a:glow rad="101600">
              <a:schemeClr val="accent2">
                <a:satMod val="175000"/>
                <a:alpha val="40000"/>
              </a:schemeClr>
            </a:glow>
            <a:outerShdw blurRad="40000" dist="20000" dir="54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4800" dirty="0" smtClean="0">
                <a:latin typeface="Times New Roman" pitchFamily="18" charset="0"/>
                <a:cs typeface="Times New Roman" pitchFamily="18" charset="0"/>
              </a:rPr>
              <a:t>Higgs Boson</a:t>
            </a:r>
            <a:endParaRPr lang="en-US" sz="4800"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2438400"/>
            <a:ext cx="8001000" cy="3657600"/>
          </a:xfrm>
        </p:spPr>
        <p:txBody>
          <a:bodyPr>
            <a:noAutofit/>
          </a:bodyPr>
          <a:lstStyle/>
          <a:p>
            <a:r>
              <a:rPr lang="en-US" dirty="0"/>
              <a:t> </a:t>
            </a:r>
          </a:p>
          <a:p>
            <a:pPr algn="l"/>
            <a:r>
              <a:rPr lang="en-US" b="1" dirty="0" smtClean="0">
                <a:solidFill>
                  <a:schemeClr val="tx1">
                    <a:lumMod val="95000"/>
                    <a:lumOff val="5000"/>
                  </a:schemeClr>
                </a:solidFill>
                <a:latin typeface="Times New Roman" pitchFamily="18" charset="0"/>
                <a:cs typeface="Times New Roman" pitchFamily="18" charset="0"/>
              </a:rPr>
              <a:t>The Standard Model explains </a:t>
            </a:r>
            <a:r>
              <a:rPr lang="en-US" b="1" dirty="0" smtClean="0">
                <a:solidFill>
                  <a:schemeClr val="tx1">
                    <a:lumMod val="95000"/>
                    <a:lumOff val="5000"/>
                  </a:schemeClr>
                </a:solidFill>
                <a:latin typeface="Times New Roman" pitchFamily="18" charset="0"/>
                <a:cs typeface="Times New Roman" pitchFamily="18" charset="0"/>
              </a:rPr>
              <a:t>three </a:t>
            </a:r>
            <a:r>
              <a:rPr lang="en-US" b="1" dirty="0" smtClean="0">
                <a:solidFill>
                  <a:schemeClr val="tx1">
                    <a:lumMod val="95000"/>
                    <a:lumOff val="5000"/>
                  </a:schemeClr>
                </a:solidFill>
                <a:latin typeface="Times New Roman" pitchFamily="18" charset="0"/>
                <a:cs typeface="Times New Roman" pitchFamily="18" charset="0"/>
              </a:rPr>
              <a:t>fundamental </a:t>
            </a:r>
            <a:r>
              <a:rPr lang="en-US" b="1" dirty="0" smtClean="0">
                <a:solidFill>
                  <a:schemeClr val="tx1">
                    <a:lumMod val="95000"/>
                    <a:lumOff val="5000"/>
                  </a:schemeClr>
                </a:solidFill>
                <a:latin typeface="Times New Roman" pitchFamily="18" charset="0"/>
                <a:cs typeface="Times New Roman" pitchFamily="18" charset="0"/>
              </a:rPr>
              <a:t>forces:</a:t>
            </a:r>
            <a:endParaRPr lang="en-US" b="1" dirty="0" smtClean="0">
              <a:solidFill>
                <a:schemeClr val="tx1">
                  <a:lumMod val="95000"/>
                  <a:lumOff val="5000"/>
                </a:schemeClr>
              </a:solidFill>
              <a:latin typeface="Times New Roman" pitchFamily="18" charset="0"/>
              <a:cs typeface="Times New Roman" pitchFamily="18" charset="0"/>
            </a:endParaRPr>
          </a:p>
          <a:p>
            <a:pPr algn="l"/>
            <a:r>
              <a:rPr lang="en-US" dirty="0" smtClean="0">
                <a:solidFill>
                  <a:schemeClr val="tx1">
                    <a:lumMod val="95000"/>
                    <a:lumOff val="5000"/>
                  </a:schemeClr>
                </a:solidFill>
                <a:latin typeface="Times New Roman" pitchFamily="18" charset="0"/>
                <a:cs typeface="Times New Roman" pitchFamily="18" charset="0"/>
              </a:rPr>
              <a:t>1. Electromagnetic force</a:t>
            </a:r>
          </a:p>
          <a:p>
            <a:pPr algn="l"/>
            <a:r>
              <a:rPr lang="en-US" dirty="0" smtClean="0">
                <a:solidFill>
                  <a:schemeClr val="tx1">
                    <a:lumMod val="95000"/>
                    <a:lumOff val="5000"/>
                  </a:schemeClr>
                </a:solidFill>
                <a:latin typeface="Times New Roman" pitchFamily="18" charset="0"/>
                <a:cs typeface="Times New Roman" pitchFamily="18" charset="0"/>
              </a:rPr>
              <a:t>2. Strong nuclear force</a:t>
            </a:r>
          </a:p>
          <a:p>
            <a:pPr algn="l"/>
            <a:r>
              <a:rPr lang="en-US" dirty="0" smtClean="0">
                <a:solidFill>
                  <a:schemeClr val="tx1">
                    <a:lumMod val="95000"/>
                    <a:lumOff val="5000"/>
                  </a:schemeClr>
                </a:solidFill>
                <a:latin typeface="Times New Roman" pitchFamily="18" charset="0"/>
                <a:cs typeface="Times New Roman" pitchFamily="18" charset="0"/>
              </a:rPr>
              <a:t>3. Weak nuclear force</a:t>
            </a:r>
          </a:p>
          <a:p>
            <a:r>
              <a:rPr lang="en-US" b="1" dirty="0" smtClean="0">
                <a:solidFill>
                  <a:schemeClr val="tx1">
                    <a:lumMod val="95000"/>
                    <a:lumOff val="5000"/>
                  </a:schemeClr>
                </a:solidFill>
                <a:latin typeface="Times New Roman" pitchFamily="18" charset="0"/>
                <a:cs typeface="Times New Roman" pitchFamily="18" charset="0"/>
              </a:rPr>
              <a:t>Gravity </a:t>
            </a:r>
            <a:r>
              <a:rPr lang="en-US" b="1" dirty="0" smtClean="0">
                <a:solidFill>
                  <a:schemeClr val="tx1">
                    <a:lumMod val="95000"/>
                    <a:lumOff val="5000"/>
                  </a:schemeClr>
                </a:solidFill>
                <a:latin typeface="Times New Roman" pitchFamily="18" charset="0"/>
                <a:cs typeface="Times New Roman" pitchFamily="18" charset="0"/>
              </a:rPr>
              <a:t>is not </a:t>
            </a:r>
            <a:r>
              <a:rPr lang="en-US" b="1" dirty="0" smtClean="0">
                <a:solidFill>
                  <a:schemeClr val="tx1">
                    <a:lumMod val="95000"/>
                    <a:lumOff val="5000"/>
                  </a:schemeClr>
                </a:solidFill>
                <a:latin typeface="Times New Roman" pitchFamily="18" charset="0"/>
                <a:cs typeface="Times New Roman" pitchFamily="18" charset="0"/>
              </a:rPr>
              <a:t>included</a:t>
            </a:r>
            <a:r>
              <a:rPr lang="en-US" dirty="0" smtClean="0">
                <a:solidFill>
                  <a:schemeClr val="tx1">
                    <a:lumMod val="95000"/>
                    <a:lumOff val="5000"/>
                  </a:schemeClr>
                </a:solidFill>
                <a:latin typeface="Times New Roman" pitchFamily="18" charset="0"/>
                <a:cs typeface="Times New Roman" pitchFamily="18" charset="0"/>
              </a:rPr>
              <a:t> </a:t>
            </a:r>
            <a:r>
              <a:rPr lang="en-US" dirty="0" smtClean="0">
                <a:solidFill>
                  <a:schemeClr val="tx1">
                    <a:lumMod val="95000"/>
                    <a:lumOff val="5000"/>
                  </a:schemeClr>
                </a:solidFill>
                <a:latin typeface="Times New Roman" pitchFamily="18" charset="0"/>
                <a:cs typeface="Times New Roman" pitchFamily="18" charset="0"/>
              </a:rPr>
              <a:t>in the Standard Model</a:t>
            </a:r>
            <a:r>
              <a:rPr lang="en-US" dirty="0" smtClean="0">
                <a:latin typeface="Times New Roman" pitchFamily="18" charset="0"/>
                <a:cs typeface="Times New Roman" pitchFamily="18" charset="0"/>
              </a:rPr>
              <a:t>.</a:t>
            </a:r>
          </a:p>
          <a:p>
            <a:pPr algn="l"/>
            <a:endParaRPr lang="en-US" dirty="0">
              <a:solidFill>
                <a:schemeClr val="tx1">
                  <a:lumMod val="95000"/>
                  <a:lumOff val="5000"/>
                </a:schemeClr>
              </a:solidFill>
              <a:latin typeface="Times New Roman" pitchFamily="18" charset="0"/>
              <a:cs typeface="Times New Roman" pitchFamily="18" charset="0"/>
            </a:endParaRPr>
          </a:p>
        </p:txBody>
      </p:sp>
      <p:sp>
        <p:nvSpPr>
          <p:cNvPr id="4" name="Title 1"/>
          <p:cNvSpPr>
            <a:spLocks noGrp="1"/>
          </p:cNvSpPr>
          <p:nvPr>
            <p:ph type="ctrTitle"/>
          </p:nvPr>
        </p:nvSpPr>
        <p:spPr>
          <a:xfrm>
            <a:off x="685800" y="304800"/>
            <a:ext cx="7772400" cy="1905000"/>
          </a:xfrm>
          <a:ln/>
        </p:spPr>
        <p:style>
          <a:lnRef idx="1">
            <a:schemeClr val="accent2"/>
          </a:lnRef>
          <a:fillRef idx="2">
            <a:schemeClr val="accent2"/>
          </a:fillRef>
          <a:effectRef idx="1">
            <a:schemeClr val="accent2"/>
          </a:effectRef>
          <a:fontRef idx="minor">
            <a:schemeClr val="dk1"/>
          </a:fontRef>
        </p:style>
        <p:txBody>
          <a:bodyPr>
            <a:noAutofit/>
          </a:bodyPr>
          <a:lstStyle/>
          <a:p>
            <a:r>
              <a:rPr lang="en-US" sz="4800" dirty="0" smtClean="0">
                <a:latin typeface="Times New Roman" pitchFamily="18" charset="0"/>
                <a:cs typeface="Times New Roman" pitchFamily="18" charset="0"/>
              </a:rPr>
              <a:t>Force Explained By The Standard Model</a:t>
            </a:r>
            <a:r>
              <a:rPr lang="en-US" sz="4800" dirty="0" smtClean="0">
                <a:latin typeface="Times New Roman" pitchFamily="18" charset="0"/>
                <a:cs typeface="Times New Roman" pitchFamily="18" charset="0"/>
              </a:rPr>
              <a:t/>
            </a:r>
            <a:br>
              <a:rPr lang="en-US" sz="4800" dirty="0" smtClean="0">
                <a:latin typeface="Times New Roman" pitchFamily="18" charset="0"/>
                <a:cs typeface="Times New Roman" pitchFamily="18" charset="0"/>
              </a:rPr>
            </a:br>
            <a:endParaRPr lang="en-US" sz="48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04800"/>
            <a:ext cx="7772400" cy="1676400"/>
          </a:xfrm>
        </p:spPr>
        <p:style>
          <a:lnRef idx="1">
            <a:schemeClr val="accent2"/>
          </a:lnRef>
          <a:fillRef idx="2">
            <a:schemeClr val="accent2"/>
          </a:fillRef>
          <a:effectRef idx="1">
            <a:schemeClr val="accent2"/>
          </a:effectRef>
          <a:fontRef idx="minor">
            <a:schemeClr val="dk1"/>
          </a:fontRef>
        </p:style>
        <p:txBody>
          <a:bodyPr>
            <a:noAutofit/>
          </a:bodyPr>
          <a:lstStyle/>
          <a:p>
            <a:r>
              <a:rPr lang="en-US" sz="4800" dirty="0" smtClean="0">
                <a:latin typeface="Times New Roman" pitchFamily="18" charset="0"/>
                <a:cs typeface="Times New Roman" pitchFamily="18" charset="0"/>
              </a:rPr>
              <a:t>Importance Of The Standard Model</a:t>
            </a:r>
            <a:endParaRPr lang="en-US" sz="4800" dirty="0">
              <a:latin typeface="Times New Roman" pitchFamily="18" charset="0"/>
              <a:cs typeface="Times New Roman" pitchFamily="18" charset="0"/>
            </a:endParaRPr>
          </a:p>
        </p:txBody>
      </p:sp>
      <p:sp>
        <p:nvSpPr>
          <p:cNvPr id="3" name="Subtitle 2"/>
          <p:cNvSpPr>
            <a:spLocks noGrp="1"/>
          </p:cNvSpPr>
          <p:nvPr>
            <p:ph type="subTitle" idx="1"/>
          </p:nvPr>
        </p:nvSpPr>
        <p:spPr>
          <a:xfrm>
            <a:off x="609600" y="2438400"/>
            <a:ext cx="7848600" cy="3810000"/>
          </a:xfrm>
        </p:spPr>
        <p:txBody>
          <a:bodyPr/>
          <a:lstStyle/>
          <a:p>
            <a:pPr algn="l">
              <a:buFont typeface="Wingdings" pitchFamily="2" charset="2"/>
              <a:buChar char="v"/>
            </a:pPr>
            <a:r>
              <a:rPr lang="en-US" dirty="0" smtClean="0"/>
              <a:t> </a:t>
            </a:r>
            <a:r>
              <a:rPr lang="en-US" sz="3600" dirty="0" smtClean="0">
                <a:solidFill>
                  <a:schemeClr val="tx1">
                    <a:lumMod val="95000"/>
                    <a:lumOff val="5000"/>
                  </a:schemeClr>
                </a:solidFill>
                <a:latin typeface="Times New Roman" pitchFamily="18" charset="0"/>
                <a:cs typeface="Times New Roman" pitchFamily="18" charset="0"/>
              </a:rPr>
              <a:t>Explains how matter and forces interact.</a:t>
            </a:r>
          </a:p>
          <a:p>
            <a:pPr algn="l">
              <a:buFont typeface="Wingdings" pitchFamily="2" charset="2"/>
              <a:buChar char="v"/>
            </a:pPr>
            <a:r>
              <a:rPr lang="en-US" sz="3600" dirty="0" smtClean="0">
                <a:solidFill>
                  <a:schemeClr val="tx1">
                    <a:lumMod val="95000"/>
                    <a:lumOff val="5000"/>
                  </a:schemeClr>
                </a:solidFill>
                <a:latin typeface="Times New Roman" pitchFamily="18" charset="0"/>
                <a:cs typeface="Times New Roman" pitchFamily="18" charset="0"/>
              </a:rPr>
              <a:t> </a:t>
            </a:r>
            <a:r>
              <a:rPr lang="en-US" sz="3600" dirty="0" smtClean="0">
                <a:solidFill>
                  <a:schemeClr val="tx1">
                    <a:lumMod val="95000"/>
                    <a:lumOff val="5000"/>
                  </a:schemeClr>
                </a:solidFill>
                <a:latin typeface="Times New Roman" pitchFamily="18" charset="0"/>
                <a:cs typeface="Times New Roman" pitchFamily="18" charset="0"/>
              </a:rPr>
              <a:t>Forms the foundation of modern physics.</a:t>
            </a:r>
          </a:p>
          <a:p>
            <a:pPr algn="l">
              <a:buFont typeface="Wingdings" pitchFamily="2" charset="2"/>
              <a:buChar char="v"/>
            </a:pPr>
            <a:r>
              <a:rPr lang="en-US" sz="3600" dirty="0" smtClean="0">
                <a:solidFill>
                  <a:schemeClr val="tx1">
                    <a:lumMod val="95000"/>
                    <a:lumOff val="5000"/>
                  </a:schemeClr>
                </a:solidFill>
                <a:latin typeface="Times New Roman" pitchFamily="18" charset="0"/>
                <a:cs typeface="Times New Roman" pitchFamily="18" charset="0"/>
              </a:rPr>
              <a:t>  </a:t>
            </a:r>
            <a:r>
              <a:rPr lang="en-US" sz="3600" dirty="0" smtClean="0">
                <a:solidFill>
                  <a:schemeClr val="tx1">
                    <a:lumMod val="95000"/>
                    <a:lumOff val="5000"/>
                  </a:schemeClr>
                </a:solidFill>
                <a:latin typeface="Times New Roman" pitchFamily="18" charset="0"/>
                <a:cs typeface="Times New Roman" pitchFamily="18" charset="0"/>
              </a:rPr>
              <a:t>Helps in advanced technologies and research.</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04800"/>
            <a:ext cx="8001000" cy="1752600"/>
          </a:xfrm>
        </p:spPr>
        <p:style>
          <a:lnRef idx="1">
            <a:schemeClr val="accent2"/>
          </a:lnRef>
          <a:fillRef idx="2">
            <a:schemeClr val="accent2"/>
          </a:fillRef>
          <a:effectRef idx="1">
            <a:schemeClr val="accent2"/>
          </a:effectRef>
          <a:fontRef idx="minor">
            <a:schemeClr val="dk1"/>
          </a:fontRef>
        </p:style>
        <p:txBody>
          <a:bodyPr>
            <a:normAutofit/>
          </a:bodyPr>
          <a:lstStyle/>
          <a:p>
            <a:r>
              <a:rPr lang="en-US" sz="7200" dirty="0" smtClean="0">
                <a:latin typeface="Times New Roman" pitchFamily="18" charset="0"/>
                <a:cs typeface="Times New Roman" pitchFamily="18" charset="0"/>
              </a:rPr>
              <a:t>CONCLUSION </a:t>
            </a:r>
            <a:endParaRPr lang="en-US" sz="7200" dirty="0">
              <a:latin typeface="Times New Roman" pitchFamily="18" charset="0"/>
              <a:cs typeface="Times New Roman" pitchFamily="18" charset="0"/>
            </a:endParaRPr>
          </a:p>
        </p:txBody>
      </p:sp>
      <p:sp>
        <p:nvSpPr>
          <p:cNvPr id="3" name="Subtitle 2"/>
          <p:cNvSpPr>
            <a:spLocks noGrp="1"/>
          </p:cNvSpPr>
          <p:nvPr>
            <p:ph type="subTitle" idx="1"/>
          </p:nvPr>
        </p:nvSpPr>
        <p:spPr>
          <a:xfrm>
            <a:off x="914400" y="2286000"/>
            <a:ext cx="7467600" cy="3886200"/>
          </a:xfrm>
        </p:spPr>
        <p:txBody>
          <a:bodyPr>
            <a:normAutofit fontScale="92500" lnSpcReduction="20000"/>
          </a:bodyPr>
          <a:lstStyle/>
          <a:p>
            <a:endParaRPr lang="en-US" dirty="0" smtClean="0">
              <a:solidFill>
                <a:schemeClr val="tx1">
                  <a:lumMod val="95000"/>
                  <a:lumOff val="5000"/>
                </a:schemeClr>
              </a:solidFill>
              <a:latin typeface="Times New Roman" pitchFamily="18" charset="0"/>
              <a:cs typeface="Times New Roman" pitchFamily="18" charset="0"/>
            </a:endParaRPr>
          </a:p>
          <a:p>
            <a:r>
              <a:rPr lang="en-US" sz="2800" dirty="0" smtClean="0">
                <a:solidFill>
                  <a:schemeClr val="tx1">
                    <a:lumMod val="95000"/>
                    <a:lumOff val="5000"/>
                  </a:schemeClr>
                </a:solidFill>
                <a:latin typeface="Times New Roman" pitchFamily="18" charset="0"/>
                <a:cs typeface="Times New Roman" pitchFamily="18" charset="0"/>
              </a:rPr>
              <a:t>Atomic theories explain how our understanding of matter evolved from simple atoms to complex structures. Particle physics extends this knowledge by studying the fundamental particles and forces of nature. The Standard Model successfully describes these particles and three basic forces, helping us understand how the universe is built, though it does not yet include gravity.</a:t>
            </a:r>
          </a:p>
          <a:p>
            <a:r>
              <a:rPr lang="en-US" dirty="0" smtClean="0">
                <a:solidFill>
                  <a:schemeClr val="tx1">
                    <a:lumMod val="95000"/>
                    <a:lumOff val="5000"/>
                  </a:schemeClr>
                </a:solidFill>
                <a:latin typeface="Times New Roman" pitchFamily="18" charset="0"/>
                <a:cs typeface="Times New Roman" pitchFamily="18" charset="0"/>
              </a:rPr>
              <a:t>.</a:t>
            </a:r>
            <a:endParaRPr lang="en-US" dirty="0">
              <a:solidFill>
                <a:schemeClr val="tx1">
                  <a:lumMod val="95000"/>
                  <a:lumOff val="5000"/>
                </a:schemeClr>
              </a:solidFill>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8543331</TotalTime>
  <Words>475</Words>
  <Application>Microsoft Office PowerPoint</Application>
  <PresentationFormat>On-screen Show (4:3)</PresentationFormat>
  <Paragraphs>72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Basics of atomic theories, introduction to particle physics, standard model</vt:lpstr>
      <vt:lpstr>Basics Of Atomic Theories…</vt:lpstr>
      <vt:lpstr>a) Dalton’s Atomic Theory (1803) </vt:lpstr>
      <vt:lpstr>a) Dalton’s Atomic Theory (1803) </vt:lpstr>
      <vt:lpstr>c) Rutherford’s Atomic Model (1911)</vt:lpstr>
      <vt:lpstr>Bohr’s Atomic Model (1913)</vt:lpstr>
      <vt:lpstr>Introduction To Particle Physics</vt:lpstr>
      <vt:lpstr>Key Ideas</vt:lpstr>
      <vt:lpstr>The Standard Model Of Particle Physics</vt:lpstr>
      <vt:lpstr>Fundamental particles</vt:lpstr>
      <vt:lpstr>Force Carrier particles</vt:lpstr>
      <vt:lpstr>Force Explained By The Standard Model </vt:lpstr>
      <vt:lpstr>Importance Of The Standard Model</vt:lpstr>
      <vt:lpstr>CONCLUSION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POLARIZATION OF LIGHT</dc:title>
  <dc:creator>Abdullah</dc:creator>
  <cp:lastModifiedBy>Abdullah</cp:lastModifiedBy>
  <cp:revision>17</cp:revision>
  <dcterms:created xsi:type="dcterms:W3CDTF">2025-12-03T13:35:15Z</dcterms:created>
  <dcterms:modified xsi:type="dcterms:W3CDTF">2025-12-14T14:18:20Z</dcterms:modified>
</cp:coreProperties>
</file>