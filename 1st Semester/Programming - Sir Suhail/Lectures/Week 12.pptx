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375" r:id="rId2"/>
    <p:sldId id="257" r:id="rId3"/>
    <p:sldId id="258" r:id="rId4"/>
    <p:sldId id="259" r:id="rId5"/>
    <p:sldId id="264" r:id="rId6"/>
    <p:sldId id="282" r:id="rId7"/>
    <p:sldId id="260" r:id="rId8"/>
    <p:sldId id="267" r:id="rId9"/>
    <p:sldId id="288" r:id="rId10"/>
    <p:sldId id="261" r:id="rId11"/>
    <p:sldId id="262" r:id="rId12"/>
    <p:sldId id="263" r:id="rId13"/>
    <p:sldId id="265" r:id="rId14"/>
    <p:sldId id="266" r:id="rId15"/>
    <p:sldId id="277" r:id="rId16"/>
    <p:sldId id="268" r:id="rId17"/>
    <p:sldId id="284" r:id="rId18"/>
    <p:sldId id="278" r:id="rId19"/>
    <p:sldId id="285" r:id="rId20"/>
    <p:sldId id="280" r:id="rId21"/>
    <p:sldId id="279" r:id="rId22"/>
    <p:sldId id="271" r:id="rId23"/>
    <p:sldId id="272" r:id="rId24"/>
    <p:sldId id="273" r:id="rId25"/>
    <p:sldId id="275" r:id="rId26"/>
    <p:sldId id="269" r:id="rId27"/>
    <p:sldId id="283" r:id="rId28"/>
    <p:sldId id="286" r:id="rId29"/>
    <p:sldId id="28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3F0F1B-B749-474D-BF6B-A844C5062160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1A1FF8A-55B5-4417-8462-69AE641331E7}">
      <dgm:prSet/>
      <dgm:spPr/>
      <dgm:t>
        <a:bodyPr/>
        <a:lstStyle/>
        <a:p>
          <a:r>
            <a:rPr lang="en-MY"/>
            <a:t>int area(int side) { return side * side; }            // square</a:t>
          </a:r>
          <a:endParaRPr lang="en-US"/>
        </a:p>
      </dgm:t>
    </dgm:pt>
    <dgm:pt modelId="{97F7A89C-DEED-44B5-8DAB-955EBA1D9214}" type="parTrans" cxnId="{3766398C-7361-4202-ABE8-41B6EA470FDD}">
      <dgm:prSet/>
      <dgm:spPr/>
      <dgm:t>
        <a:bodyPr/>
        <a:lstStyle/>
        <a:p>
          <a:endParaRPr lang="en-US"/>
        </a:p>
      </dgm:t>
    </dgm:pt>
    <dgm:pt modelId="{0F877226-0D7A-4D41-ADBD-C24A7D058709}" type="sibTrans" cxnId="{3766398C-7361-4202-ABE8-41B6EA470FDD}">
      <dgm:prSet/>
      <dgm:spPr/>
      <dgm:t>
        <a:bodyPr/>
        <a:lstStyle/>
        <a:p>
          <a:endParaRPr lang="en-US"/>
        </a:p>
      </dgm:t>
    </dgm:pt>
    <dgm:pt modelId="{D9002B37-2AAC-4EB9-9C97-1C527780A7E3}">
      <dgm:prSet/>
      <dgm:spPr/>
      <dgm:t>
        <a:bodyPr/>
        <a:lstStyle/>
        <a:p>
          <a:r>
            <a:rPr lang="en-MY"/>
            <a:t>int area(int l, int w) { return l * w; }              // rectangle</a:t>
          </a:r>
          <a:endParaRPr lang="en-US"/>
        </a:p>
      </dgm:t>
    </dgm:pt>
    <dgm:pt modelId="{380E6E74-11A3-4DE0-AF06-C527D43624C5}" type="parTrans" cxnId="{F8F4EDCA-A77D-47D4-883C-01A124AF4199}">
      <dgm:prSet/>
      <dgm:spPr/>
      <dgm:t>
        <a:bodyPr/>
        <a:lstStyle/>
        <a:p>
          <a:endParaRPr lang="en-US"/>
        </a:p>
      </dgm:t>
    </dgm:pt>
    <dgm:pt modelId="{6A918401-9070-4DDA-9C6A-BFFCABD8767C}" type="sibTrans" cxnId="{F8F4EDCA-A77D-47D4-883C-01A124AF4199}">
      <dgm:prSet/>
      <dgm:spPr/>
      <dgm:t>
        <a:bodyPr/>
        <a:lstStyle/>
        <a:p>
          <a:endParaRPr lang="en-US"/>
        </a:p>
      </dgm:t>
    </dgm:pt>
    <dgm:pt modelId="{888E78AA-50D6-401C-A1D3-168F359DD249}">
      <dgm:prSet/>
      <dgm:spPr/>
      <dgm:t>
        <a:bodyPr/>
        <a:lstStyle/>
        <a:p>
          <a:r>
            <a:rPr lang="en-MY"/>
            <a:t>double area(double r) { return 3.1415926535 * r * r; } // circle (radius)</a:t>
          </a:r>
          <a:endParaRPr lang="en-US"/>
        </a:p>
      </dgm:t>
    </dgm:pt>
    <dgm:pt modelId="{8AA60D2B-0CF7-41AA-AFC4-3A7E1B8B4E8C}" type="parTrans" cxnId="{E9BA248E-83D2-45C8-A035-C9B278E13735}">
      <dgm:prSet/>
      <dgm:spPr/>
      <dgm:t>
        <a:bodyPr/>
        <a:lstStyle/>
        <a:p>
          <a:endParaRPr lang="en-US"/>
        </a:p>
      </dgm:t>
    </dgm:pt>
    <dgm:pt modelId="{F6D37646-A6ED-4833-8D4F-B6CC351F22EB}" type="sibTrans" cxnId="{E9BA248E-83D2-45C8-A035-C9B278E13735}">
      <dgm:prSet/>
      <dgm:spPr/>
      <dgm:t>
        <a:bodyPr/>
        <a:lstStyle/>
        <a:p>
          <a:endParaRPr lang="en-US"/>
        </a:p>
      </dgm:t>
    </dgm:pt>
    <dgm:pt modelId="{57C2F3E3-D3F6-493B-9F11-B3E6C579BC73}" type="pres">
      <dgm:prSet presAssocID="{FF3F0F1B-B749-474D-BF6B-A844C5062160}" presName="linear" presStyleCnt="0">
        <dgm:presLayoutVars>
          <dgm:animLvl val="lvl"/>
          <dgm:resizeHandles val="exact"/>
        </dgm:presLayoutVars>
      </dgm:prSet>
      <dgm:spPr/>
    </dgm:pt>
    <dgm:pt modelId="{3C3AE041-13A5-4F79-A036-48BA1D045CEF}" type="pres">
      <dgm:prSet presAssocID="{71A1FF8A-55B5-4417-8462-69AE641331E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8782D4C-8073-4D32-8887-70371471225D}" type="pres">
      <dgm:prSet presAssocID="{0F877226-0D7A-4D41-ADBD-C24A7D058709}" presName="spacer" presStyleCnt="0"/>
      <dgm:spPr/>
    </dgm:pt>
    <dgm:pt modelId="{2A791600-19E0-43D0-BF42-3C49C70392F6}" type="pres">
      <dgm:prSet presAssocID="{D9002B37-2AAC-4EB9-9C97-1C527780A7E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3F91F28-1CE6-4EC1-9F4B-A5723B74E3E9}" type="pres">
      <dgm:prSet presAssocID="{6A918401-9070-4DDA-9C6A-BFFCABD8767C}" presName="spacer" presStyleCnt="0"/>
      <dgm:spPr/>
    </dgm:pt>
    <dgm:pt modelId="{EED6EA2B-5568-4A98-A1DF-714D59768F91}" type="pres">
      <dgm:prSet presAssocID="{888E78AA-50D6-401C-A1D3-168F359DD24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D543D7A-8252-4817-9CB6-BD269B0691C7}" type="presOf" srcId="{D9002B37-2AAC-4EB9-9C97-1C527780A7E3}" destId="{2A791600-19E0-43D0-BF42-3C49C70392F6}" srcOrd="0" destOrd="0" presId="urn:microsoft.com/office/officeart/2005/8/layout/vList2"/>
    <dgm:cxn modelId="{3766398C-7361-4202-ABE8-41B6EA470FDD}" srcId="{FF3F0F1B-B749-474D-BF6B-A844C5062160}" destId="{71A1FF8A-55B5-4417-8462-69AE641331E7}" srcOrd="0" destOrd="0" parTransId="{97F7A89C-DEED-44B5-8DAB-955EBA1D9214}" sibTransId="{0F877226-0D7A-4D41-ADBD-C24A7D058709}"/>
    <dgm:cxn modelId="{E9BA248E-83D2-45C8-A035-C9B278E13735}" srcId="{FF3F0F1B-B749-474D-BF6B-A844C5062160}" destId="{888E78AA-50D6-401C-A1D3-168F359DD249}" srcOrd="2" destOrd="0" parTransId="{8AA60D2B-0CF7-41AA-AFC4-3A7E1B8B4E8C}" sibTransId="{F6D37646-A6ED-4833-8D4F-B6CC351F22EB}"/>
    <dgm:cxn modelId="{B2F75FC0-6EF7-4957-A5B9-5ED7483F05CF}" type="presOf" srcId="{71A1FF8A-55B5-4417-8462-69AE641331E7}" destId="{3C3AE041-13A5-4F79-A036-48BA1D045CEF}" srcOrd="0" destOrd="0" presId="urn:microsoft.com/office/officeart/2005/8/layout/vList2"/>
    <dgm:cxn modelId="{F8F4EDCA-A77D-47D4-883C-01A124AF4199}" srcId="{FF3F0F1B-B749-474D-BF6B-A844C5062160}" destId="{D9002B37-2AAC-4EB9-9C97-1C527780A7E3}" srcOrd="1" destOrd="0" parTransId="{380E6E74-11A3-4DE0-AF06-C527D43624C5}" sibTransId="{6A918401-9070-4DDA-9C6A-BFFCABD8767C}"/>
    <dgm:cxn modelId="{DBC673DB-F554-41FB-8628-80C863242FD2}" type="presOf" srcId="{FF3F0F1B-B749-474D-BF6B-A844C5062160}" destId="{57C2F3E3-D3F6-493B-9F11-B3E6C579BC73}" srcOrd="0" destOrd="0" presId="urn:microsoft.com/office/officeart/2005/8/layout/vList2"/>
    <dgm:cxn modelId="{B31ADFDF-ABA5-48A6-8300-70FD8C106229}" type="presOf" srcId="{888E78AA-50D6-401C-A1D3-168F359DD249}" destId="{EED6EA2B-5568-4A98-A1DF-714D59768F91}" srcOrd="0" destOrd="0" presId="urn:microsoft.com/office/officeart/2005/8/layout/vList2"/>
    <dgm:cxn modelId="{17DB0A47-F19A-49E5-9409-FF27E52CCED0}" type="presParOf" srcId="{57C2F3E3-D3F6-493B-9F11-B3E6C579BC73}" destId="{3C3AE041-13A5-4F79-A036-48BA1D045CEF}" srcOrd="0" destOrd="0" presId="urn:microsoft.com/office/officeart/2005/8/layout/vList2"/>
    <dgm:cxn modelId="{9EC68151-96F8-408D-AD0B-98D9FEC3E34C}" type="presParOf" srcId="{57C2F3E3-D3F6-493B-9F11-B3E6C579BC73}" destId="{A8782D4C-8073-4D32-8887-70371471225D}" srcOrd="1" destOrd="0" presId="urn:microsoft.com/office/officeart/2005/8/layout/vList2"/>
    <dgm:cxn modelId="{369A5F6C-9F74-4C8E-B6C1-E0BFEB95FB77}" type="presParOf" srcId="{57C2F3E3-D3F6-493B-9F11-B3E6C579BC73}" destId="{2A791600-19E0-43D0-BF42-3C49C70392F6}" srcOrd="2" destOrd="0" presId="urn:microsoft.com/office/officeart/2005/8/layout/vList2"/>
    <dgm:cxn modelId="{085B4527-1214-43BD-86EA-FAD9AC4F94FA}" type="presParOf" srcId="{57C2F3E3-D3F6-493B-9F11-B3E6C579BC73}" destId="{93F91F28-1CE6-4EC1-9F4B-A5723B74E3E9}" srcOrd="3" destOrd="0" presId="urn:microsoft.com/office/officeart/2005/8/layout/vList2"/>
    <dgm:cxn modelId="{DA45A667-30E2-42A1-90A7-0559BB9282C6}" type="presParOf" srcId="{57C2F3E3-D3F6-493B-9F11-B3E6C579BC73}" destId="{EED6EA2B-5568-4A98-A1DF-714D59768F9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D996C1-BE70-40EA-B70C-DA8C12A103F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C5EDFDA-341B-4EE0-A70D-7A3D671ED91A}">
      <dgm:prSet/>
      <dgm:spPr/>
      <dgm:t>
        <a:bodyPr/>
        <a:lstStyle/>
        <a:p>
          <a:r>
            <a:rPr lang="en-US"/>
            <a:t>1. Number of arguments</a:t>
          </a:r>
        </a:p>
      </dgm:t>
    </dgm:pt>
    <dgm:pt modelId="{220DA3ED-4A35-4DA0-A57B-FC4A380DBB89}" type="parTrans" cxnId="{00F962C4-CEA7-4A6C-8B80-94ACA0403A29}">
      <dgm:prSet/>
      <dgm:spPr/>
      <dgm:t>
        <a:bodyPr/>
        <a:lstStyle/>
        <a:p>
          <a:endParaRPr lang="en-US"/>
        </a:p>
      </dgm:t>
    </dgm:pt>
    <dgm:pt modelId="{B6FAF9F7-D4D2-4032-84FC-67DCF92524C4}" type="sibTrans" cxnId="{00F962C4-CEA7-4A6C-8B80-94ACA0403A29}">
      <dgm:prSet/>
      <dgm:spPr/>
      <dgm:t>
        <a:bodyPr/>
        <a:lstStyle/>
        <a:p>
          <a:endParaRPr lang="en-US"/>
        </a:p>
      </dgm:t>
    </dgm:pt>
    <dgm:pt modelId="{3BAA6B9F-2922-4E6C-BC67-3C646EC86C6F}">
      <dgm:prSet/>
      <dgm:spPr/>
      <dgm:t>
        <a:bodyPr/>
        <a:lstStyle/>
        <a:p>
          <a:r>
            <a:rPr lang="en-US"/>
            <a:t>2. Types of arguments</a:t>
          </a:r>
        </a:p>
      </dgm:t>
    </dgm:pt>
    <dgm:pt modelId="{44B59B0B-21DB-40B7-A135-C82F5A569298}" type="parTrans" cxnId="{A1AC8D62-2BFF-4624-8507-43E396C343AD}">
      <dgm:prSet/>
      <dgm:spPr/>
      <dgm:t>
        <a:bodyPr/>
        <a:lstStyle/>
        <a:p>
          <a:endParaRPr lang="en-US"/>
        </a:p>
      </dgm:t>
    </dgm:pt>
    <dgm:pt modelId="{5E95FD97-5D9A-402D-9115-DB96C0B2057E}" type="sibTrans" cxnId="{A1AC8D62-2BFF-4624-8507-43E396C343AD}">
      <dgm:prSet/>
      <dgm:spPr/>
      <dgm:t>
        <a:bodyPr/>
        <a:lstStyle/>
        <a:p>
          <a:endParaRPr lang="en-US"/>
        </a:p>
      </dgm:t>
    </dgm:pt>
    <dgm:pt modelId="{D591F86F-7594-4E94-9013-C0CE591EEB25}">
      <dgm:prSet/>
      <dgm:spPr/>
      <dgm:t>
        <a:bodyPr/>
        <a:lstStyle/>
        <a:p>
          <a:r>
            <a:rPr lang="en-US"/>
            <a:t>3. Order of arguments</a:t>
          </a:r>
        </a:p>
      </dgm:t>
    </dgm:pt>
    <dgm:pt modelId="{85626237-3B2D-433A-A38B-11548F5C1CCF}" type="parTrans" cxnId="{4DEC8215-9B2F-4C83-BBEA-73B4BC1FACC1}">
      <dgm:prSet/>
      <dgm:spPr/>
      <dgm:t>
        <a:bodyPr/>
        <a:lstStyle/>
        <a:p>
          <a:endParaRPr lang="en-US"/>
        </a:p>
      </dgm:t>
    </dgm:pt>
    <dgm:pt modelId="{24D49524-9E73-4553-9D88-BD5447A3E5CC}" type="sibTrans" cxnId="{4DEC8215-9B2F-4C83-BBEA-73B4BC1FACC1}">
      <dgm:prSet/>
      <dgm:spPr/>
      <dgm:t>
        <a:bodyPr/>
        <a:lstStyle/>
        <a:p>
          <a:endParaRPr lang="en-US"/>
        </a:p>
      </dgm:t>
    </dgm:pt>
    <dgm:pt modelId="{D0B9002C-5A3E-48A1-9353-0B0B07C156FA}" type="pres">
      <dgm:prSet presAssocID="{1DD996C1-BE70-40EA-B70C-DA8C12A103FB}" presName="root" presStyleCnt="0">
        <dgm:presLayoutVars>
          <dgm:dir/>
          <dgm:resizeHandles val="exact"/>
        </dgm:presLayoutVars>
      </dgm:prSet>
      <dgm:spPr/>
    </dgm:pt>
    <dgm:pt modelId="{22901C4A-3D42-42BC-8191-7AA1E3D943D8}" type="pres">
      <dgm:prSet presAssocID="{7C5EDFDA-341B-4EE0-A70D-7A3D671ED91A}" presName="compNode" presStyleCnt="0"/>
      <dgm:spPr/>
    </dgm:pt>
    <dgm:pt modelId="{A6C4FCC1-774C-4A14-A062-1A9301D75839}" type="pres">
      <dgm:prSet presAssocID="{7C5EDFDA-341B-4EE0-A70D-7A3D671ED91A}" presName="bgRect" presStyleLbl="bgShp" presStyleIdx="0" presStyleCnt="3"/>
      <dgm:spPr/>
    </dgm:pt>
    <dgm:pt modelId="{0FBEE932-45C0-43E3-B9A7-8C9E16BE6CC8}" type="pres">
      <dgm:prSet presAssocID="{7C5EDFDA-341B-4EE0-A70D-7A3D671ED91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EA6D740B-E206-4197-967C-983FE503E2FD}" type="pres">
      <dgm:prSet presAssocID="{7C5EDFDA-341B-4EE0-A70D-7A3D671ED91A}" presName="spaceRect" presStyleCnt="0"/>
      <dgm:spPr/>
    </dgm:pt>
    <dgm:pt modelId="{FD4E2058-204D-410A-B1E9-8C853AD7B61F}" type="pres">
      <dgm:prSet presAssocID="{7C5EDFDA-341B-4EE0-A70D-7A3D671ED91A}" presName="parTx" presStyleLbl="revTx" presStyleIdx="0" presStyleCnt="3">
        <dgm:presLayoutVars>
          <dgm:chMax val="0"/>
          <dgm:chPref val="0"/>
        </dgm:presLayoutVars>
      </dgm:prSet>
      <dgm:spPr/>
    </dgm:pt>
    <dgm:pt modelId="{5999DF61-385F-4D75-81B9-3DAA03DE24DD}" type="pres">
      <dgm:prSet presAssocID="{B6FAF9F7-D4D2-4032-84FC-67DCF92524C4}" presName="sibTrans" presStyleCnt="0"/>
      <dgm:spPr/>
    </dgm:pt>
    <dgm:pt modelId="{0C1F4762-8549-4949-A70D-7825D7CDFDE8}" type="pres">
      <dgm:prSet presAssocID="{3BAA6B9F-2922-4E6C-BC67-3C646EC86C6F}" presName="compNode" presStyleCnt="0"/>
      <dgm:spPr/>
    </dgm:pt>
    <dgm:pt modelId="{1F29BADB-B335-4609-9CBA-55D1A07B9D8B}" type="pres">
      <dgm:prSet presAssocID="{3BAA6B9F-2922-4E6C-BC67-3C646EC86C6F}" presName="bgRect" presStyleLbl="bgShp" presStyleIdx="1" presStyleCnt="3"/>
      <dgm:spPr/>
    </dgm:pt>
    <dgm:pt modelId="{097EA1EB-68CB-4DEC-9943-62EDF20BA5ED}" type="pres">
      <dgm:prSet presAssocID="{3BAA6B9F-2922-4E6C-BC67-3C646EC86C6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3EF97D8-F53B-4417-89E1-59612FC5FD1C}" type="pres">
      <dgm:prSet presAssocID="{3BAA6B9F-2922-4E6C-BC67-3C646EC86C6F}" presName="spaceRect" presStyleCnt="0"/>
      <dgm:spPr/>
    </dgm:pt>
    <dgm:pt modelId="{9180F05A-C37A-4494-A23D-62CD2BCFD139}" type="pres">
      <dgm:prSet presAssocID="{3BAA6B9F-2922-4E6C-BC67-3C646EC86C6F}" presName="parTx" presStyleLbl="revTx" presStyleIdx="1" presStyleCnt="3">
        <dgm:presLayoutVars>
          <dgm:chMax val="0"/>
          <dgm:chPref val="0"/>
        </dgm:presLayoutVars>
      </dgm:prSet>
      <dgm:spPr/>
    </dgm:pt>
    <dgm:pt modelId="{077A545F-6012-46B1-84F2-C947985CE717}" type="pres">
      <dgm:prSet presAssocID="{5E95FD97-5D9A-402D-9115-DB96C0B2057E}" presName="sibTrans" presStyleCnt="0"/>
      <dgm:spPr/>
    </dgm:pt>
    <dgm:pt modelId="{D64FF39B-EADB-4A7E-AC63-4BCEBB5B379F}" type="pres">
      <dgm:prSet presAssocID="{D591F86F-7594-4E94-9013-C0CE591EEB25}" presName="compNode" presStyleCnt="0"/>
      <dgm:spPr/>
    </dgm:pt>
    <dgm:pt modelId="{1F52CBA0-C589-411A-94E7-F5AFF5EFBC5B}" type="pres">
      <dgm:prSet presAssocID="{D591F86F-7594-4E94-9013-C0CE591EEB25}" presName="bgRect" presStyleLbl="bgShp" presStyleIdx="2" presStyleCnt="3"/>
      <dgm:spPr/>
    </dgm:pt>
    <dgm:pt modelId="{50674289-5591-4DC9-BCBC-6D5A4DA69A8A}" type="pres">
      <dgm:prSet presAssocID="{D591F86F-7594-4E94-9013-C0CE591EEB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CEB5D7D9-3661-4683-8CD3-A43D04B1D310}" type="pres">
      <dgm:prSet presAssocID="{D591F86F-7594-4E94-9013-C0CE591EEB25}" presName="spaceRect" presStyleCnt="0"/>
      <dgm:spPr/>
    </dgm:pt>
    <dgm:pt modelId="{56789C9F-0750-4624-8FB8-8E2F8D51B2F6}" type="pres">
      <dgm:prSet presAssocID="{D591F86F-7594-4E94-9013-C0CE591EEB2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DEC8215-9B2F-4C83-BBEA-73B4BC1FACC1}" srcId="{1DD996C1-BE70-40EA-B70C-DA8C12A103FB}" destId="{D591F86F-7594-4E94-9013-C0CE591EEB25}" srcOrd="2" destOrd="0" parTransId="{85626237-3B2D-433A-A38B-11548F5C1CCF}" sibTransId="{24D49524-9E73-4553-9D88-BD5447A3E5CC}"/>
    <dgm:cxn modelId="{A1AC8D62-2BFF-4624-8507-43E396C343AD}" srcId="{1DD996C1-BE70-40EA-B70C-DA8C12A103FB}" destId="{3BAA6B9F-2922-4E6C-BC67-3C646EC86C6F}" srcOrd="1" destOrd="0" parTransId="{44B59B0B-21DB-40B7-A135-C82F5A569298}" sibTransId="{5E95FD97-5D9A-402D-9115-DB96C0B2057E}"/>
    <dgm:cxn modelId="{752AB543-06B5-425C-A320-FD8254F1E0B1}" type="presOf" srcId="{7C5EDFDA-341B-4EE0-A70D-7A3D671ED91A}" destId="{FD4E2058-204D-410A-B1E9-8C853AD7B61F}" srcOrd="0" destOrd="0" presId="urn:microsoft.com/office/officeart/2018/2/layout/IconVerticalSolidList"/>
    <dgm:cxn modelId="{A2538158-9070-473A-AE4B-25E25522B081}" type="presOf" srcId="{3BAA6B9F-2922-4E6C-BC67-3C646EC86C6F}" destId="{9180F05A-C37A-4494-A23D-62CD2BCFD139}" srcOrd="0" destOrd="0" presId="urn:microsoft.com/office/officeart/2018/2/layout/IconVerticalSolidList"/>
    <dgm:cxn modelId="{0FC70F5A-F9B8-4D05-A44D-39D93DCDDA64}" type="presOf" srcId="{D591F86F-7594-4E94-9013-C0CE591EEB25}" destId="{56789C9F-0750-4624-8FB8-8E2F8D51B2F6}" srcOrd="0" destOrd="0" presId="urn:microsoft.com/office/officeart/2018/2/layout/IconVerticalSolidList"/>
    <dgm:cxn modelId="{49911588-6160-4268-AE5D-F9E674415266}" type="presOf" srcId="{1DD996C1-BE70-40EA-B70C-DA8C12A103FB}" destId="{D0B9002C-5A3E-48A1-9353-0B0B07C156FA}" srcOrd="0" destOrd="0" presId="urn:microsoft.com/office/officeart/2018/2/layout/IconVerticalSolidList"/>
    <dgm:cxn modelId="{00F962C4-CEA7-4A6C-8B80-94ACA0403A29}" srcId="{1DD996C1-BE70-40EA-B70C-DA8C12A103FB}" destId="{7C5EDFDA-341B-4EE0-A70D-7A3D671ED91A}" srcOrd="0" destOrd="0" parTransId="{220DA3ED-4A35-4DA0-A57B-FC4A380DBB89}" sibTransId="{B6FAF9F7-D4D2-4032-84FC-67DCF92524C4}"/>
    <dgm:cxn modelId="{1F4C20EA-37A4-4559-BAD6-C16BE5C866E8}" type="presParOf" srcId="{D0B9002C-5A3E-48A1-9353-0B0B07C156FA}" destId="{22901C4A-3D42-42BC-8191-7AA1E3D943D8}" srcOrd="0" destOrd="0" presId="urn:microsoft.com/office/officeart/2018/2/layout/IconVerticalSolidList"/>
    <dgm:cxn modelId="{DD5463BC-B7EF-4C3D-9A18-310F39DF31D1}" type="presParOf" srcId="{22901C4A-3D42-42BC-8191-7AA1E3D943D8}" destId="{A6C4FCC1-774C-4A14-A062-1A9301D75839}" srcOrd="0" destOrd="0" presId="urn:microsoft.com/office/officeart/2018/2/layout/IconVerticalSolidList"/>
    <dgm:cxn modelId="{C2B00A22-2EA2-43BD-BF65-E3870A24996E}" type="presParOf" srcId="{22901C4A-3D42-42BC-8191-7AA1E3D943D8}" destId="{0FBEE932-45C0-43E3-B9A7-8C9E16BE6CC8}" srcOrd="1" destOrd="0" presId="urn:microsoft.com/office/officeart/2018/2/layout/IconVerticalSolidList"/>
    <dgm:cxn modelId="{5ED28451-4956-46C1-93C8-2801F7F423B0}" type="presParOf" srcId="{22901C4A-3D42-42BC-8191-7AA1E3D943D8}" destId="{EA6D740B-E206-4197-967C-983FE503E2FD}" srcOrd="2" destOrd="0" presId="urn:microsoft.com/office/officeart/2018/2/layout/IconVerticalSolidList"/>
    <dgm:cxn modelId="{B063D5A4-7E44-4501-8FC0-1771B0AB4250}" type="presParOf" srcId="{22901C4A-3D42-42BC-8191-7AA1E3D943D8}" destId="{FD4E2058-204D-410A-B1E9-8C853AD7B61F}" srcOrd="3" destOrd="0" presId="urn:microsoft.com/office/officeart/2018/2/layout/IconVerticalSolidList"/>
    <dgm:cxn modelId="{C3F1BF38-57AF-4C12-8568-053430780F1F}" type="presParOf" srcId="{D0B9002C-5A3E-48A1-9353-0B0B07C156FA}" destId="{5999DF61-385F-4D75-81B9-3DAA03DE24DD}" srcOrd="1" destOrd="0" presId="urn:microsoft.com/office/officeart/2018/2/layout/IconVerticalSolidList"/>
    <dgm:cxn modelId="{076EA153-5A88-43DE-A9E4-FAB5F8E56045}" type="presParOf" srcId="{D0B9002C-5A3E-48A1-9353-0B0B07C156FA}" destId="{0C1F4762-8549-4949-A70D-7825D7CDFDE8}" srcOrd="2" destOrd="0" presId="urn:microsoft.com/office/officeart/2018/2/layout/IconVerticalSolidList"/>
    <dgm:cxn modelId="{64EBD60B-773B-453C-A957-1354FC2C565D}" type="presParOf" srcId="{0C1F4762-8549-4949-A70D-7825D7CDFDE8}" destId="{1F29BADB-B335-4609-9CBA-55D1A07B9D8B}" srcOrd="0" destOrd="0" presId="urn:microsoft.com/office/officeart/2018/2/layout/IconVerticalSolidList"/>
    <dgm:cxn modelId="{41237E7B-2F01-4AD7-934E-2AAC797837C5}" type="presParOf" srcId="{0C1F4762-8549-4949-A70D-7825D7CDFDE8}" destId="{097EA1EB-68CB-4DEC-9943-62EDF20BA5ED}" srcOrd="1" destOrd="0" presId="urn:microsoft.com/office/officeart/2018/2/layout/IconVerticalSolidList"/>
    <dgm:cxn modelId="{C2324562-7002-49AC-A693-B65428A91F64}" type="presParOf" srcId="{0C1F4762-8549-4949-A70D-7825D7CDFDE8}" destId="{A3EF97D8-F53B-4417-89E1-59612FC5FD1C}" srcOrd="2" destOrd="0" presId="urn:microsoft.com/office/officeart/2018/2/layout/IconVerticalSolidList"/>
    <dgm:cxn modelId="{456D9067-F363-4EAE-8836-2B9101D62C19}" type="presParOf" srcId="{0C1F4762-8549-4949-A70D-7825D7CDFDE8}" destId="{9180F05A-C37A-4494-A23D-62CD2BCFD139}" srcOrd="3" destOrd="0" presId="urn:microsoft.com/office/officeart/2018/2/layout/IconVerticalSolidList"/>
    <dgm:cxn modelId="{AAB0868C-3B1F-420A-AEDC-06D051232AA1}" type="presParOf" srcId="{D0B9002C-5A3E-48A1-9353-0B0B07C156FA}" destId="{077A545F-6012-46B1-84F2-C947985CE717}" srcOrd="3" destOrd="0" presId="urn:microsoft.com/office/officeart/2018/2/layout/IconVerticalSolidList"/>
    <dgm:cxn modelId="{EB3CBA50-5D1B-4DEE-975F-9CCAFEABE52E}" type="presParOf" srcId="{D0B9002C-5A3E-48A1-9353-0B0B07C156FA}" destId="{D64FF39B-EADB-4A7E-AC63-4BCEBB5B379F}" srcOrd="4" destOrd="0" presId="urn:microsoft.com/office/officeart/2018/2/layout/IconVerticalSolidList"/>
    <dgm:cxn modelId="{BD5C63D0-96D1-423B-B719-0E25490E4AAD}" type="presParOf" srcId="{D64FF39B-EADB-4A7E-AC63-4BCEBB5B379F}" destId="{1F52CBA0-C589-411A-94E7-F5AFF5EFBC5B}" srcOrd="0" destOrd="0" presId="urn:microsoft.com/office/officeart/2018/2/layout/IconVerticalSolidList"/>
    <dgm:cxn modelId="{1A1CB001-4064-4CB1-AF21-2405876172E0}" type="presParOf" srcId="{D64FF39B-EADB-4A7E-AC63-4BCEBB5B379F}" destId="{50674289-5591-4DC9-BCBC-6D5A4DA69A8A}" srcOrd="1" destOrd="0" presId="urn:microsoft.com/office/officeart/2018/2/layout/IconVerticalSolidList"/>
    <dgm:cxn modelId="{2D12B8B9-DD4E-47E5-8639-35473CCD89A2}" type="presParOf" srcId="{D64FF39B-EADB-4A7E-AC63-4BCEBB5B379F}" destId="{CEB5D7D9-3661-4683-8CD3-A43D04B1D310}" srcOrd="2" destOrd="0" presId="urn:microsoft.com/office/officeart/2018/2/layout/IconVerticalSolidList"/>
    <dgm:cxn modelId="{4A817CF3-7BE2-44BF-AB3B-226E8E6039F8}" type="presParOf" srcId="{D64FF39B-EADB-4A7E-AC63-4BCEBB5B379F}" destId="{56789C9F-0750-4624-8FB8-8E2F8D51B2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3AE041-13A5-4F79-A036-48BA1D045CEF}">
      <dsp:nvSpPr>
        <dsp:cNvPr id="0" name=""/>
        <dsp:cNvSpPr/>
      </dsp:nvSpPr>
      <dsp:spPr>
        <a:xfrm>
          <a:off x="0" y="41510"/>
          <a:ext cx="10515600" cy="135749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400" kern="1200"/>
            <a:t>int area(int side) { return side * side; }            // square</a:t>
          </a:r>
          <a:endParaRPr lang="en-US" sz="3400" kern="1200"/>
        </a:p>
      </dsp:txBody>
      <dsp:txXfrm>
        <a:off x="66267" y="107777"/>
        <a:ext cx="10383066" cy="1224958"/>
      </dsp:txXfrm>
    </dsp:sp>
    <dsp:sp modelId="{2A791600-19E0-43D0-BF42-3C49C70392F6}">
      <dsp:nvSpPr>
        <dsp:cNvPr id="0" name=""/>
        <dsp:cNvSpPr/>
      </dsp:nvSpPr>
      <dsp:spPr>
        <a:xfrm>
          <a:off x="0" y="1496922"/>
          <a:ext cx="10515600" cy="135749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400" kern="1200"/>
            <a:t>int area(int l, int w) { return l * w; }              // rectangle</a:t>
          </a:r>
          <a:endParaRPr lang="en-US" sz="3400" kern="1200"/>
        </a:p>
      </dsp:txBody>
      <dsp:txXfrm>
        <a:off x="66267" y="1563189"/>
        <a:ext cx="10383066" cy="1224958"/>
      </dsp:txXfrm>
    </dsp:sp>
    <dsp:sp modelId="{EED6EA2B-5568-4A98-A1DF-714D59768F91}">
      <dsp:nvSpPr>
        <dsp:cNvPr id="0" name=""/>
        <dsp:cNvSpPr/>
      </dsp:nvSpPr>
      <dsp:spPr>
        <a:xfrm>
          <a:off x="0" y="2952335"/>
          <a:ext cx="10515600" cy="135749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400" kern="1200"/>
            <a:t>double area(double r) { return 3.1415926535 * r * r; } // circle (radius)</a:t>
          </a:r>
          <a:endParaRPr lang="en-US" sz="3400" kern="1200"/>
        </a:p>
      </dsp:txBody>
      <dsp:txXfrm>
        <a:off x="66267" y="3018602"/>
        <a:ext cx="10383066" cy="12249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C4FCC1-774C-4A14-A062-1A9301D75839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EE932-45C0-43E3-B9A7-8C9E16BE6CC8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E2058-204D-410A-B1E9-8C853AD7B61F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Number of arguments</a:t>
          </a:r>
        </a:p>
      </dsp:txBody>
      <dsp:txXfrm>
        <a:off x="1844034" y="682"/>
        <a:ext cx="4401230" cy="1596566"/>
      </dsp:txXfrm>
    </dsp:sp>
    <dsp:sp modelId="{1F29BADB-B335-4609-9CBA-55D1A07B9D8B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7EA1EB-68CB-4DEC-9943-62EDF20BA5ED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0F05A-C37A-4494-A23D-62CD2BCFD139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Types of arguments</a:t>
          </a:r>
        </a:p>
      </dsp:txBody>
      <dsp:txXfrm>
        <a:off x="1844034" y="1996390"/>
        <a:ext cx="4401230" cy="1596566"/>
      </dsp:txXfrm>
    </dsp:sp>
    <dsp:sp modelId="{1F52CBA0-C589-411A-94E7-F5AFF5EFBC5B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74289-5591-4DC9-BCBC-6D5A4DA69A8A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89C9F-0750-4624-8FB8-8E2F8D51B2F6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Order of arguments</a:t>
          </a:r>
        </a:p>
      </dsp:txBody>
      <dsp:txXfrm>
        <a:off x="1844034" y="3992098"/>
        <a:ext cx="4401230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AF83-3214-661E-527B-751A2F8DB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7385D-52C3-2307-76FF-0C5949F26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86561-440F-7174-C47F-CE949806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25/11/2025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C9466-1764-A658-3D0D-C59DA27E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853D4-B9C2-63E6-165C-3A4ED715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3173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9E43-9A58-2157-1272-2761C1F58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90479-83CD-D774-D826-0B5F365C2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A174C-8880-0DF8-24C7-930C93C19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25/11/2025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ADAC4-7273-703A-1FC3-6B092F76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1FBC6-04F2-9268-FE23-20CB223F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9892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11641-8B2C-26B7-0009-F9D83D22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A08C9-745A-C358-8FB2-0CA09B14D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3104C-6556-EAA3-22AC-D3C78862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25/11/2025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B1BF4-782E-402B-A24C-D4B9EB086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D4847-C020-6FAB-FDF1-3E7DDF52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8365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B3ED-D358-5B63-2ED0-1AD02652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7C466-42DB-E8C7-DA1A-75FC3890B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6C231-D689-EE22-E309-84866031D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6E8BB-183E-1CA2-C8B4-4981A722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25/11/2025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D69BF-E0D1-6910-B178-D3AEBC2B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6A357-D24B-4A12-275D-EC511419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550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D588-6071-1E8F-7E23-18C7BBE2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BBE73-F929-875B-5BA4-4FA92CBD6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F7BE0-EEEA-E4BC-184D-7C8B56178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A2868-0463-60A1-94BA-D292273E2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97B9F-BB65-7695-8E79-4E730E527D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BC7A5-2D04-986B-6B0D-C99C9B10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25/11/2025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6FA71-1367-6F7F-1FC4-32B1D88F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2F0358-0119-9286-EE52-6ADECB2C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85710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6455-F0C8-C66A-EDD7-9EB841026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00DA48-20A3-EBA5-9432-6DC313C0D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25/11/2025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31C67-ECC1-E55C-34B5-7E553ACA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31236-593B-E67D-57F8-7BEF02CC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5097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5A70E-6431-ADCC-66A2-4D42B14F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25/11/2025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0046D7-5799-FB56-332C-40C5A10A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264CC-AD9D-1ADA-F941-410D2706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15158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2C7C-424D-C13F-065C-E4BE2E50D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B01E9-51F2-42B7-9868-3A1F8B252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087D7-3D91-F5DB-39DA-CB4789E27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5428F-3CA1-2A4E-F46F-C54D69D2B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25/11/2025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D2063-4B0A-1B50-EBB3-B15E1F0E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4A8DB-7332-C14E-239E-62B8ABF00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3755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63D1-4033-98A5-D627-C92CB99D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F712-6B68-A29A-7FDC-23A71497E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BBFCF-66A4-9857-2D63-41BD857E1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72E4F-AB6D-B575-7050-9D065D34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25/11/2025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DE816-C907-48C8-9EB4-52CA7C62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FAD37-F001-CC1A-5121-EF57FCE3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0931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37EA3-FBAE-58BF-CD40-606B965B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3C08A-999F-6B3F-5791-0704540AC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B987-CCD8-765A-CF18-0DC89962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25/11/2025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26FAA-035A-4C99-02FE-ECAFB187F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D72FF-3772-052D-9CA5-83A528D4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890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DAC102-CAD0-A621-52C1-B2434CFBA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C7C37-3301-05D2-A797-60C2AAD39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D5F17-F9DE-6473-F187-FCC83458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25/11/2025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F85AD-61F4-1ACF-4FCB-350DAB9D8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A81AC-D9AA-AB59-F4F2-72416D96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389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7A286E-16D1-DFDE-4989-25169200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A3A9E-9170-79FC-892A-2FDFE7D78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8AA05-8C45-7F92-B571-47484BFFE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D7005-ED39-4D18-98FC-B11458D1253A}" type="datetimeFigureOut">
              <a:rPr lang="en-MY" smtClean="0"/>
              <a:t>25/11/2025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54605-74C0-82DD-5DA1-53054870B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C8B90-C5A0-99EC-03CB-EBCE48FD3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2302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E5D0-2CD4-CAF2-C101-EC4E06C7A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1701" y="1629928"/>
            <a:ext cx="8042594" cy="1799072"/>
          </a:xfrm>
        </p:spPr>
        <p:txBody>
          <a:bodyPr>
            <a:normAutofit/>
          </a:bodyPr>
          <a:lstStyle/>
          <a:p>
            <a:pPr algn="l"/>
            <a:r>
              <a:rPr lang="en-MY" sz="5100" dirty="0"/>
              <a:t>Programming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49475-5A97-3362-5A27-F05282FEA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0266" y="3631925"/>
            <a:ext cx="5111468" cy="1176049"/>
          </a:xfrm>
        </p:spPr>
        <p:txBody>
          <a:bodyPr>
            <a:normAutofit/>
          </a:bodyPr>
          <a:lstStyle/>
          <a:p>
            <a:r>
              <a:rPr lang="en-MY" sz="2800" dirty="0"/>
              <a:t>By</a:t>
            </a:r>
          </a:p>
          <a:p>
            <a:r>
              <a:rPr lang="en-MY" sz="2800" dirty="0"/>
              <a:t>Dr Suhail Asghar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9202-0984-BC2F-2BF6-830C9E5A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  <p:pic>
        <p:nvPicPr>
          <p:cNvPr id="1026" name="Picture 2" descr="Information Technology – Dawood University of Engineering &amp; Technology  Karachi">
            <a:extLst>
              <a:ext uri="{FF2B5EF4-FFF2-40B4-BE49-F238E27FC236}">
                <a16:creationId xmlns:a16="http://schemas.microsoft.com/office/drawing/2014/main" id="{FF6F0A6A-918B-C08F-5BEB-8FB45EE66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2162" y="231819"/>
            <a:ext cx="1579539" cy="119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28C45A9-887D-E099-0474-F00A5ED0DD60}"/>
              </a:ext>
            </a:extLst>
          </p:cNvPr>
          <p:cNvSpPr txBox="1">
            <a:spLocks/>
          </p:cNvSpPr>
          <p:nvPr/>
        </p:nvSpPr>
        <p:spPr>
          <a:xfrm>
            <a:off x="1486237" y="6025542"/>
            <a:ext cx="9500901" cy="51337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Dawood University Of Engineering &amp; Technology Karachi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1651247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BFB304-B9AD-E907-3EBA-73DCEDF86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MY">
                <a:solidFill>
                  <a:srgbClr val="FFFFFF"/>
                </a:solidFill>
              </a:rPr>
              <a:t>Functions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34B51-96CC-E099-C539-0D7811746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When writing programs, we often need to perform certain tasks multiple times.</a:t>
            </a:r>
          </a:p>
          <a:p>
            <a:r>
              <a:rPr lang="en-US" dirty="0"/>
              <a:t>Instead of writing the same code again and again, we group that code into a reusable block.</a:t>
            </a:r>
          </a:p>
          <a:p>
            <a:r>
              <a:rPr lang="en-US" dirty="0"/>
              <a:t>This reusable block is called a Function.</a:t>
            </a:r>
          </a:p>
          <a:p>
            <a:endParaRPr lang="en-US" dirty="0"/>
          </a:p>
          <a:p>
            <a:r>
              <a:rPr lang="en-US" dirty="0"/>
              <a:t>Definition: A Function is a block of code that performs a specific task and can be reused whenever required.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34371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253A5-7DB1-2205-72BC-2502AD3B1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Functions are Needed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E3B9C1-79CA-D357-A609-6407B05B5A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311929"/>
              </p:ext>
            </p:extLst>
          </p:nvPr>
        </p:nvGraphicFramePr>
        <p:xfrm>
          <a:off x="4038600" y="1092456"/>
          <a:ext cx="7188199" cy="466970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458348">
                  <a:extLst>
                    <a:ext uri="{9D8B030D-6E8A-4147-A177-3AD203B41FA5}">
                      <a16:colId xmlns:a16="http://schemas.microsoft.com/office/drawing/2014/main" val="1300058648"/>
                    </a:ext>
                  </a:extLst>
                </a:gridCol>
                <a:gridCol w="3729851">
                  <a:extLst>
                    <a:ext uri="{9D8B030D-6E8A-4147-A177-3AD203B41FA5}">
                      <a16:colId xmlns:a16="http://schemas.microsoft.com/office/drawing/2014/main" val="2920622004"/>
                    </a:ext>
                  </a:extLst>
                </a:gridCol>
              </a:tblGrid>
              <a:tr h="59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800"/>
                        <a:t>Without Functions</a:t>
                      </a:r>
                    </a:p>
                  </a:txBody>
                  <a:tcPr marL="138452" marR="138452" marT="69227" marB="692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800"/>
                        <a:t>With Functions</a:t>
                      </a:r>
                    </a:p>
                  </a:txBody>
                  <a:tcPr marL="138452" marR="138452" marT="69227" marB="69227" anchor="ctr"/>
                </a:tc>
                <a:extLst>
                  <a:ext uri="{0D108BD9-81ED-4DB2-BD59-A6C34878D82A}">
                    <a16:rowId xmlns:a16="http://schemas.microsoft.com/office/drawing/2014/main" val="1280136667"/>
                  </a:ext>
                </a:extLst>
              </a:tr>
              <a:tr h="1018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800"/>
                        <a:t>Code repetition occurs</a:t>
                      </a:r>
                    </a:p>
                  </a:txBody>
                  <a:tcPr marL="138452" marR="138452" marT="69227" marB="692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800"/>
                        <a:t>Code becomes reusable</a:t>
                      </a:r>
                    </a:p>
                  </a:txBody>
                  <a:tcPr marL="138452" marR="138452" marT="69227" marB="69227" anchor="ctr"/>
                </a:tc>
                <a:extLst>
                  <a:ext uri="{0D108BD9-81ED-4DB2-BD59-A6C34878D82A}">
                    <a16:rowId xmlns:a16="http://schemas.microsoft.com/office/drawing/2014/main" val="2407431670"/>
                  </a:ext>
                </a:extLst>
              </a:tr>
              <a:tr h="1018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800"/>
                        <a:t>Difficult to debug</a:t>
                      </a:r>
                    </a:p>
                  </a:txBody>
                  <a:tcPr marL="138452" marR="138452" marT="69227" marB="692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Easy to maintain and debug</a:t>
                      </a:r>
                    </a:p>
                  </a:txBody>
                  <a:tcPr marL="138452" marR="138452" marT="69227" marB="69227" anchor="ctr"/>
                </a:tc>
                <a:extLst>
                  <a:ext uri="{0D108BD9-81ED-4DB2-BD59-A6C34878D82A}">
                    <a16:rowId xmlns:a16="http://schemas.microsoft.com/office/drawing/2014/main" val="4178709573"/>
                  </a:ext>
                </a:extLst>
              </a:tr>
              <a:tr h="1440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800"/>
                        <a:t>Program becomes very long</a:t>
                      </a:r>
                    </a:p>
                  </a:txBody>
                  <a:tcPr marL="138452" marR="138452" marT="69227" marB="692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Program becomes organized and structured</a:t>
                      </a:r>
                    </a:p>
                  </a:txBody>
                  <a:tcPr marL="138452" marR="138452" marT="69227" marB="69227" anchor="ctr"/>
                </a:tc>
                <a:extLst>
                  <a:ext uri="{0D108BD9-81ED-4DB2-BD59-A6C34878D82A}">
                    <a16:rowId xmlns:a16="http://schemas.microsoft.com/office/drawing/2014/main" val="4186456668"/>
                  </a:ext>
                </a:extLst>
              </a:tr>
              <a:tr h="59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800"/>
                        <a:t>Hard to understand</a:t>
                      </a:r>
                    </a:p>
                  </a:txBody>
                  <a:tcPr marL="138452" marR="138452" marT="69227" marB="692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800"/>
                        <a:t>Improves readability</a:t>
                      </a:r>
                    </a:p>
                  </a:txBody>
                  <a:tcPr marL="138452" marR="138452" marT="69227" marB="69227" anchor="ctr"/>
                </a:tc>
                <a:extLst>
                  <a:ext uri="{0D108BD9-81ED-4DB2-BD59-A6C34878D82A}">
                    <a16:rowId xmlns:a16="http://schemas.microsoft.com/office/drawing/2014/main" val="1834424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0108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3763C-8AEF-5C9C-D1AE-1F0E90B19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MY"/>
              <a:t>Function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6ECB2-7833-E0C4-20D4-57949A5FF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>
            <a:normAutofit/>
          </a:bodyPr>
          <a:lstStyle/>
          <a:p>
            <a:r>
              <a:rPr lang="en-MY" sz="2400"/>
              <a:t>A function generally has: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/>
              <a:t>Function Name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/>
              <a:t>Parameters (optional)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/>
              <a:t>Body (statements)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D7927F-2C3C-4198-A497-644322879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4. Return Statement (optional)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return_type function_name(parameter_list) {</a:t>
            </a:r>
          </a:p>
          <a:p>
            <a:pPr marL="0" indent="0">
              <a:buNone/>
            </a:pPr>
            <a:r>
              <a:rPr lang="en-US" sz="2400"/>
              <a:t>    // body</a:t>
            </a:r>
          </a:p>
          <a:p>
            <a:pPr marL="0" indent="0">
              <a:buNone/>
            </a:pPr>
            <a:r>
              <a:rPr lang="en-US" sz="2400"/>
              <a:t>    return value; // if return_type != void</a:t>
            </a:r>
          </a:p>
          <a:p>
            <a:pPr marL="0" indent="0">
              <a:buNone/>
            </a:pPr>
            <a:r>
              <a:rPr lang="en-US" sz="2400"/>
              <a:t>}</a:t>
            </a:r>
          </a:p>
          <a:p>
            <a:endParaRPr lang="en-MY" sz="2400"/>
          </a:p>
        </p:txBody>
      </p:sp>
    </p:spTree>
    <p:extLst>
      <p:ext uri="{BB962C8B-B14F-4D97-AF65-F5344CB8AC3E}">
        <p14:creationId xmlns:p14="http://schemas.microsoft.com/office/powerpoint/2010/main" val="3913879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89836-F046-CA79-5309-05392EBD1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Parameters, scope, and advanced features</a:t>
            </a:r>
            <a:endParaRPr lang="en-MY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65611-9943-9E38-CDF3-33375C869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MY" dirty="0"/>
              <a:t>Goals: parameter passing (value/ref/pointer), </a:t>
            </a:r>
          </a:p>
          <a:p>
            <a:r>
              <a:rPr lang="en-MY" dirty="0"/>
              <a:t>Default </a:t>
            </a:r>
            <a:r>
              <a:rPr lang="en-MY" dirty="0" err="1"/>
              <a:t>args</a:t>
            </a:r>
            <a:r>
              <a:rPr lang="en-MY" dirty="0"/>
              <a:t>, </a:t>
            </a:r>
          </a:p>
          <a:p>
            <a:r>
              <a:rPr lang="en-MY" dirty="0"/>
              <a:t>Overloading, </a:t>
            </a:r>
          </a:p>
          <a:p>
            <a:r>
              <a:rPr lang="en-MY" dirty="0"/>
              <a:t>Recursion, </a:t>
            </a:r>
          </a:p>
          <a:p>
            <a:r>
              <a:rPr lang="en-MY" dirty="0"/>
              <a:t>Inline/</a:t>
            </a:r>
            <a:r>
              <a:rPr lang="en-MY" dirty="0" err="1"/>
              <a:t>constexpr</a:t>
            </a:r>
            <a:r>
              <a:rPr lang="en-MY" dirty="0"/>
              <a:t>/static, </a:t>
            </a:r>
          </a:p>
          <a:p>
            <a:r>
              <a:rPr lang="en-MY" dirty="0"/>
              <a:t>Templates, </a:t>
            </a:r>
          </a:p>
          <a:p>
            <a:r>
              <a:rPr lang="en-MY" dirty="0"/>
              <a:t>Lambdas.</a:t>
            </a:r>
          </a:p>
        </p:txBody>
      </p:sp>
    </p:spTree>
    <p:extLst>
      <p:ext uri="{BB962C8B-B14F-4D97-AF65-F5344CB8AC3E}">
        <p14:creationId xmlns:p14="http://schemas.microsoft.com/office/powerpoint/2010/main" val="210851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4B8A4-2282-9735-6BD3-1C90F4F30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Return Type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01FD2-E852-EF3E-C0C1-0186EE358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/>
          </a:bodyPr>
          <a:lstStyle/>
          <a:p>
            <a:r>
              <a:rPr lang="en-US" sz="2000"/>
              <a:t>Return Type: This tells what type of value the function will return to the part of the program that called it.</a:t>
            </a:r>
          </a:p>
          <a:p>
            <a:r>
              <a:rPr lang="en-US" sz="2000"/>
              <a:t>If the function returns nothing, the return type is void</a:t>
            </a:r>
          </a:p>
          <a:p>
            <a:r>
              <a:rPr lang="en-US" sz="2000"/>
              <a:t>If the function returns an integer, the return type is int</a:t>
            </a:r>
          </a:p>
          <a:p>
            <a:r>
              <a:rPr lang="en-US" sz="2000"/>
              <a:t>If it returns decimal value → float or double</a:t>
            </a:r>
          </a:p>
          <a:p>
            <a:r>
              <a:rPr lang="en-US" sz="2000"/>
              <a:t>If it returns a character → char</a:t>
            </a:r>
            <a:endParaRPr lang="en-MY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6E95E-A021-E3F6-0A6F-ABF4F4FB4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/>
          </a:bodyPr>
          <a:lstStyle/>
          <a:p>
            <a:r>
              <a:rPr lang="en-MY" sz="2000"/>
              <a:t>Void Function</a:t>
            </a:r>
          </a:p>
          <a:p>
            <a:pPr lvl="1"/>
            <a:r>
              <a:rPr lang="en-US" sz="2000"/>
              <a:t>A function whose return type is void does not return a value to the calling program.</a:t>
            </a:r>
          </a:p>
          <a:p>
            <a:pPr lvl="1"/>
            <a:endParaRPr lang="en-MY" sz="2000"/>
          </a:p>
          <a:p>
            <a:pPr marL="457200" lvl="1" indent="0">
              <a:buNone/>
            </a:pPr>
            <a:r>
              <a:rPr lang="en-US" sz="2000"/>
              <a:t>void functionName(parameter_list);</a:t>
            </a:r>
          </a:p>
          <a:p>
            <a:pPr marL="457200" lvl="1" indent="0">
              <a:buNone/>
            </a:pPr>
            <a:endParaRPr lang="en-US" sz="2000"/>
          </a:p>
          <a:p>
            <a:r>
              <a:rPr lang="en-US" sz="2000"/>
              <a:t>Non-Void Function / Value-Returning Function</a:t>
            </a:r>
          </a:p>
          <a:p>
            <a:pPr lvl="1"/>
            <a:r>
              <a:rPr lang="en-US" sz="2000"/>
              <a:t>A function whose return type is int (or any datatype) must return a value using the return statement.</a:t>
            </a:r>
          </a:p>
          <a:p>
            <a:pPr marL="457200" lvl="1" indent="0">
              <a:buNone/>
            </a:pPr>
            <a:r>
              <a:rPr lang="en-US" sz="2000"/>
              <a:t>int functionName(parameter_list);</a:t>
            </a:r>
          </a:p>
          <a:p>
            <a:pPr marL="457200" lvl="1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4030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80EDB6-797A-F163-FF63-8FC8339B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Y" dirty="0"/>
              <a:t>Declaration (prototype) vs Definition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47203-8795-7B9F-A34C-6572A7575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MY" dirty="0"/>
              <a:t>Declaration (prototype) vs Definition</a:t>
            </a:r>
          </a:p>
          <a:p>
            <a:pPr marL="0" indent="0">
              <a:buNone/>
            </a:pPr>
            <a:r>
              <a:rPr lang="en-MY" dirty="0"/>
              <a:t>int add(int a, int b); // prototype</a:t>
            </a:r>
          </a:p>
          <a:p>
            <a:pPr marL="0" indent="0">
              <a:buNone/>
            </a:pPr>
            <a:endParaRPr lang="en-MY" dirty="0"/>
          </a:p>
          <a:p>
            <a:r>
              <a:rPr lang="en-MY" dirty="0"/>
              <a:t>Definition</a:t>
            </a:r>
          </a:p>
          <a:p>
            <a:pPr marL="0" indent="0">
              <a:buNone/>
            </a:pPr>
            <a:r>
              <a:rPr lang="en-US" dirty="0"/>
              <a:t>int add(int a, int b) { return a + b; }</a:t>
            </a: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29341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BA828-B9E9-1B7D-FA69-07BEBA098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MY" dirty="0"/>
              <a:t>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E99C-7014-86D4-D523-606D2F2A5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>
            <a:normAutofit/>
          </a:bodyPr>
          <a:lstStyle/>
          <a:p>
            <a:r>
              <a:rPr lang="en-US" sz="2400"/>
              <a:t>int multiply(int a, int b = 2) { return a * b; }</a:t>
            </a:r>
          </a:p>
          <a:p>
            <a:r>
              <a:rPr lang="en-US" sz="2400"/>
              <a:t>// multiply(3) -&gt; 6, multiply(3,4) -&gt; 12</a:t>
            </a:r>
          </a:p>
          <a:p>
            <a:endParaRPr lang="en-MY" sz="24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D60FD-8AC4-2699-07B6-07649A1C7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/>
          </a:bodyPr>
          <a:lstStyle/>
          <a:p>
            <a:r>
              <a:rPr lang="en-US" sz="1900" dirty="0"/>
              <a:t>Default </a:t>
            </a:r>
            <a:r>
              <a:rPr lang="en-US" sz="1900" dirty="0" err="1"/>
              <a:t>args</a:t>
            </a:r>
            <a:r>
              <a:rPr lang="en-US" sz="1900" dirty="0"/>
              <a:t> must be specified in declaration or definition (but not both inconsistently).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/>
              <a:t>Wrong Example (Default Arguments in Both)</a:t>
            </a:r>
          </a:p>
          <a:p>
            <a:pPr marL="0" indent="0">
              <a:buNone/>
            </a:pPr>
            <a:r>
              <a:rPr lang="en-US" sz="1900" dirty="0"/>
              <a:t>int multiply(int a, int b = 2);   // declaration with default</a:t>
            </a:r>
          </a:p>
          <a:p>
            <a:pPr marL="0" indent="0">
              <a:buNone/>
            </a:pPr>
            <a:r>
              <a:rPr lang="en-US" sz="1900" dirty="0"/>
              <a:t>int multiply(int a, int b) {      // definition without default</a:t>
            </a:r>
          </a:p>
          <a:p>
            <a:pPr marL="0" indent="0">
              <a:buNone/>
            </a:pPr>
            <a:r>
              <a:rPr lang="en-US" sz="1900" dirty="0"/>
              <a:t>    return a * b;</a:t>
            </a:r>
          </a:p>
          <a:p>
            <a:pPr marL="0" indent="0">
              <a:buNone/>
            </a:pPr>
            <a:r>
              <a:rPr lang="en-US" sz="19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5994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388E-DB0F-236E-026C-6D16771E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separate declaration is needed when the function is used BEFORE its definition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ED687-F3D4-8AA1-2D3A-2B18BD0490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// Function definition (no declaration needed)</a:t>
            </a:r>
          </a:p>
          <a:p>
            <a:pPr marL="0" indent="0">
              <a:buNone/>
            </a:pPr>
            <a:r>
              <a:rPr lang="en-US" dirty="0"/>
              <a:t>int add(int a, int b) {</a:t>
            </a:r>
          </a:p>
          <a:p>
            <a:pPr marL="0" indent="0">
              <a:buNone/>
            </a:pPr>
            <a:r>
              <a:rPr lang="en-US" dirty="0"/>
              <a:t>    return a + b;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add(2, 3);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17DEA-E2AF-995E-3902-57FD18CE23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// ---- Declaration ----</a:t>
            </a:r>
          </a:p>
          <a:p>
            <a:pPr marL="0" indent="0">
              <a:buNone/>
            </a:pPr>
            <a:r>
              <a:rPr lang="en-US" dirty="0"/>
              <a:t>int add(int a, int b);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add(2, 3);   // OK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// ---- Definition ----</a:t>
            </a:r>
          </a:p>
          <a:p>
            <a:pPr marL="0" indent="0">
              <a:buNone/>
            </a:pPr>
            <a:r>
              <a:rPr lang="en-US" dirty="0"/>
              <a:t>int add(int a, int b) {</a:t>
            </a:r>
          </a:p>
          <a:p>
            <a:pPr marL="0" indent="0">
              <a:buNone/>
            </a:pPr>
            <a:r>
              <a:rPr lang="en-US" dirty="0"/>
              <a:t>    return a + b;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23B661-BEBA-38EA-C267-CDA829509B85}"/>
              </a:ext>
            </a:extLst>
          </p:cNvPr>
          <p:cNvSpPr txBox="1"/>
          <p:nvPr/>
        </p:nvSpPr>
        <p:spPr>
          <a:xfrm>
            <a:off x="9124334" y="4699635"/>
            <a:ext cx="3156155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declaration lets the compiler know: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“Don’t worry, this function exists — you’ll see the body later.”</a:t>
            </a:r>
          </a:p>
        </p:txBody>
      </p:sp>
    </p:spTree>
    <p:extLst>
      <p:ext uri="{BB962C8B-B14F-4D97-AF65-F5344CB8AC3E}">
        <p14:creationId xmlns:p14="http://schemas.microsoft.com/office/powerpoint/2010/main" val="1904409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A4A38-E1C0-114D-F7BB-BA4B2458B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MY" dirty="0"/>
              <a:t>Example – print and 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95492-975C-8F17-57BF-E551D5F4D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1700"/>
              <a:t>#include &lt;iostream&gt;</a:t>
            </a:r>
          </a:p>
          <a:p>
            <a:pPr marL="0" indent="0">
              <a:buNone/>
            </a:pPr>
            <a:r>
              <a:rPr lang="en-MY" sz="1700"/>
              <a:t>using namespace std;</a:t>
            </a:r>
          </a:p>
          <a:p>
            <a:pPr marL="0" indent="0">
              <a:buNone/>
            </a:pPr>
            <a:endParaRPr lang="en-MY" sz="1700"/>
          </a:p>
          <a:p>
            <a:pPr marL="0" indent="0">
              <a:buNone/>
            </a:pPr>
            <a:r>
              <a:rPr lang="en-MY" sz="1700"/>
              <a:t>int square_return(int n) {</a:t>
            </a:r>
          </a:p>
          <a:p>
            <a:pPr marL="0" indent="0">
              <a:buNone/>
            </a:pPr>
            <a:r>
              <a:rPr lang="en-MY" sz="1700"/>
              <a:t>    return n * n;</a:t>
            </a:r>
          </a:p>
          <a:p>
            <a:pPr marL="0" indent="0">
              <a:buNone/>
            </a:pPr>
            <a:r>
              <a:rPr lang="en-MY" sz="1700"/>
              <a:t>}</a:t>
            </a:r>
          </a:p>
          <a:p>
            <a:pPr marL="0" indent="0">
              <a:buNone/>
            </a:pPr>
            <a:endParaRPr lang="en-MY" sz="1700"/>
          </a:p>
          <a:p>
            <a:pPr marL="0" indent="0">
              <a:buNone/>
            </a:pPr>
            <a:r>
              <a:rPr lang="en-MY" sz="1700"/>
              <a:t>void square_print(int n) {</a:t>
            </a:r>
          </a:p>
          <a:p>
            <a:pPr marL="0" indent="0">
              <a:buNone/>
            </a:pPr>
            <a:r>
              <a:rPr lang="en-MY" sz="1700"/>
              <a:t>    cout &lt;&lt; n * n &lt;&lt; '\n';</a:t>
            </a:r>
          </a:p>
          <a:p>
            <a:pPr marL="0" indent="0">
              <a:buNone/>
            </a:pPr>
            <a:r>
              <a:rPr lang="en-MY" sz="1700"/>
              <a:t>}</a:t>
            </a:r>
          </a:p>
          <a:p>
            <a:pPr marL="0" indent="0">
              <a:buNone/>
            </a:pPr>
            <a:endParaRPr lang="en-MY" sz="1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23FC1-21F4-EE82-6C28-F832B0F8A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MY" sz="2400"/>
          </a:p>
          <a:p>
            <a:pPr marL="0" indent="0">
              <a:buNone/>
            </a:pPr>
            <a:r>
              <a:rPr lang="en-MY" sz="2400"/>
              <a:t>int main() {</a:t>
            </a:r>
          </a:p>
          <a:p>
            <a:pPr marL="0" indent="0">
              <a:buNone/>
            </a:pPr>
            <a:r>
              <a:rPr lang="en-MY" sz="2400"/>
              <a:t>    cout &lt;&lt; "square_return(5) = " &lt;&lt; square_return(5) &lt;&lt; '\n';</a:t>
            </a:r>
          </a:p>
          <a:p>
            <a:pPr marL="0" indent="0">
              <a:buNone/>
            </a:pPr>
            <a:r>
              <a:rPr lang="en-MY" sz="2400"/>
              <a:t>    square_print(7); // prints 49</a:t>
            </a:r>
          </a:p>
          <a:p>
            <a:pPr marL="0" indent="0">
              <a:buNone/>
            </a:pPr>
            <a:r>
              <a:rPr lang="en-MY" sz="2400"/>
              <a:t>    return 0;</a:t>
            </a:r>
          </a:p>
          <a:p>
            <a:pPr marL="0" indent="0">
              <a:buNone/>
            </a:pPr>
            <a:r>
              <a:rPr lang="en-MY" sz="2400"/>
              <a:t>}</a:t>
            </a:r>
          </a:p>
          <a:p>
            <a:pPr marL="0" indent="0">
              <a:buNone/>
            </a:pPr>
            <a:endParaRPr lang="en-MY" sz="2400"/>
          </a:p>
        </p:txBody>
      </p:sp>
    </p:spTree>
    <p:extLst>
      <p:ext uri="{BB962C8B-B14F-4D97-AF65-F5344CB8AC3E}">
        <p14:creationId xmlns:p14="http://schemas.microsoft.com/office/powerpoint/2010/main" val="3303082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C39F3-F3A9-E101-AAE0-372BE6121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>
            <a:normAutofit/>
          </a:bodyPr>
          <a:lstStyle/>
          <a:p>
            <a:pPr algn="r"/>
            <a:r>
              <a:rPr lang="en-MY">
                <a:solidFill>
                  <a:schemeClr val="accent1"/>
                </a:solidFill>
              </a:rPr>
              <a:t>Example — add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9B429-5C60-BA44-43A2-A4F03F3A6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6030" y="963507"/>
            <a:ext cx="6250940" cy="2304627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2000"/>
              <a:t>int add(int a, int b) { return a + b; }</a:t>
            </a:r>
          </a:p>
          <a:p>
            <a:pPr marL="0" indent="0">
              <a:buNone/>
            </a:pPr>
            <a:endParaRPr lang="en-MY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ED9BC-5332-475D-6E88-67B55F96A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6030" y="3589866"/>
            <a:ext cx="6250940" cy="2304628"/>
          </a:xfrm>
        </p:spPr>
        <p:txBody>
          <a:bodyPr>
            <a:normAutofit/>
          </a:bodyPr>
          <a:lstStyle/>
          <a:p>
            <a:r>
              <a:rPr lang="en-MY" sz="2000"/>
              <a:t>Calling a function</a:t>
            </a:r>
          </a:p>
          <a:p>
            <a:pPr marL="0" indent="0">
              <a:buNone/>
            </a:pPr>
            <a:endParaRPr lang="en-MY" sz="2000"/>
          </a:p>
          <a:p>
            <a:pPr marL="0" indent="0">
              <a:buNone/>
            </a:pPr>
            <a:endParaRPr lang="en-MY" sz="2000"/>
          </a:p>
          <a:p>
            <a:pPr marL="0" indent="0">
              <a:buNone/>
            </a:pPr>
            <a:r>
              <a:rPr lang="en-US" sz="2000"/>
              <a:t>int x = add(3,4); // x = 7</a:t>
            </a:r>
          </a:p>
          <a:p>
            <a:pPr marL="0" indent="0">
              <a:buNone/>
            </a:pPr>
            <a:endParaRPr lang="en-MY" sz="2000"/>
          </a:p>
        </p:txBody>
      </p:sp>
    </p:spTree>
    <p:extLst>
      <p:ext uri="{BB962C8B-B14F-4D97-AF65-F5344CB8AC3E}">
        <p14:creationId xmlns:p14="http://schemas.microsoft.com/office/powerpoint/2010/main" val="3641041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7C6A3-81D8-B491-872F-8FA7FFF0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Y" dirty="0"/>
              <a:t>Return vs </a:t>
            </a:r>
            <a:r>
              <a:rPr lang="en-MY" dirty="0" err="1"/>
              <a:t>cout</a:t>
            </a:r>
            <a:r>
              <a:rPr lang="en-MY" dirty="0"/>
              <a:t> (print)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9CD506-F785-052B-8FD3-D7C6A53A1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return passes value to caller.</a:t>
            </a:r>
          </a:p>
          <a:p>
            <a:r>
              <a:rPr lang="en-US" dirty="0" err="1"/>
              <a:t>cout</a:t>
            </a:r>
            <a:r>
              <a:rPr lang="en-US" dirty="0"/>
              <a:t> prints to console.</a:t>
            </a:r>
          </a:p>
          <a:p>
            <a:endParaRPr lang="en-US" dirty="0"/>
          </a:p>
          <a:p>
            <a:r>
              <a:rPr lang="en-US" dirty="0"/>
              <a:t>Prefer return when result is needed for further computation.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74302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DAF77B-27E6-999D-3502-51311CDA2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Y"/>
              <a:t>Parameter Passing: value vs reference vs pointer</a:t>
            </a:r>
            <a:endParaRPr lang="en-MY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B3297A0-16B0-5E0E-9C24-554986DCFB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1700"/>
              <a:t>1. Pass by value (copy)</a:t>
            </a:r>
          </a:p>
          <a:p>
            <a:pPr marL="0" indent="0">
              <a:buNone/>
            </a:pPr>
            <a:r>
              <a:rPr lang="en-US" sz="1700"/>
              <a:t>void increment_by_value(int n) {</a:t>
            </a:r>
          </a:p>
          <a:p>
            <a:pPr marL="0" indent="0">
              <a:buNone/>
            </a:pPr>
            <a:r>
              <a:rPr lang="en-US" sz="1700"/>
              <a:t>    n = n + 1; // only local copy changes}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/>
              <a:t>2. Pass by reference (modifies caller)</a:t>
            </a:r>
          </a:p>
          <a:p>
            <a:pPr marL="0" indent="0">
              <a:buNone/>
            </a:pPr>
            <a:r>
              <a:rPr lang="en-US" sz="1700"/>
              <a:t>void increment_by_ref(int &amp;n) {</a:t>
            </a:r>
          </a:p>
          <a:p>
            <a:pPr marL="0" indent="0">
              <a:buNone/>
            </a:pPr>
            <a:r>
              <a:rPr lang="en-US" sz="1700"/>
              <a:t>    n = n + 1; // original variable modified}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MY" sz="1700"/>
              <a:t>3. Pass by pointer (C-style)</a:t>
            </a:r>
          </a:p>
          <a:p>
            <a:pPr marL="0" indent="0">
              <a:buNone/>
            </a:pPr>
            <a:r>
              <a:rPr lang="en-US" sz="1700"/>
              <a:t>void increment_by_ptr(int *p) {</a:t>
            </a:r>
          </a:p>
          <a:p>
            <a:pPr marL="0" indent="0">
              <a:buNone/>
            </a:pPr>
            <a:r>
              <a:rPr lang="en-US" sz="1700"/>
              <a:t>    if (p) *p = *p + 1;}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477F298-098E-FEBE-443B-B981E71E8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1600"/>
              <a:t>Example showing all three:</a:t>
            </a:r>
          </a:p>
          <a:p>
            <a:pPr marL="0" indent="0">
              <a:buNone/>
            </a:pPr>
            <a:r>
              <a:rPr lang="en-MY" sz="1600"/>
              <a:t>#include &lt;iostream&gt;</a:t>
            </a:r>
          </a:p>
          <a:p>
            <a:pPr marL="0" indent="0">
              <a:buNone/>
            </a:pPr>
            <a:r>
              <a:rPr lang="en-MY" sz="1600"/>
              <a:t>using namespace std;</a:t>
            </a:r>
          </a:p>
          <a:p>
            <a:pPr marL="0" indent="0">
              <a:buNone/>
            </a:pPr>
            <a:r>
              <a:rPr lang="en-MY" sz="1600"/>
              <a:t>void pv(int n) { n++; }</a:t>
            </a:r>
          </a:p>
          <a:p>
            <a:pPr marL="0" indent="0">
              <a:buNone/>
            </a:pPr>
            <a:r>
              <a:rPr lang="en-MY" sz="1600"/>
              <a:t>void pr(int &amp;n) { n++; }</a:t>
            </a:r>
          </a:p>
          <a:p>
            <a:pPr marL="0" indent="0">
              <a:buNone/>
            </a:pPr>
            <a:r>
              <a:rPr lang="en-MY" sz="1600"/>
              <a:t>void pp(int *n) { if(n) (*n)++; }</a:t>
            </a:r>
          </a:p>
          <a:p>
            <a:pPr marL="0" indent="0">
              <a:buNone/>
            </a:pPr>
            <a:r>
              <a:rPr lang="en-MY" sz="1600"/>
              <a:t>int main() {</a:t>
            </a:r>
          </a:p>
          <a:p>
            <a:pPr marL="0" indent="0">
              <a:buNone/>
            </a:pPr>
            <a:r>
              <a:rPr lang="en-MY" sz="1600"/>
              <a:t>    int a = 5;</a:t>
            </a:r>
          </a:p>
          <a:p>
            <a:pPr marL="0" indent="0">
              <a:buNone/>
            </a:pPr>
            <a:r>
              <a:rPr lang="en-MY" sz="1600"/>
              <a:t>    pv(a); cout &lt;&lt; "after pv: " &lt;&lt; a &lt;&lt; '\n'; // 5</a:t>
            </a:r>
          </a:p>
          <a:p>
            <a:pPr marL="0" indent="0">
              <a:buNone/>
            </a:pPr>
            <a:r>
              <a:rPr lang="en-MY" sz="1600"/>
              <a:t>    pr(a); cout &lt;&lt; "after pr: " &lt;&lt; a &lt;&lt; '\n'; // 6</a:t>
            </a:r>
          </a:p>
          <a:p>
            <a:pPr marL="0" indent="0">
              <a:buNone/>
            </a:pPr>
            <a:r>
              <a:rPr lang="en-MY" sz="1600"/>
              <a:t>    pp(&amp;a); cout &lt;&lt; "after pp: " &lt;&lt; a &lt;&lt; '\n'; // 7</a:t>
            </a:r>
          </a:p>
          <a:p>
            <a:pPr marL="0" indent="0">
              <a:buNone/>
            </a:pPr>
            <a:r>
              <a:rPr lang="en-MY" sz="1600"/>
              <a:t>}</a:t>
            </a:r>
          </a:p>
          <a:p>
            <a:pPr marL="0" indent="0">
              <a:buNone/>
            </a:pPr>
            <a:endParaRPr lang="en-MY" sz="1600"/>
          </a:p>
        </p:txBody>
      </p:sp>
    </p:spTree>
    <p:extLst>
      <p:ext uri="{BB962C8B-B14F-4D97-AF65-F5344CB8AC3E}">
        <p14:creationId xmlns:p14="http://schemas.microsoft.com/office/powerpoint/2010/main" val="410116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2554AE-783C-59A4-956E-AD828D32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E590C23-9CB8-F872-3A0F-CFBE5D59B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MY" dirty="0"/>
              <a:t>Local vs Global variables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7514C70-6949-10B1-1E6F-C7AC8CB51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3418840" cy="3795748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Local:</a:t>
            </a:r>
            <a:r>
              <a:rPr lang="en-US" sz="2400" dirty="0"/>
              <a:t> defined inside function — lifetime is function call.</a:t>
            </a:r>
          </a:p>
          <a:p>
            <a:r>
              <a:rPr lang="en-US" sz="2400" b="1" dirty="0"/>
              <a:t>Global:</a:t>
            </a:r>
            <a:r>
              <a:rPr lang="en-US" sz="2400" dirty="0"/>
              <a:t> defined outside all functions — visible (unless restricted) across file.</a:t>
            </a:r>
          </a:p>
          <a:p>
            <a:r>
              <a:rPr lang="en-US" sz="2400" dirty="0"/>
              <a:t>Prefer minimizing </a:t>
            </a:r>
            <a:r>
              <a:rPr lang="en-US" sz="2400" dirty="0" err="1"/>
              <a:t>globals</a:t>
            </a:r>
            <a:r>
              <a:rPr lang="en-US" sz="2400" dirty="0"/>
              <a:t>.</a:t>
            </a:r>
          </a:p>
          <a:p>
            <a:endParaRPr lang="en-MY" sz="24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F8320DD-7ABC-F572-E875-7C3C6836B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3676" y="2177456"/>
            <a:ext cx="6991604" cy="37957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MY" sz="2000" dirty="0"/>
              <a:t>#include &lt;iostream&gt;</a:t>
            </a:r>
          </a:p>
          <a:p>
            <a:pPr marL="0" indent="0">
              <a:buNone/>
            </a:pPr>
            <a:r>
              <a:rPr lang="en-MY" sz="2000" dirty="0"/>
              <a:t>using namespace std;</a:t>
            </a:r>
          </a:p>
          <a:p>
            <a:pPr marL="0" indent="0">
              <a:buNone/>
            </a:pPr>
            <a:r>
              <a:rPr lang="en-MY" sz="2000" dirty="0"/>
              <a:t>int g = 100; // Global variable</a:t>
            </a:r>
          </a:p>
          <a:p>
            <a:pPr marL="0" indent="0">
              <a:buNone/>
            </a:pPr>
            <a:r>
              <a:rPr lang="en-MY" sz="2000" dirty="0"/>
              <a:t>void test() {</a:t>
            </a:r>
          </a:p>
          <a:p>
            <a:pPr marL="0" indent="0">
              <a:buNone/>
            </a:pPr>
            <a:r>
              <a:rPr lang="en-MY" sz="2000" dirty="0"/>
              <a:t>    int g = 50; // Local variable shadows global variable</a:t>
            </a:r>
          </a:p>
          <a:p>
            <a:pPr marL="0" indent="0">
              <a:buNone/>
            </a:pPr>
            <a:r>
              <a:rPr lang="en-MY" sz="2000" dirty="0"/>
              <a:t>    </a:t>
            </a:r>
            <a:r>
              <a:rPr lang="en-MY" sz="2000" dirty="0" err="1"/>
              <a:t>cout</a:t>
            </a:r>
            <a:r>
              <a:rPr lang="en-MY" sz="2000" dirty="0"/>
              <a:t> &lt;&lt; g &lt;&lt; </a:t>
            </a:r>
            <a:r>
              <a:rPr lang="en-MY" sz="2000" dirty="0" err="1"/>
              <a:t>endl</a:t>
            </a:r>
            <a:r>
              <a:rPr lang="en-MY" sz="2000" dirty="0"/>
              <a:t>;   // prints 50 (local)   }</a:t>
            </a:r>
          </a:p>
          <a:p>
            <a:pPr marL="0" indent="0">
              <a:buNone/>
            </a:pPr>
            <a:r>
              <a:rPr lang="en-MY" sz="2000" dirty="0"/>
              <a:t>int main() {</a:t>
            </a:r>
          </a:p>
          <a:p>
            <a:pPr marL="0" indent="0">
              <a:buNone/>
            </a:pPr>
            <a:r>
              <a:rPr lang="en-MY" sz="2000" dirty="0"/>
              <a:t>    </a:t>
            </a:r>
            <a:r>
              <a:rPr lang="en-MY" sz="2000" dirty="0" err="1"/>
              <a:t>cout</a:t>
            </a:r>
            <a:r>
              <a:rPr lang="en-MY" sz="2000" dirty="0"/>
              <a:t> &lt;&lt; g &lt;&lt; </a:t>
            </a:r>
            <a:r>
              <a:rPr lang="en-MY" sz="2000" dirty="0" err="1"/>
              <a:t>endl</a:t>
            </a:r>
            <a:r>
              <a:rPr lang="en-MY" sz="2000" dirty="0"/>
              <a:t>;  // prints 100 (global)</a:t>
            </a:r>
          </a:p>
          <a:p>
            <a:pPr marL="0" indent="0">
              <a:buNone/>
            </a:pPr>
            <a:r>
              <a:rPr lang="en-MY" sz="2000" dirty="0"/>
              <a:t>    test();</a:t>
            </a:r>
          </a:p>
          <a:p>
            <a:pPr marL="0" indent="0">
              <a:buNone/>
            </a:pPr>
            <a:r>
              <a:rPr lang="en-MY" sz="2000" dirty="0"/>
              <a:t>    </a:t>
            </a:r>
            <a:r>
              <a:rPr lang="en-MY" sz="2000" dirty="0" err="1"/>
              <a:t>cout</a:t>
            </a:r>
            <a:r>
              <a:rPr lang="en-MY" sz="2000" dirty="0"/>
              <a:t> &lt;&lt; g &lt;&lt; </a:t>
            </a:r>
            <a:r>
              <a:rPr lang="en-MY" sz="2000" dirty="0" err="1"/>
              <a:t>endl</a:t>
            </a:r>
            <a:r>
              <a:rPr lang="en-MY" sz="2000" dirty="0"/>
              <a:t>;  // prints 100 (global remains unchanged)   }</a:t>
            </a:r>
          </a:p>
        </p:txBody>
      </p:sp>
    </p:spTree>
    <p:extLst>
      <p:ext uri="{BB962C8B-B14F-4D97-AF65-F5344CB8AC3E}">
        <p14:creationId xmlns:p14="http://schemas.microsoft.com/office/powerpoint/2010/main" val="3569484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EDCAC-7E89-C130-E848-0FD99D902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Y" dirty="0"/>
              <a:t>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BC729-A3B2-FEB4-8D5F-032346E20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Function Overloading means having more than one function with the same name but different parameters.</a:t>
            </a:r>
          </a:p>
          <a:p>
            <a:r>
              <a:rPr lang="en-US" dirty="0"/>
              <a:t>In C++, the compiler decides which function to run based 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Number of parameters,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Type of parameters or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Type of parameters</a:t>
            </a:r>
            <a:endParaRPr lang="en-MY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C4CC1-4D5B-CF5C-800F-6E1A5D06F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Function overloading is a feature of C++ where multiple functions can have the same name but different number or type of parameters.</a:t>
            </a:r>
          </a:p>
          <a:p>
            <a:r>
              <a:rPr lang="en-US" dirty="0"/>
              <a:t>This allows the same function name to perform different tasks.</a:t>
            </a:r>
          </a:p>
          <a:p>
            <a:r>
              <a:rPr lang="en-US" dirty="0"/>
              <a:t>The compiler decides which function to call based on the argument list.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08115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47DC86-A69C-7656-7581-003D860DB49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420" b="33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11002-FD4F-A2C6-714F-E6BBA5FCF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Y" dirty="0"/>
              <a:t>Example 1: </a:t>
            </a:r>
            <a:r>
              <a:rPr lang="en-US" dirty="0"/>
              <a:t>Same name, different parameter lists</a:t>
            </a:r>
            <a:endParaRPr lang="en-MY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3C9189-DFBC-A554-6666-AD42697585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29378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7065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F1A50-25A2-D136-4269-FC67DAF0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Example 2: Same Name, Different Number of Arguments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EB487-1F7F-46C6-04FD-58A19EA3A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2400" dirty="0"/>
              <a:t>#include &lt;iostream&gt;</a:t>
            </a:r>
          </a:p>
          <a:p>
            <a:pPr marL="0" indent="0">
              <a:buNone/>
            </a:pPr>
            <a:r>
              <a:rPr lang="en-MY" sz="2400" dirty="0"/>
              <a:t>using namespace std;</a:t>
            </a:r>
          </a:p>
          <a:p>
            <a:pPr marL="0" indent="0">
              <a:buNone/>
            </a:pPr>
            <a:r>
              <a:rPr lang="en-MY" sz="2400" dirty="0"/>
              <a:t>void show(int a) {</a:t>
            </a:r>
          </a:p>
          <a:p>
            <a:pPr marL="0" indent="0">
              <a:buNone/>
            </a:pPr>
            <a:r>
              <a:rPr lang="en-MY" sz="2400" dirty="0"/>
              <a:t>    </a:t>
            </a:r>
            <a:r>
              <a:rPr lang="en-MY" sz="2400" dirty="0" err="1"/>
              <a:t>cout</a:t>
            </a:r>
            <a:r>
              <a:rPr lang="en-MY" sz="2400" dirty="0"/>
              <a:t> &lt;&lt; "Value = " &lt;&lt; a &lt;&lt; </a:t>
            </a:r>
            <a:r>
              <a:rPr lang="en-MY" sz="2400" dirty="0" err="1"/>
              <a:t>endl</a:t>
            </a:r>
            <a:r>
              <a:rPr lang="en-MY" sz="2400" dirty="0"/>
              <a:t>;</a:t>
            </a:r>
          </a:p>
          <a:p>
            <a:pPr marL="0" indent="0">
              <a:buNone/>
            </a:pPr>
            <a:r>
              <a:rPr lang="en-MY" sz="2400" dirty="0"/>
              <a:t>}</a:t>
            </a:r>
          </a:p>
          <a:p>
            <a:pPr marL="0" indent="0">
              <a:buNone/>
            </a:pPr>
            <a:r>
              <a:rPr lang="en-MY" sz="2400" dirty="0"/>
              <a:t>void show(int a, int b) {     // same function name, different parameters</a:t>
            </a:r>
          </a:p>
          <a:p>
            <a:pPr marL="0" indent="0">
              <a:buNone/>
            </a:pPr>
            <a:r>
              <a:rPr lang="en-MY" sz="2400" dirty="0"/>
              <a:t>    </a:t>
            </a:r>
            <a:r>
              <a:rPr lang="en-MY" sz="2400" dirty="0" err="1"/>
              <a:t>cout</a:t>
            </a:r>
            <a:r>
              <a:rPr lang="en-MY" sz="2400" dirty="0"/>
              <a:t> &lt;&lt; "Sum = " &lt;&lt; a + b &lt;&lt; </a:t>
            </a:r>
            <a:r>
              <a:rPr lang="en-MY" sz="2400" dirty="0" err="1"/>
              <a:t>endl</a:t>
            </a:r>
            <a:r>
              <a:rPr lang="en-MY" sz="2400" dirty="0"/>
              <a:t>;</a:t>
            </a:r>
          </a:p>
          <a:p>
            <a:pPr marL="0" indent="0">
              <a:buNone/>
            </a:pPr>
            <a:r>
              <a:rPr lang="en-MY" sz="2400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5D235-21A5-FFDE-2E08-D405394DC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MY" sz="2400" dirty="0"/>
          </a:p>
          <a:p>
            <a:pPr marL="0" indent="0">
              <a:buNone/>
            </a:pPr>
            <a:r>
              <a:rPr lang="en-MY" sz="2400" dirty="0"/>
              <a:t>int main() {</a:t>
            </a:r>
          </a:p>
          <a:p>
            <a:pPr marL="0" indent="0">
              <a:buNone/>
            </a:pPr>
            <a:r>
              <a:rPr lang="en-MY" sz="2400" dirty="0"/>
              <a:t>    show(5);        // calls first function</a:t>
            </a:r>
          </a:p>
          <a:p>
            <a:pPr marL="0" indent="0">
              <a:buNone/>
            </a:pPr>
            <a:r>
              <a:rPr lang="en-MY" sz="2400" dirty="0"/>
              <a:t>    show(5, 10);    // calls second function</a:t>
            </a:r>
          </a:p>
          <a:p>
            <a:pPr marL="0" indent="0">
              <a:buNone/>
            </a:pPr>
            <a:r>
              <a:rPr lang="en-MY" sz="2400" dirty="0"/>
              <a:t>    return 0;</a:t>
            </a:r>
          </a:p>
          <a:p>
            <a:pPr marL="0" indent="0">
              <a:buNone/>
            </a:pPr>
            <a:r>
              <a:rPr lang="en-MY" sz="2400" dirty="0"/>
              <a:t>}</a:t>
            </a:r>
          </a:p>
          <a:p>
            <a:pPr marL="0" indent="0">
              <a:buNone/>
            </a:pP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2133827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4B0471-50EF-8776-310B-836A45895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Example 3: Same Name, Different Data Types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34BB4-7194-FEDD-D230-A3258F64E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MY" sz="2400" dirty="0"/>
              <a:t>#include &lt;iostream&gt;</a:t>
            </a:r>
          </a:p>
          <a:p>
            <a:pPr marL="0" indent="0">
              <a:buNone/>
            </a:pPr>
            <a:r>
              <a:rPr lang="en-MY" sz="2400" dirty="0"/>
              <a:t>using namespace std;</a:t>
            </a:r>
          </a:p>
          <a:p>
            <a:pPr marL="0" indent="0">
              <a:buNone/>
            </a:pPr>
            <a:r>
              <a:rPr lang="en-MY" sz="2400" dirty="0"/>
              <a:t>int add(int a, int b) {</a:t>
            </a:r>
          </a:p>
          <a:p>
            <a:pPr marL="0" indent="0">
              <a:buNone/>
            </a:pPr>
            <a:r>
              <a:rPr lang="en-MY" sz="2400" dirty="0"/>
              <a:t>    return a + b;</a:t>
            </a:r>
          </a:p>
          <a:p>
            <a:pPr marL="0" indent="0">
              <a:buNone/>
            </a:pPr>
            <a:r>
              <a:rPr lang="en-MY" sz="2400" dirty="0"/>
              <a:t>}</a:t>
            </a:r>
          </a:p>
          <a:p>
            <a:pPr marL="0" indent="0">
              <a:buNone/>
            </a:pPr>
            <a:r>
              <a:rPr lang="en-MY" sz="2400" dirty="0"/>
              <a:t>double add(double a, double b) {   // same name, different type</a:t>
            </a:r>
          </a:p>
          <a:p>
            <a:pPr marL="0" indent="0">
              <a:buNone/>
            </a:pPr>
            <a:r>
              <a:rPr lang="en-MY" sz="2400" dirty="0"/>
              <a:t>    return a + b;</a:t>
            </a:r>
          </a:p>
          <a:p>
            <a:pPr marL="0" indent="0">
              <a:buNone/>
            </a:pPr>
            <a:r>
              <a:rPr lang="en-MY" sz="2400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986DC-444B-3038-80AD-4BB1699A6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MY" dirty="0"/>
              <a:t>int main() {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add(3, 4) &lt;&lt; </a:t>
            </a:r>
            <a:r>
              <a:rPr lang="en-MY" dirty="0" err="1"/>
              <a:t>endl</a:t>
            </a:r>
            <a:r>
              <a:rPr lang="en-MY" dirty="0"/>
              <a:t>;      // calls int version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add(2.5, 3.6) &lt;&lt; </a:t>
            </a:r>
            <a:r>
              <a:rPr lang="en-MY" dirty="0" err="1"/>
              <a:t>endl</a:t>
            </a:r>
            <a:r>
              <a:rPr lang="en-MY" dirty="0"/>
              <a:t>; // calls float version</a:t>
            </a:r>
          </a:p>
          <a:p>
            <a:pPr marL="0" indent="0">
              <a:buNone/>
            </a:pPr>
            <a:r>
              <a:rPr lang="en-MY" dirty="0"/>
              <a:t>    return 0;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4670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F0DBBC-34A6-3AC0-9217-BDF106332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MY" sz="5600"/>
              <a:t>Function Overloading (Summary)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AA466E70-A2F6-500E-7333-071C811BCC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724910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4515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1B5AD-FC40-B031-F235-F3E0A1389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Function to Display Table of a Number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6AEDA-E06D-87FF-82D7-1C6DB2EDD4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2400" dirty="0"/>
              <a:t>#include &lt;iostream&gt;</a:t>
            </a:r>
          </a:p>
          <a:p>
            <a:pPr marL="0" indent="0">
              <a:buNone/>
            </a:pPr>
            <a:r>
              <a:rPr lang="en-MY" sz="2400" dirty="0"/>
              <a:t>using namespace std;</a:t>
            </a:r>
          </a:p>
          <a:p>
            <a:pPr marL="0" indent="0">
              <a:buNone/>
            </a:pPr>
            <a:r>
              <a:rPr lang="en-MY" sz="2400" dirty="0"/>
              <a:t>void Table(int n) {</a:t>
            </a:r>
          </a:p>
          <a:p>
            <a:pPr marL="0" indent="0">
              <a:buNone/>
            </a:pPr>
            <a:r>
              <a:rPr lang="en-MY" sz="2400" dirty="0"/>
              <a:t>    for(int </a:t>
            </a:r>
            <a:r>
              <a:rPr lang="en-MY" sz="2400" dirty="0" err="1"/>
              <a:t>i</a:t>
            </a:r>
            <a:r>
              <a:rPr lang="en-MY" sz="2400" dirty="0"/>
              <a:t> = 1; </a:t>
            </a:r>
            <a:r>
              <a:rPr lang="en-MY" sz="2400" dirty="0" err="1"/>
              <a:t>i</a:t>
            </a:r>
            <a:r>
              <a:rPr lang="en-MY" sz="2400" dirty="0"/>
              <a:t> &lt;= 10; </a:t>
            </a:r>
            <a:r>
              <a:rPr lang="en-MY" sz="2400" dirty="0" err="1"/>
              <a:t>i</a:t>
            </a:r>
            <a:r>
              <a:rPr lang="en-MY" sz="2400" dirty="0"/>
              <a:t>++) {</a:t>
            </a:r>
          </a:p>
          <a:p>
            <a:pPr marL="0" indent="0">
              <a:buNone/>
            </a:pPr>
            <a:r>
              <a:rPr lang="en-MY" sz="2400" dirty="0"/>
              <a:t>        </a:t>
            </a:r>
            <a:r>
              <a:rPr lang="en-MY" sz="2400" dirty="0" err="1"/>
              <a:t>cout</a:t>
            </a:r>
            <a:r>
              <a:rPr lang="en-MY" sz="2400" dirty="0"/>
              <a:t> &lt;&lt; n &lt;&lt; " x " &lt;&lt; </a:t>
            </a:r>
            <a:r>
              <a:rPr lang="en-MY" sz="2400" dirty="0" err="1"/>
              <a:t>i</a:t>
            </a:r>
            <a:r>
              <a:rPr lang="en-MY" sz="2400" dirty="0"/>
              <a:t> &lt;&lt; " = " &lt;&lt; n * </a:t>
            </a:r>
            <a:r>
              <a:rPr lang="en-MY" sz="2400" dirty="0" err="1"/>
              <a:t>i</a:t>
            </a:r>
            <a:r>
              <a:rPr lang="en-MY" sz="2400" dirty="0"/>
              <a:t> &lt;&lt; </a:t>
            </a:r>
            <a:r>
              <a:rPr lang="en-MY" sz="2400" dirty="0" err="1"/>
              <a:t>endl</a:t>
            </a:r>
            <a:r>
              <a:rPr lang="en-MY" sz="2400" dirty="0"/>
              <a:t>;</a:t>
            </a:r>
          </a:p>
          <a:p>
            <a:pPr marL="0" indent="0">
              <a:buNone/>
            </a:pPr>
            <a:r>
              <a:rPr lang="en-MY" sz="2400" dirty="0"/>
              <a:t>    }</a:t>
            </a:r>
          </a:p>
          <a:p>
            <a:pPr marL="0" indent="0">
              <a:buNone/>
            </a:pPr>
            <a:r>
              <a:rPr lang="en-MY" sz="2400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F36BD-DB14-A9A0-6B53-446C3905D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2400" dirty="0"/>
              <a:t>int main() {</a:t>
            </a:r>
          </a:p>
          <a:p>
            <a:pPr marL="0" indent="0">
              <a:buNone/>
            </a:pPr>
            <a:r>
              <a:rPr lang="en-MY" sz="2400" dirty="0"/>
              <a:t>    int </a:t>
            </a:r>
            <a:r>
              <a:rPr lang="en-MY" sz="2400" dirty="0" err="1"/>
              <a:t>num</a:t>
            </a:r>
            <a:r>
              <a:rPr lang="en-MY" sz="2400" dirty="0"/>
              <a:t>;</a:t>
            </a:r>
          </a:p>
          <a:p>
            <a:pPr marL="0" indent="0">
              <a:buNone/>
            </a:pPr>
            <a:r>
              <a:rPr lang="en-MY" sz="2400" dirty="0"/>
              <a:t>    </a:t>
            </a:r>
            <a:r>
              <a:rPr lang="en-MY" sz="2400" dirty="0" err="1"/>
              <a:t>cout</a:t>
            </a:r>
            <a:r>
              <a:rPr lang="en-MY" sz="2400" dirty="0"/>
              <a:t> &lt;&lt; "Enter a number: ";</a:t>
            </a:r>
          </a:p>
          <a:p>
            <a:pPr marL="0" indent="0">
              <a:buNone/>
            </a:pPr>
            <a:r>
              <a:rPr lang="en-MY" sz="2400" dirty="0"/>
              <a:t>    </a:t>
            </a:r>
            <a:r>
              <a:rPr lang="en-MY" sz="2400" dirty="0" err="1"/>
              <a:t>cin</a:t>
            </a:r>
            <a:r>
              <a:rPr lang="en-MY" sz="2400" dirty="0"/>
              <a:t> &gt;&gt; </a:t>
            </a:r>
            <a:r>
              <a:rPr lang="en-MY" sz="2400" dirty="0" err="1"/>
              <a:t>num</a:t>
            </a:r>
            <a:r>
              <a:rPr lang="en-MY" sz="2400" dirty="0"/>
              <a:t>;</a:t>
            </a:r>
          </a:p>
          <a:p>
            <a:pPr marL="0" indent="0">
              <a:buNone/>
            </a:pPr>
            <a:endParaRPr lang="en-MY" sz="2400" dirty="0"/>
          </a:p>
          <a:p>
            <a:pPr marL="0" indent="0">
              <a:buNone/>
            </a:pPr>
            <a:r>
              <a:rPr lang="en-MY" sz="2400" dirty="0"/>
              <a:t>    Table(</a:t>
            </a:r>
            <a:r>
              <a:rPr lang="en-MY" sz="2400" dirty="0" err="1"/>
              <a:t>num</a:t>
            </a:r>
            <a:r>
              <a:rPr lang="en-MY" sz="2400" dirty="0"/>
              <a:t>);     // function call</a:t>
            </a:r>
          </a:p>
          <a:p>
            <a:pPr marL="0" indent="0">
              <a:buNone/>
            </a:pPr>
            <a:r>
              <a:rPr lang="en-MY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1404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9E9E03-3B7C-167D-346E-487A65215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Factorial Using Function (Without Recursion)</a:t>
            </a:r>
            <a:endParaRPr lang="en-M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AEAB7A-71F3-CED3-68ED-05F5267F1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2000"/>
              <a:t>#include &lt;iostream&gt;</a:t>
            </a:r>
          </a:p>
          <a:p>
            <a:pPr marL="0" indent="0">
              <a:buNone/>
            </a:pPr>
            <a:r>
              <a:rPr lang="en-MY" sz="2000"/>
              <a:t>using namespace std;</a:t>
            </a:r>
          </a:p>
          <a:p>
            <a:pPr marL="0" indent="0">
              <a:buNone/>
            </a:pPr>
            <a:r>
              <a:rPr lang="en-MY" sz="2000"/>
              <a:t>int factorial(int n) {      // function definition</a:t>
            </a:r>
          </a:p>
          <a:p>
            <a:pPr marL="0" indent="0">
              <a:buNone/>
            </a:pPr>
            <a:r>
              <a:rPr lang="en-MY" sz="2000"/>
              <a:t>    int fact = 1;</a:t>
            </a:r>
          </a:p>
          <a:p>
            <a:pPr marL="0" indent="0">
              <a:buNone/>
            </a:pPr>
            <a:r>
              <a:rPr lang="en-MY" sz="2000"/>
              <a:t>    for(int i = 1; i &lt;= n; i++) {</a:t>
            </a:r>
          </a:p>
          <a:p>
            <a:pPr marL="0" indent="0">
              <a:buNone/>
            </a:pPr>
            <a:r>
              <a:rPr lang="en-MY" sz="2000"/>
              <a:t>        fact = fact * i;</a:t>
            </a:r>
          </a:p>
          <a:p>
            <a:pPr marL="0" indent="0">
              <a:buNone/>
            </a:pPr>
            <a:r>
              <a:rPr lang="en-MY" sz="2000"/>
              <a:t>    }</a:t>
            </a:r>
          </a:p>
          <a:p>
            <a:pPr marL="0" indent="0">
              <a:buNone/>
            </a:pPr>
            <a:r>
              <a:rPr lang="en-MY" sz="2000"/>
              <a:t>    return fact;</a:t>
            </a:r>
          </a:p>
          <a:p>
            <a:pPr marL="0" indent="0">
              <a:buNone/>
            </a:pPr>
            <a:r>
              <a:rPr lang="en-MY" sz="2000"/>
              <a:t>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C7879-31D4-8387-336F-38513C663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2000"/>
              <a:t>int main() {</a:t>
            </a:r>
          </a:p>
          <a:p>
            <a:pPr marL="0" indent="0">
              <a:buNone/>
            </a:pPr>
            <a:r>
              <a:rPr lang="en-MY" sz="2000"/>
              <a:t>    int num;</a:t>
            </a:r>
          </a:p>
          <a:p>
            <a:pPr marL="0" indent="0">
              <a:buNone/>
            </a:pPr>
            <a:r>
              <a:rPr lang="en-MY" sz="2000"/>
              <a:t>    cout &lt;&lt; "Enter a number: ";</a:t>
            </a:r>
          </a:p>
          <a:p>
            <a:pPr marL="0" indent="0">
              <a:buNone/>
            </a:pPr>
            <a:r>
              <a:rPr lang="en-MY" sz="2000"/>
              <a:t>    cin &gt;&gt; num;</a:t>
            </a:r>
          </a:p>
          <a:p>
            <a:pPr marL="0" indent="0">
              <a:buNone/>
            </a:pPr>
            <a:r>
              <a:rPr lang="en-MY" sz="2000"/>
              <a:t>    cout &lt;&lt; "Factorial = " &lt;&lt; factorial(num);</a:t>
            </a:r>
          </a:p>
          <a:p>
            <a:pPr marL="0" indent="0">
              <a:buNone/>
            </a:pPr>
            <a:r>
              <a:rPr lang="en-MY" sz="2000"/>
              <a:t>    return 0;</a:t>
            </a:r>
          </a:p>
          <a:p>
            <a:pPr marL="0" indent="0">
              <a:buNone/>
            </a:pPr>
            <a:r>
              <a:rPr lang="en-MY" sz="20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9519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33438FA3-BA8D-F4BE-6E6A-34C259B6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52" y="630936"/>
            <a:ext cx="3908430" cy="5626947"/>
          </a:xfrm>
          <a:noFill/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Area of shapes (overloading + default </a:t>
            </a:r>
            <a:r>
              <a:rPr lang="en-US" sz="4800" dirty="0" err="1">
                <a:solidFill>
                  <a:schemeClr val="bg1"/>
                </a:solidFill>
              </a:rPr>
              <a:t>args</a:t>
            </a:r>
            <a:r>
              <a:rPr lang="en-US" sz="4800" dirty="0">
                <a:solidFill>
                  <a:schemeClr val="bg1"/>
                </a:solidFill>
              </a:rPr>
              <a:t>)</a:t>
            </a:r>
            <a:endParaRPr lang="en-MY" sz="4800" dirty="0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C3F3EA-47CB-C145-B5DE-12885ECD4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412" y="551642"/>
            <a:ext cx="7831539" cy="5626957"/>
          </a:xfrm>
          <a:noFill/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MY" sz="2400" dirty="0">
                <a:solidFill>
                  <a:schemeClr val="bg1"/>
                </a:solidFill>
              </a:rPr>
              <a:t>#include &lt;iostream&gt;</a:t>
            </a:r>
          </a:p>
          <a:p>
            <a:pPr marL="0" indent="0">
              <a:buNone/>
            </a:pPr>
            <a:r>
              <a:rPr lang="en-MY" sz="2400" dirty="0">
                <a:solidFill>
                  <a:schemeClr val="bg1"/>
                </a:solidFill>
              </a:rPr>
              <a:t>using namespace std;</a:t>
            </a:r>
          </a:p>
          <a:p>
            <a:pPr marL="0" indent="0">
              <a:buNone/>
            </a:pPr>
            <a:r>
              <a:rPr lang="en-MY" sz="2400" dirty="0">
                <a:solidFill>
                  <a:schemeClr val="bg1"/>
                </a:solidFill>
              </a:rPr>
              <a:t>double area(double r) { return 3.141592653589793 * r * r; }</a:t>
            </a:r>
          </a:p>
          <a:p>
            <a:pPr marL="0" indent="0">
              <a:buNone/>
            </a:pPr>
            <a:r>
              <a:rPr lang="en-MY" sz="2400" dirty="0">
                <a:solidFill>
                  <a:schemeClr val="bg1"/>
                </a:solidFill>
              </a:rPr>
              <a:t>int area(int l, int w) { return l * w; }</a:t>
            </a:r>
          </a:p>
          <a:p>
            <a:pPr marL="0" indent="0">
              <a:buNone/>
            </a:pPr>
            <a:r>
              <a:rPr lang="en-MY" sz="2400" dirty="0">
                <a:solidFill>
                  <a:schemeClr val="bg1"/>
                </a:solidFill>
              </a:rPr>
              <a:t>int area(int side) { return side * side; }</a:t>
            </a:r>
          </a:p>
          <a:p>
            <a:pPr marL="0" indent="0">
              <a:buNone/>
            </a:pPr>
            <a:r>
              <a:rPr lang="en-MY" sz="2400" dirty="0">
                <a:solidFill>
                  <a:schemeClr val="bg1"/>
                </a:solidFill>
              </a:rPr>
              <a:t>int main() {</a:t>
            </a:r>
          </a:p>
          <a:p>
            <a:pPr marL="0" indent="0">
              <a:buNone/>
            </a:pPr>
            <a:r>
              <a:rPr lang="en-MY" sz="2400" dirty="0">
                <a:solidFill>
                  <a:schemeClr val="bg1"/>
                </a:solidFill>
              </a:rPr>
              <a:t>    </a:t>
            </a:r>
            <a:r>
              <a:rPr lang="en-MY" sz="2400" dirty="0" err="1">
                <a:solidFill>
                  <a:schemeClr val="bg1"/>
                </a:solidFill>
              </a:rPr>
              <a:t>cout</a:t>
            </a:r>
            <a:r>
              <a:rPr lang="en-MY" sz="2400" dirty="0">
                <a:solidFill>
                  <a:schemeClr val="bg1"/>
                </a:solidFill>
              </a:rPr>
              <a:t> &lt;&lt; area(5.0) &lt;&lt; '\n';   // circle</a:t>
            </a:r>
          </a:p>
          <a:p>
            <a:pPr marL="0" indent="0">
              <a:buNone/>
            </a:pPr>
            <a:r>
              <a:rPr lang="en-MY" sz="2400" dirty="0">
                <a:solidFill>
                  <a:schemeClr val="bg1"/>
                </a:solidFill>
              </a:rPr>
              <a:t>    </a:t>
            </a:r>
            <a:r>
              <a:rPr lang="en-MY" sz="2400" dirty="0" err="1">
                <a:solidFill>
                  <a:schemeClr val="bg1"/>
                </a:solidFill>
              </a:rPr>
              <a:t>cout</a:t>
            </a:r>
            <a:r>
              <a:rPr lang="en-MY" sz="2400" dirty="0">
                <a:solidFill>
                  <a:schemeClr val="bg1"/>
                </a:solidFill>
              </a:rPr>
              <a:t> &lt;&lt; area(4, 3) &lt;&lt; '\n';  // rectangle</a:t>
            </a:r>
          </a:p>
          <a:p>
            <a:pPr marL="0" indent="0">
              <a:buNone/>
            </a:pPr>
            <a:r>
              <a:rPr lang="en-MY" sz="2400" dirty="0">
                <a:solidFill>
                  <a:schemeClr val="bg1"/>
                </a:solidFill>
              </a:rPr>
              <a:t>    </a:t>
            </a:r>
            <a:r>
              <a:rPr lang="en-MY" sz="2400" dirty="0" err="1">
                <a:solidFill>
                  <a:schemeClr val="bg1"/>
                </a:solidFill>
              </a:rPr>
              <a:t>cout</a:t>
            </a:r>
            <a:r>
              <a:rPr lang="en-MY" sz="2400" dirty="0">
                <a:solidFill>
                  <a:schemeClr val="bg1"/>
                </a:solidFill>
              </a:rPr>
              <a:t> &lt;&lt; area(6) &lt;&lt; '\n';     </a:t>
            </a:r>
            <a:r>
              <a:rPr lang="en-MY" sz="1400" dirty="0">
                <a:solidFill>
                  <a:schemeClr val="bg1"/>
                </a:solidFill>
              </a:rPr>
              <a:t>// square (ambiguous with int area(side) — ok)</a:t>
            </a:r>
            <a:endParaRPr lang="en-MY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MY" sz="24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2908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DA0AB-1EC5-B883-176E-04CC4985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Reverse number and palindrome (function)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C760C-CBE4-CEED-9E2F-190BF3548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2992"/>
            <a:ext cx="5096934" cy="5243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MY" sz="2400" dirty="0"/>
              <a:t>#include &lt;iostream&gt;</a:t>
            </a:r>
          </a:p>
          <a:p>
            <a:pPr marL="0" indent="0">
              <a:buNone/>
            </a:pPr>
            <a:r>
              <a:rPr lang="en-MY" sz="2400" dirty="0"/>
              <a:t>using namespace std;</a:t>
            </a:r>
          </a:p>
          <a:p>
            <a:pPr marL="0" indent="0">
              <a:buNone/>
            </a:pPr>
            <a:r>
              <a:rPr lang="en-MY" sz="2400" dirty="0"/>
              <a:t>int </a:t>
            </a:r>
            <a:r>
              <a:rPr lang="en-MY" sz="2400" dirty="0" err="1"/>
              <a:t>reverseNumber</a:t>
            </a:r>
            <a:r>
              <a:rPr lang="en-MY" sz="2400" dirty="0"/>
              <a:t>(int n) {</a:t>
            </a:r>
          </a:p>
          <a:p>
            <a:pPr marL="0" indent="0">
              <a:buNone/>
            </a:pPr>
            <a:r>
              <a:rPr lang="en-MY" sz="2400" dirty="0"/>
              <a:t>    int rev = 0;</a:t>
            </a:r>
          </a:p>
          <a:p>
            <a:pPr marL="0" indent="0">
              <a:buNone/>
            </a:pPr>
            <a:r>
              <a:rPr lang="en-MY" sz="2400" dirty="0"/>
              <a:t>    while(n &gt; 0) {</a:t>
            </a:r>
          </a:p>
          <a:p>
            <a:pPr marL="0" indent="0">
              <a:buNone/>
            </a:pPr>
            <a:r>
              <a:rPr lang="en-MY" sz="2400" dirty="0"/>
              <a:t>        rev = rev * 10 + (n % 10);  // take last digit and add to reverse</a:t>
            </a:r>
          </a:p>
          <a:p>
            <a:pPr marL="0" indent="0">
              <a:buNone/>
            </a:pPr>
            <a:r>
              <a:rPr lang="en-MY" sz="2400" dirty="0"/>
              <a:t>        n = n / 10;                 // remove last digit</a:t>
            </a:r>
          </a:p>
          <a:p>
            <a:pPr marL="0" indent="0">
              <a:buNone/>
            </a:pPr>
            <a:r>
              <a:rPr lang="en-MY" sz="2400" dirty="0"/>
              <a:t>    }</a:t>
            </a:r>
          </a:p>
          <a:p>
            <a:pPr marL="0" indent="0">
              <a:buNone/>
            </a:pPr>
            <a:r>
              <a:rPr lang="en-MY" sz="2400" dirty="0"/>
              <a:t>    return rev;</a:t>
            </a:r>
          </a:p>
          <a:p>
            <a:pPr marL="0" indent="0">
              <a:buNone/>
            </a:pPr>
            <a:r>
              <a:rPr lang="en-MY" sz="2400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1B9D9-1861-9B3D-80E8-2C1E48DFF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r>
              <a:rPr lang="en-MY" dirty="0"/>
              <a:t>int main() {</a:t>
            </a:r>
          </a:p>
          <a:p>
            <a:pPr marL="0" indent="0">
              <a:buNone/>
            </a:pPr>
            <a:r>
              <a:rPr lang="en-MY" dirty="0"/>
              <a:t>    int </a:t>
            </a:r>
            <a:r>
              <a:rPr lang="en-MY" dirty="0" err="1"/>
              <a:t>num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"Enter a number: ";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cin</a:t>
            </a:r>
            <a:r>
              <a:rPr lang="en-MY" dirty="0"/>
              <a:t> &gt;&gt; </a:t>
            </a:r>
            <a:r>
              <a:rPr lang="en-MY" dirty="0" err="1"/>
              <a:t>num</a:t>
            </a:r>
            <a:r>
              <a:rPr lang="en-MY" dirty="0"/>
              <a:t>;</a:t>
            </a:r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"Reversed Number = " &lt;&lt; </a:t>
            </a:r>
            <a:r>
              <a:rPr lang="en-MY" dirty="0" err="1"/>
              <a:t>reverseNumber</a:t>
            </a:r>
            <a:r>
              <a:rPr lang="en-MY" dirty="0"/>
              <a:t>(</a:t>
            </a:r>
            <a:r>
              <a:rPr lang="en-MY" dirty="0" err="1"/>
              <a:t>num</a:t>
            </a:r>
            <a:r>
              <a:rPr lang="en-MY" dirty="0"/>
              <a:t>) &lt;&lt; </a:t>
            </a:r>
            <a:r>
              <a:rPr lang="en-MY" dirty="0" err="1"/>
              <a:t>endl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7806742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8C7DB-BAB5-1659-1BF4-EB2DDBB75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Y" dirty="0"/>
              <a:t>Prime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A6F34-BF08-6E56-050C-35C182C8E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45342"/>
            <a:ext cx="5096934" cy="47316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#include &lt;iostream&gt;</a:t>
            </a:r>
          </a:p>
          <a:p>
            <a:pPr marL="0" indent="0">
              <a:buNone/>
            </a:pPr>
            <a:r>
              <a:rPr lang="en-US" sz="2000" dirty="0"/>
              <a:t>using namespace std;</a:t>
            </a:r>
          </a:p>
          <a:p>
            <a:pPr marL="0" indent="0">
              <a:buNone/>
            </a:pPr>
            <a:r>
              <a:rPr lang="en-US" sz="2000" dirty="0"/>
              <a:t>bool </a:t>
            </a:r>
            <a:r>
              <a:rPr lang="en-US" sz="2000" dirty="0" err="1"/>
              <a:t>isPrime</a:t>
            </a:r>
            <a:r>
              <a:rPr lang="en-US" sz="2000" dirty="0"/>
              <a:t>(int n) {// Function to check if number is prime</a:t>
            </a:r>
          </a:p>
          <a:p>
            <a:pPr marL="0" indent="0">
              <a:buNone/>
            </a:pPr>
            <a:r>
              <a:rPr lang="en-US" sz="2000" dirty="0"/>
              <a:t>    if(n &lt;= 1)</a:t>
            </a:r>
          </a:p>
          <a:p>
            <a:pPr marL="0" indent="0">
              <a:buNone/>
            </a:pPr>
            <a:r>
              <a:rPr lang="en-US" sz="2000" dirty="0"/>
              <a:t>        return false;        // numbers &lt;=1 are not prime</a:t>
            </a:r>
          </a:p>
          <a:p>
            <a:pPr marL="0" indent="0">
              <a:buNone/>
            </a:pPr>
            <a:r>
              <a:rPr lang="en-US" sz="2000" dirty="0"/>
              <a:t>    for(int </a:t>
            </a:r>
            <a:r>
              <a:rPr lang="en-US" sz="2000" dirty="0" err="1"/>
              <a:t>i</a:t>
            </a:r>
            <a:r>
              <a:rPr lang="en-US" sz="2000" dirty="0"/>
              <a:t> = 2; </a:t>
            </a:r>
            <a:r>
              <a:rPr lang="en-US" sz="2000" dirty="0" err="1"/>
              <a:t>i</a:t>
            </a:r>
            <a:r>
              <a:rPr lang="en-US" sz="2000" dirty="0"/>
              <a:t> * </a:t>
            </a:r>
            <a:r>
              <a:rPr lang="en-US" sz="2000" dirty="0" err="1"/>
              <a:t>i</a:t>
            </a:r>
            <a:r>
              <a:rPr lang="en-US" sz="2000" dirty="0"/>
              <a:t> &lt;= n; </a:t>
            </a:r>
            <a:r>
              <a:rPr lang="en-US" sz="2000" dirty="0" err="1"/>
              <a:t>i</a:t>
            </a:r>
            <a:r>
              <a:rPr lang="en-US" sz="2000" dirty="0"/>
              <a:t>++) {</a:t>
            </a:r>
          </a:p>
          <a:p>
            <a:pPr marL="0" indent="0">
              <a:buNone/>
            </a:pPr>
            <a:r>
              <a:rPr lang="en-US" sz="2000" dirty="0"/>
              <a:t>        if(n % </a:t>
            </a:r>
            <a:r>
              <a:rPr lang="en-US" sz="2000" dirty="0" err="1"/>
              <a:t>i</a:t>
            </a:r>
            <a:r>
              <a:rPr lang="en-US" sz="2000" dirty="0"/>
              <a:t> == 0)</a:t>
            </a:r>
          </a:p>
          <a:p>
            <a:pPr marL="0" indent="0">
              <a:buNone/>
            </a:pPr>
            <a:r>
              <a:rPr lang="en-US" sz="2000" dirty="0"/>
              <a:t>            return false;    // divisible → not prime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  <a:p>
            <a:pPr marL="0" indent="0">
              <a:buNone/>
            </a:pPr>
            <a:r>
              <a:rPr lang="en-US" sz="2000" dirty="0"/>
              <a:t>    return true;             // no divisor → prime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66802-054B-E0CB-AC10-9AF4FF3C7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int main() {</a:t>
            </a:r>
          </a:p>
          <a:p>
            <a:pPr marL="0" indent="0">
              <a:buNone/>
            </a:pPr>
            <a:r>
              <a:rPr lang="en-US" sz="2400" dirty="0"/>
              <a:t>    int num;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cout</a:t>
            </a:r>
            <a:r>
              <a:rPr lang="en-US" sz="2400" dirty="0"/>
              <a:t> &lt;&lt; "Enter a number: ";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cin</a:t>
            </a:r>
            <a:r>
              <a:rPr lang="en-US" sz="2400" dirty="0"/>
              <a:t> &gt;&gt; num;</a:t>
            </a:r>
          </a:p>
          <a:p>
            <a:pPr marL="0" indent="0">
              <a:buNone/>
            </a:pPr>
            <a:r>
              <a:rPr lang="en-US" sz="2400" dirty="0"/>
              <a:t>    if(</a:t>
            </a:r>
            <a:r>
              <a:rPr lang="en-US" sz="2400" dirty="0" err="1"/>
              <a:t>isPrime</a:t>
            </a:r>
            <a:r>
              <a:rPr lang="en-US" sz="2400" dirty="0"/>
              <a:t>(num))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cout</a:t>
            </a:r>
            <a:r>
              <a:rPr lang="en-US" sz="2400" dirty="0"/>
              <a:t> &lt;&lt; num &lt;&lt; " is a Prime Number.";</a:t>
            </a:r>
          </a:p>
          <a:p>
            <a:pPr marL="0" indent="0">
              <a:buNone/>
            </a:pPr>
            <a:r>
              <a:rPr lang="en-US" sz="2400" dirty="0"/>
              <a:t>    else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cout</a:t>
            </a:r>
            <a:r>
              <a:rPr lang="en-US" sz="2400" dirty="0"/>
              <a:t> &lt;&lt; num &lt;&lt; " is NOT a Prime Number.";</a:t>
            </a:r>
          </a:p>
          <a:p>
            <a:pPr marL="0" indent="0">
              <a:buNone/>
            </a:pPr>
            <a:r>
              <a:rPr lang="en-US" sz="2400" dirty="0"/>
              <a:t>}</a:t>
            </a: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351107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0F62F-1FF1-D0F6-F7A2-C639259B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Full example program — small calculator using functions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749B5-D950-B604-B75A-39589C07F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2000"/>
              <a:t>#include &lt;iostream&gt;</a:t>
            </a:r>
          </a:p>
          <a:p>
            <a:pPr marL="0" indent="0">
              <a:buNone/>
            </a:pPr>
            <a:r>
              <a:rPr lang="en-MY" sz="2000"/>
              <a:t>using namespace std;</a:t>
            </a:r>
          </a:p>
          <a:p>
            <a:pPr marL="0" indent="0">
              <a:buNone/>
            </a:pPr>
            <a:endParaRPr lang="en-MY" sz="2000"/>
          </a:p>
          <a:p>
            <a:pPr marL="0" indent="0">
              <a:buNone/>
            </a:pPr>
            <a:r>
              <a:rPr lang="en-MY" sz="2000"/>
              <a:t>int add(int a, int b){ return a+b; }</a:t>
            </a:r>
          </a:p>
          <a:p>
            <a:pPr marL="0" indent="0">
              <a:buNone/>
            </a:pPr>
            <a:r>
              <a:rPr lang="en-MY" sz="2000"/>
              <a:t>int sub(int a, int b){ return a-b; }</a:t>
            </a:r>
          </a:p>
          <a:p>
            <a:pPr marL="0" indent="0">
              <a:buNone/>
            </a:pPr>
            <a:r>
              <a:rPr lang="en-MY" sz="2000"/>
              <a:t>int mul(int a, int b){ return a*b; }</a:t>
            </a:r>
          </a:p>
          <a:p>
            <a:pPr marL="0" indent="0">
              <a:buNone/>
            </a:pPr>
            <a:r>
              <a:rPr lang="en-MY" sz="2000"/>
              <a:t>double divide(int a, int b){ return b ? static_cast&lt;double&gt;(a)/b : 0.0; }</a:t>
            </a:r>
          </a:p>
          <a:p>
            <a:pPr marL="0" indent="0">
              <a:buNone/>
            </a:pPr>
            <a:endParaRPr lang="en-MY" sz="2000"/>
          </a:p>
          <a:p>
            <a:pPr marL="0" indent="0">
              <a:buNone/>
            </a:pPr>
            <a:endParaRPr lang="en-MY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8068A-47B7-57A9-81D9-B557EE28C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1760" y="1056640"/>
            <a:ext cx="6858000" cy="55270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MY" sz="2200" dirty="0"/>
              <a:t>int main() {    int a, b;  char op;</a:t>
            </a:r>
          </a:p>
          <a:p>
            <a:pPr marL="0" indent="0">
              <a:buNone/>
            </a:pPr>
            <a:r>
              <a:rPr lang="en-MY" sz="2200" dirty="0"/>
              <a:t>    </a:t>
            </a:r>
            <a:r>
              <a:rPr lang="en-MY" sz="2200" dirty="0" err="1"/>
              <a:t>cout</a:t>
            </a:r>
            <a:r>
              <a:rPr lang="en-MY" sz="2200" dirty="0"/>
              <a:t> &lt;&lt; "Enter: a op b (e.g. 4 + 5): ";</a:t>
            </a:r>
          </a:p>
          <a:p>
            <a:pPr marL="0" indent="0">
              <a:buNone/>
            </a:pPr>
            <a:r>
              <a:rPr lang="en-MY" sz="2200" dirty="0"/>
              <a:t>    </a:t>
            </a:r>
            <a:r>
              <a:rPr lang="en-MY" sz="2200" dirty="0" err="1"/>
              <a:t>cin</a:t>
            </a:r>
            <a:r>
              <a:rPr lang="en-MY" sz="2200" dirty="0"/>
              <a:t> &gt;&gt; a &gt;&gt; op &gt;&gt; b;</a:t>
            </a:r>
          </a:p>
          <a:p>
            <a:pPr marL="0" indent="0">
              <a:buNone/>
            </a:pPr>
            <a:r>
              <a:rPr lang="en-MY" sz="2200" dirty="0"/>
              <a:t>switch(op) {</a:t>
            </a:r>
          </a:p>
          <a:p>
            <a:pPr marL="0" indent="0">
              <a:buNone/>
            </a:pPr>
            <a:r>
              <a:rPr lang="en-MY" sz="2200" dirty="0"/>
              <a:t>        case '+’:           </a:t>
            </a:r>
            <a:r>
              <a:rPr lang="en-MY" sz="2200" dirty="0" err="1"/>
              <a:t>cout</a:t>
            </a:r>
            <a:r>
              <a:rPr lang="en-MY" sz="2200" dirty="0"/>
              <a:t> &lt;&lt; add(</a:t>
            </a:r>
            <a:r>
              <a:rPr lang="en-MY" sz="2200" dirty="0" err="1"/>
              <a:t>a,b</a:t>
            </a:r>
            <a:r>
              <a:rPr lang="en-MY" sz="2200" dirty="0"/>
              <a:t>) &lt;&lt; '\n';       break;</a:t>
            </a:r>
          </a:p>
          <a:p>
            <a:pPr marL="0" indent="0">
              <a:buNone/>
            </a:pPr>
            <a:r>
              <a:rPr lang="en-MY" sz="2200" dirty="0"/>
              <a:t>        case '-':            </a:t>
            </a:r>
            <a:r>
              <a:rPr lang="en-MY" sz="2200" dirty="0" err="1"/>
              <a:t>cout</a:t>
            </a:r>
            <a:r>
              <a:rPr lang="en-MY" sz="2200" dirty="0"/>
              <a:t> &lt;&lt; sub(</a:t>
            </a:r>
            <a:r>
              <a:rPr lang="en-MY" sz="2200" dirty="0" err="1"/>
              <a:t>a,b</a:t>
            </a:r>
            <a:r>
              <a:rPr lang="en-MY" sz="2200" dirty="0"/>
              <a:t>) &lt;&lt; '\n';        break;</a:t>
            </a:r>
          </a:p>
          <a:p>
            <a:pPr marL="0" indent="0">
              <a:buNone/>
            </a:pPr>
            <a:r>
              <a:rPr lang="en-MY" sz="2200" dirty="0"/>
              <a:t>        case '*':            </a:t>
            </a:r>
            <a:r>
              <a:rPr lang="en-MY" sz="2200" dirty="0" err="1"/>
              <a:t>cout</a:t>
            </a:r>
            <a:r>
              <a:rPr lang="en-MY" sz="2200" dirty="0"/>
              <a:t> &lt;&lt; </a:t>
            </a:r>
            <a:r>
              <a:rPr lang="en-MY" sz="2200" dirty="0" err="1"/>
              <a:t>mul</a:t>
            </a:r>
            <a:r>
              <a:rPr lang="en-MY" sz="2200" dirty="0"/>
              <a:t>(</a:t>
            </a:r>
            <a:r>
              <a:rPr lang="en-MY" sz="2200" dirty="0" err="1"/>
              <a:t>a,b</a:t>
            </a:r>
            <a:r>
              <a:rPr lang="en-MY" sz="2200" dirty="0"/>
              <a:t>) &lt;&lt; '\n';       break;</a:t>
            </a:r>
          </a:p>
          <a:p>
            <a:pPr marL="0" indent="0">
              <a:buNone/>
            </a:pPr>
            <a:r>
              <a:rPr lang="en-MY" sz="2200" dirty="0"/>
              <a:t>        case '/':            if (b == 0) {</a:t>
            </a:r>
          </a:p>
          <a:p>
            <a:pPr marL="0" indent="0">
              <a:buNone/>
            </a:pPr>
            <a:r>
              <a:rPr lang="en-MY" sz="2200" dirty="0"/>
              <a:t>                </a:t>
            </a:r>
            <a:r>
              <a:rPr lang="en-MY" sz="2200" dirty="0" err="1"/>
              <a:t>cout</a:t>
            </a:r>
            <a:r>
              <a:rPr lang="en-MY" sz="2200" dirty="0"/>
              <a:t> &lt;&lt; "Division by 0 is not possible\n";            } </a:t>
            </a:r>
          </a:p>
          <a:p>
            <a:pPr marL="0" indent="0">
              <a:buNone/>
            </a:pPr>
            <a:r>
              <a:rPr lang="en-MY" sz="2200" dirty="0"/>
              <a:t>            else {   </a:t>
            </a:r>
            <a:r>
              <a:rPr lang="en-MY" sz="2200" dirty="0" err="1"/>
              <a:t>cout</a:t>
            </a:r>
            <a:r>
              <a:rPr lang="en-MY" sz="2200" dirty="0"/>
              <a:t> &lt;&lt; divide(</a:t>
            </a:r>
            <a:r>
              <a:rPr lang="en-MY" sz="2200" dirty="0" err="1"/>
              <a:t>a,b</a:t>
            </a:r>
            <a:r>
              <a:rPr lang="en-MY" sz="2200" dirty="0"/>
              <a:t>) &lt;&lt; '\n’; } break;</a:t>
            </a:r>
          </a:p>
          <a:p>
            <a:pPr marL="0" indent="0">
              <a:buNone/>
            </a:pPr>
            <a:r>
              <a:rPr lang="en-MY" sz="2200" dirty="0"/>
              <a:t>        default:   </a:t>
            </a:r>
            <a:r>
              <a:rPr lang="en-MY" sz="2200" dirty="0" err="1"/>
              <a:t>cout</a:t>
            </a:r>
            <a:r>
              <a:rPr lang="en-MY" sz="2200" dirty="0"/>
              <a:t> &lt;&lt; "Unknown operator\n";    }	}</a:t>
            </a:r>
          </a:p>
          <a:p>
            <a:pPr marL="0" indent="0">
              <a:buNone/>
            </a:pPr>
            <a:r>
              <a:rPr lang="en-MY" sz="2200" dirty="0"/>
              <a:t> return 0;</a:t>
            </a:r>
          </a:p>
          <a:p>
            <a:pPr marL="0" indent="0">
              <a:buNone/>
            </a:pPr>
            <a:r>
              <a:rPr lang="en-MY" sz="2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6357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F7C87-AF97-4E04-7297-00FF0DF7D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MY" dirty="0"/>
              <a:t>Recursion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9471E-550B-70EC-3723-2A2B6008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sz="2600" dirty="0"/>
              <a:t>Function calls itself. Example: factorial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dirty="0"/>
              <a:t>long </a:t>
            </a:r>
            <a:r>
              <a:rPr lang="en-US" sz="2600" dirty="0" err="1"/>
              <a:t>long</a:t>
            </a:r>
            <a:r>
              <a:rPr lang="en-US" sz="2600" dirty="0"/>
              <a:t> factorial(int n) {</a:t>
            </a:r>
          </a:p>
          <a:p>
            <a:pPr marL="0" indent="0">
              <a:buNone/>
            </a:pPr>
            <a:r>
              <a:rPr lang="en-US" sz="2600" dirty="0"/>
              <a:t>    if (n &lt;= 1) return 1;</a:t>
            </a:r>
          </a:p>
          <a:p>
            <a:pPr marL="0" indent="0">
              <a:buNone/>
            </a:pPr>
            <a:r>
              <a:rPr lang="en-US" sz="2600" dirty="0"/>
              <a:t>    return n * factorial(n - 1);</a:t>
            </a:r>
          </a:p>
          <a:p>
            <a:pPr marL="0" indent="0">
              <a:buNone/>
            </a:pPr>
            <a:r>
              <a:rPr lang="en-US" sz="2600" dirty="0"/>
              <a:t>}</a:t>
            </a:r>
          </a:p>
          <a:p>
            <a:pPr marL="0" indent="0">
              <a:buNone/>
            </a:pPr>
            <a:endParaRPr lang="en-MY" sz="2600" dirty="0"/>
          </a:p>
          <a:p>
            <a:pPr marL="0" indent="0">
              <a:buNone/>
            </a:pPr>
            <a:r>
              <a:rPr lang="en-MY" sz="2600" dirty="0"/>
              <a:t>Warning: watch stack depth.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76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071E9-C5A2-EB5A-9607-B892DEB8B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Y" dirty="0"/>
              <a:t>Factorial Using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17DE8-1E90-F95B-FD1A-6D0055DA9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#include &lt;iostream&gt;</a:t>
            </a:r>
          </a:p>
          <a:p>
            <a:pPr marL="0" indent="0">
              <a:buNone/>
            </a:pPr>
            <a:r>
              <a:rPr lang="en-US" sz="2400" dirty="0"/>
              <a:t>using namespace std;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int factorial(int n) {</a:t>
            </a:r>
          </a:p>
          <a:p>
            <a:pPr marL="0" indent="0">
              <a:buNone/>
            </a:pPr>
            <a:r>
              <a:rPr lang="en-US" sz="2400" dirty="0"/>
              <a:t>    if(n == 0 || n == 1)</a:t>
            </a:r>
          </a:p>
          <a:p>
            <a:pPr marL="0" indent="0">
              <a:buNone/>
            </a:pPr>
            <a:r>
              <a:rPr lang="en-US" sz="2400" dirty="0"/>
              <a:t>        return 1;</a:t>
            </a:r>
          </a:p>
          <a:p>
            <a:pPr marL="0" indent="0">
              <a:buNone/>
            </a:pPr>
            <a:r>
              <a:rPr lang="en-US" sz="2400" dirty="0"/>
              <a:t>    return n * factorial(n - 1);   // recursive call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MY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FE3ED-B200-9573-5072-8C4C6F646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num;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a number: ";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num;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"Factorial = " &lt;&lt; factorial(num);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97429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9F4D6-34E5-9A2B-ED41-9FD7B8792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Print Numbers from 1 to N Using Recursion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957F0-A024-F916-6C89-437FB8146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MY" dirty="0"/>
              <a:t>#include &lt;iostream&gt;</a:t>
            </a:r>
          </a:p>
          <a:p>
            <a:pPr marL="0" indent="0">
              <a:buNone/>
            </a:pPr>
            <a:r>
              <a:rPr lang="en-MY" dirty="0"/>
              <a:t>using namespace std;</a:t>
            </a:r>
          </a:p>
          <a:p>
            <a:pPr marL="0" indent="0">
              <a:buNone/>
            </a:pPr>
            <a:r>
              <a:rPr lang="en-MY" dirty="0"/>
              <a:t>void </a:t>
            </a:r>
            <a:r>
              <a:rPr lang="en-MY" dirty="0" err="1"/>
              <a:t>printNumbers</a:t>
            </a:r>
            <a:r>
              <a:rPr lang="en-MY" dirty="0"/>
              <a:t>(int n) {</a:t>
            </a:r>
          </a:p>
          <a:p>
            <a:pPr marL="0" indent="0">
              <a:buNone/>
            </a:pPr>
            <a:r>
              <a:rPr lang="en-MY" dirty="0"/>
              <a:t>    if(n == 0)   // Base case</a:t>
            </a:r>
          </a:p>
          <a:p>
            <a:pPr marL="0" indent="0">
              <a:buNone/>
            </a:pPr>
            <a:r>
              <a:rPr lang="en-MY" dirty="0"/>
              <a:t>        return;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printNumbers</a:t>
            </a:r>
            <a:r>
              <a:rPr lang="en-MY" dirty="0"/>
              <a:t>(n - 1);  // Recursive call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n &lt;&lt; " ";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5D0C4-FAC2-0B1D-3FBF-7B7DE2EA7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MY" sz="2400" dirty="0"/>
          </a:p>
          <a:p>
            <a:pPr marL="0" indent="0">
              <a:buNone/>
            </a:pPr>
            <a:r>
              <a:rPr lang="en-MY" sz="2400" dirty="0"/>
              <a:t>int main() {</a:t>
            </a:r>
          </a:p>
          <a:p>
            <a:pPr marL="0" indent="0">
              <a:buNone/>
            </a:pPr>
            <a:r>
              <a:rPr lang="en-MY" sz="2400" dirty="0"/>
              <a:t>    </a:t>
            </a:r>
            <a:r>
              <a:rPr lang="en-MY" sz="2400" dirty="0" err="1"/>
              <a:t>printNumbers</a:t>
            </a:r>
            <a:r>
              <a:rPr lang="en-MY" sz="2400" dirty="0"/>
              <a:t>(5);</a:t>
            </a:r>
          </a:p>
          <a:p>
            <a:pPr marL="0" indent="0">
              <a:buNone/>
            </a:pPr>
            <a:r>
              <a:rPr lang="en-MY" sz="2400" dirty="0"/>
              <a:t>}</a:t>
            </a:r>
          </a:p>
          <a:p>
            <a:pPr marL="0" indent="0">
              <a:buNone/>
            </a:pP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3813908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186670-9B21-26B4-8DCE-3778217D4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Sum of First N Numbers Using Recursion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B6C3D-C8FD-3EB5-7A98-7EB9375C7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2400" dirty="0"/>
              <a:t>#include &lt;iostream&gt;</a:t>
            </a:r>
          </a:p>
          <a:p>
            <a:pPr marL="0" indent="0">
              <a:buNone/>
            </a:pPr>
            <a:r>
              <a:rPr lang="en-MY" sz="2400" dirty="0"/>
              <a:t>using namespace std;</a:t>
            </a:r>
          </a:p>
          <a:p>
            <a:pPr marL="0" indent="0">
              <a:buNone/>
            </a:pPr>
            <a:endParaRPr lang="en-MY" sz="2400" dirty="0"/>
          </a:p>
          <a:p>
            <a:pPr marL="0" indent="0">
              <a:buNone/>
            </a:pPr>
            <a:r>
              <a:rPr lang="en-MY" sz="2400" dirty="0"/>
              <a:t>int sum(int n) {</a:t>
            </a:r>
          </a:p>
          <a:p>
            <a:pPr marL="0" indent="0">
              <a:buNone/>
            </a:pPr>
            <a:r>
              <a:rPr lang="en-MY" sz="2400" dirty="0"/>
              <a:t>    if(n == 0)   // Base case</a:t>
            </a:r>
          </a:p>
          <a:p>
            <a:pPr marL="0" indent="0">
              <a:buNone/>
            </a:pPr>
            <a:r>
              <a:rPr lang="en-MY" sz="2400" dirty="0"/>
              <a:t>        return 0;</a:t>
            </a:r>
          </a:p>
          <a:p>
            <a:pPr marL="0" indent="0">
              <a:buNone/>
            </a:pPr>
            <a:r>
              <a:rPr lang="en-MY" sz="2400" dirty="0"/>
              <a:t>    return n + sum(n - 1); // Recursive call</a:t>
            </a:r>
          </a:p>
          <a:p>
            <a:pPr marL="0" indent="0">
              <a:buNone/>
            </a:pPr>
            <a:r>
              <a:rPr lang="en-MY" sz="2400" dirty="0"/>
              <a:t>}</a:t>
            </a:r>
          </a:p>
          <a:p>
            <a:pPr marL="0" indent="0">
              <a:buNone/>
            </a:pPr>
            <a:endParaRPr lang="en-MY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610AD-E3D6-6D7A-835E-1632B8DD8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2400" dirty="0"/>
              <a:t>int main() {</a:t>
            </a:r>
          </a:p>
          <a:p>
            <a:pPr marL="0" indent="0">
              <a:buNone/>
            </a:pPr>
            <a:r>
              <a:rPr lang="en-MY" sz="2400" dirty="0"/>
              <a:t>    int n;</a:t>
            </a:r>
          </a:p>
          <a:p>
            <a:pPr marL="0" indent="0">
              <a:buNone/>
            </a:pPr>
            <a:r>
              <a:rPr lang="en-MY" sz="2400" dirty="0"/>
              <a:t>    </a:t>
            </a:r>
            <a:r>
              <a:rPr lang="en-MY" sz="2400" dirty="0" err="1"/>
              <a:t>cout</a:t>
            </a:r>
            <a:r>
              <a:rPr lang="en-MY" sz="2400" dirty="0"/>
              <a:t> &lt;&lt; "Enter n: ";</a:t>
            </a:r>
          </a:p>
          <a:p>
            <a:pPr marL="0" indent="0">
              <a:buNone/>
            </a:pPr>
            <a:r>
              <a:rPr lang="en-MY" sz="2400" dirty="0"/>
              <a:t>    </a:t>
            </a:r>
            <a:r>
              <a:rPr lang="en-MY" sz="2400" dirty="0" err="1"/>
              <a:t>cin</a:t>
            </a:r>
            <a:r>
              <a:rPr lang="en-MY" sz="2400" dirty="0"/>
              <a:t> &gt;&gt; n;</a:t>
            </a:r>
          </a:p>
          <a:p>
            <a:pPr marL="0" indent="0">
              <a:buNone/>
            </a:pPr>
            <a:r>
              <a:rPr lang="en-MY" sz="2400" dirty="0"/>
              <a:t>    </a:t>
            </a:r>
            <a:r>
              <a:rPr lang="en-MY" sz="2400" dirty="0" err="1"/>
              <a:t>cout</a:t>
            </a:r>
            <a:r>
              <a:rPr lang="en-MY" sz="2400" dirty="0"/>
              <a:t> &lt;&lt; "Sum = " &lt;&lt; sum(n);</a:t>
            </a:r>
          </a:p>
          <a:p>
            <a:pPr marL="0" indent="0">
              <a:buNone/>
            </a:pPr>
            <a:r>
              <a:rPr lang="en-MY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52523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</TotalTime>
  <Words>2558</Words>
  <Application>Microsoft Office PowerPoint</Application>
  <PresentationFormat>Widescreen</PresentationFormat>
  <Paragraphs>363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Programming Fundamentals</vt:lpstr>
      <vt:lpstr>Functions</vt:lpstr>
      <vt:lpstr>Why Functions are Needed</vt:lpstr>
      <vt:lpstr>Function parts</vt:lpstr>
      <vt:lpstr>Parameters, scope, and advanced features</vt:lpstr>
      <vt:lpstr>Return Type</vt:lpstr>
      <vt:lpstr>Declaration (prototype) vs Definition</vt:lpstr>
      <vt:lpstr>Default arguments</vt:lpstr>
      <vt:lpstr>A separate declaration is needed when the function is used BEFORE its definition</vt:lpstr>
      <vt:lpstr>Example – print and return</vt:lpstr>
      <vt:lpstr>Example — add</vt:lpstr>
      <vt:lpstr>Return vs cout (print)</vt:lpstr>
      <vt:lpstr>Parameter Passing: value vs reference vs pointer</vt:lpstr>
      <vt:lpstr>Local vs Global variables</vt:lpstr>
      <vt:lpstr>Function overloading</vt:lpstr>
      <vt:lpstr>Example 1: Same name, different parameter lists</vt:lpstr>
      <vt:lpstr>Example 2: Same Name, Different Number of Arguments</vt:lpstr>
      <vt:lpstr>Example 3: Same Name, Different Data Types</vt:lpstr>
      <vt:lpstr>Function Overloading (Summary)</vt:lpstr>
      <vt:lpstr>Function to Display Table of a Number</vt:lpstr>
      <vt:lpstr>Factorial Using Function (Without Recursion)</vt:lpstr>
      <vt:lpstr>Area of shapes (overloading + default args)</vt:lpstr>
      <vt:lpstr>Reverse number and palindrome (function)</vt:lpstr>
      <vt:lpstr>Prime check</vt:lpstr>
      <vt:lpstr>Full example program — small calculator using functions</vt:lpstr>
      <vt:lpstr>Recursion</vt:lpstr>
      <vt:lpstr>Factorial Using Recursion</vt:lpstr>
      <vt:lpstr>Print Numbers from 1 to N Using Recursion</vt:lpstr>
      <vt:lpstr>Sum of First N Numbers Using Recursion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Suhail Asghar Qureshi</dc:creator>
  <cp:lastModifiedBy>Suhail Asghar Qureshi</cp:lastModifiedBy>
  <cp:revision>158</cp:revision>
  <dcterms:created xsi:type="dcterms:W3CDTF">2025-11-02T12:21:22Z</dcterms:created>
  <dcterms:modified xsi:type="dcterms:W3CDTF">2025-11-24T21:39:36Z</dcterms:modified>
</cp:coreProperties>
</file>