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sldIdLst>
    <p:sldId id="375" r:id="rId2"/>
    <p:sldId id="376" r:id="rId3"/>
    <p:sldId id="377" r:id="rId4"/>
    <p:sldId id="378" r:id="rId5"/>
    <p:sldId id="379" r:id="rId6"/>
    <p:sldId id="307" r:id="rId7"/>
    <p:sldId id="308" r:id="rId8"/>
    <p:sldId id="380" r:id="rId9"/>
    <p:sldId id="381" r:id="rId10"/>
    <p:sldId id="382" r:id="rId11"/>
    <p:sldId id="388" r:id="rId12"/>
    <p:sldId id="389" r:id="rId13"/>
    <p:sldId id="390" r:id="rId14"/>
    <p:sldId id="265" r:id="rId15"/>
    <p:sldId id="383" r:id="rId16"/>
    <p:sldId id="384" r:id="rId17"/>
    <p:sldId id="385" r:id="rId18"/>
    <p:sldId id="386" r:id="rId19"/>
    <p:sldId id="387" r:id="rId20"/>
    <p:sldId id="325" r:id="rId21"/>
    <p:sldId id="326" r:id="rId22"/>
    <p:sldId id="327" r:id="rId23"/>
    <p:sldId id="328" r:id="rId24"/>
    <p:sldId id="391" r:id="rId25"/>
    <p:sldId id="33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AF83-3214-661E-527B-751A2F8DB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17385D-52C3-2307-76FF-0C5949F26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86561-440F-7174-C47F-CE9498068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10/12/2025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C9466-1764-A658-3D0D-C59DA27E8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853D4-B9C2-63E6-165C-3A4ED7151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31732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D9E43-9A58-2157-1272-2761C1F58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90479-83CD-D774-D826-0B5F365C2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A174C-8880-0DF8-24C7-930C93C19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10/12/2025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ADAC4-7273-703A-1FC3-6B092F76D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1FBC6-04F2-9268-FE23-20CB223F2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9892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11641-8B2C-26B7-0009-F9D83D22B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A08C9-745A-C358-8FB2-0CA09B14D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3104C-6556-EAA3-22AC-D3C78862A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10/12/2025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B1BF4-782E-402B-A24C-D4B9EB086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D4847-C020-6FAB-FDF1-3E7DDF529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8365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8B3ED-D358-5B63-2ED0-1AD02652F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7C466-42DB-E8C7-DA1A-75FC3890BE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66C231-D689-EE22-E309-84866031D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6E8BB-183E-1CA2-C8B4-4981A722D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10/12/2025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D69BF-E0D1-6910-B178-D3AEBC2B4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6A357-D24B-4A12-275D-EC5114190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75507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BD588-6071-1E8F-7E23-18C7BBE20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BBE73-F929-875B-5BA4-4FA92CBD6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F7BE0-EEEA-E4BC-184D-7C8B56178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9A2868-0463-60A1-94BA-D292273E2D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97B9F-BB65-7695-8E79-4E730E527D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FBC7A5-2D04-986B-6B0D-C99C9B10D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10/12/2025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D6FA71-1367-6F7F-1FC4-32B1D88F9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2F0358-0119-9286-EE52-6ADECB2C7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85710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E6455-F0C8-C66A-EDD7-9EB841026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00DA48-20A3-EBA5-9432-6DC313C0D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10/12/2025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931C67-ECC1-E55C-34B5-7E553ACAD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31236-593B-E67D-57F8-7BEF02CC8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50970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65A70E-6431-ADCC-66A2-4D42B14F5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10/12/2025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0046D7-5799-FB56-332C-40C5A10A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264CC-AD9D-1ADA-F941-410D27063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15158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F2C7C-424D-C13F-065C-E4BE2E50D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B01E9-51F2-42B7-9868-3A1F8B252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087D7-3D91-F5DB-39DA-CB4789E27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5428F-3CA1-2A4E-F46F-C54D69D2B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10/12/2025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D2063-4B0A-1B50-EBB3-B15E1F0E4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4A8DB-7332-C14E-239E-62B8ABF00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37556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863D1-4033-98A5-D627-C92CB99D2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25F712-6B68-A29A-7FDC-23A71497EA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CBBFCF-66A4-9857-2D63-41BD857E1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72E4F-AB6D-B575-7050-9D065D34E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10/12/2025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DE816-C907-48C8-9EB4-52CA7C62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AFAD37-F001-CC1A-5121-EF57FCE3B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00931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37EA3-FBAE-58BF-CD40-606B965BB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83C08A-999F-6B3F-5791-0704540AC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DB987-CCD8-765A-CF18-0DC899623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10/12/2025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26FAA-035A-4C99-02FE-ECAFB187F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D72FF-3772-052D-9CA5-83A528D4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28904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DAC102-CAD0-A621-52C1-B2434CFBAB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6C7C37-3301-05D2-A797-60C2AAD392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D5F17-F9DE-6473-F187-FCC83458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10/12/2025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F85AD-61F4-1ACF-4FCB-350DAB9D8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A81AC-D9AA-AB59-F4F2-72416D96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3894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7A286E-16D1-DFDE-4989-251692009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A3A9E-9170-79FC-892A-2FDFE7D78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8AA05-8C45-7F92-B571-47484BFFE5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9D7005-ED39-4D18-98FC-B11458D1253A}" type="datetimeFigureOut">
              <a:rPr lang="en-MY" smtClean="0"/>
              <a:t>10/12/2025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54605-74C0-82DD-5DA1-53054870BB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C8B90-C5A0-99EC-03CB-EBCE48FD3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23022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0E5D0-2CD4-CAF2-C101-EC4E06C7A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1701" y="1629928"/>
            <a:ext cx="8042594" cy="1799072"/>
          </a:xfrm>
        </p:spPr>
        <p:txBody>
          <a:bodyPr>
            <a:normAutofit/>
          </a:bodyPr>
          <a:lstStyle/>
          <a:p>
            <a:pPr algn="l"/>
            <a:r>
              <a:rPr lang="en-MY" sz="5100" dirty="0"/>
              <a:t>Programming Fundamentals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949475-5A97-3362-5A27-F05282FEA4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0266" y="3631925"/>
            <a:ext cx="5111468" cy="1176049"/>
          </a:xfrm>
        </p:spPr>
        <p:txBody>
          <a:bodyPr>
            <a:normAutofit/>
          </a:bodyPr>
          <a:lstStyle/>
          <a:p>
            <a:r>
              <a:rPr lang="en-MY" sz="2800" dirty="0"/>
              <a:t>By</a:t>
            </a:r>
          </a:p>
          <a:p>
            <a:r>
              <a:rPr lang="en-MY" sz="2800" dirty="0"/>
              <a:t>Dr Suhail Asghar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A9202-0984-BC2F-2BF6-830C9E5AF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</a:t>
            </a:fld>
            <a:endParaRPr lang="en-US"/>
          </a:p>
        </p:txBody>
      </p:sp>
      <p:pic>
        <p:nvPicPr>
          <p:cNvPr id="1026" name="Picture 2" descr="Information Technology – Dawood University of Engineering &amp; Technology  Karachi">
            <a:extLst>
              <a:ext uri="{FF2B5EF4-FFF2-40B4-BE49-F238E27FC236}">
                <a16:creationId xmlns:a16="http://schemas.microsoft.com/office/drawing/2014/main" id="{FF6F0A6A-918B-C08F-5BEB-8FB45EE66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2162" y="231819"/>
            <a:ext cx="1579539" cy="119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28C45A9-887D-E099-0474-F00A5ED0DD60}"/>
              </a:ext>
            </a:extLst>
          </p:cNvPr>
          <p:cNvSpPr txBox="1">
            <a:spLocks/>
          </p:cNvSpPr>
          <p:nvPr/>
        </p:nvSpPr>
        <p:spPr>
          <a:xfrm>
            <a:off x="1486237" y="6025542"/>
            <a:ext cx="9500901" cy="51337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Dawood University Of Engineering &amp; Technology Karachi</a:t>
            </a:r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1651247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7991C-D3E8-0062-51E7-3DC5C92D39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Pointers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A0AA54D-A37E-9FBE-B3A3-C0D64F8744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42914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96C7A5-3EFB-3C38-181E-74A71F028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EBA8E-00F7-8982-633E-CFCCE96D13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en-US" altLang="ko-KR" sz="2600" dirty="0">
                <a:ea typeface="굴림" panose="020B0600000101010101" pitchFamily="34" charset="-127"/>
              </a:rPr>
              <a:t>A pointer is a variable whose value is the address of a memory location</a:t>
            </a:r>
          </a:p>
          <a:p>
            <a:pPr algn="just"/>
            <a:r>
              <a:rPr lang="en-US" altLang="ko-KR" sz="2600" dirty="0">
                <a:ea typeface="굴림" panose="020B0600000101010101" pitchFamily="34" charset="-127"/>
              </a:rPr>
              <a:t>With pointers many memory locations can be referenced</a:t>
            </a:r>
          </a:p>
          <a:p>
            <a:pPr algn="just"/>
            <a:r>
              <a:rPr lang="en-US" altLang="ko-KR" sz="2600" dirty="0">
                <a:ea typeface="굴림" panose="020B0600000101010101" pitchFamily="34" charset="-127"/>
              </a:rPr>
              <a:t>Extensively used in C++ for three main purposes:</a:t>
            </a:r>
          </a:p>
          <a:p>
            <a:pPr lvl="1" algn="just"/>
            <a:r>
              <a:rPr lang="en-US" altLang="ko-KR" sz="2200" dirty="0">
                <a:ea typeface="굴림" panose="020B0600000101010101" pitchFamily="34" charset="-127"/>
              </a:rPr>
              <a:t>To allocate new objects on the heap</a:t>
            </a:r>
          </a:p>
          <a:p>
            <a:pPr lvl="1" algn="just"/>
            <a:r>
              <a:rPr lang="en-US" altLang="ko-KR" sz="2200" dirty="0">
                <a:ea typeface="굴림" panose="020B0600000101010101" pitchFamily="34" charset="-127"/>
              </a:rPr>
              <a:t>To pass functions to other functions</a:t>
            </a:r>
          </a:p>
          <a:p>
            <a:pPr lvl="1" algn="just"/>
            <a:r>
              <a:rPr lang="en-US" altLang="ko-KR" sz="2200" dirty="0">
                <a:ea typeface="굴림" panose="020B0600000101010101" pitchFamily="34" charset="-127"/>
              </a:rPr>
              <a:t>To iterate over elements in arrays or other data structures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5DE6B00-E8A4-6FF7-90C7-5AFC200A38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en-US" altLang="ko-KR" sz="2600" dirty="0">
                <a:ea typeface="굴림" panose="020B0600000101010101" pitchFamily="34" charset="-127"/>
              </a:rPr>
              <a:t>Modern C++ provides:</a:t>
            </a:r>
          </a:p>
          <a:p>
            <a:pPr lvl="1" algn="just"/>
            <a:r>
              <a:rPr lang="en-US" altLang="ko-KR" sz="2200" dirty="0">
                <a:ea typeface="굴림" panose="020B0600000101010101" pitchFamily="34" charset="-127"/>
              </a:rPr>
              <a:t>Smart pointers for allocating objects</a:t>
            </a:r>
          </a:p>
          <a:p>
            <a:pPr lvl="1" algn="just"/>
            <a:r>
              <a:rPr lang="en-US" altLang="ko-KR" sz="2200" dirty="0">
                <a:ea typeface="굴림" panose="020B0600000101010101" pitchFamily="34" charset="-127"/>
              </a:rPr>
              <a:t>Iterators for traversing data structures </a:t>
            </a:r>
          </a:p>
          <a:p>
            <a:pPr lvl="1" algn="just"/>
            <a:r>
              <a:rPr lang="en-US" altLang="ko-KR" sz="2200" dirty="0">
                <a:ea typeface="굴림" panose="020B0600000101010101" pitchFamily="34" charset="-127"/>
              </a:rPr>
              <a:t>Lambda expressions for passing functions</a:t>
            </a:r>
            <a:endParaRPr lang="ko-KR" altLang="en-US" sz="2200" dirty="0">
              <a:ea typeface="굴림" panose="020B0600000101010101" pitchFamily="34" charset="-127"/>
            </a:endParaRP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811053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C34D1-EFAC-77CB-8500-E0039C2AC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Pointer Variable Declaration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2E398-EC5A-505F-1D1B-BCFA1729D0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b="1" dirty="0">
                <a:ea typeface="굴림" panose="020B0600000101010101" pitchFamily="50" charset="-127"/>
              </a:rPr>
              <a:t>datatype * </a:t>
            </a:r>
            <a:r>
              <a:rPr lang="en-US" altLang="ko-KR" b="1" dirty="0" err="1">
                <a:ea typeface="굴림" panose="020B0600000101010101" pitchFamily="50" charset="-127"/>
              </a:rPr>
              <a:t>variable_name</a:t>
            </a:r>
            <a:r>
              <a:rPr lang="en-US" altLang="ko-KR" b="1" dirty="0">
                <a:ea typeface="굴림" panose="020B0600000101010101" pitchFamily="50" charset="-127"/>
              </a:rPr>
              <a:t> ; </a:t>
            </a:r>
          </a:p>
          <a:p>
            <a:pPr lvl="1">
              <a:defRPr/>
            </a:pPr>
            <a:r>
              <a:rPr lang="en-US" altLang="ko-KR" b="1" dirty="0">
                <a:latin typeface="Courier New" panose="02070309020205020404" pitchFamily="49" charset="0"/>
                <a:ea typeface="굴림" panose="020B0600000101010101" pitchFamily="50" charset="-127"/>
              </a:rPr>
              <a:t>*</a:t>
            </a:r>
            <a:r>
              <a:rPr lang="en-US" altLang="ko-KR" dirty="0">
                <a:ea typeface="굴림" panose="020B0600000101010101" pitchFamily="50" charset="-127"/>
              </a:rPr>
              <a:t> indicates variable is pointer</a:t>
            </a:r>
          </a:p>
          <a:p>
            <a:pPr lvl="2">
              <a:buNone/>
              <a:defRPr/>
            </a:pPr>
            <a:r>
              <a:rPr lang="en-US" altLang="ko-KR" sz="2200" b="1" dirty="0">
                <a:latin typeface="Courier New" panose="02070309020205020404" pitchFamily="49" charset="0"/>
                <a:ea typeface="굴림" panose="020B0600000101010101" pitchFamily="50" charset="-127"/>
              </a:rPr>
              <a:t>int *</a:t>
            </a:r>
            <a:r>
              <a:rPr lang="en-US" altLang="ko-KR" sz="2200" b="1" dirty="0" err="1">
                <a:latin typeface="Courier New" panose="02070309020205020404" pitchFamily="49" charset="0"/>
                <a:ea typeface="굴림" panose="020B0600000101010101" pitchFamily="50" charset="-127"/>
              </a:rPr>
              <a:t>iPtr</a:t>
            </a:r>
            <a:r>
              <a:rPr lang="en-US" altLang="ko-KR" sz="2200" b="1" dirty="0">
                <a:latin typeface="Courier New" panose="02070309020205020404" pitchFamily="49" charset="0"/>
                <a:ea typeface="굴림" panose="020B0600000101010101" pitchFamily="50" charset="-127"/>
              </a:rPr>
              <a:t>;</a:t>
            </a:r>
          </a:p>
          <a:p>
            <a:pPr>
              <a:buNone/>
              <a:defRPr/>
            </a:pPr>
            <a:r>
              <a:rPr lang="en-US" altLang="ko-KR" dirty="0">
                <a:ea typeface="굴림" panose="020B0600000101010101" pitchFamily="50" charset="-127"/>
              </a:rPr>
              <a:t>           </a:t>
            </a:r>
            <a:r>
              <a:rPr lang="en-US" altLang="ko-KR" sz="2400" b="1" dirty="0" err="1">
                <a:latin typeface="Courier New" panose="02070309020205020404" pitchFamily="49" charset="0"/>
                <a:ea typeface="굴림" panose="020B0600000101010101" pitchFamily="50" charset="-127"/>
              </a:rPr>
              <a:t>iPtr</a:t>
            </a:r>
            <a:r>
              <a:rPr lang="en-US" altLang="ko-KR" sz="2400" b="1" dirty="0">
                <a:latin typeface="Courier New" panose="02070309020205020404" pitchFamily="49" charset="0"/>
                <a:ea typeface="굴림" panose="020B0600000101010101" pitchFamily="50" charset="-127"/>
              </a:rPr>
              <a:t> </a:t>
            </a:r>
            <a:r>
              <a:rPr lang="en-US" altLang="ko-KR" sz="2400" dirty="0">
                <a:ea typeface="굴림" panose="020B0600000101010101" pitchFamily="50" charset="-127"/>
              </a:rPr>
              <a:t>is pointer to data of type integer</a:t>
            </a:r>
            <a:endParaRPr lang="en-US" altLang="ko-KR" sz="2400" b="1" dirty="0">
              <a:latin typeface="Courier New" panose="02070309020205020404" pitchFamily="49" charset="0"/>
              <a:ea typeface="굴림" panose="020B0600000101010101" pitchFamily="50" charset="-127"/>
            </a:endParaRPr>
          </a:p>
          <a:p>
            <a:pPr lvl="1">
              <a:defRPr/>
            </a:pPr>
            <a:r>
              <a:rPr lang="en-US" altLang="ko-KR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char *</a:t>
            </a:r>
            <a:r>
              <a:rPr lang="en-US" altLang="ko-KR" b="1" dirty="0" err="1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cPtr</a:t>
            </a:r>
            <a:r>
              <a:rPr lang="en-US" altLang="ko-KR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;</a:t>
            </a:r>
            <a:r>
              <a:rPr lang="en-US" altLang="ko-KR" dirty="0">
                <a:ea typeface="굴림" panose="020B0600000101010101" pitchFamily="50" charset="-127"/>
              </a:rPr>
              <a:t>  </a:t>
            </a:r>
          </a:p>
          <a:p>
            <a:pPr marL="914400" lvl="2" indent="0">
              <a:buNone/>
              <a:defRPr/>
            </a:pPr>
            <a:r>
              <a:rPr lang="en-US" altLang="ko-KR" sz="2200" b="1" dirty="0" err="1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cPtr</a:t>
            </a:r>
            <a:r>
              <a:rPr lang="en-US" altLang="ko-KR" sz="2200" dirty="0">
                <a:ea typeface="굴림" panose="020B0600000101010101" pitchFamily="50" charset="-127"/>
              </a:rPr>
              <a:t> is a pointer to data of type character</a:t>
            </a:r>
          </a:p>
          <a:p>
            <a:pPr lvl="1">
              <a:defRPr/>
            </a:pPr>
            <a:r>
              <a:rPr lang="en-US" altLang="ko-KR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double *</a:t>
            </a:r>
            <a:r>
              <a:rPr lang="en-US" altLang="ko-KR" b="1" dirty="0" err="1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dPtr</a:t>
            </a:r>
            <a:r>
              <a:rPr lang="en-US" altLang="ko-KR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;</a:t>
            </a:r>
            <a:r>
              <a:rPr lang="en-US" altLang="ko-KR" dirty="0">
                <a:ea typeface="굴림" panose="020B0600000101010101" pitchFamily="50" charset="-127"/>
              </a:rPr>
              <a:t>  </a:t>
            </a:r>
          </a:p>
          <a:p>
            <a:pPr marL="914400" lvl="2" indent="0">
              <a:buNone/>
              <a:defRPr/>
            </a:pPr>
            <a:r>
              <a:rPr lang="en-US" altLang="ko-KR" sz="2200" b="1" dirty="0" err="1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dPtr</a:t>
            </a:r>
            <a:r>
              <a:rPr lang="en-US" altLang="ko-KR" sz="2200" dirty="0">
                <a:ea typeface="굴림" panose="020B0600000101010101" pitchFamily="50" charset="-127"/>
              </a:rPr>
              <a:t> is a pointer to data of type double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0803BA-A0F2-2455-BA29-839D662D1A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ea typeface="굴림" panose="020B0600000101010101" pitchFamily="50" charset="-127"/>
              </a:rPr>
              <a:t>Multiple </a:t>
            </a:r>
            <a:r>
              <a:rPr lang="en-US" altLang="ko-KR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int</a:t>
            </a:r>
            <a:r>
              <a:rPr lang="en-US" altLang="ko-KR" dirty="0">
                <a:ea typeface="굴림" panose="020B0600000101010101" pitchFamily="50" charset="-127"/>
              </a:rPr>
              <a:t> pointers require multiple asterisks</a:t>
            </a:r>
          </a:p>
          <a:p>
            <a:pPr marL="457200" lvl="1" indent="0">
              <a:buNone/>
              <a:defRPr/>
            </a:pPr>
            <a:r>
              <a:rPr lang="en-US" altLang="ko-KR" b="1" dirty="0">
                <a:latin typeface="Courier New" panose="02070309020205020404" pitchFamily="49" charset="0"/>
                <a:ea typeface="굴림" panose="020B0600000101010101" pitchFamily="50" charset="-127"/>
              </a:rPr>
              <a:t>int *myPtr1, *myPtr2;</a:t>
            </a:r>
          </a:p>
          <a:p>
            <a:pPr marL="457200" lvl="1" indent="0">
              <a:buNone/>
              <a:defRPr/>
            </a:pPr>
            <a:endParaRPr lang="en-US" altLang="ko-KR" b="1" dirty="0">
              <a:latin typeface="Courier New" panose="02070309020205020404" pitchFamily="49" charset="0"/>
              <a:ea typeface="굴림" panose="020B0600000101010101" pitchFamily="50" charset="-127"/>
            </a:endParaRPr>
          </a:p>
          <a:p>
            <a:pPr>
              <a:defRPr/>
            </a:pPr>
            <a:r>
              <a:rPr lang="en-US" altLang="ko-KR" sz="26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void * </a:t>
            </a:r>
            <a:r>
              <a:rPr lang="en-US" altLang="ko-KR" sz="2600" b="1" dirty="0" err="1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vPtr</a:t>
            </a:r>
            <a:r>
              <a:rPr lang="en-US" altLang="ko-KR" sz="26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3200" dirty="0">
                <a:ea typeface="굴림" panose="020B0600000101010101" pitchFamily="50" charset="-127"/>
              </a:rPr>
              <a:t>declare</a:t>
            </a:r>
            <a:r>
              <a:rPr lang="en-US" altLang="ko-KR" dirty="0">
                <a:ea typeface="굴림" panose="020B0600000101010101" pitchFamily="50" charset="-127"/>
              </a:rPr>
              <a:t> pointer to any data type</a:t>
            </a:r>
          </a:p>
        </p:txBody>
      </p:sp>
    </p:spTree>
    <p:extLst>
      <p:ext uri="{BB962C8B-B14F-4D97-AF65-F5344CB8AC3E}">
        <p14:creationId xmlns:p14="http://schemas.microsoft.com/office/powerpoint/2010/main" val="1450136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13931-CA8A-E373-1E79-B2FE02FF4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Pointer initialization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4EEAF-D241-02FE-C890-026869E67B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ea typeface="굴림" panose="020B0600000101010101" pitchFamily="50" charset="-127"/>
              </a:rPr>
              <a:t>Initialized to </a:t>
            </a:r>
            <a:r>
              <a:rPr lang="en-US" altLang="ko-KR" b="1" dirty="0">
                <a:latin typeface="Courier New" panose="02070309020205020404" pitchFamily="49" charset="0"/>
                <a:ea typeface="굴림" panose="020B0600000101010101" pitchFamily="50" charset="-127"/>
              </a:rPr>
              <a:t>0</a:t>
            </a:r>
            <a:r>
              <a:rPr lang="en-US" altLang="ko-KR" dirty="0">
                <a:ea typeface="굴림" panose="020B0600000101010101" pitchFamily="50" charset="-127"/>
              </a:rPr>
              <a:t>, </a:t>
            </a:r>
            <a:r>
              <a:rPr lang="en-US" altLang="ko-KR" b="1" dirty="0">
                <a:latin typeface="Courier New" panose="02070309020205020404" pitchFamily="49" charset="0"/>
                <a:ea typeface="굴림" panose="020B0600000101010101" pitchFamily="50" charset="-127"/>
              </a:rPr>
              <a:t>NULL</a:t>
            </a:r>
            <a:r>
              <a:rPr lang="en-US" altLang="ko-KR" dirty="0">
                <a:ea typeface="굴림" panose="020B0600000101010101" pitchFamily="50" charset="-127"/>
              </a:rPr>
              <a:t>, or address</a:t>
            </a:r>
          </a:p>
          <a:p>
            <a:pPr lvl="1">
              <a:defRPr/>
            </a:pPr>
            <a:r>
              <a:rPr lang="en-US" altLang="ko-KR" b="1" dirty="0">
                <a:latin typeface="Courier New" panose="02070309020205020404" pitchFamily="49" charset="0"/>
                <a:ea typeface="굴림" panose="020B0600000101010101" pitchFamily="50" charset="-127"/>
              </a:rPr>
              <a:t>0</a:t>
            </a:r>
            <a:r>
              <a:rPr lang="en-US" altLang="ko-KR" dirty="0">
                <a:ea typeface="굴림" panose="020B0600000101010101" pitchFamily="50" charset="-127"/>
              </a:rPr>
              <a:t> or </a:t>
            </a:r>
            <a:r>
              <a:rPr lang="en-US" altLang="ko-KR" b="1" dirty="0">
                <a:latin typeface="Courier New" panose="02070309020205020404" pitchFamily="49" charset="0"/>
                <a:ea typeface="굴림" panose="020B0600000101010101" pitchFamily="50" charset="-127"/>
              </a:rPr>
              <a:t>NULL</a:t>
            </a:r>
            <a:r>
              <a:rPr lang="en-US" altLang="ko-KR" dirty="0">
                <a:ea typeface="굴림" panose="020B0600000101010101" pitchFamily="50" charset="-127"/>
              </a:rPr>
              <a:t> points to nothing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0DE853-CCC0-51D3-AE28-7EEA9F61B88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dirty="0">
                <a:ea typeface="굴림" panose="020B0600000101010101" pitchFamily="34" charset="-127"/>
                <a:cs typeface="Courier New" panose="02070309020205020404" pitchFamily="49" charset="0"/>
              </a:rPr>
              <a:t>int* p = </a:t>
            </a:r>
            <a:r>
              <a:rPr lang="en-US" altLang="ko-KR" dirty="0" err="1">
                <a:ea typeface="굴림" panose="020B0600000101010101" pitchFamily="34" charset="-127"/>
                <a:cs typeface="Courier New" panose="02070309020205020404" pitchFamily="49" charset="0"/>
              </a:rPr>
              <a:t>nullptr</a:t>
            </a:r>
            <a:r>
              <a:rPr lang="en-US" altLang="ko-KR" dirty="0">
                <a:ea typeface="굴림" panose="020B0600000101010101" pitchFamily="34" charset="-127"/>
                <a:cs typeface="Courier New" panose="02070309020205020404" pitchFamily="49" charset="0"/>
              </a:rPr>
              <a:t>; // </a:t>
            </a:r>
            <a:r>
              <a:rPr lang="en-US" altLang="ko-KR" dirty="0" err="1">
                <a:ea typeface="굴림" panose="020B0600000101010101" pitchFamily="34" charset="-127"/>
                <a:cs typeface="Courier New" panose="02070309020205020404" pitchFamily="49" charset="0"/>
              </a:rPr>
              <a:t>declar</a:t>
            </a:r>
            <a:r>
              <a:rPr lang="en-US" altLang="ko-KR" dirty="0">
                <a:ea typeface="굴림" panose="020B0600000101010101" pitchFamily="34" charset="-127"/>
                <a:cs typeface="Courier New" panose="02070309020205020404" pitchFamily="49" charset="0"/>
              </a:rPr>
              <a:t> &amp; initialize pointer (doesn't store a random address)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dirty="0">
                <a:ea typeface="굴림" panose="020B0600000101010101" pitchFamily="34" charset="-127"/>
                <a:cs typeface="Courier New" panose="02070309020205020404" pitchFamily="49" charset="0"/>
              </a:rPr>
              <a:t>//int variable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dirty="0">
                <a:ea typeface="굴림" panose="020B0600000101010101" pitchFamily="34" charset="-127"/>
                <a:cs typeface="Courier New" panose="02070309020205020404" pitchFamily="49" charset="0"/>
              </a:rPr>
              <a:t>int </a:t>
            </a:r>
            <a:r>
              <a:rPr lang="en-US" altLang="ko-KR" dirty="0" err="1"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lang="en-US" altLang="ko-KR" dirty="0">
                <a:ea typeface="굴림" panose="020B0600000101010101" pitchFamily="34" charset="-127"/>
                <a:cs typeface="Courier New" panose="02070309020205020404" pitchFamily="49" charset="0"/>
              </a:rPr>
              <a:t> = 5;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dirty="0">
                <a:ea typeface="굴림" panose="020B0600000101010101" pitchFamily="34" charset="-127"/>
                <a:cs typeface="Courier New" panose="02070309020205020404" pitchFamily="49" charset="0"/>
              </a:rPr>
              <a:t>p = &amp;</a:t>
            </a:r>
            <a:r>
              <a:rPr lang="en-US" altLang="ko-KR" dirty="0" err="1"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lang="en-US" altLang="ko-KR" dirty="0">
                <a:ea typeface="굴림" panose="020B0600000101010101" pitchFamily="34" charset="-127"/>
                <a:cs typeface="Courier New" panose="02070309020205020404" pitchFamily="49" charset="0"/>
              </a:rPr>
              <a:t>; // assign pointer to address of object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dirty="0">
                <a:ea typeface="굴림" panose="020B0600000101010101" pitchFamily="34" charset="-127"/>
                <a:cs typeface="Courier New" panose="02070309020205020404" pitchFamily="49" charset="0"/>
              </a:rPr>
              <a:t>int j = *p; // dereference p to retrieve value </a:t>
            </a:r>
            <a:endParaRPr lang="ko-KR" altLang="en-US" dirty="0">
              <a:ea typeface="굴림" panose="020B0600000101010101" pitchFamily="34" charset="-127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515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D9880C0D-9E3C-3B09-01D3-A479707C8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  <a:ea typeface="굴림" panose="020B0600000101010101" pitchFamily="34" charset="-127"/>
              </a:rPr>
              <a:t>Pointer Operation</a:t>
            </a:r>
            <a:endParaRPr lang="ko-KR" altLang="en-US">
              <a:ea typeface="굴림" panose="020B0600000101010101" pitchFamily="34" charset="-127"/>
            </a:endParaRPr>
          </a:p>
        </p:txBody>
      </p:sp>
      <p:sp>
        <p:nvSpPr>
          <p:cNvPr id="11267" name="Slide Number Placeholder 3">
            <a:extLst>
              <a:ext uri="{FF2B5EF4-FFF2-40B4-BE49-F238E27FC236}">
                <a16:creationId xmlns:a16="http://schemas.microsoft.com/office/drawing/2014/main" id="{351CCB44-4316-836C-9889-5B0DD3B25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E99BAE6F-0150-4C9E-AA36-52E7413F0938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6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1268" name="Content Placeholder 4">
            <a:extLst>
              <a:ext uri="{FF2B5EF4-FFF2-40B4-BE49-F238E27FC236}">
                <a16:creationId xmlns:a16="http://schemas.microsoft.com/office/drawing/2014/main" id="{0DB6F473-A86A-F6B6-55C4-1B9C0E640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4000" b="1" dirty="0">
                <a:latin typeface="Courier New" panose="02070309020205020404" pitchFamily="49" charset="0"/>
                <a:ea typeface="굴림" panose="020B0600000101010101" pitchFamily="34" charset="-127"/>
              </a:rPr>
              <a:t>*</a:t>
            </a:r>
            <a:r>
              <a:rPr lang="en-US" altLang="ko-KR" sz="4000" dirty="0">
                <a:ea typeface="굴림" panose="020B0600000101010101" pitchFamily="34" charset="-127"/>
              </a:rPr>
              <a:t> </a:t>
            </a:r>
            <a:r>
              <a:rPr lang="en-US" altLang="ko-KR" sz="3200" dirty="0">
                <a:ea typeface="굴림" panose="020B0600000101010101" pitchFamily="34" charset="-127"/>
              </a:rPr>
              <a:t>(indirection/dereferencing operator)</a:t>
            </a:r>
          </a:p>
          <a:p>
            <a:pPr lvl="1"/>
            <a:r>
              <a:rPr lang="en-US" altLang="ko-KR" sz="3200" dirty="0">
                <a:ea typeface="굴림" panose="020B0600000101010101" pitchFamily="34" charset="-127"/>
              </a:rPr>
              <a:t>Returns synonym for object its pointer operand points to</a:t>
            </a:r>
          </a:p>
          <a:p>
            <a:pPr lvl="1"/>
            <a:r>
              <a:rPr lang="en-US" altLang="ko-KR" sz="3200" b="1" dirty="0">
                <a:latin typeface="Courier New" panose="02070309020205020404" pitchFamily="49" charset="0"/>
                <a:ea typeface="굴림" panose="020B0600000101010101" pitchFamily="34" charset="-127"/>
              </a:rPr>
              <a:t>*</a:t>
            </a:r>
            <a:r>
              <a:rPr lang="en-US" altLang="ko-KR" sz="3200" b="1" dirty="0" err="1">
                <a:latin typeface="Courier New" panose="02070309020205020404" pitchFamily="49" charset="0"/>
                <a:ea typeface="굴림" panose="020B0600000101010101" pitchFamily="34" charset="-127"/>
              </a:rPr>
              <a:t>yPtr</a:t>
            </a:r>
            <a:r>
              <a:rPr lang="en-US" altLang="ko-KR" sz="3200" dirty="0">
                <a:ea typeface="굴림" panose="020B0600000101010101" pitchFamily="34" charset="-127"/>
              </a:rPr>
              <a:t> returns </a:t>
            </a:r>
            <a:r>
              <a:rPr lang="en-US" altLang="ko-KR" sz="3200" b="1" dirty="0">
                <a:latin typeface="Courier New" panose="02070309020205020404" pitchFamily="49" charset="0"/>
                <a:ea typeface="굴림" panose="020B0600000101010101" pitchFamily="34" charset="-127"/>
              </a:rPr>
              <a:t>y</a:t>
            </a:r>
            <a:r>
              <a:rPr lang="en-US" altLang="ko-KR" sz="3200" dirty="0">
                <a:ea typeface="굴림" panose="020B0600000101010101" pitchFamily="34" charset="-127"/>
              </a:rPr>
              <a:t> (because </a:t>
            </a:r>
            <a:r>
              <a:rPr lang="en-US" altLang="ko-KR" sz="3200" b="1" dirty="0" err="1">
                <a:latin typeface="Courier New" panose="02070309020205020404" pitchFamily="49" charset="0"/>
                <a:ea typeface="굴림" panose="020B0600000101010101" pitchFamily="34" charset="-127"/>
              </a:rPr>
              <a:t>yPtr</a:t>
            </a:r>
            <a:r>
              <a:rPr lang="en-US" altLang="ko-KR" sz="3200" dirty="0">
                <a:ea typeface="굴림" panose="020B0600000101010101" pitchFamily="34" charset="-127"/>
              </a:rPr>
              <a:t> points to </a:t>
            </a:r>
            <a:r>
              <a:rPr lang="en-US" altLang="ko-KR" sz="3200" b="1" dirty="0">
                <a:latin typeface="Courier New" panose="02070309020205020404" pitchFamily="49" charset="0"/>
                <a:ea typeface="굴림" panose="020B0600000101010101" pitchFamily="34" charset="-127"/>
              </a:rPr>
              <a:t>y</a:t>
            </a:r>
            <a:r>
              <a:rPr lang="en-US" altLang="ko-KR" sz="3200" dirty="0">
                <a:ea typeface="굴림" panose="020B0600000101010101" pitchFamily="34" charset="-127"/>
              </a:rPr>
              <a:t>).</a:t>
            </a:r>
          </a:p>
          <a:p>
            <a:pPr lvl="1"/>
            <a:r>
              <a:rPr lang="en-US" altLang="ko-KR" sz="3200" dirty="0">
                <a:ea typeface="굴림" panose="020B0600000101010101" pitchFamily="34" charset="-127"/>
              </a:rPr>
              <a:t>dereferenced pointer is </a:t>
            </a:r>
            <a:r>
              <a:rPr lang="en-US" altLang="ko-KR" sz="3200" dirty="0" err="1">
                <a:ea typeface="굴림" panose="020B0600000101010101" pitchFamily="34" charset="-127"/>
              </a:rPr>
              <a:t>lvalue</a:t>
            </a:r>
            <a:endParaRPr lang="en-US" altLang="ko-KR" sz="3200" dirty="0">
              <a:ea typeface="굴림" panose="020B0600000101010101" pitchFamily="34" charset="-127"/>
            </a:endParaRPr>
          </a:p>
          <a:p>
            <a:pPr lvl="3">
              <a:buFontTx/>
              <a:buNone/>
            </a:pPr>
            <a:r>
              <a:rPr lang="en-US" altLang="ko-KR" sz="3200" b="1" dirty="0">
                <a:latin typeface="Courier New" panose="02070309020205020404" pitchFamily="49" charset="0"/>
                <a:ea typeface="굴림" panose="020B0600000101010101" pitchFamily="34" charset="-127"/>
              </a:rPr>
              <a:t>*</a:t>
            </a:r>
            <a:r>
              <a:rPr lang="en-US" altLang="ko-KR" sz="3200" b="1" dirty="0" err="1">
                <a:latin typeface="Courier New" panose="02070309020205020404" pitchFamily="49" charset="0"/>
                <a:ea typeface="굴림" panose="020B0600000101010101" pitchFamily="34" charset="-127"/>
              </a:rPr>
              <a:t>yptr</a:t>
            </a:r>
            <a:r>
              <a:rPr lang="en-US" altLang="ko-KR" sz="3200" b="1" dirty="0">
                <a:latin typeface="Courier New" panose="02070309020205020404" pitchFamily="49" charset="0"/>
                <a:ea typeface="굴림" panose="020B0600000101010101" pitchFamily="34" charset="-127"/>
              </a:rPr>
              <a:t> = 9;      // assigns 9 to y</a:t>
            </a:r>
          </a:p>
          <a:p>
            <a:r>
              <a:rPr lang="en-US" altLang="ko-KR" sz="3600" b="1" dirty="0">
                <a:latin typeface="Courier New" panose="02070309020205020404" pitchFamily="49" charset="0"/>
                <a:ea typeface="굴림" panose="020B0600000101010101" pitchFamily="34" charset="-127"/>
              </a:rPr>
              <a:t>*</a:t>
            </a:r>
            <a:r>
              <a:rPr lang="en-US" altLang="ko-KR" sz="3600" dirty="0">
                <a:ea typeface="굴림" panose="020B0600000101010101" pitchFamily="34" charset="-127"/>
              </a:rPr>
              <a:t>  and </a:t>
            </a:r>
            <a:r>
              <a:rPr lang="en-US" altLang="ko-KR" sz="3600" b="1" dirty="0">
                <a:latin typeface="Courier New" panose="02070309020205020404" pitchFamily="49" charset="0"/>
                <a:ea typeface="굴림" panose="020B0600000101010101" pitchFamily="34" charset="-127"/>
              </a:rPr>
              <a:t>&amp;</a:t>
            </a:r>
            <a:r>
              <a:rPr lang="en-US" altLang="ko-KR" sz="3600" dirty="0">
                <a:ea typeface="굴림" panose="020B0600000101010101" pitchFamily="34" charset="-127"/>
              </a:rPr>
              <a:t> are inverses of each other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704B1ED5-83A9-6BAF-B3D2-BC56C285F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  <a:ea typeface="굴림" panose="020B0600000101010101" pitchFamily="34" charset="-127"/>
              </a:rPr>
              <a:t>Pointer Operation</a:t>
            </a:r>
            <a:endParaRPr lang="ko-KR" altLang="en-US">
              <a:ea typeface="굴림" panose="020B0600000101010101" pitchFamily="34" charset="-127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E92192-A1DF-9E60-303D-A05D12474E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  </a:t>
            </a:r>
            <a:r>
              <a:rPr lang="en-US" altLang="ko-KR" b="1" dirty="0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#include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&lt;iostream&gt;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  </a:t>
            </a:r>
            <a:r>
              <a:rPr lang="en-US" altLang="ko-KR" b="1" dirty="0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using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std::</a:t>
            </a:r>
            <a:r>
              <a:rPr lang="en-US" altLang="ko-KR" b="1" dirty="0" err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cout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;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  </a:t>
            </a:r>
            <a:r>
              <a:rPr lang="en-US" altLang="ko-KR" b="1" dirty="0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using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std::</a:t>
            </a:r>
            <a:r>
              <a:rPr lang="en-US" altLang="ko-KR" b="1" dirty="0" err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endl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;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  </a:t>
            </a:r>
            <a:r>
              <a:rPr lang="en-US" altLang="ko-KR" b="1" dirty="0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int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main()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{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  </a:t>
            </a:r>
            <a:r>
              <a:rPr lang="en-US" altLang="ko-KR" b="1" dirty="0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int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a;      </a:t>
            </a:r>
            <a:r>
              <a:rPr lang="en-US" altLang="ko-KR" b="1" dirty="0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// a is an integer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  </a:t>
            </a:r>
            <a:r>
              <a:rPr lang="en-US" altLang="ko-KR" b="1" dirty="0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int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*</a:t>
            </a:r>
            <a:r>
              <a:rPr lang="en-US" altLang="ko-KR" b="1" dirty="0" err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aPtr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;  </a:t>
            </a:r>
            <a:r>
              <a:rPr lang="en-US" altLang="ko-KR" b="1" dirty="0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// </a:t>
            </a:r>
            <a:r>
              <a:rPr lang="en-US" altLang="ko-KR" b="1" dirty="0" err="1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aPtr</a:t>
            </a:r>
            <a:r>
              <a:rPr lang="en-US" altLang="ko-KR" b="1" dirty="0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is a pointer to an integer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  a = </a:t>
            </a:r>
            <a:r>
              <a:rPr lang="en-US" altLang="ko-KR" b="1" dirty="0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7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;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  </a:t>
            </a:r>
            <a:r>
              <a:rPr lang="en-US" altLang="ko-KR" b="1" dirty="0" err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aPtr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= &amp;a;  </a:t>
            </a:r>
            <a:r>
              <a:rPr lang="en-US" altLang="ko-KR" b="1" dirty="0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// </a:t>
            </a:r>
            <a:r>
              <a:rPr lang="en-US" altLang="ko-KR" b="1" dirty="0" err="1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aPtr</a:t>
            </a:r>
            <a:r>
              <a:rPr lang="en-US" altLang="ko-KR" b="1" dirty="0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assigned address of a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  </a:t>
            </a:r>
            <a:r>
              <a:rPr lang="en-US" altLang="ko-KR" b="1" dirty="0" err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cout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&lt;&lt; </a:t>
            </a:r>
            <a:r>
              <a:rPr lang="en-US" altLang="ko-KR" b="1" dirty="0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"The address of a is "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&lt;&lt; &amp;a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       &lt;&lt; </a:t>
            </a:r>
            <a:r>
              <a:rPr lang="en-US" altLang="ko-KR" b="1" dirty="0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"\</a:t>
            </a:r>
            <a:r>
              <a:rPr lang="en-US" altLang="ko-KR" b="1" dirty="0" err="1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nThe</a:t>
            </a:r>
            <a:r>
              <a:rPr lang="en-US" altLang="ko-KR" b="1" dirty="0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value of </a:t>
            </a:r>
            <a:r>
              <a:rPr lang="en-US" altLang="ko-KR" b="1" dirty="0" err="1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aPtr</a:t>
            </a:r>
            <a:r>
              <a:rPr lang="en-US" altLang="ko-KR" b="1" dirty="0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is "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&lt;&lt; </a:t>
            </a:r>
            <a:r>
              <a:rPr lang="en-US" altLang="ko-KR" b="1" dirty="0" err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aPtr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;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71CBC-7764-53A2-1E0A-EBAD485127E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altLang="ko-KR" b="1" dirty="0" err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cout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&lt;&lt; </a:t>
            </a:r>
            <a:r>
              <a:rPr lang="en-US" altLang="ko-KR" b="1" dirty="0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"\n\</a:t>
            </a:r>
            <a:r>
              <a:rPr lang="en-US" altLang="ko-KR" b="1" dirty="0" err="1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nThe</a:t>
            </a:r>
            <a:r>
              <a:rPr lang="en-US" altLang="ko-KR" b="1" dirty="0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value of a is "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&lt;&lt; a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       &lt;&lt; </a:t>
            </a:r>
            <a:r>
              <a:rPr lang="en-US" altLang="ko-KR" b="1" dirty="0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"\</a:t>
            </a:r>
            <a:r>
              <a:rPr lang="en-US" altLang="ko-KR" b="1" dirty="0" err="1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nThe</a:t>
            </a:r>
            <a:r>
              <a:rPr lang="en-US" altLang="ko-KR" b="1" dirty="0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value of *</a:t>
            </a:r>
            <a:r>
              <a:rPr lang="en-US" altLang="ko-KR" b="1" dirty="0" err="1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aPtr</a:t>
            </a:r>
            <a:r>
              <a:rPr lang="en-US" altLang="ko-KR" b="1" dirty="0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is "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&lt;&lt; *</a:t>
            </a:r>
            <a:r>
              <a:rPr lang="en-US" altLang="ko-KR" b="1" dirty="0" err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aPtr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;</a:t>
            </a:r>
          </a:p>
          <a:p>
            <a:pPr>
              <a:buNone/>
            </a:pPr>
            <a:r>
              <a:rPr lang="en-US" altLang="ko-KR" b="1" dirty="0" err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cout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&lt;&lt;</a:t>
            </a:r>
            <a:r>
              <a:rPr lang="en-US" altLang="ko-KR" b="1" dirty="0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"\n\</a:t>
            </a:r>
            <a:r>
              <a:rPr lang="en-US" altLang="ko-KR" b="1" dirty="0" err="1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nShowing</a:t>
            </a:r>
            <a:r>
              <a:rPr lang="en-US" altLang="ko-KR" b="1" dirty="0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that * and &amp; are inverses of "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       &lt;&lt;</a:t>
            </a:r>
            <a:r>
              <a:rPr lang="en-US" altLang="ko-KR" b="1" dirty="0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"each other.\n&amp;*</a:t>
            </a:r>
            <a:r>
              <a:rPr lang="en-US" altLang="ko-KR" b="1" dirty="0" err="1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aPtr</a:t>
            </a:r>
            <a:r>
              <a:rPr lang="en-US" altLang="ko-KR" b="1" dirty="0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= "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&lt;&lt; &amp;*</a:t>
            </a:r>
            <a:r>
              <a:rPr lang="en-US" altLang="ko-KR" b="1" dirty="0" err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aPtr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       &lt;&lt;</a:t>
            </a:r>
            <a:r>
              <a:rPr lang="en-US" altLang="ko-KR" b="1" dirty="0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"\n*&amp;</a:t>
            </a:r>
            <a:r>
              <a:rPr lang="en-US" altLang="ko-KR" b="1" dirty="0" err="1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aPtr</a:t>
            </a:r>
            <a:r>
              <a:rPr lang="en-US" altLang="ko-KR" b="1" dirty="0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= "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&lt;&lt; *&amp;</a:t>
            </a:r>
            <a:r>
              <a:rPr lang="en-US" altLang="ko-KR" b="1" dirty="0" err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aPtr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&lt;&lt; </a:t>
            </a:r>
            <a:r>
              <a:rPr lang="en-US" altLang="ko-KR" b="1" dirty="0" err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endl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;</a:t>
            </a:r>
            <a:endParaRPr lang="en-US" altLang="ko-KR" b="1" dirty="0">
              <a:solidFill>
                <a:srgbClr val="0000FF"/>
              </a:solidFill>
              <a:latin typeface="Courier New" panose="02070309020205020404" pitchFamily="49" charset="0"/>
              <a:ea typeface="굴림" panose="020B0600000101010101" pitchFamily="34" charset="-127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return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</a:t>
            </a:r>
            <a:r>
              <a:rPr lang="en-US" altLang="ko-KR" b="1" dirty="0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0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  </a:t>
            </a:r>
            <a:r>
              <a:rPr lang="en-US" altLang="ko-KR" b="1" dirty="0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// indicates successful termination</a:t>
            </a: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} </a:t>
            </a:r>
            <a:r>
              <a:rPr lang="en-US" altLang="ko-KR" b="1" dirty="0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// end main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MY" dirty="0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31E05B26-6184-70C7-F2B6-44E0327A6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0420045C-3F01-409A-9330-730A2502FACA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7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C9A94-4B8D-E64F-771C-E64B8BFB1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const</a:t>
            </a:r>
            <a:r>
              <a:rPr lang="en-US" altLang="ko-KR" b="1" dirty="0">
                <a:ea typeface="굴림" panose="020B0600000101010101" pitchFamily="34" charset="-127"/>
                <a:cs typeface="Courier New" panose="02070309020205020404" pitchFamily="49" charset="0"/>
              </a:rPr>
              <a:t> </a:t>
            </a:r>
            <a:r>
              <a:rPr lang="en-US" altLang="ko-KR" b="1" dirty="0">
                <a:solidFill>
                  <a:srgbClr val="C00000"/>
                </a:solidFill>
                <a:ea typeface="굴림" panose="020B0600000101010101" pitchFamily="34" charset="-127"/>
                <a:cs typeface="Courier New" panose="02070309020205020404" pitchFamily="49" charset="0"/>
              </a:rPr>
              <a:t>with</a:t>
            </a:r>
            <a:r>
              <a:rPr lang="en-US" altLang="ko-KR" b="1" dirty="0">
                <a:ea typeface="굴림" panose="020B0600000101010101" pitchFamily="34" charset="-127"/>
                <a:cs typeface="Courier New" panose="02070309020205020404" pitchFamily="49" charset="0"/>
              </a:rPr>
              <a:t> pointers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752BC-27E3-642C-4D4E-649791761E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  </a:t>
            </a:r>
            <a:r>
              <a:rPr lang="en-US" altLang="ko-KR" b="1" dirty="0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int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main()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{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</a:t>
            </a:r>
            <a:r>
              <a:rPr lang="en-US" altLang="ko-KR" b="1" dirty="0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int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x, y;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int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* </a:t>
            </a:r>
            <a:r>
              <a:rPr lang="en-US" altLang="ko-KR" b="1" dirty="0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const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</a:t>
            </a:r>
            <a:r>
              <a:rPr lang="en-US" altLang="ko-KR" b="1" dirty="0" err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ptr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= &amp;x;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*</a:t>
            </a:r>
            <a:r>
              <a:rPr lang="en-US" altLang="ko-KR" b="1" dirty="0" err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ptr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= </a:t>
            </a:r>
            <a:r>
              <a:rPr lang="en-US" altLang="ko-KR" b="1" dirty="0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7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 </a:t>
            </a:r>
          </a:p>
          <a:p>
            <a:pPr>
              <a:buNone/>
            </a:pP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</a:t>
            </a:r>
            <a:r>
              <a:rPr lang="en-US" altLang="ko-KR" b="1" dirty="0" err="1">
                <a:solidFill>
                  <a:srgbClr val="CC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ptr</a:t>
            </a:r>
            <a:r>
              <a:rPr lang="en-US" altLang="ko-KR" b="1" dirty="0">
                <a:solidFill>
                  <a:srgbClr val="CC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= &amp;y;  // error: </a:t>
            </a:r>
            <a:r>
              <a:rPr lang="en-US" altLang="ko-KR" b="1" dirty="0" err="1">
                <a:solidFill>
                  <a:srgbClr val="CC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ptr</a:t>
            </a:r>
            <a:r>
              <a:rPr lang="en-US" altLang="ko-KR" b="1" dirty="0">
                <a:solidFill>
                  <a:srgbClr val="CC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is const; cannot assign new </a:t>
            </a:r>
            <a:r>
              <a:rPr lang="en-US" altLang="ko-KR" b="1" dirty="0" err="1">
                <a:solidFill>
                  <a:srgbClr val="CC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addres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</a:t>
            </a:r>
            <a:r>
              <a:rPr lang="en-US" altLang="ko-KR" b="1" dirty="0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return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</a:t>
            </a:r>
            <a:r>
              <a:rPr lang="en-US" altLang="ko-KR" b="1" dirty="0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0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 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}</a:t>
            </a:r>
            <a:endParaRPr lang="en-US" altLang="ko-KR" b="1" dirty="0">
              <a:solidFill>
                <a:srgbClr val="000000"/>
              </a:solidFill>
              <a:latin typeface="Courier New" panose="02070309020205020404" pitchFamily="49" charset="0"/>
              <a:ea typeface="굴림" panose="020B0600000101010101" pitchFamily="34" charset="-127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EE86E-32C3-2BD1-CFE2-36C05657DD5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sz="2400" b="1" dirty="0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Attempting to modify a constant pointer to</a:t>
            </a:r>
            <a:r>
              <a:rPr lang="en-US" altLang="ko-KR" sz="2400" b="1" dirty="0">
                <a:solidFill>
                  <a:srgbClr val="000000"/>
                </a:solidFill>
                <a:latin typeface="Courier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altLang="ko-KR" sz="2400" b="1" dirty="0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non-constant data.</a:t>
            </a:r>
            <a:endParaRPr lang="en-US" altLang="ko-KR" sz="2400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r>
              <a:rPr lang="en-US" altLang="ko-KR" sz="2400" b="1" dirty="0" err="1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ptr</a:t>
            </a:r>
            <a:r>
              <a:rPr lang="en-US" altLang="ko-KR" sz="2400" b="1" dirty="0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is a constant pointer to an integer that can be modified through </a:t>
            </a:r>
            <a:r>
              <a:rPr lang="en-US" altLang="ko-KR" sz="2400" b="1" dirty="0" err="1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ptr</a:t>
            </a:r>
            <a:r>
              <a:rPr lang="en-US" altLang="ko-KR" sz="2400" b="1" dirty="0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, but </a:t>
            </a:r>
            <a:r>
              <a:rPr lang="en-US" altLang="ko-KR" sz="2400" b="1" dirty="0" err="1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ptr</a:t>
            </a:r>
            <a:r>
              <a:rPr lang="en-US" altLang="ko-KR" sz="2400" b="1" dirty="0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always points to the</a:t>
            </a:r>
            <a:r>
              <a:rPr lang="en-US" altLang="ko-KR" sz="2400" b="1" dirty="0">
                <a:solidFill>
                  <a:srgbClr val="000000"/>
                </a:solidFill>
                <a:latin typeface="Courier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altLang="ko-KR" sz="2400" b="1" dirty="0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same memory location.  </a:t>
            </a:r>
            <a:endParaRPr lang="en-US" altLang="ko-KR" sz="2400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MY" sz="1800" dirty="0"/>
          </a:p>
        </p:txBody>
      </p:sp>
    </p:spTree>
    <p:extLst>
      <p:ext uri="{BB962C8B-B14F-4D97-AF65-F5344CB8AC3E}">
        <p14:creationId xmlns:p14="http://schemas.microsoft.com/office/powerpoint/2010/main" val="1223097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580A2-086D-1C70-7D98-617D8BA57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Attempting to modify a constant pointer to constant data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95D3E-BABC-51BE-1AF9-5D881A6A32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  </a:t>
            </a:r>
            <a:r>
              <a:rPr lang="en-US" altLang="ko-KR" b="1" dirty="0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#include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&lt;iostream&gt;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  </a:t>
            </a:r>
            <a:r>
              <a:rPr lang="en-US" altLang="ko-KR" b="1" dirty="0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using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std::</a:t>
            </a:r>
            <a:r>
              <a:rPr lang="en-US" altLang="ko-KR" b="1" dirty="0" err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  </a:t>
            </a:r>
            <a:r>
              <a:rPr lang="en-US" altLang="ko-KR" b="1" dirty="0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using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std::</a:t>
            </a:r>
            <a:r>
              <a:rPr lang="en-US" altLang="ko-KR" b="1" dirty="0" err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endl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  </a:t>
            </a:r>
            <a:r>
              <a:rPr lang="en-US" altLang="ko-KR" b="1" dirty="0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int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main() {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</a:t>
            </a:r>
            <a:r>
              <a:rPr lang="en-US" altLang="ko-KR" b="1" dirty="0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int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x = </a:t>
            </a:r>
            <a:r>
              <a:rPr lang="en-US" altLang="ko-KR" b="1" dirty="0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5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, y;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</a:t>
            </a:r>
            <a:r>
              <a:rPr lang="en-US" altLang="ko-KR" b="1" dirty="0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const int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*</a:t>
            </a:r>
            <a:r>
              <a:rPr lang="en-US" altLang="ko-KR" b="1" dirty="0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const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</a:t>
            </a:r>
            <a:r>
              <a:rPr lang="en-US" altLang="ko-KR" b="1" dirty="0" err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ptr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= &amp;x; 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</a:t>
            </a:r>
            <a:r>
              <a:rPr lang="en-US" altLang="ko-KR" b="1" dirty="0" err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&lt;&lt; *</a:t>
            </a:r>
            <a:r>
              <a:rPr lang="en-US" altLang="ko-KR" b="1" dirty="0" err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ptr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&lt;&lt; </a:t>
            </a:r>
            <a:r>
              <a:rPr lang="en-US" altLang="ko-KR" b="1" dirty="0" err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endl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</a:t>
            </a:r>
          </a:p>
          <a:p>
            <a:pPr>
              <a:buNone/>
            </a:pPr>
            <a:r>
              <a:rPr lang="en-US" altLang="ko-KR" b="1" dirty="0">
                <a:solidFill>
                  <a:srgbClr val="CC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*</a:t>
            </a:r>
            <a:r>
              <a:rPr lang="en-US" altLang="ko-KR" b="1" dirty="0" err="1">
                <a:solidFill>
                  <a:srgbClr val="CC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ptr</a:t>
            </a:r>
            <a:r>
              <a:rPr lang="en-US" altLang="ko-KR" b="1" dirty="0">
                <a:solidFill>
                  <a:srgbClr val="CC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= 7;  // error: *</a:t>
            </a:r>
            <a:r>
              <a:rPr lang="en-US" altLang="ko-KR" b="1" dirty="0" err="1">
                <a:solidFill>
                  <a:srgbClr val="CC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ptr</a:t>
            </a:r>
            <a:r>
              <a:rPr lang="en-US" altLang="ko-KR" b="1" dirty="0">
                <a:solidFill>
                  <a:srgbClr val="CC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is const; cannot assign new value</a:t>
            </a:r>
          </a:p>
          <a:p>
            <a:pPr>
              <a:buNone/>
            </a:pP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</a:t>
            </a:r>
            <a:r>
              <a:rPr lang="en-US" altLang="ko-KR" b="1" dirty="0" err="1">
                <a:solidFill>
                  <a:srgbClr val="CC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ptr</a:t>
            </a:r>
            <a:r>
              <a:rPr lang="en-US" altLang="ko-KR" b="1" dirty="0">
                <a:solidFill>
                  <a:srgbClr val="CC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= &amp;y;  // error: </a:t>
            </a:r>
            <a:r>
              <a:rPr lang="en-US" altLang="ko-KR" b="1" dirty="0" err="1">
                <a:solidFill>
                  <a:srgbClr val="CC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ptr</a:t>
            </a:r>
            <a:r>
              <a:rPr lang="en-US" altLang="ko-KR" b="1" dirty="0">
                <a:solidFill>
                  <a:srgbClr val="CC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is const; cannot assign new address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</a:t>
            </a:r>
            <a:r>
              <a:rPr lang="en-US" altLang="ko-KR" b="1" dirty="0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return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</a:t>
            </a:r>
            <a:r>
              <a:rPr lang="en-US" altLang="ko-KR" b="1" dirty="0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0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 </a:t>
            </a:r>
            <a:r>
              <a:rPr lang="en-US" altLang="ko-KR" b="1" dirty="0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}</a:t>
            </a:r>
            <a:endParaRPr lang="en-MY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CAEF1D-3FB9-8536-D7D7-F691F13832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US" altLang="ko-KR" b="1" dirty="0" err="1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ptr</a:t>
            </a:r>
            <a:r>
              <a:rPr lang="en-US" altLang="ko-KR" b="1" dirty="0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is a constant pointer to a constant integer.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</a:t>
            </a:r>
            <a:endParaRPr lang="en-US" altLang="ko-KR" b="1" dirty="0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r>
              <a:rPr lang="en-US" altLang="ko-KR" b="1" dirty="0" err="1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ptr</a:t>
            </a:r>
            <a:r>
              <a:rPr lang="en-US" altLang="ko-KR" b="1" dirty="0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always points to the same location; the integer</a:t>
            </a:r>
            <a:r>
              <a:rPr lang="en-US" altLang="ko-KR" b="1" dirty="0">
                <a:solidFill>
                  <a:srgbClr val="000000"/>
                </a:solidFill>
                <a:latin typeface="Courier" pitchFamily="49" charset="0"/>
                <a:ea typeface="굴림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at that location cannot be modified.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945927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2E9F6-05BF-61D1-AD4A-BD7305466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CALLING</a:t>
            </a:r>
            <a:r>
              <a:rPr lang="en-US" dirty="0"/>
              <a:t> a function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BEF99-F4E3-A8B8-B303-169E2F1E6C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Tx/>
              <a:buChar char="•"/>
              <a:tabLst/>
              <a:defRPr/>
            </a:pPr>
            <a:r>
              <a:rPr lang="en-US" altLang="ko-KR" sz="2500" dirty="0">
                <a:ea typeface="굴림" panose="020B0600000101010101" pitchFamily="34" charset="-127"/>
              </a:rPr>
              <a:t>3 ways to </a:t>
            </a:r>
            <a:r>
              <a:rPr kumimoji="1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굴림" panose="020B0600000101010101" pitchFamily="34" charset="-127"/>
                <a:cs typeface="+mn-cs"/>
              </a:rPr>
              <a:t>pass arguments to function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Tx/>
              <a:buChar char="—"/>
              <a:tabLst/>
              <a:defRPr/>
            </a:pPr>
            <a:r>
              <a:rPr kumimoji="1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굴림" panose="020B0600000101010101" pitchFamily="34" charset="-127"/>
                <a:cs typeface="+mn-cs"/>
              </a:rPr>
              <a:t>Pass-by-value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Tx/>
              <a:buChar char="—"/>
              <a:tabLst/>
              <a:defRPr/>
            </a:pPr>
            <a:r>
              <a:rPr kumimoji="1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굴림" panose="020B0600000101010101" pitchFamily="34" charset="-127"/>
                <a:cs typeface="+mn-cs"/>
              </a:rPr>
              <a:t>Pass-by-reference with reference arguments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Tx/>
              <a:buChar char="—"/>
              <a:tabLst/>
              <a:defRPr/>
            </a:pPr>
            <a:r>
              <a:rPr kumimoji="1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굴림" panose="020B0600000101010101" pitchFamily="34" charset="-127"/>
                <a:cs typeface="+mn-cs"/>
              </a:rPr>
              <a:t>Pass-by-reference with pointer arguments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Tx/>
              <a:buChar char="•"/>
              <a:tabLst/>
              <a:defRPr/>
            </a:pPr>
            <a:r>
              <a:rPr kumimoji="1" lang="en-US" altLang="ko-KR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굴림" panose="020B0600000101010101" pitchFamily="34" charset="-127"/>
                <a:cs typeface="+mn-cs"/>
              </a:rPr>
              <a:t>return </a:t>
            </a:r>
            <a:r>
              <a:rPr kumimoji="1" lang="en-US" altLang="ko-KR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굴림" panose="020B0600000101010101" pitchFamily="34" charset="-127"/>
                <a:cs typeface="+mn-cs"/>
              </a:rPr>
              <a:t>can return one value from function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Tx/>
              <a:buChar char="•"/>
              <a:tabLst/>
              <a:defRPr/>
            </a:pP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굴림" panose="020B0600000101010101" pitchFamily="34" charset="-127"/>
                <a:cs typeface="+mn-cs"/>
              </a:rPr>
              <a:t>Arguments passed to function using reference arguments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Tx/>
              <a:buChar char="—"/>
              <a:tabLst/>
              <a:defRPr/>
            </a:pPr>
            <a:r>
              <a:rPr kumimoji="1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굴림" panose="020B0600000101010101" pitchFamily="34" charset="-127"/>
                <a:cs typeface="+mn-cs"/>
              </a:rPr>
              <a:t>Modify original values of arguments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Tx/>
              <a:buChar char="—"/>
              <a:tabLst/>
              <a:defRPr/>
            </a:pPr>
            <a:r>
              <a:rPr kumimoji="1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굴림" panose="020B0600000101010101" pitchFamily="34" charset="-127"/>
                <a:cs typeface="+mn-cs"/>
              </a:rPr>
              <a:t>More than one value “returned”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1F3AE7-F8AD-4EFA-6957-878726729CC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US" altLang="ko-KR" sz="2300" b="1" dirty="0">
                <a:ea typeface="굴림" panose="020B0600000101010101" pitchFamily="34" charset="-127"/>
              </a:rPr>
              <a:t>Pass-by-reference with pointer arguments</a:t>
            </a:r>
          </a:p>
          <a:p>
            <a:pPr lvl="1"/>
            <a:r>
              <a:rPr lang="en-US" altLang="ko-KR" sz="2300" dirty="0">
                <a:ea typeface="굴림" panose="020B0600000101010101" pitchFamily="34" charset="-127"/>
              </a:rPr>
              <a:t>Simulate pass-by-reference</a:t>
            </a:r>
          </a:p>
          <a:p>
            <a:pPr lvl="2"/>
            <a:r>
              <a:rPr lang="en-US" altLang="ko-KR" sz="2300" dirty="0">
                <a:ea typeface="굴림" panose="020B0600000101010101" pitchFamily="34" charset="-127"/>
              </a:rPr>
              <a:t>Use pointers and indirection operator</a:t>
            </a:r>
          </a:p>
          <a:p>
            <a:pPr lvl="1"/>
            <a:r>
              <a:rPr lang="en-US" altLang="ko-KR" sz="2300" dirty="0">
                <a:ea typeface="굴림" panose="020B0600000101010101" pitchFamily="34" charset="-127"/>
              </a:rPr>
              <a:t>Pass address of argument using </a:t>
            </a:r>
            <a:r>
              <a:rPr lang="en-US" altLang="ko-KR" sz="2300" b="1" dirty="0">
                <a:latin typeface="Courier New" panose="02070309020205020404" pitchFamily="49" charset="0"/>
                <a:ea typeface="굴림" panose="020B0600000101010101" pitchFamily="34" charset="-127"/>
              </a:rPr>
              <a:t>&amp;</a:t>
            </a:r>
            <a:r>
              <a:rPr lang="en-US" altLang="ko-KR" sz="2300" dirty="0">
                <a:ea typeface="굴림" panose="020B0600000101010101" pitchFamily="34" charset="-127"/>
              </a:rPr>
              <a:t> operator</a:t>
            </a:r>
          </a:p>
          <a:p>
            <a:pPr lvl="1"/>
            <a:r>
              <a:rPr lang="en-US" altLang="ko-KR" sz="2300" dirty="0">
                <a:ea typeface="굴림" panose="020B0600000101010101" pitchFamily="34" charset="-127"/>
              </a:rPr>
              <a:t>Arrays not passed with </a:t>
            </a:r>
            <a:r>
              <a:rPr lang="en-US" altLang="ko-KR" sz="2300" b="1" dirty="0">
                <a:latin typeface="Courier New" panose="02070309020205020404" pitchFamily="49" charset="0"/>
                <a:ea typeface="굴림" panose="020B0600000101010101" pitchFamily="34" charset="-127"/>
              </a:rPr>
              <a:t>&amp;</a:t>
            </a:r>
            <a:r>
              <a:rPr lang="en-US" altLang="ko-KR" sz="2300" dirty="0">
                <a:ea typeface="굴림" panose="020B0600000101010101" pitchFamily="34" charset="-127"/>
              </a:rPr>
              <a:t> because array name already pointer</a:t>
            </a:r>
          </a:p>
          <a:p>
            <a:pPr lvl="1"/>
            <a:r>
              <a:rPr lang="en-US" altLang="ko-KR" sz="2300" b="1" dirty="0">
                <a:latin typeface="Courier New" panose="02070309020205020404" pitchFamily="49" charset="0"/>
                <a:ea typeface="굴림" panose="020B0600000101010101" pitchFamily="34" charset="-127"/>
              </a:rPr>
              <a:t>*</a:t>
            </a:r>
            <a:r>
              <a:rPr lang="en-US" altLang="ko-KR" sz="2300" dirty="0">
                <a:ea typeface="굴림" panose="020B0600000101010101" pitchFamily="34" charset="-127"/>
              </a:rPr>
              <a:t> operator used as alias/nickname for variable inside of function</a:t>
            </a:r>
          </a:p>
        </p:txBody>
      </p:sp>
    </p:spTree>
    <p:extLst>
      <p:ext uri="{BB962C8B-B14F-4D97-AF65-F5344CB8AC3E}">
        <p14:creationId xmlns:p14="http://schemas.microsoft.com/office/powerpoint/2010/main" val="145498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6D1D4-95D4-7100-179B-25D2174C4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Call by Value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24579-7277-627D-13A9-28A0D13A96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How it works</a:t>
            </a:r>
          </a:p>
          <a:p>
            <a:r>
              <a:rPr lang="en-US" dirty="0"/>
              <a:t>A </a:t>
            </a:r>
            <a:r>
              <a:rPr lang="en-US" b="1" dirty="0"/>
              <a:t>copy</a:t>
            </a:r>
            <a:r>
              <a:rPr lang="en-US" dirty="0"/>
              <a:t> of the actual argument is passed to the function.</a:t>
            </a:r>
          </a:p>
          <a:p>
            <a:r>
              <a:rPr lang="en-US" dirty="0"/>
              <a:t>Changes made inside the function </a:t>
            </a:r>
            <a:r>
              <a:rPr lang="en-US" b="1" dirty="0"/>
              <a:t>DO NOT affect</a:t>
            </a:r>
            <a:r>
              <a:rPr lang="en-US" dirty="0"/>
              <a:t> the original variable.</a:t>
            </a:r>
          </a:p>
          <a:p>
            <a:endParaRPr lang="en-US" dirty="0"/>
          </a:p>
          <a:p>
            <a:r>
              <a:rPr lang="en-US" b="1" dirty="0"/>
              <a:t>When to use</a:t>
            </a:r>
          </a:p>
          <a:p>
            <a:r>
              <a:rPr lang="en-US" dirty="0"/>
              <a:t>The function does not modify the original variable.</a:t>
            </a:r>
          </a:p>
          <a:p>
            <a:r>
              <a:rPr lang="en-US" dirty="0"/>
              <a:t>Small data types (int, float, char) → copy is cheap.</a:t>
            </a:r>
          </a:p>
          <a:p>
            <a:r>
              <a:rPr lang="en-US" dirty="0"/>
              <a:t>Safety: caller’s data cannot accidentally be changed.</a:t>
            </a:r>
          </a:p>
          <a:p>
            <a:endParaRPr lang="en-MY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B097F-CA69-CAE9-E01C-9391982C30B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void fun(int x) {</a:t>
            </a:r>
          </a:p>
          <a:p>
            <a:pPr marL="0" indent="0">
              <a:buNone/>
            </a:pPr>
            <a:r>
              <a:rPr lang="en-US" dirty="0"/>
              <a:t>    x = 10;  // modifies only local copy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int a = 5;</a:t>
            </a:r>
          </a:p>
          <a:p>
            <a:pPr marL="0" indent="0">
              <a:buNone/>
            </a:pPr>
            <a:r>
              <a:rPr lang="en-US" dirty="0"/>
              <a:t>    fun(a);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a;  // still 5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70374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DF046-E73B-1741-5905-4A8803717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Call by Reference (int&amp;)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65E24-1718-CEC3-312B-B6C56F9A59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How it works</a:t>
            </a:r>
          </a:p>
          <a:p>
            <a:r>
              <a:rPr lang="en-US" dirty="0"/>
              <a:t>Function gets a direct </a:t>
            </a:r>
            <a:r>
              <a:rPr lang="en-US" b="1" dirty="0"/>
              <a:t>alias</a:t>
            </a:r>
            <a:r>
              <a:rPr lang="en-US" dirty="0"/>
              <a:t> (another name) for the original variable.</a:t>
            </a:r>
          </a:p>
          <a:p>
            <a:r>
              <a:rPr lang="en-US" dirty="0"/>
              <a:t>Any change made inside the function </a:t>
            </a:r>
            <a:r>
              <a:rPr lang="en-US" b="1" dirty="0"/>
              <a:t>WILL affect</a:t>
            </a:r>
            <a:r>
              <a:rPr lang="en-US" dirty="0"/>
              <a:t> the original variable.</a:t>
            </a:r>
          </a:p>
          <a:p>
            <a:endParaRPr lang="en-US" dirty="0"/>
          </a:p>
          <a:p>
            <a:r>
              <a:rPr lang="en-US" b="1" dirty="0"/>
              <a:t>When to use</a:t>
            </a:r>
          </a:p>
          <a:p>
            <a:r>
              <a:rPr lang="en-US" dirty="0"/>
              <a:t>The function modifies the caller’s variable.</a:t>
            </a:r>
          </a:p>
          <a:p>
            <a:r>
              <a:rPr lang="en-US" dirty="0"/>
              <a:t>When passing </a:t>
            </a:r>
            <a:r>
              <a:rPr lang="en-US" b="1" dirty="0"/>
              <a:t>large objects</a:t>
            </a:r>
            <a:r>
              <a:rPr lang="en-US" dirty="0"/>
              <a:t> (like vectors, strings, classes) to avoid copying.</a:t>
            </a:r>
          </a:p>
          <a:p>
            <a:r>
              <a:rPr lang="en-US" dirty="0"/>
              <a:t>When returning multiple outputs from a function.</a:t>
            </a:r>
          </a:p>
          <a:p>
            <a:endParaRPr lang="en-MY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389950-1968-367D-D472-83F1ED4DF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2893142" cy="4351338"/>
          </a:xfrm>
          <a:ln>
            <a:solidFill>
              <a:srgbClr val="FF0000"/>
            </a:solidFill>
          </a:ln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void fun(int &amp;x) {</a:t>
            </a:r>
          </a:p>
          <a:p>
            <a:pPr marL="0" indent="0">
              <a:buNone/>
            </a:pPr>
            <a:r>
              <a:rPr lang="en-US" dirty="0"/>
              <a:t>    x = 10;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int a = 5;</a:t>
            </a:r>
          </a:p>
          <a:p>
            <a:pPr marL="0" indent="0">
              <a:buNone/>
            </a:pPr>
            <a:r>
              <a:rPr lang="en-US" dirty="0"/>
              <a:t>    fun(a);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a;  // now 10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262ECD-92DE-D39B-9991-AB2F9E2EFFE5}"/>
              </a:ext>
            </a:extLst>
          </p:cNvPr>
          <p:cNvSpPr/>
          <p:nvPr/>
        </p:nvSpPr>
        <p:spPr>
          <a:xfrm>
            <a:off x="9338188" y="1825625"/>
            <a:ext cx="2566219" cy="43513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200" dirty="0">
                <a:solidFill>
                  <a:schemeClr val="tx1"/>
                </a:solidFill>
              </a:rPr>
              <a:t>void compute(int a, int b, int &amp;sum, int &amp;prod) {</a:t>
            </a:r>
          </a:p>
          <a:p>
            <a:r>
              <a:rPr lang="en-US" sz="2200" dirty="0">
                <a:solidFill>
                  <a:schemeClr val="tx1"/>
                </a:solidFill>
              </a:rPr>
              <a:t>    sum = a + b;</a:t>
            </a:r>
          </a:p>
          <a:p>
            <a:r>
              <a:rPr lang="en-US" sz="2200" dirty="0">
                <a:solidFill>
                  <a:schemeClr val="tx1"/>
                </a:solidFill>
              </a:rPr>
              <a:t>    prod = a * b;</a:t>
            </a:r>
          </a:p>
          <a:p>
            <a:r>
              <a:rPr lang="en-US" sz="2200" dirty="0">
                <a:solidFill>
                  <a:schemeClr val="tx1"/>
                </a:solidFill>
              </a:rPr>
              <a:t>}</a:t>
            </a:r>
          </a:p>
          <a:p>
            <a:endParaRPr lang="en-US" sz="2200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int x = 4, y = 5;</a:t>
            </a:r>
          </a:p>
          <a:p>
            <a:r>
              <a:rPr lang="en-US" sz="2200" dirty="0">
                <a:solidFill>
                  <a:schemeClr val="tx1"/>
                </a:solidFill>
              </a:rPr>
              <a:t>int s, p;</a:t>
            </a:r>
          </a:p>
          <a:p>
            <a:endParaRPr lang="en-US" sz="2200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compute(x, y, s, p);</a:t>
            </a:r>
          </a:p>
        </p:txBody>
      </p:sp>
    </p:spTree>
    <p:extLst>
      <p:ext uri="{BB962C8B-B14F-4D97-AF65-F5344CB8AC3E}">
        <p14:creationId xmlns:p14="http://schemas.microsoft.com/office/powerpoint/2010/main" val="1010409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A914D-04D3-49D3-9D56-BDECF1001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Call by Pointer (int*)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DB26C-A85A-C6B0-4300-7E0F34E544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How it works</a:t>
            </a:r>
          </a:p>
          <a:p>
            <a:r>
              <a:rPr lang="en-US" dirty="0"/>
              <a:t>You pass the </a:t>
            </a:r>
            <a:r>
              <a:rPr lang="en-US" b="1" dirty="0"/>
              <a:t>address</a:t>
            </a:r>
            <a:r>
              <a:rPr lang="en-US" dirty="0"/>
              <a:t> of a variable.</a:t>
            </a:r>
          </a:p>
          <a:p>
            <a:r>
              <a:rPr lang="en-US" dirty="0"/>
              <a:t>Function uses *pointer to access/modify the original variable.</a:t>
            </a:r>
          </a:p>
          <a:p>
            <a:r>
              <a:rPr lang="en-US" dirty="0"/>
              <a:t>Changes </a:t>
            </a:r>
            <a:r>
              <a:rPr lang="en-US" b="1" dirty="0"/>
              <a:t>affect the original variable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MY" dirty="0"/>
          </a:p>
          <a:p>
            <a:r>
              <a:rPr lang="en-US" b="1" dirty="0"/>
              <a:t>When to use</a:t>
            </a:r>
          </a:p>
          <a:p>
            <a:r>
              <a:rPr lang="en-US" dirty="0"/>
              <a:t>When you need to pass </a:t>
            </a:r>
            <a:r>
              <a:rPr lang="en-US" b="1" dirty="0"/>
              <a:t>null</a:t>
            </a:r>
            <a:r>
              <a:rPr lang="en-US" dirty="0"/>
              <a:t> (optional parameters).</a:t>
            </a:r>
          </a:p>
          <a:p>
            <a:r>
              <a:rPr lang="en-US" dirty="0"/>
              <a:t>When working with </a:t>
            </a:r>
            <a:r>
              <a:rPr lang="en-US" b="1" dirty="0"/>
              <a:t>dynamic memory</a:t>
            </a:r>
            <a:r>
              <a:rPr lang="en-US" dirty="0"/>
              <a:t>, arrays.</a:t>
            </a:r>
          </a:p>
          <a:p>
            <a:r>
              <a:rPr lang="en-US" dirty="0"/>
              <a:t>When interfacing with </a:t>
            </a:r>
            <a:r>
              <a:rPr lang="en-US" b="1" dirty="0"/>
              <a:t>C libraries</a:t>
            </a:r>
            <a:r>
              <a:rPr lang="en-US" dirty="0"/>
              <a:t> (C uses pointers, not references).</a:t>
            </a:r>
          </a:p>
          <a:p>
            <a:r>
              <a:rPr lang="en-US" dirty="0"/>
              <a:t>When you want to pass </a:t>
            </a:r>
            <a:r>
              <a:rPr lang="en-US" b="1" dirty="0"/>
              <a:t>multiple values</a:t>
            </a:r>
            <a:r>
              <a:rPr lang="en-US" dirty="0"/>
              <a:t> via pointers.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FC957-96CE-ED06-CCA8-7E23C273C2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void fun(int *x) {</a:t>
            </a:r>
          </a:p>
          <a:p>
            <a:pPr marL="0" indent="0">
              <a:buNone/>
            </a:pPr>
            <a:r>
              <a:rPr lang="en-US" dirty="0"/>
              <a:t>    *x = 10;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int a = 5;</a:t>
            </a:r>
          </a:p>
          <a:p>
            <a:pPr marL="0" indent="0">
              <a:buNone/>
            </a:pPr>
            <a:r>
              <a:rPr lang="en-US" dirty="0"/>
              <a:t>    fun(&amp;a);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a;  // now 10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17978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BDAF77B-27E6-999D-3502-51311CDA2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7067" y="816874"/>
            <a:ext cx="9357865" cy="1041901"/>
          </a:xfrm>
        </p:spPr>
        <p:txBody>
          <a:bodyPr>
            <a:normAutofit/>
          </a:bodyPr>
          <a:lstStyle/>
          <a:p>
            <a:r>
              <a:rPr lang="en-MY" sz="3700" dirty="0"/>
              <a:t>Parameter Passing: value vs reference vs pointer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B3297A0-16B0-5E0E-9C24-554986DCFB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52655" y="1862417"/>
            <a:ext cx="4483324" cy="41787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MY" sz="2000" dirty="0"/>
              <a:t>1. Pass by value (copy)</a:t>
            </a:r>
          </a:p>
          <a:p>
            <a:pPr marL="0" indent="0">
              <a:buNone/>
            </a:pPr>
            <a:r>
              <a:rPr lang="en-US" sz="2000" dirty="0"/>
              <a:t>void </a:t>
            </a:r>
            <a:r>
              <a:rPr lang="en-US" sz="2000" dirty="0" err="1"/>
              <a:t>increment_by_value</a:t>
            </a:r>
            <a:r>
              <a:rPr lang="en-US" sz="2000" dirty="0"/>
              <a:t>(int n) {</a:t>
            </a:r>
          </a:p>
          <a:p>
            <a:pPr marL="0" indent="0">
              <a:buNone/>
            </a:pPr>
            <a:r>
              <a:rPr lang="en-US" sz="2000" dirty="0"/>
              <a:t>    n = n + 1; // only local copy changes}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2. Pass by reference (modifies caller)</a:t>
            </a:r>
          </a:p>
          <a:p>
            <a:pPr marL="0" indent="0">
              <a:buNone/>
            </a:pPr>
            <a:r>
              <a:rPr lang="en-US" sz="2000" dirty="0"/>
              <a:t>void </a:t>
            </a:r>
            <a:r>
              <a:rPr lang="en-US" sz="2000" dirty="0" err="1"/>
              <a:t>increment_by_ref</a:t>
            </a:r>
            <a:r>
              <a:rPr lang="en-US" sz="2000" dirty="0"/>
              <a:t>(int &amp;n) {</a:t>
            </a:r>
          </a:p>
          <a:p>
            <a:pPr marL="0" indent="0">
              <a:buNone/>
            </a:pPr>
            <a:r>
              <a:rPr lang="en-US" sz="2000" dirty="0"/>
              <a:t>    n = n + 1; // original variable modified}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MY" sz="2000" dirty="0"/>
              <a:t>3. Pass by pointer (C-style)</a:t>
            </a:r>
          </a:p>
          <a:p>
            <a:pPr marL="0" indent="0">
              <a:buNone/>
            </a:pPr>
            <a:r>
              <a:rPr lang="en-US" sz="2000" dirty="0"/>
              <a:t>void </a:t>
            </a:r>
            <a:r>
              <a:rPr lang="en-US" sz="2000" dirty="0" err="1"/>
              <a:t>increment_by_ptr</a:t>
            </a:r>
            <a:r>
              <a:rPr lang="en-US" sz="2000" dirty="0"/>
              <a:t>(int *p) {</a:t>
            </a:r>
          </a:p>
          <a:p>
            <a:pPr marL="0" indent="0">
              <a:buNone/>
            </a:pPr>
            <a:r>
              <a:rPr lang="en-US" sz="2000" dirty="0"/>
              <a:t>    if (p) *p = *p + 1;}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477F298-098E-FEBE-443B-B981E71E8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2" y="1858775"/>
            <a:ext cx="5346043" cy="436403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MY" sz="2000" dirty="0"/>
              <a:t>Example showing all three:</a:t>
            </a:r>
          </a:p>
          <a:p>
            <a:pPr marL="0" indent="0">
              <a:buNone/>
            </a:pPr>
            <a:r>
              <a:rPr lang="en-MY" sz="2000" dirty="0"/>
              <a:t>#include &lt;iostream&gt;</a:t>
            </a:r>
          </a:p>
          <a:p>
            <a:pPr marL="0" indent="0">
              <a:buNone/>
            </a:pPr>
            <a:r>
              <a:rPr lang="en-MY" sz="2000" dirty="0"/>
              <a:t>using namespace std;</a:t>
            </a:r>
          </a:p>
          <a:p>
            <a:pPr marL="0" indent="0">
              <a:buNone/>
            </a:pPr>
            <a:r>
              <a:rPr lang="en-MY" sz="2000" dirty="0"/>
              <a:t>void </a:t>
            </a:r>
            <a:r>
              <a:rPr lang="en-MY" sz="2000" dirty="0" err="1"/>
              <a:t>pv</a:t>
            </a:r>
            <a:r>
              <a:rPr lang="en-MY" sz="2000" dirty="0"/>
              <a:t>(int n) { n++; }</a:t>
            </a:r>
          </a:p>
          <a:p>
            <a:pPr marL="0" indent="0">
              <a:buNone/>
            </a:pPr>
            <a:r>
              <a:rPr lang="en-MY" sz="2000" dirty="0"/>
              <a:t>void pr(int &amp;n) { n++; }</a:t>
            </a:r>
          </a:p>
          <a:p>
            <a:pPr marL="0" indent="0">
              <a:buNone/>
            </a:pPr>
            <a:r>
              <a:rPr lang="en-MY" sz="2000" dirty="0"/>
              <a:t>void pp(int *n) { if(n) (*n)++; }</a:t>
            </a:r>
          </a:p>
          <a:p>
            <a:pPr marL="0" indent="0">
              <a:buNone/>
            </a:pPr>
            <a:r>
              <a:rPr lang="en-MY" sz="2000" dirty="0"/>
              <a:t>int main() {</a:t>
            </a:r>
          </a:p>
          <a:p>
            <a:pPr marL="0" indent="0">
              <a:buNone/>
            </a:pPr>
            <a:r>
              <a:rPr lang="en-MY" sz="2000" dirty="0"/>
              <a:t>    int a = 5;</a:t>
            </a:r>
          </a:p>
          <a:p>
            <a:pPr marL="0" indent="0">
              <a:buNone/>
            </a:pPr>
            <a:r>
              <a:rPr lang="en-MY" sz="2000" dirty="0"/>
              <a:t>    </a:t>
            </a:r>
            <a:r>
              <a:rPr lang="en-MY" sz="2000" dirty="0" err="1"/>
              <a:t>pv</a:t>
            </a:r>
            <a:r>
              <a:rPr lang="en-MY" sz="2000" dirty="0"/>
              <a:t>(a); </a:t>
            </a:r>
            <a:r>
              <a:rPr lang="en-MY" sz="2000" dirty="0" err="1"/>
              <a:t>cout</a:t>
            </a:r>
            <a:r>
              <a:rPr lang="en-MY" sz="2000" dirty="0"/>
              <a:t> &lt;&lt; "after </a:t>
            </a:r>
            <a:r>
              <a:rPr lang="en-MY" sz="2000" dirty="0" err="1"/>
              <a:t>pv</a:t>
            </a:r>
            <a:r>
              <a:rPr lang="en-MY" sz="2000" dirty="0"/>
              <a:t>: " &lt;&lt; a &lt;&lt; '\n'; // 5</a:t>
            </a:r>
          </a:p>
          <a:p>
            <a:pPr marL="0" indent="0">
              <a:buNone/>
            </a:pPr>
            <a:r>
              <a:rPr lang="en-MY" sz="2000" dirty="0"/>
              <a:t>    pr(a); </a:t>
            </a:r>
            <a:r>
              <a:rPr lang="en-MY" sz="2000" dirty="0" err="1"/>
              <a:t>cout</a:t>
            </a:r>
            <a:r>
              <a:rPr lang="en-MY" sz="2000" dirty="0"/>
              <a:t> &lt;&lt; "after pr: " &lt;&lt; a &lt;&lt; '\n'; // 6</a:t>
            </a:r>
          </a:p>
          <a:p>
            <a:pPr marL="0" indent="0">
              <a:buNone/>
            </a:pPr>
            <a:r>
              <a:rPr lang="en-MY" sz="2000" dirty="0"/>
              <a:t>    pp(&amp;a); </a:t>
            </a:r>
            <a:r>
              <a:rPr lang="en-MY" sz="2000" dirty="0" err="1"/>
              <a:t>cout</a:t>
            </a:r>
            <a:r>
              <a:rPr lang="en-MY" sz="2000" dirty="0"/>
              <a:t> &lt;&lt; "after pp: " &lt;&lt; a &lt;&lt; '\n’; // 7</a:t>
            </a:r>
          </a:p>
          <a:p>
            <a:pPr marL="0" indent="0">
              <a:buNone/>
            </a:pPr>
            <a:r>
              <a:rPr lang="en-MY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0116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A0F6C-E687-8F28-A153-E8BF41B07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Pass number by value; result returned by </a:t>
            </a:r>
            <a:r>
              <a:rPr lang="en-US" dirty="0" err="1"/>
              <a:t>cubeByValue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C645A-6FE9-186A-7439-D403451BAF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</a:t>
            </a:r>
            <a:r>
              <a:rPr lang="en-US" dirty="0" err="1"/>
              <a:t>cubeByValue</a:t>
            </a:r>
            <a:r>
              <a:rPr lang="en-US" dirty="0"/>
              <a:t> returns the cube of the parameter</a:t>
            </a:r>
          </a:p>
          <a:p>
            <a:pPr marL="0" indent="0">
              <a:buNone/>
            </a:pPr>
            <a:r>
              <a:rPr lang="en-US" dirty="0"/>
              <a:t>int </a:t>
            </a:r>
            <a:r>
              <a:rPr lang="en-US" dirty="0" err="1"/>
              <a:t>cubeByValue</a:t>
            </a:r>
            <a:r>
              <a:rPr lang="en-US" dirty="0"/>
              <a:t>(int n)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n = n * n * n;   // compute cube</a:t>
            </a:r>
          </a:p>
          <a:p>
            <a:pPr marL="0" indent="0">
              <a:buNone/>
            </a:pPr>
            <a:r>
              <a:rPr lang="en-US" dirty="0"/>
              <a:t>    return n;        // return result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1BBD5-03A8-3354-893F-AE3343E596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int number = 5;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"The original value of number is " &lt;&lt; number;</a:t>
            </a:r>
          </a:p>
          <a:p>
            <a:pPr marL="0" indent="0">
              <a:buNone/>
            </a:pPr>
            <a:r>
              <a:rPr lang="en-US" dirty="0"/>
              <a:t>    // pass number by value to </a:t>
            </a:r>
            <a:r>
              <a:rPr lang="en-US" dirty="0" err="1"/>
              <a:t>cubeByValue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number = </a:t>
            </a:r>
            <a:r>
              <a:rPr lang="en-US" dirty="0" err="1"/>
              <a:t>cubeByValue</a:t>
            </a:r>
            <a:r>
              <a:rPr lang="en-US" dirty="0"/>
              <a:t>(number);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"\</a:t>
            </a:r>
            <a:r>
              <a:rPr lang="en-US" dirty="0" err="1"/>
              <a:t>nThe</a:t>
            </a:r>
            <a:r>
              <a:rPr lang="en-US" dirty="0"/>
              <a:t> new value of number is " &lt;&lt; number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906053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45A66-59C3-C5B0-4905-1B1FF54F4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a function by reference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3CAC4-0013-0C91-36A0-D10C6257AB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MY" dirty="0"/>
              <a:t>#include &lt;iostream&gt;</a:t>
            </a:r>
          </a:p>
          <a:p>
            <a:pPr marL="0" indent="0">
              <a:buNone/>
            </a:pPr>
            <a:r>
              <a:rPr lang="en-MY" dirty="0"/>
              <a:t>using namespace std;</a:t>
            </a:r>
          </a:p>
          <a:p>
            <a:pPr marL="0" indent="0">
              <a:buNone/>
            </a:pPr>
            <a:endParaRPr lang="en-MY" dirty="0"/>
          </a:p>
          <a:p>
            <a:pPr marL="0" indent="0">
              <a:buNone/>
            </a:pPr>
            <a:r>
              <a:rPr lang="en-MY" dirty="0"/>
              <a:t>// calculate cube of *</a:t>
            </a:r>
            <a:r>
              <a:rPr lang="en-MY" dirty="0" err="1"/>
              <a:t>nPtr</a:t>
            </a:r>
            <a:r>
              <a:rPr lang="en-MY" dirty="0"/>
              <a:t>; modifies variable number in main</a:t>
            </a:r>
          </a:p>
          <a:p>
            <a:pPr marL="0" indent="0">
              <a:buNone/>
            </a:pPr>
            <a:r>
              <a:rPr lang="en-MY" dirty="0"/>
              <a:t>void </a:t>
            </a:r>
            <a:r>
              <a:rPr lang="en-MY" dirty="0" err="1"/>
              <a:t>cubeByReference</a:t>
            </a:r>
            <a:r>
              <a:rPr lang="en-MY" dirty="0"/>
              <a:t>(int *</a:t>
            </a:r>
            <a:r>
              <a:rPr lang="en-MY" dirty="0" err="1"/>
              <a:t>nPtr</a:t>
            </a:r>
            <a:r>
              <a:rPr lang="en-MY" dirty="0"/>
              <a:t>)</a:t>
            </a:r>
          </a:p>
          <a:p>
            <a:pPr marL="0" indent="0">
              <a:buNone/>
            </a:pPr>
            <a:r>
              <a:rPr lang="en-MY" dirty="0"/>
              <a:t>{</a:t>
            </a:r>
          </a:p>
          <a:p>
            <a:pPr marL="0" indent="0">
              <a:buNone/>
            </a:pPr>
            <a:r>
              <a:rPr lang="en-MY" dirty="0"/>
              <a:t>    *</a:t>
            </a:r>
            <a:r>
              <a:rPr lang="en-MY" dirty="0" err="1"/>
              <a:t>nPtr</a:t>
            </a:r>
            <a:r>
              <a:rPr lang="en-MY" dirty="0"/>
              <a:t> = *</a:t>
            </a:r>
            <a:r>
              <a:rPr lang="en-MY" dirty="0" err="1"/>
              <a:t>nPtr</a:t>
            </a:r>
            <a:r>
              <a:rPr lang="en-MY" dirty="0"/>
              <a:t> * *</a:t>
            </a:r>
            <a:r>
              <a:rPr lang="en-MY" dirty="0" err="1"/>
              <a:t>nPtr</a:t>
            </a:r>
            <a:r>
              <a:rPr lang="en-MY" dirty="0"/>
              <a:t> * *</a:t>
            </a:r>
            <a:r>
              <a:rPr lang="en-MY" dirty="0" err="1"/>
              <a:t>nPtr</a:t>
            </a:r>
            <a:r>
              <a:rPr lang="en-MY" dirty="0"/>
              <a:t>;  // cube the value</a:t>
            </a:r>
          </a:p>
          <a:p>
            <a:pPr marL="0" indent="0">
              <a:buNone/>
            </a:pPr>
            <a:r>
              <a:rPr lang="en-MY" dirty="0"/>
              <a:t>}</a:t>
            </a:r>
          </a:p>
          <a:p>
            <a:pPr marL="0" indent="0">
              <a:buNone/>
            </a:pPr>
            <a:endParaRPr lang="en-MY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DBF6BD-EFF0-1A20-83C3-B73BB240C21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MY" dirty="0"/>
              <a:t>int main() {</a:t>
            </a:r>
          </a:p>
          <a:p>
            <a:pPr marL="0" indent="0">
              <a:buNone/>
            </a:pPr>
            <a:r>
              <a:rPr lang="en-MY" dirty="0"/>
              <a:t>    int number = 5;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cout</a:t>
            </a:r>
            <a:r>
              <a:rPr lang="en-MY" dirty="0"/>
              <a:t> &lt;&lt; "The original value of number is " &lt;&lt; number;</a:t>
            </a:r>
          </a:p>
          <a:p>
            <a:pPr marL="0" indent="0">
              <a:buNone/>
            </a:pPr>
            <a:r>
              <a:rPr lang="en-MY" dirty="0"/>
              <a:t>    // pass address of number to </a:t>
            </a:r>
            <a:r>
              <a:rPr lang="en-MY" dirty="0" err="1"/>
              <a:t>cubeByReference</a:t>
            </a:r>
            <a:endParaRPr lang="en-MY" dirty="0"/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cubeByReference</a:t>
            </a:r>
            <a:r>
              <a:rPr lang="en-MY" dirty="0"/>
              <a:t>(&amp;number);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cout</a:t>
            </a:r>
            <a:r>
              <a:rPr lang="en-MY" dirty="0"/>
              <a:t> &lt;&lt; "\</a:t>
            </a:r>
            <a:r>
              <a:rPr lang="en-MY" dirty="0" err="1"/>
              <a:t>nThe</a:t>
            </a:r>
            <a:r>
              <a:rPr lang="en-MY" dirty="0"/>
              <a:t> new value of number is " &lt;&lt; number &lt;&lt; </a:t>
            </a:r>
            <a:r>
              <a:rPr lang="en-MY" dirty="0" err="1"/>
              <a:t>endl</a:t>
            </a:r>
            <a:r>
              <a:rPr lang="en-MY" dirty="0"/>
              <a:t>;</a:t>
            </a:r>
          </a:p>
          <a:p>
            <a:pPr marL="0" indent="0">
              <a:buNone/>
            </a:pPr>
            <a:r>
              <a:rPr lang="en-MY" dirty="0"/>
              <a:t>    return 0; }  // indicates successful termination</a:t>
            </a:r>
          </a:p>
          <a:p>
            <a:pPr marL="0" indent="0">
              <a:buNone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423134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2D1E6-E2B6-1B25-351D-96C019200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(Lower to Upper Case)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223E2-A3B3-9EC9-90DF-F9E12BFBE2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MY" dirty="0"/>
              <a:t>#include &lt;iostream&gt;</a:t>
            </a:r>
          </a:p>
          <a:p>
            <a:pPr marL="0" indent="0">
              <a:buNone/>
            </a:pPr>
            <a:r>
              <a:rPr lang="en-MY" dirty="0"/>
              <a:t>#include &lt;&lt;</a:t>
            </a:r>
            <a:r>
              <a:rPr lang="en-MY" dirty="0" err="1"/>
              <a:t>cctype</a:t>
            </a:r>
            <a:r>
              <a:rPr lang="en-MY"/>
              <a:t>&gt;</a:t>
            </a:r>
            <a:endParaRPr lang="en-MY" dirty="0"/>
          </a:p>
          <a:p>
            <a:pPr marL="0" indent="0">
              <a:buNone/>
            </a:pPr>
            <a:r>
              <a:rPr lang="en-MY" dirty="0"/>
              <a:t>using namespace std;</a:t>
            </a:r>
          </a:p>
          <a:p>
            <a:pPr marL="0" indent="0">
              <a:buNone/>
            </a:pPr>
            <a:r>
              <a:rPr lang="en-MY" dirty="0"/>
              <a:t>// convert string to uppercase letters</a:t>
            </a:r>
          </a:p>
          <a:p>
            <a:pPr marL="0" indent="0">
              <a:buNone/>
            </a:pPr>
            <a:r>
              <a:rPr lang="en-MY" dirty="0"/>
              <a:t>void </a:t>
            </a:r>
            <a:r>
              <a:rPr lang="en-MY" dirty="0" err="1"/>
              <a:t>convertToUppercase</a:t>
            </a:r>
            <a:r>
              <a:rPr lang="en-MY" dirty="0"/>
              <a:t>(char *</a:t>
            </a:r>
            <a:r>
              <a:rPr lang="en-MY" dirty="0" err="1"/>
              <a:t>sPtr</a:t>
            </a:r>
            <a:r>
              <a:rPr lang="en-MY" dirty="0"/>
              <a:t>) {</a:t>
            </a:r>
          </a:p>
          <a:p>
            <a:pPr marL="0" indent="0">
              <a:buNone/>
            </a:pPr>
            <a:r>
              <a:rPr lang="en-MY" dirty="0"/>
              <a:t>    while (*</a:t>
            </a:r>
            <a:r>
              <a:rPr lang="en-MY" dirty="0" err="1"/>
              <a:t>sPtr</a:t>
            </a:r>
            <a:r>
              <a:rPr lang="en-MY" dirty="0"/>
              <a:t> != '\0') {   // current character is not '\0'</a:t>
            </a:r>
          </a:p>
          <a:p>
            <a:pPr marL="0" indent="0">
              <a:buNone/>
            </a:pPr>
            <a:r>
              <a:rPr lang="en-MY" dirty="0"/>
              <a:t>        if (</a:t>
            </a:r>
            <a:r>
              <a:rPr lang="en-MY" dirty="0" err="1"/>
              <a:t>islower</a:t>
            </a:r>
            <a:r>
              <a:rPr lang="en-MY" dirty="0"/>
              <a:t>(*</a:t>
            </a:r>
            <a:r>
              <a:rPr lang="en-MY" dirty="0" err="1"/>
              <a:t>sPtr</a:t>
            </a:r>
            <a:r>
              <a:rPr lang="en-MY" dirty="0"/>
              <a:t>))          // if character is lowercase,</a:t>
            </a:r>
          </a:p>
          <a:p>
            <a:pPr marL="0" indent="0">
              <a:buNone/>
            </a:pPr>
            <a:r>
              <a:rPr lang="en-MY" dirty="0"/>
              <a:t>            *</a:t>
            </a:r>
            <a:r>
              <a:rPr lang="en-MY" dirty="0" err="1"/>
              <a:t>sPtr</a:t>
            </a:r>
            <a:r>
              <a:rPr lang="en-MY" dirty="0"/>
              <a:t> = </a:t>
            </a:r>
            <a:r>
              <a:rPr lang="en-MY" dirty="0" err="1"/>
              <a:t>toupper</a:t>
            </a:r>
            <a:r>
              <a:rPr lang="en-MY" dirty="0"/>
              <a:t>(*</a:t>
            </a:r>
            <a:r>
              <a:rPr lang="en-MY" dirty="0" err="1"/>
              <a:t>sPtr</a:t>
            </a:r>
            <a:r>
              <a:rPr lang="en-MY" dirty="0"/>
              <a:t>);  // convert to uppercase</a:t>
            </a:r>
          </a:p>
          <a:p>
            <a:pPr marL="0" indent="0">
              <a:buNone/>
            </a:pPr>
            <a:r>
              <a:rPr lang="en-MY" dirty="0"/>
              <a:t>        ++</a:t>
            </a:r>
            <a:r>
              <a:rPr lang="en-MY" dirty="0" err="1"/>
              <a:t>sPtr</a:t>
            </a:r>
            <a:r>
              <a:rPr lang="en-MY" dirty="0"/>
              <a:t>;  // move to next character in string</a:t>
            </a:r>
          </a:p>
          <a:p>
            <a:pPr marL="0" indent="0">
              <a:buNone/>
            </a:pPr>
            <a:r>
              <a:rPr lang="en-MY" dirty="0"/>
              <a:t>    } 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0C3E5B-767B-D982-B1FF-F8F35402CC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MY" dirty="0"/>
              <a:t>int main() {</a:t>
            </a:r>
          </a:p>
          <a:p>
            <a:pPr marL="0" indent="0">
              <a:buNone/>
            </a:pPr>
            <a:r>
              <a:rPr lang="en-MY" dirty="0"/>
              <a:t>    char phrase[] = "characters and $32.98";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cout</a:t>
            </a:r>
            <a:r>
              <a:rPr lang="en-MY" dirty="0"/>
              <a:t> &lt;&lt; "The phrase before conversion is: " &lt;&lt; phrase;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convertToUppercase</a:t>
            </a:r>
            <a:r>
              <a:rPr lang="en-MY" dirty="0"/>
              <a:t>(phrase);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cout</a:t>
            </a:r>
            <a:r>
              <a:rPr lang="en-MY" dirty="0"/>
              <a:t> &lt;&lt; "\</a:t>
            </a:r>
            <a:r>
              <a:rPr lang="en-MY" dirty="0" err="1"/>
              <a:t>nThe</a:t>
            </a:r>
            <a:r>
              <a:rPr lang="en-MY" dirty="0"/>
              <a:t> phrase after conversion is:  " </a:t>
            </a:r>
          </a:p>
          <a:p>
            <a:pPr marL="0" indent="0">
              <a:buNone/>
            </a:pPr>
            <a:r>
              <a:rPr lang="en-MY" dirty="0"/>
              <a:t>         &lt;&lt; phrase &lt;&lt; </a:t>
            </a:r>
            <a:r>
              <a:rPr lang="en-MY" dirty="0" err="1"/>
              <a:t>endl</a:t>
            </a:r>
            <a:r>
              <a:rPr lang="en-MY" dirty="0"/>
              <a:t>;</a:t>
            </a:r>
          </a:p>
          <a:p>
            <a:pPr marL="0" indent="0">
              <a:buNone/>
            </a:pPr>
            <a:r>
              <a:rPr lang="en-MY" dirty="0"/>
              <a:t>    return 0;  // indicates successful termination</a:t>
            </a:r>
          </a:p>
          <a:p>
            <a:pPr marL="0" indent="0">
              <a:buNone/>
            </a:pPr>
            <a:r>
              <a:rPr lang="en-MY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56347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F33DD-334D-36A4-CFBA-17A061976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err="1"/>
              <a:t>sizeof</a:t>
            </a:r>
            <a:r>
              <a:rPr lang="en-MY" dirty="0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16F0E-3429-647C-2D64-066E82CDEB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 err="1">
                <a:latin typeface="Courier New" panose="02070309020205020404" pitchFamily="49" charset="0"/>
                <a:ea typeface="굴림" panose="020B0600000101010101" pitchFamily="34" charset="-127"/>
              </a:rPr>
              <a:t>sizeof</a:t>
            </a:r>
            <a:endParaRPr lang="en-US" altLang="ko-KR" b="1" dirty="0"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 lvl="1"/>
            <a:r>
              <a:rPr lang="en-US" altLang="ko-KR" dirty="0">
                <a:ea typeface="굴림" panose="020B0600000101010101" pitchFamily="34" charset="-127"/>
              </a:rPr>
              <a:t>Unary operator returns size of operand in bytes</a:t>
            </a:r>
          </a:p>
          <a:p>
            <a:pPr lvl="1"/>
            <a:r>
              <a:rPr lang="en-US" altLang="ko-KR" dirty="0">
                <a:ea typeface="굴림" panose="020B0600000101010101" pitchFamily="34" charset="-127"/>
              </a:rPr>
              <a:t>For arrays, </a:t>
            </a:r>
            <a:r>
              <a:rPr lang="en-US" altLang="ko-KR" b="1" dirty="0" err="1">
                <a:latin typeface="Courier New" panose="02070309020205020404" pitchFamily="49" charset="0"/>
                <a:ea typeface="굴림" panose="020B0600000101010101" pitchFamily="34" charset="-127"/>
              </a:rPr>
              <a:t>sizeof</a:t>
            </a:r>
            <a:r>
              <a:rPr lang="en-US" altLang="ko-KR" dirty="0">
                <a:ea typeface="굴림" panose="020B0600000101010101" pitchFamily="34" charset="-127"/>
              </a:rPr>
              <a:t> returns</a:t>
            </a:r>
          </a:p>
          <a:p>
            <a:pPr lvl="3">
              <a:buNone/>
            </a:pPr>
            <a:r>
              <a:rPr lang="en-US" altLang="ko-KR" dirty="0">
                <a:ea typeface="굴림" panose="020B0600000101010101" pitchFamily="34" charset="-127"/>
              </a:rPr>
              <a:t>( size of 1 element ) * ( number of elements )</a:t>
            </a:r>
          </a:p>
          <a:p>
            <a:pPr lvl="1"/>
            <a:r>
              <a:rPr lang="en-US" altLang="ko-KR" dirty="0">
                <a:ea typeface="굴림" panose="020B0600000101010101" pitchFamily="34" charset="-127"/>
              </a:rPr>
              <a:t>If </a:t>
            </a:r>
            <a:r>
              <a:rPr lang="en-US" altLang="ko-KR" b="1" dirty="0" err="1">
                <a:latin typeface="Courier New" panose="02070309020205020404" pitchFamily="49" charset="0"/>
                <a:ea typeface="굴림" panose="020B0600000101010101" pitchFamily="34" charset="-127"/>
              </a:rPr>
              <a:t>sizeof</a:t>
            </a:r>
            <a:r>
              <a:rPr lang="en-US" altLang="ko-KR" b="1" dirty="0">
                <a:latin typeface="Courier New" panose="02070309020205020404" pitchFamily="49" charset="0"/>
                <a:ea typeface="굴림" panose="020B0600000101010101" pitchFamily="34" charset="-127"/>
              </a:rPr>
              <a:t>( int ) = 4</a:t>
            </a:r>
            <a:r>
              <a:rPr lang="en-US" altLang="ko-KR" dirty="0">
                <a:ea typeface="굴림" panose="020B0600000101010101" pitchFamily="34" charset="-127"/>
              </a:rPr>
              <a:t>, then</a:t>
            </a:r>
          </a:p>
          <a:p>
            <a:pPr lvl="4">
              <a:buNone/>
            </a:pPr>
            <a:r>
              <a:rPr lang="en-US" altLang="ko-KR" b="1" dirty="0">
                <a:latin typeface="Courier New" panose="02070309020205020404" pitchFamily="49" charset="0"/>
                <a:ea typeface="굴림" panose="020B0600000101010101" pitchFamily="34" charset="-127"/>
              </a:rPr>
              <a:t>int </a:t>
            </a:r>
            <a:r>
              <a:rPr lang="en-US" altLang="ko-KR" b="1" dirty="0" err="1">
                <a:latin typeface="Courier New" panose="02070309020205020404" pitchFamily="49" charset="0"/>
                <a:ea typeface="굴림" panose="020B0600000101010101" pitchFamily="34" charset="-127"/>
              </a:rPr>
              <a:t>myArray</a:t>
            </a:r>
            <a:r>
              <a:rPr lang="en-US" altLang="ko-KR" b="1" dirty="0">
                <a:latin typeface="Courier New" panose="02070309020205020404" pitchFamily="49" charset="0"/>
                <a:ea typeface="굴림" panose="020B0600000101010101" pitchFamily="34" charset="-127"/>
              </a:rPr>
              <a:t>[10];</a:t>
            </a:r>
          </a:p>
          <a:p>
            <a:pPr lvl="4">
              <a:buNone/>
            </a:pPr>
            <a:r>
              <a:rPr lang="en-US" altLang="ko-KR" b="1" dirty="0" err="1">
                <a:latin typeface="Courier New" panose="02070309020205020404" pitchFamily="49" charset="0"/>
                <a:ea typeface="굴림" panose="020B0600000101010101" pitchFamily="34" charset="-127"/>
              </a:rPr>
              <a:t>cout</a:t>
            </a:r>
            <a:r>
              <a:rPr lang="en-US" altLang="ko-KR" b="1" dirty="0">
                <a:latin typeface="Courier New" panose="02070309020205020404" pitchFamily="49" charset="0"/>
                <a:ea typeface="굴림" panose="020B0600000101010101" pitchFamily="34" charset="-127"/>
              </a:rPr>
              <a:t> &lt;&lt; </a:t>
            </a:r>
            <a:r>
              <a:rPr lang="en-US" altLang="ko-KR" b="1" dirty="0" err="1">
                <a:latin typeface="Courier New" panose="02070309020205020404" pitchFamily="49" charset="0"/>
                <a:ea typeface="굴림" panose="020B0600000101010101" pitchFamily="34" charset="-127"/>
              </a:rPr>
              <a:t>sizeof</a:t>
            </a:r>
            <a:r>
              <a:rPr lang="en-US" altLang="ko-KR" b="1" dirty="0">
                <a:latin typeface="Courier New" panose="02070309020205020404" pitchFamily="49" charset="0"/>
                <a:ea typeface="굴림" panose="020B0600000101010101" pitchFamily="34" charset="-127"/>
              </a:rPr>
              <a:t>(</a:t>
            </a:r>
            <a:r>
              <a:rPr lang="en-US" altLang="ko-KR" b="1" dirty="0" err="1">
                <a:latin typeface="Courier New" panose="02070309020205020404" pitchFamily="49" charset="0"/>
                <a:ea typeface="굴림" panose="020B0600000101010101" pitchFamily="34" charset="-127"/>
              </a:rPr>
              <a:t>myArray</a:t>
            </a:r>
            <a:r>
              <a:rPr lang="en-US" altLang="ko-KR" b="1" dirty="0">
                <a:latin typeface="Courier New" panose="02070309020205020404" pitchFamily="49" charset="0"/>
                <a:ea typeface="굴림" panose="020B0600000101010101" pitchFamily="34" charset="-127"/>
              </a:rPr>
              <a:t>);</a:t>
            </a:r>
          </a:p>
          <a:p>
            <a:pPr lvl="1">
              <a:buNone/>
            </a:pPr>
            <a:r>
              <a:rPr lang="en-US" altLang="ko-KR" dirty="0">
                <a:ea typeface="굴림" panose="020B0600000101010101" pitchFamily="34" charset="-127"/>
              </a:rPr>
              <a:t>     will print 40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5C8E7-2C3B-A503-EF0C-3B38D5231E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altLang="ko-KR" b="1" dirty="0" err="1">
                <a:latin typeface="Courier New" panose="02070309020205020404" pitchFamily="49" charset="0"/>
                <a:ea typeface="굴림" panose="020B0600000101010101" pitchFamily="34" charset="-127"/>
              </a:rPr>
              <a:t>sizeof</a:t>
            </a:r>
            <a:r>
              <a:rPr lang="en-US" altLang="ko-KR" dirty="0">
                <a:ea typeface="굴림" panose="020B0600000101010101" pitchFamily="34" charset="-127"/>
              </a:rPr>
              <a:t> can be used with</a:t>
            </a:r>
          </a:p>
          <a:p>
            <a:pPr lvl="1"/>
            <a:r>
              <a:rPr lang="en-US" altLang="ko-KR" dirty="0">
                <a:ea typeface="굴림" panose="020B0600000101010101" pitchFamily="34" charset="-127"/>
              </a:rPr>
              <a:t>Variable names</a:t>
            </a:r>
          </a:p>
          <a:p>
            <a:pPr lvl="1"/>
            <a:r>
              <a:rPr lang="en-US" altLang="ko-KR" dirty="0">
                <a:ea typeface="굴림" panose="020B0600000101010101" pitchFamily="34" charset="-127"/>
              </a:rPr>
              <a:t>Type names</a:t>
            </a:r>
          </a:p>
          <a:p>
            <a:pPr lvl="1"/>
            <a:r>
              <a:rPr lang="en-US" altLang="ko-KR" dirty="0">
                <a:ea typeface="굴림" panose="020B0600000101010101" pitchFamily="34" charset="-127"/>
              </a:rPr>
              <a:t>Constant values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082892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C7143-40F8-591B-E733-5A220780F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err="1"/>
              <a:t>sizeof</a:t>
            </a:r>
            <a:r>
              <a:rPr lang="en-MY" dirty="0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7B9DB-4529-0D8C-7C36-0D076F911D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100" dirty="0"/>
              <a:t>// Fig. 5.16: fig05_16.cpp</a:t>
            </a:r>
          </a:p>
          <a:p>
            <a:pPr marL="0" indent="0">
              <a:buNone/>
            </a:pPr>
            <a:r>
              <a:rPr lang="en-US" sz="2100" dirty="0"/>
              <a:t>// </a:t>
            </a:r>
            <a:r>
              <a:rPr lang="en-US" sz="2100" dirty="0" err="1"/>
              <a:t>Sizeof</a:t>
            </a:r>
            <a:r>
              <a:rPr lang="en-US" sz="2100" dirty="0"/>
              <a:t> operator when used on an array name</a:t>
            </a:r>
          </a:p>
          <a:p>
            <a:pPr marL="0" indent="0">
              <a:buNone/>
            </a:pPr>
            <a:r>
              <a:rPr lang="en-US" sz="2100" dirty="0"/>
              <a:t>// returns the number of bytes in the array.</a:t>
            </a:r>
          </a:p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MY" dirty="0"/>
              <a:t>using namespace std;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// return size of </a:t>
            </a:r>
            <a:r>
              <a:rPr lang="en-US" dirty="0" err="1"/>
              <a:t>ptr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size_t</a:t>
            </a:r>
            <a:r>
              <a:rPr lang="en-US" dirty="0"/>
              <a:t> </a:t>
            </a:r>
            <a:r>
              <a:rPr lang="en-US" dirty="0" err="1"/>
              <a:t>getSize</a:t>
            </a:r>
            <a:r>
              <a:rPr lang="en-US" dirty="0"/>
              <a:t>(double *</a:t>
            </a:r>
            <a:r>
              <a:rPr lang="en-US" dirty="0" err="1"/>
              <a:t>ptr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return 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ptr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04E384-13E3-68F3-C61E-88E9DDC2F1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double array[20];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"The number of bytes in the array is "</a:t>
            </a:r>
          </a:p>
          <a:p>
            <a:pPr marL="0" indent="0">
              <a:buNone/>
            </a:pPr>
            <a:r>
              <a:rPr lang="en-US" dirty="0"/>
              <a:t>         &lt;&lt; </a:t>
            </a:r>
            <a:r>
              <a:rPr lang="en-US" dirty="0" err="1"/>
              <a:t>sizeof</a:t>
            </a:r>
            <a:r>
              <a:rPr lang="en-US" dirty="0"/>
              <a:t>(array);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"\</a:t>
            </a:r>
            <a:r>
              <a:rPr lang="en-US" dirty="0" err="1"/>
              <a:t>nThe</a:t>
            </a:r>
            <a:r>
              <a:rPr lang="en-US" dirty="0"/>
              <a:t> number of bytes returned by </a:t>
            </a:r>
            <a:r>
              <a:rPr lang="en-US" dirty="0" err="1"/>
              <a:t>getSize</a:t>
            </a:r>
            <a:r>
              <a:rPr lang="en-US" dirty="0"/>
              <a:t> is "</a:t>
            </a:r>
          </a:p>
          <a:p>
            <a:pPr marL="0" indent="0">
              <a:buNone/>
            </a:pPr>
            <a:r>
              <a:rPr lang="en-US" dirty="0"/>
              <a:t>         &lt;&lt; </a:t>
            </a:r>
            <a:r>
              <a:rPr lang="en-US" dirty="0" err="1"/>
              <a:t>getSize</a:t>
            </a:r>
            <a:r>
              <a:rPr lang="en-US" dirty="0"/>
              <a:t>(array)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return 0;  // indicates successful termination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9126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DB383F7D-0026-A16B-2884-6A4544A26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ko-KR" sz="2600" dirty="0">
                <a:ea typeface="굴림" panose="020B0600000101010101" pitchFamily="34" charset="-127"/>
              </a:rPr>
              <a:t>Pointer arithmetic</a:t>
            </a:r>
          </a:p>
          <a:p>
            <a:pPr lvl="1" eaLnBrk="1" hangingPunct="1"/>
            <a:r>
              <a:rPr lang="en-US" altLang="ko-KR" sz="2000" dirty="0">
                <a:ea typeface="굴림" panose="020B0600000101010101" pitchFamily="34" charset="-127"/>
              </a:rPr>
              <a:t>Increment/decrement pointer  </a:t>
            </a:r>
            <a:r>
              <a:rPr lang="en-US" altLang="ko-KR" sz="2000" b="1" dirty="0">
                <a:latin typeface="Courier New" panose="02070309020205020404" pitchFamily="49" charset="0"/>
                <a:ea typeface="굴림" panose="020B0600000101010101" pitchFamily="34" charset="-127"/>
              </a:rPr>
              <a:t>(++</a:t>
            </a:r>
            <a:r>
              <a:rPr lang="en-US" altLang="ko-KR" sz="2000" dirty="0">
                <a:ea typeface="굴림" panose="020B0600000101010101" pitchFamily="34" charset="-127"/>
              </a:rPr>
              <a:t> or </a:t>
            </a:r>
            <a:r>
              <a:rPr lang="en-US" altLang="ko-KR" sz="2000" b="1" dirty="0">
                <a:latin typeface="Courier New" panose="02070309020205020404" pitchFamily="49" charset="0"/>
                <a:ea typeface="굴림" panose="020B0600000101010101" pitchFamily="34" charset="-127"/>
              </a:rPr>
              <a:t>--</a:t>
            </a:r>
            <a:r>
              <a:rPr lang="en-US" altLang="ko-KR" sz="2000" dirty="0">
                <a:ea typeface="굴림" panose="020B0600000101010101" pitchFamily="34" charset="-127"/>
              </a:rPr>
              <a:t>)</a:t>
            </a:r>
          </a:p>
          <a:p>
            <a:pPr lvl="1" eaLnBrk="1" hangingPunct="1"/>
            <a:r>
              <a:rPr lang="en-US" altLang="ko-KR" sz="2000" dirty="0">
                <a:ea typeface="굴림" panose="020B0600000101010101" pitchFamily="34" charset="-127"/>
              </a:rPr>
              <a:t>Add/subtract an integer to/from a pointer( </a:t>
            </a:r>
            <a:r>
              <a:rPr lang="en-US" altLang="ko-KR" sz="2000" b="1" dirty="0">
                <a:latin typeface="Courier New" panose="02070309020205020404" pitchFamily="49" charset="0"/>
                <a:ea typeface="굴림" panose="020B0600000101010101" pitchFamily="34" charset="-127"/>
              </a:rPr>
              <a:t>+</a:t>
            </a:r>
            <a:r>
              <a:rPr lang="en-US" altLang="ko-KR" sz="2000" dirty="0">
                <a:ea typeface="굴림" panose="020B0600000101010101" pitchFamily="34" charset="-127"/>
              </a:rPr>
              <a:t> or </a:t>
            </a:r>
            <a:r>
              <a:rPr lang="en-US" altLang="ko-KR" sz="2000" b="1" dirty="0">
                <a:latin typeface="Courier New" panose="02070309020205020404" pitchFamily="49" charset="0"/>
                <a:ea typeface="굴림" panose="020B0600000101010101" pitchFamily="34" charset="-127"/>
              </a:rPr>
              <a:t>+=</a:t>
            </a:r>
            <a:r>
              <a:rPr lang="en-US" altLang="ko-KR" sz="2000" dirty="0">
                <a:ea typeface="굴림" panose="020B0600000101010101" pitchFamily="34" charset="-127"/>
              </a:rPr>
              <a:t> , </a:t>
            </a:r>
            <a:r>
              <a:rPr lang="en-US" altLang="ko-KR" sz="2000" b="1" dirty="0">
                <a:latin typeface="Courier New" panose="02070309020205020404" pitchFamily="49" charset="0"/>
                <a:ea typeface="굴림" panose="020B0600000101010101" pitchFamily="34" charset="-127"/>
              </a:rPr>
              <a:t>-</a:t>
            </a:r>
            <a:r>
              <a:rPr lang="en-US" altLang="ko-KR" sz="2000" dirty="0">
                <a:ea typeface="굴림" panose="020B0600000101010101" pitchFamily="34" charset="-127"/>
              </a:rPr>
              <a:t> or </a:t>
            </a:r>
            <a:r>
              <a:rPr lang="en-US" altLang="ko-KR" sz="2000" b="1" dirty="0">
                <a:latin typeface="Courier New" panose="02070309020205020404" pitchFamily="49" charset="0"/>
                <a:ea typeface="굴림" panose="020B0600000101010101" pitchFamily="34" charset="-127"/>
              </a:rPr>
              <a:t>-=</a:t>
            </a:r>
            <a:r>
              <a:rPr lang="en-US" altLang="ko-KR" sz="2000" dirty="0">
                <a:ea typeface="굴림" panose="020B0600000101010101" pitchFamily="34" charset="-127"/>
              </a:rPr>
              <a:t>)</a:t>
            </a:r>
          </a:p>
          <a:p>
            <a:pPr lvl="1" eaLnBrk="1" hangingPunct="1"/>
            <a:r>
              <a:rPr lang="en-US" altLang="ko-KR" sz="2000" dirty="0">
                <a:ea typeface="굴림" panose="020B0600000101010101" pitchFamily="34" charset="-127"/>
              </a:rPr>
              <a:t>Pointers may be subtracted from each other</a:t>
            </a:r>
          </a:p>
          <a:p>
            <a:pPr lvl="1" eaLnBrk="1" hangingPunct="1"/>
            <a:r>
              <a:rPr lang="en-US" altLang="ko-KR" sz="2000" dirty="0">
                <a:ea typeface="굴림" panose="020B0600000101010101" pitchFamily="34" charset="-127"/>
              </a:rPr>
              <a:t>Pointer arithmetic meaningless unless performed on pointer to array</a:t>
            </a:r>
          </a:p>
          <a:p>
            <a:pPr eaLnBrk="1" hangingPunct="1"/>
            <a:r>
              <a:rPr lang="en-US" altLang="ko-KR" sz="2600" dirty="0">
                <a:ea typeface="굴림" panose="020B0600000101010101" pitchFamily="34" charset="-127"/>
              </a:rPr>
              <a:t>5 elements </a:t>
            </a:r>
            <a:r>
              <a:rPr lang="en-US" altLang="ko-KR" sz="2600" b="1" dirty="0">
                <a:latin typeface="Courier New" panose="02070309020205020404" pitchFamily="49" charset="0"/>
                <a:ea typeface="굴림" panose="020B0600000101010101" pitchFamily="34" charset="-127"/>
              </a:rPr>
              <a:t>int</a:t>
            </a:r>
            <a:r>
              <a:rPr lang="en-US" altLang="ko-KR" sz="2600" dirty="0">
                <a:ea typeface="굴림" panose="020B0600000101010101" pitchFamily="34" charset="-127"/>
              </a:rPr>
              <a:t> array on a machine using 4 byte </a:t>
            </a:r>
            <a:r>
              <a:rPr lang="en-US" altLang="ko-KR" sz="2600" b="1" dirty="0" err="1">
                <a:latin typeface="Courier New" panose="02070309020205020404" pitchFamily="49" charset="0"/>
                <a:ea typeface="굴림" panose="020B0600000101010101" pitchFamily="34" charset="-127"/>
              </a:rPr>
              <a:t>int</a:t>
            </a:r>
            <a:r>
              <a:rPr lang="en-US" altLang="ko-KR" sz="2600" dirty="0" err="1">
                <a:ea typeface="굴림" panose="020B0600000101010101" pitchFamily="34" charset="-127"/>
              </a:rPr>
              <a:t>s</a:t>
            </a:r>
            <a:endParaRPr lang="en-US" altLang="ko-KR" sz="2600" dirty="0">
              <a:ea typeface="굴림" panose="020B0600000101010101" pitchFamily="34" charset="-127"/>
            </a:endParaRPr>
          </a:p>
          <a:p>
            <a:pPr lvl="1" eaLnBrk="1" hangingPunct="1"/>
            <a:r>
              <a:rPr lang="en-US" altLang="ko-KR" sz="2000" b="1" dirty="0" err="1">
                <a:latin typeface="Courier New" panose="02070309020205020404" pitchFamily="49" charset="0"/>
                <a:ea typeface="굴림" panose="020B0600000101010101" pitchFamily="34" charset="-127"/>
              </a:rPr>
              <a:t>vPtr</a:t>
            </a:r>
            <a:r>
              <a:rPr lang="en-US" altLang="ko-KR" sz="2000" dirty="0">
                <a:ea typeface="굴림" panose="020B0600000101010101" pitchFamily="34" charset="-127"/>
              </a:rPr>
              <a:t> points to first element </a:t>
            </a:r>
            <a:r>
              <a:rPr lang="en-US" altLang="ko-KR" sz="2000" b="1" dirty="0">
                <a:latin typeface="Courier New" panose="02070309020205020404" pitchFamily="49" charset="0"/>
                <a:ea typeface="굴림" panose="020B0600000101010101" pitchFamily="34" charset="-127"/>
              </a:rPr>
              <a:t>v[0]</a:t>
            </a:r>
            <a:r>
              <a:rPr lang="en-US" altLang="ko-KR" sz="2000" dirty="0">
                <a:ea typeface="굴림" panose="020B0600000101010101" pitchFamily="34" charset="-127"/>
              </a:rPr>
              <a:t>, which is at location 3000</a:t>
            </a:r>
          </a:p>
          <a:p>
            <a:pPr lvl="2" eaLnBrk="1" hangingPunct="1">
              <a:buFontTx/>
              <a:buNone/>
            </a:pPr>
            <a:r>
              <a:rPr lang="en-US" altLang="ko-KR" b="1" dirty="0" err="1">
                <a:latin typeface="Courier New" panose="02070309020205020404" pitchFamily="49" charset="0"/>
                <a:ea typeface="굴림" panose="020B0600000101010101" pitchFamily="34" charset="-127"/>
              </a:rPr>
              <a:t>vPtr</a:t>
            </a:r>
            <a:r>
              <a:rPr lang="en-US" altLang="ko-KR" b="1" dirty="0">
                <a:latin typeface="Courier New" panose="02070309020205020404" pitchFamily="49" charset="0"/>
                <a:ea typeface="굴림" panose="020B0600000101010101" pitchFamily="34" charset="-127"/>
              </a:rPr>
              <a:t> = 3000</a:t>
            </a:r>
            <a:endParaRPr lang="en-US" altLang="ko-KR" dirty="0">
              <a:ea typeface="굴림" panose="020B0600000101010101" pitchFamily="34" charset="-127"/>
            </a:endParaRPr>
          </a:p>
          <a:p>
            <a:pPr lvl="1" eaLnBrk="1" hangingPunct="1"/>
            <a:r>
              <a:rPr lang="en-US" altLang="ko-KR" sz="2000" b="1" dirty="0" err="1">
                <a:latin typeface="Courier New" panose="02070309020205020404" pitchFamily="49" charset="0"/>
                <a:ea typeface="굴림" panose="020B0600000101010101" pitchFamily="34" charset="-127"/>
              </a:rPr>
              <a:t>vPtr</a:t>
            </a:r>
            <a:r>
              <a:rPr lang="en-US" altLang="ko-KR" sz="2000" b="1" dirty="0">
                <a:latin typeface="Courier New" panose="02070309020205020404" pitchFamily="49" charset="0"/>
                <a:ea typeface="굴림" panose="020B0600000101010101" pitchFamily="34" charset="-127"/>
              </a:rPr>
              <a:t> += 2</a:t>
            </a:r>
            <a:r>
              <a:rPr lang="en-US" altLang="ko-KR" sz="2000" dirty="0">
                <a:ea typeface="굴림" panose="020B0600000101010101" pitchFamily="34" charset="-127"/>
              </a:rPr>
              <a:t>; sets </a:t>
            </a:r>
            <a:r>
              <a:rPr lang="en-US" altLang="ko-KR" sz="2000" b="1" dirty="0" err="1">
                <a:latin typeface="Courier New" panose="02070309020205020404" pitchFamily="49" charset="0"/>
                <a:ea typeface="굴림" panose="020B0600000101010101" pitchFamily="34" charset="-127"/>
              </a:rPr>
              <a:t>vPtr</a:t>
            </a:r>
            <a:r>
              <a:rPr lang="en-US" altLang="ko-KR" sz="2000" dirty="0">
                <a:ea typeface="굴림" panose="020B0600000101010101" pitchFamily="34" charset="-127"/>
              </a:rPr>
              <a:t> to </a:t>
            </a:r>
            <a:r>
              <a:rPr lang="en-US" altLang="ko-KR" sz="2000" b="1" dirty="0">
                <a:latin typeface="Courier New" panose="02070309020205020404" pitchFamily="49" charset="0"/>
                <a:ea typeface="굴림" panose="020B0600000101010101" pitchFamily="34" charset="-127"/>
              </a:rPr>
              <a:t>3008</a:t>
            </a:r>
          </a:p>
          <a:p>
            <a:pPr lvl="2" eaLnBrk="1" hangingPunct="1">
              <a:buFontTx/>
              <a:buNone/>
            </a:pPr>
            <a:r>
              <a:rPr lang="en-US" altLang="ko-KR" b="1" dirty="0" err="1">
                <a:latin typeface="Courier New" panose="02070309020205020404" pitchFamily="49" charset="0"/>
                <a:ea typeface="굴림" panose="020B0600000101010101" pitchFamily="34" charset="-127"/>
              </a:rPr>
              <a:t>vPtr</a:t>
            </a:r>
            <a:r>
              <a:rPr lang="en-US" altLang="ko-KR" dirty="0">
                <a:ea typeface="굴림" panose="020B0600000101010101" pitchFamily="34" charset="-127"/>
              </a:rPr>
              <a:t> points to </a:t>
            </a:r>
            <a:r>
              <a:rPr lang="en-US" altLang="ko-KR" b="1" dirty="0">
                <a:latin typeface="Courier New" panose="02070309020205020404" pitchFamily="49" charset="0"/>
                <a:ea typeface="굴림" panose="020B0600000101010101" pitchFamily="34" charset="-127"/>
              </a:rPr>
              <a:t>v[2]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sp>
        <p:nvSpPr>
          <p:cNvPr id="29698" name="Title 1">
            <a:extLst>
              <a:ext uri="{FF2B5EF4-FFF2-40B4-BE49-F238E27FC236}">
                <a16:creationId xmlns:a16="http://schemas.microsoft.com/office/drawing/2014/main" id="{FCAC3625-4F92-5605-17CA-FEFF3EBD6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34" charset="-127"/>
              </a:rPr>
              <a:t>Pointer Expressions and Pointer Arithmetic</a:t>
            </a:r>
            <a:endParaRPr lang="ko-KR" altLang="en-US" dirty="0">
              <a:ea typeface="굴림" panose="020B0600000101010101" pitchFamily="34" charset="-127"/>
            </a:endParaRPr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D2594569-F50F-C175-CAB9-A0E214A33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78C07605-7311-461E-B813-96D98AB2CDFC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20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grpSp>
        <p:nvGrpSpPr>
          <p:cNvPr id="29701" name="Group 4">
            <a:extLst>
              <a:ext uri="{FF2B5EF4-FFF2-40B4-BE49-F238E27FC236}">
                <a16:creationId xmlns:a16="http://schemas.microsoft.com/office/drawing/2014/main" id="{5D9169AC-0B41-B29A-6AA9-2405C64400AA}"/>
              </a:ext>
            </a:extLst>
          </p:cNvPr>
          <p:cNvGrpSpPr>
            <a:grpSpLocks/>
          </p:cNvGrpSpPr>
          <p:nvPr/>
        </p:nvGrpSpPr>
        <p:grpSpPr bwMode="auto">
          <a:xfrm>
            <a:off x="7610322" y="4390667"/>
            <a:ext cx="3662362" cy="1668462"/>
            <a:chOff x="1773" y="2334"/>
            <a:chExt cx="1593" cy="733"/>
          </a:xfrm>
        </p:grpSpPr>
        <p:sp>
          <p:nvSpPr>
            <p:cNvPr id="29702" name="Rectangle 5">
              <a:extLst>
                <a:ext uri="{FF2B5EF4-FFF2-40B4-BE49-F238E27FC236}">
                  <a16:creationId xmlns:a16="http://schemas.microsoft.com/office/drawing/2014/main" id="{9948850B-19A7-CCD3-FE1A-45D9B4252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3" y="2963"/>
              <a:ext cx="842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0000FF"/>
                </a:buClr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FF"/>
                </a:buClr>
                <a:buChar char="—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FF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FF"/>
                </a:buClr>
                <a:buChar char="–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ko-KR" sz="1000">
                  <a:solidFill>
                    <a:srgbClr val="000000"/>
                  </a:solidFill>
                  <a:latin typeface="Courier New" panose="02070309020205020404" pitchFamily="49" charset="0"/>
                  <a:ea typeface="굴림" panose="020B0600000101010101" pitchFamily="34" charset="-127"/>
                  <a:cs typeface="Times New Roman" panose="02020603050405020304" pitchFamily="18" charset="0"/>
                </a:rPr>
                <a:t>pointer variable </a:t>
              </a:r>
              <a:r>
                <a:rPr kumimoji="0" lang="en-US" altLang="ko-KR" sz="1000" b="1">
                  <a:solidFill>
                    <a:srgbClr val="000000"/>
                  </a:solidFill>
                  <a:latin typeface="Courier New" panose="02070309020205020404" pitchFamily="49" charset="0"/>
                  <a:ea typeface="Mincho" charset="-128"/>
                  <a:cs typeface="Times New Roman" panose="02020603050405020304" pitchFamily="18" charset="0"/>
                </a:rPr>
                <a:t>vPtr</a:t>
              </a:r>
              <a:endParaRPr kumimoji="0" lang="en-US" altLang="ko-KR" sz="10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en-US" altLang="ko-KR" sz="1000">
                <a:solidFill>
                  <a:srgbClr val="000000"/>
                </a:solidFill>
                <a:latin typeface="Courier New" panose="02070309020205020404" pitchFamily="49" charset="0"/>
                <a:ea typeface="Mincho" charset="-128"/>
                <a:cs typeface="Times New Roman" panose="02020603050405020304" pitchFamily="18" charset="0"/>
              </a:endParaRPr>
            </a:p>
          </p:txBody>
        </p:sp>
        <p:sp>
          <p:nvSpPr>
            <p:cNvPr id="29703" name="Freeform 6">
              <a:extLst>
                <a:ext uri="{FF2B5EF4-FFF2-40B4-BE49-F238E27FC236}">
                  <a16:creationId xmlns:a16="http://schemas.microsoft.com/office/drawing/2014/main" id="{6504394B-BE4F-6123-D0CE-08033A71E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2" y="2830"/>
              <a:ext cx="144" cy="14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9704" name="Oval 7">
              <a:extLst>
                <a:ext uri="{FF2B5EF4-FFF2-40B4-BE49-F238E27FC236}">
                  <a16:creationId xmlns:a16="http://schemas.microsoft.com/office/drawing/2014/main" id="{6A2A1154-6153-B07C-3F48-13A6D1294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0" y="2878"/>
              <a:ext cx="48" cy="48"/>
            </a:xfrm>
            <a:prstGeom prst="ellipse">
              <a:avLst/>
            </a:pr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000FF"/>
                </a:buClr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FF"/>
                </a:buClr>
                <a:buChar char="—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FF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FF"/>
                </a:buClr>
                <a:buChar char="–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kumimoji="0" lang="ko-KR" altLang="en-US" sz="1600" b="1">
                <a:solidFill>
                  <a:srgbClr val="000000"/>
                </a:solidFill>
                <a:latin typeface="Helvetica" panose="020B0604020202020204" pitchFamily="34" charset="0"/>
                <a:ea typeface="굴림" panose="020B0600000101010101" pitchFamily="34" charset="-127"/>
                <a:cs typeface="Times New Roman" panose="02020603050405020304" pitchFamily="18" charset="0"/>
              </a:endParaRPr>
            </a:p>
          </p:txBody>
        </p:sp>
        <p:grpSp>
          <p:nvGrpSpPr>
            <p:cNvPr id="29705" name="Group 8">
              <a:extLst>
                <a:ext uri="{FF2B5EF4-FFF2-40B4-BE49-F238E27FC236}">
                  <a16:creationId xmlns:a16="http://schemas.microsoft.com/office/drawing/2014/main" id="{74D74226-8898-0905-2E81-099B556FD1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6" y="2604"/>
              <a:ext cx="240" cy="144"/>
              <a:chOff x="0" y="0"/>
              <a:chExt cx="20000" cy="20000"/>
            </a:xfrm>
          </p:grpSpPr>
          <p:sp>
            <p:nvSpPr>
              <p:cNvPr id="29730" name="Freeform 9">
                <a:extLst>
                  <a:ext uri="{FF2B5EF4-FFF2-40B4-BE49-F238E27FC236}">
                    <a16:creationId xmlns:a16="http://schemas.microsoft.com/office/drawing/2014/main" id="{A5107C65-ED98-6BF5-AF2C-AC95D5618E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67 w 20000"/>
                  <a:gd name="T1" fmla="*/ 0 h 20000"/>
                  <a:gd name="T2" fmla="*/ 19967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67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67" y="0"/>
                    </a:moveTo>
                    <a:lnTo>
                      <a:pt x="19967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67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9731" name="Rectangle 10">
                <a:extLst>
                  <a:ext uri="{FF2B5EF4-FFF2-40B4-BE49-F238E27FC236}">
                    <a16:creationId xmlns:a16="http://schemas.microsoft.com/office/drawing/2014/main" id="{51629B7C-1236-1418-464C-47E675E500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0" y="4000"/>
                <a:ext cx="15767" cy="14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000" b="1">
                    <a:solidFill>
                      <a:srgbClr val="000000"/>
                    </a:solidFill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v[0]</a:t>
                </a:r>
                <a:endParaRPr kumimoji="0" lang="en-US" altLang="ko-KR" sz="1000">
                  <a:solidFill>
                    <a:srgbClr val="000000"/>
                  </a:solidFill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000">
                  <a:solidFill>
                    <a:srgbClr val="000000"/>
                  </a:solidFill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29706" name="Group 11">
              <a:extLst>
                <a:ext uri="{FF2B5EF4-FFF2-40B4-BE49-F238E27FC236}">
                  <a16:creationId xmlns:a16="http://schemas.microsoft.com/office/drawing/2014/main" id="{9797F05E-82E3-A565-C3DD-7905F0C229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6" y="2604"/>
              <a:ext cx="240" cy="144"/>
              <a:chOff x="0" y="0"/>
              <a:chExt cx="20000" cy="20000"/>
            </a:xfrm>
          </p:grpSpPr>
          <p:sp>
            <p:nvSpPr>
              <p:cNvPr id="29728" name="Freeform 12">
                <a:extLst>
                  <a:ext uri="{FF2B5EF4-FFF2-40B4-BE49-F238E27FC236}">
                    <a16:creationId xmlns:a16="http://schemas.microsoft.com/office/drawing/2014/main" id="{AB40F8BA-FBF8-2C48-59F9-0B6EEA9540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67 w 20000"/>
                  <a:gd name="T1" fmla="*/ 0 h 20000"/>
                  <a:gd name="T2" fmla="*/ 19967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67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67" y="0"/>
                    </a:moveTo>
                    <a:lnTo>
                      <a:pt x="19967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67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9729" name="Rectangle 13">
                <a:extLst>
                  <a:ext uri="{FF2B5EF4-FFF2-40B4-BE49-F238E27FC236}">
                    <a16:creationId xmlns:a16="http://schemas.microsoft.com/office/drawing/2014/main" id="{F6EAE670-67EB-990A-41EE-2DE820A708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0" y="4000"/>
                <a:ext cx="15767" cy="14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000" b="1" dirty="0">
                    <a:solidFill>
                      <a:srgbClr val="000000"/>
                    </a:solidFill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v[1]</a:t>
                </a:r>
                <a:endParaRPr kumimoji="0" lang="en-US" altLang="ko-KR" sz="1000" dirty="0">
                  <a:solidFill>
                    <a:srgbClr val="000000"/>
                  </a:solidFill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000" dirty="0">
                  <a:solidFill>
                    <a:srgbClr val="000000"/>
                  </a:solidFill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29707" name="Group 14">
              <a:extLst>
                <a:ext uri="{FF2B5EF4-FFF2-40B4-BE49-F238E27FC236}">
                  <a16:creationId xmlns:a16="http://schemas.microsoft.com/office/drawing/2014/main" id="{16B411EE-B3C8-E946-9C5E-CA22BB5BB9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6" y="2604"/>
              <a:ext cx="240" cy="144"/>
              <a:chOff x="0" y="0"/>
              <a:chExt cx="20000" cy="20000"/>
            </a:xfrm>
          </p:grpSpPr>
          <p:sp>
            <p:nvSpPr>
              <p:cNvPr id="29726" name="Freeform 15">
                <a:extLst>
                  <a:ext uri="{FF2B5EF4-FFF2-40B4-BE49-F238E27FC236}">
                    <a16:creationId xmlns:a16="http://schemas.microsoft.com/office/drawing/2014/main" id="{B1CBA8A4-D2CC-CA59-BE61-E1BF8EF7BB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67 w 20000"/>
                  <a:gd name="T1" fmla="*/ 0 h 20000"/>
                  <a:gd name="T2" fmla="*/ 19967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67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67" y="0"/>
                    </a:moveTo>
                    <a:lnTo>
                      <a:pt x="19967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67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9727" name="Rectangle 16">
                <a:extLst>
                  <a:ext uri="{FF2B5EF4-FFF2-40B4-BE49-F238E27FC236}">
                    <a16:creationId xmlns:a16="http://schemas.microsoft.com/office/drawing/2014/main" id="{5CCD05BC-ED40-7619-6ADC-04C670FB4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0" y="4000"/>
                <a:ext cx="15767" cy="14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000" b="1">
                    <a:solidFill>
                      <a:srgbClr val="000000"/>
                    </a:solidFill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v[2]</a:t>
                </a:r>
                <a:endParaRPr kumimoji="0" lang="en-US" altLang="ko-KR" sz="1000">
                  <a:solidFill>
                    <a:srgbClr val="000000"/>
                  </a:solidFill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000">
                  <a:solidFill>
                    <a:srgbClr val="000000"/>
                  </a:solidFill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29708" name="Group 17">
              <a:extLst>
                <a:ext uri="{FF2B5EF4-FFF2-40B4-BE49-F238E27FC236}">
                  <a16:creationId xmlns:a16="http://schemas.microsoft.com/office/drawing/2014/main" id="{9F24B13A-B638-8A80-C626-AC1145FC8D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6" y="2604"/>
              <a:ext cx="240" cy="144"/>
              <a:chOff x="0" y="0"/>
              <a:chExt cx="20000" cy="20000"/>
            </a:xfrm>
          </p:grpSpPr>
          <p:sp>
            <p:nvSpPr>
              <p:cNvPr id="29724" name="Freeform 18">
                <a:extLst>
                  <a:ext uri="{FF2B5EF4-FFF2-40B4-BE49-F238E27FC236}">
                    <a16:creationId xmlns:a16="http://schemas.microsoft.com/office/drawing/2014/main" id="{8B3A4565-129F-2151-8104-FA112BFCA9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67 w 20000"/>
                  <a:gd name="T1" fmla="*/ 0 h 20000"/>
                  <a:gd name="T2" fmla="*/ 19967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67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67" y="0"/>
                    </a:moveTo>
                    <a:lnTo>
                      <a:pt x="19967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67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9725" name="Rectangle 19">
                <a:extLst>
                  <a:ext uri="{FF2B5EF4-FFF2-40B4-BE49-F238E27FC236}">
                    <a16:creationId xmlns:a16="http://schemas.microsoft.com/office/drawing/2014/main" id="{D83DF32B-095C-5DD2-5439-92BBB5CA5E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0" y="4000"/>
                <a:ext cx="15767" cy="14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000" b="1">
                    <a:solidFill>
                      <a:srgbClr val="000000"/>
                    </a:solidFill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v[4]</a:t>
                </a:r>
                <a:endParaRPr kumimoji="0" lang="en-US" altLang="ko-KR" sz="1000">
                  <a:solidFill>
                    <a:srgbClr val="000000"/>
                  </a:solidFill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000">
                  <a:solidFill>
                    <a:srgbClr val="000000"/>
                  </a:solidFill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29709" name="Group 20">
              <a:extLst>
                <a:ext uri="{FF2B5EF4-FFF2-40B4-BE49-F238E27FC236}">
                  <a16:creationId xmlns:a16="http://schemas.microsoft.com/office/drawing/2014/main" id="{E4A08164-26B0-E40F-8E84-54C8726EF4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6" y="2604"/>
              <a:ext cx="240" cy="144"/>
              <a:chOff x="18" y="32"/>
              <a:chExt cx="19989" cy="19995"/>
            </a:xfrm>
          </p:grpSpPr>
          <p:sp>
            <p:nvSpPr>
              <p:cNvPr id="29722" name="Freeform 21">
                <a:extLst>
                  <a:ext uri="{FF2B5EF4-FFF2-40B4-BE49-F238E27FC236}">
                    <a16:creationId xmlns:a16="http://schemas.microsoft.com/office/drawing/2014/main" id="{1A1FBBDE-98D9-6550-C708-C54606595E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" y="32"/>
                <a:ext cx="19989" cy="19995"/>
              </a:xfrm>
              <a:custGeom>
                <a:avLst/>
                <a:gdLst>
                  <a:gd name="T0" fmla="*/ 19967 w 20000"/>
                  <a:gd name="T1" fmla="*/ 0 h 20000"/>
                  <a:gd name="T2" fmla="*/ 19967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67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67" y="0"/>
                    </a:moveTo>
                    <a:lnTo>
                      <a:pt x="19967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67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9723" name="Rectangle 22">
                <a:extLst>
                  <a:ext uri="{FF2B5EF4-FFF2-40B4-BE49-F238E27FC236}">
                    <a16:creationId xmlns:a16="http://schemas.microsoft.com/office/drawing/2014/main" id="{43AFA402-77F8-91CD-A50F-F312F7DAAF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0" y="4000"/>
                <a:ext cx="15767" cy="14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000" b="1">
                    <a:solidFill>
                      <a:srgbClr val="000000"/>
                    </a:solidFill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v[3]</a:t>
                </a:r>
                <a:endParaRPr kumimoji="0" lang="en-US" altLang="ko-KR" sz="1000">
                  <a:solidFill>
                    <a:srgbClr val="000000"/>
                  </a:solidFill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000">
                  <a:solidFill>
                    <a:srgbClr val="000000"/>
                  </a:solidFill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29710" name="Freeform 23">
              <a:extLst>
                <a:ext uri="{FF2B5EF4-FFF2-40B4-BE49-F238E27FC236}">
                  <a16:creationId xmlns:a16="http://schemas.microsoft.com/office/drawing/2014/main" id="{F2F66BFD-BBA8-B15B-7FA2-C9D293C82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6" y="2508"/>
              <a:ext cx="0" cy="9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19917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9711" name="Freeform 24">
              <a:extLst>
                <a:ext uri="{FF2B5EF4-FFF2-40B4-BE49-F238E27FC236}">
                  <a16:creationId xmlns:a16="http://schemas.microsoft.com/office/drawing/2014/main" id="{38C9BE73-8B57-ED87-A777-25D77F703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6" y="2508"/>
              <a:ext cx="0" cy="9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19917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9712" name="Freeform 25">
              <a:extLst>
                <a:ext uri="{FF2B5EF4-FFF2-40B4-BE49-F238E27FC236}">
                  <a16:creationId xmlns:a16="http://schemas.microsoft.com/office/drawing/2014/main" id="{31BB5D08-D489-29F0-9940-E452EA6B6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" y="2508"/>
              <a:ext cx="0" cy="9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19917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9713" name="Freeform 26">
              <a:extLst>
                <a:ext uri="{FF2B5EF4-FFF2-40B4-BE49-F238E27FC236}">
                  <a16:creationId xmlns:a16="http://schemas.microsoft.com/office/drawing/2014/main" id="{40C43A85-F79D-F721-42A4-9D4FB9AC0A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2508"/>
              <a:ext cx="0" cy="9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19917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9714" name="Freeform 27">
              <a:extLst>
                <a:ext uri="{FF2B5EF4-FFF2-40B4-BE49-F238E27FC236}">
                  <a16:creationId xmlns:a16="http://schemas.microsoft.com/office/drawing/2014/main" id="{E58AC575-33F9-C459-0C12-80EEAD38B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6" y="2508"/>
              <a:ext cx="0" cy="9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19917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9715" name="Rectangle 28">
              <a:extLst>
                <a:ext uri="{FF2B5EF4-FFF2-40B4-BE49-F238E27FC236}">
                  <a16:creationId xmlns:a16="http://schemas.microsoft.com/office/drawing/2014/main" id="{964D8E10-1D7C-8CE3-326B-B894C0B43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" y="2418"/>
              <a:ext cx="189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0000FF"/>
                </a:buClr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FF"/>
                </a:buClr>
                <a:buChar char="—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FF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FF"/>
                </a:buClr>
                <a:buChar char="–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ko-KR" sz="1000" b="1">
                  <a:solidFill>
                    <a:srgbClr val="000000"/>
                  </a:solidFill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rPr>
                <a:t>3000</a:t>
              </a:r>
              <a:endParaRPr kumimoji="0" lang="en-US" altLang="ko-KR" sz="10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endParaRP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en-US" altLang="ko-KR" sz="10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endParaRPr>
            </a:p>
          </p:txBody>
        </p:sp>
        <p:sp>
          <p:nvSpPr>
            <p:cNvPr id="29716" name="Rectangle 29">
              <a:extLst>
                <a:ext uri="{FF2B5EF4-FFF2-40B4-BE49-F238E27FC236}">
                  <a16:creationId xmlns:a16="http://schemas.microsoft.com/office/drawing/2014/main" id="{40F0C99E-9D31-80F8-9A10-67D4B9317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1" y="2418"/>
              <a:ext cx="189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0000FF"/>
                </a:buClr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FF"/>
                </a:buClr>
                <a:buChar char="—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FF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FF"/>
                </a:buClr>
                <a:buChar char="–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ko-KR" sz="1000" b="1">
                  <a:solidFill>
                    <a:srgbClr val="000000"/>
                  </a:solidFill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rPr>
                <a:t>3004</a:t>
              </a:r>
              <a:endParaRPr kumimoji="0" lang="en-US" altLang="ko-KR" sz="10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endParaRP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en-US" altLang="ko-KR" sz="10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endParaRPr>
            </a:p>
          </p:txBody>
        </p:sp>
        <p:sp>
          <p:nvSpPr>
            <p:cNvPr id="29717" name="Rectangle 30">
              <a:extLst>
                <a:ext uri="{FF2B5EF4-FFF2-40B4-BE49-F238E27FC236}">
                  <a16:creationId xmlns:a16="http://schemas.microsoft.com/office/drawing/2014/main" id="{A2CE848E-E0C7-77A4-38FC-25962764BF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1" y="2418"/>
              <a:ext cx="189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0000FF"/>
                </a:buClr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FF"/>
                </a:buClr>
                <a:buChar char="—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FF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FF"/>
                </a:buClr>
                <a:buChar char="–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ko-KR" sz="1000" b="1">
                  <a:solidFill>
                    <a:srgbClr val="000000"/>
                  </a:solidFill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rPr>
                <a:t>3008</a:t>
              </a:r>
              <a:endParaRPr kumimoji="0" lang="en-US" altLang="ko-KR" sz="10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endParaRP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en-US" altLang="ko-KR" sz="10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endParaRPr>
            </a:p>
          </p:txBody>
        </p:sp>
        <p:sp>
          <p:nvSpPr>
            <p:cNvPr id="29718" name="Rectangle 31">
              <a:extLst>
                <a:ext uri="{FF2B5EF4-FFF2-40B4-BE49-F238E27FC236}">
                  <a16:creationId xmlns:a16="http://schemas.microsoft.com/office/drawing/2014/main" id="{2CC58ADC-566D-0EF9-9065-C1054B9D4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1" y="2418"/>
              <a:ext cx="189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0000FF"/>
                </a:buClr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FF"/>
                </a:buClr>
                <a:buChar char="—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FF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FF"/>
                </a:buClr>
                <a:buChar char="–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ko-KR" sz="1000" b="1">
                  <a:solidFill>
                    <a:srgbClr val="000000"/>
                  </a:solidFill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rPr>
                <a:t>3012</a:t>
              </a:r>
              <a:endParaRPr kumimoji="0" lang="en-US" altLang="ko-KR" sz="10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endParaRP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en-US" altLang="ko-KR" sz="10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endParaRPr>
            </a:p>
          </p:txBody>
        </p:sp>
        <p:sp>
          <p:nvSpPr>
            <p:cNvPr id="29719" name="Rectangle 32">
              <a:extLst>
                <a:ext uri="{FF2B5EF4-FFF2-40B4-BE49-F238E27FC236}">
                  <a16:creationId xmlns:a16="http://schemas.microsoft.com/office/drawing/2014/main" id="{45C21F68-9BB1-6B69-11DC-3B447CE3F1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1" y="2418"/>
              <a:ext cx="189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0000FF"/>
                </a:buClr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FF"/>
                </a:buClr>
                <a:buChar char="—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FF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FF"/>
                </a:buClr>
                <a:buChar char="–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ko-KR" sz="1000" b="1">
                  <a:solidFill>
                    <a:srgbClr val="000000"/>
                  </a:solidFill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rPr>
                <a:t>3016</a:t>
              </a:r>
              <a:endParaRPr kumimoji="0" lang="en-US" altLang="ko-KR" sz="10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endParaRP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en-US" altLang="ko-KR" sz="10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endParaRPr>
            </a:p>
          </p:txBody>
        </p:sp>
        <p:sp>
          <p:nvSpPr>
            <p:cNvPr id="29720" name="Rectangle 33">
              <a:extLst>
                <a:ext uri="{FF2B5EF4-FFF2-40B4-BE49-F238E27FC236}">
                  <a16:creationId xmlns:a16="http://schemas.microsoft.com/office/drawing/2014/main" id="{63B6110B-5EE1-E178-CBCA-377A5C944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5" y="2334"/>
              <a:ext cx="324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0000FF"/>
                </a:buClr>
                <a:buChar char="•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FF"/>
                </a:buClr>
                <a:buChar char="—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FF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FF"/>
                </a:buClr>
                <a:buChar char="–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•"/>
                <a:defRPr kumimoji="1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ko-KR" sz="1000">
                  <a:solidFill>
                    <a:srgbClr val="000000"/>
                  </a:solidFill>
                  <a:latin typeface="Courier New" panose="02070309020205020404" pitchFamily="49" charset="0"/>
                  <a:ea typeface="굴림" panose="020B0600000101010101" pitchFamily="34" charset="-127"/>
                  <a:cs typeface="Times New Roman" panose="02020603050405020304" pitchFamily="18" charset="0"/>
                </a:rPr>
                <a:t>location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en-US" altLang="ko-KR" sz="10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29721" name="Freeform 34">
              <a:extLst>
                <a:ext uri="{FF2B5EF4-FFF2-40B4-BE49-F238E27FC236}">
                  <a16:creationId xmlns:a16="http://schemas.microsoft.com/office/drawing/2014/main" id="{A159CEDB-3E31-4BEB-169A-2251B6063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" y="2667"/>
              <a:ext cx="315" cy="21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000" h="20000">
                  <a:moveTo>
                    <a:pt x="19975" y="0"/>
                  </a:moveTo>
                  <a:lnTo>
                    <a:pt x="0" y="0"/>
                  </a:lnTo>
                  <a:lnTo>
                    <a:pt x="0" y="19963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MY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CF45D38F-B47F-05AF-3280-2A268DCF1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34" charset="-127"/>
              </a:rPr>
              <a:t>Pointer Expressions and Pointer Arithmetic</a:t>
            </a:r>
            <a:endParaRPr lang="ko-KR" altLang="en-US" dirty="0">
              <a:ea typeface="굴림" panose="020B0600000101010101" pitchFamily="34" charset="-127"/>
            </a:endParaRP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968E95EE-04F3-293A-C36C-1E76DBE9E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ko-KR" sz="2600" dirty="0">
                <a:ea typeface="굴림" panose="020B0600000101010101" pitchFamily="34" charset="-127"/>
              </a:rPr>
              <a:t>Subtracting pointers</a:t>
            </a:r>
          </a:p>
          <a:p>
            <a:pPr lvl="1" eaLnBrk="1" hangingPunct="1"/>
            <a:r>
              <a:rPr lang="en-US" altLang="ko-KR" sz="2000" dirty="0">
                <a:ea typeface="굴림" panose="020B0600000101010101" pitchFamily="34" charset="-127"/>
              </a:rPr>
              <a:t>Returns number of elements between two addresses</a:t>
            </a:r>
          </a:p>
          <a:p>
            <a:pPr lvl="4" eaLnBrk="1" hangingPunct="1">
              <a:buFontTx/>
              <a:buNone/>
            </a:pPr>
            <a:r>
              <a:rPr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</a:rPr>
              <a:t>	</a:t>
            </a:r>
            <a:r>
              <a:rPr lang="en-US" altLang="ko-KR" b="1" dirty="0">
                <a:latin typeface="Courier New" panose="02070309020205020404" pitchFamily="49" charset="0"/>
                <a:ea typeface="굴림" panose="020B0600000101010101" pitchFamily="34" charset="-127"/>
              </a:rPr>
              <a:t>vPtr2 = v[2]; </a:t>
            </a:r>
            <a:r>
              <a:rPr lang="en-US" altLang="ko-KR" b="1" dirty="0" err="1">
                <a:latin typeface="Courier New" panose="02070309020205020404" pitchFamily="49" charset="0"/>
                <a:ea typeface="굴림" panose="020B0600000101010101" pitchFamily="34" charset="-127"/>
              </a:rPr>
              <a:t>vPtr</a:t>
            </a:r>
            <a:r>
              <a:rPr lang="en-US" altLang="ko-KR" b="1" dirty="0">
                <a:latin typeface="Courier New" panose="02070309020205020404" pitchFamily="49" charset="0"/>
                <a:ea typeface="굴림" panose="020B0600000101010101" pitchFamily="34" charset="-127"/>
              </a:rPr>
              <a:t> = v[0];</a:t>
            </a:r>
            <a:br>
              <a:rPr lang="en-US" altLang="ko-KR" b="1" dirty="0">
                <a:latin typeface="Courier New" panose="02070309020205020404" pitchFamily="49" charset="0"/>
                <a:ea typeface="굴림" panose="020B0600000101010101" pitchFamily="34" charset="-127"/>
              </a:rPr>
            </a:br>
            <a:r>
              <a:rPr lang="en-US" altLang="ko-KR" b="1" dirty="0">
                <a:latin typeface="Courier New" panose="02070309020205020404" pitchFamily="49" charset="0"/>
                <a:ea typeface="굴림" panose="020B0600000101010101" pitchFamily="34" charset="-127"/>
              </a:rPr>
              <a:t>vPtr2 - </a:t>
            </a:r>
            <a:r>
              <a:rPr lang="en-US" altLang="ko-KR" b="1" dirty="0" err="1">
                <a:latin typeface="Courier New" panose="02070309020205020404" pitchFamily="49" charset="0"/>
                <a:ea typeface="굴림" panose="020B0600000101010101" pitchFamily="34" charset="-127"/>
              </a:rPr>
              <a:t>vPtr</a:t>
            </a:r>
            <a:r>
              <a:rPr lang="en-US" altLang="ko-KR" b="1" dirty="0">
                <a:latin typeface="Courier New" panose="02070309020205020404" pitchFamily="49" charset="0"/>
                <a:ea typeface="굴림" panose="020B0600000101010101" pitchFamily="34" charset="-127"/>
              </a:rPr>
              <a:t> == 2</a:t>
            </a:r>
          </a:p>
          <a:p>
            <a:pPr eaLnBrk="1" hangingPunct="1"/>
            <a:r>
              <a:rPr lang="en-US" altLang="ko-KR" sz="2600" dirty="0">
                <a:ea typeface="굴림" panose="020B0600000101010101" pitchFamily="34" charset="-127"/>
              </a:rPr>
              <a:t>Pointer assignment</a:t>
            </a:r>
          </a:p>
          <a:p>
            <a:pPr lvl="1" eaLnBrk="1" hangingPunct="1"/>
            <a:r>
              <a:rPr lang="en-US" altLang="ko-KR" sz="2000" dirty="0">
                <a:ea typeface="굴림" panose="020B0600000101010101" pitchFamily="34" charset="-127"/>
              </a:rPr>
              <a:t>Pointer can be assigned to another pointer if both of same type</a:t>
            </a:r>
          </a:p>
          <a:p>
            <a:pPr lvl="1" eaLnBrk="1" hangingPunct="1"/>
            <a:r>
              <a:rPr lang="en-US" altLang="ko-KR" sz="2000" dirty="0">
                <a:ea typeface="굴림" panose="020B0600000101010101" pitchFamily="34" charset="-127"/>
              </a:rPr>
              <a:t>If not same type, cast operator must be used</a:t>
            </a:r>
          </a:p>
          <a:p>
            <a:pPr eaLnBrk="1" hangingPunct="1"/>
            <a:r>
              <a:rPr lang="en-US" altLang="ko-KR" sz="2600" dirty="0">
                <a:ea typeface="굴림" panose="020B0600000101010101" pitchFamily="34" charset="-127"/>
              </a:rPr>
              <a:t> Pointer comparison</a:t>
            </a:r>
          </a:p>
          <a:p>
            <a:pPr lvl="1" algn="just" eaLnBrk="1" hangingPunct="1"/>
            <a:r>
              <a:rPr lang="en-US" altLang="ko-KR" sz="2000" dirty="0">
                <a:ea typeface="굴림" panose="020B0600000101010101" pitchFamily="34" charset="-127"/>
              </a:rPr>
              <a:t>Use equality and relational operators</a:t>
            </a:r>
          </a:p>
          <a:p>
            <a:pPr lvl="1" algn="just" eaLnBrk="1" hangingPunct="1"/>
            <a:r>
              <a:rPr lang="en-US" altLang="ko-KR" sz="2000" dirty="0">
                <a:ea typeface="굴림" panose="020B0600000101010101" pitchFamily="34" charset="-127"/>
              </a:rPr>
              <a:t>Comparisons meaningless unless pointers point to members of same array</a:t>
            </a:r>
          </a:p>
          <a:p>
            <a:pPr lvl="1" algn="just" eaLnBrk="1" hangingPunct="1"/>
            <a:r>
              <a:rPr lang="en-US" altLang="ko-KR" sz="2000" dirty="0">
                <a:ea typeface="굴림" panose="020B0600000101010101" pitchFamily="34" charset="-127"/>
              </a:rPr>
              <a:t>Compare addresses stored in pointers</a:t>
            </a:r>
          </a:p>
          <a:p>
            <a:pPr lvl="1" algn="just" eaLnBrk="1" hangingPunct="1"/>
            <a:r>
              <a:rPr lang="en-US" altLang="ko-KR" sz="2000" dirty="0">
                <a:ea typeface="굴림" panose="020B0600000101010101" pitchFamily="34" charset="-127"/>
              </a:rPr>
              <a:t>Example: could show that one pointer points to higher numbered element of array than other pointer</a:t>
            </a:r>
          </a:p>
          <a:p>
            <a:pPr eaLnBrk="1" hangingPunct="1"/>
            <a:endParaRPr lang="en-US" altLang="ko-KR" sz="2400" dirty="0">
              <a:ea typeface="굴림" panose="020B0600000101010101" pitchFamily="34" charset="-127"/>
            </a:endParaRPr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E9D5FD4D-8D6E-D690-1D25-E889B9C3F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356CA204-D48D-4AAB-97B9-6CC66E5992F6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21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8D93ABDB-3859-2FD9-4549-336B19C6C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34" charset="-127"/>
              </a:rPr>
              <a:t>Relationship Between Pointers and Arrays</a:t>
            </a:r>
            <a:endParaRPr lang="ko-KR" altLang="en-US" dirty="0">
              <a:ea typeface="굴림" panose="020B0600000101010101" pitchFamily="34" charset="-127"/>
            </a:endParaRP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0E51AC90-3F15-2638-EC20-27720B83D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ko-KR" sz="2600">
                <a:ea typeface="굴림" panose="020B0600000101010101" pitchFamily="34" charset="-127"/>
              </a:rPr>
              <a:t> Arrays and pointers closely related</a:t>
            </a:r>
          </a:p>
          <a:p>
            <a:pPr lvl="1" eaLnBrk="1" hangingPunct="1"/>
            <a:r>
              <a:rPr lang="en-US" altLang="ko-KR" sz="2200">
                <a:ea typeface="굴림" panose="020B0600000101010101" pitchFamily="34" charset="-127"/>
              </a:rPr>
              <a:t>Array name like constant pointer</a:t>
            </a:r>
          </a:p>
          <a:p>
            <a:pPr lvl="1" eaLnBrk="1" hangingPunct="1"/>
            <a:r>
              <a:rPr lang="en-US" altLang="ko-KR" sz="2200">
                <a:ea typeface="굴림" panose="020B0600000101010101" pitchFamily="34" charset="-127"/>
              </a:rPr>
              <a:t>Pointers can do array subscripting operations</a:t>
            </a:r>
          </a:p>
          <a:p>
            <a:pPr eaLnBrk="1" hangingPunct="1"/>
            <a:r>
              <a:rPr lang="en-US" altLang="ko-KR" sz="2600">
                <a:ea typeface="굴림" panose="020B0600000101010101" pitchFamily="34" charset="-127"/>
              </a:rPr>
              <a:t>Accessing array elements with pointers</a:t>
            </a:r>
          </a:p>
          <a:p>
            <a:pPr lvl="1" eaLnBrk="1" hangingPunct="1"/>
            <a:r>
              <a:rPr lang="en-US" altLang="ko-KR" sz="2200">
                <a:ea typeface="굴림" panose="020B0600000101010101" pitchFamily="34" charset="-127"/>
              </a:rPr>
              <a:t>Element </a:t>
            </a:r>
            <a:r>
              <a:rPr lang="en-US" altLang="ko-KR" sz="2200" b="1">
                <a:latin typeface="Courier New" panose="02070309020205020404" pitchFamily="49" charset="0"/>
                <a:ea typeface="굴림" panose="020B0600000101010101" pitchFamily="34" charset="-127"/>
              </a:rPr>
              <a:t>b[n]</a:t>
            </a:r>
            <a:r>
              <a:rPr lang="en-US" altLang="ko-KR" sz="2200">
                <a:ea typeface="굴림" panose="020B0600000101010101" pitchFamily="34" charset="-127"/>
              </a:rPr>
              <a:t> can be accessed by  </a:t>
            </a:r>
            <a:r>
              <a:rPr lang="en-US" altLang="ko-KR" sz="2200" b="1">
                <a:latin typeface="Courier New" panose="02070309020205020404" pitchFamily="49" charset="0"/>
                <a:ea typeface="굴림" panose="020B0600000101010101" pitchFamily="34" charset="-127"/>
              </a:rPr>
              <a:t>*( bPtr + n )</a:t>
            </a:r>
          </a:p>
          <a:p>
            <a:pPr lvl="2" eaLnBrk="1" hangingPunct="1"/>
            <a:r>
              <a:rPr lang="en-US" altLang="ko-KR">
                <a:ea typeface="굴림" panose="020B0600000101010101" pitchFamily="34" charset="-127"/>
              </a:rPr>
              <a:t>Called pointer/offset notation</a:t>
            </a:r>
          </a:p>
          <a:p>
            <a:pPr lvl="1" eaLnBrk="1" hangingPunct="1"/>
            <a:r>
              <a:rPr lang="en-US" altLang="ko-KR" sz="2200">
                <a:ea typeface="굴림" panose="020B0600000101010101" pitchFamily="34" charset="-127"/>
              </a:rPr>
              <a:t>Addresses</a:t>
            </a:r>
          </a:p>
          <a:p>
            <a:pPr lvl="2" eaLnBrk="1" hangingPunct="1"/>
            <a:r>
              <a:rPr lang="en-US" altLang="ko-KR" b="1">
                <a:latin typeface="Courier New" panose="02070309020205020404" pitchFamily="49" charset="0"/>
                <a:ea typeface="굴림" panose="020B0600000101010101" pitchFamily="34" charset="-127"/>
              </a:rPr>
              <a:t>&amp;b[3]</a:t>
            </a:r>
            <a:r>
              <a:rPr lang="en-US" altLang="ko-KR">
                <a:ea typeface="굴림" panose="020B0600000101010101" pitchFamily="34" charset="-127"/>
              </a:rPr>
              <a:t> same as </a:t>
            </a:r>
            <a:r>
              <a:rPr lang="en-US" altLang="ko-KR" b="1">
                <a:latin typeface="Courier New" panose="02070309020205020404" pitchFamily="49" charset="0"/>
                <a:ea typeface="굴림" panose="020B0600000101010101" pitchFamily="34" charset="-127"/>
              </a:rPr>
              <a:t>bPtr + 3</a:t>
            </a:r>
          </a:p>
          <a:p>
            <a:pPr lvl="1" eaLnBrk="1" hangingPunct="1"/>
            <a:r>
              <a:rPr lang="en-US" altLang="ko-KR" sz="2200">
                <a:ea typeface="굴림" panose="020B0600000101010101" pitchFamily="34" charset="-127"/>
              </a:rPr>
              <a:t>Array name can be treated as pointer</a:t>
            </a:r>
          </a:p>
          <a:p>
            <a:pPr lvl="2" eaLnBrk="1" hangingPunct="1"/>
            <a:r>
              <a:rPr lang="en-US" altLang="ko-KR" b="1">
                <a:latin typeface="Courier New" panose="02070309020205020404" pitchFamily="49" charset="0"/>
                <a:ea typeface="굴림" panose="020B0600000101010101" pitchFamily="34" charset="-127"/>
              </a:rPr>
              <a:t>b[3]</a:t>
            </a:r>
            <a:r>
              <a:rPr lang="en-US" altLang="ko-KR">
                <a:ea typeface="굴림" panose="020B0600000101010101" pitchFamily="34" charset="-127"/>
              </a:rPr>
              <a:t> same as</a:t>
            </a:r>
            <a:r>
              <a:rPr lang="en-US" altLang="ko-KR" b="1">
                <a:latin typeface="Courier New" panose="02070309020205020404" pitchFamily="49" charset="0"/>
                <a:ea typeface="굴림" panose="020B0600000101010101" pitchFamily="34" charset="-127"/>
              </a:rPr>
              <a:t> *( b + 3 )</a:t>
            </a:r>
          </a:p>
          <a:p>
            <a:pPr lvl="1" eaLnBrk="1" hangingPunct="1"/>
            <a:r>
              <a:rPr lang="en-US" altLang="ko-KR" sz="2200">
                <a:ea typeface="굴림" panose="020B0600000101010101" pitchFamily="34" charset="-127"/>
              </a:rPr>
              <a:t>Pointers can be subscripted (pointer/subscript notation)</a:t>
            </a:r>
          </a:p>
          <a:p>
            <a:pPr lvl="2" eaLnBrk="1" hangingPunct="1"/>
            <a:r>
              <a:rPr lang="en-US" altLang="ko-KR" b="1">
                <a:latin typeface="Courier New" panose="02070309020205020404" pitchFamily="49" charset="0"/>
                <a:ea typeface="굴림" panose="020B0600000101010101" pitchFamily="34" charset="-127"/>
              </a:rPr>
              <a:t>bPtr[3]</a:t>
            </a:r>
            <a:r>
              <a:rPr lang="en-US" altLang="ko-KR">
                <a:ea typeface="굴림" panose="020B0600000101010101" pitchFamily="34" charset="-127"/>
              </a:rPr>
              <a:t> same as </a:t>
            </a:r>
            <a:r>
              <a:rPr lang="en-US" altLang="ko-KR" b="1">
                <a:latin typeface="Courier New" panose="02070309020205020404" pitchFamily="49" charset="0"/>
                <a:ea typeface="굴림" panose="020B0600000101010101" pitchFamily="34" charset="-127"/>
              </a:rPr>
              <a:t>b[ 3 ]</a:t>
            </a:r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1189E631-A442-9AF2-2E21-4444C566B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7376B35D-5E10-4EC9-92EE-C6F4D2F05A1B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22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6461358C-80DB-670F-649D-0E7577119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0"/>
            <a:ext cx="10515600" cy="1073150"/>
          </a:xfrm>
        </p:spPr>
        <p:txBody>
          <a:bodyPr/>
          <a:lstStyle/>
          <a:p>
            <a:r>
              <a:rPr lang="en-US" altLang="ko-KR" dirty="0">
                <a:ea typeface="굴림" panose="020B0600000101010101" pitchFamily="34" charset="-127"/>
              </a:rPr>
              <a:t>Relationship Between Pointers and Arrays</a:t>
            </a:r>
            <a:endParaRPr lang="ko-KR" altLang="en-US" dirty="0">
              <a:ea typeface="굴림" panose="020B0600000101010101" pitchFamily="34" charset="-127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1CDC35-C3A0-8DA4-1296-5E84798D6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73150"/>
            <a:ext cx="5181600" cy="564832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MY" dirty="0"/>
              <a:t>#include &lt;iostream&gt;</a:t>
            </a:r>
          </a:p>
          <a:p>
            <a:pPr marL="0" indent="0">
              <a:buNone/>
            </a:pPr>
            <a:r>
              <a:rPr lang="en-MY" dirty="0"/>
              <a:t>using std::</a:t>
            </a:r>
            <a:r>
              <a:rPr lang="en-MY" dirty="0" err="1"/>
              <a:t>cout</a:t>
            </a:r>
            <a:r>
              <a:rPr lang="en-MY" dirty="0"/>
              <a:t>;</a:t>
            </a:r>
          </a:p>
          <a:p>
            <a:pPr marL="0" indent="0">
              <a:buNone/>
            </a:pPr>
            <a:r>
              <a:rPr lang="en-MY" dirty="0"/>
              <a:t>using std::</a:t>
            </a:r>
            <a:r>
              <a:rPr lang="en-MY" dirty="0" err="1"/>
              <a:t>endl</a:t>
            </a:r>
            <a:r>
              <a:rPr lang="en-MY" dirty="0"/>
              <a:t>;</a:t>
            </a:r>
          </a:p>
          <a:p>
            <a:pPr marL="0" indent="0">
              <a:buNone/>
            </a:pPr>
            <a:r>
              <a:rPr lang="en-MY" dirty="0"/>
              <a:t>int main()    {</a:t>
            </a:r>
          </a:p>
          <a:p>
            <a:pPr marL="0" indent="0">
              <a:buNone/>
            </a:pPr>
            <a:r>
              <a:rPr lang="en-MY" dirty="0"/>
              <a:t>    int b[] = { 10, 20, 30, 40 };</a:t>
            </a:r>
          </a:p>
          <a:p>
            <a:pPr marL="0" indent="0">
              <a:buNone/>
            </a:pPr>
            <a:r>
              <a:rPr lang="en-MY" dirty="0"/>
              <a:t>    int *</a:t>
            </a:r>
            <a:r>
              <a:rPr lang="en-MY" dirty="0" err="1"/>
              <a:t>bPtr</a:t>
            </a:r>
            <a:r>
              <a:rPr lang="en-MY" dirty="0"/>
              <a:t> = b;   // set </a:t>
            </a:r>
            <a:r>
              <a:rPr lang="en-MY" dirty="0" err="1"/>
              <a:t>bPtr</a:t>
            </a:r>
            <a:r>
              <a:rPr lang="en-MY" dirty="0"/>
              <a:t> to point to array b</a:t>
            </a:r>
          </a:p>
          <a:p>
            <a:pPr marL="0" indent="0">
              <a:buNone/>
            </a:pPr>
            <a:r>
              <a:rPr lang="en-MY" dirty="0"/>
              <a:t>    // output array b using array subscript notation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cout</a:t>
            </a:r>
            <a:r>
              <a:rPr lang="en-MY" dirty="0"/>
              <a:t> &lt;&lt; "Array b printed with:\n"</a:t>
            </a:r>
          </a:p>
          <a:p>
            <a:pPr marL="0" indent="0">
              <a:buNone/>
            </a:pPr>
            <a:r>
              <a:rPr lang="en-MY" dirty="0"/>
              <a:t>         &lt;&lt; "Array subscript notation\n";</a:t>
            </a:r>
          </a:p>
          <a:p>
            <a:pPr marL="0" indent="0">
              <a:buNone/>
            </a:pPr>
            <a:r>
              <a:rPr lang="en-MY" dirty="0"/>
              <a:t>    for ( int </a:t>
            </a:r>
            <a:r>
              <a:rPr lang="en-MY" dirty="0" err="1"/>
              <a:t>i</a:t>
            </a:r>
            <a:r>
              <a:rPr lang="en-MY" dirty="0"/>
              <a:t> = 0; </a:t>
            </a:r>
            <a:r>
              <a:rPr lang="en-MY" dirty="0" err="1"/>
              <a:t>i</a:t>
            </a:r>
            <a:r>
              <a:rPr lang="en-MY" dirty="0"/>
              <a:t> &lt; 4; </a:t>
            </a:r>
            <a:r>
              <a:rPr lang="en-MY" dirty="0" err="1"/>
              <a:t>i</a:t>
            </a:r>
            <a:r>
              <a:rPr lang="en-MY" dirty="0"/>
              <a:t>++ )</a:t>
            </a:r>
          </a:p>
          <a:p>
            <a:pPr marL="0" indent="0">
              <a:buNone/>
            </a:pPr>
            <a:r>
              <a:rPr lang="en-MY" dirty="0"/>
              <a:t>        </a:t>
            </a:r>
            <a:r>
              <a:rPr lang="en-MY" dirty="0" err="1"/>
              <a:t>cout</a:t>
            </a:r>
            <a:r>
              <a:rPr lang="en-MY" dirty="0"/>
              <a:t> &lt;&lt; "b[" &lt;&lt; </a:t>
            </a:r>
            <a:r>
              <a:rPr lang="en-MY" dirty="0" err="1"/>
              <a:t>i</a:t>
            </a:r>
            <a:r>
              <a:rPr lang="en-MY" dirty="0"/>
              <a:t> &lt;&lt; "] = " &lt;&lt; b[ </a:t>
            </a:r>
            <a:r>
              <a:rPr lang="en-MY" dirty="0" err="1"/>
              <a:t>i</a:t>
            </a:r>
            <a:r>
              <a:rPr lang="en-MY" dirty="0"/>
              <a:t> ] &lt;&lt; '\n';</a:t>
            </a:r>
          </a:p>
          <a:p>
            <a:pPr marL="0" indent="0">
              <a:buNone/>
            </a:pPr>
            <a:r>
              <a:rPr lang="en-MY" dirty="0"/>
              <a:t>    // output array b using the array name and</a:t>
            </a:r>
          </a:p>
          <a:p>
            <a:pPr marL="0" indent="0">
              <a:buNone/>
            </a:pPr>
            <a:r>
              <a:rPr lang="en-MY" dirty="0"/>
              <a:t>    // pointer/offset notation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cout</a:t>
            </a:r>
            <a:r>
              <a:rPr lang="en-MY" dirty="0"/>
              <a:t> &lt;&lt; "\</a:t>
            </a:r>
            <a:r>
              <a:rPr lang="en-MY" dirty="0" err="1"/>
              <a:t>nPointer</a:t>
            </a:r>
            <a:r>
              <a:rPr lang="en-MY" dirty="0"/>
              <a:t>/offset notation where "</a:t>
            </a:r>
          </a:p>
          <a:p>
            <a:pPr marL="0" indent="0">
              <a:buNone/>
            </a:pPr>
            <a:r>
              <a:rPr lang="en-MY" dirty="0"/>
              <a:t>         &lt;&lt; "the pointer is the array name\n";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03FF1-161D-E32F-1BF0-36AAAB228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73150"/>
            <a:ext cx="5181600" cy="564832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MY" dirty="0"/>
              <a:t> for ( int offset1 = 0; offset1 &lt; 4; offset1++ )</a:t>
            </a:r>
          </a:p>
          <a:p>
            <a:pPr marL="0" indent="0">
              <a:buNone/>
            </a:pPr>
            <a:r>
              <a:rPr lang="en-MY" dirty="0"/>
              <a:t>        </a:t>
            </a:r>
            <a:r>
              <a:rPr lang="en-MY" dirty="0" err="1"/>
              <a:t>cout</a:t>
            </a:r>
            <a:r>
              <a:rPr lang="en-MY" dirty="0"/>
              <a:t> &lt;&lt; "*(b + " &lt;&lt; offset1 &lt;&lt; ") = "</a:t>
            </a:r>
          </a:p>
          <a:p>
            <a:pPr marL="0" indent="0">
              <a:buNone/>
            </a:pPr>
            <a:r>
              <a:rPr lang="en-MY" dirty="0"/>
              <a:t>             &lt;&lt; *( b + offset1 ) &lt;&lt; '\n';</a:t>
            </a:r>
          </a:p>
          <a:p>
            <a:pPr marL="0" indent="0">
              <a:buNone/>
            </a:pPr>
            <a:r>
              <a:rPr lang="en-MY" dirty="0"/>
              <a:t>    // output array b using </a:t>
            </a:r>
            <a:r>
              <a:rPr lang="en-MY" dirty="0" err="1"/>
              <a:t>bPtr</a:t>
            </a:r>
            <a:r>
              <a:rPr lang="en-MY" dirty="0"/>
              <a:t> and array subscript notation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cout</a:t>
            </a:r>
            <a:r>
              <a:rPr lang="en-MY" dirty="0"/>
              <a:t> &lt;&lt; "\</a:t>
            </a:r>
            <a:r>
              <a:rPr lang="en-MY" dirty="0" err="1"/>
              <a:t>nPointer</a:t>
            </a:r>
            <a:r>
              <a:rPr lang="en-MY" dirty="0"/>
              <a:t> subscript notation\n";</a:t>
            </a:r>
          </a:p>
          <a:p>
            <a:pPr marL="0" indent="0">
              <a:buNone/>
            </a:pPr>
            <a:r>
              <a:rPr lang="en-MY" dirty="0"/>
              <a:t>    for ( int j = 0; j &lt; 4; </a:t>
            </a:r>
            <a:r>
              <a:rPr lang="en-MY" dirty="0" err="1"/>
              <a:t>j++</a:t>
            </a:r>
            <a:r>
              <a:rPr lang="en-MY" dirty="0"/>
              <a:t> )</a:t>
            </a:r>
          </a:p>
          <a:p>
            <a:pPr marL="0" indent="0">
              <a:buNone/>
            </a:pPr>
            <a:r>
              <a:rPr lang="en-MY" dirty="0"/>
              <a:t>        </a:t>
            </a:r>
            <a:r>
              <a:rPr lang="en-MY" dirty="0" err="1"/>
              <a:t>cout</a:t>
            </a:r>
            <a:r>
              <a:rPr lang="en-MY" dirty="0"/>
              <a:t> &lt;&lt; "</a:t>
            </a:r>
            <a:r>
              <a:rPr lang="en-MY" dirty="0" err="1"/>
              <a:t>bPtr</a:t>
            </a:r>
            <a:r>
              <a:rPr lang="en-MY" dirty="0"/>
              <a:t>[" &lt;&lt; j &lt;&lt; "] = " &lt;&lt; </a:t>
            </a:r>
            <a:r>
              <a:rPr lang="en-MY" dirty="0" err="1"/>
              <a:t>bPtr</a:t>
            </a:r>
            <a:r>
              <a:rPr lang="en-MY" dirty="0"/>
              <a:t>[ j ] &lt;&lt; '\n';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cout</a:t>
            </a:r>
            <a:r>
              <a:rPr lang="en-MY" dirty="0"/>
              <a:t> &lt;&lt; "\</a:t>
            </a:r>
            <a:r>
              <a:rPr lang="en-MY" dirty="0" err="1"/>
              <a:t>nPointer</a:t>
            </a:r>
            <a:r>
              <a:rPr lang="en-MY" dirty="0"/>
              <a:t>/offset notation\n";</a:t>
            </a:r>
          </a:p>
          <a:p>
            <a:pPr marL="0" indent="0">
              <a:buNone/>
            </a:pPr>
            <a:r>
              <a:rPr lang="en-MY" dirty="0"/>
              <a:t>    // output array b using </a:t>
            </a:r>
            <a:r>
              <a:rPr lang="en-MY" dirty="0" err="1"/>
              <a:t>bPtr</a:t>
            </a:r>
            <a:r>
              <a:rPr lang="en-MY" dirty="0"/>
              <a:t> and pointer/offset notation</a:t>
            </a:r>
          </a:p>
          <a:p>
            <a:pPr marL="0" indent="0">
              <a:buNone/>
            </a:pPr>
            <a:r>
              <a:rPr lang="en-MY" dirty="0"/>
              <a:t>    for ( int offset2 = 0; offset2 &lt; 4; offset2++ )</a:t>
            </a:r>
          </a:p>
          <a:p>
            <a:pPr marL="0" indent="0">
              <a:buNone/>
            </a:pPr>
            <a:r>
              <a:rPr lang="en-MY" dirty="0"/>
              <a:t>        </a:t>
            </a:r>
            <a:r>
              <a:rPr lang="en-MY" dirty="0" err="1"/>
              <a:t>cout</a:t>
            </a:r>
            <a:r>
              <a:rPr lang="en-MY" dirty="0"/>
              <a:t> &lt;&lt; "*(</a:t>
            </a:r>
            <a:r>
              <a:rPr lang="en-MY" dirty="0" err="1"/>
              <a:t>bPtr</a:t>
            </a:r>
            <a:r>
              <a:rPr lang="en-MY" dirty="0"/>
              <a:t> + " &lt;&lt; offset2 &lt;&lt; ") = "</a:t>
            </a:r>
          </a:p>
          <a:p>
            <a:pPr marL="0" indent="0">
              <a:buNone/>
            </a:pPr>
            <a:r>
              <a:rPr lang="en-MY" dirty="0"/>
              <a:t>             &lt;&lt; *( </a:t>
            </a:r>
            <a:r>
              <a:rPr lang="en-MY" dirty="0" err="1"/>
              <a:t>bPtr</a:t>
            </a:r>
            <a:r>
              <a:rPr lang="en-MY" dirty="0"/>
              <a:t> + offset2 ) &lt;&lt; '\n';</a:t>
            </a:r>
          </a:p>
          <a:p>
            <a:pPr marL="0" indent="0">
              <a:buNone/>
            </a:pPr>
            <a:r>
              <a:rPr lang="en-MY" dirty="0"/>
              <a:t>    return 0;  } // indicates successful termination   </a:t>
            </a:r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437AE179-D786-4077-0BF3-E79107B9D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392490DA-5170-4D7F-B9C9-504AE742B4B4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23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C49FF-75CF-9A51-CAB9-358DF8B78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34" charset="-127"/>
              </a:rPr>
              <a:t>Relationship Between Pointers and Arrays (output)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BEE01-3C5B-48C8-DD21-46131952BD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MY" dirty="0"/>
              <a:t>Array b printed with:</a:t>
            </a:r>
          </a:p>
          <a:p>
            <a:pPr marL="0" indent="0">
              <a:buNone/>
            </a:pPr>
            <a:r>
              <a:rPr lang="en-MY" dirty="0"/>
              <a:t> </a:t>
            </a:r>
          </a:p>
          <a:p>
            <a:pPr marL="0" indent="0">
              <a:buNone/>
            </a:pPr>
            <a:r>
              <a:rPr lang="en-MY" dirty="0"/>
              <a:t>Array subscript notation</a:t>
            </a:r>
          </a:p>
          <a:p>
            <a:pPr marL="0" indent="0">
              <a:buNone/>
            </a:pPr>
            <a:r>
              <a:rPr lang="en-MY" dirty="0"/>
              <a:t>b[0] = 10</a:t>
            </a:r>
          </a:p>
          <a:p>
            <a:pPr marL="0" indent="0">
              <a:buNone/>
            </a:pPr>
            <a:r>
              <a:rPr lang="en-MY" dirty="0"/>
              <a:t>b[1] = 20</a:t>
            </a:r>
          </a:p>
          <a:p>
            <a:pPr marL="0" indent="0">
              <a:buNone/>
            </a:pPr>
            <a:r>
              <a:rPr lang="en-MY" dirty="0"/>
              <a:t>b[2] = 30</a:t>
            </a:r>
          </a:p>
          <a:p>
            <a:pPr marL="0" indent="0">
              <a:buNone/>
            </a:pPr>
            <a:r>
              <a:rPr lang="en-MY" dirty="0"/>
              <a:t>b[3] = 40</a:t>
            </a:r>
          </a:p>
          <a:p>
            <a:pPr marL="0" indent="0">
              <a:buNone/>
            </a:pPr>
            <a:r>
              <a:rPr lang="en-MY" dirty="0"/>
              <a:t> </a:t>
            </a:r>
          </a:p>
          <a:p>
            <a:pPr marL="0" indent="0">
              <a:buNone/>
            </a:pPr>
            <a:r>
              <a:rPr lang="en-MY" dirty="0"/>
              <a:t>Pointer/offset notation where the pointer is the array name</a:t>
            </a:r>
          </a:p>
          <a:p>
            <a:pPr marL="0" indent="0">
              <a:buNone/>
            </a:pPr>
            <a:r>
              <a:rPr lang="en-MY" dirty="0"/>
              <a:t>*(b + 0) = 10</a:t>
            </a:r>
          </a:p>
          <a:p>
            <a:pPr marL="0" indent="0">
              <a:buNone/>
            </a:pPr>
            <a:r>
              <a:rPr lang="en-MY" dirty="0"/>
              <a:t>*(b + 1) = 20</a:t>
            </a:r>
          </a:p>
          <a:p>
            <a:pPr marL="0" indent="0">
              <a:buNone/>
            </a:pPr>
            <a:r>
              <a:rPr lang="en-MY" dirty="0"/>
              <a:t>*(b + 2) = 30</a:t>
            </a:r>
          </a:p>
          <a:p>
            <a:pPr marL="0" indent="0">
              <a:buNone/>
            </a:pPr>
            <a:r>
              <a:rPr lang="en-MY" dirty="0"/>
              <a:t>*(b + 3) = 40 </a:t>
            </a:r>
          </a:p>
          <a:p>
            <a:pPr marL="0" indent="0">
              <a:buNone/>
            </a:pPr>
            <a:endParaRPr lang="en-MY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60C28E-E5DA-0E97-496B-AB05F031C3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MY" dirty="0"/>
              <a:t>Pointer subscript notation</a:t>
            </a:r>
          </a:p>
          <a:p>
            <a:pPr marL="0" indent="0">
              <a:buNone/>
            </a:pPr>
            <a:r>
              <a:rPr lang="en-MY" dirty="0" err="1"/>
              <a:t>bPtr</a:t>
            </a:r>
            <a:r>
              <a:rPr lang="en-MY" dirty="0"/>
              <a:t>[0] = 10</a:t>
            </a:r>
          </a:p>
          <a:p>
            <a:pPr marL="0" indent="0">
              <a:buNone/>
            </a:pPr>
            <a:r>
              <a:rPr lang="en-MY" dirty="0" err="1"/>
              <a:t>bPtr</a:t>
            </a:r>
            <a:r>
              <a:rPr lang="en-MY" dirty="0"/>
              <a:t>[1] = 20</a:t>
            </a:r>
          </a:p>
          <a:p>
            <a:pPr marL="0" indent="0">
              <a:buNone/>
            </a:pPr>
            <a:r>
              <a:rPr lang="en-MY" dirty="0" err="1"/>
              <a:t>bPtr</a:t>
            </a:r>
            <a:r>
              <a:rPr lang="en-MY" dirty="0"/>
              <a:t>[2] = 30</a:t>
            </a:r>
          </a:p>
          <a:p>
            <a:pPr marL="0" indent="0">
              <a:buNone/>
            </a:pPr>
            <a:r>
              <a:rPr lang="en-MY" dirty="0" err="1"/>
              <a:t>bPtr</a:t>
            </a:r>
            <a:r>
              <a:rPr lang="en-MY" dirty="0"/>
              <a:t>[3] = 40</a:t>
            </a:r>
          </a:p>
          <a:p>
            <a:pPr marL="0" indent="0">
              <a:buNone/>
            </a:pPr>
            <a:r>
              <a:rPr lang="en-MY" dirty="0"/>
              <a:t> </a:t>
            </a:r>
          </a:p>
          <a:p>
            <a:pPr marL="0" indent="0">
              <a:buNone/>
            </a:pPr>
            <a:r>
              <a:rPr lang="en-MY" dirty="0"/>
              <a:t>Pointer/offset notation</a:t>
            </a:r>
          </a:p>
          <a:p>
            <a:pPr marL="0" indent="0">
              <a:buNone/>
            </a:pPr>
            <a:r>
              <a:rPr lang="en-MY" dirty="0"/>
              <a:t>*(</a:t>
            </a:r>
            <a:r>
              <a:rPr lang="en-MY" dirty="0" err="1"/>
              <a:t>bPtr</a:t>
            </a:r>
            <a:r>
              <a:rPr lang="en-MY" dirty="0"/>
              <a:t> + 0) = 10</a:t>
            </a:r>
          </a:p>
          <a:p>
            <a:pPr marL="0" indent="0">
              <a:buNone/>
            </a:pPr>
            <a:r>
              <a:rPr lang="en-MY" dirty="0"/>
              <a:t>*(</a:t>
            </a:r>
            <a:r>
              <a:rPr lang="en-MY" dirty="0" err="1"/>
              <a:t>bPtr</a:t>
            </a:r>
            <a:r>
              <a:rPr lang="en-MY" dirty="0"/>
              <a:t> + 1) = 20</a:t>
            </a:r>
          </a:p>
          <a:p>
            <a:pPr marL="0" indent="0">
              <a:buNone/>
            </a:pPr>
            <a:r>
              <a:rPr lang="en-MY" dirty="0"/>
              <a:t>*(</a:t>
            </a:r>
            <a:r>
              <a:rPr lang="en-MY" dirty="0" err="1"/>
              <a:t>bPtr</a:t>
            </a:r>
            <a:r>
              <a:rPr lang="en-MY" dirty="0"/>
              <a:t> + 2) = 30</a:t>
            </a:r>
          </a:p>
          <a:p>
            <a:pPr marL="0" indent="0">
              <a:buNone/>
            </a:pPr>
            <a:r>
              <a:rPr lang="en-MY" dirty="0"/>
              <a:t>*(</a:t>
            </a:r>
            <a:r>
              <a:rPr lang="en-MY" dirty="0" err="1"/>
              <a:t>bPtr</a:t>
            </a:r>
            <a:r>
              <a:rPr lang="en-MY" dirty="0"/>
              <a:t> + 3) = 40 </a:t>
            </a:r>
          </a:p>
        </p:txBody>
      </p:sp>
    </p:spTree>
    <p:extLst>
      <p:ext uri="{BB962C8B-B14F-4D97-AF65-F5344CB8AC3E}">
        <p14:creationId xmlns:p14="http://schemas.microsoft.com/office/powerpoint/2010/main" val="3519066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570386E2-5AAC-7034-D42D-89D67FD25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34" charset="-127"/>
              </a:rPr>
              <a:t>Arrays of Pointers</a:t>
            </a:r>
            <a:endParaRPr lang="ko-KR" altLang="en-US" dirty="0">
              <a:ea typeface="굴림" panose="020B0600000101010101" pitchFamily="34" charset="-127"/>
            </a:endParaRP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F170920E-3F00-3D8F-BC52-18EE2AC0F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ko-KR" sz="2600" dirty="0">
                <a:ea typeface="굴림" panose="020B0600000101010101" pitchFamily="34" charset="-127"/>
              </a:rPr>
              <a:t>Arrays can contain pointers</a:t>
            </a:r>
          </a:p>
          <a:p>
            <a:pPr lvl="1" eaLnBrk="1" hangingPunct="1"/>
            <a:r>
              <a:rPr lang="en-US" altLang="ko-KR" sz="2200" dirty="0">
                <a:ea typeface="굴림" panose="020B0600000101010101" pitchFamily="34" charset="-127"/>
              </a:rPr>
              <a:t>Commonly used to store array of strings</a:t>
            </a:r>
          </a:p>
          <a:p>
            <a:pPr lvl="2" eaLnBrk="1" hangingPunct="1">
              <a:buFontTx/>
              <a:buNone/>
            </a:pPr>
            <a:r>
              <a:rPr lang="en-US" altLang="ko-KR" b="1" dirty="0">
                <a:latin typeface="Courier New" panose="02070309020205020404" pitchFamily="49" charset="0"/>
                <a:ea typeface="굴림" panose="020B0600000101010101" pitchFamily="34" charset="-127"/>
              </a:rPr>
              <a:t>char *suit[ 4 ] = {"Hearts", "Diamonds",</a:t>
            </a:r>
            <a:br>
              <a:rPr lang="en-US" altLang="ko-KR" b="1" dirty="0">
                <a:latin typeface="Courier New" panose="02070309020205020404" pitchFamily="49" charset="0"/>
                <a:ea typeface="굴림" panose="020B0600000101010101" pitchFamily="34" charset="-127"/>
              </a:rPr>
            </a:br>
            <a:r>
              <a:rPr lang="en-US" altLang="ko-KR" b="1" dirty="0">
                <a:latin typeface="Courier New" panose="02070309020205020404" pitchFamily="49" charset="0"/>
                <a:ea typeface="굴림" panose="020B0600000101010101" pitchFamily="34" charset="-127"/>
              </a:rPr>
              <a:t>                 </a:t>
            </a:r>
            <a:r>
              <a:rPr lang="en-US" altLang="ko-KR" b="1" dirty="0">
                <a:ea typeface="굴림" panose="020B0600000101010101" pitchFamily="34" charset="-127"/>
              </a:rPr>
              <a:t> </a:t>
            </a:r>
            <a:r>
              <a:rPr lang="en-US" altLang="ko-KR" b="1" dirty="0">
                <a:latin typeface="Courier New" panose="02070309020205020404" pitchFamily="49" charset="0"/>
                <a:ea typeface="굴림" panose="020B0600000101010101" pitchFamily="34" charset="-127"/>
              </a:rPr>
              <a:t>"Clubs", "Spades" };</a:t>
            </a:r>
          </a:p>
          <a:p>
            <a:pPr lvl="1" eaLnBrk="1" hangingPunct="1"/>
            <a:r>
              <a:rPr lang="en-US" altLang="ko-KR" sz="2200" dirty="0">
                <a:ea typeface="굴림" panose="020B0600000101010101" pitchFamily="34" charset="-127"/>
              </a:rPr>
              <a:t>Each element of </a:t>
            </a:r>
            <a:r>
              <a:rPr lang="en-US" altLang="ko-KR" sz="2200" b="1" dirty="0">
                <a:ea typeface="굴림" panose="020B0600000101010101" pitchFamily="34" charset="-127"/>
              </a:rPr>
              <a:t>suit</a:t>
            </a:r>
            <a:r>
              <a:rPr lang="en-US" altLang="ko-KR" sz="2200" dirty="0">
                <a:ea typeface="굴림" panose="020B0600000101010101" pitchFamily="34" charset="-127"/>
              </a:rPr>
              <a:t> points to </a:t>
            </a:r>
            <a:r>
              <a:rPr lang="en-US" altLang="ko-KR" sz="2200" b="1" dirty="0">
                <a:latin typeface="Courier New" panose="02070309020205020404" pitchFamily="49" charset="0"/>
                <a:ea typeface="굴림" panose="020B0600000101010101" pitchFamily="34" charset="-127"/>
              </a:rPr>
              <a:t>char *</a:t>
            </a:r>
            <a:r>
              <a:rPr lang="en-US" altLang="ko-KR" sz="2200" dirty="0">
                <a:ea typeface="굴림" panose="020B0600000101010101" pitchFamily="34" charset="-127"/>
              </a:rPr>
              <a:t> (a string)</a:t>
            </a:r>
          </a:p>
          <a:p>
            <a:pPr lvl="1" eaLnBrk="1" hangingPunct="1"/>
            <a:r>
              <a:rPr lang="en-US" altLang="ko-KR" sz="2200" dirty="0">
                <a:ea typeface="굴림" panose="020B0600000101010101" pitchFamily="34" charset="-127"/>
              </a:rPr>
              <a:t>Array does not store strings, only pointers to strings</a:t>
            </a:r>
          </a:p>
          <a:p>
            <a:pPr lvl="1" eaLnBrk="1" hangingPunct="1"/>
            <a:r>
              <a:rPr lang="en-US" altLang="ko-KR" sz="2000" b="1" dirty="0">
                <a:latin typeface="Courier New" panose="02070309020205020404" pitchFamily="49" charset="0"/>
                <a:ea typeface="굴림" panose="020B0600000101010101" pitchFamily="34" charset="-127"/>
              </a:rPr>
              <a:t>suit</a:t>
            </a:r>
            <a:r>
              <a:rPr lang="en-US" altLang="ko-KR" sz="2000" dirty="0">
                <a:ea typeface="굴림" panose="020B0600000101010101" pitchFamily="34" charset="-127"/>
              </a:rPr>
              <a:t> array has fixed size, but strings can be of any size</a:t>
            </a:r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94F58EDD-78D0-F0A4-8759-571130E5F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E3FD14F0-D3FE-4554-9207-700F68E31052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25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grpSp>
        <p:nvGrpSpPr>
          <p:cNvPr id="37893" name="Group 5">
            <a:extLst>
              <a:ext uri="{FF2B5EF4-FFF2-40B4-BE49-F238E27FC236}">
                <a16:creationId xmlns:a16="http://schemas.microsoft.com/office/drawing/2014/main" id="{3EAD272D-79C5-6085-86A8-7F6241B17D03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4495800"/>
            <a:ext cx="7848600" cy="1447800"/>
            <a:chOff x="0" y="0"/>
            <a:chExt cx="20005" cy="20000"/>
          </a:xfrm>
        </p:grpSpPr>
        <p:grpSp>
          <p:nvGrpSpPr>
            <p:cNvPr id="37894" name="Group 6">
              <a:extLst>
                <a:ext uri="{FF2B5EF4-FFF2-40B4-BE49-F238E27FC236}">
                  <a16:creationId xmlns:a16="http://schemas.microsoft.com/office/drawing/2014/main" id="{05CE70D0-B9CA-9B2E-686A-720FD32A13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5000"/>
              <a:ext cx="5585" cy="5000"/>
              <a:chOff x="-1" y="0"/>
              <a:chExt cx="20005" cy="20000"/>
            </a:xfrm>
          </p:grpSpPr>
          <p:grpSp>
            <p:nvGrpSpPr>
              <p:cNvPr id="38003" name="Group 7">
                <a:extLst>
                  <a:ext uri="{FF2B5EF4-FFF2-40B4-BE49-F238E27FC236}">
                    <a16:creationId xmlns:a16="http://schemas.microsoft.com/office/drawing/2014/main" id="{A69D276A-977E-82EF-575B-7747F58C39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1" y="0"/>
                <a:ext cx="14292" cy="20000"/>
                <a:chOff x="0" y="0"/>
                <a:chExt cx="20000" cy="20000"/>
              </a:xfrm>
            </p:grpSpPr>
            <p:grpSp>
              <p:nvGrpSpPr>
                <p:cNvPr id="38005" name="Group 8">
                  <a:extLst>
                    <a:ext uri="{FF2B5EF4-FFF2-40B4-BE49-F238E27FC236}">
                      <a16:creationId xmlns:a16="http://schemas.microsoft.com/office/drawing/2014/main" id="{DF16F65C-A5BC-3F8B-BB6A-E5EE6AFE612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005" y="0"/>
                  <a:ext cx="5995" cy="20000"/>
                  <a:chOff x="0" y="0"/>
                  <a:chExt cx="20000" cy="20000"/>
                </a:xfrm>
              </p:grpSpPr>
              <p:sp>
                <p:nvSpPr>
                  <p:cNvPr id="38007" name="Freeform 9">
                    <a:extLst>
                      <a:ext uri="{FF2B5EF4-FFF2-40B4-BE49-F238E27FC236}">
                        <a16:creationId xmlns:a16="http://schemas.microsoft.com/office/drawing/2014/main" id="{BB4CA896-604C-6634-925F-50A3704C799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0" y="0"/>
                    <a:ext cx="20000" cy="20000"/>
                  </a:xfrm>
                  <a:custGeom>
                    <a:avLst/>
                    <a:gdLst>
                      <a:gd name="T0" fmla="*/ 19944 w 20000"/>
                      <a:gd name="T1" fmla="*/ 0 h 20000"/>
                      <a:gd name="T2" fmla="*/ 19944 w 20000"/>
                      <a:gd name="T3" fmla="*/ 19944 h 20000"/>
                      <a:gd name="T4" fmla="*/ 0 w 20000"/>
                      <a:gd name="T5" fmla="*/ 19944 h 20000"/>
                      <a:gd name="T6" fmla="*/ 0 w 20000"/>
                      <a:gd name="T7" fmla="*/ 0 h 20000"/>
                      <a:gd name="T8" fmla="*/ 19944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0000" h="20000">
                        <a:moveTo>
                          <a:pt x="19944" y="0"/>
                        </a:moveTo>
                        <a:lnTo>
                          <a:pt x="19944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44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MY"/>
                  </a:p>
                </p:txBody>
              </p:sp>
              <p:sp>
                <p:nvSpPr>
                  <p:cNvPr id="38008" name="Oval 10">
                    <a:extLst>
                      <a:ext uri="{FF2B5EF4-FFF2-40B4-BE49-F238E27FC236}">
                        <a16:creationId xmlns:a16="http://schemas.microsoft.com/office/drawing/2014/main" id="{F2056001-BC0B-AD2F-6753-418B480EA3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606" y="6668"/>
                    <a:ext cx="6722" cy="6720"/>
                  </a:xfrm>
                  <a:prstGeom prst="ellipse">
                    <a:avLst/>
                  </a:prstGeom>
                  <a:solidFill>
                    <a:srgbClr val="000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endParaRPr kumimoji="0" lang="ko-KR" altLang="en-US" sz="1600" b="1">
                      <a:latin typeface="Helvetica" panose="020B0604020202020204" pitchFamily="34" charset="0"/>
                      <a:ea typeface="굴림" panose="020B0600000101010101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38006" name="Rectangle 11">
                  <a:extLst>
                    <a:ext uri="{FF2B5EF4-FFF2-40B4-BE49-F238E27FC236}">
                      <a16:creationId xmlns:a16="http://schemas.microsoft.com/office/drawing/2014/main" id="{2A66D3EF-DAA6-30AD-7271-AED9FE2150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332"/>
                  <a:ext cx="14671" cy="156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ko-KR" sz="1200" b="1">
                      <a:latin typeface="Courier New" panose="02070309020205020404" pitchFamily="49" charset="0"/>
                      <a:ea typeface="굴림" panose="020B0600000101010101" pitchFamily="34" charset="-127"/>
                      <a:cs typeface="Courier New" panose="02070309020205020404" pitchFamily="49" charset="0"/>
                    </a:rPr>
                    <a:t>suit[3]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endParaRPr>
                </a:p>
              </p:txBody>
            </p:sp>
          </p:grpSp>
          <p:sp>
            <p:nvSpPr>
              <p:cNvPr id="38004" name="Freeform 12">
                <a:extLst>
                  <a:ext uri="{FF2B5EF4-FFF2-40B4-BE49-F238E27FC236}">
                    <a16:creationId xmlns:a16="http://schemas.microsoft.com/office/drawing/2014/main" id="{6957BA99-B44F-4DFE-50CD-73A7548F16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62" y="10000"/>
                <a:ext cx="7142" cy="56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0000" h="20000">
                    <a:moveTo>
                      <a:pt x="19967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000000"/>
                </a:solidFill>
                <a:round/>
                <a:headEnd type="triangle" w="med" len="sm"/>
                <a:tailEnd/>
              </a:ln>
            </p:spPr>
            <p:txBody>
              <a:bodyPr/>
              <a:lstStyle/>
              <a:p>
                <a:endParaRPr lang="en-MY"/>
              </a:p>
            </p:txBody>
          </p:sp>
        </p:grpSp>
        <p:grpSp>
          <p:nvGrpSpPr>
            <p:cNvPr id="37895" name="Group 13">
              <a:extLst>
                <a:ext uri="{FF2B5EF4-FFF2-40B4-BE49-F238E27FC236}">
                  <a16:creationId xmlns:a16="http://schemas.microsoft.com/office/drawing/2014/main" id="{F2C1B366-3FAC-65F5-CDD9-9025EF328A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0000"/>
              <a:ext cx="5585" cy="5000"/>
              <a:chOff x="-1" y="0"/>
              <a:chExt cx="20001" cy="20000"/>
            </a:xfrm>
          </p:grpSpPr>
          <p:grpSp>
            <p:nvGrpSpPr>
              <p:cNvPr id="37997" name="Group 14">
                <a:extLst>
                  <a:ext uri="{FF2B5EF4-FFF2-40B4-BE49-F238E27FC236}">
                    <a16:creationId xmlns:a16="http://schemas.microsoft.com/office/drawing/2014/main" id="{5A5282F0-4FDC-9B3E-539D-F97854FF05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1" y="0"/>
                <a:ext cx="14289" cy="20000"/>
                <a:chOff x="-1" y="0"/>
                <a:chExt cx="20001" cy="20000"/>
              </a:xfrm>
            </p:grpSpPr>
            <p:grpSp>
              <p:nvGrpSpPr>
                <p:cNvPr id="37999" name="Group 15">
                  <a:extLst>
                    <a:ext uri="{FF2B5EF4-FFF2-40B4-BE49-F238E27FC236}">
                      <a16:creationId xmlns:a16="http://schemas.microsoft.com/office/drawing/2014/main" id="{92D8E7E4-5877-BF52-D4D6-3EA7F0DE2D1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005" y="0"/>
                  <a:ext cx="5995" cy="20000"/>
                  <a:chOff x="0" y="0"/>
                  <a:chExt cx="20000" cy="20000"/>
                </a:xfrm>
              </p:grpSpPr>
              <p:sp>
                <p:nvSpPr>
                  <p:cNvPr id="38001" name="Freeform 16">
                    <a:extLst>
                      <a:ext uri="{FF2B5EF4-FFF2-40B4-BE49-F238E27FC236}">
                        <a16:creationId xmlns:a16="http://schemas.microsoft.com/office/drawing/2014/main" id="{A5D22C5E-75E0-BC07-D727-E4C16C4C91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0" y="0"/>
                    <a:ext cx="20000" cy="20000"/>
                  </a:xfrm>
                  <a:custGeom>
                    <a:avLst/>
                    <a:gdLst>
                      <a:gd name="T0" fmla="*/ 19944 w 20000"/>
                      <a:gd name="T1" fmla="*/ 0 h 20000"/>
                      <a:gd name="T2" fmla="*/ 19944 w 20000"/>
                      <a:gd name="T3" fmla="*/ 19944 h 20000"/>
                      <a:gd name="T4" fmla="*/ 0 w 20000"/>
                      <a:gd name="T5" fmla="*/ 19944 h 20000"/>
                      <a:gd name="T6" fmla="*/ 0 w 20000"/>
                      <a:gd name="T7" fmla="*/ 0 h 20000"/>
                      <a:gd name="T8" fmla="*/ 19944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0000" h="20000">
                        <a:moveTo>
                          <a:pt x="19944" y="0"/>
                        </a:moveTo>
                        <a:lnTo>
                          <a:pt x="19944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44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MY"/>
                  </a:p>
                </p:txBody>
              </p:sp>
              <p:sp>
                <p:nvSpPr>
                  <p:cNvPr id="38002" name="Oval 17">
                    <a:extLst>
                      <a:ext uri="{FF2B5EF4-FFF2-40B4-BE49-F238E27FC236}">
                        <a16:creationId xmlns:a16="http://schemas.microsoft.com/office/drawing/2014/main" id="{D1985D1B-E1C3-1F88-339A-C5FC3E4279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622" y="6668"/>
                    <a:ext cx="6722" cy="6720"/>
                  </a:xfrm>
                  <a:prstGeom prst="ellipse">
                    <a:avLst/>
                  </a:prstGeom>
                  <a:solidFill>
                    <a:srgbClr val="000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endParaRPr kumimoji="0" lang="ko-KR" altLang="en-US" sz="1600" b="1">
                      <a:latin typeface="Helvetica" panose="020B0604020202020204" pitchFamily="34" charset="0"/>
                      <a:ea typeface="굴림" panose="020B0600000101010101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38000" name="Rectangle 18">
                  <a:extLst>
                    <a:ext uri="{FF2B5EF4-FFF2-40B4-BE49-F238E27FC236}">
                      <a16:creationId xmlns:a16="http://schemas.microsoft.com/office/drawing/2014/main" id="{78EFEEF3-0E58-3D76-F0D0-D642416920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1" y="3332"/>
                  <a:ext cx="14672" cy="156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ko-KR" sz="1200" b="1">
                      <a:latin typeface="Courier New" panose="02070309020205020404" pitchFamily="49" charset="0"/>
                      <a:ea typeface="굴림" panose="020B0600000101010101" pitchFamily="34" charset="-127"/>
                      <a:cs typeface="Courier New" panose="02070309020205020404" pitchFamily="49" charset="0"/>
                    </a:rPr>
                    <a:t>suit[2]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endParaRPr>
                </a:p>
              </p:txBody>
            </p:sp>
          </p:grpSp>
          <p:sp>
            <p:nvSpPr>
              <p:cNvPr id="37998" name="Freeform 19">
                <a:extLst>
                  <a:ext uri="{FF2B5EF4-FFF2-40B4-BE49-F238E27FC236}">
                    <a16:creationId xmlns:a16="http://schemas.microsoft.com/office/drawing/2014/main" id="{F68B7F55-1996-6661-32E3-4B02A821F4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63" y="10000"/>
                <a:ext cx="7137" cy="56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0000" h="20000">
                    <a:moveTo>
                      <a:pt x="19967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000000"/>
                </a:solidFill>
                <a:round/>
                <a:headEnd type="triangle" w="med" len="sm"/>
                <a:tailEnd/>
              </a:ln>
            </p:spPr>
            <p:txBody>
              <a:bodyPr/>
              <a:lstStyle/>
              <a:p>
                <a:endParaRPr lang="en-MY"/>
              </a:p>
            </p:txBody>
          </p:sp>
        </p:grpSp>
        <p:grpSp>
          <p:nvGrpSpPr>
            <p:cNvPr id="37896" name="Group 20">
              <a:extLst>
                <a:ext uri="{FF2B5EF4-FFF2-40B4-BE49-F238E27FC236}">
                  <a16:creationId xmlns:a16="http://schemas.microsoft.com/office/drawing/2014/main" id="{38F6EB13-56A3-0A1C-4BA1-B0C8702E9E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5000"/>
              <a:ext cx="5585" cy="5000"/>
              <a:chOff x="-1" y="0"/>
              <a:chExt cx="20001" cy="20000"/>
            </a:xfrm>
          </p:grpSpPr>
          <p:grpSp>
            <p:nvGrpSpPr>
              <p:cNvPr id="37991" name="Group 21">
                <a:extLst>
                  <a:ext uri="{FF2B5EF4-FFF2-40B4-BE49-F238E27FC236}">
                    <a16:creationId xmlns:a16="http://schemas.microsoft.com/office/drawing/2014/main" id="{8FCB5AD0-7121-7DE2-42ED-231634FBB1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1" y="0"/>
                <a:ext cx="14289" cy="20000"/>
                <a:chOff x="-1" y="0"/>
                <a:chExt cx="20001" cy="20000"/>
              </a:xfrm>
            </p:grpSpPr>
            <p:grpSp>
              <p:nvGrpSpPr>
                <p:cNvPr id="37993" name="Group 22">
                  <a:extLst>
                    <a:ext uri="{FF2B5EF4-FFF2-40B4-BE49-F238E27FC236}">
                      <a16:creationId xmlns:a16="http://schemas.microsoft.com/office/drawing/2014/main" id="{35AA0303-F0F6-D303-0E4C-599BFAB6BAF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005" y="0"/>
                  <a:ext cx="5995" cy="20000"/>
                  <a:chOff x="0" y="0"/>
                  <a:chExt cx="20000" cy="20000"/>
                </a:xfrm>
              </p:grpSpPr>
              <p:sp>
                <p:nvSpPr>
                  <p:cNvPr id="37995" name="Freeform 23">
                    <a:extLst>
                      <a:ext uri="{FF2B5EF4-FFF2-40B4-BE49-F238E27FC236}">
                        <a16:creationId xmlns:a16="http://schemas.microsoft.com/office/drawing/2014/main" id="{89443E7C-7B37-BF32-28E2-F471DC206FC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0" y="0"/>
                    <a:ext cx="20000" cy="20000"/>
                  </a:xfrm>
                  <a:custGeom>
                    <a:avLst/>
                    <a:gdLst>
                      <a:gd name="T0" fmla="*/ 19944 w 20000"/>
                      <a:gd name="T1" fmla="*/ 0 h 20000"/>
                      <a:gd name="T2" fmla="*/ 19944 w 20000"/>
                      <a:gd name="T3" fmla="*/ 19944 h 20000"/>
                      <a:gd name="T4" fmla="*/ 0 w 20000"/>
                      <a:gd name="T5" fmla="*/ 19944 h 20000"/>
                      <a:gd name="T6" fmla="*/ 0 w 20000"/>
                      <a:gd name="T7" fmla="*/ 0 h 20000"/>
                      <a:gd name="T8" fmla="*/ 19944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0000" h="20000">
                        <a:moveTo>
                          <a:pt x="19944" y="0"/>
                        </a:moveTo>
                        <a:lnTo>
                          <a:pt x="19944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44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MY"/>
                  </a:p>
                </p:txBody>
              </p:sp>
              <p:sp>
                <p:nvSpPr>
                  <p:cNvPr id="37996" name="Oval 24">
                    <a:extLst>
                      <a:ext uri="{FF2B5EF4-FFF2-40B4-BE49-F238E27FC236}">
                        <a16:creationId xmlns:a16="http://schemas.microsoft.com/office/drawing/2014/main" id="{1A3B9BF3-266E-79D7-197E-4C07C05F788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622" y="6668"/>
                    <a:ext cx="6722" cy="6720"/>
                  </a:xfrm>
                  <a:prstGeom prst="ellipse">
                    <a:avLst/>
                  </a:prstGeom>
                  <a:solidFill>
                    <a:srgbClr val="000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endParaRPr kumimoji="0" lang="ko-KR" altLang="en-US" sz="1600" b="1">
                      <a:latin typeface="Helvetica" panose="020B0604020202020204" pitchFamily="34" charset="0"/>
                      <a:ea typeface="굴림" panose="020B0600000101010101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37994" name="Rectangle 25">
                  <a:extLst>
                    <a:ext uri="{FF2B5EF4-FFF2-40B4-BE49-F238E27FC236}">
                      <a16:creationId xmlns:a16="http://schemas.microsoft.com/office/drawing/2014/main" id="{A1D1F41B-7621-A6A5-9131-140BA41ED0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1" y="3332"/>
                  <a:ext cx="14672" cy="156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ko-KR" sz="1200" b="1">
                      <a:latin typeface="Courier New" panose="02070309020205020404" pitchFamily="49" charset="0"/>
                      <a:ea typeface="굴림" panose="020B0600000101010101" pitchFamily="34" charset="-127"/>
                      <a:cs typeface="Courier New" panose="02070309020205020404" pitchFamily="49" charset="0"/>
                    </a:rPr>
                    <a:t>suit[1]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endParaRPr>
                </a:p>
              </p:txBody>
            </p:sp>
          </p:grpSp>
          <p:sp>
            <p:nvSpPr>
              <p:cNvPr id="37992" name="Freeform 26">
                <a:extLst>
                  <a:ext uri="{FF2B5EF4-FFF2-40B4-BE49-F238E27FC236}">
                    <a16:creationId xmlns:a16="http://schemas.microsoft.com/office/drawing/2014/main" id="{F4D44793-BBBF-FD11-D753-1E1A1ED787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63" y="10000"/>
                <a:ext cx="7137" cy="56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0000" h="20000">
                    <a:moveTo>
                      <a:pt x="19967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000000"/>
                </a:solidFill>
                <a:round/>
                <a:headEnd type="triangle" w="med" len="sm"/>
                <a:tailEnd/>
              </a:ln>
            </p:spPr>
            <p:txBody>
              <a:bodyPr/>
              <a:lstStyle/>
              <a:p>
                <a:endParaRPr lang="en-MY"/>
              </a:p>
            </p:txBody>
          </p:sp>
        </p:grpSp>
        <p:grpSp>
          <p:nvGrpSpPr>
            <p:cNvPr id="37897" name="Group 27">
              <a:extLst>
                <a:ext uri="{FF2B5EF4-FFF2-40B4-BE49-F238E27FC236}">
                  <a16:creationId xmlns:a16="http://schemas.microsoft.com/office/drawing/2014/main" id="{44D4DD2A-12F0-D1B2-D2ED-BFB958E8BB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585" cy="5000"/>
              <a:chOff x="-1" y="0"/>
              <a:chExt cx="20001" cy="20000"/>
            </a:xfrm>
          </p:grpSpPr>
          <p:grpSp>
            <p:nvGrpSpPr>
              <p:cNvPr id="37985" name="Group 28">
                <a:extLst>
                  <a:ext uri="{FF2B5EF4-FFF2-40B4-BE49-F238E27FC236}">
                    <a16:creationId xmlns:a16="http://schemas.microsoft.com/office/drawing/2014/main" id="{42386752-C076-9126-A741-04BAEC6508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1" y="0"/>
                <a:ext cx="14289" cy="20000"/>
                <a:chOff x="-1" y="0"/>
                <a:chExt cx="20001" cy="20000"/>
              </a:xfrm>
            </p:grpSpPr>
            <p:grpSp>
              <p:nvGrpSpPr>
                <p:cNvPr id="37987" name="Group 29">
                  <a:extLst>
                    <a:ext uri="{FF2B5EF4-FFF2-40B4-BE49-F238E27FC236}">
                      <a16:creationId xmlns:a16="http://schemas.microsoft.com/office/drawing/2014/main" id="{D2BD9CC0-B2CB-6B71-7255-BB4865D1ED1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005" y="0"/>
                  <a:ext cx="5995" cy="20000"/>
                  <a:chOff x="0" y="0"/>
                  <a:chExt cx="20000" cy="20000"/>
                </a:xfrm>
              </p:grpSpPr>
              <p:sp>
                <p:nvSpPr>
                  <p:cNvPr id="37989" name="Freeform 30">
                    <a:extLst>
                      <a:ext uri="{FF2B5EF4-FFF2-40B4-BE49-F238E27FC236}">
                        <a16:creationId xmlns:a16="http://schemas.microsoft.com/office/drawing/2014/main" id="{0E4922C6-9286-BB8F-E77E-DD5A4FF4C8E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0" y="0"/>
                    <a:ext cx="20000" cy="20000"/>
                  </a:xfrm>
                  <a:custGeom>
                    <a:avLst/>
                    <a:gdLst>
                      <a:gd name="T0" fmla="*/ 19944 w 20000"/>
                      <a:gd name="T1" fmla="*/ 0 h 20000"/>
                      <a:gd name="T2" fmla="*/ 19944 w 20000"/>
                      <a:gd name="T3" fmla="*/ 19944 h 20000"/>
                      <a:gd name="T4" fmla="*/ 0 w 20000"/>
                      <a:gd name="T5" fmla="*/ 19944 h 20000"/>
                      <a:gd name="T6" fmla="*/ 0 w 20000"/>
                      <a:gd name="T7" fmla="*/ 0 h 20000"/>
                      <a:gd name="T8" fmla="*/ 19944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0000" h="20000">
                        <a:moveTo>
                          <a:pt x="19944" y="0"/>
                        </a:moveTo>
                        <a:lnTo>
                          <a:pt x="19944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44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MY"/>
                  </a:p>
                </p:txBody>
              </p:sp>
              <p:sp>
                <p:nvSpPr>
                  <p:cNvPr id="37990" name="Oval 31">
                    <a:extLst>
                      <a:ext uri="{FF2B5EF4-FFF2-40B4-BE49-F238E27FC236}">
                        <a16:creationId xmlns:a16="http://schemas.microsoft.com/office/drawing/2014/main" id="{838FED6A-8811-A65A-0112-47823CF35F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622" y="6668"/>
                    <a:ext cx="6722" cy="6720"/>
                  </a:xfrm>
                  <a:prstGeom prst="ellipse">
                    <a:avLst/>
                  </a:prstGeom>
                  <a:solidFill>
                    <a:srgbClr val="000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0000FF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FF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FF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endParaRPr kumimoji="0" lang="ko-KR" altLang="en-US" sz="1600" b="1">
                      <a:latin typeface="Helvetica" panose="020B0604020202020204" pitchFamily="34" charset="0"/>
                      <a:ea typeface="굴림" panose="020B0600000101010101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37988" name="Rectangle 32">
                  <a:extLst>
                    <a:ext uri="{FF2B5EF4-FFF2-40B4-BE49-F238E27FC236}">
                      <a16:creationId xmlns:a16="http://schemas.microsoft.com/office/drawing/2014/main" id="{493D850F-81CC-435E-0F47-776B338CA5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1" y="3332"/>
                  <a:ext cx="14672" cy="156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00FF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FF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FF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FF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ko-KR" sz="1200" b="1">
                      <a:latin typeface="Courier New" panose="02070309020205020404" pitchFamily="49" charset="0"/>
                      <a:ea typeface="굴림" panose="020B0600000101010101" pitchFamily="34" charset="-127"/>
                      <a:cs typeface="Courier New" panose="02070309020205020404" pitchFamily="49" charset="0"/>
                    </a:rPr>
                    <a:t>suit[0]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endParaRPr>
                </a:p>
              </p:txBody>
            </p:sp>
          </p:grpSp>
          <p:sp>
            <p:nvSpPr>
              <p:cNvPr id="37986" name="Freeform 33">
                <a:extLst>
                  <a:ext uri="{FF2B5EF4-FFF2-40B4-BE49-F238E27FC236}">
                    <a16:creationId xmlns:a16="http://schemas.microsoft.com/office/drawing/2014/main" id="{F0F1C9F5-BBD0-46D5-0FFA-38A65F8143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63" y="10000"/>
                <a:ext cx="7137" cy="56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0000" h="20000">
                    <a:moveTo>
                      <a:pt x="19967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000000"/>
                </a:solidFill>
                <a:round/>
                <a:headEnd type="triangle" w="med" len="sm"/>
                <a:tailEnd/>
              </a:ln>
            </p:spPr>
            <p:txBody>
              <a:bodyPr/>
              <a:lstStyle/>
              <a:p>
                <a:endParaRPr lang="en-MY"/>
              </a:p>
            </p:txBody>
          </p:sp>
        </p:grpSp>
        <p:grpSp>
          <p:nvGrpSpPr>
            <p:cNvPr id="37898" name="Group 34">
              <a:extLst>
                <a:ext uri="{FF2B5EF4-FFF2-40B4-BE49-F238E27FC236}">
                  <a16:creationId xmlns:a16="http://schemas.microsoft.com/office/drawing/2014/main" id="{9866AFDD-C0DF-29DA-21FA-13EAB10F4C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5" y="833"/>
              <a:ext cx="1595" cy="3903"/>
              <a:chOff x="0" y="0"/>
              <a:chExt cx="20000" cy="20000"/>
            </a:xfrm>
          </p:grpSpPr>
          <p:sp>
            <p:nvSpPr>
              <p:cNvPr id="37983" name="Freeform 35">
                <a:extLst>
                  <a:ext uri="{FF2B5EF4-FFF2-40B4-BE49-F238E27FC236}">
                    <a16:creationId xmlns:a16="http://schemas.microsoft.com/office/drawing/2014/main" id="{744556A7-F637-927D-103F-29EDFE817A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17084"/>
              </a:xfrm>
              <a:custGeom>
                <a:avLst/>
                <a:gdLst>
                  <a:gd name="T0" fmla="*/ 19958 w 20000"/>
                  <a:gd name="T1" fmla="*/ 0 h 20000"/>
                  <a:gd name="T2" fmla="*/ 19958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19958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84" name="Rectangle 36">
                <a:extLst>
                  <a:ext uri="{FF2B5EF4-FFF2-40B4-BE49-F238E27FC236}">
                    <a16:creationId xmlns:a16="http://schemas.microsoft.com/office/drawing/2014/main" id="{8FC8C08E-F11F-DB53-3A3E-E33657DFE2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’H’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899" name="Group 37">
              <a:extLst>
                <a:ext uri="{FF2B5EF4-FFF2-40B4-BE49-F238E27FC236}">
                  <a16:creationId xmlns:a16="http://schemas.microsoft.com/office/drawing/2014/main" id="{9D7B2D44-ACF2-A24D-3E88-136A38F6EF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80" y="833"/>
              <a:ext cx="1595" cy="3903"/>
              <a:chOff x="0" y="0"/>
              <a:chExt cx="20000" cy="20000"/>
            </a:xfrm>
          </p:grpSpPr>
          <p:sp>
            <p:nvSpPr>
              <p:cNvPr id="37981" name="Freeform 38">
                <a:extLst>
                  <a:ext uri="{FF2B5EF4-FFF2-40B4-BE49-F238E27FC236}">
                    <a16:creationId xmlns:a16="http://schemas.microsoft.com/office/drawing/2014/main" id="{223DDCA6-132C-3F3A-38A0-CE76F86541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17084"/>
              </a:xfrm>
              <a:custGeom>
                <a:avLst/>
                <a:gdLst>
                  <a:gd name="T0" fmla="*/ 19958 w 20000"/>
                  <a:gd name="T1" fmla="*/ 0 h 20000"/>
                  <a:gd name="T2" fmla="*/ 19958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19958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82" name="Rectangle 39">
                <a:extLst>
                  <a:ext uri="{FF2B5EF4-FFF2-40B4-BE49-F238E27FC236}">
                    <a16:creationId xmlns:a16="http://schemas.microsoft.com/office/drawing/2014/main" id="{D14638FC-9A2F-AB74-8CA3-800D0F9257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’e’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900" name="Group 40">
              <a:extLst>
                <a:ext uri="{FF2B5EF4-FFF2-40B4-BE49-F238E27FC236}">
                  <a16:creationId xmlns:a16="http://schemas.microsoft.com/office/drawing/2014/main" id="{10284BBD-C1A3-6883-6337-117825DEAF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5" y="833"/>
              <a:ext cx="1595" cy="3903"/>
              <a:chOff x="0" y="0"/>
              <a:chExt cx="20000" cy="20000"/>
            </a:xfrm>
          </p:grpSpPr>
          <p:sp>
            <p:nvSpPr>
              <p:cNvPr id="37979" name="Freeform 41">
                <a:extLst>
                  <a:ext uri="{FF2B5EF4-FFF2-40B4-BE49-F238E27FC236}">
                    <a16:creationId xmlns:a16="http://schemas.microsoft.com/office/drawing/2014/main" id="{65AA87A8-38D0-6DDC-FA4F-0024379568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17084"/>
              </a:xfrm>
              <a:custGeom>
                <a:avLst/>
                <a:gdLst>
                  <a:gd name="T0" fmla="*/ 19958 w 20000"/>
                  <a:gd name="T1" fmla="*/ 0 h 20000"/>
                  <a:gd name="T2" fmla="*/ 19958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19958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80" name="Rectangle 42">
                <a:extLst>
                  <a:ext uri="{FF2B5EF4-FFF2-40B4-BE49-F238E27FC236}">
                    <a16:creationId xmlns:a16="http://schemas.microsoft.com/office/drawing/2014/main" id="{771EC651-4E97-37D7-60DF-7D29EC36FA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’a’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901" name="Group 43">
              <a:extLst>
                <a:ext uri="{FF2B5EF4-FFF2-40B4-BE49-F238E27FC236}">
                  <a16:creationId xmlns:a16="http://schemas.microsoft.com/office/drawing/2014/main" id="{DBB01758-BE2C-D92D-6766-78AA0594EC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70" y="833"/>
              <a:ext cx="1595" cy="3903"/>
              <a:chOff x="0" y="0"/>
              <a:chExt cx="20000" cy="20000"/>
            </a:xfrm>
          </p:grpSpPr>
          <p:sp>
            <p:nvSpPr>
              <p:cNvPr id="37977" name="Freeform 44">
                <a:extLst>
                  <a:ext uri="{FF2B5EF4-FFF2-40B4-BE49-F238E27FC236}">
                    <a16:creationId xmlns:a16="http://schemas.microsoft.com/office/drawing/2014/main" id="{0BE91B74-BC84-4AAB-C48D-C3B3A36ACD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17084"/>
              </a:xfrm>
              <a:custGeom>
                <a:avLst/>
                <a:gdLst>
                  <a:gd name="T0" fmla="*/ 19958 w 20000"/>
                  <a:gd name="T1" fmla="*/ 0 h 20000"/>
                  <a:gd name="T2" fmla="*/ 19958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19958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78" name="Rectangle 45">
                <a:extLst>
                  <a:ext uri="{FF2B5EF4-FFF2-40B4-BE49-F238E27FC236}">
                    <a16:creationId xmlns:a16="http://schemas.microsoft.com/office/drawing/2014/main" id="{8F021C81-D079-A112-767C-4BA654525E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’r’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902" name="Group 46">
              <a:extLst>
                <a:ext uri="{FF2B5EF4-FFF2-40B4-BE49-F238E27FC236}">
                  <a16:creationId xmlns:a16="http://schemas.microsoft.com/office/drawing/2014/main" id="{EB1389A4-4AEA-76C7-605D-C202C4CE8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65" y="833"/>
              <a:ext cx="1595" cy="3903"/>
              <a:chOff x="0" y="0"/>
              <a:chExt cx="20000" cy="20000"/>
            </a:xfrm>
          </p:grpSpPr>
          <p:sp>
            <p:nvSpPr>
              <p:cNvPr id="37975" name="Freeform 47">
                <a:extLst>
                  <a:ext uri="{FF2B5EF4-FFF2-40B4-BE49-F238E27FC236}">
                    <a16:creationId xmlns:a16="http://schemas.microsoft.com/office/drawing/2014/main" id="{09557089-EBC1-D4C2-76F2-6DBDBCB104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17084"/>
              </a:xfrm>
              <a:custGeom>
                <a:avLst/>
                <a:gdLst>
                  <a:gd name="T0" fmla="*/ 19958 w 20000"/>
                  <a:gd name="T1" fmla="*/ 0 h 20000"/>
                  <a:gd name="T2" fmla="*/ 19958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19958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76" name="Rectangle 48">
                <a:extLst>
                  <a:ext uri="{FF2B5EF4-FFF2-40B4-BE49-F238E27FC236}">
                    <a16:creationId xmlns:a16="http://schemas.microsoft.com/office/drawing/2014/main" id="{6095B18D-A74D-7843-D370-11ED8C4C95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’t’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903" name="Group 49">
              <a:extLst>
                <a:ext uri="{FF2B5EF4-FFF2-40B4-BE49-F238E27FC236}">
                  <a16:creationId xmlns:a16="http://schemas.microsoft.com/office/drawing/2014/main" id="{40D4B4E2-CDAF-DBE3-7389-685699C9FC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60" y="833"/>
              <a:ext cx="1595" cy="3903"/>
              <a:chOff x="0" y="0"/>
              <a:chExt cx="20000" cy="20000"/>
            </a:xfrm>
          </p:grpSpPr>
          <p:sp>
            <p:nvSpPr>
              <p:cNvPr id="37973" name="Freeform 50">
                <a:extLst>
                  <a:ext uri="{FF2B5EF4-FFF2-40B4-BE49-F238E27FC236}">
                    <a16:creationId xmlns:a16="http://schemas.microsoft.com/office/drawing/2014/main" id="{CCB3A2AA-8410-DF01-ADBE-B667377CCE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17084"/>
              </a:xfrm>
              <a:custGeom>
                <a:avLst/>
                <a:gdLst>
                  <a:gd name="T0" fmla="*/ 19958 w 20000"/>
                  <a:gd name="T1" fmla="*/ 0 h 20000"/>
                  <a:gd name="T2" fmla="*/ 19958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19958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74" name="Rectangle 51">
                <a:extLst>
                  <a:ext uri="{FF2B5EF4-FFF2-40B4-BE49-F238E27FC236}">
                    <a16:creationId xmlns:a16="http://schemas.microsoft.com/office/drawing/2014/main" id="{12BB5C6F-7E46-3887-9428-C83D34B39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’s’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904" name="Group 52">
              <a:extLst>
                <a:ext uri="{FF2B5EF4-FFF2-40B4-BE49-F238E27FC236}">
                  <a16:creationId xmlns:a16="http://schemas.microsoft.com/office/drawing/2014/main" id="{153D7E40-0FA6-A1E1-D6E1-3962F5817F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85" y="833"/>
              <a:ext cx="1731" cy="3903"/>
              <a:chOff x="0" y="0"/>
              <a:chExt cx="20000" cy="20000"/>
            </a:xfrm>
          </p:grpSpPr>
          <p:sp>
            <p:nvSpPr>
              <p:cNvPr id="37971" name="Freeform 53">
                <a:extLst>
                  <a:ext uri="{FF2B5EF4-FFF2-40B4-BE49-F238E27FC236}">
                    <a16:creationId xmlns:a16="http://schemas.microsoft.com/office/drawing/2014/main" id="{6731AADA-5ED9-CE63-2F74-A4545B78E2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9" y="0"/>
                <a:ext cx="18428" cy="17084"/>
              </a:xfrm>
              <a:custGeom>
                <a:avLst/>
                <a:gdLst>
                  <a:gd name="T0" fmla="*/ 8110 w 20000"/>
                  <a:gd name="T1" fmla="*/ 0 h 20000"/>
                  <a:gd name="T2" fmla="*/ 8110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8110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72" name="Rectangle 54">
                <a:extLst>
                  <a:ext uri="{FF2B5EF4-FFF2-40B4-BE49-F238E27FC236}">
                    <a16:creationId xmlns:a16="http://schemas.microsoft.com/office/drawing/2014/main" id="{73ED1CA1-5110-E796-D751-FFA29DD6AE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 ’\0’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905" name="Group 55">
              <a:extLst>
                <a:ext uri="{FF2B5EF4-FFF2-40B4-BE49-F238E27FC236}">
                  <a16:creationId xmlns:a16="http://schemas.microsoft.com/office/drawing/2014/main" id="{90D8D4C5-E3CA-D669-7F9A-78D9736E80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5" y="5694"/>
              <a:ext cx="1595" cy="3903"/>
              <a:chOff x="0" y="0"/>
              <a:chExt cx="20000" cy="20000"/>
            </a:xfrm>
          </p:grpSpPr>
          <p:sp>
            <p:nvSpPr>
              <p:cNvPr id="37969" name="Freeform 56">
                <a:extLst>
                  <a:ext uri="{FF2B5EF4-FFF2-40B4-BE49-F238E27FC236}">
                    <a16:creationId xmlns:a16="http://schemas.microsoft.com/office/drawing/2014/main" id="{4427CB99-A2CA-AA82-3585-9BDAE4F2C0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17084"/>
              </a:xfrm>
              <a:custGeom>
                <a:avLst/>
                <a:gdLst>
                  <a:gd name="T0" fmla="*/ 19958 w 20000"/>
                  <a:gd name="T1" fmla="*/ 0 h 20000"/>
                  <a:gd name="T2" fmla="*/ 19958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19958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70" name="Rectangle 57">
                <a:extLst>
                  <a:ext uri="{FF2B5EF4-FFF2-40B4-BE49-F238E27FC236}">
                    <a16:creationId xmlns:a16="http://schemas.microsoft.com/office/drawing/2014/main" id="{F69B3B9E-5D48-363F-8F91-6E830C7E0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’D’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906" name="Group 58">
              <a:extLst>
                <a:ext uri="{FF2B5EF4-FFF2-40B4-BE49-F238E27FC236}">
                  <a16:creationId xmlns:a16="http://schemas.microsoft.com/office/drawing/2014/main" id="{D1435352-F949-EF9C-917F-739D44F3AF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80" y="5694"/>
              <a:ext cx="1595" cy="3903"/>
              <a:chOff x="0" y="0"/>
              <a:chExt cx="20000" cy="20000"/>
            </a:xfrm>
          </p:grpSpPr>
          <p:sp>
            <p:nvSpPr>
              <p:cNvPr id="37967" name="Freeform 59">
                <a:extLst>
                  <a:ext uri="{FF2B5EF4-FFF2-40B4-BE49-F238E27FC236}">
                    <a16:creationId xmlns:a16="http://schemas.microsoft.com/office/drawing/2014/main" id="{4BAE0F69-5FA8-FB7D-C369-ABA462CAAD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17084"/>
              </a:xfrm>
              <a:custGeom>
                <a:avLst/>
                <a:gdLst>
                  <a:gd name="T0" fmla="*/ 19958 w 20000"/>
                  <a:gd name="T1" fmla="*/ 0 h 20000"/>
                  <a:gd name="T2" fmla="*/ 19958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19958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68" name="Rectangle 60">
                <a:extLst>
                  <a:ext uri="{FF2B5EF4-FFF2-40B4-BE49-F238E27FC236}">
                    <a16:creationId xmlns:a16="http://schemas.microsoft.com/office/drawing/2014/main" id="{A39BE641-BC0C-BE38-0FAE-C78E71F619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’i’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907" name="Group 61">
              <a:extLst>
                <a:ext uri="{FF2B5EF4-FFF2-40B4-BE49-F238E27FC236}">
                  <a16:creationId xmlns:a16="http://schemas.microsoft.com/office/drawing/2014/main" id="{9F34FFF7-FD92-2F71-E223-A5DC14B5A9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5" y="5694"/>
              <a:ext cx="1595" cy="3903"/>
              <a:chOff x="0" y="0"/>
              <a:chExt cx="20000" cy="20000"/>
            </a:xfrm>
          </p:grpSpPr>
          <p:sp>
            <p:nvSpPr>
              <p:cNvPr id="37965" name="Freeform 62">
                <a:extLst>
                  <a:ext uri="{FF2B5EF4-FFF2-40B4-BE49-F238E27FC236}">
                    <a16:creationId xmlns:a16="http://schemas.microsoft.com/office/drawing/2014/main" id="{2CEB098B-30EA-1499-E3D1-5DD4F92E4C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17084"/>
              </a:xfrm>
              <a:custGeom>
                <a:avLst/>
                <a:gdLst>
                  <a:gd name="T0" fmla="*/ 19958 w 20000"/>
                  <a:gd name="T1" fmla="*/ 0 h 20000"/>
                  <a:gd name="T2" fmla="*/ 19958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19958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66" name="Rectangle 63">
                <a:extLst>
                  <a:ext uri="{FF2B5EF4-FFF2-40B4-BE49-F238E27FC236}">
                    <a16:creationId xmlns:a16="http://schemas.microsoft.com/office/drawing/2014/main" id="{6D426DC5-9D83-6651-2E7C-5FC82626CE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’a’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908" name="Group 64">
              <a:extLst>
                <a:ext uri="{FF2B5EF4-FFF2-40B4-BE49-F238E27FC236}">
                  <a16:creationId xmlns:a16="http://schemas.microsoft.com/office/drawing/2014/main" id="{77F23988-9E42-6E17-19F5-4BF85B0A89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70" y="5694"/>
              <a:ext cx="1595" cy="3903"/>
              <a:chOff x="0" y="0"/>
              <a:chExt cx="20000" cy="20000"/>
            </a:xfrm>
          </p:grpSpPr>
          <p:sp>
            <p:nvSpPr>
              <p:cNvPr id="37963" name="Freeform 65">
                <a:extLst>
                  <a:ext uri="{FF2B5EF4-FFF2-40B4-BE49-F238E27FC236}">
                    <a16:creationId xmlns:a16="http://schemas.microsoft.com/office/drawing/2014/main" id="{A77692AA-EC01-73C2-8457-3A03151C6A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17084"/>
              </a:xfrm>
              <a:custGeom>
                <a:avLst/>
                <a:gdLst>
                  <a:gd name="T0" fmla="*/ 19958 w 20000"/>
                  <a:gd name="T1" fmla="*/ 0 h 20000"/>
                  <a:gd name="T2" fmla="*/ 19958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19958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64" name="Rectangle 66">
                <a:extLst>
                  <a:ext uri="{FF2B5EF4-FFF2-40B4-BE49-F238E27FC236}">
                    <a16:creationId xmlns:a16="http://schemas.microsoft.com/office/drawing/2014/main" id="{F2863FBF-21C0-7DAE-8047-63A2D84F50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’m’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909" name="Group 67">
              <a:extLst>
                <a:ext uri="{FF2B5EF4-FFF2-40B4-BE49-F238E27FC236}">
                  <a16:creationId xmlns:a16="http://schemas.microsoft.com/office/drawing/2014/main" id="{3D58BB5E-6B1B-0C3B-AE90-A47F776AA7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65" y="5694"/>
              <a:ext cx="1595" cy="3903"/>
              <a:chOff x="0" y="0"/>
              <a:chExt cx="20000" cy="20000"/>
            </a:xfrm>
          </p:grpSpPr>
          <p:sp>
            <p:nvSpPr>
              <p:cNvPr id="37961" name="Freeform 68">
                <a:extLst>
                  <a:ext uri="{FF2B5EF4-FFF2-40B4-BE49-F238E27FC236}">
                    <a16:creationId xmlns:a16="http://schemas.microsoft.com/office/drawing/2014/main" id="{F6E83C7A-27C1-8AEC-2C26-4D24CFC378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17084"/>
              </a:xfrm>
              <a:custGeom>
                <a:avLst/>
                <a:gdLst>
                  <a:gd name="T0" fmla="*/ 19958 w 20000"/>
                  <a:gd name="T1" fmla="*/ 0 h 20000"/>
                  <a:gd name="T2" fmla="*/ 19958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19958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62" name="Rectangle 69">
                <a:extLst>
                  <a:ext uri="{FF2B5EF4-FFF2-40B4-BE49-F238E27FC236}">
                    <a16:creationId xmlns:a16="http://schemas.microsoft.com/office/drawing/2014/main" id="{5D10CEFC-79FD-8723-099B-35FCEECEC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8" y="0"/>
                <a:ext cx="16714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’o’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910" name="Group 70">
              <a:extLst>
                <a:ext uri="{FF2B5EF4-FFF2-40B4-BE49-F238E27FC236}">
                  <a16:creationId xmlns:a16="http://schemas.microsoft.com/office/drawing/2014/main" id="{63FD3543-4C3C-958E-6D4A-48C896734A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60" y="5694"/>
              <a:ext cx="1595" cy="3903"/>
              <a:chOff x="0" y="0"/>
              <a:chExt cx="20000" cy="20000"/>
            </a:xfrm>
          </p:grpSpPr>
          <p:sp>
            <p:nvSpPr>
              <p:cNvPr id="37959" name="Freeform 71">
                <a:extLst>
                  <a:ext uri="{FF2B5EF4-FFF2-40B4-BE49-F238E27FC236}">
                    <a16:creationId xmlns:a16="http://schemas.microsoft.com/office/drawing/2014/main" id="{4B849DAA-208E-CD1C-BCF6-5F8D16BF0F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17084"/>
              </a:xfrm>
              <a:custGeom>
                <a:avLst/>
                <a:gdLst>
                  <a:gd name="T0" fmla="*/ 19958 w 20000"/>
                  <a:gd name="T1" fmla="*/ 0 h 20000"/>
                  <a:gd name="T2" fmla="*/ 19958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19958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60" name="Rectangle 72">
                <a:extLst>
                  <a:ext uri="{FF2B5EF4-FFF2-40B4-BE49-F238E27FC236}">
                    <a16:creationId xmlns:a16="http://schemas.microsoft.com/office/drawing/2014/main" id="{14C71DE3-6EC7-0174-70F3-9F770F0117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8" y="0"/>
                <a:ext cx="16714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’n’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911" name="Group 73">
              <a:extLst>
                <a:ext uri="{FF2B5EF4-FFF2-40B4-BE49-F238E27FC236}">
                  <a16:creationId xmlns:a16="http://schemas.microsoft.com/office/drawing/2014/main" id="{4E1CC728-8A59-602B-74C9-E7AF4D06C8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55" y="5694"/>
              <a:ext cx="1595" cy="3903"/>
              <a:chOff x="0" y="0"/>
              <a:chExt cx="20000" cy="20000"/>
            </a:xfrm>
          </p:grpSpPr>
          <p:sp>
            <p:nvSpPr>
              <p:cNvPr id="37957" name="Freeform 74">
                <a:extLst>
                  <a:ext uri="{FF2B5EF4-FFF2-40B4-BE49-F238E27FC236}">
                    <a16:creationId xmlns:a16="http://schemas.microsoft.com/office/drawing/2014/main" id="{CD9A24E9-7C8E-977D-AFDC-C5057F6C2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17084"/>
              </a:xfrm>
              <a:custGeom>
                <a:avLst/>
                <a:gdLst>
                  <a:gd name="T0" fmla="*/ 19958 w 20000"/>
                  <a:gd name="T1" fmla="*/ 0 h 20000"/>
                  <a:gd name="T2" fmla="*/ 19958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19958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58" name="Rectangle 75">
                <a:extLst>
                  <a:ext uri="{FF2B5EF4-FFF2-40B4-BE49-F238E27FC236}">
                    <a16:creationId xmlns:a16="http://schemas.microsoft.com/office/drawing/2014/main" id="{8943FC36-D497-4F4F-C24E-CA5A5E6665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8" y="0"/>
                <a:ext cx="16714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’d’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912" name="Group 76">
              <a:extLst>
                <a:ext uri="{FF2B5EF4-FFF2-40B4-BE49-F238E27FC236}">
                  <a16:creationId xmlns:a16="http://schemas.microsoft.com/office/drawing/2014/main" id="{011C7D8B-84B1-E640-F325-586B0583E8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49" y="5694"/>
              <a:ext cx="1595" cy="3903"/>
              <a:chOff x="-13" y="0"/>
              <a:chExt cx="20013" cy="20000"/>
            </a:xfrm>
          </p:grpSpPr>
          <p:sp>
            <p:nvSpPr>
              <p:cNvPr id="37955" name="Freeform 77">
                <a:extLst>
                  <a:ext uri="{FF2B5EF4-FFF2-40B4-BE49-F238E27FC236}">
                    <a16:creationId xmlns:a16="http://schemas.microsoft.com/office/drawing/2014/main" id="{C89049DC-3679-297D-F65C-819099BC44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3" y="0"/>
                <a:ext cx="20013" cy="17084"/>
              </a:xfrm>
              <a:custGeom>
                <a:avLst/>
                <a:gdLst>
                  <a:gd name="T0" fmla="*/ 20101 w 20000"/>
                  <a:gd name="T1" fmla="*/ 0 h 20000"/>
                  <a:gd name="T2" fmla="*/ 20101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20101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56" name="Rectangle 78">
                <a:extLst>
                  <a:ext uri="{FF2B5EF4-FFF2-40B4-BE49-F238E27FC236}">
                    <a16:creationId xmlns:a16="http://schemas.microsoft.com/office/drawing/2014/main" id="{1B25C8DC-4CDF-9BED-5BF4-C3BF534162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8" y="0"/>
                <a:ext cx="16713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’s’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913" name="Group 79">
              <a:extLst>
                <a:ext uri="{FF2B5EF4-FFF2-40B4-BE49-F238E27FC236}">
                  <a16:creationId xmlns:a16="http://schemas.microsoft.com/office/drawing/2014/main" id="{2EA293D1-5191-8802-A19C-80260516AA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74" y="5694"/>
              <a:ext cx="1731" cy="3903"/>
              <a:chOff x="0" y="0"/>
              <a:chExt cx="20000" cy="20000"/>
            </a:xfrm>
          </p:grpSpPr>
          <p:sp>
            <p:nvSpPr>
              <p:cNvPr id="37953" name="Freeform 80">
                <a:extLst>
                  <a:ext uri="{FF2B5EF4-FFF2-40B4-BE49-F238E27FC236}">
                    <a16:creationId xmlns:a16="http://schemas.microsoft.com/office/drawing/2014/main" id="{2772D143-0E36-4DCA-B9EA-65602BA38D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9" y="0"/>
                <a:ext cx="18428" cy="17084"/>
              </a:xfrm>
              <a:custGeom>
                <a:avLst/>
                <a:gdLst>
                  <a:gd name="T0" fmla="*/ 8110 w 20000"/>
                  <a:gd name="T1" fmla="*/ 0 h 20000"/>
                  <a:gd name="T2" fmla="*/ 8110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8110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54" name="Rectangle 81">
                <a:extLst>
                  <a:ext uri="{FF2B5EF4-FFF2-40B4-BE49-F238E27FC236}">
                    <a16:creationId xmlns:a16="http://schemas.microsoft.com/office/drawing/2014/main" id="{E8572D8A-6D78-CF77-0279-D9EEB1D8F2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 ’\0’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914" name="Group 82">
              <a:extLst>
                <a:ext uri="{FF2B5EF4-FFF2-40B4-BE49-F238E27FC236}">
                  <a16:creationId xmlns:a16="http://schemas.microsoft.com/office/drawing/2014/main" id="{BA44FBD1-B2D5-EE8A-9367-0037DADE29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5" y="10694"/>
              <a:ext cx="1595" cy="3903"/>
              <a:chOff x="0" y="0"/>
              <a:chExt cx="20000" cy="20000"/>
            </a:xfrm>
          </p:grpSpPr>
          <p:sp>
            <p:nvSpPr>
              <p:cNvPr id="37951" name="Freeform 83">
                <a:extLst>
                  <a:ext uri="{FF2B5EF4-FFF2-40B4-BE49-F238E27FC236}">
                    <a16:creationId xmlns:a16="http://schemas.microsoft.com/office/drawing/2014/main" id="{BD1122C1-6DE6-26BD-E0E1-00C78D7557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17084"/>
              </a:xfrm>
              <a:custGeom>
                <a:avLst/>
                <a:gdLst>
                  <a:gd name="T0" fmla="*/ 19958 w 20000"/>
                  <a:gd name="T1" fmla="*/ 0 h 20000"/>
                  <a:gd name="T2" fmla="*/ 19958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19958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52" name="Rectangle 84">
                <a:extLst>
                  <a:ext uri="{FF2B5EF4-FFF2-40B4-BE49-F238E27FC236}">
                    <a16:creationId xmlns:a16="http://schemas.microsoft.com/office/drawing/2014/main" id="{8B68ECAA-D4DB-FAB7-9BF4-31A3E70D6F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’C’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915" name="Group 85">
              <a:extLst>
                <a:ext uri="{FF2B5EF4-FFF2-40B4-BE49-F238E27FC236}">
                  <a16:creationId xmlns:a16="http://schemas.microsoft.com/office/drawing/2014/main" id="{C0002362-380B-1D3F-5D5C-B99B491F9E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80" y="10694"/>
              <a:ext cx="1595" cy="3903"/>
              <a:chOff x="0" y="0"/>
              <a:chExt cx="20000" cy="20000"/>
            </a:xfrm>
          </p:grpSpPr>
          <p:sp>
            <p:nvSpPr>
              <p:cNvPr id="37949" name="Freeform 86">
                <a:extLst>
                  <a:ext uri="{FF2B5EF4-FFF2-40B4-BE49-F238E27FC236}">
                    <a16:creationId xmlns:a16="http://schemas.microsoft.com/office/drawing/2014/main" id="{0014EE9D-24F5-5FAB-ACE2-5539AC8CA7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17084"/>
              </a:xfrm>
              <a:custGeom>
                <a:avLst/>
                <a:gdLst>
                  <a:gd name="T0" fmla="*/ 19958 w 20000"/>
                  <a:gd name="T1" fmla="*/ 0 h 20000"/>
                  <a:gd name="T2" fmla="*/ 19958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19958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50" name="Rectangle 87">
                <a:extLst>
                  <a:ext uri="{FF2B5EF4-FFF2-40B4-BE49-F238E27FC236}">
                    <a16:creationId xmlns:a16="http://schemas.microsoft.com/office/drawing/2014/main" id="{D4C2537F-94A8-A7E7-9CB9-75F4E7A3CD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’l’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916" name="Group 88">
              <a:extLst>
                <a:ext uri="{FF2B5EF4-FFF2-40B4-BE49-F238E27FC236}">
                  <a16:creationId xmlns:a16="http://schemas.microsoft.com/office/drawing/2014/main" id="{4DA0078F-354E-C121-D0F7-2AE9986548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5" y="10694"/>
              <a:ext cx="1595" cy="3903"/>
              <a:chOff x="0" y="0"/>
              <a:chExt cx="20000" cy="20000"/>
            </a:xfrm>
          </p:grpSpPr>
          <p:sp>
            <p:nvSpPr>
              <p:cNvPr id="37947" name="Freeform 89">
                <a:extLst>
                  <a:ext uri="{FF2B5EF4-FFF2-40B4-BE49-F238E27FC236}">
                    <a16:creationId xmlns:a16="http://schemas.microsoft.com/office/drawing/2014/main" id="{E1750F6D-C917-BC44-BD79-AF86434309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17084"/>
              </a:xfrm>
              <a:custGeom>
                <a:avLst/>
                <a:gdLst>
                  <a:gd name="T0" fmla="*/ 19958 w 20000"/>
                  <a:gd name="T1" fmla="*/ 0 h 20000"/>
                  <a:gd name="T2" fmla="*/ 19958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19958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48" name="Rectangle 90">
                <a:extLst>
                  <a:ext uri="{FF2B5EF4-FFF2-40B4-BE49-F238E27FC236}">
                    <a16:creationId xmlns:a16="http://schemas.microsoft.com/office/drawing/2014/main" id="{F53F9910-B304-A20A-0DE1-FE6C4B2FB5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8" y="0"/>
                <a:ext cx="16714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’u’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917" name="Group 91">
              <a:extLst>
                <a:ext uri="{FF2B5EF4-FFF2-40B4-BE49-F238E27FC236}">
                  <a16:creationId xmlns:a16="http://schemas.microsoft.com/office/drawing/2014/main" id="{127B66D7-100A-D9DD-4BEB-7160095910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70" y="10694"/>
              <a:ext cx="1594" cy="3903"/>
              <a:chOff x="0" y="0"/>
              <a:chExt cx="20000" cy="20000"/>
            </a:xfrm>
          </p:grpSpPr>
          <p:sp>
            <p:nvSpPr>
              <p:cNvPr id="37945" name="Freeform 92">
                <a:extLst>
                  <a:ext uri="{FF2B5EF4-FFF2-40B4-BE49-F238E27FC236}">
                    <a16:creationId xmlns:a16="http://schemas.microsoft.com/office/drawing/2014/main" id="{C04B051A-3377-7E01-4BAA-EA6ECB3E98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17084"/>
              </a:xfrm>
              <a:custGeom>
                <a:avLst/>
                <a:gdLst>
                  <a:gd name="T0" fmla="*/ 19958 w 20000"/>
                  <a:gd name="T1" fmla="*/ 0 h 20000"/>
                  <a:gd name="T2" fmla="*/ 19958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19958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46" name="Rectangle 93">
                <a:extLst>
                  <a:ext uri="{FF2B5EF4-FFF2-40B4-BE49-F238E27FC236}">
                    <a16:creationId xmlns:a16="http://schemas.microsoft.com/office/drawing/2014/main" id="{9BFCF2D6-06E7-358B-5FE3-953E07F06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9" y="0"/>
                <a:ext cx="16725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’b’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918" name="Group 94">
              <a:extLst>
                <a:ext uri="{FF2B5EF4-FFF2-40B4-BE49-F238E27FC236}">
                  <a16:creationId xmlns:a16="http://schemas.microsoft.com/office/drawing/2014/main" id="{9FF57862-3E67-B963-CDF8-001218EC79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64" y="10694"/>
              <a:ext cx="1595" cy="3903"/>
              <a:chOff x="0" y="0"/>
              <a:chExt cx="20000" cy="20000"/>
            </a:xfrm>
          </p:grpSpPr>
          <p:sp>
            <p:nvSpPr>
              <p:cNvPr id="37943" name="Freeform 95">
                <a:extLst>
                  <a:ext uri="{FF2B5EF4-FFF2-40B4-BE49-F238E27FC236}">
                    <a16:creationId xmlns:a16="http://schemas.microsoft.com/office/drawing/2014/main" id="{7D8A5E64-7174-E3F0-B988-12F2C00D37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17084"/>
              </a:xfrm>
              <a:custGeom>
                <a:avLst/>
                <a:gdLst>
                  <a:gd name="T0" fmla="*/ 19958 w 20000"/>
                  <a:gd name="T1" fmla="*/ 0 h 20000"/>
                  <a:gd name="T2" fmla="*/ 19958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19958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44" name="Rectangle 96">
                <a:extLst>
                  <a:ext uri="{FF2B5EF4-FFF2-40B4-BE49-F238E27FC236}">
                    <a16:creationId xmlns:a16="http://schemas.microsoft.com/office/drawing/2014/main" id="{FC2FFA8C-1725-6C73-A110-855E7D70F1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’s’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919" name="Group 97">
              <a:extLst>
                <a:ext uri="{FF2B5EF4-FFF2-40B4-BE49-F238E27FC236}">
                  <a16:creationId xmlns:a16="http://schemas.microsoft.com/office/drawing/2014/main" id="{3E218C97-1E4A-7991-E706-A58BD01A13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90" y="10694"/>
              <a:ext cx="1731" cy="3903"/>
              <a:chOff x="0" y="0"/>
              <a:chExt cx="20000" cy="20000"/>
            </a:xfrm>
          </p:grpSpPr>
          <p:sp>
            <p:nvSpPr>
              <p:cNvPr id="37941" name="Freeform 98">
                <a:extLst>
                  <a:ext uri="{FF2B5EF4-FFF2-40B4-BE49-F238E27FC236}">
                    <a16:creationId xmlns:a16="http://schemas.microsoft.com/office/drawing/2014/main" id="{42DB90C1-BBF9-C492-D1EF-7C487E6972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7" y="0"/>
                <a:ext cx="18429" cy="17084"/>
              </a:xfrm>
              <a:custGeom>
                <a:avLst/>
                <a:gdLst>
                  <a:gd name="T0" fmla="*/ 8115 w 20000"/>
                  <a:gd name="T1" fmla="*/ 0 h 20000"/>
                  <a:gd name="T2" fmla="*/ 8115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8115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42" name="Rectangle 99">
                <a:extLst>
                  <a:ext uri="{FF2B5EF4-FFF2-40B4-BE49-F238E27FC236}">
                    <a16:creationId xmlns:a16="http://schemas.microsoft.com/office/drawing/2014/main" id="{3B5E942C-4836-6194-0791-2357EFD79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 ’\0’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920" name="Group 100">
              <a:extLst>
                <a:ext uri="{FF2B5EF4-FFF2-40B4-BE49-F238E27FC236}">
                  <a16:creationId xmlns:a16="http://schemas.microsoft.com/office/drawing/2014/main" id="{3A2FA931-F936-1D23-72B8-C5A42B6F32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5" y="15694"/>
              <a:ext cx="1595" cy="3903"/>
              <a:chOff x="0" y="0"/>
              <a:chExt cx="20000" cy="20000"/>
            </a:xfrm>
          </p:grpSpPr>
          <p:sp>
            <p:nvSpPr>
              <p:cNvPr id="37939" name="Freeform 101">
                <a:extLst>
                  <a:ext uri="{FF2B5EF4-FFF2-40B4-BE49-F238E27FC236}">
                    <a16:creationId xmlns:a16="http://schemas.microsoft.com/office/drawing/2014/main" id="{C98916A8-57A5-6489-574A-B410BBDE18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17084"/>
              </a:xfrm>
              <a:custGeom>
                <a:avLst/>
                <a:gdLst>
                  <a:gd name="T0" fmla="*/ 19958 w 20000"/>
                  <a:gd name="T1" fmla="*/ 0 h 20000"/>
                  <a:gd name="T2" fmla="*/ 19958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19958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40" name="Rectangle 102">
                <a:extLst>
                  <a:ext uri="{FF2B5EF4-FFF2-40B4-BE49-F238E27FC236}">
                    <a16:creationId xmlns:a16="http://schemas.microsoft.com/office/drawing/2014/main" id="{844D84A1-75D5-EE3C-5727-9296FCB2C9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’S’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921" name="Group 103">
              <a:extLst>
                <a:ext uri="{FF2B5EF4-FFF2-40B4-BE49-F238E27FC236}">
                  <a16:creationId xmlns:a16="http://schemas.microsoft.com/office/drawing/2014/main" id="{AC3650A8-AADE-8744-AD91-62F17D9553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80" y="15694"/>
              <a:ext cx="1595" cy="3903"/>
              <a:chOff x="0" y="0"/>
              <a:chExt cx="20000" cy="20000"/>
            </a:xfrm>
          </p:grpSpPr>
          <p:sp>
            <p:nvSpPr>
              <p:cNvPr id="37937" name="Freeform 104">
                <a:extLst>
                  <a:ext uri="{FF2B5EF4-FFF2-40B4-BE49-F238E27FC236}">
                    <a16:creationId xmlns:a16="http://schemas.microsoft.com/office/drawing/2014/main" id="{6D11AA1B-92D2-B0FB-E999-4BC5F7B604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17084"/>
              </a:xfrm>
              <a:custGeom>
                <a:avLst/>
                <a:gdLst>
                  <a:gd name="T0" fmla="*/ 19958 w 20000"/>
                  <a:gd name="T1" fmla="*/ 0 h 20000"/>
                  <a:gd name="T2" fmla="*/ 19958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19958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38" name="Rectangle 105">
                <a:extLst>
                  <a:ext uri="{FF2B5EF4-FFF2-40B4-BE49-F238E27FC236}">
                    <a16:creationId xmlns:a16="http://schemas.microsoft.com/office/drawing/2014/main" id="{0EA6CC17-2B68-2E2F-A564-3B1FFC1300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’p’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922" name="Group 106">
              <a:extLst>
                <a:ext uri="{FF2B5EF4-FFF2-40B4-BE49-F238E27FC236}">
                  <a16:creationId xmlns:a16="http://schemas.microsoft.com/office/drawing/2014/main" id="{E67980CD-2676-8601-8926-1D3CC44695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5" y="15694"/>
              <a:ext cx="1595" cy="3903"/>
              <a:chOff x="0" y="0"/>
              <a:chExt cx="20000" cy="20000"/>
            </a:xfrm>
          </p:grpSpPr>
          <p:sp>
            <p:nvSpPr>
              <p:cNvPr id="37935" name="Freeform 107">
                <a:extLst>
                  <a:ext uri="{FF2B5EF4-FFF2-40B4-BE49-F238E27FC236}">
                    <a16:creationId xmlns:a16="http://schemas.microsoft.com/office/drawing/2014/main" id="{C923D3CF-00AF-480D-225E-132138B132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17084"/>
              </a:xfrm>
              <a:custGeom>
                <a:avLst/>
                <a:gdLst>
                  <a:gd name="T0" fmla="*/ 19958 w 20000"/>
                  <a:gd name="T1" fmla="*/ 0 h 20000"/>
                  <a:gd name="T2" fmla="*/ 19958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19958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36" name="Rectangle 108">
                <a:extLst>
                  <a:ext uri="{FF2B5EF4-FFF2-40B4-BE49-F238E27FC236}">
                    <a16:creationId xmlns:a16="http://schemas.microsoft.com/office/drawing/2014/main" id="{7D1ABA65-E117-BB93-7BDA-FF1B51BFA6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8" y="0"/>
                <a:ext cx="16714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’a’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923" name="Group 109">
              <a:extLst>
                <a:ext uri="{FF2B5EF4-FFF2-40B4-BE49-F238E27FC236}">
                  <a16:creationId xmlns:a16="http://schemas.microsoft.com/office/drawing/2014/main" id="{0AFC7F82-AF42-8AF4-545C-FFBEED1387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70" y="15694"/>
              <a:ext cx="1594" cy="3903"/>
              <a:chOff x="0" y="0"/>
              <a:chExt cx="20000" cy="20000"/>
            </a:xfrm>
          </p:grpSpPr>
          <p:sp>
            <p:nvSpPr>
              <p:cNvPr id="37933" name="Freeform 110">
                <a:extLst>
                  <a:ext uri="{FF2B5EF4-FFF2-40B4-BE49-F238E27FC236}">
                    <a16:creationId xmlns:a16="http://schemas.microsoft.com/office/drawing/2014/main" id="{17FFE4E6-06EE-4828-423E-1863A46CA2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17084"/>
              </a:xfrm>
              <a:custGeom>
                <a:avLst/>
                <a:gdLst>
                  <a:gd name="T0" fmla="*/ 19958 w 20000"/>
                  <a:gd name="T1" fmla="*/ 0 h 20000"/>
                  <a:gd name="T2" fmla="*/ 19958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19958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34" name="Rectangle 111">
                <a:extLst>
                  <a:ext uri="{FF2B5EF4-FFF2-40B4-BE49-F238E27FC236}">
                    <a16:creationId xmlns:a16="http://schemas.microsoft.com/office/drawing/2014/main" id="{25896107-B850-3E56-BC36-D6505D1DCA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9" y="0"/>
                <a:ext cx="16725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’d’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924" name="Group 112">
              <a:extLst>
                <a:ext uri="{FF2B5EF4-FFF2-40B4-BE49-F238E27FC236}">
                  <a16:creationId xmlns:a16="http://schemas.microsoft.com/office/drawing/2014/main" id="{23EE9509-D79A-B7B3-4FF2-731F20845B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64" y="15694"/>
              <a:ext cx="1595" cy="3903"/>
              <a:chOff x="0" y="0"/>
              <a:chExt cx="20000" cy="20000"/>
            </a:xfrm>
          </p:grpSpPr>
          <p:sp>
            <p:nvSpPr>
              <p:cNvPr id="37931" name="Freeform 113">
                <a:extLst>
                  <a:ext uri="{FF2B5EF4-FFF2-40B4-BE49-F238E27FC236}">
                    <a16:creationId xmlns:a16="http://schemas.microsoft.com/office/drawing/2014/main" id="{10092761-64E9-5A0E-C9A3-1FA494523C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17084"/>
              </a:xfrm>
              <a:custGeom>
                <a:avLst/>
                <a:gdLst>
                  <a:gd name="T0" fmla="*/ 19958 w 20000"/>
                  <a:gd name="T1" fmla="*/ 0 h 20000"/>
                  <a:gd name="T2" fmla="*/ 19958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19958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32" name="Rectangle 114">
                <a:extLst>
                  <a:ext uri="{FF2B5EF4-FFF2-40B4-BE49-F238E27FC236}">
                    <a16:creationId xmlns:a16="http://schemas.microsoft.com/office/drawing/2014/main" id="{7E16B169-2977-D05B-AC85-B9DC71360D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’e’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925" name="Group 115">
              <a:extLst>
                <a:ext uri="{FF2B5EF4-FFF2-40B4-BE49-F238E27FC236}">
                  <a16:creationId xmlns:a16="http://schemas.microsoft.com/office/drawing/2014/main" id="{C7DFFF0A-50D9-135E-E7C1-6A1077D742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59" y="15694"/>
              <a:ext cx="1595" cy="3903"/>
              <a:chOff x="0" y="0"/>
              <a:chExt cx="20000" cy="20000"/>
            </a:xfrm>
          </p:grpSpPr>
          <p:sp>
            <p:nvSpPr>
              <p:cNvPr id="37929" name="Freeform 116">
                <a:extLst>
                  <a:ext uri="{FF2B5EF4-FFF2-40B4-BE49-F238E27FC236}">
                    <a16:creationId xmlns:a16="http://schemas.microsoft.com/office/drawing/2014/main" id="{A9C79DED-184A-F647-F74D-C776B134FF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17084"/>
              </a:xfrm>
              <a:custGeom>
                <a:avLst/>
                <a:gdLst>
                  <a:gd name="T0" fmla="*/ 19958 w 20000"/>
                  <a:gd name="T1" fmla="*/ 0 h 20000"/>
                  <a:gd name="T2" fmla="*/ 19958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19958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30" name="Rectangle 117">
                <a:extLst>
                  <a:ext uri="{FF2B5EF4-FFF2-40B4-BE49-F238E27FC236}">
                    <a16:creationId xmlns:a16="http://schemas.microsoft.com/office/drawing/2014/main" id="{BD4D5FDB-C060-C200-7705-0FF4549590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’s’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7926" name="Group 118">
              <a:extLst>
                <a:ext uri="{FF2B5EF4-FFF2-40B4-BE49-F238E27FC236}">
                  <a16:creationId xmlns:a16="http://schemas.microsoft.com/office/drawing/2014/main" id="{A0A06903-A6A7-BF78-7D28-6DD82B26E0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84" y="15694"/>
              <a:ext cx="1731" cy="3903"/>
              <a:chOff x="0" y="0"/>
              <a:chExt cx="20000" cy="20000"/>
            </a:xfrm>
          </p:grpSpPr>
          <p:sp>
            <p:nvSpPr>
              <p:cNvPr id="37927" name="Freeform 119">
                <a:extLst>
                  <a:ext uri="{FF2B5EF4-FFF2-40B4-BE49-F238E27FC236}">
                    <a16:creationId xmlns:a16="http://schemas.microsoft.com/office/drawing/2014/main" id="{6EF3FD99-668F-FC6F-2C34-C928F7E0BB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9" y="0"/>
                <a:ext cx="18428" cy="17084"/>
              </a:xfrm>
              <a:custGeom>
                <a:avLst/>
                <a:gdLst>
                  <a:gd name="T0" fmla="*/ 8110 w 20000"/>
                  <a:gd name="T1" fmla="*/ 0 h 20000"/>
                  <a:gd name="T2" fmla="*/ 8110 w 20000"/>
                  <a:gd name="T3" fmla="*/ 3518 h 20000"/>
                  <a:gd name="T4" fmla="*/ 0 w 20000"/>
                  <a:gd name="T5" fmla="*/ 3518 h 20000"/>
                  <a:gd name="T6" fmla="*/ 0 w 20000"/>
                  <a:gd name="T7" fmla="*/ 0 h 20000"/>
                  <a:gd name="T8" fmla="*/ 8110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928" name="Rectangle 120">
                <a:extLst>
                  <a:ext uri="{FF2B5EF4-FFF2-40B4-BE49-F238E27FC236}">
                    <a16:creationId xmlns:a16="http://schemas.microsoft.com/office/drawing/2014/main" id="{6BDBAE91-F1BF-C419-74BF-7AA70ED5E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FF"/>
                  </a:buClr>
                  <a:buChar char="–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Char char="•"/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ko-KR" sz="1200" b="1">
                    <a:latin typeface="Courier New" panose="02070309020205020404" pitchFamily="49" charset="0"/>
                    <a:ea typeface="굴림" panose="020B0600000101010101" pitchFamily="34" charset="-127"/>
                    <a:cs typeface="Courier New" panose="02070309020205020404" pitchFamily="49" charset="0"/>
                  </a:rPr>
                  <a:t> ’\0’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ko-KR" sz="1200" b="1">
                  <a:latin typeface="Courier New" panose="02070309020205020404" pitchFamily="49" charset="0"/>
                  <a:ea typeface="굴림" panose="020B0600000101010101" pitchFamily="34" charset="-127"/>
                  <a:cs typeface="Courier New" panose="02070309020205020404" pitchFamily="49" charset="0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932</TotalTime>
  <Words>2871</Words>
  <Application>Microsoft Office PowerPoint</Application>
  <PresentationFormat>Widescreen</PresentationFormat>
  <Paragraphs>424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AvantGarde</vt:lpstr>
      <vt:lpstr>Courier</vt:lpstr>
      <vt:lpstr>굴림</vt:lpstr>
      <vt:lpstr>Aptos</vt:lpstr>
      <vt:lpstr>Aptos Display</vt:lpstr>
      <vt:lpstr>Arial</vt:lpstr>
      <vt:lpstr>Courier New</vt:lpstr>
      <vt:lpstr>Helvetica</vt:lpstr>
      <vt:lpstr>Tahoma</vt:lpstr>
      <vt:lpstr>Office Theme</vt:lpstr>
      <vt:lpstr>Programming Fundamentals</vt:lpstr>
      <vt:lpstr>Pointers</vt:lpstr>
      <vt:lpstr>Pointers</vt:lpstr>
      <vt:lpstr>Pointer Variable Declaration</vt:lpstr>
      <vt:lpstr>Pointer initialization</vt:lpstr>
      <vt:lpstr>Pointer Operation</vt:lpstr>
      <vt:lpstr>Pointer Operation</vt:lpstr>
      <vt:lpstr>const with pointers</vt:lpstr>
      <vt:lpstr>Attempting to modify a constant pointer to constant data</vt:lpstr>
      <vt:lpstr>CALLING a function</vt:lpstr>
      <vt:lpstr>1. Call by Value</vt:lpstr>
      <vt:lpstr>2. Call by Reference (int&amp;)</vt:lpstr>
      <vt:lpstr>3. Call by Pointer (int*)</vt:lpstr>
      <vt:lpstr>Parameter Passing: value vs reference vs pointer</vt:lpstr>
      <vt:lpstr>Pass number by value; result returned by cubeByValue</vt:lpstr>
      <vt:lpstr>Calling a function by reference</vt:lpstr>
      <vt:lpstr>Conversion (Lower to Upper Case)</vt:lpstr>
      <vt:lpstr>sizeof Function</vt:lpstr>
      <vt:lpstr>sizeof Function</vt:lpstr>
      <vt:lpstr>Pointer Expressions and Pointer Arithmetic</vt:lpstr>
      <vt:lpstr>Pointer Expressions and Pointer Arithmetic</vt:lpstr>
      <vt:lpstr>Relationship Between Pointers and Arrays</vt:lpstr>
      <vt:lpstr>Relationship Between Pointers and Arrays</vt:lpstr>
      <vt:lpstr>Relationship Between Pointers and Arrays (output)</vt:lpstr>
      <vt:lpstr>Arrays of Pointers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Suhail Asghar Qureshi</dc:creator>
  <cp:lastModifiedBy>Suhail Asghar Qureshi</cp:lastModifiedBy>
  <cp:revision>299</cp:revision>
  <dcterms:created xsi:type="dcterms:W3CDTF">2025-11-02T12:21:22Z</dcterms:created>
  <dcterms:modified xsi:type="dcterms:W3CDTF">2025-12-09T20:30:12Z</dcterms:modified>
</cp:coreProperties>
</file>