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7" r:id="rId3"/>
    <p:sldId id="259" r:id="rId4"/>
    <p:sldId id="260" r:id="rId5"/>
    <p:sldId id="355" r:id="rId6"/>
    <p:sldId id="314" r:id="rId7"/>
    <p:sldId id="258" r:id="rId8"/>
    <p:sldId id="261" r:id="rId9"/>
    <p:sldId id="262" r:id="rId10"/>
    <p:sldId id="263" r:id="rId11"/>
    <p:sldId id="308" r:id="rId12"/>
    <p:sldId id="309" r:id="rId13"/>
    <p:sldId id="363" r:id="rId14"/>
    <p:sldId id="364" r:id="rId15"/>
    <p:sldId id="326" r:id="rId16"/>
    <p:sldId id="327" r:id="rId17"/>
    <p:sldId id="328" r:id="rId18"/>
    <p:sldId id="358" r:id="rId19"/>
    <p:sldId id="359" r:id="rId20"/>
    <p:sldId id="374" r:id="rId21"/>
    <p:sldId id="318" r:id="rId22"/>
    <p:sldId id="319" r:id="rId23"/>
    <p:sldId id="360" r:id="rId24"/>
    <p:sldId id="361" r:id="rId25"/>
    <p:sldId id="362" r:id="rId26"/>
    <p:sldId id="366" r:id="rId27"/>
    <p:sldId id="367" r:id="rId28"/>
    <p:sldId id="368" r:id="rId29"/>
    <p:sldId id="371" r:id="rId30"/>
    <p:sldId id="372" r:id="rId31"/>
    <p:sldId id="37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9469-F27B-F44A-83B3-A68C06E14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791C0-12AC-BAF6-C970-9C5FA4FE0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F76A-BE87-601B-F967-D88C273C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BB2CF-7840-7679-8861-1765B9DA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10DDE-18E7-41CC-3628-6F15F42F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489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E6E6-F6AA-1F16-8544-73B880F8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419B-B737-3F31-14A4-F4718E9C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986D3-9C69-2D73-5C10-012CB21F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2260-69F1-11C4-2735-7782AF2F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542B5-F4F4-1A8A-F312-B7BD2C3C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788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2A7B-B7E5-8EF2-864D-6D55970F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9FC0D-B50E-A224-1819-197C026C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917E3-D5B2-6B3F-1C3B-87DC5573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8910A-C73F-CE92-96F4-9421320C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464F-3699-DB9E-66CB-57A53314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117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FD95-FAA3-32AD-1395-46987716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ABB15-39CE-438A-7A78-606BA89BA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BBAD7-8972-A71E-0830-984727652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0A86B-F254-DB4A-285D-12E091F1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B3BF-2619-73D5-B15D-C08EA9D4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2A9-BA97-0D42-9875-BFC35DA8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576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3A5A-29F6-B528-C4F5-F08B2F0D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AA363-2E73-53D7-78BB-9C638A4C8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1B4F-456F-57E7-B2DD-652427C41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C29E9-019B-7C7F-1BD0-E0A1FB913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82B07-53BF-FA79-8436-0032C28CB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098F6-3219-0742-78EC-65A135D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675DF-8540-03DA-B687-14B6C6AA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5138A-5039-CA50-055D-0E9D5120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5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1C9B-A232-140F-CEB2-6BFC68EB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48498-AE2B-2564-5B78-761E3A32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B5E71-650F-5649-54BB-E2D350CE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86DB5-6001-6685-FC25-E89D13D3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783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36FBE-3CEC-4ABE-9088-E1F5C24E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EA43D-4115-BECF-D4D3-0DB29054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8EF1-2A6D-DA34-E2C0-70E0C461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795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CEB6-2AEC-58F0-C8C1-4CCDE46C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2426-8775-E1D9-420B-8C81FF9C3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4C1E9-7F82-575A-2D9C-925EA812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F6731-6E5A-7AF2-2966-5C01485B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7783-B07E-18DD-1148-2DF3E2A4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70A50-1594-2CC7-16AD-7309059D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183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30D8-48FA-50C7-7769-D737FA43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9DA72-EAD6-3632-78D6-E3AE74F68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F6391-FD3F-EEF0-593B-BC0E034A2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FD72E-83B1-23F4-813F-1EABC664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5F6A0-528D-28F6-5A6E-AC937945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9551A-7353-A64F-27B9-7BF9688B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39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D1E6-4FAF-4FBD-B265-D172EB90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471B4-9C39-6CA4-6AF9-FB03EB77A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D0B43-DB20-5400-680E-571AF29E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E2F5-274E-8E12-1FE3-5857CD66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57C3A-2AD5-393C-12E9-921D694A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392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5EFBC-F42D-2046-47B7-0BCE2DEE5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185C3-371F-8E98-FEDA-590EC83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2EB0F-4593-D736-EF92-1D1C8B4D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78E6C-59A4-DB47-22AB-3C5F181A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8D625-6B22-D4F9-6753-F46ACCE9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339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DEEB1-E962-BD61-E0A8-DCA64DD45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B3BA0-E3D3-8947-F15E-35912677E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2708-69D7-2282-F70D-760B3F4B9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24/11/2025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F3B0-3B91-058D-13C1-55D5F9224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1775-17DC-B9CA-8CAA-4D89EA6C1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923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5D0-2CD4-CAF2-C101-EC4E06C7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1629928"/>
            <a:ext cx="8042594" cy="1799072"/>
          </a:xfrm>
        </p:spPr>
        <p:txBody>
          <a:bodyPr>
            <a:normAutofit/>
          </a:bodyPr>
          <a:lstStyle/>
          <a:p>
            <a:pPr algn="l"/>
            <a:r>
              <a:rPr lang="en-MY" sz="5100" dirty="0"/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9475-5A97-3362-5A27-F05282FE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266" y="3631925"/>
            <a:ext cx="5111468" cy="1176049"/>
          </a:xfrm>
        </p:spPr>
        <p:txBody>
          <a:bodyPr>
            <a:normAutofit/>
          </a:bodyPr>
          <a:lstStyle/>
          <a:p>
            <a:r>
              <a:rPr lang="en-MY" sz="2800" dirty="0"/>
              <a:t>By</a:t>
            </a:r>
          </a:p>
          <a:p>
            <a:r>
              <a:rPr lang="en-MY" sz="2800" dirty="0"/>
              <a:t>Dr Suhail Asghar</a:t>
            </a:r>
          </a:p>
        </p:txBody>
      </p:sp>
      <p:pic>
        <p:nvPicPr>
          <p:cNvPr id="1026" name="Picture 2" descr="Information Technology – Dawood University of Engineering &amp; Technology  Karachi">
            <a:extLst>
              <a:ext uri="{FF2B5EF4-FFF2-40B4-BE49-F238E27FC236}">
                <a16:creationId xmlns:a16="http://schemas.microsoft.com/office/drawing/2014/main" id="{FF6F0A6A-918B-C08F-5BEB-8FB45EE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162" y="231819"/>
            <a:ext cx="1579539" cy="11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C45A9-887D-E099-0474-F00A5ED0DD60}"/>
              </a:ext>
            </a:extLst>
          </p:cNvPr>
          <p:cNvSpPr txBox="1">
            <a:spLocks/>
          </p:cNvSpPr>
          <p:nvPr/>
        </p:nvSpPr>
        <p:spPr>
          <a:xfrm>
            <a:off x="1486237" y="6025542"/>
            <a:ext cx="9500901" cy="513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Dawood University Of Engineering &amp; Technology Karachi</a:t>
            </a:r>
            <a:endParaRPr lang="en-MY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9202-0984-BC2F-2BF6-830C9E5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F186A7-9F82-2863-9838-59944BB8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C802-33DC-BD0E-D24C-0B8AF1ACB2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Arrays are one dimensional, two-dimensional etc.</a:t>
            </a:r>
          </a:p>
          <a:p>
            <a:r>
              <a:rPr lang="en-US" dirty="0"/>
              <a:t>Consecutive/contiguous group of memory locations </a:t>
            </a:r>
          </a:p>
          <a:p>
            <a:r>
              <a:rPr lang="en-US" dirty="0"/>
              <a:t>Same name and type (int, char, float etc.)</a:t>
            </a:r>
          </a:p>
          <a:p>
            <a:pPr lvl="1"/>
            <a:r>
              <a:rPr lang="en-US" dirty="0" err="1"/>
              <a:t>Student_Names</a:t>
            </a:r>
            <a:r>
              <a:rPr lang="en-US" dirty="0"/>
              <a:t>[50], </a:t>
            </a:r>
            <a:r>
              <a:rPr lang="en-US" dirty="0" err="1"/>
              <a:t>Student_GPA</a:t>
            </a:r>
            <a:r>
              <a:rPr lang="en-US" dirty="0"/>
              <a:t>[50], </a:t>
            </a:r>
            <a:r>
              <a:rPr lang="en-US" dirty="0" err="1"/>
              <a:t>Dept_Names</a:t>
            </a:r>
            <a:r>
              <a:rPr lang="en-US" dirty="0"/>
              <a:t>[10]</a:t>
            </a:r>
          </a:p>
          <a:p>
            <a:r>
              <a:rPr lang="en-US" dirty="0"/>
              <a:t>Compiler reserves a memory section to hold all of data</a:t>
            </a:r>
          </a:p>
          <a:p>
            <a:pPr lvl="1"/>
            <a:r>
              <a:rPr lang="en-US" dirty="0"/>
              <a:t>The lowest address corresponds to the first element</a:t>
            </a:r>
          </a:p>
          <a:p>
            <a:pPr lvl="1"/>
            <a:r>
              <a:rPr lang="en-US" dirty="0"/>
              <a:t>The highest address to the last element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905D4-0482-9029-CF61-B821EF0C74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refer to an element</a:t>
            </a:r>
          </a:p>
          <a:p>
            <a:pPr lvl="1"/>
            <a:r>
              <a:rPr lang="en-US" dirty="0"/>
              <a:t>Specify array name and position number (index)</a:t>
            </a:r>
          </a:p>
          <a:p>
            <a:pPr lvl="1"/>
            <a:r>
              <a:rPr lang="en-US" dirty="0"/>
              <a:t>Format: </a:t>
            </a:r>
            <a:r>
              <a:rPr lang="en-US" dirty="0" err="1"/>
              <a:t>arrayname</a:t>
            </a:r>
            <a:r>
              <a:rPr lang="en-US" dirty="0"/>
              <a:t> [ position number ]</a:t>
            </a:r>
          </a:p>
          <a:p>
            <a:pPr lvl="1"/>
            <a:r>
              <a:rPr lang="en-US" dirty="0"/>
              <a:t>First element at position 0   (index 0)</a:t>
            </a:r>
          </a:p>
          <a:p>
            <a:pPr lvl="1"/>
            <a:r>
              <a:rPr lang="en-US" dirty="0"/>
              <a:t>Last element at position N-1 (index N-1)</a:t>
            </a:r>
          </a:p>
          <a:p>
            <a:pPr lvl="1"/>
            <a:r>
              <a:rPr lang="en-US" dirty="0"/>
              <a:t>10-element array c</a:t>
            </a:r>
          </a:p>
          <a:p>
            <a:pPr lvl="1"/>
            <a:r>
              <a:rPr lang="en-US" dirty="0"/>
              <a:t>c[ 0 ], c[ 1 ] … c[ 9 ]</a:t>
            </a:r>
          </a:p>
          <a:p>
            <a:endParaRPr lang="en-US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1554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9473-F8DA-61BE-6A61-0A158B4D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Declaring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9B576-3A21-1C26-8D2C-550DEEAE6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declaring arrays, specify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Type of an array</a:t>
            </a:r>
          </a:p>
          <a:p>
            <a:pPr lvl="1"/>
            <a:r>
              <a:rPr lang="en-US" dirty="0"/>
              <a:t>Any data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Number of elements/Size of an array</a:t>
            </a:r>
          </a:p>
          <a:p>
            <a:r>
              <a:rPr lang="en-US" dirty="0"/>
              <a:t>type </a:t>
            </a:r>
            <a:r>
              <a:rPr lang="en-US" dirty="0" err="1"/>
              <a:t>arrayName</a:t>
            </a:r>
            <a:r>
              <a:rPr lang="en-US" dirty="0"/>
              <a:t>[ </a:t>
            </a:r>
            <a:r>
              <a:rPr lang="en-US" dirty="0" err="1"/>
              <a:t>arraySize</a:t>
            </a:r>
            <a:r>
              <a:rPr lang="en-US" dirty="0"/>
              <a:t> ];</a:t>
            </a:r>
          </a:p>
          <a:p>
            <a:pPr lvl="1"/>
            <a:r>
              <a:rPr lang="en-US" dirty="0"/>
              <a:t>int c[ 10 ];  // array of 10 integers</a:t>
            </a:r>
          </a:p>
          <a:p>
            <a:pPr lvl="1"/>
            <a:r>
              <a:rPr lang="en-US" dirty="0"/>
              <a:t>float d[ 3284 ]; // array of 3284 floats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DAD09-8160-6C48-06A8-3760842247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Declaring multiple arrays of same type</a:t>
            </a:r>
          </a:p>
          <a:p>
            <a:pPr lvl="1"/>
            <a:r>
              <a:rPr lang="en-US" dirty="0"/>
              <a:t>Use comma separated list, like regular variables</a:t>
            </a:r>
          </a:p>
          <a:p>
            <a:pPr lvl="1"/>
            <a:r>
              <a:rPr lang="en-US" dirty="0"/>
              <a:t>int b[ 100 ], x[ 27 ]; </a:t>
            </a:r>
          </a:p>
          <a:p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80402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E5AA-6FFC-12CB-6305-BAFADA03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arrays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B8374-A0F4-10C0-6069-8EB3B93FD0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 loop</a:t>
            </a:r>
          </a:p>
          <a:p>
            <a:pPr lvl="1"/>
            <a:r>
              <a:rPr lang="en-US" dirty="0"/>
              <a:t>Set each element</a:t>
            </a:r>
          </a:p>
          <a:p>
            <a:r>
              <a:rPr lang="en-US" dirty="0"/>
              <a:t>Initializer list</a:t>
            </a:r>
          </a:p>
          <a:p>
            <a:pPr lvl="1"/>
            <a:r>
              <a:rPr lang="en-US" dirty="0"/>
              <a:t>Specify each element when array declared</a:t>
            </a:r>
          </a:p>
          <a:p>
            <a:pPr marL="0" indent="0">
              <a:buNone/>
            </a:pPr>
            <a:r>
              <a:rPr lang="en-US" dirty="0"/>
              <a:t>	int n[ 5 ] = { 1, 2, 3, 4, 5 }; </a:t>
            </a:r>
          </a:p>
          <a:p>
            <a:pPr lvl="1"/>
            <a:r>
              <a:rPr lang="en-US" dirty="0"/>
              <a:t>If not enough initializers, rightmost elements 0</a:t>
            </a:r>
          </a:p>
          <a:p>
            <a:pPr lvl="1"/>
            <a:r>
              <a:rPr lang="en-US" dirty="0"/>
              <a:t>If too many syntax error</a:t>
            </a:r>
          </a:p>
          <a:p>
            <a:r>
              <a:rPr lang="en-US" dirty="0"/>
              <a:t>To assign value to every element individually </a:t>
            </a:r>
          </a:p>
          <a:p>
            <a:pPr marL="0" indent="0">
              <a:buNone/>
            </a:pPr>
            <a:r>
              <a:rPr lang="en-US" dirty="0"/>
              <a:t>	int A[3];</a:t>
            </a:r>
          </a:p>
          <a:p>
            <a:pPr marL="0" indent="0">
              <a:buNone/>
            </a:pPr>
            <a:r>
              <a:rPr lang="en-US" dirty="0"/>
              <a:t>	A [0] = 2; A [1] = 12; A[2] = 1;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D5736D-1872-B7AB-7B07-0541701515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array size omitted, initializers determine size</a:t>
            </a:r>
          </a:p>
          <a:p>
            <a:r>
              <a:rPr lang="en-US" dirty="0"/>
              <a:t>int n[] = { 1, 2, 3, 4, 5 }; </a:t>
            </a:r>
          </a:p>
          <a:p>
            <a:r>
              <a:rPr lang="en-US" dirty="0"/>
              <a:t>5 initializers, therefore 5 element array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7649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C6994E4-8B75-52D2-93A3-13A104043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Examples Using Arrays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4DE152B-21F9-169D-943E-42DBE6B32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>
                <a:ea typeface="굴림" panose="020B0600000101010101" pitchFamily="34" charset="-127"/>
              </a:rPr>
              <a:t>Accessing Array elements</a:t>
            </a:r>
          </a:p>
          <a:p>
            <a:r>
              <a:rPr lang="en-US" altLang="ko-KR" sz="2500">
                <a:ea typeface="굴림" panose="020B0600000101010101" pitchFamily="34" charset="-127"/>
              </a:rPr>
              <a:t>Values of any of elements in an array can be accessed</a:t>
            </a:r>
          </a:p>
          <a:p>
            <a:pPr lvl="1"/>
            <a:r>
              <a:rPr lang="en-US" altLang="ko-KR" sz="2100">
                <a:ea typeface="굴림" panose="020B0600000101010101" pitchFamily="34" charset="-127"/>
              </a:rPr>
              <a:t>Arrayname [index]</a:t>
            </a:r>
          </a:p>
          <a:p>
            <a:pPr lvl="2"/>
            <a:r>
              <a:rPr lang="en-US" altLang="ko-KR" sz="1700">
                <a:ea typeface="굴림" panose="020B0600000101010101" pitchFamily="34" charset="-127"/>
              </a:rPr>
              <a:t>n[0], n[1], student_name[5], vowel[3], course_name[1] etc.</a:t>
            </a:r>
          </a:p>
          <a:p>
            <a:pPr lvl="2"/>
            <a:r>
              <a:rPr lang="en-US" altLang="ko-KR" sz="1700">
                <a:ea typeface="굴림" panose="020B0600000101010101" pitchFamily="34" charset="-127"/>
              </a:rPr>
              <a:t>Variable1=vowel[3];</a:t>
            </a:r>
          </a:p>
          <a:p>
            <a:pPr lvl="2"/>
            <a:r>
              <a:rPr lang="en-US" altLang="ko-KR" sz="1700">
                <a:ea typeface="굴림" panose="020B0600000101010101" pitchFamily="34" charset="-127"/>
              </a:rPr>
              <a:t>x=n[0]+n[1];</a:t>
            </a:r>
          </a:p>
          <a:p>
            <a:endParaRPr lang="ko-KR" altLang="en-US" sz="2500">
              <a:ea typeface="굴림" panose="020B0600000101010101" pitchFamily="34" charset="-127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BEE0597-28A5-E63C-D6E8-683D7FB9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BBCDDBDF-FC23-41B4-9775-6255CC4FAAC3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3F3EDCD3-8C9A-429F-0B8A-F15DC3DD5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365500"/>
            <a:ext cx="57912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num_array [] = {15, 30, 75, 40, 120};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i, result=0;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 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for ( i=0 ; i&lt;5 ; i++ 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result += num_array[i];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cout &lt;&lt; result;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return 0;   }</a:t>
            </a:r>
            <a:endParaRPr kumimoji="0" lang="ko-KR" altLang="en-US" sz="18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A7D3563-4D07-8E73-45D4-6D1D9A10F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Examples Using Arrays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E605811-05A7-B1B2-D232-F725FFC71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Array size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Can be specified with constant variable (</a:t>
            </a:r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const</a:t>
            </a:r>
            <a:r>
              <a:rPr lang="en-US" altLang="ko-KR">
                <a:ea typeface="굴림" panose="020B0600000101010101" pitchFamily="34" charset="-127"/>
              </a:rPr>
              <a:t>)</a:t>
            </a:r>
          </a:p>
          <a:p>
            <a:pPr lvl="2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const int size = 20;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Constants cannot be changed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Constants must be initialized when declared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Also called named constants or read-only variables</a:t>
            </a:r>
          </a:p>
          <a:p>
            <a:pPr lvl="1"/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12292" name="Slide Number Placeholder 1">
            <a:extLst>
              <a:ext uri="{FF2B5EF4-FFF2-40B4-BE49-F238E27FC236}">
                <a16:creationId xmlns:a16="http://schemas.microsoft.com/office/drawing/2014/main" id="{21B1B5F0-13D2-A23A-F6C8-9C816A54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B6DBAA9A-1355-45B8-B0B8-8E01A5595C50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7E2032-5BE5-7093-CBE7-2E5ED907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a C++ program that takes the number of elements as input, stores the user-entered values in an array, and then prints the array elements</a:t>
            </a:r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B01991-F674-0A25-3774-B0D3BA865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74605"/>
            <a:ext cx="5181600" cy="41023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n;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"How many elements do you want to enter?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n;</a:t>
            </a:r>
          </a:p>
          <a:p>
            <a:pPr marL="0" indent="0">
              <a:buNone/>
            </a:pPr>
            <a:r>
              <a:rPr lang="en-MY" dirty="0"/>
              <a:t>    int </a:t>
            </a:r>
            <a:r>
              <a:rPr lang="en-MY" dirty="0" err="1"/>
              <a:t>arr</a:t>
            </a:r>
            <a:r>
              <a:rPr lang="en-MY" dirty="0"/>
              <a:t>[n]; 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" &lt;&lt; n &lt;&lt; " elements:\n";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BFFC8-FF62-F19A-70D4-BFF173CF6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74605"/>
            <a:ext cx="5181600" cy="41023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 for(int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n;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cin</a:t>
            </a:r>
            <a:r>
              <a:rPr lang="en-MY" dirty="0"/>
              <a:t> &gt;&gt; </a:t>
            </a:r>
            <a:r>
              <a:rPr lang="en-MY" dirty="0" err="1"/>
              <a:t>arr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"You entered:\n";</a:t>
            </a:r>
          </a:p>
          <a:p>
            <a:pPr marL="0" indent="0">
              <a:buNone/>
            </a:pPr>
            <a:r>
              <a:rPr lang="en-MY" dirty="0"/>
              <a:t>    for(int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n;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</a:t>
            </a:r>
            <a:r>
              <a:rPr lang="en-MY" dirty="0" err="1"/>
              <a:t>arr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 &lt;&lt; " ";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400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9C4-DA40-B2CF-7131-84846220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Accessing Array elements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9203C-6197-06B6-A1E5-B98150217A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Values of any of elements in an array can be accessed</a:t>
            </a:r>
          </a:p>
          <a:p>
            <a:r>
              <a:rPr lang="en-US" dirty="0" err="1"/>
              <a:t>Arrayname</a:t>
            </a:r>
            <a:r>
              <a:rPr lang="en-US" dirty="0"/>
              <a:t> [index]</a:t>
            </a:r>
          </a:p>
          <a:p>
            <a:pPr lvl="1"/>
            <a:r>
              <a:rPr lang="en-US" dirty="0"/>
              <a:t>n[0], n[1], </a:t>
            </a:r>
            <a:r>
              <a:rPr lang="en-US" dirty="0" err="1"/>
              <a:t>student_name</a:t>
            </a:r>
            <a:r>
              <a:rPr lang="en-US" dirty="0"/>
              <a:t>[5], vowel[3], </a:t>
            </a:r>
            <a:r>
              <a:rPr lang="en-US" dirty="0" err="1"/>
              <a:t>course_name</a:t>
            </a:r>
            <a:r>
              <a:rPr lang="en-US" dirty="0"/>
              <a:t>[1] etc.</a:t>
            </a:r>
          </a:p>
          <a:p>
            <a:pPr lvl="1"/>
            <a:r>
              <a:rPr lang="en-US" dirty="0"/>
              <a:t>Variable1=vowel[3];</a:t>
            </a:r>
          </a:p>
          <a:p>
            <a:pPr lvl="1"/>
            <a:r>
              <a:rPr lang="en-US" dirty="0"/>
              <a:t>x=n[0]+n[1];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4C7982-4B59-32F6-4C23-0542C7FD85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</a:t>
            </a:r>
            <a:r>
              <a:rPr lang="en-MY" dirty="0" err="1"/>
              <a:t>num_array</a:t>
            </a:r>
            <a:r>
              <a:rPr lang="en-MY" dirty="0"/>
              <a:t> [] = {15, 30, 75, 40, 120};</a:t>
            </a:r>
          </a:p>
          <a:p>
            <a:pPr marL="0" indent="0">
              <a:buNone/>
            </a:pPr>
            <a:r>
              <a:rPr lang="en-MY" dirty="0"/>
              <a:t>int </a:t>
            </a:r>
            <a:r>
              <a:rPr lang="en-MY" dirty="0" err="1"/>
              <a:t>i</a:t>
            </a:r>
            <a:r>
              <a:rPr lang="en-MY" dirty="0"/>
              <a:t>, result=0;</a:t>
            </a:r>
          </a:p>
          <a:p>
            <a:pPr marL="0" indent="0">
              <a:buNone/>
            </a:pPr>
            <a:r>
              <a:rPr lang="en-MY" dirty="0"/>
              <a:t>int main () {</a:t>
            </a:r>
          </a:p>
          <a:p>
            <a:pPr marL="0" indent="0">
              <a:buNone/>
            </a:pPr>
            <a:r>
              <a:rPr lang="en-MY" dirty="0"/>
              <a:t>  for ( </a:t>
            </a:r>
            <a:r>
              <a:rPr lang="en-MY" dirty="0" err="1"/>
              <a:t>i</a:t>
            </a:r>
            <a:r>
              <a:rPr lang="en-MY" dirty="0"/>
              <a:t>=0 ; </a:t>
            </a:r>
            <a:r>
              <a:rPr lang="en-MY" dirty="0" err="1"/>
              <a:t>i</a:t>
            </a:r>
            <a:r>
              <a:rPr lang="en-MY" dirty="0"/>
              <a:t>&lt;5 ; </a:t>
            </a:r>
            <a:r>
              <a:rPr lang="en-MY" dirty="0" err="1"/>
              <a:t>i</a:t>
            </a:r>
            <a:r>
              <a:rPr lang="en-MY" dirty="0"/>
              <a:t>++ )</a:t>
            </a:r>
          </a:p>
          <a:p>
            <a:pPr marL="0" indent="0">
              <a:buNone/>
            </a:pPr>
            <a:r>
              <a:rPr lang="en-MY" dirty="0"/>
              <a:t>  {</a:t>
            </a:r>
          </a:p>
          <a:p>
            <a:pPr marL="0" indent="0">
              <a:buNone/>
            </a:pPr>
            <a:r>
              <a:rPr lang="en-MY" dirty="0"/>
              <a:t>    result += </a:t>
            </a:r>
            <a:r>
              <a:rPr lang="en-MY" dirty="0" err="1"/>
              <a:t>num_array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];</a:t>
            </a:r>
          </a:p>
          <a:p>
            <a:pPr marL="0" indent="0">
              <a:buNone/>
            </a:pPr>
            <a:r>
              <a:rPr lang="en-MY" dirty="0"/>
              <a:t>  }</a:t>
            </a:r>
          </a:p>
          <a:p>
            <a:pPr marL="0" indent="0">
              <a:buNone/>
            </a:pPr>
            <a:r>
              <a:rPr lang="en-MY" dirty="0"/>
              <a:t>  </a:t>
            </a:r>
            <a:r>
              <a:rPr lang="en-MY" dirty="0" err="1"/>
              <a:t>cout</a:t>
            </a:r>
            <a:r>
              <a:rPr lang="en-MY" dirty="0"/>
              <a:t> &lt;&lt; result;</a:t>
            </a:r>
          </a:p>
          <a:p>
            <a:pPr marL="0" indent="0">
              <a:buNone/>
            </a:pPr>
            <a:r>
              <a:rPr lang="en-MY" dirty="0"/>
              <a:t>  return 0;   </a:t>
            </a:r>
            <a:br>
              <a:rPr lang="en-MY" dirty="0"/>
            </a:b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160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9B02-48F7-33CE-CC90-D4D62124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C++ program that prints a horizontal histogram of the array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A4E8-9101-9C53-FB8A-8506E49CD2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int var = 10;</a:t>
            </a:r>
          </a:p>
          <a:p>
            <a:pPr marL="0" indent="0">
              <a:buNone/>
            </a:pPr>
            <a:r>
              <a:rPr lang="en-MY" dirty="0"/>
              <a:t>    int </a:t>
            </a:r>
            <a:r>
              <a:rPr lang="en-MY" dirty="0" err="1"/>
              <a:t>arr</a:t>
            </a:r>
            <a:r>
              <a:rPr lang="en-MY" dirty="0"/>
              <a:t>[var] = {19, 3, 15, 7, 11, 9, 13, 5, 17, 1};</a:t>
            </a:r>
          </a:p>
          <a:p>
            <a:pPr marL="0" indent="0">
              <a:buNone/>
            </a:pPr>
            <a:r>
              <a:rPr lang="en-MY" dirty="0"/>
              <a:t>    for (int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var;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for (int j = 0; j &lt; </a:t>
            </a:r>
            <a:r>
              <a:rPr lang="en-MY" dirty="0" err="1"/>
              <a:t>arr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]; </a:t>
            </a:r>
            <a:r>
              <a:rPr lang="en-MY" dirty="0" err="1"/>
              <a:t>j++</a:t>
            </a:r>
            <a:r>
              <a:rPr lang="en-MY" dirty="0"/>
              <a:t>) {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cout</a:t>
            </a:r>
            <a:r>
              <a:rPr lang="en-MY" dirty="0"/>
              <a:t> &lt;&lt; "*";</a:t>
            </a:r>
          </a:p>
          <a:p>
            <a:pPr marL="0" indent="0">
              <a:buNone/>
            </a:pPr>
            <a:r>
              <a:rPr lang="en-MY" dirty="0"/>
              <a:t>        }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8276E-3CA3-7735-82DF-EF5849631B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3193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0866-5F0F-70E3-B639-DB5F8568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C++ program that prints a horizontal histogram of the array (all input)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3AEF-17D0-2495-BCE4-5CBC290751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#include &lt;iostream&gt;</a:t>
            </a:r>
          </a:p>
          <a:p>
            <a:pPr marL="0" indent="0">
              <a:buNone/>
            </a:pPr>
            <a:r>
              <a:rPr lang="en-MY" dirty="0"/>
              <a:t>using namespace std;</a:t>
            </a:r>
          </a:p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int var;</a:t>
            </a:r>
          </a:p>
          <a:p>
            <a:pPr marL="0" indent="0">
              <a:buNone/>
            </a:pPr>
            <a:r>
              <a:rPr lang="en-MY" dirty="0" err="1"/>
              <a:t>cout</a:t>
            </a:r>
            <a:r>
              <a:rPr lang="en-MY" dirty="0"/>
              <a:t> &lt;&lt;"How many parameters are there"&lt;&lt;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 err="1"/>
              <a:t>cin</a:t>
            </a:r>
            <a:r>
              <a:rPr lang="en-MY" dirty="0"/>
              <a:t>&gt;&gt;var;</a:t>
            </a:r>
          </a:p>
          <a:p>
            <a:pPr marL="0" indent="0">
              <a:buNone/>
            </a:pPr>
            <a:r>
              <a:rPr lang="en-MY" dirty="0"/>
              <a:t>int </a:t>
            </a:r>
            <a:r>
              <a:rPr lang="en-MY" dirty="0" err="1"/>
              <a:t>arr</a:t>
            </a:r>
            <a:r>
              <a:rPr lang="en-MY" dirty="0"/>
              <a:t>[var];</a:t>
            </a:r>
          </a:p>
          <a:p>
            <a:pPr marL="0" indent="0">
              <a:buNone/>
            </a:pPr>
            <a:r>
              <a:rPr lang="en-MY" dirty="0" err="1"/>
              <a:t>cout</a:t>
            </a:r>
            <a:r>
              <a:rPr lang="en-MY" dirty="0"/>
              <a:t> &lt;&lt;"Enter values corresponding to the variables"&lt;&lt;</a:t>
            </a:r>
            <a:r>
              <a:rPr lang="en-MY" dirty="0" err="1"/>
              <a:t>endl</a:t>
            </a:r>
            <a:r>
              <a:rPr lang="en-MY" dirty="0"/>
              <a:t>;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5E11E-3AC1-43F3-22EA-8837491A27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Y" dirty="0"/>
              <a:t>for (int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var; </a:t>
            </a:r>
            <a:r>
              <a:rPr lang="en-MY" dirty="0" err="1"/>
              <a:t>i</a:t>
            </a:r>
            <a:r>
              <a:rPr lang="en-MY" dirty="0"/>
              <a:t>++)</a:t>
            </a:r>
          </a:p>
          <a:p>
            <a:pPr marL="0" indent="0">
              <a:buNone/>
            </a:pPr>
            <a:r>
              <a:rPr lang="en-MY" dirty="0" err="1"/>
              <a:t>cin</a:t>
            </a:r>
            <a:r>
              <a:rPr lang="en-MY" dirty="0"/>
              <a:t>&gt;&gt; </a:t>
            </a:r>
            <a:r>
              <a:rPr lang="en-MY" dirty="0" err="1"/>
              <a:t>arr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];</a:t>
            </a:r>
          </a:p>
          <a:p>
            <a:pPr marL="0" indent="0">
              <a:buNone/>
            </a:pPr>
            <a:r>
              <a:rPr lang="en-MY" dirty="0"/>
              <a:t>    for (int </a:t>
            </a:r>
            <a:r>
              <a:rPr lang="en-MY" dirty="0" err="1"/>
              <a:t>i</a:t>
            </a:r>
            <a:r>
              <a:rPr lang="en-MY" dirty="0"/>
              <a:t> = 0; </a:t>
            </a:r>
            <a:r>
              <a:rPr lang="en-MY" dirty="0" err="1"/>
              <a:t>i</a:t>
            </a:r>
            <a:r>
              <a:rPr lang="en-MY" dirty="0"/>
              <a:t> &lt; var; </a:t>
            </a:r>
            <a:r>
              <a:rPr lang="en-MY" dirty="0" err="1"/>
              <a:t>i</a:t>
            </a:r>
            <a:r>
              <a:rPr lang="en-MY" dirty="0"/>
              <a:t>++) {</a:t>
            </a:r>
          </a:p>
          <a:p>
            <a:pPr marL="0" indent="0">
              <a:buNone/>
            </a:pPr>
            <a:r>
              <a:rPr lang="en-MY" dirty="0"/>
              <a:t>        for (int j = 0; j &lt; </a:t>
            </a:r>
            <a:r>
              <a:rPr lang="en-MY" dirty="0" err="1"/>
              <a:t>arr</a:t>
            </a:r>
            <a:r>
              <a:rPr lang="en-MY" dirty="0"/>
              <a:t>[</a:t>
            </a:r>
            <a:r>
              <a:rPr lang="en-MY" dirty="0" err="1"/>
              <a:t>i</a:t>
            </a:r>
            <a:r>
              <a:rPr lang="en-MY" dirty="0"/>
              <a:t>]; </a:t>
            </a:r>
            <a:r>
              <a:rPr lang="en-MY" dirty="0" err="1"/>
              <a:t>j++</a:t>
            </a:r>
            <a:r>
              <a:rPr lang="en-MY" dirty="0"/>
              <a:t>) {</a:t>
            </a:r>
          </a:p>
          <a:p>
            <a:pPr marL="0" indent="0">
              <a:buNone/>
            </a:pPr>
            <a:r>
              <a:rPr lang="en-MY" dirty="0"/>
              <a:t>            </a:t>
            </a:r>
            <a:r>
              <a:rPr lang="en-MY" dirty="0" err="1"/>
              <a:t>cout</a:t>
            </a:r>
            <a:r>
              <a:rPr lang="en-MY" dirty="0"/>
              <a:t> &lt;&lt; "*";</a:t>
            </a:r>
          </a:p>
          <a:p>
            <a:pPr marL="0" indent="0">
              <a:buNone/>
            </a:pPr>
            <a:r>
              <a:rPr lang="en-MY" dirty="0"/>
              <a:t>        }</a:t>
            </a:r>
          </a:p>
          <a:p>
            <a:pPr marL="0" indent="0">
              <a:buNone/>
            </a:pPr>
            <a:r>
              <a:rPr lang="en-MY" dirty="0"/>
              <a:t>        </a:t>
            </a:r>
            <a:r>
              <a:rPr lang="en-MY" dirty="0" err="1"/>
              <a:t>cout</a:t>
            </a:r>
            <a:r>
              <a:rPr lang="en-MY" dirty="0"/>
              <a:t>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    return 0;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425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AC19A5E-8F78-36FD-1878-C2A12D640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Examples Using Arrays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2665C7A-2F1C-CA5F-B3CA-BCBAECC27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314450"/>
            <a:ext cx="7010400" cy="546735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2880" bIns="182880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3  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&lt;iostream&gt;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4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5  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std::cout;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6  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std::endl;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7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8  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&lt;iomanip&gt;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9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10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std::setw;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11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12 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main()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13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14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n[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10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]; 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n is an array of 10 integers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15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16   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// initialize elements of array n to 0      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17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(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 =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i &lt;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10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i++ )              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18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n[ i ] =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 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set element at location i to 0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19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20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cout &lt;&lt;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"Element"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setw(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13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) &lt;&lt;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"Value"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 endl;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21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22   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// output contents of array n in tabular format     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23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(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j =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j &lt;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10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j++ )                        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24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cout &lt;&lt; setw(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7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) &lt;&lt; j &lt;&lt; setw(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13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) &lt;&lt; n[ j ] &lt;&lt; endl;</a:t>
            </a: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endParaRPr kumimoji="0" lang="en-US" altLang="ko-KR" sz="1200" b="1">
              <a:solidFill>
                <a:srgbClr val="000000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</p:txBody>
      </p:sp>
      <p:grpSp>
        <p:nvGrpSpPr>
          <p:cNvPr id="17413" name="Group 6">
            <a:extLst>
              <a:ext uri="{FF2B5EF4-FFF2-40B4-BE49-F238E27FC236}">
                <a16:creationId xmlns:a16="http://schemas.microsoft.com/office/drawing/2014/main" id="{568AF1E7-9AAB-9F87-8887-DA9D7A36717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581400"/>
            <a:ext cx="4114800" cy="838200"/>
            <a:chOff x="1152" y="1392"/>
            <a:chExt cx="2592" cy="528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BDDC1F8C-9061-9C9D-9C8E-2875A03B6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92"/>
              <a:ext cx="1680" cy="3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1600" kern="0">
                  <a:solidFill>
                    <a:srgbClr val="000000"/>
                  </a:solidFill>
                  <a:ea typeface="굴림" panose="020B0600000101010101" pitchFamily="50" charset="-127"/>
                  <a:cs typeface="Times New Roman" panose="02020603050405020304" pitchFamily="18" charset="0"/>
                </a:rPr>
                <a:t>Declare a 10-element array of integers.</a:t>
              </a: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A565C283-28C5-EC00-E2AB-A0C3F67D4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1488"/>
              <a:ext cx="91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ko-KR" altLang="en-US" sz="1600" b="1" kern="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414" name="Group 9">
            <a:extLst>
              <a:ext uri="{FF2B5EF4-FFF2-40B4-BE49-F238E27FC236}">
                <a16:creationId xmlns:a16="http://schemas.microsoft.com/office/drawing/2014/main" id="{85128FB3-025A-FCA0-606F-AA453439626C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422776"/>
            <a:ext cx="3810000" cy="835025"/>
            <a:chOff x="1632" y="1824"/>
            <a:chExt cx="2400" cy="526"/>
          </a:xfrm>
        </p:grpSpPr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F1FA91B4-7D3E-65C9-9380-20E063263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824"/>
              <a:ext cx="1680" cy="52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1600" kern="0" dirty="0">
                  <a:solidFill>
                    <a:srgbClr val="000000"/>
                  </a:solidFill>
                  <a:ea typeface="굴림" panose="020B0600000101010101" pitchFamily="50" charset="-127"/>
                  <a:cs typeface="Times New Roman" panose="02020603050405020304" pitchFamily="18" charset="0"/>
                </a:rPr>
                <a:t>Initialize array to </a:t>
              </a:r>
              <a:r>
                <a:rPr lang="en-US" altLang="ko-KR" sz="1600" b="1" kern="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0</a:t>
              </a:r>
              <a:r>
                <a:rPr lang="en-US" altLang="ko-KR" sz="1600" kern="0" dirty="0">
                  <a:solidFill>
                    <a:srgbClr val="000000"/>
                  </a:solidFill>
                  <a:ea typeface="굴림" panose="020B0600000101010101" pitchFamily="50" charset="-127"/>
                  <a:cs typeface="Times New Roman" panose="02020603050405020304" pitchFamily="18" charset="0"/>
                </a:rPr>
                <a:t> using a for loop. Note that the array has elements </a:t>
              </a:r>
              <a:r>
                <a:rPr lang="en-US" altLang="ko-KR" sz="1600" b="1" kern="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n[0]</a:t>
              </a:r>
              <a:r>
                <a:rPr lang="en-US" altLang="ko-KR" sz="1600" kern="0" dirty="0">
                  <a:solidFill>
                    <a:srgbClr val="000000"/>
                  </a:solidFill>
                  <a:ea typeface="굴림" panose="020B0600000101010101" pitchFamily="50" charset="-127"/>
                  <a:cs typeface="Times New Roman" panose="02020603050405020304" pitchFamily="18" charset="0"/>
                </a:rPr>
                <a:t> to </a:t>
              </a:r>
              <a:r>
                <a:rPr lang="en-US" altLang="ko-KR" sz="1600" b="1" kern="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n[9]</a:t>
              </a:r>
              <a:r>
                <a:rPr lang="en-US" altLang="ko-KR" sz="1600" kern="0" dirty="0">
                  <a:solidFill>
                    <a:srgbClr val="000000"/>
                  </a:solidFill>
                  <a:ea typeface="굴림" panose="020B0600000101010101" pitchFamily="50" charset="-127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FA86E964-F478-20FB-34A5-79BCE597B5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064"/>
              <a:ext cx="672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ko-KR" altLang="en-US" sz="1600" b="1" kern="0">
                <a:solidFill>
                  <a:srgbClr val="000000"/>
                </a:solidFill>
                <a:latin typeface="Helvetica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415" name="Slide Number Placeholder 1">
            <a:extLst>
              <a:ext uri="{FF2B5EF4-FFF2-40B4-BE49-F238E27FC236}">
                <a16:creationId xmlns:a16="http://schemas.microsoft.com/office/drawing/2014/main" id="{0F56AA1E-3E2A-4BC3-C8A6-F8236C3D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2B04E93-7AAE-44B9-873C-57F340B5321B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6B40A96-3CFA-B2E5-382D-BE8560AC3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Examples Using Arrays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4221BDB-A31F-8719-D0F5-5475836D0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24000"/>
            <a:ext cx="7010400" cy="8382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2880" bIns="182880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26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</a:t>
            </a:r>
            <a:r>
              <a:rPr kumimoji="0" lang="en-US" altLang="ko-KR" sz="1200" b="1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kumimoji="0" lang="en-US" altLang="ko-KR" sz="1200" b="1">
                <a:solidFill>
                  <a:srgbClr val="0099FF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0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indicates successful termination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27    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kumimoji="0" lang="en-US" altLang="ko-KR" sz="1200" b="1">
                <a:solidFill>
                  <a:srgbClr val="5F5F5F"/>
                </a:solidFill>
                <a:latin typeface="AvantGarde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28    </a:t>
            </a:r>
            <a:r>
              <a:rPr kumimoji="0" lang="en-US" altLang="ko-KR" sz="12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 </a:t>
            </a:r>
            <a:r>
              <a:rPr kumimoji="0" lang="en-US" altLang="ko-KR" sz="1200" b="1">
                <a:solidFill>
                  <a:srgbClr val="008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end main</a:t>
            </a:r>
            <a:endParaRPr kumimoji="0" lang="en-US" altLang="ko-KR" sz="1200" b="1">
              <a:solidFill>
                <a:srgbClr val="000000"/>
              </a:solidFill>
              <a:latin typeface="Courier" pitchFamily="49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endParaRPr kumimoji="0" lang="en-US" altLang="ko-KR" sz="1200" b="1">
              <a:solidFill>
                <a:srgbClr val="000000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A5F74B6-BE8E-0E77-A391-9F5E8A85B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362200"/>
            <a:ext cx="7010400" cy="27432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tIns="182880" bIns="182880"/>
          <a:lstStyle>
            <a:lvl1pPr algn="l">
              <a:spcBef>
                <a:spcPct val="20000"/>
              </a:spcBef>
              <a:defRPr sz="12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>
              <a:spcBef>
                <a:spcPct val="20000"/>
              </a:spcBef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Element        Value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0            0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1            0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2            0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3            0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4            0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5            0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6            0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7            0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Courier New" panose="02070309020205020404" pitchFamily="49" charset="0"/>
              </a:rPr>
              <a:t>      8            0</a:t>
            </a:r>
            <a:endParaRPr lang="en-US" altLang="ko-KR" kern="0">
              <a:solidFill>
                <a:srgbClr val="000000"/>
              </a:solidFill>
              <a:latin typeface="Courier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kern="0">
                <a:solidFill>
                  <a:srgbClr val="000000"/>
                </a:solidFill>
                <a:ea typeface="굴림" panose="020B0600000101010101" pitchFamily="50" charset="-127"/>
                <a:cs typeface="Times New Roman" panose="02020603050405020304" pitchFamily="18" charset="0"/>
              </a:rPr>
              <a:t>      9            0 </a:t>
            </a:r>
          </a:p>
        </p:txBody>
      </p:sp>
      <p:sp>
        <p:nvSpPr>
          <p:cNvPr id="18438" name="Slide Number Placeholder 1">
            <a:extLst>
              <a:ext uri="{FF2B5EF4-FFF2-40B4-BE49-F238E27FC236}">
                <a16:creationId xmlns:a16="http://schemas.microsoft.com/office/drawing/2014/main" id="{90B273E1-8F18-9EB0-AAED-E005C26D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2B554E4D-D065-4B96-A113-1CC69D4FA51C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770299-166D-CAC8-C9F8-C79C99C2BC4F}"/>
              </a:ext>
            </a:extLst>
          </p:cNvPr>
          <p:cNvSpPr/>
          <p:nvPr/>
        </p:nvSpPr>
        <p:spPr bwMode="auto">
          <a:xfrm>
            <a:off x="2590800" y="4953000"/>
            <a:ext cx="5181600" cy="10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9CD008-897E-0D5B-66B9-52D442A99B72}"/>
              </a:ext>
            </a:extLst>
          </p:cNvPr>
          <p:cNvSpPr/>
          <p:nvPr/>
        </p:nvSpPr>
        <p:spPr bwMode="auto">
          <a:xfrm>
            <a:off x="2590800" y="3276600"/>
            <a:ext cx="6172200" cy="1371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6" name="Title 1">
            <a:extLst>
              <a:ext uri="{FF2B5EF4-FFF2-40B4-BE49-F238E27FC236}">
                <a16:creationId xmlns:a16="http://schemas.microsoft.com/office/drawing/2014/main" id="{26695423-02C7-5061-AA44-9D6F64E86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1219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Write a C++ program that takes an array of numbers as input and sorts it in ascending order.</a:t>
            </a:r>
            <a:endParaRPr lang="ko-KR" altLang="en-US" dirty="0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28677" name="Slide Number Placeholder 3">
            <a:extLst>
              <a:ext uri="{FF2B5EF4-FFF2-40B4-BE49-F238E27FC236}">
                <a16:creationId xmlns:a16="http://schemas.microsoft.com/office/drawing/2014/main" id="{577DEF2E-38A7-D650-CC69-9C431539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A30F03E4-05D7-46C3-A91C-6DBC0FCB98D5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678" name="Rectangle 1">
            <a:extLst>
              <a:ext uri="{FF2B5EF4-FFF2-40B4-BE49-F238E27FC236}">
                <a16:creationId xmlns:a16="http://schemas.microsoft.com/office/drawing/2014/main" id="{49C3745E-DDBF-2CAF-545F-6B8FA9892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22388"/>
            <a:ext cx="8686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const int ARRAY_SIZE=5;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int array1[ARRAY_SIZE],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,j ,temp;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&lt;&lt;"Program for Sorting an Array in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Asending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Order\n";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// Input Array Elements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ARRAY_SIZE;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&lt;&lt;"Enter the Number : "&lt;&lt;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&lt;&lt;"  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cin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&gt;&gt;array1[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];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// Display Elements of Unsorted Array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UnSorted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Array: 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ARRAY_SIZE; ++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]&lt;&lt;" 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  <a:endParaRPr kumimoji="0" lang="ko-KR" altLang="en-US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D1CB52-64F5-2A04-B5E8-FDA15D43A728}"/>
              </a:ext>
            </a:extLst>
          </p:cNvPr>
          <p:cNvSpPr/>
          <p:nvPr/>
        </p:nvSpPr>
        <p:spPr bwMode="auto">
          <a:xfrm>
            <a:off x="829801" y="4127090"/>
            <a:ext cx="5715000" cy="838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B6BBE5D-FC21-6AA0-280A-91704573A03F}"/>
              </a:ext>
            </a:extLst>
          </p:cNvPr>
          <p:cNvSpPr/>
          <p:nvPr/>
        </p:nvSpPr>
        <p:spPr bwMode="auto">
          <a:xfrm>
            <a:off x="264651" y="244681"/>
            <a:ext cx="6273800" cy="3579813"/>
          </a:xfrm>
          <a:prstGeom prst="round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60B99B2B-38E8-B600-E307-F271E791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CD3E0491-66BA-4BC6-8889-6A25088236EC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02" name="Rectangle 1">
            <a:extLst>
              <a:ext uri="{FF2B5EF4-FFF2-40B4-BE49-F238E27FC236}">
                <a16:creationId xmlns:a16="http://schemas.microsoft.com/office/drawing/2014/main" id="{15EB50D9-B70D-030A-7EA3-682B65480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51" y="236743"/>
            <a:ext cx="8102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// Array Sorting -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Asensding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Order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ARRAY_SIZE; ++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for (j =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+ 1; j &lt; ARRAY_SIZE; ++j)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if (array1[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 &gt; array1[j])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    temp =  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    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 = array1[j];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    array1[j] = temp;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&lt;&lt;"Sorted Array 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Asending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Order): 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ARRAY_SIZE; ++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&lt;&lt;array1[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]&lt;&lt;" 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endParaRPr kumimoji="0" lang="ko-KR" altLang="en-US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DCC11B7D-825D-5CF9-FFF9-229CFF0E1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3693319"/>
            <a:ext cx="470535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F314401-423B-1C48-25F3-CF8425DB5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Multi-dimensional Array</a:t>
            </a:r>
            <a:endParaRPr lang="ko-KR" altLang="en-US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4D5BF40-91D3-5AAA-51C3-6C0A8EDEB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sz="2600">
                <a:ea typeface="굴림" panose="020B0600000101010101" pitchFamily="34" charset="-127"/>
              </a:rPr>
              <a:t>Two-dimensional array (2D) represents information arranged in rows and columns (i.e., subscripts) </a:t>
            </a:r>
          </a:p>
          <a:p>
            <a:pPr algn="just"/>
            <a:r>
              <a:rPr lang="en-US" altLang="ko-KR" sz="2600">
                <a:ea typeface="굴림" panose="020B0600000101010101" pitchFamily="34" charset="-127"/>
              </a:rPr>
              <a:t>To identify a particular table element, we must specify two subscripts—by convention, the first identifies the element’s </a:t>
            </a:r>
            <a:r>
              <a:rPr lang="en-US" altLang="ko-KR" sz="2600" b="1" i="1">
                <a:solidFill>
                  <a:srgbClr val="C00000"/>
                </a:solidFill>
                <a:ea typeface="굴림" panose="020B0600000101010101" pitchFamily="34" charset="-127"/>
              </a:rPr>
              <a:t>row</a:t>
            </a:r>
            <a:r>
              <a:rPr lang="en-US" altLang="ko-KR" sz="2600">
                <a:ea typeface="굴림" panose="020B0600000101010101" pitchFamily="34" charset="-127"/>
              </a:rPr>
              <a:t> and the second identifies the element’s </a:t>
            </a:r>
            <a:r>
              <a:rPr lang="en-US" altLang="ko-KR" sz="2600" b="1" i="1">
                <a:solidFill>
                  <a:srgbClr val="C00000"/>
                </a:solidFill>
                <a:ea typeface="굴림" panose="020B0600000101010101" pitchFamily="34" charset="-127"/>
              </a:rPr>
              <a:t>column</a:t>
            </a:r>
            <a:endParaRPr lang="en-US" altLang="ko-KR" sz="2600">
              <a:solidFill>
                <a:srgbClr val="C00000"/>
              </a:solidFill>
              <a:ea typeface="굴림" panose="020B0600000101010101" pitchFamily="34" charset="-127"/>
            </a:endParaRPr>
          </a:p>
          <a:p>
            <a:pPr algn="just"/>
            <a:r>
              <a:rPr lang="en-US" altLang="ko-KR" sz="2600">
                <a:ea typeface="굴림" panose="020B0600000101010101" pitchFamily="34" charset="-127"/>
              </a:rPr>
              <a:t>Arrays with two or more dimensions are known as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multidimensional</a:t>
            </a:r>
            <a:r>
              <a:rPr lang="en-US" altLang="ko-KR" sz="2600">
                <a:ea typeface="굴림" panose="020B0600000101010101" pitchFamily="34" charset="-127"/>
              </a:rPr>
              <a:t> arrays and can have more than two dimensions</a:t>
            </a:r>
            <a:endParaRPr lang="ko-KR" altLang="en-US" sz="2600">
              <a:ea typeface="굴림" panose="020B0600000101010101" pitchFamily="34" charset="-127"/>
            </a:endParaRP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A941336-3B4D-9350-5569-A5047561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9CBD1FAF-C642-42C3-BA85-5EE661F76597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49F8B03D-EE45-4C9F-3855-32C8ACAA9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Multi-dimensional Array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0929-AD9D-AF88-1044-59E081BB4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600">
                <a:ea typeface="굴림" panose="020B0600000101010101" pitchFamily="50" charset="-127"/>
              </a:rPr>
              <a:t>“Array of arrays”</a:t>
            </a:r>
          </a:p>
          <a:p>
            <a:pPr>
              <a:defRPr/>
            </a:pPr>
            <a:r>
              <a:rPr lang="en-US" altLang="ko-KR" sz="2600">
                <a:ea typeface="굴림" panose="020B0600000101010101" pitchFamily="50" charset="-127"/>
              </a:rPr>
              <a:t>In general, an array with m rows and n columns is called an </a:t>
            </a:r>
            <a:r>
              <a:rPr lang="en-US" altLang="ko-KR" sz="2600" i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m-by-n</a:t>
            </a:r>
            <a:r>
              <a:rPr lang="en-US" altLang="ko-KR" sz="2600">
                <a:ea typeface="굴림" panose="020B0600000101010101" pitchFamily="50" charset="-127"/>
              </a:rPr>
              <a:t> array</a:t>
            </a:r>
          </a:p>
          <a:p>
            <a:pPr>
              <a:defRPr/>
            </a:pPr>
            <a:r>
              <a:rPr lang="en-US" altLang="ko-KR" sz="2600">
                <a:ea typeface="굴림" panose="020B0600000101010101" pitchFamily="50" charset="-127"/>
              </a:rPr>
              <a:t>e.g.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2D array</a:t>
            </a:r>
            <a:r>
              <a:rPr lang="en-US" altLang="ko-KR" sz="2600">
                <a:ea typeface="굴림" panose="020B0600000101010101" pitchFamily="50" charset="-127"/>
              </a:rPr>
              <a:t> with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3 rows</a:t>
            </a:r>
            <a:r>
              <a:rPr lang="en-US" altLang="ko-KR" sz="2600">
                <a:ea typeface="굴림" panose="020B0600000101010101" pitchFamily="50" charset="-127"/>
              </a:rPr>
              <a:t> &amp;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4 columns</a:t>
            </a:r>
            <a:r>
              <a:rPr lang="en-US" altLang="ko-KR" sz="2600">
                <a:ea typeface="굴림" panose="020B0600000101010101" pitchFamily="50" charset="-127"/>
              </a:rPr>
              <a:t>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(3x4) array</a:t>
            </a:r>
          </a:p>
          <a:p>
            <a:pPr>
              <a:defRPr/>
            </a:pPr>
            <a:r>
              <a:rPr lang="en-US" altLang="ko-KR" sz="2600">
                <a:ea typeface="굴림" panose="020B0600000101010101" pitchFamily="50" charset="-127"/>
              </a:rPr>
              <a:t>an element name of the form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a[ i</a:t>
            </a:r>
            <a:r>
              <a:rPr lang="en-US" altLang="ko-KR" sz="2600" i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][ j</a:t>
            </a:r>
            <a:r>
              <a:rPr lang="en-US" altLang="ko-KR" sz="2600" i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en-US" altLang="ko-KR" sz="26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50" charset="-127"/>
              </a:rPr>
              <a:t>]</a:t>
            </a:r>
            <a:endParaRPr lang="ko-KR" altLang="en-US" sz="260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DE79356A-1751-537E-364D-E3AC3FE1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BCC87A0-CEE3-4ED4-88A4-E498E0565B92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6869" name="Picture 4">
            <a:extLst>
              <a:ext uri="{FF2B5EF4-FFF2-40B4-BE49-F238E27FC236}">
                <a16:creationId xmlns:a16="http://schemas.microsoft.com/office/drawing/2014/main" id="{BCF326CE-1089-D9C9-0AE2-E1E3090F3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9" y="4057650"/>
            <a:ext cx="6675437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6F03FD1F-5791-CC73-1595-20416FD21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Multi-dimensional Array</a:t>
            </a:r>
            <a:endParaRPr lang="ko-KR" altLang="en-US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F543C0EE-7BD2-E855-3010-E64C7B25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5125C538-C24B-4BCA-98BE-F15D45320E3F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D3D1F1C-7CF5-9C59-022C-475FC8EE8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1430338"/>
            <a:ext cx="7772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ko-KR">
                <a:ea typeface="굴림" panose="020B0600000101010101" pitchFamily="34" charset="-127"/>
              </a:rPr>
              <a:t>To initialize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Default of </a:t>
            </a:r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</a:rPr>
              <a:t>0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Initializers grouped by row in braces</a:t>
            </a:r>
          </a:p>
          <a:p>
            <a:pPr lvl="1">
              <a:buFontTx/>
              <a:buNone/>
            </a:pPr>
            <a:r>
              <a:rPr lang="en-US" altLang="ko-KR" sz="2000" b="1">
                <a:latin typeface="Courier New" panose="02070309020205020404" pitchFamily="49" charset="0"/>
                <a:ea typeface="굴림" panose="020B0600000101010101" pitchFamily="34" charset="-127"/>
              </a:rPr>
              <a:t>int b[ 2 ][ 2 ] = { { 1, 2 }, { 3, 4 } };</a:t>
            </a:r>
          </a:p>
          <a:p>
            <a:pPr lvl="1">
              <a:buFontTx/>
              <a:buNone/>
            </a:pPr>
            <a:endParaRPr lang="en-US" altLang="ko-KR" sz="2000" b="1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lvl="1">
              <a:buFontTx/>
              <a:buNone/>
            </a:pPr>
            <a:r>
              <a:rPr lang="en-US" altLang="ko-KR" sz="2000" b="1">
                <a:latin typeface="Courier New" panose="02070309020205020404" pitchFamily="49" charset="0"/>
                <a:ea typeface="굴림" panose="020B0600000101010101" pitchFamily="34" charset="-127"/>
              </a:rPr>
              <a:t> </a:t>
            </a:r>
            <a:endParaRPr lang="en-US" altLang="ko-KR">
              <a:ea typeface="굴림" panose="020B0600000101010101" pitchFamily="34" charset="-127"/>
            </a:endParaRPr>
          </a:p>
          <a:p>
            <a:pPr lvl="1">
              <a:buFontTx/>
              <a:buNone/>
            </a:pPr>
            <a:endParaRPr lang="en-US" altLang="ko-KR" sz="2600" b="1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lvl="1">
              <a:buFontTx/>
              <a:buNone/>
            </a:pPr>
            <a:r>
              <a:rPr lang="en-US" altLang="ko-KR" sz="2000" b="1">
                <a:latin typeface="Courier New" panose="02070309020205020404" pitchFamily="49" charset="0"/>
                <a:ea typeface="굴림" panose="020B0600000101010101" pitchFamily="34" charset="-127"/>
              </a:rPr>
              <a:t>int b[ 2 ][ 2 ] = { { 1 }, { 3, 4 } }; </a:t>
            </a:r>
          </a:p>
          <a:p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37893" name="Text Box 7">
            <a:extLst>
              <a:ext uri="{FF2B5EF4-FFF2-40B4-BE49-F238E27FC236}">
                <a16:creationId xmlns:a16="http://schemas.microsoft.com/office/drawing/2014/main" id="{DE66FBE2-3006-CAFA-851F-C1F751A7F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600" y="2455864"/>
            <a:ext cx="914400" cy="738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1    2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3    4</a:t>
            </a:r>
          </a:p>
        </p:txBody>
      </p:sp>
      <p:sp>
        <p:nvSpPr>
          <p:cNvPr id="37894" name="Line 8">
            <a:extLst>
              <a:ext uri="{FF2B5EF4-FFF2-40B4-BE49-F238E27FC236}">
                <a16:creationId xmlns:a16="http://schemas.microsoft.com/office/drawing/2014/main" id="{2C07BD7C-5628-4C70-9807-477DD8511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593263" y="2451100"/>
            <a:ext cx="0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MY"/>
          </a:p>
        </p:txBody>
      </p:sp>
      <p:sp>
        <p:nvSpPr>
          <p:cNvPr id="37895" name="Line 9">
            <a:extLst>
              <a:ext uri="{FF2B5EF4-FFF2-40B4-BE49-F238E27FC236}">
                <a16:creationId xmlns:a16="http://schemas.microsoft.com/office/drawing/2014/main" id="{4349109A-9988-04D9-B1F0-F968135E8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8600" y="279558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MY"/>
          </a:p>
        </p:txBody>
      </p:sp>
      <p:grpSp>
        <p:nvGrpSpPr>
          <p:cNvPr id="37896" name="Group 11">
            <a:extLst>
              <a:ext uri="{FF2B5EF4-FFF2-40B4-BE49-F238E27FC236}">
                <a16:creationId xmlns:a16="http://schemas.microsoft.com/office/drawing/2014/main" id="{786E6ED1-0C7C-75D9-98BC-BEC2306006E9}"/>
              </a:ext>
            </a:extLst>
          </p:cNvPr>
          <p:cNvGrpSpPr>
            <a:grpSpLocks/>
          </p:cNvGrpSpPr>
          <p:nvPr/>
        </p:nvGrpSpPr>
        <p:grpSpPr bwMode="auto">
          <a:xfrm>
            <a:off x="9118600" y="3998913"/>
            <a:ext cx="914400" cy="742950"/>
            <a:chOff x="4224" y="2733"/>
            <a:chExt cx="576" cy="468"/>
          </a:xfrm>
        </p:grpSpPr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AAFA4E50-53BF-5CCC-8DF0-106001E2D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576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>
                <a:buFontTx/>
                <a:buAutoNum type="arabicPlain"/>
                <a:defRPr/>
              </a:pPr>
              <a:r>
                <a:rPr lang="en-US" altLang="ko-KR" sz="140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50" charset="-127"/>
                </a:rPr>
                <a:t>  0</a:t>
              </a:r>
            </a:p>
            <a:p>
              <a:pPr marL="342900" indent="-342900">
                <a:buFontTx/>
                <a:buAutoNum type="arabicPlain"/>
                <a:defRPr/>
              </a:pPr>
              <a:endParaRPr lang="en-US" altLang="ko-KR" sz="1400" dirty="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50" charset="-127"/>
              </a:endParaRPr>
            </a:p>
            <a:p>
              <a:pPr>
                <a:defRPr/>
              </a:pPr>
              <a:r>
                <a:rPr lang="en-US" altLang="ko-KR" sz="1400" dirty="0">
                  <a:solidFill>
                    <a:srgbClr val="000000"/>
                  </a:solidFill>
                  <a:latin typeface="Courier New" panose="02070309020205020404" pitchFamily="49" charset="0"/>
                  <a:ea typeface="굴림" panose="020B0600000101010101" pitchFamily="50" charset="-127"/>
                </a:rPr>
                <a:t>3    4</a:t>
              </a:r>
            </a:p>
          </p:txBody>
        </p:sp>
        <p:sp>
          <p:nvSpPr>
            <p:cNvPr id="37900" name="Line 13">
              <a:extLst>
                <a:ext uri="{FF2B5EF4-FFF2-40B4-BE49-F238E27FC236}">
                  <a16:creationId xmlns:a16="http://schemas.microsoft.com/office/drawing/2014/main" id="{38CDBCD8-8FC0-1324-47B3-6538D01CD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33"/>
              <a:ext cx="0" cy="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MY"/>
            </a:p>
          </p:txBody>
        </p:sp>
        <p:sp>
          <p:nvSpPr>
            <p:cNvPr id="37901" name="Line 14">
              <a:extLst>
                <a:ext uri="{FF2B5EF4-FFF2-40B4-BE49-F238E27FC236}">
                  <a16:creationId xmlns:a16="http://schemas.microsoft.com/office/drawing/2014/main" id="{6A656C10-0B31-627D-1949-CE06CA444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5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MY"/>
            </a:p>
          </p:txBody>
        </p:sp>
      </p:grpSp>
      <p:sp>
        <p:nvSpPr>
          <p:cNvPr id="37897" name="Text Box 16">
            <a:extLst>
              <a:ext uri="{FF2B5EF4-FFF2-40B4-BE49-F238E27FC236}">
                <a16:creationId xmlns:a16="http://schemas.microsoft.com/office/drawing/2014/main" id="{BEC14B7A-B2C7-1E4A-CEF8-5A8AFA2C7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463" y="3124200"/>
            <a:ext cx="103346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Row 0</a:t>
            </a:r>
          </a:p>
        </p:txBody>
      </p:sp>
      <p:sp>
        <p:nvSpPr>
          <p:cNvPr id="37898" name="Text Box 17">
            <a:extLst>
              <a:ext uri="{FF2B5EF4-FFF2-40B4-BE49-F238E27FC236}">
                <a16:creationId xmlns:a16="http://schemas.microsoft.com/office/drawing/2014/main" id="{CE1B02FE-052F-B7A9-FB93-434093EC2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163" y="3100388"/>
            <a:ext cx="1033462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Row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2D196AE-1E2A-6E65-07D5-1C7A797C5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Multi-dimensional Array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9E40D081-09D3-1E13-5FD0-DF65955F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66C973CD-42A7-4B17-90E4-BF6B28D007C8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81104625-EAB6-59B2-2F48-290858DD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71601"/>
            <a:ext cx="9067800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 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int  s[2][2];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int  i, j;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cout&lt;&lt;"\n2D Array Input:\n";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for(i=0;i&lt;2;i++)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for(j=0;j&lt;2;j++)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	cout&lt;&lt;"\ns["&lt;&lt;i&lt;&lt;"]["&lt;&lt;j&lt;&lt;"]= 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	cin&gt;&gt;s[i][j];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cout&lt;&lt;"\nThe 2-D Array is:\n";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for(i=0;i&lt;2;i++)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for(j=0;j&lt;2;j++)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  	{    cout&lt;&lt;"\t"&lt;&lt;s[i][j];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cout&lt;&lt;endl;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return 0; 	}</a:t>
            </a:r>
            <a:endParaRPr kumimoji="0" lang="ko-KR" altLang="en-US" sz="17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485F80E3-675B-88E1-CA31-0A12B8799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Multi-dimensional Array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7C2C07A9-8514-A6B5-44A9-2910E1A4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4F319E91-CD77-49C8-8B0F-1E6364B139FD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A023F0E1-6BD6-7779-C1FF-AD484ECD9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75" y="1554164"/>
            <a:ext cx="73914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EC58604-3FAB-83CA-0BFA-2415CE30A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587" y="66676"/>
            <a:ext cx="10515600" cy="1325563"/>
          </a:xfrm>
        </p:spPr>
        <p:txBody>
          <a:bodyPr>
            <a:noAutofit/>
          </a:bodyPr>
          <a:lstStyle/>
          <a:p>
            <a:r>
              <a:rPr lang="en-US" sz="2400" dirty="0"/>
              <a:t>Write a C++ program that takes marks of students in multiple courses, stores them in a 2D array, calculates each student's average, and displays the results.</a:t>
            </a:r>
            <a:endParaRPr lang="ko-KR" altLang="en-US" sz="2400" dirty="0">
              <a:ea typeface="굴림" panose="020B0600000101010101" pitchFamily="34" charset="-127"/>
            </a:endParaRPr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910F2A09-5603-4BB8-64EA-C92DEC79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64066F08-DB34-4DC6-A4C2-05EAA0A345CD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D7D2382D-4E32-BE1E-F2D6-1CD1FE022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392239"/>
            <a:ext cx="8204200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 {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 int students = 3;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 int courses = 3;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float marks[students][courses], average[students];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(int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students;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++)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float total = 0;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"Enter marks for Student " &lt;&lt;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+ 1 &lt;&lt; ":\n";        	for (int j = 0; j &lt; courses;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j++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) {    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cin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&gt;&gt; marks[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][j];    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total += marks[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][j];    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average[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 = total / courses;    }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"\</a:t>
            </a:r>
            <a:r>
              <a:rPr kumimoji="0" lang="en-US" altLang="ko-KR" sz="1800" dirty="0" err="1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nAverage</a:t>
            </a:r>
            <a:r>
              <a:rPr kumimoji="0" lang="en-US" altLang="ko-KR" sz="1800" dirty="0">
                <a:solidFill>
                  <a:srgbClr val="FF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marks of students:\n";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(int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0;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 students;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++) {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"Student " &lt;&lt;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+ 1 &lt;&lt; ": " &lt;&lt; average[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] &lt;&lt; "\n";    }     return 0;}</a:t>
            </a:r>
            <a:endParaRPr kumimoji="0" lang="ko-KR" altLang="en-US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3E8A121-7221-BF82-2EAE-A92B375E3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Array Container (STL)</a:t>
            </a:r>
            <a:endParaRPr lang="ko-KR" altLang="en-US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0DDF5C10-9ED4-54B1-A08C-AEFC32BFF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>
                <a:ea typeface="굴림" panose="020B0600000101010101" pitchFamily="34" charset="-127"/>
              </a:rPr>
              <a:t>Array can be created using array template	</a:t>
            </a:r>
          </a:p>
          <a:p>
            <a:pPr lvl="1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array &lt;type, size&gt; arrayname;</a:t>
            </a:r>
          </a:p>
          <a:p>
            <a:pPr lvl="2"/>
            <a:r>
              <a:rPr lang="en-US" altLang="ko-KR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E.g. array &lt;int, 10&gt; array_using_template</a:t>
            </a:r>
          </a:p>
          <a:p>
            <a:pPr algn="just"/>
            <a:r>
              <a:rPr lang="en-US" altLang="ko-KR" sz="2600">
                <a:ea typeface="굴림" panose="020B0600000101010101" pitchFamily="34" charset="-127"/>
                <a:cs typeface="Courier New" panose="02070309020205020404" pitchFamily="49" charset="0"/>
              </a:rPr>
              <a:t>The elements of an array also can be initialized in the array declaration by list of initializers</a:t>
            </a:r>
          </a:p>
          <a:p>
            <a:pPr lvl="1"/>
            <a:r>
              <a:rPr lang="en-US" altLang="ko-KR" sz="19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array&lt; int, 5 &gt; n = { 32, 27, 64, 18, 95 };</a:t>
            </a:r>
          </a:p>
          <a:p>
            <a:pPr algn="just"/>
            <a:r>
              <a:rPr lang="en-US" altLang="ko-KR" sz="2600">
                <a:ea typeface="굴림" panose="020B0600000101010101" pitchFamily="34" charset="-127"/>
                <a:cs typeface="Courier New" panose="02070309020205020404" pitchFamily="49" charset="0"/>
              </a:rPr>
              <a:t>If there are fewer initializers than array elements, the remaining array elements are initialized to zero</a:t>
            </a:r>
          </a:p>
          <a:p>
            <a:pPr lvl="1" algn="just"/>
            <a:r>
              <a:rPr lang="en-US" altLang="ko-KR" sz="2200">
                <a:ea typeface="굴림" panose="020B0600000101010101" pitchFamily="34" charset="-127"/>
              </a:rPr>
              <a:t> </a:t>
            </a:r>
            <a:r>
              <a:rPr lang="en-US" altLang="ko-KR" sz="2000" b="1">
                <a:latin typeface="Courier New" panose="02070309020205020404" pitchFamily="49" charset="0"/>
                <a:ea typeface="굴림" panose="020B0600000101010101" pitchFamily="34" charset="-127"/>
              </a:rPr>
              <a:t>array &lt;int, 5&gt;n= {3, 4, 5}</a:t>
            </a:r>
            <a:endParaRPr lang="en-US" altLang="ko-KR" sz="2200">
              <a:ea typeface="굴림" panose="020B0600000101010101" pitchFamily="34" charset="-127"/>
            </a:endParaRPr>
          </a:p>
          <a:p>
            <a:pPr algn="just"/>
            <a:r>
              <a:rPr lang="en-US" altLang="ko-KR" sz="2600">
                <a:ea typeface="굴림" panose="020B0600000101010101" pitchFamily="34" charset="-127"/>
              </a:rPr>
              <a:t>If the array size and an initializer list are specified in an array declaration, the number of initializers must be less than or equal to the array size</a:t>
            </a:r>
          </a:p>
          <a:p>
            <a:pPr lvl="1" algn="just"/>
            <a:r>
              <a:rPr lang="en-US" altLang="ko-KR" sz="2000" b="1">
                <a:latin typeface="Courier New" panose="02070309020205020404" pitchFamily="49" charset="0"/>
                <a:ea typeface="굴림" panose="020B0600000101010101" pitchFamily="34" charset="-127"/>
              </a:rPr>
              <a:t>array &lt;int, 5&gt;n= {3, 4, 5, 6, 7, 8}</a:t>
            </a:r>
            <a:endParaRPr lang="en-US" altLang="ko-KR" sz="2000">
              <a:ea typeface="굴림" panose="020B0600000101010101" pitchFamily="34" charset="-127"/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F0AE5B58-0966-C6C6-E886-73493011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80993CBD-204A-4DCE-BC21-6FCBB1743FF2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548E6C6-6FC4-AFC9-2015-47BD302BA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Array Container (STL)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040BBB56-7BEE-DF3E-272A-696CBDD2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63227CF4-8BB8-4E08-B54B-A3C68ADCA621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32A43-85CF-D7E9-066A-6E7ED28CF454}"/>
              </a:ext>
            </a:extLst>
          </p:cNvPr>
          <p:cNvSpPr/>
          <p:nvPr/>
        </p:nvSpPr>
        <p:spPr>
          <a:xfrm>
            <a:off x="1981200" y="1390650"/>
            <a:ext cx="7620000" cy="39703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#include 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iostream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&gt;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#include&lt;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iomanip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&gt;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#include&lt;array&gt;</a:t>
            </a:r>
          </a:p>
          <a:p>
            <a:pPr>
              <a:defRPr/>
            </a:pPr>
            <a:endParaRPr lang="en-US" altLang="ko-KR" sz="1800" b="1" dirty="0">
              <a:latin typeface="Courier New" panose="02070309020205020404" pitchFamily="49" charset="0"/>
              <a:ea typeface="굴림" panose="020B0600000101010101" pitchFamily="50" charset="-127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using namespace 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std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ko-KR" sz="1800" b="1" dirty="0">
              <a:latin typeface="Courier New" panose="02070309020205020404" pitchFamily="49" charset="0"/>
              <a:ea typeface="굴림" panose="020B0600000101010101" pitchFamily="50" charset="-127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main()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	array&lt;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, 5&gt;n={10, 50, 40, 35, 15};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   	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cout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&lt;&lt;"Element"&lt;&lt; 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setw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(13) &lt;&lt; "Value"&lt;&lt;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endl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   	for (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=0; 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&lt;5; 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++)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      	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cout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&lt;&lt;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setw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(7)&lt;&lt;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&lt;&lt;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setw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(13)&lt;&lt;n[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i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]&lt;&lt;</a:t>
            </a:r>
            <a:r>
              <a:rPr lang="en-US" altLang="ko-KR" sz="1800" b="1" dirty="0" err="1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endl</a:t>
            </a: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    return 0;</a:t>
            </a:r>
          </a:p>
          <a:p>
            <a:pPr>
              <a:defRPr/>
            </a:pPr>
            <a:r>
              <a:rPr lang="en-US" altLang="ko-KR" sz="1800" b="1" dirty="0">
                <a:latin typeface="Courier New" panose="02070309020205020404" pitchFamily="49" charset="0"/>
                <a:ea typeface="굴림" panose="020B0600000101010101" pitchFamily="50" charset="-127"/>
                <a:cs typeface="Courier New" panose="02070309020205020404" pitchFamily="49" charset="0"/>
              </a:rPr>
              <a:t>}</a:t>
            </a:r>
            <a:endParaRPr lang="ko-KR" altLang="en-US" sz="1800" b="1" dirty="0">
              <a:latin typeface="Courier New" panose="02070309020205020404" pitchFamily="49" charset="0"/>
              <a:ea typeface="굴림" panose="020B0600000101010101" pitchFamily="50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31BADCB1-8E46-90B2-5840-E1AFB936B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Array Container (STL)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94A3DCE8-8AC2-0C93-E3E2-5713E622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F74EE851-275C-4D33-A0AA-32C63EF32E50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ACD85EF2-B3E4-0171-AC60-57F2524D8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1981201"/>
            <a:ext cx="8585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&lt;array&gt;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ko-KR" sz="20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ko-KR" sz="20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 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array&lt;int,10&gt; array1={15,20,33,24,55,60,74,83,92,100};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for (int i=0; i&lt;10;i++){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//at(n) function returns the value at that index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cout &lt;&lt;"The array element at inedx "&lt;&lt;i&lt;&lt;": "&lt;&lt;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   array1.at(i)&lt;&lt;endl;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return 0;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}</a:t>
            </a:r>
            <a:endParaRPr kumimoji="0" lang="ko-KR" altLang="en-US" sz="20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pic>
        <p:nvPicPr>
          <p:cNvPr id="27653" name="Picture 2">
            <a:extLst>
              <a:ext uri="{FF2B5EF4-FFF2-40B4-BE49-F238E27FC236}">
                <a16:creationId xmlns:a16="http://schemas.microsoft.com/office/drawing/2014/main" id="{2EF781A8-8A90-B6B1-59A3-CEBC1F9C5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6" y="1400176"/>
            <a:ext cx="3362325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730DDDE-AE4A-82D5-F000-60822F173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716" y="0"/>
            <a:ext cx="11196484" cy="1325563"/>
          </a:xfrm>
        </p:spPr>
        <p:txBody>
          <a:bodyPr>
            <a:noAutofit/>
          </a:bodyPr>
          <a:lstStyle/>
          <a:p>
            <a:r>
              <a:rPr lang="en-US" sz="2800" dirty="0"/>
              <a:t>Write a C++ program that uses std::array and sort() to sort an integer array and a character array, then prints each sorted element with its index.</a:t>
            </a:r>
            <a:endParaRPr lang="ko-KR" altLang="en-US" sz="2800" dirty="0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429B525-AC01-95EF-C88B-A9DFAF12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8F44E8EC-6C3F-4FA7-B140-4FFA9CCAD98A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24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0102AAFE-8703-F916-3C5C-33969E35A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295401"/>
            <a:ext cx="9982200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&lt;array&gt;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&lt;algorithm&gt; </a:t>
            </a:r>
            <a:r>
              <a:rPr kumimoji="0" lang="en-US" altLang="ko-KR" sz="16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contains sort and </a:t>
            </a:r>
            <a:r>
              <a:rPr kumimoji="0" lang="en-US" altLang="ko-KR" sz="16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binary_search</a:t>
            </a:r>
            <a:endParaRPr kumimoji="0" lang="en-US" altLang="ko-KR" sz="17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 ()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array&lt;int,10&gt; array1 = {150,200,303,24,55,60,87,38,15,100};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sort(array1.begin(), array1.end());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&lt;&lt;"Frist Array Sorting"&lt;&lt;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(int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=0;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&lt;10;i++){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//at(n) function returns the value at that index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&lt;&lt;"The array element at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inedx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"&lt;&lt;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&lt;&lt;": "&lt;&lt;array1.at(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)&lt;&lt;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&lt;&lt;"Second Array Sorting"&lt;&lt;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array&lt;char,6&gt; array2={'R','A','M','E','S', 'H'};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sort(array2.begin(), array2.end());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for (int j=0; j&lt;6;j++){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//at(n) function returns the value at that index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&lt;&lt;"The array element at 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inedx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"&lt;&lt;j&lt;&lt;": "&lt;&lt;array2.at(j)&lt;&lt;</a:t>
            </a:r>
            <a:r>
              <a:rPr kumimoji="0" lang="en-US" altLang="ko-KR" sz="17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return 0;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7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}</a:t>
            </a:r>
            <a:endParaRPr kumimoji="0" lang="ko-KR" altLang="en-US" sz="17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3E55E279-CF2D-F62E-E18B-CFDA64A6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9CC4DF1D-F550-48E5-9858-3D30A989B7FD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2772" name="Picture 2">
            <a:extLst>
              <a:ext uri="{FF2B5EF4-FFF2-40B4-BE49-F238E27FC236}">
                <a16:creationId xmlns:a16="http://schemas.microsoft.com/office/drawing/2014/main" id="{09040E8F-F302-9C25-2F09-E0610E02D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457326"/>
            <a:ext cx="741362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4B51B1A9-FEB9-D78B-B55A-352A58C37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55" y="25400"/>
            <a:ext cx="11353800" cy="1325563"/>
          </a:xfrm>
        </p:spPr>
        <p:txBody>
          <a:bodyPr>
            <a:noAutofit/>
          </a:bodyPr>
          <a:lstStyle/>
          <a:p>
            <a:r>
              <a:rPr lang="en-US" sz="3200" dirty="0"/>
              <a:t>Write a C++ program that stores color names in a std::array, displays them unsorted, sorts them alphabetically, prints the sorted list, and uses </a:t>
            </a:r>
            <a:r>
              <a:rPr lang="en-US" sz="3200" dirty="0" err="1"/>
              <a:t>binary_search</a:t>
            </a:r>
            <a:r>
              <a:rPr lang="en-US" sz="3200" dirty="0"/>
              <a:t> to check for specific colors.</a:t>
            </a:r>
            <a:endParaRPr lang="ko-KR" altLang="en-US" sz="3200" dirty="0">
              <a:ea typeface="굴림" panose="020B0600000101010101" pitchFamily="34" charset="-127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30B4BC87-9A3C-D638-8F9D-87F27DB0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563318D-AF8B-470F-A2AD-C597A9C369C3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26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B3E6BA8B-0773-A591-2155-28D0C39A2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50963"/>
            <a:ext cx="83820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&lt;array&gt;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&lt;string&gt;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&lt;algorithm&gt; // contains sort and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binary_search</a:t>
            </a:r>
            <a:endParaRPr kumimoji="0" lang="en-US" altLang="ko-KR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const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size_t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arraySize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7; // size of array colors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array&lt; string, 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arraySize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&gt; colors = { "red", "orange", "yellow", "green", "blue", "indigo", "violet" 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output original array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"Unsorted array: 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 string color : colors 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color &lt;&lt; "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sort(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colors.begin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(),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colors.end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()); //sort contents of colors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output sorted array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"\</a:t>
            </a: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nSorted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array: 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 string item : colors 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item &lt;&lt; " ";</a:t>
            </a:r>
            <a:endParaRPr kumimoji="0" lang="ko-KR" altLang="en-US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C0884968-6F10-F587-4315-D2C5D9D7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4BC4293D-7AF6-489A-9367-3617448A7361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27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0722CF40-8984-F891-9D07-012A34E56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431925"/>
            <a:ext cx="9144000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search for "indigo" in colors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bool found= binary_search(colors.begin(),colors.end(),"indigo");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 &lt;&lt; "\n\n\"indigo\" " &lt;&lt; ( found ? "was" : "was not" )&lt;&lt; " found in colors" &lt;&lt; endl;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search for "cyan" in colors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found = binary_search( colors.begin(), colors.end(), "cyan" 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 &lt;&lt; "\"cyan\" " &lt;&lt; ( found ? "was" : "was not" )&lt;&lt; " found in colors" &lt;&lt; endl;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 0; </a:t>
            </a:r>
            <a:endParaRPr kumimoji="0" lang="en-US" altLang="ko-KR" sz="1800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4821" name="Picture 4">
            <a:extLst>
              <a:ext uri="{FF2B5EF4-FFF2-40B4-BE49-F238E27FC236}">
                <a16:creationId xmlns:a16="http://schemas.microsoft.com/office/drawing/2014/main" id="{AE3F28D8-DD26-1093-CE0E-62C14A74C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4" y="4295775"/>
            <a:ext cx="518318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997F95F5-BCE5-6468-5D03-2908EAA74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Dynamically Allocated Array</a:t>
            </a:r>
            <a:endParaRPr lang="ko-KR" altLang="en-US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B65C01E0-EA32-9E12-E428-57853B222E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600" dirty="0">
                <a:ea typeface="굴림" panose="020B0600000101010101" pitchFamily="34" charset="-127"/>
              </a:rPr>
              <a:t>Static array limitations: (</a:t>
            </a:r>
            <a:r>
              <a:rPr lang="en-US" altLang="ko-KR" sz="2600" dirty="0">
                <a:solidFill>
                  <a:srgbClr val="C00000"/>
                </a:solidFill>
                <a:ea typeface="굴림" panose="020B0600000101010101" pitchFamily="34" charset="-127"/>
              </a:rPr>
              <a:t>Compile-time size</a:t>
            </a:r>
            <a:r>
              <a:rPr lang="en-US" altLang="ko-KR" sz="2600" dirty="0">
                <a:ea typeface="굴림" panose="020B0600000101010101" pitchFamily="34" charset="-127"/>
              </a:rPr>
              <a:t>)</a:t>
            </a:r>
          </a:p>
          <a:p>
            <a:pPr lvl="1"/>
            <a:r>
              <a:rPr lang="en-US" altLang="ko-KR" sz="2200" dirty="0">
                <a:ea typeface="굴림" panose="020B0600000101010101" pitchFamily="34" charset="-127"/>
              </a:rPr>
              <a:t>Must specify size first as a constant</a:t>
            </a:r>
          </a:p>
          <a:p>
            <a:pPr lvl="1"/>
            <a:r>
              <a:rPr lang="en-US" altLang="en-US" sz="2200" dirty="0"/>
              <a:t>Array elements are stored on the stack</a:t>
            </a:r>
            <a:r>
              <a:rPr lang="en-US" altLang="ko-KR" sz="2200" dirty="0">
                <a:ea typeface="굴림" panose="020B0600000101010101" pitchFamily="34" charset="-127"/>
              </a:rPr>
              <a:t> </a:t>
            </a:r>
          </a:p>
          <a:p>
            <a:pPr lvl="1" algn="just"/>
            <a:r>
              <a:rPr lang="en-US" altLang="ko-KR" sz="2200" dirty="0">
                <a:ea typeface="굴림" panose="020B0600000101010101" pitchFamily="34" charset="-127"/>
              </a:rPr>
              <a:t>Very limited application, as in many cases the number of elements may not be known until the program runs </a:t>
            </a: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May use partially filled arrays for more flexibility</a:t>
            </a:r>
          </a:p>
          <a:p>
            <a:pPr lvl="1"/>
            <a:r>
              <a:rPr lang="en-US" altLang="ko-KR" sz="2200" dirty="0">
                <a:ea typeface="굴림" panose="020B0600000101010101" pitchFamily="34" charset="-127"/>
              </a:rPr>
              <a:t>Must estimate maximum size needed</a:t>
            </a:r>
          </a:p>
          <a:p>
            <a:pPr lvl="1"/>
            <a:r>
              <a:rPr lang="en-US" altLang="ko-KR" sz="2200" dirty="0">
                <a:ea typeface="굴림" panose="020B0600000101010101" pitchFamily="34" charset="-127"/>
              </a:rPr>
              <a:t>Wastes memory</a:t>
            </a:r>
          </a:p>
          <a:p>
            <a:r>
              <a:rPr lang="en-US" altLang="ko-KR" sz="2600" b="1" dirty="0">
                <a:solidFill>
                  <a:srgbClr val="C00000"/>
                </a:solidFill>
                <a:ea typeface="굴림" panose="020B0600000101010101" pitchFamily="34" charset="-127"/>
              </a:rPr>
              <a:t>Dynamic arrays: (Run-time size)</a:t>
            </a:r>
            <a:endParaRPr lang="en-US" altLang="ko-KR" sz="2600" b="1" dirty="0">
              <a:ea typeface="굴림" panose="020B0600000101010101" pitchFamily="34" charset="-127"/>
            </a:endParaRPr>
          </a:p>
          <a:p>
            <a:pPr lvl="1"/>
            <a:r>
              <a:rPr lang="en-US" altLang="ko-KR" sz="2200" dirty="0">
                <a:ea typeface="굴림" panose="020B0600000101010101" pitchFamily="34" charset="-127"/>
              </a:rPr>
              <a:t>Can grow and shrink as needed</a:t>
            </a:r>
          </a:p>
          <a:p>
            <a:pPr lvl="1"/>
            <a:r>
              <a:rPr lang="en-US" altLang="ko-KR" sz="2200" dirty="0">
                <a:ea typeface="굴림" panose="020B0600000101010101" pitchFamily="34" charset="-127"/>
              </a:rPr>
              <a:t>Implemented as a pointer to a dynamically allocated array</a:t>
            </a:r>
          </a:p>
          <a:p>
            <a:pPr lvl="1"/>
            <a:r>
              <a:rPr lang="en-US" altLang="en-US" sz="2200" dirty="0"/>
              <a:t>Array elements are stored on the heap</a:t>
            </a:r>
            <a:r>
              <a:rPr lang="en-US" altLang="ko-KR" sz="2200" dirty="0">
                <a:ea typeface="굴림" panose="020B0600000101010101" pitchFamily="34" charset="-127"/>
              </a:rPr>
              <a:t> </a:t>
            </a:r>
          </a:p>
          <a:p>
            <a:endParaRPr lang="en-US" altLang="ko-KR" sz="2600" dirty="0">
              <a:ea typeface="굴림" panose="020B0600000101010101" pitchFamily="34" charset="-127"/>
            </a:endParaRPr>
          </a:p>
          <a:p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668FE868-9FC9-1A67-E331-E895CD04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946639CD-EDBF-4513-AD52-2C86665EEF4B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28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5DBE9C23-1F6B-CF72-9545-30F69882A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Dynamically Allocated Array</a:t>
            </a:r>
            <a:b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</a:br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STL template </a:t>
            </a:r>
            <a:r>
              <a:rPr lang="en-US" altLang="ko-KR" b="1" dirty="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</a:t>
            </a:r>
            <a:endParaRPr lang="ko-KR" altLang="en-US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EA028A60-9BA3-1D47-CF33-0B6EB20A4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sz="2600">
                <a:ea typeface="굴림" panose="020B0600000101010101" pitchFamily="34" charset="-127"/>
              </a:rPr>
              <a:t>STL class template </a:t>
            </a:r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</a:t>
            </a:r>
            <a:r>
              <a:rPr lang="en-US" altLang="ko-KR" sz="2600">
                <a:ea typeface="굴림" panose="020B0600000101010101" pitchFamily="34" charset="-127"/>
              </a:rPr>
              <a:t> is similar to class template </a:t>
            </a:r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array</a:t>
            </a:r>
            <a:r>
              <a:rPr lang="en-US" altLang="ko-KR" sz="2600">
                <a:ea typeface="굴림" panose="020B0600000101010101" pitchFamily="34" charset="-127"/>
              </a:rPr>
              <a:t>, but also supports dynamic resizing</a:t>
            </a:r>
          </a:p>
          <a:p>
            <a:pPr lvl="1" algn="just"/>
            <a:r>
              <a:rPr lang="en-US" altLang="ko-KR" sz="2200">
                <a:solidFill>
                  <a:srgbClr val="000000"/>
                </a:solidFill>
                <a:ea typeface="굴림" panose="020B0600000101010101" pitchFamily="34" charset="-127"/>
              </a:rPr>
              <a:t>Dynamically grow to accommodate more elements</a:t>
            </a:r>
            <a:endParaRPr lang="en-US" altLang="ko-KR" sz="2200">
              <a:ea typeface="굴림" panose="020B0600000101010101" pitchFamily="34" charset="-127"/>
            </a:endParaRPr>
          </a:p>
          <a:p>
            <a:pPr algn="just"/>
            <a:r>
              <a:rPr lang="en-US" altLang="ko-KR" sz="2600">
                <a:ea typeface="굴림" panose="020B0600000101010101" pitchFamily="34" charset="-127"/>
              </a:rPr>
              <a:t>Standard class template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vector</a:t>
            </a:r>
            <a:r>
              <a:rPr lang="en-US" altLang="ko-KR" sz="2600">
                <a:ea typeface="굴림" panose="020B0600000101010101" pitchFamily="34" charset="-127"/>
              </a:rPr>
              <a:t> is defined in header </a:t>
            </a:r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&lt;vector&gt;</a:t>
            </a:r>
            <a:r>
              <a:rPr lang="en-US" altLang="ko-KR" sz="2600">
                <a:ea typeface="굴림" panose="020B0600000101010101" pitchFamily="34" charset="-127"/>
              </a:rPr>
              <a:t> and belongs to </a:t>
            </a:r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namespace std</a:t>
            </a:r>
            <a:r>
              <a:rPr lang="en-US" altLang="ko-KR" sz="2600">
                <a:ea typeface="굴림" panose="020B0600000101010101" pitchFamily="34" charset="-127"/>
              </a:rPr>
              <a:t>.</a:t>
            </a:r>
          </a:p>
          <a:p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vectors</a:t>
            </a:r>
            <a:r>
              <a:rPr lang="en-US" altLang="ko-KR" sz="2600">
                <a:ea typeface="굴림" panose="020B0600000101010101" pitchFamily="34" charset="-127"/>
              </a:rPr>
              <a:t> can be defined to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store</a:t>
            </a:r>
            <a:r>
              <a:rPr lang="en-US" altLang="ko-KR" sz="2600">
                <a:ea typeface="굴림" panose="020B0600000101010101" pitchFamily="34" charset="-127"/>
              </a:rPr>
              <a:t> most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data</a:t>
            </a:r>
            <a:r>
              <a:rPr lang="en-US" altLang="ko-KR" sz="2600">
                <a:ea typeface="굴림" panose="020B0600000101010101" pitchFamily="34" charset="-127"/>
              </a:rPr>
              <a:t>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types</a:t>
            </a:r>
          </a:p>
          <a:p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vector</a:t>
            </a:r>
            <a:r>
              <a:rPr lang="en-US" altLang="ko-KR" sz="2600">
                <a:ea typeface="굴림" panose="020B0600000101010101" pitchFamily="34" charset="-127"/>
              </a:rPr>
              <a:t> member function </a:t>
            </a:r>
            <a:r>
              <a:rPr lang="en-US" altLang="ko-KR" sz="26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size</a:t>
            </a:r>
            <a:r>
              <a:rPr lang="en-US" altLang="ko-KR" sz="2600">
                <a:ea typeface="굴림" panose="020B0600000101010101" pitchFamily="34" charset="-127"/>
              </a:rPr>
              <a:t> obtain the number of elements in the vector</a:t>
            </a:r>
          </a:p>
          <a:p>
            <a:pPr algn="just"/>
            <a:r>
              <a:rPr lang="en-US" altLang="ko-KR" sz="2600">
                <a:ea typeface="굴림" panose="020B0600000101010101" pitchFamily="34" charset="-127"/>
              </a:rPr>
              <a:t>Vector are implemented as dynamic arrays with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list</a:t>
            </a:r>
            <a:r>
              <a:rPr lang="en-US" altLang="ko-KR" sz="2600">
                <a:ea typeface="굴림" panose="020B0600000101010101" pitchFamily="34" charset="-127"/>
              </a:rPr>
              <a:t> </a:t>
            </a:r>
            <a:r>
              <a:rPr lang="en-US" altLang="ko-KR" sz="2600">
                <a:solidFill>
                  <a:srgbClr val="C00000"/>
                </a:solidFill>
                <a:ea typeface="굴림" panose="020B0600000101010101" pitchFamily="34" charset="-127"/>
              </a:rPr>
              <a:t>interface</a:t>
            </a:r>
          </a:p>
          <a:p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6DC65E74-1E9C-BBDD-B473-AEB90001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A633A98C-FA23-4574-8C09-D232A70CD72B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29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5301" name="Rectangle 4">
            <a:extLst>
              <a:ext uri="{FF2B5EF4-FFF2-40B4-BE49-F238E27FC236}">
                <a16:creationId xmlns:a16="http://schemas.microsoft.com/office/drawing/2014/main" id="{CB6FE1AE-CB49-06C6-A7DB-640057A44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5710238"/>
            <a:ext cx="39227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vector&lt;string&gt;nameVec;</a:t>
            </a:r>
            <a:endParaRPr kumimoji="0" lang="ko-KR" altLang="en-US" sz="2200">
              <a:solidFill>
                <a:srgbClr val="C00000"/>
              </a:solidFill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55302" name="Rectangle 5">
            <a:extLst>
              <a:ext uri="{FF2B5EF4-FFF2-40B4-BE49-F238E27FC236}">
                <a16:creationId xmlns:a16="http://schemas.microsoft.com/office/drawing/2014/main" id="{4FCF9DA1-FFEA-007E-5B99-CD87E35E3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6122988"/>
            <a:ext cx="37528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vector&lt;double&gt;GPAVec;</a:t>
            </a:r>
            <a:endParaRPr kumimoji="0" lang="ko-KR" altLang="en-US" sz="2200">
              <a:solidFill>
                <a:srgbClr val="C00000"/>
              </a:solidFill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FC286EB9-C98A-AC98-019D-B28158504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5715001"/>
            <a:ext cx="30734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vector&lt;int&gt;Marks;</a:t>
            </a:r>
            <a:endParaRPr kumimoji="0" lang="ko-KR" altLang="en-US" sz="2200">
              <a:solidFill>
                <a:srgbClr val="C00000"/>
              </a:solidFill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77F5BD9-7C2B-0530-0953-5CDC6FBF3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6038"/>
            <a:ext cx="12093677" cy="1325563"/>
          </a:xfrm>
        </p:spPr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Dynamically Allocated Array STL template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</a:t>
            </a:r>
            <a:endParaRPr lang="ko-KR" altLang="en-US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AABA0BCE-F1A4-1E91-2070-1F1F9CAA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09026AF-B732-4124-BC89-AA59773F6BBF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30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6F1A0B7-D461-3354-DB41-F9861223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295400"/>
            <a:ext cx="8763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#include&lt;vector&gt;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main(){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vector&lt;int&gt; v; //Vector Implementation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Inserting Values in Vector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v.push_back(1); v.push_back(2); v.push_back(3);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v.push_back(4); v.push_back(5);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cout&lt;&lt;"Size of vector Before Removal="&lt;&lt;v.size() &lt;&lt; "\n";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Output Values of vector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(int i=0; i&lt;v.size(); 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cout &lt;&lt; v[i] &lt;&lt; " ";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v.erase(v.begin() + 2); // Remove 3rd element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cout&lt;&lt;"\nSize of vector After removal=" &lt;&lt;v.size()&lt;&lt; "\n";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// Output Values of vector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for (auto it : v) cout &lt;&lt; it &lt;&lt; " ";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v.insert(v.begin() + 2 , 7); // insert element at 3rd Location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 &lt;&lt; "\nSize of vector After Insert=" &lt;&lt; v.size() &lt;&lt; "\n";	for (auto it : v)		cout &lt;&lt; it &lt;&lt; " ";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return 0;}</a:t>
            </a:r>
            <a:endParaRPr kumimoji="0" lang="ko-KR" altLang="en-US" sz="18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pic>
        <p:nvPicPr>
          <p:cNvPr id="56325" name="Picture 5">
            <a:extLst>
              <a:ext uri="{FF2B5EF4-FFF2-40B4-BE49-F238E27FC236}">
                <a16:creationId xmlns:a16="http://schemas.microsoft.com/office/drawing/2014/main" id="{431BE5CA-82B4-C27B-B54B-2B36C95B9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6" y="1371601"/>
            <a:ext cx="32289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14F66267-8C8D-08E1-A2E7-13B56A9B3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116" y="100012"/>
            <a:ext cx="12582832" cy="1325563"/>
          </a:xfrm>
        </p:spPr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Dynamically Allocated Array STL template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vector</a:t>
            </a:r>
            <a:endParaRPr lang="ko-KR" altLang="en-US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57347" name="Slide Number Placeholder 3">
            <a:extLst>
              <a:ext uri="{FF2B5EF4-FFF2-40B4-BE49-F238E27FC236}">
                <a16:creationId xmlns:a16="http://schemas.microsoft.com/office/drawing/2014/main" id="{BA9EDA29-D11D-99C5-B1E1-7CCF7748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13539441-1318-4CC9-985E-251AD737EDBF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31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CE2EBB62-FEDB-92E5-B852-285BB2AD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38" y="1338263"/>
            <a:ext cx="80772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#include&lt;iostream&gt;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#include&lt;vector&gt;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vector&lt;int&gt; vec {2,4,6,8};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vector&lt;int&gt; vec2 {1,3,5,7};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cout&lt;&lt;"Intially first vector: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for(auto i=vec.begin(); i&lt;vec.end(); 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{     cout&lt;&lt;" "&lt;&lt;*i;                 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cout&lt;&lt;"\nIntially second vector: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for(auto i=vec2.begin(); i&lt;vec2.end(); 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{     cout&lt;&lt;" "&lt;&lt;*i;				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//Inserting vec2 at the beginning of the vec vector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vec.insert(vec.begin(),vec2.begin(),vec2.end());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cout&lt;&lt;"\n\nThe modified vector is: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for(auto i=vec.begin(); i&lt;vec.end(); i++)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{	cout&lt;&lt;" "&lt;&lt;*i;		  	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return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endParaRPr kumimoji="0" lang="ko-KR" altLang="en-US" sz="180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45D8FBAD-B088-4D0A-1F5F-2CD64034D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425575"/>
            <a:ext cx="4173538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3639</Words>
  <Application>Microsoft Office PowerPoint</Application>
  <PresentationFormat>Widescreen</PresentationFormat>
  <Paragraphs>461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AvantGarde</vt:lpstr>
      <vt:lpstr>Courier</vt:lpstr>
      <vt:lpstr>굴림</vt:lpstr>
      <vt:lpstr>Aptos</vt:lpstr>
      <vt:lpstr>Aptos Display</vt:lpstr>
      <vt:lpstr>Arial</vt:lpstr>
      <vt:lpstr>Courier New</vt:lpstr>
      <vt:lpstr>Helvetica</vt:lpstr>
      <vt:lpstr>Office Theme</vt:lpstr>
      <vt:lpstr>Programming Fundamentals</vt:lpstr>
      <vt:lpstr>Arrays</vt:lpstr>
      <vt:lpstr>Declaring Arrays</vt:lpstr>
      <vt:lpstr>Initializing arrays</vt:lpstr>
      <vt:lpstr>Examples Using Arrays</vt:lpstr>
      <vt:lpstr>Examples Using Arrays</vt:lpstr>
      <vt:lpstr>Write a C++ program that takes the number of elements as input, stores the user-entered values in an array, and then prints the array elements</vt:lpstr>
      <vt:lpstr>Accessing Array elements</vt:lpstr>
      <vt:lpstr>Write a C++ program that prints a horizontal histogram of the array</vt:lpstr>
      <vt:lpstr>Write a C++ program that prints a horizontal histogram of the array (all input)</vt:lpstr>
      <vt:lpstr>Examples Using Arrays</vt:lpstr>
      <vt:lpstr>Examples Using Arrays</vt:lpstr>
      <vt:lpstr>Write a C++ program that takes an array of numbers as input and sorts it in ascending order.</vt:lpstr>
      <vt:lpstr>PowerPoint Presentation</vt:lpstr>
      <vt:lpstr>Multi-dimensional Array</vt:lpstr>
      <vt:lpstr>Multi-dimensional Array</vt:lpstr>
      <vt:lpstr>Multi-dimensional Array</vt:lpstr>
      <vt:lpstr>Multi-dimensional Array</vt:lpstr>
      <vt:lpstr>Multi-dimensional Array</vt:lpstr>
      <vt:lpstr>Write a C++ program that takes marks of students in multiple courses, stores them in a 2D array, calculates each student's average, and displays the results.</vt:lpstr>
      <vt:lpstr>Array Container (STL)</vt:lpstr>
      <vt:lpstr>Array Container (STL)</vt:lpstr>
      <vt:lpstr>Array Container (STL)</vt:lpstr>
      <vt:lpstr>Write a C++ program that uses std::array and sort() to sort an integer array and a character array, then prints each sorted element with its index.</vt:lpstr>
      <vt:lpstr>PowerPoint Presentation</vt:lpstr>
      <vt:lpstr>Write a C++ program that stores color names in a std::array, displays them unsorted, sorts them alphabetically, prints the sorted list, and uses binary_search to check for specific colors.</vt:lpstr>
      <vt:lpstr>PowerPoint Presentation</vt:lpstr>
      <vt:lpstr>Dynamically Allocated Array</vt:lpstr>
      <vt:lpstr>Dynamically Allocated Array STL template vector</vt:lpstr>
      <vt:lpstr>Dynamically Allocated Array STL template vector</vt:lpstr>
      <vt:lpstr>Dynamically Allocated Array STL template vector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106</cp:revision>
  <dcterms:created xsi:type="dcterms:W3CDTF">2025-11-02T12:21:22Z</dcterms:created>
  <dcterms:modified xsi:type="dcterms:W3CDTF">2025-11-24T19:07:03Z</dcterms:modified>
</cp:coreProperties>
</file>