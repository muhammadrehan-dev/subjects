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06FC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01F5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06FC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2400" y="2514600"/>
            <a:ext cx="8839200" cy="3877310"/>
          </a:xfrm>
          <a:custGeom>
            <a:avLst/>
            <a:gdLst/>
            <a:ahLst/>
            <a:cxnLst/>
            <a:rect l="l" t="t" r="r" b="b"/>
            <a:pathLst>
              <a:path w="8839200" h="3877310">
                <a:moveTo>
                  <a:pt x="0" y="3877055"/>
                </a:moveTo>
                <a:lnTo>
                  <a:pt x="8839200" y="3877055"/>
                </a:lnTo>
                <a:lnTo>
                  <a:pt x="8839200" y="0"/>
                </a:lnTo>
                <a:lnTo>
                  <a:pt x="0" y="0"/>
                </a:lnTo>
                <a:lnTo>
                  <a:pt x="0" y="3877055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2400" y="6701218"/>
            <a:ext cx="8839200" cy="4445"/>
          </a:xfrm>
          <a:custGeom>
            <a:avLst/>
            <a:gdLst/>
            <a:ahLst/>
            <a:cxnLst/>
            <a:rect l="l" t="t" r="r" b="b"/>
            <a:pathLst>
              <a:path w="8839200" h="4445">
                <a:moveTo>
                  <a:pt x="0" y="4381"/>
                </a:moveTo>
                <a:lnTo>
                  <a:pt x="8839200" y="4381"/>
                </a:lnTo>
                <a:lnTo>
                  <a:pt x="8839200" y="0"/>
                </a:lnTo>
                <a:lnTo>
                  <a:pt x="0" y="0"/>
                </a:lnTo>
                <a:lnTo>
                  <a:pt x="0" y="4381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991600" y="2514600"/>
            <a:ext cx="152400" cy="4343400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8"/>
                </a:moveTo>
                <a:lnTo>
                  <a:pt x="152400" y="4343398"/>
                </a:lnTo>
                <a:lnTo>
                  <a:pt x="152400" y="0"/>
                </a:lnTo>
                <a:lnTo>
                  <a:pt x="0" y="0"/>
                </a:lnTo>
                <a:lnTo>
                  <a:pt x="0" y="43433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2514600"/>
            <a:ext cx="152400" cy="4343400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9"/>
                </a:moveTo>
                <a:lnTo>
                  <a:pt x="152400" y="4343399"/>
                </a:lnTo>
                <a:lnTo>
                  <a:pt x="152400" y="0"/>
                </a:lnTo>
                <a:lnTo>
                  <a:pt x="0" y="0"/>
                </a:lnTo>
                <a:lnTo>
                  <a:pt x="0" y="4343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0" y="0"/>
            <a:ext cx="9144000" cy="2514600"/>
          </a:xfrm>
          <a:custGeom>
            <a:avLst/>
            <a:gdLst/>
            <a:ahLst/>
            <a:cxnLst/>
            <a:rect l="l" t="t" r="r" b="b"/>
            <a:pathLst>
              <a:path w="9144000" h="2514600">
                <a:moveTo>
                  <a:pt x="0" y="2514600"/>
                </a:moveTo>
                <a:lnTo>
                  <a:pt x="9144000" y="2514600"/>
                </a:lnTo>
                <a:lnTo>
                  <a:pt x="9144000" y="0"/>
                </a:lnTo>
                <a:lnTo>
                  <a:pt x="0" y="0"/>
                </a:lnTo>
                <a:lnTo>
                  <a:pt x="0" y="2514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46304" y="6391655"/>
            <a:ext cx="8833485" cy="309880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0" y="309562"/>
                </a:moveTo>
                <a:lnTo>
                  <a:pt x="8833104" y="309562"/>
                </a:lnTo>
                <a:lnTo>
                  <a:pt x="8833104" y="0"/>
                </a:lnTo>
                <a:lnTo>
                  <a:pt x="0" y="0"/>
                </a:lnTo>
                <a:lnTo>
                  <a:pt x="0" y="309562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5447" y="2420111"/>
            <a:ext cx="8833485" cy="0"/>
          </a:xfrm>
          <a:custGeom>
            <a:avLst/>
            <a:gdLst/>
            <a:ahLst/>
            <a:cxnLst/>
            <a:rect l="l" t="t" r="r" b="b"/>
            <a:pathLst>
              <a:path w="8833485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12700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152400" y="152400"/>
            <a:ext cx="8833485" cy="6547484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12699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4267200" y="211531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74" y="3990"/>
                </a:lnTo>
                <a:lnTo>
                  <a:pt x="208483" y="15544"/>
                </a:lnTo>
                <a:lnTo>
                  <a:pt x="164753" y="34032"/>
                </a:lnTo>
                <a:lnTo>
                  <a:pt x="124815" y="58826"/>
                </a:lnTo>
                <a:lnTo>
                  <a:pt x="89296" y="89296"/>
                </a:lnTo>
                <a:lnTo>
                  <a:pt x="58826" y="124815"/>
                </a:lnTo>
                <a:lnTo>
                  <a:pt x="34032" y="164753"/>
                </a:lnTo>
                <a:lnTo>
                  <a:pt x="15544" y="208483"/>
                </a:lnTo>
                <a:lnTo>
                  <a:pt x="3990" y="255374"/>
                </a:lnTo>
                <a:lnTo>
                  <a:pt x="0" y="304800"/>
                </a:lnTo>
                <a:lnTo>
                  <a:pt x="3990" y="354225"/>
                </a:lnTo>
                <a:lnTo>
                  <a:pt x="15544" y="401116"/>
                </a:lnTo>
                <a:lnTo>
                  <a:pt x="34032" y="444846"/>
                </a:lnTo>
                <a:lnTo>
                  <a:pt x="58826" y="484784"/>
                </a:lnTo>
                <a:lnTo>
                  <a:pt x="89296" y="520303"/>
                </a:lnTo>
                <a:lnTo>
                  <a:pt x="124815" y="550773"/>
                </a:lnTo>
                <a:lnTo>
                  <a:pt x="164753" y="575567"/>
                </a:lnTo>
                <a:lnTo>
                  <a:pt x="208483" y="594055"/>
                </a:lnTo>
                <a:lnTo>
                  <a:pt x="255374" y="605609"/>
                </a:lnTo>
                <a:lnTo>
                  <a:pt x="304800" y="609600"/>
                </a:lnTo>
                <a:lnTo>
                  <a:pt x="354225" y="605609"/>
                </a:lnTo>
                <a:lnTo>
                  <a:pt x="401116" y="594055"/>
                </a:lnTo>
                <a:lnTo>
                  <a:pt x="444846" y="575567"/>
                </a:lnTo>
                <a:lnTo>
                  <a:pt x="484784" y="550773"/>
                </a:lnTo>
                <a:lnTo>
                  <a:pt x="520303" y="520303"/>
                </a:lnTo>
                <a:lnTo>
                  <a:pt x="550773" y="484784"/>
                </a:lnTo>
                <a:lnTo>
                  <a:pt x="575567" y="444846"/>
                </a:lnTo>
                <a:lnTo>
                  <a:pt x="594055" y="401116"/>
                </a:lnTo>
                <a:lnTo>
                  <a:pt x="605609" y="354225"/>
                </a:lnTo>
                <a:lnTo>
                  <a:pt x="609600" y="304800"/>
                </a:lnTo>
                <a:lnTo>
                  <a:pt x="605609" y="255374"/>
                </a:lnTo>
                <a:lnTo>
                  <a:pt x="594055" y="208483"/>
                </a:lnTo>
                <a:lnTo>
                  <a:pt x="575567" y="164753"/>
                </a:lnTo>
                <a:lnTo>
                  <a:pt x="550773" y="124815"/>
                </a:lnTo>
                <a:lnTo>
                  <a:pt x="520303" y="89296"/>
                </a:lnTo>
                <a:lnTo>
                  <a:pt x="484784" y="58826"/>
                </a:lnTo>
                <a:lnTo>
                  <a:pt x="444846" y="34032"/>
                </a:lnTo>
                <a:lnTo>
                  <a:pt x="401116" y="15544"/>
                </a:lnTo>
                <a:lnTo>
                  <a:pt x="354225" y="3990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4361688" y="2209800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5">
                <a:moveTo>
                  <a:pt x="210312" y="0"/>
                </a:moveTo>
                <a:lnTo>
                  <a:pt x="162072" y="5551"/>
                </a:lnTo>
                <a:lnTo>
                  <a:pt x="117798" y="21367"/>
                </a:lnTo>
                <a:lnTo>
                  <a:pt x="78750" y="46186"/>
                </a:lnTo>
                <a:lnTo>
                  <a:pt x="46186" y="78750"/>
                </a:lnTo>
                <a:lnTo>
                  <a:pt x="21367" y="117798"/>
                </a:lnTo>
                <a:lnTo>
                  <a:pt x="5551" y="162072"/>
                </a:lnTo>
                <a:lnTo>
                  <a:pt x="0" y="210312"/>
                </a:lnTo>
                <a:lnTo>
                  <a:pt x="5551" y="258551"/>
                </a:lnTo>
                <a:lnTo>
                  <a:pt x="21367" y="302825"/>
                </a:lnTo>
                <a:lnTo>
                  <a:pt x="46186" y="341873"/>
                </a:lnTo>
                <a:lnTo>
                  <a:pt x="78750" y="374437"/>
                </a:lnTo>
                <a:lnTo>
                  <a:pt x="117798" y="399256"/>
                </a:lnTo>
                <a:lnTo>
                  <a:pt x="162072" y="415072"/>
                </a:lnTo>
                <a:lnTo>
                  <a:pt x="210312" y="420624"/>
                </a:lnTo>
                <a:lnTo>
                  <a:pt x="258551" y="415072"/>
                </a:lnTo>
                <a:lnTo>
                  <a:pt x="302825" y="399256"/>
                </a:lnTo>
                <a:lnTo>
                  <a:pt x="341873" y="374437"/>
                </a:lnTo>
                <a:lnTo>
                  <a:pt x="374437" y="341873"/>
                </a:lnTo>
                <a:lnTo>
                  <a:pt x="399256" y="302825"/>
                </a:lnTo>
                <a:lnTo>
                  <a:pt x="415072" y="258551"/>
                </a:lnTo>
                <a:lnTo>
                  <a:pt x="420624" y="210312"/>
                </a:lnTo>
                <a:lnTo>
                  <a:pt x="415072" y="162072"/>
                </a:lnTo>
                <a:lnTo>
                  <a:pt x="399256" y="117798"/>
                </a:lnTo>
                <a:lnTo>
                  <a:pt x="374437" y="78750"/>
                </a:lnTo>
                <a:lnTo>
                  <a:pt x="341873" y="46186"/>
                </a:lnTo>
                <a:lnTo>
                  <a:pt x="302825" y="21367"/>
                </a:lnTo>
                <a:lnTo>
                  <a:pt x="258551" y="5551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4336288" y="2184654"/>
            <a:ext cx="471805" cy="471170"/>
          </a:xfrm>
          <a:custGeom>
            <a:avLst/>
            <a:gdLst/>
            <a:ahLst/>
            <a:cxnLst/>
            <a:rect l="l" t="t" r="r" b="b"/>
            <a:pathLst>
              <a:path w="471804" h="471169">
                <a:moveTo>
                  <a:pt x="234441" y="0"/>
                </a:moveTo>
                <a:lnTo>
                  <a:pt x="187071" y="5080"/>
                </a:lnTo>
                <a:lnTo>
                  <a:pt x="142875" y="19050"/>
                </a:lnTo>
                <a:lnTo>
                  <a:pt x="102997" y="41910"/>
                </a:lnTo>
                <a:lnTo>
                  <a:pt x="68199" y="69850"/>
                </a:lnTo>
                <a:lnTo>
                  <a:pt x="39624" y="105410"/>
                </a:lnTo>
                <a:lnTo>
                  <a:pt x="18161" y="146050"/>
                </a:lnTo>
                <a:lnTo>
                  <a:pt x="4572" y="190500"/>
                </a:lnTo>
                <a:lnTo>
                  <a:pt x="0" y="237490"/>
                </a:lnTo>
                <a:lnTo>
                  <a:pt x="1397" y="261620"/>
                </a:lnTo>
                <a:lnTo>
                  <a:pt x="11049" y="307340"/>
                </a:lnTo>
                <a:lnTo>
                  <a:pt x="29083" y="349250"/>
                </a:lnTo>
                <a:lnTo>
                  <a:pt x="54610" y="387350"/>
                </a:lnTo>
                <a:lnTo>
                  <a:pt x="86740" y="419100"/>
                </a:lnTo>
                <a:lnTo>
                  <a:pt x="124460" y="444500"/>
                </a:lnTo>
                <a:lnTo>
                  <a:pt x="166877" y="461010"/>
                </a:lnTo>
                <a:lnTo>
                  <a:pt x="212978" y="471170"/>
                </a:lnTo>
                <a:lnTo>
                  <a:pt x="236982" y="471170"/>
                </a:lnTo>
                <a:lnTo>
                  <a:pt x="261112" y="469900"/>
                </a:lnTo>
                <a:lnTo>
                  <a:pt x="284352" y="467360"/>
                </a:lnTo>
                <a:lnTo>
                  <a:pt x="306959" y="461010"/>
                </a:lnTo>
                <a:lnTo>
                  <a:pt x="322471" y="454660"/>
                </a:lnTo>
                <a:lnTo>
                  <a:pt x="236092" y="454660"/>
                </a:lnTo>
                <a:lnTo>
                  <a:pt x="213740" y="453390"/>
                </a:lnTo>
                <a:lnTo>
                  <a:pt x="171069" y="444500"/>
                </a:lnTo>
                <a:lnTo>
                  <a:pt x="131825" y="429260"/>
                </a:lnTo>
                <a:lnTo>
                  <a:pt x="96900" y="405130"/>
                </a:lnTo>
                <a:lnTo>
                  <a:pt x="67183" y="375920"/>
                </a:lnTo>
                <a:lnTo>
                  <a:pt x="43561" y="340360"/>
                </a:lnTo>
                <a:lnTo>
                  <a:pt x="26924" y="302260"/>
                </a:lnTo>
                <a:lnTo>
                  <a:pt x="18034" y="259080"/>
                </a:lnTo>
                <a:lnTo>
                  <a:pt x="16954" y="237490"/>
                </a:lnTo>
                <a:lnTo>
                  <a:pt x="16958" y="234950"/>
                </a:lnTo>
                <a:lnTo>
                  <a:pt x="21336" y="191770"/>
                </a:lnTo>
                <a:lnTo>
                  <a:pt x="34036" y="151130"/>
                </a:lnTo>
                <a:lnTo>
                  <a:pt x="54101" y="114300"/>
                </a:lnTo>
                <a:lnTo>
                  <a:pt x="80772" y="81280"/>
                </a:lnTo>
                <a:lnTo>
                  <a:pt x="113157" y="54610"/>
                </a:lnTo>
                <a:lnTo>
                  <a:pt x="150240" y="34290"/>
                </a:lnTo>
                <a:lnTo>
                  <a:pt x="191262" y="21590"/>
                </a:lnTo>
                <a:lnTo>
                  <a:pt x="235331" y="17780"/>
                </a:lnTo>
                <a:lnTo>
                  <a:pt x="323269" y="17780"/>
                </a:lnTo>
                <a:lnTo>
                  <a:pt x="304546" y="10160"/>
                </a:lnTo>
                <a:lnTo>
                  <a:pt x="281939" y="5080"/>
                </a:lnTo>
                <a:lnTo>
                  <a:pt x="258445" y="1270"/>
                </a:lnTo>
                <a:lnTo>
                  <a:pt x="234441" y="0"/>
                </a:lnTo>
                <a:close/>
              </a:path>
              <a:path w="471804" h="471169">
                <a:moveTo>
                  <a:pt x="323269" y="17780"/>
                </a:moveTo>
                <a:lnTo>
                  <a:pt x="235331" y="17780"/>
                </a:lnTo>
                <a:lnTo>
                  <a:pt x="257683" y="19050"/>
                </a:lnTo>
                <a:lnTo>
                  <a:pt x="279400" y="21590"/>
                </a:lnTo>
                <a:lnTo>
                  <a:pt x="320548" y="34290"/>
                </a:lnTo>
                <a:lnTo>
                  <a:pt x="357759" y="54610"/>
                </a:lnTo>
                <a:lnTo>
                  <a:pt x="390144" y="81280"/>
                </a:lnTo>
                <a:lnTo>
                  <a:pt x="416940" y="113030"/>
                </a:lnTo>
                <a:lnTo>
                  <a:pt x="437134" y="151130"/>
                </a:lnTo>
                <a:lnTo>
                  <a:pt x="449961" y="191770"/>
                </a:lnTo>
                <a:lnTo>
                  <a:pt x="454469" y="234950"/>
                </a:lnTo>
                <a:lnTo>
                  <a:pt x="454465" y="237490"/>
                </a:lnTo>
                <a:lnTo>
                  <a:pt x="450088" y="279400"/>
                </a:lnTo>
                <a:lnTo>
                  <a:pt x="437514" y="321310"/>
                </a:lnTo>
                <a:lnTo>
                  <a:pt x="417322" y="358140"/>
                </a:lnTo>
                <a:lnTo>
                  <a:pt x="390778" y="391160"/>
                </a:lnTo>
                <a:lnTo>
                  <a:pt x="358394" y="417830"/>
                </a:lnTo>
                <a:lnTo>
                  <a:pt x="321310" y="438150"/>
                </a:lnTo>
                <a:lnTo>
                  <a:pt x="280162" y="450850"/>
                </a:lnTo>
                <a:lnTo>
                  <a:pt x="236092" y="454660"/>
                </a:lnTo>
                <a:lnTo>
                  <a:pt x="322471" y="454660"/>
                </a:lnTo>
                <a:lnTo>
                  <a:pt x="368553" y="430530"/>
                </a:lnTo>
                <a:lnTo>
                  <a:pt x="403351" y="401320"/>
                </a:lnTo>
                <a:lnTo>
                  <a:pt x="431800" y="367030"/>
                </a:lnTo>
                <a:lnTo>
                  <a:pt x="453389" y="326390"/>
                </a:lnTo>
                <a:lnTo>
                  <a:pt x="466851" y="281940"/>
                </a:lnTo>
                <a:lnTo>
                  <a:pt x="471424" y="234950"/>
                </a:lnTo>
                <a:lnTo>
                  <a:pt x="470026" y="210820"/>
                </a:lnTo>
                <a:lnTo>
                  <a:pt x="460501" y="165100"/>
                </a:lnTo>
                <a:lnTo>
                  <a:pt x="442340" y="123190"/>
                </a:lnTo>
                <a:lnTo>
                  <a:pt x="416813" y="85090"/>
                </a:lnTo>
                <a:lnTo>
                  <a:pt x="384683" y="53340"/>
                </a:lnTo>
                <a:lnTo>
                  <a:pt x="347090" y="27940"/>
                </a:lnTo>
                <a:lnTo>
                  <a:pt x="326389" y="19050"/>
                </a:lnTo>
                <a:lnTo>
                  <a:pt x="323269" y="17780"/>
                </a:lnTo>
                <a:close/>
              </a:path>
              <a:path w="471804" h="471169">
                <a:moveTo>
                  <a:pt x="236092" y="34290"/>
                </a:moveTo>
                <a:lnTo>
                  <a:pt x="195452" y="38100"/>
                </a:lnTo>
                <a:lnTo>
                  <a:pt x="157607" y="49530"/>
                </a:lnTo>
                <a:lnTo>
                  <a:pt x="123189" y="68580"/>
                </a:lnTo>
                <a:lnTo>
                  <a:pt x="93345" y="92710"/>
                </a:lnTo>
                <a:lnTo>
                  <a:pt x="68579" y="123190"/>
                </a:lnTo>
                <a:lnTo>
                  <a:pt x="49911" y="157480"/>
                </a:lnTo>
                <a:lnTo>
                  <a:pt x="38100" y="194310"/>
                </a:lnTo>
                <a:lnTo>
                  <a:pt x="33968" y="234950"/>
                </a:lnTo>
                <a:lnTo>
                  <a:pt x="33964" y="237490"/>
                </a:lnTo>
                <a:lnTo>
                  <a:pt x="34798" y="256540"/>
                </a:lnTo>
                <a:lnTo>
                  <a:pt x="42799" y="295910"/>
                </a:lnTo>
                <a:lnTo>
                  <a:pt x="58038" y="331470"/>
                </a:lnTo>
                <a:lnTo>
                  <a:pt x="79628" y="364490"/>
                </a:lnTo>
                <a:lnTo>
                  <a:pt x="107061" y="391160"/>
                </a:lnTo>
                <a:lnTo>
                  <a:pt x="139191" y="412750"/>
                </a:lnTo>
                <a:lnTo>
                  <a:pt x="175387" y="429260"/>
                </a:lnTo>
                <a:lnTo>
                  <a:pt x="214629" y="436880"/>
                </a:lnTo>
                <a:lnTo>
                  <a:pt x="235331" y="438150"/>
                </a:lnTo>
                <a:lnTo>
                  <a:pt x="255904" y="436880"/>
                </a:lnTo>
                <a:lnTo>
                  <a:pt x="275971" y="434340"/>
                </a:lnTo>
                <a:lnTo>
                  <a:pt x="295401" y="429260"/>
                </a:lnTo>
                <a:lnTo>
                  <a:pt x="313944" y="422910"/>
                </a:lnTo>
                <a:lnTo>
                  <a:pt x="318987" y="420370"/>
                </a:lnTo>
                <a:lnTo>
                  <a:pt x="215391" y="420370"/>
                </a:lnTo>
                <a:lnTo>
                  <a:pt x="179577" y="412750"/>
                </a:lnTo>
                <a:lnTo>
                  <a:pt x="131445" y="388620"/>
                </a:lnTo>
                <a:lnTo>
                  <a:pt x="92201" y="353060"/>
                </a:lnTo>
                <a:lnTo>
                  <a:pt x="64897" y="307340"/>
                </a:lnTo>
                <a:lnTo>
                  <a:pt x="51562" y="254000"/>
                </a:lnTo>
                <a:lnTo>
                  <a:pt x="50800" y="234950"/>
                </a:lnTo>
                <a:lnTo>
                  <a:pt x="51815" y="215900"/>
                </a:lnTo>
                <a:lnTo>
                  <a:pt x="65786" y="162560"/>
                </a:lnTo>
                <a:lnTo>
                  <a:pt x="93725" y="118110"/>
                </a:lnTo>
                <a:lnTo>
                  <a:pt x="133350" y="82550"/>
                </a:lnTo>
                <a:lnTo>
                  <a:pt x="181990" y="58420"/>
                </a:lnTo>
                <a:lnTo>
                  <a:pt x="236982" y="50800"/>
                </a:lnTo>
                <a:lnTo>
                  <a:pt x="314706" y="50800"/>
                </a:lnTo>
                <a:lnTo>
                  <a:pt x="296163" y="43180"/>
                </a:lnTo>
                <a:lnTo>
                  <a:pt x="276860" y="38100"/>
                </a:lnTo>
                <a:lnTo>
                  <a:pt x="256794" y="35560"/>
                </a:lnTo>
                <a:lnTo>
                  <a:pt x="236092" y="34290"/>
                </a:lnTo>
                <a:close/>
              </a:path>
              <a:path w="471804" h="471169">
                <a:moveTo>
                  <a:pt x="314706" y="50800"/>
                </a:moveTo>
                <a:lnTo>
                  <a:pt x="236982" y="50800"/>
                </a:lnTo>
                <a:lnTo>
                  <a:pt x="256032" y="52070"/>
                </a:lnTo>
                <a:lnTo>
                  <a:pt x="274192" y="54610"/>
                </a:lnTo>
                <a:lnTo>
                  <a:pt x="324992" y="73660"/>
                </a:lnTo>
                <a:lnTo>
                  <a:pt x="367411" y="106680"/>
                </a:lnTo>
                <a:lnTo>
                  <a:pt x="399034" y="148590"/>
                </a:lnTo>
                <a:lnTo>
                  <a:pt x="417067" y="200660"/>
                </a:lnTo>
                <a:lnTo>
                  <a:pt x="420624" y="237490"/>
                </a:lnTo>
                <a:lnTo>
                  <a:pt x="419608" y="256540"/>
                </a:lnTo>
                <a:lnTo>
                  <a:pt x="405638" y="308610"/>
                </a:lnTo>
                <a:lnTo>
                  <a:pt x="377698" y="354330"/>
                </a:lnTo>
                <a:lnTo>
                  <a:pt x="338200" y="389890"/>
                </a:lnTo>
                <a:lnTo>
                  <a:pt x="289560" y="412750"/>
                </a:lnTo>
                <a:lnTo>
                  <a:pt x="253364" y="420370"/>
                </a:lnTo>
                <a:lnTo>
                  <a:pt x="318987" y="420370"/>
                </a:lnTo>
                <a:lnTo>
                  <a:pt x="363854" y="392430"/>
                </a:lnTo>
                <a:lnTo>
                  <a:pt x="391287" y="364490"/>
                </a:lnTo>
                <a:lnTo>
                  <a:pt x="413003" y="332740"/>
                </a:lnTo>
                <a:lnTo>
                  <a:pt x="428371" y="295910"/>
                </a:lnTo>
                <a:lnTo>
                  <a:pt x="436499" y="257810"/>
                </a:lnTo>
                <a:lnTo>
                  <a:pt x="437459" y="234950"/>
                </a:lnTo>
                <a:lnTo>
                  <a:pt x="436625" y="215900"/>
                </a:lnTo>
                <a:lnTo>
                  <a:pt x="428625" y="176530"/>
                </a:lnTo>
                <a:lnTo>
                  <a:pt x="413512" y="139700"/>
                </a:lnTo>
                <a:lnTo>
                  <a:pt x="391795" y="107950"/>
                </a:lnTo>
                <a:lnTo>
                  <a:pt x="364489" y="80010"/>
                </a:lnTo>
                <a:lnTo>
                  <a:pt x="332359" y="58420"/>
                </a:lnTo>
                <a:lnTo>
                  <a:pt x="314706" y="50800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06FC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2400" y="1393316"/>
            <a:ext cx="8839200" cy="4995545"/>
          </a:xfrm>
          <a:custGeom>
            <a:avLst/>
            <a:gdLst/>
            <a:ahLst/>
            <a:cxnLst/>
            <a:rect l="l" t="t" r="r" b="b"/>
            <a:pathLst>
              <a:path w="8839200" h="4995545">
                <a:moveTo>
                  <a:pt x="0" y="4995062"/>
                </a:moveTo>
                <a:lnTo>
                  <a:pt x="8839200" y="4995062"/>
                </a:lnTo>
                <a:lnTo>
                  <a:pt x="8839200" y="0"/>
                </a:lnTo>
                <a:lnTo>
                  <a:pt x="0" y="0"/>
                </a:lnTo>
                <a:lnTo>
                  <a:pt x="0" y="4995062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2400" y="6697941"/>
            <a:ext cx="8839200" cy="8255"/>
          </a:xfrm>
          <a:custGeom>
            <a:avLst/>
            <a:gdLst/>
            <a:ahLst/>
            <a:cxnLst/>
            <a:rect l="l" t="t" r="r" b="b"/>
            <a:pathLst>
              <a:path w="8839200" h="8254">
                <a:moveTo>
                  <a:pt x="0" y="7658"/>
                </a:moveTo>
                <a:lnTo>
                  <a:pt x="8839200" y="7658"/>
                </a:lnTo>
                <a:lnTo>
                  <a:pt x="8839200" y="0"/>
                </a:lnTo>
                <a:lnTo>
                  <a:pt x="0" y="0"/>
                </a:lnTo>
                <a:lnTo>
                  <a:pt x="0" y="7658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400" y="0"/>
            <a:ext cx="8839200" cy="1393825"/>
          </a:xfrm>
          <a:custGeom>
            <a:avLst/>
            <a:gdLst/>
            <a:ahLst/>
            <a:cxnLst/>
            <a:rect l="l" t="t" r="r" b="b"/>
            <a:pathLst>
              <a:path w="8839200" h="1393825">
                <a:moveTo>
                  <a:pt x="0" y="1393316"/>
                </a:moveTo>
                <a:lnTo>
                  <a:pt x="8839200" y="1393316"/>
                </a:lnTo>
                <a:lnTo>
                  <a:pt x="8839200" y="0"/>
                </a:lnTo>
                <a:lnTo>
                  <a:pt x="0" y="0"/>
                </a:lnTo>
                <a:lnTo>
                  <a:pt x="0" y="1393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49352" y="6388379"/>
            <a:ext cx="8833485" cy="309880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0" y="309562"/>
                </a:moveTo>
                <a:lnTo>
                  <a:pt x="8833104" y="309562"/>
                </a:lnTo>
                <a:lnTo>
                  <a:pt x="8833104" y="0"/>
                </a:lnTo>
                <a:lnTo>
                  <a:pt x="0" y="0"/>
                </a:lnTo>
                <a:lnTo>
                  <a:pt x="0" y="309562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400" y="155447"/>
            <a:ext cx="8833485" cy="6547484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12699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152400" y="1270380"/>
            <a:ext cx="8833485" cy="12700"/>
          </a:xfrm>
          <a:custGeom>
            <a:avLst/>
            <a:gdLst/>
            <a:ahLst/>
            <a:cxnLst/>
            <a:rect l="l" t="t" r="r" b="b"/>
            <a:pathLst>
              <a:path w="8833485" h="12700">
                <a:moveTo>
                  <a:pt x="0" y="12700"/>
                </a:moveTo>
                <a:lnTo>
                  <a:pt x="8833104" y="12700"/>
                </a:lnTo>
                <a:lnTo>
                  <a:pt x="8833104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4267200" y="95605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74" y="3987"/>
                </a:lnTo>
                <a:lnTo>
                  <a:pt x="208483" y="15532"/>
                </a:lnTo>
                <a:lnTo>
                  <a:pt x="164753" y="34008"/>
                </a:lnTo>
                <a:lnTo>
                  <a:pt x="124815" y="58789"/>
                </a:lnTo>
                <a:lnTo>
                  <a:pt x="89296" y="89249"/>
                </a:lnTo>
                <a:lnTo>
                  <a:pt x="58826" y="124760"/>
                </a:lnTo>
                <a:lnTo>
                  <a:pt x="34032" y="164697"/>
                </a:lnTo>
                <a:lnTo>
                  <a:pt x="15544" y="208434"/>
                </a:lnTo>
                <a:lnTo>
                  <a:pt x="3990" y="255343"/>
                </a:lnTo>
                <a:lnTo>
                  <a:pt x="0" y="304800"/>
                </a:lnTo>
                <a:lnTo>
                  <a:pt x="3990" y="354225"/>
                </a:lnTo>
                <a:lnTo>
                  <a:pt x="15544" y="401116"/>
                </a:lnTo>
                <a:lnTo>
                  <a:pt x="34032" y="444846"/>
                </a:lnTo>
                <a:lnTo>
                  <a:pt x="58826" y="484784"/>
                </a:lnTo>
                <a:lnTo>
                  <a:pt x="89296" y="520303"/>
                </a:lnTo>
                <a:lnTo>
                  <a:pt x="124815" y="550773"/>
                </a:lnTo>
                <a:lnTo>
                  <a:pt x="164753" y="575567"/>
                </a:lnTo>
                <a:lnTo>
                  <a:pt x="208483" y="594055"/>
                </a:lnTo>
                <a:lnTo>
                  <a:pt x="255374" y="605609"/>
                </a:lnTo>
                <a:lnTo>
                  <a:pt x="304800" y="609600"/>
                </a:lnTo>
                <a:lnTo>
                  <a:pt x="354225" y="605609"/>
                </a:lnTo>
                <a:lnTo>
                  <a:pt x="401116" y="594055"/>
                </a:lnTo>
                <a:lnTo>
                  <a:pt x="444846" y="575567"/>
                </a:lnTo>
                <a:lnTo>
                  <a:pt x="484784" y="550773"/>
                </a:lnTo>
                <a:lnTo>
                  <a:pt x="520303" y="520303"/>
                </a:lnTo>
                <a:lnTo>
                  <a:pt x="550773" y="484784"/>
                </a:lnTo>
                <a:lnTo>
                  <a:pt x="575567" y="444846"/>
                </a:lnTo>
                <a:lnTo>
                  <a:pt x="594055" y="401116"/>
                </a:lnTo>
                <a:lnTo>
                  <a:pt x="605609" y="354225"/>
                </a:lnTo>
                <a:lnTo>
                  <a:pt x="609600" y="304800"/>
                </a:lnTo>
                <a:lnTo>
                  <a:pt x="605609" y="255343"/>
                </a:lnTo>
                <a:lnTo>
                  <a:pt x="594055" y="208434"/>
                </a:lnTo>
                <a:lnTo>
                  <a:pt x="575567" y="164697"/>
                </a:lnTo>
                <a:lnTo>
                  <a:pt x="550773" y="124760"/>
                </a:lnTo>
                <a:lnTo>
                  <a:pt x="520303" y="89249"/>
                </a:lnTo>
                <a:lnTo>
                  <a:pt x="484784" y="58789"/>
                </a:lnTo>
                <a:lnTo>
                  <a:pt x="444846" y="34008"/>
                </a:lnTo>
                <a:lnTo>
                  <a:pt x="401116" y="15532"/>
                </a:lnTo>
                <a:lnTo>
                  <a:pt x="354225" y="3987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4361688" y="1050544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5">
                <a:moveTo>
                  <a:pt x="210312" y="0"/>
                </a:moveTo>
                <a:lnTo>
                  <a:pt x="162072" y="5551"/>
                </a:lnTo>
                <a:lnTo>
                  <a:pt x="117798" y="21367"/>
                </a:lnTo>
                <a:lnTo>
                  <a:pt x="78750" y="46186"/>
                </a:lnTo>
                <a:lnTo>
                  <a:pt x="46186" y="78750"/>
                </a:lnTo>
                <a:lnTo>
                  <a:pt x="21367" y="117798"/>
                </a:lnTo>
                <a:lnTo>
                  <a:pt x="5551" y="162072"/>
                </a:lnTo>
                <a:lnTo>
                  <a:pt x="0" y="210311"/>
                </a:lnTo>
                <a:lnTo>
                  <a:pt x="5551" y="258511"/>
                </a:lnTo>
                <a:lnTo>
                  <a:pt x="21367" y="302769"/>
                </a:lnTo>
                <a:lnTo>
                  <a:pt x="46186" y="341820"/>
                </a:lnTo>
                <a:lnTo>
                  <a:pt x="78750" y="374397"/>
                </a:lnTo>
                <a:lnTo>
                  <a:pt x="117798" y="399234"/>
                </a:lnTo>
                <a:lnTo>
                  <a:pt x="162072" y="415065"/>
                </a:lnTo>
                <a:lnTo>
                  <a:pt x="210312" y="420623"/>
                </a:lnTo>
                <a:lnTo>
                  <a:pt x="258551" y="415065"/>
                </a:lnTo>
                <a:lnTo>
                  <a:pt x="302825" y="399234"/>
                </a:lnTo>
                <a:lnTo>
                  <a:pt x="341873" y="374397"/>
                </a:lnTo>
                <a:lnTo>
                  <a:pt x="374437" y="341820"/>
                </a:lnTo>
                <a:lnTo>
                  <a:pt x="399256" y="302769"/>
                </a:lnTo>
                <a:lnTo>
                  <a:pt x="415072" y="258511"/>
                </a:lnTo>
                <a:lnTo>
                  <a:pt x="420624" y="210311"/>
                </a:lnTo>
                <a:lnTo>
                  <a:pt x="415072" y="162072"/>
                </a:lnTo>
                <a:lnTo>
                  <a:pt x="399256" y="117798"/>
                </a:lnTo>
                <a:lnTo>
                  <a:pt x="374437" y="78750"/>
                </a:lnTo>
                <a:lnTo>
                  <a:pt x="341873" y="46186"/>
                </a:lnTo>
                <a:lnTo>
                  <a:pt x="302825" y="21367"/>
                </a:lnTo>
                <a:lnTo>
                  <a:pt x="258551" y="5551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4336288" y="1025397"/>
            <a:ext cx="471805" cy="471170"/>
          </a:xfrm>
          <a:custGeom>
            <a:avLst/>
            <a:gdLst/>
            <a:ahLst/>
            <a:cxnLst/>
            <a:rect l="l" t="t" r="r" b="b"/>
            <a:pathLst>
              <a:path w="471804" h="471169">
                <a:moveTo>
                  <a:pt x="234441" y="0"/>
                </a:moveTo>
                <a:lnTo>
                  <a:pt x="187071" y="5080"/>
                </a:lnTo>
                <a:lnTo>
                  <a:pt x="142875" y="19050"/>
                </a:lnTo>
                <a:lnTo>
                  <a:pt x="102997" y="41910"/>
                </a:lnTo>
                <a:lnTo>
                  <a:pt x="68325" y="69850"/>
                </a:lnTo>
                <a:lnTo>
                  <a:pt x="39624" y="105410"/>
                </a:lnTo>
                <a:lnTo>
                  <a:pt x="18161" y="146050"/>
                </a:lnTo>
                <a:lnTo>
                  <a:pt x="4572" y="190500"/>
                </a:lnTo>
                <a:lnTo>
                  <a:pt x="0" y="237490"/>
                </a:lnTo>
                <a:lnTo>
                  <a:pt x="1397" y="261620"/>
                </a:lnTo>
                <a:lnTo>
                  <a:pt x="11049" y="307340"/>
                </a:lnTo>
                <a:lnTo>
                  <a:pt x="29083" y="349250"/>
                </a:lnTo>
                <a:lnTo>
                  <a:pt x="54610" y="387350"/>
                </a:lnTo>
                <a:lnTo>
                  <a:pt x="86740" y="419100"/>
                </a:lnTo>
                <a:lnTo>
                  <a:pt x="124460" y="444500"/>
                </a:lnTo>
                <a:lnTo>
                  <a:pt x="166877" y="462280"/>
                </a:lnTo>
                <a:lnTo>
                  <a:pt x="212978" y="471170"/>
                </a:lnTo>
                <a:lnTo>
                  <a:pt x="261112" y="471170"/>
                </a:lnTo>
                <a:lnTo>
                  <a:pt x="284352" y="467360"/>
                </a:lnTo>
                <a:lnTo>
                  <a:pt x="307086" y="461010"/>
                </a:lnTo>
                <a:lnTo>
                  <a:pt x="322507" y="454660"/>
                </a:lnTo>
                <a:lnTo>
                  <a:pt x="236092" y="454660"/>
                </a:lnTo>
                <a:lnTo>
                  <a:pt x="213740" y="453390"/>
                </a:lnTo>
                <a:lnTo>
                  <a:pt x="171069" y="445770"/>
                </a:lnTo>
                <a:lnTo>
                  <a:pt x="131825" y="429260"/>
                </a:lnTo>
                <a:lnTo>
                  <a:pt x="96900" y="405130"/>
                </a:lnTo>
                <a:lnTo>
                  <a:pt x="67183" y="375920"/>
                </a:lnTo>
                <a:lnTo>
                  <a:pt x="43561" y="340360"/>
                </a:lnTo>
                <a:lnTo>
                  <a:pt x="26924" y="302260"/>
                </a:lnTo>
                <a:lnTo>
                  <a:pt x="18034" y="259080"/>
                </a:lnTo>
                <a:lnTo>
                  <a:pt x="16954" y="237490"/>
                </a:lnTo>
                <a:lnTo>
                  <a:pt x="16958" y="234950"/>
                </a:lnTo>
                <a:lnTo>
                  <a:pt x="21336" y="193040"/>
                </a:lnTo>
                <a:lnTo>
                  <a:pt x="34036" y="151130"/>
                </a:lnTo>
                <a:lnTo>
                  <a:pt x="54101" y="114300"/>
                </a:lnTo>
                <a:lnTo>
                  <a:pt x="80772" y="81280"/>
                </a:lnTo>
                <a:lnTo>
                  <a:pt x="113157" y="54610"/>
                </a:lnTo>
                <a:lnTo>
                  <a:pt x="150240" y="34290"/>
                </a:lnTo>
                <a:lnTo>
                  <a:pt x="191262" y="21590"/>
                </a:lnTo>
                <a:lnTo>
                  <a:pt x="235331" y="17780"/>
                </a:lnTo>
                <a:lnTo>
                  <a:pt x="323160" y="17780"/>
                </a:lnTo>
                <a:lnTo>
                  <a:pt x="304546" y="10160"/>
                </a:lnTo>
                <a:lnTo>
                  <a:pt x="281939" y="5080"/>
                </a:lnTo>
                <a:lnTo>
                  <a:pt x="258445" y="1270"/>
                </a:lnTo>
                <a:lnTo>
                  <a:pt x="234441" y="0"/>
                </a:lnTo>
                <a:close/>
              </a:path>
              <a:path w="471804" h="471169">
                <a:moveTo>
                  <a:pt x="323160" y="17780"/>
                </a:moveTo>
                <a:lnTo>
                  <a:pt x="235331" y="17780"/>
                </a:lnTo>
                <a:lnTo>
                  <a:pt x="257683" y="19050"/>
                </a:lnTo>
                <a:lnTo>
                  <a:pt x="279400" y="21590"/>
                </a:lnTo>
                <a:lnTo>
                  <a:pt x="320548" y="34290"/>
                </a:lnTo>
                <a:lnTo>
                  <a:pt x="357759" y="54610"/>
                </a:lnTo>
                <a:lnTo>
                  <a:pt x="390144" y="81280"/>
                </a:lnTo>
                <a:lnTo>
                  <a:pt x="416940" y="113030"/>
                </a:lnTo>
                <a:lnTo>
                  <a:pt x="437134" y="151130"/>
                </a:lnTo>
                <a:lnTo>
                  <a:pt x="449961" y="191770"/>
                </a:lnTo>
                <a:lnTo>
                  <a:pt x="454469" y="234950"/>
                </a:lnTo>
                <a:lnTo>
                  <a:pt x="454465" y="237490"/>
                </a:lnTo>
                <a:lnTo>
                  <a:pt x="450088" y="279400"/>
                </a:lnTo>
                <a:lnTo>
                  <a:pt x="437514" y="321310"/>
                </a:lnTo>
                <a:lnTo>
                  <a:pt x="417322" y="358140"/>
                </a:lnTo>
                <a:lnTo>
                  <a:pt x="390778" y="391160"/>
                </a:lnTo>
                <a:lnTo>
                  <a:pt x="358394" y="417830"/>
                </a:lnTo>
                <a:lnTo>
                  <a:pt x="321310" y="438150"/>
                </a:lnTo>
                <a:lnTo>
                  <a:pt x="280162" y="450850"/>
                </a:lnTo>
                <a:lnTo>
                  <a:pt x="236092" y="454660"/>
                </a:lnTo>
                <a:lnTo>
                  <a:pt x="322507" y="454660"/>
                </a:lnTo>
                <a:lnTo>
                  <a:pt x="368553" y="430530"/>
                </a:lnTo>
                <a:lnTo>
                  <a:pt x="403351" y="401320"/>
                </a:lnTo>
                <a:lnTo>
                  <a:pt x="431800" y="367030"/>
                </a:lnTo>
                <a:lnTo>
                  <a:pt x="453389" y="326390"/>
                </a:lnTo>
                <a:lnTo>
                  <a:pt x="466851" y="281940"/>
                </a:lnTo>
                <a:lnTo>
                  <a:pt x="471424" y="234950"/>
                </a:lnTo>
                <a:lnTo>
                  <a:pt x="470026" y="210820"/>
                </a:lnTo>
                <a:lnTo>
                  <a:pt x="460501" y="165100"/>
                </a:lnTo>
                <a:lnTo>
                  <a:pt x="442340" y="123190"/>
                </a:lnTo>
                <a:lnTo>
                  <a:pt x="416813" y="85090"/>
                </a:lnTo>
                <a:lnTo>
                  <a:pt x="384683" y="53340"/>
                </a:lnTo>
                <a:lnTo>
                  <a:pt x="347090" y="27940"/>
                </a:lnTo>
                <a:lnTo>
                  <a:pt x="326263" y="19050"/>
                </a:lnTo>
                <a:lnTo>
                  <a:pt x="323160" y="17780"/>
                </a:lnTo>
                <a:close/>
              </a:path>
              <a:path w="471804" h="471169">
                <a:moveTo>
                  <a:pt x="236092" y="34290"/>
                </a:moveTo>
                <a:lnTo>
                  <a:pt x="195452" y="38100"/>
                </a:lnTo>
                <a:lnTo>
                  <a:pt x="157607" y="49530"/>
                </a:lnTo>
                <a:lnTo>
                  <a:pt x="123189" y="68580"/>
                </a:lnTo>
                <a:lnTo>
                  <a:pt x="93217" y="92710"/>
                </a:lnTo>
                <a:lnTo>
                  <a:pt x="68579" y="123190"/>
                </a:lnTo>
                <a:lnTo>
                  <a:pt x="49911" y="157480"/>
                </a:lnTo>
                <a:lnTo>
                  <a:pt x="38100" y="195580"/>
                </a:lnTo>
                <a:lnTo>
                  <a:pt x="33968" y="234950"/>
                </a:lnTo>
                <a:lnTo>
                  <a:pt x="33964" y="237490"/>
                </a:lnTo>
                <a:lnTo>
                  <a:pt x="34798" y="256540"/>
                </a:lnTo>
                <a:lnTo>
                  <a:pt x="42799" y="295910"/>
                </a:lnTo>
                <a:lnTo>
                  <a:pt x="58038" y="331470"/>
                </a:lnTo>
                <a:lnTo>
                  <a:pt x="79628" y="364490"/>
                </a:lnTo>
                <a:lnTo>
                  <a:pt x="107061" y="391160"/>
                </a:lnTo>
                <a:lnTo>
                  <a:pt x="139191" y="414020"/>
                </a:lnTo>
                <a:lnTo>
                  <a:pt x="175387" y="429260"/>
                </a:lnTo>
                <a:lnTo>
                  <a:pt x="214629" y="436880"/>
                </a:lnTo>
                <a:lnTo>
                  <a:pt x="235331" y="438150"/>
                </a:lnTo>
                <a:lnTo>
                  <a:pt x="255904" y="436880"/>
                </a:lnTo>
                <a:lnTo>
                  <a:pt x="275971" y="434340"/>
                </a:lnTo>
                <a:lnTo>
                  <a:pt x="295401" y="429260"/>
                </a:lnTo>
                <a:lnTo>
                  <a:pt x="313944" y="422910"/>
                </a:lnTo>
                <a:lnTo>
                  <a:pt x="316465" y="421640"/>
                </a:lnTo>
                <a:lnTo>
                  <a:pt x="234441" y="421640"/>
                </a:lnTo>
                <a:lnTo>
                  <a:pt x="215391" y="420370"/>
                </a:lnTo>
                <a:lnTo>
                  <a:pt x="162687" y="406400"/>
                </a:lnTo>
                <a:lnTo>
                  <a:pt x="117221" y="378460"/>
                </a:lnTo>
                <a:lnTo>
                  <a:pt x="81661" y="337820"/>
                </a:lnTo>
                <a:lnTo>
                  <a:pt x="58674" y="289560"/>
                </a:lnTo>
                <a:lnTo>
                  <a:pt x="50800" y="234950"/>
                </a:lnTo>
                <a:lnTo>
                  <a:pt x="51815" y="215900"/>
                </a:lnTo>
                <a:lnTo>
                  <a:pt x="65786" y="162560"/>
                </a:lnTo>
                <a:lnTo>
                  <a:pt x="93725" y="118110"/>
                </a:lnTo>
                <a:lnTo>
                  <a:pt x="133350" y="82550"/>
                </a:lnTo>
                <a:lnTo>
                  <a:pt x="181863" y="59690"/>
                </a:lnTo>
                <a:lnTo>
                  <a:pt x="236982" y="50800"/>
                </a:lnTo>
                <a:lnTo>
                  <a:pt x="314706" y="50800"/>
                </a:lnTo>
                <a:lnTo>
                  <a:pt x="296163" y="43180"/>
                </a:lnTo>
                <a:lnTo>
                  <a:pt x="276860" y="38100"/>
                </a:lnTo>
                <a:lnTo>
                  <a:pt x="256794" y="35560"/>
                </a:lnTo>
                <a:lnTo>
                  <a:pt x="236092" y="34290"/>
                </a:lnTo>
                <a:close/>
              </a:path>
              <a:path w="471804" h="471169">
                <a:moveTo>
                  <a:pt x="314706" y="50800"/>
                </a:moveTo>
                <a:lnTo>
                  <a:pt x="236982" y="50800"/>
                </a:lnTo>
                <a:lnTo>
                  <a:pt x="256032" y="52070"/>
                </a:lnTo>
                <a:lnTo>
                  <a:pt x="291973" y="59690"/>
                </a:lnTo>
                <a:lnTo>
                  <a:pt x="340106" y="83820"/>
                </a:lnTo>
                <a:lnTo>
                  <a:pt x="379222" y="119380"/>
                </a:lnTo>
                <a:lnTo>
                  <a:pt x="406653" y="165100"/>
                </a:lnTo>
                <a:lnTo>
                  <a:pt x="419862" y="218440"/>
                </a:lnTo>
                <a:lnTo>
                  <a:pt x="420624" y="237490"/>
                </a:lnTo>
                <a:lnTo>
                  <a:pt x="419608" y="256540"/>
                </a:lnTo>
                <a:lnTo>
                  <a:pt x="405638" y="309880"/>
                </a:lnTo>
                <a:lnTo>
                  <a:pt x="377698" y="354330"/>
                </a:lnTo>
                <a:lnTo>
                  <a:pt x="338200" y="389890"/>
                </a:lnTo>
                <a:lnTo>
                  <a:pt x="271779" y="417830"/>
                </a:lnTo>
                <a:lnTo>
                  <a:pt x="234441" y="421640"/>
                </a:lnTo>
                <a:lnTo>
                  <a:pt x="316465" y="421640"/>
                </a:lnTo>
                <a:lnTo>
                  <a:pt x="363854" y="392430"/>
                </a:lnTo>
                <a:lnTo>
                  <a:pt x="391287" y="364490"/>
                </a:lnTo>
                <a:lnTo>
                  <a:pt x="413003" y="332740"/>
                </a:lnTo>
                <a:lnTo>
                  <a:pt x="428371" y="297180"/>
                </a:lnTo>
                <a:lnTo>
                  <a:pt x="436499" y="257810"/>
                </a:lnTo>
                <a:lnTo>
                  <a:pt x="437459" y="234950"/>
                </a:lnTo>
                <a:lnTo>
                  <a:pt x="436625" y="215900"/>
                </a:lnTo>
                <a:lnTo>
                  <a:pt x="428625" y="176530"/>
                </a:lnTo>
                <a:lnTo>
                  <a:pt x="413512" y="139700"/>
                </a:lnTo>
                <a:lnTo>
                  <a:pt x="391795" y="107950"/>
                </a:lnTo>
                <a:lnTo>
                  <a:pt x="364489" y="81280"/>
                </a:lnTo>
                <a:lnTo>
                  <a:pt x="332359" y="58420"/>
                </a:lnTo>
                <a:lnTo>
                  <a:pt x="314706" y="50800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1709" y="322529"/>
            <a:ext cx="6780580" cy="176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06FC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0491" y="1466976"/>
            <a:ext cx="8132445" cy="3274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01F5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709" y="322529"/>
            <a:ext cx="6780580" cy="17677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 marR="5080" algn="ctr">
              <a:lnSpc>
                <a:spcPct val="100000"/>
              </a:lnSpc>
              <a:spcBef>
                <a:spcPts val="105"/>
              </a:spcBef>
            </a:pPr>
            <a:r>
              <a:rPr sz="3800" dirty="0"/>
              <a:t>PRESENT PERFECT</a:t>
            </a:r>
            <a:r>
              <a:rPr sz="3800" spc="-145" dirty="0"/>
              <a:t> </a:t>
            </a:r>
            <a:r>
              <a:rPr sz="3800" spc="-5" dirty="0"/>
              <a:t>versus  PRESENT </a:t>
            </a:r>
            <a:r>
              <a:rPr sz="3800" dirty="0"/>
              <a:t>PERFECT  </a:t>
            </a:r>
            <a:r>
              <a:rPr lang="en-US" sz="3800" spc="-5" dirty="0" smtClean="0"/>
              <a:t>PROGRESSIVE</a:t>
            </a:r>
            <a:endParaRPr sz="3800" dirty="0"/>
          </a:p>
        </p:txBody>
      </p:sp>
      <p:sp>
        <p:nvSpPr>
          <p:cNvPr id="3" name="object 3"/>
          <p:cNvSpPr/>
          <p:nvPr/>
        </p:nvSpPr>
        <p:spPr>
          <a:xfrm>
            <a:off x="1913635" y="2132799"/>
            <a:ext cx="4913248" cy="4248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142" y="412445"/>
            <a:ext cx="7740371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/>
              <a:t>PRESENT PERFECT</a:t>
            </a:r>
            <a:r>
              <a:rPr sz="3300" spc="-85" dirty="0"/>
              <a:t> </a:t>
            </a:r>
            <a:r>
              <a:rPr lang="en-US" sz="3300" spc="-5" dirty="0" smtClean="0"/>
              <a:t>CONTINOUS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80491" y="1551178"/>
            <a:ext cx="8188325" cy="4258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95"/>
              </a:spcBef>
              <a:buClr>
                <a:srgbClr val="D16248"/>
              </a:buClr>
              <a:buSzPct val="84000"/>
              <a:buFont typeface="Wingdings 2"/>
              <a:buChar char=""/>
              <a:tabLst>
                <a:tab pos="287020" algn="l"/>
              </a:tabLst>
            </a:pP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We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use the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Present </a:t>
            </a:r>
            <a:r>
              <a:rPr sz="2500" i="1" spc="-5" dirty="0">
                <a:solidFill>
                  <a:srgbClr val="001F5F"/>
                </a:solidFill>
                <a:latin typeface="Georgia"/>
                <a:cs typeface="Georgia"/>
              </a:rPr>
              <a:t>Perfect Continuous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to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emphasize the  duration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or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continuous course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of an</a:t>
            </a:r>
            <a:r>
              <a:rPr sz="2500" spc="5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action.</a:t>
            </a:r>
            <a:endParaRPr sz="25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b="1" spc="-5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500" b="1" spc="-10" dirty="0">
                <a:solidFill>
                  <a:srgbClr val="006FC0"/>
                </a:solidFill>
                <a:latin typeface="Georgia"/>
                <a:cs typeface="Georgia"/>
              </a:rPr>
              <a:t>HAVE </a:t>
            </a:r>
            <a:r>
              <a:rPr sz="2500" b="1" spc="-5" dirty="0">
                <a:solidFill>
                  <a:srgbClr val="006FC0"/>
                </a:solidFill>
                <a:latin typeface="Georgia"/>
                <a:cs typeface="Georgia"/>
              </a:rPr>
              <a:t>BEEN </a:t>
            </a:r>
            <a:r>
              <a:rPr sz="2500" b="1" spc="-10" dirty="0">
                <a:solidFill>
                  <a:srgbClr val="006FC0"/>
                </a:solidFill>
                <a:latin typeface="Georgia"/>
                <a:cs typeface="Georgia"/>
              </a:rPr>
              <a:t>READING </a:t>
            </a:r>
            <a:r>
              <a:rPr sz="2500" b="1" spc="-5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500" b="1" spc="2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500" b="1" spc="-5" dirty="0">
                <a:solidFill>
                  <a:srgbClr val="006FC0"/>
                </a:solidFill>
                <a:latin typeface="Georgia"/>
                <a:cs typeface="Georgia"/>
              </a:rPr>
              <a:t>BOOK</a:t>
            </a:r>
            <a:endParaRPr sz="2500" dirty="0">
              <a:latin typeface="Georgia"/>
              <a:cs typeface="Georgia"/>
            </a:endParaRPr>
          </a:p>
          <a:p>
            <a:pPr marL="287020" marR="212725" indent="-274320">
              <a:lnSpc>
                <a:spcPct val="100000"/>
              </a:lnSpc>
              <a:spcBef>
                <a:spcPts val="600"/>
              </a:spcBef>
              <a:buClr>
                <a:srgbClr val="D16248"/>
              </a:buClr>
              <a:buSzPct val="84000"/>
              <a:buFont typeface="Wingdings 2"/>
              <a:buChar char=""/>
              <a:tabLst>
                <a:tab pos="287020" algn="l"/>
              </a:tabLst>
            </a:pP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To indicate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the duration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of an action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that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started in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the  past</a:t>
            </a:r>
            <a:endParaRPr sz="25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400" b="1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400" b="1" spc="-5" dirty="0">
                <a:solidFill>
                  <a:srgbClr val="006FC0"/>
                </a:solidFill>
                <a:latin typeface="Georgia"/>
                <a:cs typeface="Georgia"/>
              </a:rPr>
              <a:t>HAVE BEEN PLAYING TENNIS FOR TWO</a:t>
            </a:r>
            <a:r>
              <a:rPr sz="2400" b="1" spc="-4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400" b="1" spc="-5" dirty="0">
                <a:solidFill>
                  <a:srgbClr val="006FC0"/>
                </a:solidFill>
                <a:latin typeface="Georgia"/>
                <a:cs typeface="Georgia"/>
              </a:rPr>
              <a:t>HOURS</a:t>
            </a:r>
            <a:endParaRPr sz="2400" dirty="0">
              <a:latin typeface="Georgia"/>
              <a:cs typeface="Georgia"/>
            </a:endParaRPr>
          </a:p>
          <a:p>
            <a:pPr marL="287020" marR="635635" indent="-274320">
              <a:lnSpc>
                <a:spcPct val="100000"/>
              </a:lnSpc>
              <a:spcBef>
                <a:spcPts val="595"/>
              </a:spcBef>
              <a:buClr>
                <a:srgbClr val="D16248"/>
              </a:buClr>
              <a:buSzPct val="84000"/>
              <a:buFont typeface="Wingdings 2"/>
              <a:buChar char=""/>
              <a:tabLst>
                <a:tab pos="287020" algn="l"/>
              </a:tabLst>
            </a:pP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If we use this tense it means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that the duration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of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the  </a:t>
            </a:r>
            <a:r>
              <a:rPr sz="2500" spc="-5" dirty="0">
                <a:solidFill>
                  <a:srgbClr val="001F5F"/>
                </a:solidFill>
                <a:latin typeface="Georgia"/>
                <a:cs typeface="Georgia"/>
              </a:rPr>
              <a:t>action is</a:t>
            </a:r>
            <a:r>
              <a:rPr sz="250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001F5F"/>
                </a:solidFill>
                <a:latin typeface="Georgia"/>
                <a:cs typeface="Georgia"/>
              </a:rPr>
              <a:t>long</a:t>
            </a:r>
            <a:endParaRPr sz="2500" dirty="0">
              <a:latin typeface="Georgia"/>
              <a:cs typeface="Georgia"/>
            </a:endParaRPr>
          </a:p>
          <a:p>
            <a:pPr marL="287020" indent="-274320">
              <a:lnSpc>
                <a:spcPct val="100000"/>
              </a:lnSpc>
              <a:spcBef>
                <a:spcPts val="470"/>
              </a:spcBef>
              <a:buClr>
                <a:srgbClr val="D16248"/>
              </a:buClr>
              <a:buSzPct val="84000"/>
              <a:buFont typeface="Wingdings 2"/>
              <a:buChar char=""/>
              <a:tabLst>
                <a:tab pos="287020" algn="l"/>
              </a:tabLst>
            </a:pPr>
            <a:r>
              <a:rPr sz="2500" b="1" spc="-5" dirty="0">
                <a:solidFill>
                  <a:srgbClr val="001F5F"/>
                </a:solidFill>
                <a:latin typeface="Georgia"/>
                <a:cs typeface="Georgia"/>
              </a:rPr>
              <a:t>Duration </a:t>
            </a:r>
            <a:r>
              <a:rPr sz="2500" b="1" spc="-10" dirty="0">
                <a:solidFill>
                  <a:srgbClr val="001F5F"/>
                </a:solidFill>
                <a:latin typeface="Georgia"/>
                <a:cs typeface="Georgia"/>
              </a:rPr>
              <a:t>(how</a:t>
            </a:r>
            <a:r>
              <a:rPr sz="2500" b="1" spc="1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500" b="1" spc="-5" dirty="0">
                <a:solidFill>
                  <a:srgbClr val="001F5F"/>
                </a:solidFill>
                <a:latin typeface="Georgia"/>
                <a:cs typeface="Georgia"/>
              </a:rPr>
              <a:t>long)</a:t>
            </a:r>
            <a:endParaRPr sz="25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b="1" spc="-5" dirty="0">
                <a:solidFill>
                  <a:srgbClr val="006FC0"/>
                </a:solidFill>
                <a:latin typeface="Georgia"/>
                <a:cs typeface="Georgia"/>
              </a:rPr>
              <a:t>I have been writing for an</a:t>
            </a:r>
            <a:r>
              <a:rPr sz="2500" b="1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500" b="1" spc="-5" dirty="0">
                <a:solidFill>
                  <a:srgbClr val="006FC0"/>
                </a:solidFill>
                <a:latin typeface="Georgia"/>
                <a:cs typeface="Georgia"/>
              </a:rPr>
              <a:t>hour.</a:t>
            </a:r>
            <a:endParaRPr sz="2500" dirty="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24144" y="4509096"/>
            <a:ext cx="2952369" cy="2108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2392" y="412445"/>
            <a:ext cx="437324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/>
              <a:t>PRESENT</a:t>
            </a:r>
            <a:r>
              <a:rPr sz="3300" spc="-90" dirty="0"/>
              <a:t> </a:t>
            </a:r>
            <a:r>
              <a:rPr sz="3300" spc="-5" dirty="0"/>
              <a:t>PERFECT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380491" y="1508505"/>
            <a:ext cx="8234045" cy="43472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7020" marR="5080" indent="-274320">
              <a:lnSpc>
                <a:spcPct val="90000"/>
              </a:lnSpc>
              <a:spcBef>
                <a:spcPts val="425"/>
              </a:spcBef>
              <a:buClr>
                <a:srgbClr val="D16248"/>
              </a:buClr>
              <a:buSzPct val="85185"/>
              <a:buFont typeface="Wingdings 2"/>
              <a:buChar char=""/>
              <a:tabLst>
                <a:tab pos="287020" algn="l"/>
              </a:tabLst>
            </a:pPr>
            <a:r>
              <a:rPr sz="2700" dirty="0">
                <a:solidFill>
                  <a:srgbClr val="001F5F"/>
                </a:solidFill>
                <a:latin typeface="Georgia"/>
                <a:cs typeface="Georgia"/>
              </a:rPr>
              <a:t>We </a:t>
            </a:r>
            <a:r>
              <a:rPr sz="2700" spc="-5" dirty="0">
                <a:solidFill>
                  <a:srgbClr val="001F5F"/>
                </a:solidFill>
                <a:latin typeface="Georgia"/>
                <a:cs typeface="Georgia"/>
              </a:rPr>
              <a:t>use the </a:t>
            </a:r>
            <a:r>
              <a:rPr sz="2700" i="1" dirty="0">
                <a:solidFill>
                  <a:srgbClr val="001F5F"/>
                </a:solidFill>
                <a:latin typeface="Georgia"/>
                <a:cs typeface="Georgia"/>
              </a:rPr>
              <a:t>Present </a:t>
            </a:r>
            <a:r>
              <a:rPr sz="2700" i="1" spc="-5" dirty="0">
                <a:solidFill>
                  <a:srgbClr val="001F5F"/>
                </a:solidFill>
                <a:latin typeface="Georgia"/>
                <a:cs typeface="Georgia"/>
              </a:rPr>
              <a:t>Perfect Simple </a:t>
            </a:r>
            <a:r>
              <a:rPr sz="2700" spc="-5" dirty="0">
                <a:solidFill>
                  <a:srgbClr val="001F5F"/>
                </a:solidFill>
                <a:latin typeface="Georgia"/>
                <a:cs typeface="Georgia"/>
              </a:rPr>
              <a:t>mainly to express  that </a:t>
            </a:r>
            <a:r>
              <a:rPr sz="2700" dirty="0">
                <a:solidFill>
                  <a:srgbClr val="001F5F"/>
                </a:solidFill>
                <a:latin typeface="Georgia"/>
                <a:cs typeface="Georgia"/>
              </a:rPr>
              <a:t>an action is </a:t>
            </a:r>
            <a:r>
              <a:rPr sz="2700" spc="-5" dirty="0">
                <a:solidFill>
                  <a:srgbClr val="001F5F"/>
                </a:solidFill>
                <a:latin typeface="Georgia"/>
                <a:cs typeface="Georgia"/>
              </a:rPr>
              <a:t>completed or to emphasize the  result or to </a:t>
            </a:r>
            <a:r>
              <a:rPr sz="2700" dirty="0">
                <a:solidFill>
                  <a:srgbClr val="001F5F"/>
                </a:solidFill>
                <a:latin typeface="Georgia"/>
                <a:cs typeface="Georgia"/>
              </a:rPr>
              <a:t>indicate </a:t>
            </a:r>
            <a:r>
              <a:rPr sz="2700" spc="-5" dirty="0">
                <a:solidFill>
                  <a:srgbClr val="001F5F"/>
                </a:solidFill>
                <a:latin typeface="Georgia"/>
                <a:cs typeface="Georgia"/>
              </a:rPr>
              <a:t>that </a:t>
            </a:r>
            <a:r>
              <a:rPr sz="2700" dirty="0">
                <a:solidFill>
                  <a:srgbClr val="001F5F"/>
                </a:solidFill>
                <a:latin typeface="Georgia"/>
                <a:cs typeface="Georgia"/>
              </a:rPr>
              <a:t>action </a:t>
            </a:r>
            <a:r>
              <a:rPr sz="2700" spc="-5" dirty="0">
                <a:solidFill>
                  <a:srgbClr val="001F5F"/>
                </a:solidFill>
                <a:latin typeface="Georgia"/>
                <a:cs typeface="Georgia"/>
              </a:rPr>
              <a:t>has </a:t>
            </a:r>
            <a:r>
              <a:rPr sz="2700" dirty="0">
                <a:solidFill>
                  <a:srgbClr val="001F5F"/>
                </a:solidFill>
                <a:latin typeface="Georgia"/>
                <a:cs typeface="Georgia"/>
              </a:rPr>
              <a:t>not</a:t>
            </a:r>
            <a:r>
              <a:rPr sz="2700" spc="-3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700" spc="-5" dirty="0">
                <a:solidFill>
                  <a:srgbClr val="001F5F"/>
                </a:solidFill>
                <a:latin typeface="Georgia"/>
                <a:cs typeface="Georgia"/>
              </a:rPr>
              <a:t>changed</a:t>
            </a:r>
            <a:endParaRPr sz="27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HAVE READ </a:t>
            </a: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700" b="1" spc="-2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700" b="1" spc="-10" dirty="0">
                <a:solidFill>
                  <a:srgbClr val="006FC0"/>
                </a:solidFill>
                <a:latin typeface="Georgia"/>
                <a:cs typeface="Georgia"/>
              </a:rPr>
              <a:t>BOOK</a:t>
            </a:r>
            <a:endParaRPr sz="2700" dirty="0">
              <a:latin typeface="Georgia"/>
              <a:cs typeface="Georgia"/>
            </a:endParaRPr>
          </a:p>
          <a:p>
            <a:pPr marL="12700" marR="2071370">
              <a:lnSpc>
                <a:spcPts val="3570"/>
              </a:lnSpc>
              <a:spcBef>
                <a:spcPts val="170"/>
              </a:spcBef>
            </a:pP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TODAY </a:t>
            </a: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700" b="1" spc="-10" dirty="0">
                <a:solidFill>
                  <a:srgbClr val="006FC0"/>
                </a:solidFill>
                <a:latin typeface="Georgia"/>
                <a:cs typeface="Georgia"/>
              </a:rPr>
              <a:t>HAVE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READ TEN BOOKS  HE HAS GONE TO</a:t>
            </a:r>
            <a:r>
              <a:rPr sz="2700" b="1" spc="-3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CANADA</a:t>
            </a:r>
            <a:endParaRPr sz="27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2700" marR="1561465">
              <a:lnSpc>
                <a:spcPct val="110000"/>
              </a:lnSpc>
            </a:pPr>
            <a:r>
              <a:rPr sz="2700" b="1" spc="-5" dirty="0">
                <a:solidFill>
                  <a:srgbClr val="001F5F"/>
                </a:solidFill>
                <a:latin typeface="Georgia"/>
                <a:cs typeface="Georgia"/>
              </a:rPr>
              <a:t>Result </a:t>
            </a:r>
            <a:r>
              <a:rPr sz="2700" b="1" dirty="0">
                <a:solidFill>
                  <a:srgbClr val="001F5F"/>
                </a:solidFill>
                <a:latin typeface="Georgia"/>
                <a:cs typeface="Georgia"/>
              </a:rPr>
              <a:t>(what / how much / how</a:t>
            </a:r>
            <a:r>
              <a:rPr sz="2700" b="1" spc="-10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700" b="1" spc="-5" dirty="0">
                <a:solidFill>
                  <a:srgbClr val="001F5F"/>
                </a:solidFill>
                <a:latin typeface="Georgia"/>
                <a:cs typeface="Georgia"/>
              </a:rPr>
              <a:t>often)  </a:t>
            </a: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I have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written </a:t>
            </a: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5</a:t>
            </a:r>
            <a:r>
              <a:rPr sz="2700" b="1" spc="-3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letters.</a:t>
            </a:r>
            <a:endParaRPr sz="2700" dirty="0">
              <a:latin typeface="Georgia"/>
              <a:cs typeface="Georgia"/>
            </a:endParaRPr>
          </a:p>
          <a:p>
            <a:pPr marL="97790">
              <a:lnSpc>
                <a:spcPct val="100000"/>
              </a:lnSpc>
              <a:spcBef>
                <a:spcPts val="325"/>
              </a:spcBef>
            </a:pP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I have been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to </a:t>
            </a: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London</a:t>
            </a:r>
            <a:r>
              <a:rPr sz="2700" b="1" spc="-2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twice.</a:t>
            </a:r>
            <a:endParaRPr sz="2700" dirty="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92315" y="2852927"/>
            <a:ext cx="1639061" cy="16390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52134" y="5085181"/>
            <a:ext cx="1582674" cy="10764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491" y="188467"/>
            <a:ext cx="8265159" cy="4673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0" marR="5080" indent="-131000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Georgia"/>
                <a:cs typeface="Georgia"/>
              </a:rPr>
              <a:t>COMPARISON BETWEEN PRESENT PERFECT AND  PRESENT PERFECT</a:t>
            </a:r>
            <a:r>
              <a:rPr sz="2400" b="1" spc="-2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sz="2400" b="1" spc="-5" dirty="0" smtClean="0">
                <a:solidFill>
                  <a:srgbClr val="006FC0"/>
                </a:solidFill>
                <a:latin typeface="Georgia"/>
                <a:cs typeface="Georgia"/>
              </a:rPr>
              <a:t>PROGRESSIVE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850"/>
              </a:spcBef>
              <a:buClr>
                <a:srgbClr val="D16248"/>
              </a:buClr>
              <a:buSzPct val="85185"/>
              <a:buFont typeface="Wingdings 2"/>
              <a:buChar char=""/>
              <a:tabLst>
                <a:tab pos="287020" algn="l"/>
              </a:tabLst>
            </a:pPr>
            <a:r>
              <a:rPr sz="2700" b="1" spc="-5" dirty="0">
                <a:solidFill>
                  <a:srgbClr val="001F5F"/>
                </a:solidFill>
                <a:latin typeface="Georgia"/>
                <a:cs typeface="Georgia"/>
              </a:rPr>
              <a:t>Emphasis on completion</a:t>
            </a:r>
            <a:endParaRPr sz="27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SHE </a:t>
            </a:r>
            <a:r>
              <a:rPr sz="2700" b="1" spc="-5" dirty="0">
                <a:solidFill>
                  <a:srgbClr val="006FC0"/>
                </a:solidFill>
                <a:latin typeface="Georgia"/>
                <a:cs typeface="Georgia"/>
              </a:rPr>
              <a:t>HAS </a:t>
            </a:r>
            <a:r>
              <a:rPr sz="2700" b="1" dirty="0">
                <a:solidFill>
                  <a:srgbClr val="006FC0"/>
                </a:solidFill>
                <a:latin typeface="Georgia"/>
                <a:cs typeface="Georgia"/>
              </a:rPr>
              <a:t>DONE </a:t>
            </a:r>
            <a:r>
              <a:rPr sz="2700" b="1" spc="-10" dirty="0">
                <a:solidFill>
                  <a:srgbClr val="006FC0"/>
                </a:solidFill>
                <a:latin typeface="Georgia"/>
                <a:cs typeface="Georgia"/>
              </a:rPr>
              <a:t>HER</a:t>
            </a:r>
            <a:r>
              <a:rPr sz="2700" b="1" spc="-2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700" b="1" spc="-10" dirty="0">
                <a:solidFill>
                  <a:srgbClr val="006FC0"/>
                </a:solidFill>
                <a:latin typeface="Georgia"/>
                <a:cs typeface="Georgia"/>
              </a:rPr>
              <a:t>HOMEWORK</a:t>
            </a:r>
            <a:endParaRPr sz="2700" dirty="0">
              <a:latin typeface="Georgia"/>
              <a:cs typeface="Georgia"/>
            </a:endParaRPr>
          </a:p>
          <a:p>
            <a:pPr marL="2755900">
              <a:lnSpc>
                <a:spcPct val="100000"/>
              </a:lnSpc>
              <a:spcBef>
                <a:spcPts val="455"/>
              </a:spcBef>
            </a:pPr>
            <a:r>
              <a:rPr sz="1800" i="1" spc="-5" dirty="0">
                <a:solidFill>
                  <a:srgbClr val="001F5F"/>
                </a:solidFill>
                <a:latin typeface="Georgia"/>
                <a:cs typeface="Georgia"/>
              </a:rPr>
              <a:t>(Meaning: </a:t>
            </a:r>
            <a:r>
              <a:rPr sz="1800" i="1" dirty="0">
                <a:solidFill>
                  <a:srgbClr val="001F5F"/>
                </a:solidFill>
                <a:latin typeface="Georgia"/>
                <a:cs typeface="Georgia"/>
              </a:rPr>
              <a:t>Her </a:t>
            </a:r>
            <a:r>
              <a:rPr sz="1800" i="1" spc="-5" dirty="0">
                <a:solidFill>
                  <a:srgbClr val="001F5F"/>
                </a:solidFill>
                <a:latin typeface="Georgia"/>
                <a:cs typeface="Georgia"/>
              </a:rPr>
              <a:t>homework </a:t>
            </a:r>
            <a:r>
              <a:rPr sz="1800" i="1" dirty="0">
                <a:solidFill>
                  <a:srgbClr val="001F5F"/>
                </a:solidFill>
                <a:latin typeface="Georgia"/>
                <a:cs typeface="Georgia"/>
              </a:rPr>
              <a:t>is completed</a:t>
            </a:r>
            <a:r>
              <a:rPr sz="1800" i="1" spc="-6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i="1" spc="-5" dirty="0">
                <a:solidFill>
                  <a:srgbClr val="001F5F"/>
                </a:solidFill>
                <a:latin typeface="Georgia"/>
                <a:cs typeface="Georgia"/>
              </a:rPr>
              <a:t>now.)</a:t>
            </a: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D16248"/>
              </a:buClr>
              <a:buSzPct val="83928"/>
              <a:buFont typeface="Wingdings 2"/>
              <a:buChar char=""/>
              <a:tabLst>
                <a:tab pos="287020" algn="l"/>
              </a:tabLst>
            </a:pPr>
            <a:r>
              <a:rPr sz="2800" b="1" spc="-10" dirty="0">
                <a:solidFill>
                  <a:srgbClr val="001F5F"/>
                </a:solidFill>
                <a:latin typeface="Georgia"/>
                <a:cs typeface="Georgia"/>
              </a:rPr>
              <a:t>Emphasis </a:t>
            </a:r>
            <a:r>
              <a:rPr sz="2800" b="1" spc="-5" dirty="0">
                <a:solidFill>
                  <a:srgbClr val="001F5F"/>
                </a:solidFill>
                <a:latin typeface="Georgia"/>
                <a:cs typeface="Georgia"/>
              </a:rPr>
              <a:t>on</a:t>
            </a:r>
            <a:r>
              <a:rPr sz="2800" b="1" spc="2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Georgia"/>
                <a:cs typeface="Georgia"/>
              </a:rPr>
              <a:t>duration</a:t>
            </a:r>
            <a:endParaRPr sz="2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006FC0"/>
                </a:solidFill>
                <a:latin typeface="Georgia"/>
                <a:cs typeface="Georgia"/>
              </a:rPr>
              <a:t>SHE HAS </a:t>
            </a:r>
            <a:r>
              <a:rPr sz="2800" b="1" spc="-10" dirty="0">
                <a:solidFill>
                  <a:srgbClr val="006FC0"/>
                </a:solidFill>
                <a:latin typeface="Georgia"/>
                <a:cs typeface="Georgia"/>
              </a:rPr>
              <a:t>BEEN </a:t>
            </a:r>
            <a:r>
              <a:rPr sz="2800" b="1" spc="-5" dirty="0">
                <a:solidFill>
                  <a:srgbClr val="006FC0"/>
                </a:solidFill>
                <a:latin typeface="Georgia"/>
                <a:cs typeface="Georgia"/>
              </a:rPr>
              <a:t>DOING HER</a:t>
            </a:r>
            <a:r>
              <a:rPr sz="2800" b="1" spc="8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Georgia"/>
                <a:cs typeface="Georgia"/>
              </a:rPr>
              <a:t>HOMEWORK</a:t>
            </a:r>
            <a:endParaRPr sz="2800" dirty="0">
              <a:latin typeface="Georgia"/>
              <a:cs typeface="Georgia"/>
            </a:endParaRPr>
          </a:p>
          <a:p>
            <a:pPr marL="287020" marR="245745">
              <a:lnSpc>
                <a:spcPct val="100000"/>
              </a:lnSpc>
              <a:spcBef>
                <a:spcPts val="459"/>
              </a:spcBef>
            </a:pPr>
            <a:r>
              <a:rPr sz="1800" i="1" spc="-5" dirty="0">
                <a:solidFill>
                  <a:srgbClr val="001F5F"/>
                </a:solidFill>
                <a:latin typeface="Georgia"/>
                <a:cs typeface="Georgia"/>
              </a:rPr>
              <a:t>Meaning: That's </a:t>
            </a:r>
            <a:r>
              <a:rPr sz="1800" i="1" dirty="0">
                <a:solidFill>
                  <a:srgbClr val="001F5F"/>
                </a:solidFill>
                <a:latin typeface="Georgia"/>
                <a:cs typeface="Georgia"/>
              </a:rPr>
              <a:t>how </a:t>
            </a:r>
            <a:r>
              <a:rPr sz="1800" i="1" spc="-5" dirty="0">
                <a:solidFill>
                  <a:srgbClr val="001F5F"/>
                </a:solidFill>
                <a:latin typeface="Georgia"/>
                <a:cs typeface="Georgia"/>
              </a:rPr>
              <a:t>she has spent her time. It does not matter whether the  homework </a:t>
            </a:r>
            <a:r>
              <a:rPr sz="1800" i="1" dirty="0">
                <a:solidFill>
                  <a:srgbClr val="001F5F"/>
                </a:solidFill>
                <a:latin typeface="Georgia"/>
                <a:cs typeface="Georgia"/>
              </a:rPr>
              <a:t>is completed</a:t>
            </a:r>
            <a:r>
              <a:rPr sz="1800" i="1" spc="-5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i="1" spc="-5" dirty="0">
                <a:solidFill>
                  <a:srgbClr val="001F5F"/>
                </a:solidFill>
                <a:latin typeface="Georgia"/>
                <a:cs typeface="Georgia"/>
              </a:rPr>
              <a:t>now.)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32045" y="4700028"/>
            <a:ext cx="3096387" cy="1835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781" y="188467"/>
            <a:ext cx="81578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2070" marR="5080" indent="-1310005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COMPARISON BETWEEN PRESENT PERFECT AND  PRESENT PERFECT</a:t>
            </a:r>
            <a:r>
              <a:rPr sz="2400" spc="-25" dirty="0"/>
              <a:t> </a:t>
            </a:r>
            <a:r>
              <a:rPr lang="en-US" sz="2400" spc="-5" dirty="0" smtClean="0"/>
              <a:t>PROGRESSIVE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4842511" y="2578750"/>
            <a:ext cx="22161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700" i="1" dirty="0">
                <a:solidFill>
                  <a:srgbClr val="001F5F"/>
                </a:solidFill>
                <a:latin typeface="Georgia"/>
                <a:cs typeface="Georgia"/>
              </a:rPr>
              <a:t>).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50"/>
              </a:spcBef>
              <a:buClr>
                <a:srgbClr val="D16248"/>
              </a:buClr>
              <a:buSzPct val="85185"/>
              <a:buFont typeface="Wingdings 2"/>
              <a:buChar char=""/>
              <a:tabLst>
                <a:tab pos="287020" algn="l"/>
              </a:tabLst>
            </a:pPr>
            <a:r>
              <a:rPr spc="-5" dirty="0"/>
              <a:t>desired</a:t>
            </a:r>
            <a:r>
              <a:rPr spc="-20" dirty="0"/>
              <a:t> </a:t>
            </a:r>
            <a:r>
              <a:rPr spc="-10" dirty="0"/>
              <a:t>result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>
                <a:solidFill>
                  <a:srgbClr val="006FC0"/>
                </a:solidFill>
              </a:rPr>
              <a:t>I have </a:t>
            </a:r>
            <a:r>
              <a:rPr spc="-5" dirty="0">
                <a:solidFill>
                  <a:srgbClr val="006FC0"/>
                </a:solidFill>
              </a:rPr>
              <a:t>washed the car.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b="0" i="1" spc="-5" dirty="0">
                <a:latin typeface="Georgia"/>
                <a:cs typeface="Georgia"/>
              </a:rPr>
              <a:t>(Result: </a:t>
            </a:r>
            <a:r>
              <a:rPr b="0" i="1" dirty="0">
                <a:latin typeface="Georgia"/>
                <a:cs typeface="Georgia"/>
              </a:rPr>
              <a:t>The car </a:t>
            </a:r>
            <a:r>
              <a:rPr b="0" i="1" spc="-5" dirty="0">
                <a:latin typeface="Georgia"/>
                <a:cs typeface="Georgia"/>
              </a:rPr>
              <a:t>is </a:t>
            </a:r>
            <a:r>
              <a:rPr b="0" i="1" dirty="0">
                <a:latin typeface="Georgia"/>
                <a:cs typeface="Georgia"/>
              </a:rPr>
              <a:t>clean now</a:t>
            </a: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D16248"/>
              </a:buClr>
              <a:buSzPct val="85185"/>
              <a:buFont typeface="Wingdings 2"/>
              <a:buChar char=""/>
              <a:tabLst>
                <a:tab pos="287020" algn="l"/>
              </a:tabLst>
            </a:pPr>
            <a:r>
              <a:rPr spc="-5" dirty="0"/>
              <a:t>unwanted </a:t>
            </a:r>
            <a:r>
              <a:rPr dirty="0"/>
              <a:t>side</a:t>
            </a:r>
            <a:r>
              <a:rPr spc="5" dirty="0"/>
              <a:t> </a:t>
            </a:r>
            <a:r>
              <a:rPr dirty="0"/>
              <a:t>effect</a:t>
            </a:r>
          </a:p>
          <a:p>
            <a:pPr marL="287020" marR="5080" indent="-274320">
              <a:lnSpc>
                <a:spcPct val="100200"/>
              </a:lnSpc>
              <a:spcBef>
                <a:spcPts val="645"/>
              </a:spcBef>
            </a:pPr>
            <a:r>
              <a:rPr spc="-5" dirty="0">
                <a:solidFill>
                  <a:srgbClr val="006FC0"/>
                </a:solidFill>
              </a:rPr>
              <a:t>Why </a:t>
            </a:r>
            <a:r>
              <a:rPr dirty="0">
                <a:solidFill>
                  <a:srgbClr val="006FC0"/>
                </a:solidFill>
              </a:rPr>
              <a:t>are you so </a:t>
            </a:r>
            <a:r>
              <a:rPr spc="-5" dirty="0">
                <a:solidFill>
                  <a:srgbClr val="006FC0"/>
                </a:solidFill>
              </a:rPr>
              <a:t>wet? </a:t>
            </a:r>
            <a:r>
              <a:rPr dirty="0">
                <a:solidFill>
                  <a:srgbClr val="006FC0"/>
                </a:solidFill>
              </a:rPr>
              <a:t>- I have been </a:t>
            </a:r>
            <a:r>
              <a:rPr spc="-5" dirty="0">
                <a:solidFill>
                  <a:srgbClr val="006FC0"/>
                </a:solidFill>
              </a:rPr>
              <a:t>washing the  car. </a:t>
            </a:r>
            <a:r>
              <a:rPr b="0" i="1" spc="-5" dirty="0">
                <a:latin typeface="Georgia"/>
                <a:cs typeface="Georgia"/>
              </a:rPr>
              <a:t>(</a:t>
            </a:r>
            <a:r>
              <a:rPr sz="2400" b="0" i="1" spc="-5" dirty="0">
                <a:latin typeface="Georgia"/>
                <a:cs typeface="Georgia"/>
              </a:rPr>
              <a:t>side </a:t>
            </a:r>
            <a:r>
              <a:rPr sz="2400" b="0" i="1" dirty="0">
                <a:latin typeface="Georgia"/>
                <a:cs typeface="Georgia"/>
              </a:rPr>
              <a:t>effect: I became </a:t>
            </a:r>
            <a:r>
              <a:rPr sz="2400" b="0" i="1" spc="-5" dirty="0">
                <a:latin typeface="Georgia"/>
                <a:cs typeface="Georgia"/>
              </a:rPr>
              <a:t>wet when </a:t>
            </a:r>
            <a:r>
              <a:rPr sz="2400" b="0" i="1" dirty="0">
                <a:latin typeface="Georgia"/>
                <a:cs typeface="Georgia"/>
              </a:rPr>
              <a:t>I </a:t>
            </a:r>
            <a:r>
              <a:rPr sz="2400" b="0" i="1" spc="-5" dirty="0">
                <a:latin typeface="Georgia"/>
                <a:cs typeface="Georgia"/>
              </a:rPr>
              <a:t>was washing the  </a:t>
            </a:r>
            <a:r>
              <a:rPr sz="2400" b="0" i="1" dirty="0">
                <a:latin typeface="Georgia"/>
                <a:cs typeface="Georgia"/>
              </a:rPr>
              <a:t>car. It </a:t>
            </a:r>
            <a:r>
              <a:rPr sz="2400" b="0" i="1" spc="-5" dirty="0">
                <a:latin typeface="Georgia"/>
                <a:cs typeface="Georgia"/>
              </a:rPr>
              <a:t>does </a:t>
            </a:r>
            <a:r>
              <a:rPr sz="2400" b="0" i="1" dirty="0">
                <a:latin typeface="Georgia"/>
                <a:cs typeface="Georgia"/>
              </a:rPr>
              <a:t>not </a:t>
            </a:r>
            <a:r>
              <a:rPr sz="2400" b="0" i="1" spc="-5" dirty="0">
                <a:latin typeface="Georgia"/>
                <a:cs typeface="Georgia"/>
              </a:rPr>
              <a:t>matter whether the </a:t>
            </a:r>
            <a:r>
              <a:rPr sz="2400" b="0" i="1" dirty="0">
                <a:latin typeface="Georgia"/>
                <a:cs typeface="Georgia"/>
              </a:rPr>
              <a:t>car </a:t>
            </a:r>
            <a:r>
              <a:rPr sz="2400" b="0" i="1" spc="-5" dirty="0">
                <a:latin typeface="Georgia"/>
                <a:cs typeface="Georgia"/>
              </a:rPr>
              <a:t>is </a:t>
            </a:r>
            <a:r>
              <a:rPr sz="2400" b="0" i="1" dirty="0">
                <a:latin typeface="Georgia"/>
                <a:cs typeface="Georgia"/>
              </a:rPr>
              <a:t>clean</a:t>
            </a:r>
            <a:r>
              <a:rPr sz="2400" b="0" i="1" spc="-5" dirty="0">
                <a:latin typeface="Georgia"/>
                <a:cs typeface="Georgia"/>
              </a:rPr>
              <a:t> now.)</a:t>
            </a:r>
            <a:endParaRPr sz="2400" dirty="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4053" y="1052702"/>
            <a:ext cx="2333625" cy="1962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84189" y="4747323"/>
            <a:ext cx="2664333" cy="18629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514600"/>
            <a:ext cx="8839200" cy="3877310"/>
          </a:xfrm>
          <a:custGeom>
            <a:avLst/>
            <a:gdLst/>
            <a:ahLst/>
            <a:cxnLst/>
            <a:rect l="l" t="t" r="r" b="b"/>
            <a:pathLst>
              <a:path w="8839200" h="3877310">
                <a:moveTo>
                  <a:pt x="0" y="3877055"/>
                </a:moveTo>
                <a:lnTo>
                  <a:pt x="8839200" y="3877055"/>
                </a:lnTo>
                <a:lnTo>
                  <a:pt x="8839200" y="0"/>
                </a:lnTo>
                <a:lnTo>
                  <a:pt x="0" y="0"/>
                </a:lnTo>
                <a:lnTo>
                  <a:pt x="0" y="3877055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6701218"/>
            <a:ext cx="8839200" cy="4445"/>
          </a:xfrm>
          <a:custGeom>
            <a:avLst/>
            <a:gdLst/>
            <a:ahLst/>
            <a:cxnLst/>
            <a:rect l="l" t="t" r="r" b="b"/>
            <a:pathLst>
              <a:path w="8839200" h="4445">
                <a:moveTo>
                  <a:pt x="0" y="4381"/>
                </a:moveTo>
                <a:lnTo>
                  <a:pt x="8839200" y="4381"/>
                </a:lnTo>
                <a:lnTo>
                  <a:pt x="8839200" y="0"/>
                </a:lnTo>
                <a:lnTo>
                  <a:pt x="0" y="0"/>
                </a:lnTo>
                <a:lnTo>
                  <a:pt x="0" y="4381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1600" y="2514600"/>
            <a:ext cx="152400" cy="4343400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8"/>
                </a:moveTo>
                <a:lnTo>
                  <a:pt x="152400" y="4343398"/>
                </a:lnTo>
                <a:lnTo>
                  <a:pt x="152400" y="0"/>
                </a:lnTo>
                <a:lnTo>
                  <a:pt x="0" y="0"/>
                </a:lnTo>
                <a:lnTo>
                  <a:pt x="0" y="43433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514600"/>
            <a:ext cx="152400" cy="4343400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9"/>
                </a:moveTo>
                <a:lnTo>
                  <a:pt x="152400" y="4343399"/>
                </a:lnTo>
                <a:lnTo>
                  <a:pt x="152400" y="0"/>
                </a:lnTo>
                <a:lnTo>
                  <a:pt x="0" y="0"/>
                </a:lnTo>
                <a:lnTo>
                  <a:pt x="0" y="4343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2514600"/>
          </a:xfrm>
          <a:custGeom>
            <a:avLst/>
            <a:gdLst/>
            <a:ahLst/>
            <a:cxnLst/>
            <a:rect l="l" t="t" r="r" b="b"/>
            <a:pathLst>
              <a:path w="9144000" h="2514600">
                <a:moveTo>
                  <a:pt x="0" y="2514600"/>
                </a:moveTo>
                <a:lnTo>
                  <a:pt x="9144000" y="2514600"/>
                </a:lnTo>
                <a:lnTo>
                  <a:pt x="9144000" y="0"/>
                </a:lnTo>
                <a:lnTo>
                  <a:pt x="0" y="0"/>
                </a:lnTo>
                <a:lnTo>
                  <a:pt x="0" y="2514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6304" y="6391655"/>
            <a:ext cx="8833485" cy="309880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0" y="309562"/>
                </a:moveTo>
                <a:lnTo>
                  <a:pt x="8833104" y="309562"/>
                </a:lnTo>
                <a:lnTo>
                  <a:pt x="8833104" y="0"/>
                </a:lnTo>
                <a:lnTo>
                  <a:pt x="0" y="0"/>
                </a:lnTo>
                <a:lnTo>
                  <a:pt x="0" y="309562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5447" y="2420111"/>
            <a:ext cx="8833485" cy="0"/>
          </a:xfrm>
          <a:custGeom>
            <a:avLst/>
            <a:gdLst/>
            <a:ahLst/>
            <a:cxnLst/>
            <a:rect l="l" t="t" r="r" b="b"/>
            <a:pathLst>
              <a:path w="8833485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12700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" y="152400"/>
            <a:ext cx="8833485" cy="6547484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12699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7200" y="211531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74" y="3990"/>
                </a:lnTo>
                <a:lnTo>
                  <a:pt x="208483" y="15544"/>
                </a:lnTo>
                <a:lnTo>
                  <a:pt x="164753" y="34032"/>
                </a:lnTo>
                <a:lnTo>
                  <a:pt x="124815" y="58826"/>
                </a:lnTo>
                <a:lnTo>
                  <a:pt x="89296" y="89296"/>
                </a:lnTo>
                <a:lnTo>
                  <a:pt x="58826" y="124815"/>
                </a:lnTo>
                <a:lnTo>
                  <a:pt x="34032" y="164753"/>
                </a:lnTo>
                <a:lnTo>
                  <a:pt x="15544" y="208483"/>
                </a:lnTo>
                <a:lnTo>
                  <a:pt x="3990" y="255374"/>
                </a:lnTo>
                <a:lnTo>
                  <a:pt x="0" y="304800"/>
                </a:lnTo>
                <a:lnTo>
                  <a:pt x="3990" y="354225"/>
                </a:lnTo>
                <a:lnTo>
                  <a:pt x="15544" y="401116"/>
                </a:lnTo>
                <a:lnTo>
                  <a:pt x="34032" y="444846"/>
                </a:lnTo>
                <a:lnTo>
                  <a:pt x="58826" y="484784"/>
                </a:lnTo>
                <a:lnTo>
                  <a:pt x="89296" y="520303"/>
                </a:lnTo>
                <a:lnTo>
                  <a:pt x="124815" y="550773"/>
                </a:lnTo>
                <a:lnTo>
                  <a:pt x="164753" y="575567"/>
                </a:lnTo>
                <a:lnTo>
                  <a:pt x="208483" y="594055"/>
                </a:lnTo>
                <a:lnTo>
                  <a:pt x="255374" y="605609"/>
                </a:lnTo>
                <a:lnTo>
                  <a:pt x="304800" y="609600"/>
                </a:lnTo>
                <a:lnTo>
                  <a:pt x="354225" y="605609"/>
                </a:lnTo>
                <a:lnTo>
                  <a:pt x="401116" y="594055"/>
                </a:lnTo>
                <a:lnTo>
                  <a:pt x="444846" y="575567"/>
                </a:lnTo>
                <a:lnTo>
                  <a:pt x="484784" y="550773"/>
                </a:lnTo>
                <a:lnTo>
                  <a:pt x="520303" y="520303"/>
                </a:lnTo>
                <a:lnTo>
                  <a:pt x="550773" y="484784"/>
                </a:lnTo>
                <a:lnTo>
                  <a:pt x="575567" y="444846"/>
                </a:lnTo>
                <a:lnTo>
                  <a:pt x="594055" y="401116"/>
                </a:lnTo>
                <a:lnTo>
                  <a:pt x="605609" y="354225"/>
                </a:lnTo>
                <a:lnTo>
                  <a:pt x="609600" y="304800"/>
                </a:lnTo>
                <a:lnTo>
                  <a:pt x="605609" y="255374"/>
                </a:lnTo>
                <a:lnTo>
                  <a:pt x="594055" y="208483"/>
                </a:lnTo>
                <a:lnTo>
                  <a:pt x="575567" y="164753"/>
                </a:lnTo>
                <a:lnTo>
                  <a:pt x="550773" y="124815"/>
                </a:lnTo>
                <a:lnTo>
                  <a:pt x="520303" y="89296"/>
                </a:lnTo>
                <a:lnTo>
                  <a:pt x="484784" y="58826"/>
                </a:lnTo>
                <a:lnTo>
                  <a:pt x="444846" y="34032"/>
                </a:lnTo>
                <a:lnTo>
                  <a:pt x="401116" y="15544"/>
                </a:lnTo>
                <a:lnTo>
                  <a:pt x="354225" y="3990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61688" y="2209800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5">
                <a:moveTo>
                  <a:pt x="210312" y="0"/>
                </a:moveTo>
                <a:lnTo>
                  <a:pt x="162072" y="5551"/>
                </a:lnTo>
                <a:lnTo>
                  <a:pt x="117798" y="21367"/>
                </a:lnTo>
                <a:lnTo>
                  <a:pt x="78750" y="46186"/>
                </a:lnTo>
                <a:lnTo>
                  <a:pt x="46186" y="78750"/>
                </a:lnTo>
                <a:lnTo>
                  <a:pt x="21367" y="117798"/>
                </a:lnTo>
                <a:lnTo>
                  <a:pt x="5551" y="162072"/>
                </a:lnTo>
                <a:lnTo>
                  <a:pt x="0" y="210312"/>
                </a:lnTo>
                <a:lnTo>
                  <a:pt x="5551" y="258551"/>
                </a:lnTo>
                <a:lnTo>
                  <a:pt x="21367" y="302825"/>
                </a:lnTo>
                <a:lnTo>
                  <a:pt x="46186" y="341873"/>
                </a:lnTo>
                <a:lnTo>
                  <a:pt x="78750" y="374437"/>
                </a:lnTo>
                <a:lnTo>
                  <a:pt x="117798" y="399256"/>
                </a:lnTo>
                <a:lnTo>
                  <a:pt x="162072" y="415072"/>
                </a:lnTo>
                <a:lnTo>
                  <a:pt x="210312" y="420624"/>
                </a:lnTo>
                <a:lnTo>
                  <a:pt x="258551" y="415072"/>
                </a:lnTo>
                <a:lnTo>
                  <a:pt x="302825" y="399256"/>
                </a:lnTo>
                <a:lnTo>
                  <a:pt x="341873" y="374437"/>
                </a:lnTo>
                <a:lnTo>
                  <a:pt x="374437" y="341873"/>
                </a:lnTo>
                <a:lnTo>
                  <a:pt x="399256" y="302825"/>
                </a:lnTo>
                <a:lnTo>
                  <a:pt x="415072" y="258551"/>
                </a:lnTo>
                <a:lnTo>
                  <a:pt x="420624" y="210312"/>
                </a:lnTo>
                <a:lnTo>
                  <a:pt x="415072" y="162072"/>
                </a:lnTo>
                <a:lnTo>
                  <a:pt x="399256" y="117798"/>
                </a:lnTo>
                <a:lnTo>
                  <a:pt x="374437" y="78750"/>
                </a:lnTo>
                <a:lnTo>
                  <a:pt x="341873" y="46186"/>
                </a:lnTo>
                <a:lnTo>
                  <a:pt x="302825" y="21367"/>
                </a:lnTo>
                <a:lnTo>
                  <a:pt x="258551" y="5551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36288" y="2184654"/>
            <a:ext cx="471805" cy="471170"/>
          </a:xfrm>
          <a:custGeom>
            <a:avLst/>
            <a:gdLst/>
            <a:ahLst/>
            <a:cxnLst/>
            <a:rect l="l" t="t" r="r" b="b"/>
            <a:pathLst>
              <a:path w="471804" h="471169">
                <a:moveTo>
                  <a:pt x="234441" y="0"/>
                </a:moveTo>
                <a:lnTo>
                  <a:pt x="187071" y="5080"/>
                </a:lnTo>
                <a:lnTo>
                  <a:pt x="142875" y="19050"/>
                </a:lnTo>
                <a:lnTo>
                  <a:pt x="102997" y="41910"/>
                </a:lnTo>
                <a:lnTo>
                  <a:pt x="68199" y="69850"/>
                </a:lnTo>
                <a:lnTo>
                  <a:pt x="39624" y="105410"/>
                </a:lnTo>
                <a:lnTo>
                  <a:pt x="18161" y="146050"/>
                </a:lnTo>
                <a:lnTo>
                  <a:pt x="4572" y="190500"/>
                </a:lnTo>
                <a:lnTo>
                  <a:pt x="0" y="237490"/>
                </a:lnTo>
                <a:lnTo>
                  <a:pt x="1397" y="261620"/>
                </a:lnTo>
                <a:lnTo>
                  <a:pt x="11049" y="307340"/>
                </a:lnTo>
                <a:lnTo>
                  <a:pt x="29083" y="349250"/>
                </a:lnTo>
                <a:lnTo>
                  <a:pt x="54610" y="387350"/>
                </a:lnTo>
                <a:lnTo>
                  <a:pt x="86740" y="419100"/>
                </a:lnTo>
                <a:lnTo>
                  <a:pt x="124460" y="444500"/>
                </a:lnTo>
                <a:lnTo>
                  <a:pt x="166877" y="461010"/>
                </a:lnTo>
                <a:lnTo>
                  <a:pt x="212978" y="471170"/>
                </a:lnTo>
                <a:lnTo>
                  <a:pt x="236982" y="471170"/>
                </a:lnTo>
                <a:lnTo>
                  <a:pt x="261112" y="469900"/>
                </a:lnTo>
                <a:lnTo>
                  <a:pt x="284352" y="467360"/>
                </a:lnTo>
                <a:lnTo>
                  <a:pt x="306959" y="461010"/>
                </a:lnTo>
                <a:lnTo>
                  <a:pt x="322471" y="454660"/>
                </a:lnTo>
                <a:lnTo>
                  <a:pt x="236092" y="454660"/>
                </a:lnTo>
                <a:lnTo>
                  <a:pt x="213740" y="453390"/>
                </a:lnTo>
                <a:lnTo>
                  <a:pt x="171069" y="444500"/>
                </a:lnTo>
                <a:lnTo>
                  <a:pt x="131825" y="429260"/>
                </a:lnTo>
                <a:lnTo>
                  <a:pt x="96900" y="405130"/>
                </a:lnTo>
                <a:lnTo>
                  <a:pt x="67183" y="375920"/>
                </a:lnTo>
                <a:lnTo>
                  <a:pt x="43561" y="340360"/>
                </a:lnTo>
                <a:lnTo>
                  <a:pt x="26924" y="302260"/>
                </a:lnTo>
                <a:lnTo>
                  <a:pt x="18034" y="259080"/>
                </a:lnTo>
                <a:lnTo>
                  <a:pt x="16954" y="237490"/>
                </a:lnTo>
                <a:lnTo>
                  <a:pt x="16958" y="234950"/>
                </a:lnTo>
                <a:lnTo>
                  <a:pt x="21336" y="191770"/>
                </a:lnTo>
                <a:lnTo>
                  <a:pt x="34036" y="151130"/>
                </a:lnTo>
                <a:lnTo>
                  <a:pt x="54101" y="114300"/>
                </a:lnTo>
                <a:lnTo>
                  <a:pt x="80772" y="81280"/>
                </a:lnTo>
                <a:lnTo>
                  <a:pt x="113157" y="54610"/>
                </a:lnTo>
                <a:lnTo>
                  <a:pt x="150240" y="34290"/>
                </a:lnTo>
                <a:lnTo>
                  <a:pt x="191262" y="21590"/>
                </a:lnTo>
                <a:lnTo>
                  <a:pt x="235331" y="17780"/>
                </a:lnTo>
                <a:lnTo>
                  <a:pt x="323269" y="17780"/>
                </a:lnTo>
                <a:lnTo>
                  <a:pt x="304546" y="10160"/>
                </a:lnTo>
                <a:lnTo>
                  <a:pt x="281939" y="5080"/>
                </a:lnTo>
                <a:lnTo>
                  <a:pt x="258445" y="1270"/>
                </a:lnTo>
                <a:lnTo>
                  <a:pt x="234441" y="0"/>
                </a:lnTo>
                <a:close/>
              </a:path>
              <a:path w="471804" h="471169">
                <a:moveTo>
                  <a:pt x="323269" y="17780"/>
                </a:moveTo>
                <a:lnTo>
                  <a:pt x="235331" y="17780"/>
                </a:lnTo>
                <a:lnTo>
                  <a:pt x="257683" y="19050"/>
                </a:lnTo>
                <a:lnTo>
                  <a:pt x="279400" y="21590"/>
                </a:lnTo>
                <a:lnTo>
                  <a:pt x="320548" y="34290"/>
                </a:lnTo>
                <a:lnTo>
                  <a:pt x="357759" y="54610"/>
                </a:lnTo>
                <a:lnTo>
                  <a:pt x="390144" y="81280"/>
                </a:lnTo>
                <a:lnTo>
                  <a:pt x="416940" y="113030"/>
                </a:lnTo>
                <a:lnTo>
                  <a:pt x="437134" y="151130"/>
                </a:lnTo>
                <a:lnTo>
                  <a:pt x="449961" y="191770"/>
                </a:lnTo>
                <a:lnTo>
                  <a:pt x="454469" y="234950"/>
                </a:lnTo>
                <a:lnTo>
                  <a:pt x="454465" y="237490"/>
                </a:lnTo>
                <a:lnTo>
                  <a:pt x="450088" y="279400"/>
                </a:lnTo>
                <a:lnTo>
                  <a:pt x="437514" y="321310"/>
                </a:lnTo>
                <a:lnTo>
                  <a:pt x="417322" y="358140"/>
                </a:lnTo>
                <a:lnTo>
                  <a:pt x="390778" y="391160"/>
                </a:lnTo>
                <a:lnTo>
                  <a:pt x="358394" y="417830"/>
                </a:lnTo>
                <a:lnTo>
                  <a:pt x="321310" y="438150"/>
                </a:lnTo>
                <a:lnTo>
                  <a:pt x="280162" y="450850"/>
                </a:lnTo>
                <a:lnTo>
                  <a:pt x="236092" y="454660"/>
                </a:lnTo>
                <a:lnTo>
                  <a:pt x="322471" y="454660"/>
                </a:lnTo>
                <a:lnTo>
                  <a:pt x="368553" y="430530"/>
                </a:lnTo>
                <a:lnTo>
                  <a:pt x="403351" y="401320"/>
                </a:lnTo>
                <a:lnTo>
                  <a:pt x="431800" y="367030"/>
                </a:lnTo>
                <a:lnTo>
                  <a:pt x="453389" y="326390"/>
                </a:lnTo>
                <a:lnTo>
                  <a:pt x="466851" y="281940"/>
                </a:lnTo>
                <a:lnTo>
                  <a:pt x="471424" y="234950"/>
                </a:lnTo>
                <a:lnTo>
                  <a:pt x="470026" y="210820"/>
                </a:lnTo>
                <a:lnTo>
                  <a:pt x="460501" y="165100"/>
                </a:lnTo>
                <a:lnTo>
                  <a:pt x="442340" y="123190"/>
                </a:lnTo>
                <a:lnTo>
                  <a:pt x="416813" y="85090"/>
                </a:lnTo>
                <a:lnTo>
                  <a:pt x="384683" y="53340"/>
                </a:lnTo>
                <a:lnTo>
                  <a:pt x="347090" y="27940"/>
                </a:lnTo>
                <a:lnTo>
                  <a:pt x="326389" y="19050"/>
                </a:lnTo>
                <a:lnTo>
                  <a:pt x="323269" y="17780"/>
                </a:lnTo>
                <a:close/>
              </a:path>
              <a:path w="471804" h="471169">
                <a:moveTo>
                  <a:pt x="236092" y="34290"/>
                </a:moveTo>
                <a:lnTo>
                  <a:pt x="195452" y="38100"/>
                </a:lnTo>
                <a:lnTo>
                  <a:pt x="157607" y="49530"/>
                </a:lnTo>
                <a:lnTo>
                  <a:pt x="123189" y="68580"/>
                </a:lnTo>
                <a:lnTo>
                  <a:pt x="93345" y="92710"/>
                </a:lnTo>
                <a:lnTo>
                  <a:pt x="68579" y="123190"/>
                </a:lnTo>
                <a:lnTo>
                  <a:pt x="49911" y="157480"/>
                </a:lnTo>
                <a:lnTo>
                  <a:pt x="38100" y="194310"/>
                </a:lnTo>
                <a:lnTo>
                  <a:pt x="33968" y="234950"/>
                </a:lnTo>
                <a:lnTo>
                  <a:pt x="33964" y="237490"/>
                </a:lnTo>
                <a:lnTo>
                  <a:pt x="34798" y="256540"/>
                </a:lnTo>
                <a:lnTo>
                  <a:pt x="42799" y="295910"/>
                </a:lnTo>
                <a:lnTo>
                  <a:pt x="58038" y="331470"/>
                </a:lnTo>
                <a:lnTo>
                  <a:pt x="79628" y="364490"/>
                </a:lnTo>
                <a:lnTo>
                  <a:pt x="107061" y="391160"/>
                </a:lnTo>
                <a:lnTo>
                  <a:pt x="139191" y="412750"/>
                </a:lnTo>
                <a:lnTo>
                  <a:pt x="175387" y="429260"/>
                </a:lnTo>
                <a:lnTo>
                  <a:pt x="214629" y="436880"/>
                </a:lnTo>
                <a:lnTo>
                  <a:pt x="235331" y="438150"/>
                </a:lnTo>
                <a:lnTo>
                  <a:pt x="255904" y="436880"/>
                </a:lnTo>
                <a:lnTo>
                  <a:pt x="275971" y="434340"/>
                </a:lnTo>
                <a:lnTo>
                  <a:pt x="295401" y="429260"/>
                </a:lnTo>
                <a:lnTo>
                  <a:pt x="313944" y="422910"/>
                </a:lnTo>
                <a:lnTo>
                  <a:pt x="318987" y="420370"/>
                </a:lnTo>
                <a:lnTo>
                  <a:pt x="215391" y="420370"/>
                </a:lnTo>
                <a:lnTo>
                  <a:pt x="179577" y="412750"/>
                </a:lnTo>
                <a:lnTo>
                  <a:pt x="131445" y="388620"/>
                </a:lnTo>
                <a:lnTo>
                  <a:pt x="92201" y="353060"/>
                </a:lnTo>
                <a:lnTo>
                  <a:pt x="64897" y="307340"/>
                </a:lnTo>
                <a:lnTo>
                  <a:pt x="51562" y="254000"/>
                </a:lnTo>
                <a:lnTo>
                  <a:pt x="50800" y="234950"/>
                </a:lnTo>
                <a:lnTo>
                  <a:pt x="51815" y="215900"/>
                </a:lnTo>
                <a:lnTo>
                  <a:pt x="65786" y="162560"/>
                </a:lnTo>
                <a:lnTo>
                  <a:pt x="93725" y="118110"/>
                </a:lnTo>
                <a:lnTo>
                  <a:pt x="133350" y="82550"/>
                </a:lnTo>
                <a:lnTo>
                  <a:pt x="181990" y="58420"/>
                </a:lnTo>
                <a:lnTo>
                  <a:pt x="236982" y="50800"/>
                </a:lnTo>
                <a:lnTo>
                  <a:pt x="314706" y="50800"/>
                </a:lnTo>
                <a:lnTo>
                  <a:pt x="296163" y="43180"/>
                </a:lnTo>
                <a:lnTo>
                  <a:pt x="276860" y="38100"/>
                </a:lnTo>
                <a:lnTo>
                  <a:pt x="256794" y="35560"/>
                </a:lnTo>
                <a:lnTo>
                  <a:pt x="236092" y="34290"/>
                </a:lnTo>
                <a:close/>
              </a:path>
              <a:path w="471804" h="471169">
                <a:moveTo>
                  <a:pt x="314706" y="50800"/>
                </a:moveTo>
                <a:lnTo>
                  <a:pt x="236982" y="50800"/>
                </a:lnTo>
                <a:lnTo>
                  <a:pt x="256032" y="52070"/>
                </a:lnTo>
                <a:lnTo>
                  <a:pt x="274192" y="54610"/>
                </a:lnTo>
                <a:lnTo>
                  <a:pt x="324992" y="73660"/>
                </a:lnTo>
                <a:lnTo>
                  <a:pt x="367411" y="106680"/>
                </a:lnTo>
                <a:lnTo>
                  <a:pt x="399034" y="148590"/>
                </a:lnTo>
                <a:lnTo>
                  <a:pt x="417067" y="200660"/>
                </a:lnTo>
                <a:lnTo>
                  <a:pt x="420624" y="237490"/>
                </a:lnTo>
                <a:lnTo>
                  <a:pt x="419608" y="256540"/>
                </a:lnTo>
                <a:lnTo>
                  <a:pt x="405638" y="308610"/>
                </a:lnTo>
                <a:lnTo>
                  <a:pt x="377698" y="354330"/>
                </a:lnTo>
                <a:lnTo>
                  <a:pt x="338200" y="389890"/>
                </a:lnTo>
                <a:lnTo>
                  <a:pt x="289560" y="412750"/>
                </a:lnTo>
                <a:lnTo>
                  <a:pt x="253364" y="420370"/>
                </a:lnTo>
                <a:lnTo>
                  <a:pt x="318987" y="420370"/>
                </a:lnTo>
                <a:lnTo>
                  <a:pt x="363854" y="392430"/>
                </a:lnTo>
                <a:lnTo>
                  <a:pt x="391287" y="364490"/>
                </a:lnTo>
                <a:lnTo>
                  <a:pt x="413003" y="332740"/>
                </a:lnTo>
                <a:lnTo>
                  <a:pt x="428371" y="295910"/>
                </a:lnTo>
                <a:lnTo>
                  <a:pt x="436499" y="257810"/>
                </a:lnTo>
                <a:lnTo>
                  <a:pt x="437459" y="234950"/>
                </a:lnTo>
                <a:lnTo>
                  <a:pt x="436625" y="215900"/>
                </a:lnTo>
                <a:lnTo>
                  <a:pt x="428625" y="176530"/>
                </a:lnTo>
                <a:lnTo>
                  <a:pt x="413512" y="139700"/>
                </a:lnTo>
                <a:lnTo>
                  <a:pt x="391795" y="107950"/>
                </a:lnTo>
                <a:lnTo>
                  <a:pt x="364489" y="80010"/>
                </a:lnTo>
                <a:lnTo>
                  <a:pt x="332359" y="58420"/>
                </a:lnTo>
                <a:lnTo>
                  <a:pt x="314706" y="50800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01090" y="469772"/>
            <a:ext cx="73488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0" marR="5080" indent="-489584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COMPARISON BETWEEN PRESENT PERFECT  </a:t>
            </a:r>
            <a:r>
              <a:rPr sz="2400" dirty="0"/>
              <a:t>AND </a:t>
            </a:r>
            <a:r>
              <a:rPr sz="2400" spc="-5" dirty="0"/>
              <a:t>PRESENT PERFECT</a:t>
            </a:r>
            <a:r>
              <a:rPr sz="2400" spc="-20" dirty="0"/>
              <a:t> </a:t>
            </a:r>
            <a:r>
              <a:rPr lang="en-US" sz="2400" spc="-5" dirty="0" smtClean="0"/>
              <a:t>PROGRESSIVE</a:t>
            </a:r>
            <a:endParaRPr sz="2400" dirty="0"/>
          </a:p>
        </p:txBody>
      </p:sp>
      <p:sp>
        <p:nvSpPr>
          <p:cNvPr id="15" name="object 15"/>
          <p:cNvSpPr txBox="1"/>
          <p:nvPr/>
        </p:nvSpPr>
        <p:spPr>
          <a:xfrm>
            <a:off x="330200" y="2518918"/>
            <a:ext cx="7863205" cy="3460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92735">
              <a:lnSpc>
                <a:spcPct val="100000"/>
              </a:lnSpc>
              <a:spcBef>
                <a:spcPts val="105"/>
              </a:spcBef>
            </a:pPr>
            <a:r>
              <a:rPr sz="1800" b="1" spc="-5" dirty="0">
                <a:latin typeface="Georgia"/>
                <a:cs typeface="Georgia"/>
              </a:rPr>
              <a:t>*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to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express how much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time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has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past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since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the last time the  action took place</a:t>
            </a:r>
            <a:endParaRPr sz="2000" dirty="0">
              <a:latin typeface="Georgia"/>
              <a:cs typeface="Georgia"/>
            </a:endParaRPr>
          </a:p>
          <a:p>
            <a:pPr marL="228600">
              <a:lnSpc>
                <a:spcPct val="100000"/>
              </a:lnSpc>
              <a:spcBef>
                <a:spcPts val="475"/>
              </a:spcBef>
            </a:pP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since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the last</a:t>
            </a:r>
            <a:r>
              <a:rPr sz="2000" b="1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time</a:t>
            </a:r>
            <a:endParaRPr sz="2000" dirty="0">
              <a:latin typeface="Georgia"/>
              <a:cs typeface="Georgia"/>
            </a:endParaRPr>
          </a:p>
          <a:p>
            <a:pPr marL="228600">
              <a:lnSpc>
                <a:spcPct val="100000"/>
              </a:lnSpc>
            </a:pP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000" b="1" spc="-5" dirty="0">
                <a:solidFill>
                  <a:srgbClr val="006FC0"/>
                </a:solidFill>
                <a:latin typeface="Georgia"/>
                <a:cs typeface="Georgia"/>
              </a:rPr>
              <a:t>haven't played </a:t>
            </a: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that game </a:t>
            </a:r>
            <a:r>
              <a:rPr sz="2000" b="1" spc="-5" dirty="0">
                <a:solidFill>
                  <a:srgbClr val="006FC0"/>
                </a:solidFill>
                <a:latin typeface="Georgia"/>
                <a:cs typeface="Georgia"/>
              </a:rPr>
              <a:t>for years. </a:t>
            </a:r>
            <a:r>
              <a:rPr sz="2000" b="1" i="1" dirty="0">
                <a:solidFill>
                  <a:srgbClr val="006FC0"/>
                </a:solidFill>
                <a:latin typeface="Georgia"/>
                <a:cs typeface="Georgia"/>
              </a:rPr>
              <a:t>(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Meaning: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It's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years</a:t>
            </a:r>
            <a:r>
              <a:rPr sz="2000" i="1" spc="-4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ago</a:t>
            </a:r>
            <a:endParaRPr sz="2000" dirty="0">
              <a:latin typeface="Georgia"/>
              <a:cs typeface="Georgia"/>
            </a:endParaRPr>
          </a:p>
          <a:p>
            <a:pPr marL="228600">
              <a:lnSpc>
                <a:spcPct val="100000"/>
              </a:lnSpc>
            </a:pP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that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last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played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that</a:t>
            </a:r>
            <a:r>
              <a:rPr sz="2000" i="1" spc="1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game.)</a:t>
            </a:r>
            <a:endParaRPr sz="2000" dirty="0">
              <a:latin typeface="Georgia"/>
              <a:cs typeface="Georgia"/>
            </a:endParaRPr>
          </a:p>
          <a:p>
            <a:pPr marL="12700" marR="121920">
              <a:lnSpc>
                <a:spcPct val="100000"/>
              </a:lnSpc>
              <a:spcBef>
                <a:spcPts val="1685"/>
              </a:spcBef>
            </a:pP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* To express how much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time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has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past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since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the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beginning</a:t>
            </a:r>
            <a:r>
              <a:rPr sz="2000" b="1" spc="-9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001F5F"/>
                </a:solidFill>
                <a:latin typeface="Georgia"/>
                <a:cs typeface="Georgia"/>
              </a:rPr>
              <a:t>of 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the</a:t>
            </a:r>
            <a:r>
              <a:rPr sz="2000" b="1" spc="-2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Georgia"/>
                <a:cs typeface="Georgia"/>
              </a:rPr>
              <a:t>action</a:t>
            </a:r>
            <a:endParaRPr sz="2000" dirty="0">
              <a:latin typeface="Georgia"/>
              <a:cs typeface="Georgia"/>
            </a:endParaRPr>
          </a:p>
          <a:p>
            <a:pPr marL="372745" marR="178435">
              <a:lnSpc>
                <a:spcPct val="100000"/>
              </a:lnSpc>
              <a:spcBef>
                <a:spcPts val="875"/>
              </a:spcBef>
            </a:pP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I haven't </a:t>
            </a:r>
            <a:r>
              <a:rPr sz="2000" b="1" spc="-5" dirty="0">
                <a:solidFill>
                  <a:srgbClr val="006FC0"/>
                </a:solidFill>
                <a:latin typeface="Georgia"/>
                <a:cs typeface="Georgia"/>
              </a:rPr>
              <a:t>been </a:t>
            </a: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playing </a:t>
            </a:r>
            <a:r>
              <a:rPr sz="2000" b="1" spc="-5" dirty="0">
                <a:solidFill>
                  <a:srgbClr val="006FC0"/>
                </a:solidFill>
                <a:latin typeface="Georgia"/>
                <a:cs typeface="Georgia"/>
              </a:rPr>
              <a:t>that </a:t>
            </a: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game </a:t>
            </a:r>
            <a:r>
              <a:rPr sz="2000" b="1" spc="-5" dirty="0">
                <a:solidFill>
                  <a:srgbClr val="006FC0"/>
                </a:solidFill>
                <a:latin typeface="Georgia"/>
                <a:cs typeface="Georgia"/>
              </a:rPr>
              <a:t>for an </a:t>
            </a: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hour, </a:t>
            </a:r>
            <a:r>
              <a:rPr sz="2000" b="1" spc="-5" dirty="0">
                <a:solidFill>
                  <a:srgbClr val="006FC0"/>
                </a:solidFill>
                <a:latin typeface="Georgia"/>
                <a:cs typeface="Georgia"/>
              </a:rPr>
              <a:t>only for </a:t>
            </a:r>
            <a:r>
              <a:rPr sz="2000" b="1" dirty="0">
                <a:solidFill>
                  <a:srgbClr val="006FC0"/>
                </a:solidFill>
                <a:latin typeface="Georgia"/>
                <a:cs typeface="Georgia"/>
              </a:rPr>
              <a:t>10  minutes.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(Meaning: It's not even an hour ago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that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I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started to  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play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that</a:t>
            </a:r>
            <a:r>
              <a:rPr sz="2000" i="1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000" i="1" spc="-5" dirty="0">
                <a:solidFill>
                  <a:srgbClr val="006FC0"/>
                </a:solidFill>
                <a:latin typeface="Georgia"/>
                <a:cs typeface="Georgia"/>
              </a:rPr>
              <a:t>game.)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1523" y="1196759"/>
            <a:ext cx="2016252" cy="12251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709" y="322529"/>
            <a:ext cx="6780580" cy="892552"/>
          </a:xfrm>
        </p:spPr>
        <p:txBody>
          <a:bodyPr/>
          <a:lstStyle/>
          <a:p>
            <a:r>
              <a:rPr lang="en-US" u="sng" dirty="0"/>
              <a:t>Task 1: Choose the correct answer.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491" y="1466976"/>
            <a:ext cx="8132445" cy="4570482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Her eyes hurt because she </a:t>
            </a:r>
            <a:r>
              <a:rPr lang="en-US" sz="1800" u="sng" dirty="0"/>
              <a:t>has been looking/has looked </a:t>
            </a:r>
            <a:r>
              <a:rPr lang="en-US" sz="1800" dirty="0"/>
              <a:t>at that computer screen for hours.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I'm tired because I </a:t>
            </a:r>
            <a:r>
              <a:rPr lang="en-US" sz="1800" u="sng" dirty="0"/>
              <a:t>have not been having/have not had</a:t>
            </a:r>
            <a:r>
              <a:rPr lang="en-US" sz="1800" dirty="0"/>
              <a:t> holiday for ages.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It </a:t>
            </a:r>
            <a:r>
              <a:rPr lang="en-US" sz="1800" u="sng" dirty="0"/>
              <a:t>has been snowing/has snowed </a:t>
            </a:r>
            <a:r>
              <a:rPr lang="en-US" sz="1800" dirty="0"/>
              <a:t>for hours. If it continues we won't be able to go to school tomorrow.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I hope Tom's alright. We </a:t>
            </a:r>
            <a:r>
              <a:rPr lang="en-US" sz="1800" u="sng" dirty="0"/>
              <a:t>have not been seeing/have not seen</a:t>
            </a:r>
            <a:r>
              <a:rPr lang="en-US" sz="1800" dirty="0"/>
              <a:t> him recently.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The office is really busy. The phones </a:t>
            </a:r>
            <a:r>
              <a:rPr lang="en-US" sz="1800" u="sng" dirty="0"/>
              <a:t>have rung/have been ringing </a:t>
            </a:r>
            <a:r>
              <a:rPr lang="en-US" sz="1800" dirty="0"/>
              <a:t>all day.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u="sng" dirty="0"/>
              <a:t>Have you read/have you been reading</a:t>
            </a:r>
            <a:r>
              <a:rPr lang="en-US" sz="1800" dirty="0"/>
              <a:t> any of Alan Bennett's work?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They're tired because they </a:t>
            </a:r>
            <a:r>
              <a:rPr lang="en-US" sz="1800" u="sng" dirty="0"/>
              <a:t>have been cycling/have cycled </a:t>
            </a:r>
            <a:r>
              <a:rPr lang="en-US" sz="1800" dirty="0"/>
              <a:t>over thirty miles today.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/>
              <a:t>We </a:t>
            </a:r>
            <a:r>
              <a:rPr lang="en-US" sz="1800" u="sng" dirty="0"/>
              <a:t>have been waiting/have waited</a:t>
            </a:r>
            <a:r>
              <a:rPr lang="en-US" sz="1800" dirty="0"/>
              <a:t> for over half an hour and there's still no sign of the bus.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55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514600"/>
            <a:ext cx="8839200" cy="3877310"/>
          </a:xfrm>
          <a:custGeom>
            <a:avLst/>
            <a:gdLst/>
            <a:ahLst/>
            <a:cxnLst/>
            <a:rect l="l" t="t" r="r" b="b"/>
            <a:pathLst>
              <a:path w="8839200" h="3877310">
                <a:moveTo>
                  <a:pt x="0" y="3877055"/>
                </a:moveTo>
                <a:lnTo>
                  <a:pt x="8839200" y="3877055"/>
                </a:lnTo>
                <a:lnTo>
                  <a:pt x="8839200" y="0"/>
                </a:lnTo>
                <a:lnTo>
                  <a:pt x="0" y="0"/>
                </a:lnTo>
                <a:lnTo>
                  <a:pt x="0" y="3877055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6701218"/>
            <a:ext cx="8839200" cy="4445"/>
          </a:xfrm>
          <a:custGeom>
            <a:avLst/>
            <a:gdLst/>
            <a:ahLst/>
            <a:cxnLst/>
            <a:rect l="l" t="t" r="r" b="b"/>
            <a:pathLst>
              <a:path w="8839200" h="4445">
                <a:moveTo>
                  <a:pt x="0" y="4381"/>
                </a:moveTo>
                <a:lnTo>
                  <a:pt x="8839200" y="4381"/>
                </a:lnTo>
                <a:lnTo>
                  <a:pt x="8839200" y="0"/>
                </a:lnTo>
                <a:lnTo>
                  <a:pt x="0" y="0"/>
                </a:lnTo>
                <a:lnTo>
                  <a:pt x="0" y="4381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1600" y="2514600"/>
            <a:ext cx="152400" cy="4343400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8"/>
                </a:moveTo>
                <a:lnTo>
                  <a:pt x="152400" y="4343398"/>
                </a:lnTo>
                <a:lnTo>
                  <a:pt x="152400" y="0"/>
                </a:lnTo>
                <a:lnTo>
                  <a:pt x="0" y="0"/>
                </a:lnTo>
                <a:lnTo>
                  <a:pt x="0" y="43433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514600"/>
            <a:ext cx="152400" cy="4343400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9"/>
                </a:moveTo>
                <a:lnTo>
                  <a:pt x="152400" y="4343399"/>
                </a:lnTo>
                <a:lnTo>
                  <a:pt x="152400" y="0"/>
                </a:lnTo>
                <a:lnTo>
                  <a:pt x="0" y="0"/>
                </a:lnTo>
                <a:lnTo>
                  <a:pt x="0" y="4343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2514600"/>
          </a:xfrm>
          <a:custGeom>
            <a:avLst/>
            <a:gdLst/>
            <a:ahLst/>
            <a:cxnLst/>
            <a:rect l="l" t="t" r="r" b="b"/>
            <a:pathLst>
              <a:path w="9144000" h="2514600">
                <a:moveTo>
                  <a:pt x="0" y="2514600"/>
                </a:moveTo>
                <a:lnTo>
                  <a:pt x="9144000" y="2514600"/>
                </a:lnTo>
                <a:lnTo>
                  <a:pt x="9144000" y="0"/>
                </a:lnTo>
                <a:lnTo>
                  <a:pt x="0" y="0"/>
                </a:lnTo>
                <a:lnTo>
                  <a:pt x="0" y="2514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6304" y="6391655"/>
            <a:ext cx="8833485" cy="309880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0" y="309562"/>
                </a:moveTo>
                <a:lnTo>
                  <a:pt x="8833104" y="309562"/>
                </a:lnTo>
                <a:lnTo>
                  <a:pt x="8833104" y="0"/>
                </a:lnTo>
                <a:lnTo>
                  <a:pt x="0" y="0"/>
                </a:lnTo>
                <a:lnTo>
                  <a:pt x="0" y="309562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5447" y="2420111"/>
            <a:ext cx="8833485" cy="0"/>
          </a:xfrm>
          <a:custGeom>
            <a:avLst/>
            <a:gdLst/>
            <a:ahLst/>
            <a:cxnLst/>
            <a:rect l="l" t="t" r="r" b="b"/>
            <a:pathLst>
              <a:path w="8833485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12700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" y="152400"/>
            <a:ext cx="8833485" cy="6547484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12699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7200" y="211531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74" y="3990"/>
                </a:lnTo>
                <a:lnTo>
                  <a:pt x="208483" y="15544"/>
                </a:lnTo>
                <a:lnTo>
                  <a:pt x="164753" y="34032"/>
                </a:lnTo>
                <a:lnTo>
                  <a:pt x="124815" y="58826"/>
                </a:lnTo>
                <a:lnTo>
                  <a:pt x="89296" y="89296"/>
                </a:lnTo>
                <a:lnTo>
                  <a:pt x="58826" y="124815"/>
                </a:lnTo>
                <a:lnTo>
                  <a:pt x="34032" y="164753"/>
                </a:lnTo>
                <a:lnTo>
                  <a:pt x="15544" y="208483"/>
                </a:lnTo>
                <a:lnTo>
                  <a:pt x="3990" y="255374"/>
                </a:lnTo>
                <a:lnTo>
                  <a:pt x="0" y="304800"/>
                </a:lnTo>
                <a:lnTo>
                  <a:pt x="3990" y="354225"/>
                </a:lnTo>
                <a:lnTo>
                  <a:pt x="15544" y="401116"/>
                </a:lnTo>
                <a:lnTo>
                  <a:pt x="34032" y="444846"/>
                </a:lnTo>
                <a:lnTo>
                  <a:pt x="58826" y="484784"/>
                </a:lnTo>
                <a:lnTo>
                  <a:pt x="89296" y="520303"/>
                </a:lnTo>
                <a:lnTo>
                  <a:pt x="124815" y="550773"/>
                </a:lnTo>
                <a:lnTo>
                  <a:pt x="164753" y="575567"/>
                </a:lnTo>
                <a:lnTo>
                  <a:pt x="208483" y="594055"/>
                </a:lnTo>
                <a:lnTo>
                  <a:pt x="255374" y="605609"/>
                </a:lnTo>
                <a:lnTo>
                  <a:pt x="304800" y="609600"/>
                </a:lnTo>
                <a:lnTo>
                  <a:pt x="354225" y="605609"/>
                </a:lnTo>
                <a:lnTo>
                  <a:pt x="401116" y="594055"/>
                </a:lnTo>
                <a:lnTo>
                  <a:pt x="444846" y="575567"/>
                </a:lnTo>
                <a:lnTo>
                  <a:pt x="484784" y="550773"/>
                </a:lnTo>
                <a:lnTo>
                  <a:pt x="520303" y="520303"/>
                </a:lnTo>
                <a:lnTo>
                  <a:pt x="550773" y="484784"/>
                </a:lnTo>
                <a:lnTo>
                  <a:pt x="575567" y="444846"/>
                </a:lnTo>
                <a:lnTo>
                  <a:pt x="594055" y="401116"/>
                </a:lnTo>
                <a:lnTo>
                  <a:pt x="605609" y="354225"/>
                </a:lnTo>
                <a:lnTo>
                  <a:pt x="609600" y="304800"/>
                </a:lnTo>
                <a:lnTo>
                  <a:pt x="605609" y="255374"/>
                </a:lnTo>
                <a:lnTo>
                  <a:pt x="594055" y="208483"/>
                </a:lnTo>
                <a:lnTo>
                  <a:pt x="575567" y="164753"/>
                </a:lnTo>
                <a:lnTo>
                  <a:pt x="550773" y="124815"/>
                </a:lnTo>
                <a:lnTo>
                  <a:pt x="520303" y="89296"/>
                </a:lnTo>
                <a:lnTo>
                  <a:pt x="484784" y="58826"/>
                </a:lnTo>
                <a:lnTo>
                  <a:pt x="444846" y="34032"/>
                </a:lnTo>
                <a:lnTo>
                  <a:pt x="401116" y="15544"/>
                </a:lnTo>
                <a:lnTo>
                  <a:pt x="354225" y="3990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61688" y="2209800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5">
                <a:moveTo>
                  <a:pt x="210312" y="0"/>
                </a:moveTo>
                <a:lnTo>
                  <a:pt x="162072" y="5551"/>
                </a:lnTo>
                <a:lnTo>
                  <a:pt x="117798" y="21367"/>
                </a:lnTo>
                <a:lnTo>
                  <a:pt x="78750" y="46186"/>
                </a:lnTo>
                <a:lnTo>
                  <a:pt x="46186" y="78750"/>
                </a:lnTo>
                <a:lnTo>
                  <a:pt x="21367" y="117798"/>
                </a:lnTo>
                <a:lnTo>
                  <a:pt x="5551" y="162072"/>
                </a:lnTo>
                <a:lnTo>
                  <a:pt x="0" y="210312"/>
                </a:lnTo>
                <a:lnTo>
                  <a:pt x="5551" y="258551"/>
                </a:lnTo>
                <a:lnTo>
                  <a:pt x="21367" y="302825"/>
                </a:lnTo>
                <a:lnTo>
                  <a:pt x="46186" y="341873"/>
                </a:lnTo>
                <a:lnTo>
                  <a:pt x="78750" y="374437"/>
                </a:lnTo>
                <a:lnTo>
                  <a:pt x="117798" y="399256"/>
                </a:lnTo>
                <a:lnTo>
                  <a:pt x="162072" y="415072"/>
                </a:lnTo>
                <a:lnTo>
                  <a:pt x="210312" y="420624"/>
                </a:lnTo>
                <a:lnTo>
                  <a:pt x="258551" y="415072"/>
                </a:lnTo>
                <a:lnTo>
                  <a:pt x="302825" y="399256"/>
                </a:lnTo>
                <a:lnTo>
                  <a:pt x="341873" y="374437"/>
                </a:lnTo>
                <a:lnTo>
                  <a:pt x="374437" y="341873"/>
                </a:lnTo>
                <a:lnTo>
                  <a:pt x="399256" y="302825"/>
                </a:lnTo>
                <a:lnTo>
                  <a:pt x="415072" y="258551"/>
                </a:lnTo>
                <a:lnTo>
                  <a:pt x="420624" y="210312"/>
                </a:lnTo>
                <a:lnTo>
                  <a:pt x="415072" y="162072"/>
                </a:lnTo>
                <a:lnTo>
                  <a:pt x="399256" y="117798"/>
                </a:lnTo>
                <a:lnTo>
                  <a:pt x="374437" y="78750"/>
                </a:lnTo>
                <a:lnTo>
                  <a:pt x="341873" y="46186"/>
                </a:lnTo>
                <a:lnTo>
                  <a:pt x="302825" y="21367"/>
                </a:lnTo>
                <a:lnTo>
                  <a:pt x="258551" y="5551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36288" y="2184654"/>
            <a:ext cx="471805" cy="471170"/>
          </a:xfrm>
          <a:custGeom>
            <a:avLst/>
            <a:gdLst/>
            <a:ahLst/>
            <a:cxnLst/>
            <a:rect l="l" t="t" r="r" b="b"/>
            <a:pathLst>
              <a:path w="471804" h="471169">
                <a:moveTo>
                  <a:pt x="234441" y="0"/>
                </a:moveTo>
                <a:lnTo>
                  <a:pt x="187071" y="5080"/>
                </a:lnTo>
                <a:lnTo>
                  <a:pt x="142875" y="19050"/>
                </a:lnTo>
                <a:lnTo>
                  <a:pt x="102997" y="41910"/>
                </a:lnTo>
                <a:lnTo>
                  <a:pt x="68199" y="69850"/>
                </a:lnTo>
                <a:lnTo>
                  <a:pt x="39624" y="105410"/>
                </a:lnTo>
                <a:lnTo>
                  <a:pt x="18161" y="146050"/>
                </a:lnTo>
                <a:lnTo>
                  <a:pt x="4572" y="190500"/>
                </a:lnTo>
                <a:lnTo>
                  <a:pt x="0" y="237490"/>
                </a:lnTo>
                <a:lnTo>
                  <a:pt x="1397" y="261620"/>
                </a:lnTo>
                <a:lnTo>
                  <a:pt x="11049" y="307340"/>
                </a:lnTo>
                <a:lnTo>
                  <a:pt x="29083" y="349250"/>
                </a:lnTo>
                <a:lnTo>
                  <a:pt x="54610" y="387350"/>
                </a:lnTo>
                <a:lnTo>
                  <a:pt x="86740" y="419100"/>
                </a:lnTo>
                <a:lnTo>
                  <a:pt x="124460" y="444500"/>
                </a:lnTo>
                <a:lnTo>
                  <a:pt x="166877" y="461010"/>
                </a:lnTo>
                <a:lnTo>
                  <a:pt x="212978" y="471170"/>
                </a:lnTo>
                <a:lnTo>
                  <a:pt x="236982" y="471170"/>
                </a:lnTo>
                <a:lnTo>
                  <a:pt x="261112" y="469900"/>
                </a:lnTo>
                <a:lnTo>
                  <a:pt x="284352" y="467360"/>
                </a:lnTo>
                <a:lnTo>
                  <a:pt x="306959" y="461010"/>
                </a:lnTo>
                <a:lnTo>
                  <a:pt x="322471" y="454660"/>
                </a:lnTo>
                <a:lnTo>
                  <a:pt x="236092" y="454660"/>
                </a:lnTo>
                <a:lnTo>
                  <a:pt x="213740" y="453390"/>
                </a:lnTo>
                <a:lnTo>
                  <a:pt x="171069" y="444500"/>
                </a:lnTo>
                <a:lnTo>
                  <a:pt x="131825" y="429260"/>
                </a:lnTo>
                <a:lnTo>
                  <a:pt x="96900" y="405130"/>
                </a:lnTo>
                <a:lnTo>
                  <a:pt x="67183" y="375920"/>
                </a:lnTo>
                <a:lnTo>
                  <a:pt x="43561" y="340360"/>
                </a:lnTo>
                <a:lnTo>
                  <a:pt x="26924" y="302260"/>
                </a:lnTo>
                <a:lnTo>
                  <a:pt x="18034" y="259080"/>
                </a:lnTo>
                <a:lnTo>
                  <a:pt x="16954" y="237490"/>
                </a:lnTo>
                <a:lnTo>
                  <a:pt x="16958" y="234950"/>
                </a:lnTo>
                <a:lnTo>
                  <a:pt x="21336" y="191770"/>
                </a:lnTo>
                <a:lnTo>
                  <a:pt x="34036" y="151130"/>
                </a:lnTo>
                <a:lnTo>
                  <a:pt x="54101" y="114300"/>
                </a:lnTo>
                <a:lnTo>
                  <a:pt x="80772" y="81280"/>
                </a:lnTo>
                <a:lnTo>
                  <a:pt x="113157" y="54610"/>
                </a:lnTo>
                <a:lnTo>
                  <a:pt x="150240" y="34290"/>
                </a:lnTo>
                <a:lnTo>
                  <a:pt x="191262" y="21590"/>
                </a:lnTo>
                <a:lnTo>
                  <a:pt x="235331" y="17780"/>
                </a:lnTo>
                <a:lnTo>
                  <a:pt x="323269" y="17780"/>
                </a:lnTo>
                <a:lnTo>
                  <a:pt x="304546" y="10160"/>
                </a:lnTo>
                <a:lnTo>
                  <a:pt x="281939" y="5080"/>
                </a:lnTo>
                <a:lnTo>
                  <a:pt x="258445" y="1270"/>
                </a:lnTo>
                <a:lnTo>
                  <a:pt x="234441" y="0"/>
                </a:lnTo>
                <a:close/>
              </a:path>
              <a:path w="471804" h="471169">
                <a:moveTo>
                  <a:pt x="323269" y="17780"/>
                </a:moveTo>
                <a:lnTo>
                  <a:pt x="235331" y="17780"/>
                </a:lnTo>
                <a:lnTo>
                  <a:pt x="257683" y="19050"/>
                </a:lnTo>
                <a:lnTo>
                  <a:pt x="279400" y="21590"/>
                </a:lnTo>
                <a:lnTo>
                  <a:pt x="320548" y="34290"/>
                </a:lnTo>
                <a:lnTo>
                  <a:pt x="357759" y="54610"/>
                </a:lnTo>
                <a:lnTo>
                  <a:pt x="390144" y="81280"/>
                </a:lnTo>
                <a:lnTo>
                  <a:pt x="416940" y="113030"/>
                </a:lnTo>
                <a:lnTo>
                  <a:pt x="437134" y="151130"/>
                </a:lnTo>
                <a:lnTo>
                  <a:pt x="449961" y="191770"/>
                </a:lnTo>
                <a:lnTo>
                  <a:pt x="454469" y="234950"/>
                </a:lnTo>
                <a:lnTo>
                  <a:pt x="454465" y="237490"/>
                </a:lnTo>
                <a:lnTo>
                  <a:pt x="450088" y="279400"/>
                </a:lnTo>
                <a:lnTo>
                  <a:pt x="437514" y="321310"/>
                </a:lnTo>
                <a:lnTo>
                  <a:pt x="417322" y="358140"/>
                </a:lnTo>
                <a:lnTo>
                  <a:pt x="390778" y="391160"/>
                </a:lnTo>
                <a:lnTo>
                  <a:pt x="358394" y="417830"/>
                </a:lnTo>
                <a:lnTo>
                  <a:pt x="321310" y="438150"/>
                </a:lnTo>
                <a:lnTo>
                  <a:pt x="280162" y="450850"/>
                </a:lnTo>
                <a:lnTo>
                  <a:pt x="236092" y="454660"/>
                </a:lnTo>
                <a:lnTo>
                  <a:pt x="322471" y="454660"/>
                </a:lnTo>
                <a:lnTo>
                  <a:pt x="368553" y="430530"/>
                </a:lnTo>
                <a:lnTo>
                  <a:pt x="403351" y="401320"/>
                </a:lnTo>
                <a:lnTo>
                  <a:pt x="431800" y="367030"/>
                </a:lnTo>
                <a:lnTo>
                  <a:pt x="453389" y="326390"/>
                </a:lnTo>
                <a:lnTo>
                  <a:pt x="466851" y="281940"/>
                </a:lnTo>
                <a:lnTo>
                  <a:pt x="471424" y="234950"/>
                </a:lnTo>
                <a:lnTo>
                  <a:pt x="470026" y="210820"/>
                </a:lnTo>
                <a:lnTo>
                  <a:pt x="460501" y="165100"/>
                </a:lnTo>
                <a:lnTo>
                  <a:pt x="442340" y="123190"/>
                </a:lnTo>
                <a:lnTo>
                  <a:pt x="416813" y="85090"/>
                </a:lnTo>
                <a:lnTo>
                  <a:pt x="384683" y="53340"/>
                </a:lnTo>
                <a:lnTo>
                  <a:pt x="347090" y="27940"/>
                </a:lnTo>
                <a:lnTo>
                  <a:pt x="326389" y="19050"/>
                </a:lnTo>
                <a:lnTo>
                  <a:pt x="323269" y="17780"/>
                </a:lnTo>
                <a:close/>
              </a:path>
              <a:path w="471804" h="471169">
                <a:moveTo>
                  <a:pt x="236092" y="34290"/>
                </a:moveTo>
                <a:lnTo>
                  <a:pt x="195452" y="38100"/>
                </a:lnTo>
                <a:lnTo>
                  <a:pt x="157607" y="49530"/>
                </a:lnTo>
                <a:lnTo>
                  <a:pt x="123189" y="68580"/>
                </a:lnTo>
                <a:lnTo>
                  <a:pt x="93345" y="92710"/>
                </a:lnTo>
                <a:lnTo>
                  <a:pt x="68579" y="123190"/>
                </a:lnTo>
                <a:lnTo>
                  <a:pt x="49911" y="157480"/>
                </a:lnTo>
                <a:lnTo>
                  <a:pt x="38100" y="194310"/>
                </a:lnTo>
                <a:lnTo>
                  <a:pt x="33968" y="234950"/>
                </a:lnTo>
                <a:lnTo>
                  <a:pt x="33964" y="237490"/>
                </a:lnTo>
                <a:lnTo>
                  <a:pt x="34798" y="256540"/>
                </a:lnTo>
                <a:lnTo>
                  <a:pt x="42799" y="295910"/>
                </a:lnTo>
                <a:lnTo>
                  <a:pt x="58038" y="331470"/>
                </a:lnTo>
                <a:lnTo>
                  <a:pt x="79628" y="364490"/>
                </a:lnTo>
                <a:lnTo>
                  <a:pt x="107061" y="391160"/>
                </a:lnTo>
                <a:lnTo>
                  <a:pt x="139191" y="412750"/>
                </a:lnTo>
                <a:lnTo>
                  <a:pt x="175387" y="429260"/>
                </a:lnTo>
                <a:lnTo>
                  <a:pt x="214629" y="436880"/>
                </a:lnTo>
                <a:lnTo>
                  <a:pt x="235331" y="438150"/>
                </a:lnTo>
                <a:lnTo>
                  <a:pt x="255904" y="436880"/>
                </a:lnTo>
                <a:lnTo>
                  <a:pt x="275971" y="434340"/>
                </a:lnTo>
                <a:lnTo>
                  <a:pt x="295401" y="429260"/>
                </a:lnTo>
                <a:lnTo>
                  <a:pt x="313944" y="422910"/>
                </a:lnTo>
                <a:lnTo>
                  <a:pt x="318987" y="420370"/>
                </a:lnTo>
                <a:lnTo>
                  <a:pt x="215391" y="420370"/>
                </a:lnTo>
                <a:lnTo>
                  <a:pt x="179577" y="412750"/>
                </a:lnTo>
                <a:lnTo>
                  <a:pt x="131445" y="388620"/>
                </a:lnTo>
                <a:lnTo>
                  <a:pt x="92201" y="353060"/>
                </a:lnTo>
                <a:lnTo>
                  <a:pt x="64897" y="307340"/>
                </a:lnTo>
                <a:lnTo>
                  <a:pt x="51562" y="254000"/>
                </a:lnTo>
                <a:lnTo>
                  <a:pt x="50800" y="234950"/>
                </a:lnTo>
                <a:lnTo>
                  <a:pt x="51815" y="215900"/>
                </a:lnTo>
                <a:lnTo>
                  <a:pt x="65786" y="162560"/>
                </a:lnTo>
                <a:lnTo>
                  <a:pt x="93725" y="118110"/>
                </a:lnTo>
                <a:lnTo>
                  <a:pt x="133350" y="82550"/>
                </a:lnTo>
                <a:lnTo>
                  <a:pt x="181990" y="58420"/>
                </a:lnTo>
                <a:lnTo>
                  <a:pt x="236982" y="50800"/>
                </a:lnTo>
                <a:lnTo>
                  <a:pt x="314706" y="50800"/>
                </a:lnTo>
                <a:lnTo>
                  <a:pt x="296163" y="43180"/>
                </a:lnTo>
                <a:lnTo>
                  <a:pt x="276860" y="38100"/>
                </a:lnTo>
                <a:lnTo>
                  <a:pt x="256794" y="35560"/>
                </a:lnTo>
                <a:lnTo>
                  <a:pt x="236092" y="34290"/>
                </a:lnTo>
                <a:close/>
              </a:path>
              <a:path w="471804" h="471169">
                <a:moveTo>
                  <a:pt x="314706" y="50800"/>
                </a:moveTo>
                <a:lnTo>
                  <a:pt x="236982" y="50800"/>
                </a:lnTo>
                <a:lnTo>
                  <a:pt x="256032" y="52070"/>
                </a:lnTo>
                <a:lnTo>
                  <a:pt x="274192" y="54610"/>
                </a:lnTo>
                <a:lnTo>
                  <a:pt x="324992" y="73660"/>
                </a:lnTo>
                <a:lnTo>
                  <a:pt x="367411" y="106680"/>
                </a:lnTo>
                <a:lnTo>
                  <a:pt x="399034" y="148590"/>
                </a:lnTo>
                <a:lnTo>
                  <a:pt x="417067" y="200660"/>
                </a:lnTo>
                <a:lnTo>
                  <a:pt x="420624" y="237490"/>
                </a:lnTo>
                <a:lnTo>
                  <a:pt x="419608" y="256540"/>
                </a:lnTo>
                <a:lnTo>
                  <a:pt x="405638" y="308610"/>
                </a:lnTo>
                <a:lnTo>
                  <a:pt x="377698" y="354330"/>
                </a:lnTo>
                <a:lnTo>
                  <a:pt x="338200" y="389890"/>
                </a:lnTo>
                <a:lnTo>
                  <a:pt x="289560" y="412750"/>
                </a:lnTo>
                <a:lnTo>
                  <a:pt x="253364" y="420370"/>
                </a:lnTo>
                <a:lnTo>
                  <a:pt x="318987" y="420370"/>
                </a:lnTo>
                <a:lnTo>
                  <a:pt x="363854" y="392430"/>
                </a:lnTo>
                <a:lnTo>
                  <a:pt x="391287" y="364490"/>
                </a:lnTo>
                <a:lnTo>
                  <a:pt x="413003" y="332740"/>
                </a:lnTo>
                <a:lnTo>
                  <a:pt x="428371" y="295910"/>
                </a:lnTo>
                <a:lnTo>
                  <a:pt x="436499" y="257810"/>
                </a:lnTo>
                <a:lnTo>
                  <a:pt x="437459" y="234950"/>
                </a:lnTo>
                <a:lnTo>
                  <a:pt x="436625" y="215900"/>
                </a:lnTo>
                <a:lnTo>
                  <a:pt x="428625" y="176530"/>
                </a:lnTo>
                <a:lnTo>
                  <a:pt x="413512" y="139700"/>
                </a:lnTo>
                <a:lnTo>
                  <a:pt x="391795" y="107950"/>
                </a:lnTo>
                <a:lnTo>
                  <a:pt x="364489" y="80010"/>
                </a:lnTo>
                <a:lnTo>
                  <a:pt x="332359" y="58420"/>
                </a:lnTo>
                <a:lnTo>
                  <a:pt x="314706" y="50800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85801" y="804612"/>
            <a:ext cx="7836738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112395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Task 2</a:t>
            </a:r>
            <a:r>
              <a:rPr spc="-5" dirty="0" smtClean="0"/>
              <a:t> </a:t>
            </a:r>
            <a:r>
              <a:rPr dirty="0" smtClean="0"/>
              <a:t>:</a:t>
            </a:r>
            <a:r>
              <a:rPr lang="en-US" dirty="0" smtClean="0"/>
              <a:t> CHOOSE </a:t>
            </a:r>
            <a:r>
              <a:rPr dirty="0" smtClean="0"/>
              <a:t>PRESENT </a:t>
            </a:r>
            <a:r>
              <a:rPr dirty="0"/>
              <a:t>PERFECT OR </a:t>
            </a:r>
            <a:r>
              <a:rPr dirty="0" smtClean="0"/>
              <a:t> PRESENT </a:t>
            </a:r>
            <a:r>
              <a:rPr dirty="0"/>
              <a:t>PERFECT</a:t>
            </a:r>
            <a:r>
              <a:rPr spc="-114" dirty="0"/>
              <a:t> </a:t>
            </a:r>
            <a:r>
              <a:rPr lang="en-US" spc="-5" dirty="0" smtClean="0"/>
              <a:t>PROGRESSIVE</a:t>
            </a:r>
            <a:endParaRPr spc="-5" dirty="0"/>
          </a:p>
        </p:txBody>
      </p:sp>
      <p:sp>
        <p:nvSpPr>
          <p:cNvPr id="15" name="object 15"/>
          <p:cNvSpPr txBox="1"/>
          <p:nvPr/>
        </p:nvSpPr>
        <p:spPr>
          <a:xfrm>
            <a:off x="1122375" y="2563495"/>
            <a:ext cx="6209665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49300" indent="-342900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55600" algn="l"/>
                <a:tab pos="356235" algn="l"/>
                <a:tab pos="3427095" algn="l"/>
              </a:tabLst>
            </a:pP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This evening</a:t>
            </a:r>
            <a:r>
              <a:rPr sz="1800" b="1" spc="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I</a:t>
            </a:r>
            <a:r>
              <a:rPr sz="1800" b="1" u="heavy" dirty="0">
                <a:solidFill>
                  <a:srgbClr val="001F5F"/>
                </a:solidFill>
                <a:uFill>
                  <a:solidFill>
                    <a:srgbClr val="001E5E"/>
                  </a:solidFill>
                </a:uFill>
                <a:latin typeface="Georgia"/>
                <a:cs typeface="Georgia"/>
              </a:rPr>
              <a:t> 	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two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letters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to my  parents (to</a:t>
            </a:r>
            <a:r>
              <a:rPr sz="1800" b="1" spc="-3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write)</a:t>
            </a:r>
            <a:endParaRPr sz="1800" dirty="0">
              <a:latin typeface="Georgia"/>
              <a:cs typeface="Georgia"/>
            </a:endParaRPr>
          </a:p>
          <a:p>
            <a:pPr marL="355600" marR="43180" indent="-342900">
              <a:lnSpc>
                <a:spcPct val="100000"/>
              </a:lnSpc>
              <a:buAutoNum type="arabicParenR"/>
              <a:tabLst>
                <a:tab pos="356235" algn="l"/>
                <a:tab pos="3307079" algn="l"/>
              </a:tabLst>
            </a:pP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My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daughter</a:t>
            </a:r>
            <a:r>
              <a:rPr sz="1800" b="1" u="heavy" dirty="0">
                <a:solidFill>
                  <a:srgbClr val="001F5F"/>
                </a:solidFill>
                <a:uFill>
                  <a:solidFill>
                    <a:srgbClr val="001E5E"/>
                  </a:solidFill>
                </a:uFill>
                <a:latin typeface="Georgia"/>
                <a:cs typeface="Georgia"/>
              </a:rPr>
              <a:t> 	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letters to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her friends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for 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hours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(to write)</a:t>
            </a:r>
            <a:endParaRPr sz="1800" dirty="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buAutoNum type="arabicParenR"/>
              <a:tabLst>
                <a:tab pos="356235" algn="l"/>
                <a:tab pos="3157855" algn="l"/>
              </a:tabLst>
            </a:pP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Today</a:t>
            </a:r>
            <a:r>
              <a:rPr sz="1800" b="1" spc="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Lucy</a:t>
            </a:r>
            <a:r>
              <a:rPr sz="1800" b="1" u="heavy" dirty="0">
                <a:solidFill>
                  <a:srgbClr val="001F5F"/>
                </a:solidFill>
                <a:uFill>
                  <a:solidFill>
                    <a:srgbClr val="001E5E"/>
                  </a:solidFill>
                </a:uFill>
                <a:latin typeface="Georgia"/>
                <a:cs typeface="Georgia"/>
              </a:rPr>
              <a:t> 	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her </a:t>
            </a:r>
            <a:r>
              <a:rPr sz="1800" b="1" spc="-5" dirty="0" smtClean="0">
                <a:solidFill>
                  <a:srgbClr val="001F5F"/>
                </a:solidFill>
                <a:latin typeface="Georgia"/>
                <a:cs typeface="Georgia"/>
              </a:rPr>
              <a:t>b</a:t>
            </a:r>
            <a:r>
              <a:rPr lang="en-US" sz="1800" b="1" spc="-5" dirty="0" smtClean="0">
                <a:solidFill>
                  <a:srgbClr val="001F5F"/>
                </a:solidFill>
                <a:latin typeface="Georgia"/>
                <a:cs typeface="Georgia"/>
              </a:rPr>
              <a:t>est </a:t>
            </a:r>
            <a:r>
              <a:rPr sz="1800" b="1" spc="-5" dirty="0" smtClean="0">
                <a:solidFill>
                  <a:srgbClr val="001F5F"/>
                </a:solidFill>
                <a:latin typeface="Georgia"/>
                <a:cs typeface="Georgia"/>
              </a:rPr>
              <a:t>friend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three</a:t>
            </a:r>
            <a:endParaRPr sz="1800" dirty="0">
              <a:latin typeface="Georgia"/>
              <a:cs typeface="Georgia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times (to</a:t>
            </a:r>
            <a:r>
              <a:rPr sz="1800" b="1" spc="-2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lang="en-US" b="1" spc="-5" dirty="0" smtClean="0">
                <a:solidFill>
                  <a:srgbClr val="001F5F"/>
                </a:solidFill>
                <a:latin typeface="Georgia"/>
                <a:cs typeface="Georgia"/>
              </a:rPr>
              <a:t>call</a:t>
            </a:r>
            <a:r>
              <a:rPr sz="1800" b="1" spc="-5" dirty="0" smtClean="0">
                <a:solidFill>
                  <a:srgbClr val="001F5F"/>
                </a:solidFill>
                <a:latin typeface="Georgia"/>
                <a:cs typeface="Georgia"/>
              </a:rPr>
              <a:t>)</a:t>
            </a:r>
            <a:endParaRPr sz="1800" dirty="0">
              <a:latin typeface="Georgia"/>
              <a:cs typeface="Georgia"/>
            </a:endParaRPr>
          </a:p>
          <a:p>
            <a:pPr marL="355600" marR="711200" indent="-342900">
              <a:lnSpc>
                <a:spcPct val="100000"/>
              </a:lnSpc>
              <a:buAutoNum type="arabicParenR" startAt="4"/>
              <a:tabLst>
                <a:tab pos="356235" algn="l"/>
                <a:tab pos="3045460" algn="l"/>
              </a:tabLst>
            </a:pP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My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friends</a:t>
            </a:r>
            <a:r>
              <a:rPr sz="1800" b="1" u="heavy" dirty="0">
                <a:solidFill>
                  <a:srgbClr val="001F5F"/>
                </a:solidFill>
                <a:uFill>
                  <a:solidFill>
                    <a:srgbClr val="001E5E"/>
                  </a:solidFill>
                </a:uFill>
                <a:latin typeface="Georgia"/>
                <a:cs typeface="Georgia"/>
              </a:rPr>
              <a:t> 	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around Italy for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five 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months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(to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travel)</a:t>
            </a:r>
            <a:endParaRPr sz="1800" dirty="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buAutoNum type="arabicParenR" startAt="4"/>
              <a:tabLst>
                <a:tab pos="356235" algn="l"/>
                <a:tab pos="1854200" algn="l"/>
              </a:tabLst>
            </a:pP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I</a:t>
            </a:r>
            <a:r>
              <a:rPr sz="1800" b="1" u="heavy" dirty="0">
                <a:solidFill>
                  <a:srgbClr val="001F5F"/>
                </a:solidFill>
                <a:uFill>
                  <a:solidFill>
                    <a:srgbClr val="001E5E"/>
                  </a:solidFill>
                </a:uFill>
                <a:latin typeface="Georgia"/>
                <a:cs typeface="Georgia"/>
              </a:rPr>
              <a:t> 	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to music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all evening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(to</a:t>
            </a:r>
            <a:r>
              <a:rPr sz="1800" b="1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listen)</a:t>
            </a:r>
            <a:endParaRPr sz="1800" dirty="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buAutoNum type="arabicParenR" startAt="4"/>
              <a:tabLst>
                <a:tab pos="356235" algn="l"/>
                <a:tab pos="1854200" algn="l"/>
              </a:tabLst>
            </a:pP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I</a:t>
            </a:r>
            <a:r>
              <a:rPr sz="1800" b="1" u="heavy" dirty="0">
                <a:solidFill>
                  <a:srgbClr val="001F5F"/>
                </a:solidFill>
                <a:uFill>
                  <a:solidFill>
                    <a:srgbClr val="001E5E"/>
                  </a:solidFill>
                </a:uFill>
                <a:latin typeface="Georgia"/>
                <a:cs typeface="Georgia"/>
              </a:rPr>
              <a:t> 	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English since </a:t>
            </a:r>
            <a:r>
              <a:rPr sz="1800" b="1" dirty="0">
                <a:solidFill>
                  <a:srgbClr val="001F5F"/>
                </a:solidFill>
                <a:latin typeface="Georgia"/>
                <a:cs typeface="Georgia"/>
              </a:rPr>
              <a:t>I was a child (to</a:t>
            </a:r>
            <a:r>
              <a:rPr sz="1800" b="1" spc="-7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Georgia"/>
                <a:cs typeface="Georgia"/>
              </a:rPr>
              <a:t>learn</a:t>
            </a:r>
            <a:r>
              <a:rPr sz="1800" b="1" spc="-5" dirty="0" smtClean="0">
                <a:solidFill>
                  <a:srgbClr val="001F5F"/>
                </a:solidFill>
                <a:latin typeface="Georgia"/>
                <a:cs typeface="Georgia"/>
              </a:rPr>
              <a:t>)</a:t>
            </a:r>
            <a:endParaRPr lang="en-US" sz="1800" b="1" spc="-5" dirty="0" smtClean="0">
              <a:solidFill>
                <a:srgbClr val="001F5F"/>
              </a:solidFill>
              <a:latin typeface="Georgia"/>
              <a:cs typeface="Georgia"/>
            </a:endParaRPr>
          </a:p>
          <a:p>
            <a:pPr marL="355600" lvl="0" indent="-342900">
              <a:buFontTx/>
              <a:buAutoNum type="arabicParenR" startAt="4"/>
              <a:tabLst>
                <a:tab pos="356235" algn="l"/>
                <a:tab pos="1854200" algn="l"/>
              </a:tabLst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Such a pleasant weather!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It ___________since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yesterday (to  rain)</a:t>
            </a:r>
          </a:p>
          <a:p>
            <a:pPr marL="355600" indent="-342900">
              <a:lnSpc>
                <a:spcPct val="100000"/>
              </a:lnSpc>
              <a:buAutoNum type="arabicParenR" startAt="4"/>
              <a:tabLst>
                <a:tab pos="356235" algn="l"/>
                <a:tab pos="1854200" algn="l"/>
              </a:tabLst>
            </a:pPr>
            <a:endParaRPr sz="1800" dirty="0">
              <a:latin typeface="Georgia" pitchFamily="18" charset="0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24368" y="3140964"/>
            <a:ext cx="1512188" cy="18158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511</Words>
  <Application>Microsoft Office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Georgia</vt:lpstr>
      <vt:lpstr>Times New Roman</vt:lpstr>
      <vt:lpstr>Wingdings 2</vt:lpstr>
      <vt:lpstr>Office Theme</vt:lpstr>
      <vt:lpstr>PRESENT PERFECT versus  PRESENT PERFECT  PROGRESSIVE</vt:lpstr>
      <vt:lpstr>PRESENT PERFECT CONTINOUS</vt:lpstr>
      <vt:lpstr>PRESENT PERFECT</vt:lpstr>
      <vt:lpstr>PowerPoint Presentation</vt:lpstr>
      <vt:lpstr>COMPARISON BETWEEN PRESENT PERFECT AND  PRESENT PERFECT PROGRESSIVE</vt:lpstr>
      <vt:lpstr>COMPARISON BETWEEN PRESENT PERFECT  AND PRESENT PERFECT PROGRESSIVE</vt:lpstr>
      <vt:lpstr>Task 1: Choose the correct answer. </vt:lpstr>
      <vt:lpstr>Task 2 : CHOOSE PRESENT PERFECT OR  PRESENT PERFECT PROGRESSIVE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PERFECT versus  PRESENT PERFECT  CONTINUOUS</dc:title>
  <cp:lastModifiedBy>Hassan</cp:lastModifiedBy>
  <cp:revision>6</cp:revision>
  <dcterms:created xsi:type="dcterms:W3CDTF">2018-10-21T16:26:13Z</dcterms:created>
  <dcterms:modified xsi:type="dcterms:W3CDTF">2022-12-12T15:00:09Z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2012-09-11T00:00:00Z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2018-10-21T00:00:00Z</vt:filetime>
  </property>
</Properties>
</file>