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3" r:id="rId5"/>
    <p:sldId id="265" r:id="rId6"/>
    <p:sldId id="260" r:id="rId7"/>
    <p:sldId id="261" r:id="rId8"/>
    <p:sldId id="262" r:id="rId9"/>
    <p:sldId id="264"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E7A89BF6-B81B-417C-A3DE-ED772656E449}"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36152132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7A89BF6-B81B-417C-A3DE-ED772656E449}"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1256090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7A89BF6-B81B-417C-A3DE-ED772656E449}"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658236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E7A89BF6-B81B-417C-A3DE-ED772656E449}"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4118261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E7A89BF6-B81B-417C-A3DE-ED772656E449}" type="datetimeFigureOut">
              <a:rPr lang="en-GB" smtClean="0"/>
              <a:t>03/01/2026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2657613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E7A89BF6-B81B-417C-A3DE-ED772656E449}" type="datetimeFigureOut">
              <a:rPr lang="en-GB" smtClean="0"/>
              <a:t>03/01/2026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1996313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89BF6-B81B-417C-A3DE-ED772656E449}" type="datetimeFigureOut">
              <a:rPr lang="en-GB" smtClean="0"/>
              <a:t>03/01/2026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2297662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A89BF6-B81B-417C-A3DE-ED772656E449}"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2346515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7A89BF6-B81B-417C-A3DE-ED772656E449}" type="datetimeFigureOut">
              <a:rPr lang="en-GB" smtClean="0"/>
              <a:t>03/01/2026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27546958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7A89BF6-B81B-417C-A3DE-ED772656E449}"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347947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E7A89BF6-B81B-417C-A3DE-ED772656E449}" type="datetimeFigureOut">
              <a:rPr lang="en-GB" smtClean="0"/>
              <a:t>03/01/2026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25AC09F-512C-4B1F-B694-C9DCECB378EE}" type="slidenum">
              <a:rPr lang="en-GB" smtClean="0"/>
              <a:t>‹#›</a:t>
            </a:fld>
            <a:endParaRPr lang="en-GB"/>
          </a:p>
        </p:txBody>
      </p:sp>
    </p:spTree>
    <p:extLst>
      <p:ext uri="{BB962C8B-B14F-4D97-AF65-F5344CB8AC3E}">
        <p14:creationId xmlns:p14="http://schemas.microsoft.com/office/powerpoint/2010/main" val="10349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A89BF6-B81B-417C-A3DE-ED772656E449}" type="datetimeFigureOut">
              <a:rPr lang="en-GB" smtClean="0"/>
              <a:t>03/01/2026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25AC09F-512C-4B1F-B694-C9DCECB378EE}" type="slidenum">
              <a:rPr lang="en-GB" smtClean="0"/>
              <a:t>‹#›</a:t>
            </a:fld>
            <a:endParaRPr lang="en-GB"/>
          </a:p>
        </p:txBody>
      </p:sp>
    </p:spTree>
    <p:extLst>
      <p:ext uri="{BB962C8B-B14F-4D97-AF65-F5344CB8AC3E}">
        <p14:creationId xmlns:p14="http://schemas.microsoft.com/office/powerpoint/2010/main" val="35664404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smtClean="0"/>
              <a:t>Data Transmission in IICT</a:t>
            </a:r>
            <a:endParaRPr lang="en-GB" dirty="0"/>
          </a:p>
        </p:txBody>
      </p:sp>
      <p:sp>
        <p:nvSpPr>
          <p:cNvPr id="3" name="Subtitle 2"/>
          <p:cNvSpPr>
            <a:spLocks noGrp="1"/>
          </p:cNvSpPr>
          <p:nvPr>
            <p:ph type="subTitle" idx="1"/>
          </p:nvPr>
        </p:nvSpPr>
        <p:spPr/>
        <p:txBody>
          <a:bodyPr/>
          <a:lstStyle/>
          <a:p>
            <a:r>
              <a:rPr lang="en-GB" dirty="0" smtClean="0"/>
              <a:t>1</a:t>
            </a:r>
            <a:r>
              <a:rPr lang="en-GB" baseline="30000" dirty="0" smtClean="0"/>
              <a:t>st</a:t>
            </a:r>
            <a:r>
              <a:rPr lang="en-GB" dirty="0" smtClean="0"/>
              <a:t> Semester, 1</a:t>
            </a:r>
            <a:r>
              <a:rPr lang="en-GB" baseline="30000" dirty="0" smtClean="0"/>
              <a:t>st</a:t>
            </a:r>
            <a:r>
              <a:rPr lang="en-GB" dirty="0" smtClean="0"/>
              <a:t> Year,</a:t>
            </a:r>
          </a:p>
          <a:p>
            <a:r>
              <a:rPr lang="en-GB" dirty="0" smtClean="0"/>
              <a:t>BS (Artificial Intelligence)</a:t>
            </a:r>
          </a:p>
          <a:p>
            <a:endParaRPr lang="en-GB" dirty="0"/>
          </a:p>
        </p:txBody>
      </p:sp>
    </p:spTree>
    <p:extLst>
      <p:ext uri="{BB962C8B-B14F-4D97-AF65-F5344CB8AC3E}">
        <p14:creationId xmlns:p14="http://schemas.microsoft.com/office/powerpoint/2010/main" val="3240659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596980"/>
            <a:ext cx="10315977" cy="4572000"/>
          </a:xfrm>
        </p:spPr>
        <p:txBody>
          <a:bodyPr>
            <a:normAutofit fontScale="92500" lnSpcReduction="10000"/>
          </a:bodyPr>
          <a:lstStyle/>
          <a:p>
            <a:pPr algn="l"/>
            <a:endParaRPr lang="en-GB" b="1" dirty="0" smtClean="0"/>
          </a:p>
          <a:p>
            <a:pPr algn="l"/>
            <a:r>
              <a:rPr lang="en-GB" b="1" dirty="0" smtClean="0"/>
              <a:t>Definition</a:t>
            </a:r>
            <a:r>
              <a:rPr lang="en-GB" b="1" dirty="0"/>
              <a:t>:</a:t>
            </a:r>
            <a:r>
              <a:rPr lang="en-GB" dirty="0"/>
              <a:t> Data transmission is the transfer of data between digital devices via a transmission medium, such as a wire cable or wireless signals</a:t>
            </a:r>
            <a:r>
              <a:rPr lang="en-GB" dirty="0" smtClean="0"/>
              <a:t>.</a:t>
            </a:r>
          </a:p>
          <a:p>
            <a:pPr algn="l"/>
            <a:r>
              <a:rPr lang="en-GB" b="1" dirty="0"/>
              <a:t>Key Concepts</a:t>
            </a:r>
          </a:p>
          <a:p>
            <a:pPr algn="l"/>
            <a:r>
              <a:rPr lang="en-GB" b="1" dirty="0"/>
              <a:t>Data:</a:t>
            </a:r>
            <a:r>
              <a:rPr lang="en-GB" dirty="0"/>
              <a:t> Digital information (bits) moving between devices (computers, phones, servers).</a:t>
            </a:r>
          </a:p>
          <a:p>
            <a:pPr algn="l"/>
            <a:r>
              <a:rPr lang="en-GB" b="1" dirty="0"/>
              <a:t>Transmission Medium:</a:t>
            </a:r>
            <a:r>
              <a:rPr lang="en-GB" dirty="0"/>
              <a:t> The physical path (cables, </a:t>
            </a:r>
            <a:r>
              <a:rPr lang="en-GB" dirty="0" err="1"/>
              <a:t>fiber</a:t>
            </a:r>
            <a:r>
              <a:rPr lang="en-GB" dirty="0"/>
              <a:t> optics, radio waves) or wireless channel used for transfer.</a:t>
            </a:r>
          </a:p>
          <a:p>
            <a:pPr algn="l"/>
            <a:r>
              <a:rPr lang="en-GB" b="1" dirty="0"/>
              <a:t>Protocols:</a:t>
            </a:r>
            <a:r>
              <a:rPr lang="en-GB" dirty="0"/>
              <a:t> Rules governing communication (e.g., Ethernet, Wi-Fi, TCP/IP). </a:t>
            </a:r>
          </a:p>
          <a:p>
            <a:pPr algn="l"/>
            <a:endParaRPr lang="en-GB" b="1" dirty="0" smtClean="0"/>
          </a:p>
          <a:p>
            <a:pPr algn="l"/>
            <a:r>
              <a:rPr lang="en-GB" b="1" dirty="0" smtClean="0"/>
              <a:t>Components</a:t>
            </a:r>
            <a:r>
              <a:rPr lang="en-GB" b="1" dirty="0"/>
              <a:t>:</a:t>
            </a:r>
            <a:r>
              <a:rPr lang="en-GB" dirty="0"/>
              <a:t> A basic data communication system involves five key components: a sender, receiver, message, transmission medium, and protocols that govern the exchange</a:t>
            </a:r>
            <a:r>
              <a:rPr lang="en-GB" dirty="0" smtClean="0"/>
              <a:t>.</a:t>
            </a:r>
            <a:endParaRPr lang="en-GB" dirty="0"/>
          </a:p>
        </p:txBody>
      </p:sp>
    </p:spTree>
    <p:extLst>
      <p:ext uri="{BB962C8B-B14F-4D97-AF65-F5344CB8AC3E}">
        <p14:creationId xmlns:p14="http://schemas.microsoft.com/office/powerpoint/2010/main" val="19879674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596980"/>
            <a:ext cx="10315977" cy="4572000"/>
          </a:xfrm>
        </p:spPr>
        <p:txBody>
          <a:bodyPr/>
          <a:lstStyle/>
          <a:p>
            <a:r>
              <a:rPr lang="en-GB" b="1" dirty="0" smtClean="0"/>
              <a:t>Block Diagram of Data Transmission</a:t>
            </a:r>
            <a:endParaRPr lang="en-GB" dirty="0" smtClean="0"/>
          </a:p>
          <a:p>
            <a:endParaRPr lang="en-GB" dirty="0" smtClean="0"/>
          </a:p>
          <a:p>
            <a:endParaRPr lang="en-GB" dirty="0"/>
          </a:p>
        </p:txBody>
      </p:sp>
      <p:sp>
        <p:nvSpPr>
          <p:cNvPr id="4" name="Rectangle 3"/>
          <p:cNvSpPr/>
          <p:nvPr/>
        </p:nvSpPr>
        <p:spPr>
          <a:xfrm>
            <a:off x="1423114" y="2653046"/>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Information </a:t>
            </a:r>
          </a:p>
          <a:p>
            <a:pPr algn="ctr"/>
            <a:r>
              <a:rPr lang="en-GB" dirty="0" smtClean="0"/>
              <a:t>Source</a:t>
            </a:r>
            <a:endParaRPr lang="en-GB" dirty="0"/>
          </a:p>
        </p:txBody>
      </p:sp>
      <p:sp>
        <p:nvSpPr>
          <p:cNvPr id="7" name="Rectangle 6"/>
          <p:cNvSpPr/>
          <p:nvPr/>
        </p:nvSpPr>
        <p:spPr>
          <a:xfrm>
            <a:off x="4018205" y="2653046"/>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Source</a:t>
            </a:r>
          </a:p>
          <a:p>
            <a:pPr algn="ctr"/>
            <a:r>
              <a:rPr lang="en-GB" dirty="0" smtClean="0"/>
              <a:t>Encoder</a:t>
            </a:r>
            <a:endParaRPr lang="en-GB" dirty="0"/>
          </a:p>
        </p:txBody>
      </p:sp>
      <p:sp>
        <p:nvSpPr>
          <p:cNvPr id="9" name="Rectangle 8"/>
          <p:cNvSpPr/>
          <p:nvPr/>
        </p:nvSpPr>
        <p:spPr>
          <a:xfrm>
            <a:off x="6613296" y="2653045"/>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Channel</a:t>
            </a:r>
          </a:p>
          <a:p>
            <a:pPr algn="ctr"/>
            <a:r>
              <a:rPr lang="en-GB" dirty="0" smtClean="0"/>
              <a:t>Encoder</a:t>
            </a:r>
            <a:endParaRPr lang="en-GB" dirty="0"/>
          </a:p>
        </p:txBody>
      </p:sp>
      <p:sp>
        <p:nvSpPr>
          <p:cNvPr id="10" name="Rectangle 9"/>
          <p:cNvSpPr/>
          <p:nvPr/>
        </p:nvSpPr>
        <p:spPr>
          <a:xfrm>
            <a:off x="9144000" y="2653045"/>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Modulator</a:t>
            </a:r>
          </a:p>
          <a:p>
            <a:pPr algn="ctr"/>
            <a:r>
              <a:rPr lang="en-GB" dirty="0" smtClean="0"/>
              <a:t>(Writing Unit)</a:t>
            </a:r>
            <a:endParaRPr lang="en-GB" dirty="0"/>
          </a:p>
        </p:txBody>
      </p:sp>
      <p:sp>
        <p:nvSpPr>
          <p:cNvPr id="11" name="Rectangle 10"/>
          <p:cNvSpPr/>
          <p:nvPr/>
        </p:nvSpPr>
        <p:spPr>
          <a:xfrm>
            <a:off x="9169757" y="3882977"/>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Channel</a:t>
            </a:r>
          </a:p>
          <a:p>
            <a:pPr algn="ctr"/>
            <a:r>
              <a:rPr lang="en-GB" dirty="0" smtClean="0"/>
              <a:t>(Memory)</a:t>
            </a:r>
            <a:endParaRPr lang="en-GB" dirty="0"/>
          </a:p>
        </p:txBody>
      </p:sp>
      <p:sp>
        <p:nvSpPr>
          <p:cNvPr id="12" name="Rectangle 11"/>
          <p:cNvSpPr/>
          <p:nvPr/>
        </p:nvSpPr>
        <p:spPr>
          <a:xfrm>
            <a:off x="9144000" y="5112909"/>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Demodulator</a:t>
            </a:r>
          </a:p>
          <a:p>
            <a:pPr algn="ctr"/>
            <a:r>
              <a:rPr lang="en-GB" dirty="0" smtClean="0"/>
              <a:t>(Reading Unit)</a:t>
            </a:r>
            <a:endParaRPr lang="en-GB" dirty="0"/>
          </a:p>
        </p:txBody>
      </p:sp>
      <p:sp>
        <p:nvSpPr>
          <p:cNvPr id="13" name="Rectangle 12"/>
          <p:cNvSpPr/>
          <p:nvPr/>
        </p:nvSpPr>
        <p:spPr>
          <a:xfrm>
            <a:off x="6613296" y="5112909"/>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Channel</a:t>
            </a:r>
          </a:p>
          <a:p>
            <a:pPr algn="ctr"/>
            <a:r>
              <a:rPr lang="en-GB" dirty="0" smtClean="0"/>
              <a:t>Decoder</a:t>
            </a:r>
            <a:endParaRPr lang="en-GB" dirty="0"/>
          </a:p>
        </p:txBody>
      </p:sp>
      <p:sp>
        <p:nvSpPr>
          <p:cNvPr id="14" name="Rectangle 13"/>
          <p:cNvSpPr/>
          <p:nvPr/>
        </p:nvSpPr>
        <p:spPr>
          <a:xfrm>
            <a:off x="4082592" y="5112908"/>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Source</a:t>
            </a:r>
          </a:p>
          <a:p>
            <a:pPr algn="ctr"/>
            <a:r>
              <a:rPr lang="en-GB" dirty="0" smtClean="0"/>
              <a:t>Decoder</a:t>
            </a:r>
            <a:endParaRPr lang="en-GB" dirty="0"/>
          </a:p>
        </p:txBody>
      </p:sp>
      <p:sp>
        <p:nvSpPr>
          <p:cNvPr id="15" name="Rectangle 14"/>
          <p:cNvSpPr/>
          <p:nvPr/>
        </p:nvSpPr>
        <p:spPr>
          <a:xfrm>
            <a:off x="1455308" y="5112907"/>
            <a:ext cx="2125014" cy="631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smtClean="0"/>
              <a:t>Information </a:t>
            </a:r>
          </a:p>
          <a:p>
            <a:pPr algn="ctr"/>
            <a:r>
              <a:rPr lang="en-GB" dirty="0" smtClean="0"/>
              <a:t>Destination</a:t>
            </a:r>
            <a:endParaRPr lang="en-GB" dirty="0"/>
          </a:p>
        </p:txBody>
      </p:sp>
      <p:cxnSp>
        <p:nvCxnSpPr>
          <p:cNvPr id="6" name="Straight Arrow Connector 5"/>
          <p:cNvCxnSpPr>
            <a:stCxn id="4" idx="3"/>
            <a:endCxn id="7" idx="1"/>
          </p:cNvCxnSpPr>
          <p:nvPr/>
        </p:nvCxnSpPr>
        <p:spPr>
          <a:xfrm>
            <a:off x="3548128" y="2968579"/>
            <a:ext cx="470077" cy="0"/>
          </a:xfrm>
          <a:prstGeom prst="straightConnector1">
            <a:avLst/>
          </a:prstGeom>
          <a:ln w="317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a:off x="6143219" y="2968577"/>
            <a:ext cx="4700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8673923" y="2970722"/>
            <a:ext cx="47007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10380372" y="3306650"/>
            <a:ext cx="9659" cy="5763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0380372" y="4538730"/>
            <a:ext cx="0" cy="57417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flipH="1" flipV="1">
            <a:off x="8738310" y="5399998"/>
            <a:ext cx="534468" cy="42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14" idx="3"/>
          </p:cNvCxnSpPr>
          <p:nvPr/>
        </p:nvCxnSpPr>
        <p:spPr>
          <a:xfrm flipH="1">
            <a:off x="6207606" y="5420928"/>
            <a:ext cx="334854" cy="751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stCxn id="14" idx="1"/>
            <a:endCxn id="15" idx="3"/>
          </p:cNvCxnSpPr>
          <p:nvPr/>
        </p:nvCxnSpPr>
        <p:spPr>
          <a:xfrm flipH="1" flipV="1">
            <a:off x="3580322" y="5428440"/>
            <a:ext cx="502270"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8120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596980"/>
            <a:ext cx="10315977" cy="4572000"/>
          </a:xfrm>
        </p:spPr>
        <p:txBody>
          <a:bodyPr/>
          <a:lstStyle/>
          <a:p>
            <a:pPr algn="l"/>
            <a:r>
              <a:rPr lang="en-GB" b="1" dirty="0" smtClean="0"/>
              <a:t>Data Representation:</a:t>
            </a:r>
            <a:r>
              <a:rPr lang="en-GB" dirty="0" smtClean="0"/>
              <a:t> Information is converted into binary data (bits, 0s and 1s) for transmission.</a:t>
            </a:r>
          </a:p>
          <a:p>
            <a:pPr algn="l"/>
            <a:endParaRPr lang="en-GB" b="1" dirty="0" smtClean="0"/>
          </a:p>
          <a:p>
            <a:pPr algn="l"/>
            <a:r>
              <a:rPr lang="en-GB" b="1" dirty="0" smtClean="0"/>
              <a:t>Data Process:</a:t>
            </a:r>
            <a:r>
              <a:rPr lang="en-GB" dirty="0" smtClean="0"/>
              <a:t> The transmission process involves data formation, encoding/modulation, transmission through a channel, decoding/demodulation, and information processing.</a:t>
            </a:r>
          </a:p>
          <a:p>
            <a:endParaRPr lang="en-GB" dirty="0" smtClean="0"/>
          </a:p>
          <a:p>
            <a:endParaRPr lang="en-GB" dirty="0"/>
          </a:p>
        </p:txBody>
      </p:sp>
    </p:spTree>
    <p:extLst>
      <p:ext uri="{BB962C8B-B14F-4D97-AF65-F5344CB8AC3E}">
        <p14:creationId xmlns:p14="http://schemas.microsoft.com/office/powerpoint/2010/main" val="16567511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596980"/>
            <a:ext cx="10315977" cy="4572000"/>
          </a:xfrm>
        </p:spPr>
        <p:txBody>
          <a:bodyPr/>
          <a:lstStyle/>
          <a:p>
            <a:pPr algn="l"/>
            <a:endParaRPr lang="en-GB" sz="2000" b="1" dirty="0"/>
          </a:p>
          <a:p>
            <a:r>
              <a:rPr lang="en-GB" sz="2200" b="1" dirty="0" smtClean="0"/>
              <a:t>TAXONOMY OF TRANSMISSION MODES</a:t>
            </a:r>
            <a:endParaRPr lang="en-GB" sz="2200" b="1" dirty="0"/>
          </a:p>
          <a:p>
            <a:pPr algn="l"/>
            <a:r>
              <a:rPr lang="en-GB" dirty="0" smtClean="0"/>
              <a:t/>
            </a:r>
            <a:br>
              <a:rPr lang="en-GB" dirty="0" smtClean="0"/>
            </a:br>
            <a:endParaRPr lang="en-GB" dirty="0"/>
          </a:p>
        </p:txBody>
      </p:sp>
      <p:sp>
        <p:nvSpPr>
          <p:cNvPr id="5" name="Rectangle 4"/>
          <p:cNvSpPr/>
          <p:nvPr/>
        </p:nvSpPr>
        <p:spPr>
          <a:xfrm rot="16200000">
            <a:off x="-1044261" y="3393585"/>
            <a:ext cx="3902296" cy="79849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Transmission Modes</a:t>
            </a:r>
            <a:endParaRPr lang="en-US" dirty="0"/>
          </a:p>
        </p:txBody>
      </p:sp>
      <p:sp>
        <p:nvSpPr>
          <p:cNvPr id="6" name="Rectangle 5"/>
          <p:cNvSpPr/>
          <p:nvPr/>
        </p:nvSpPr>
        <p:spPr>
          <a:xfrm>
            <a:off x="2379370" y="4803844"/>
            <a:ext cx="3643649" cy="80063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Serial Transmission</a:t>
            </a:r>
            <a:endParaRPr lang="en-US" dirty="0"/>
          </a:p>
        </p:txBody>
      </p:sp>
      <p:sp>
        <p:nvSpPr>
          <p:cNvPr id="7" name="Rectangle 6"/>
          <p:cNvSpPr/>
          <p:nvPr/>
        </p:nvSpPr>
        <p:spPr>
          <a:xfrm>
            <a:off x="2330539" y="2872472"/>
            <a:ext cx="3643648" cy="7061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Parallel Transmission</a:t>
            </a:r>
            <a:endParaRPr lang="en-US" dirty="0"/>
          </a:p>
        </p:txBody>
      </p:sp>
      <p:sp>
        <p:nvSpPr>
          <p:cNvPr id="8" name="Rectangle 7"/>
          <p:cNvSpPr/>
          <p:nvPr/>
        </p:nvSpPr>
        <p:spPr>
          <a:xfrm>
            <a:off x="7495504" y="3699794"/>
            <a:ext cx="3172496" cy="8768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Asynchronous</a:t>
            </a:r>
            <a:endParaRPr lang="en-US" dirty="0"/>
          </a:p>
        </p:txBody>
      </p:sp>
      <p:sp>
        <p:nvSpPr>
          <p:cNvPr id="9" name="Rectangle 8"/>
          <p:cNvSpPr/>
          <p:nvPr/>
        </p:nvSpPr>
        <p:spPr>
          <a:xfrm>
            <a:off x="7495504" y="2737242"/>
            <a:ext cx="3172496" cy="841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err="1" smtClean="0"/>
              <a:t>IsoSynchronous</a:t>
            </a:r>
            <a:endParaRPr lang="en-US" dirty="0"/>
          </a:p>
        </p:txBody>
      </p:sp>
      <p:sp>
        <p:nvSpPr>
          <p:cNvPr id="10" name="Rectangle 9"/>
          <p:cNvSpPr/>
          <p:nvPr/>
        </p:nvSpPr>
        <p:spPr>
          <a:xfrm>
            <a:off x="7495504" y="4697761"/>
            <a:ext cx="3172496" cy="9981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a:t>
            </a:r>
            <a:r>
              <a:rPr lang="en-US" dirty="0" smtClean="0"/>
              <a:t>ynchronous</a:t>
            </a:r>
            <a:endParaRPr lang="en-US" dirty="0"/>
          </a:p>
        </p:txBody>
      </p:sp>
      <p:cxnSp>
        <p:nvCxnSpPr>
          <p:cNvPr id="11" name="Straight Connector 10"/>
          <p:cNvCxnSpPr/>
          <p:nvPr/>
        </p:nvCxnSpPr>
        <p:spPr>
          <a:xfrm>
            <a:off x="1293254" y="4138213"/>
            <a:ext cx="577843" cy="736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V="1">
            <a:off x="1872265" y="3251457"/>
            <a:ext cx="458274" cy="644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6470651" y="3072394"/>
            <a:ext cx="1024853" cy="817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flipV="1">
            <a:off x="1872265" y="5183933"/>
            <a:ext cx="557894" cy="64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V="1">
            <a:off x="6467247" y="4139142"/>
            <a:ext cx="1033507" cy="644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V="1">
            <a:off x="6530124" y="5176607"/>
            <a:ext cx="965380" cy="732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1866362" y="3225568"/>
            <a:ext cx="3567" cy="19648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V="1">
            <a:off x="6023019" y="5187152"/>
            <a:ext cx="458274" cy="644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466079" y="3038622"/>
            <a:ext cx="31247" cy="216553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11437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596980"/>
            <a:ext cx="10315977" cy="4572000"/>
          </a:xfrm>
        </p:spPr>
        <p:txBody>
          <a:bodyPr/>
          <a:lstStyle/>
          <a:p>
            <a:r>
              <a:rPr lang="en-GB" b="1" dirty="0" smtClean="0"/>
              <a:t>Types of Data Transmission</a:t>
            </a:r>
          </a:p>
          <a:p>
            <a:endParaRPr lang="en-GB" b="1" dirty="0" smtClean="0"/>
          </a:p>
          <a:p>
            <a:pPr marL="342900" indent="-342900" algn="l">
              <a:buFont typeface="Wingdings" panose="05000000000000000000" pitchFamily="2" charset="2"/>
              <a:buChar char="§"/>
            </a:pPr>
            <a:r>
              <a:rPr lang="en-GB" b="1" dirty="0" smtClean="0"/>
              <a:t>Parallel vs Serial Transmission</a:t>
            </a:r>
          </a:p>
          <a:p>
            <a:pPr algn="l"/>
            <a:endParaRPr lang="en-GB" b="1" dirty="0" smtClean="0"/>
          </a:p>
          <a:p>
            <a:pPr marL="342900" indent="-342900" algn="l">
              <a:buFont typeface="Wingdings" panose="05000000000000000000" pitchFamily="2" charset="2"/>
              <a:buChar char="§"/>
            </a:pPr>
            <a:r>
              <a:rPr lang="en-GB" b="1" dirty="0" smtClean="0"/>
              <a:t>Synchronous vs Asynchronous Transmission</a:t>
            </a:r>
          </a:p>
          <a:p>
            <a:pPr algn="l"/>
            <a:endParaRPr lang="en-GB" b="1" dirty="0" smtClean="0"/>
          </a:p>
          <a:p>
            <a:pPr marL="342900" indent="-342900" algn="l">
              <a:buFont typeface="Wingdings" panose="05000000000000000000" pitchFamily="2" charset="2"/>
              <a:buChar char="§"/>
            </a:pPr>
            <a:endParaRPr lang="en-GB" dirty="0" smtClean="0"/>
          </a:p>
          <a:p>
            <a:endParaRPr lang="en-GB" dirty="0" smtClean="0"/>
          </a:p>
          <a:p>
            <a:endParaRPr lang="en-GB" dirty="0"/>
          </a:p>
        </p:txBody>
      </p:sp>
    </p:spTree>
    <p:extLst>
      <p:ext uri="{BB962C8B-B14F-4D97-AF65-F5344CB8AC3E}">
        <p14:creationId xmlns:p14="http://schemas.microsoft.com/office/powerpoint/2010/main" val="3541468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596980"/>
            <a:ext cx="10315977" cy="4572000"/>
          </a:xfrm>
        </p:spPr>
        <p:txBody>
          <a:bodyPr/>
          <a:lstStyle/>
          <a:p>
            <a:pPr algn="l"/>
            <a:r>
              <a:rPr lang="en-GB" b="1" i="0" dirty="0" smtClean="0">
                <a:solidFill>
                  <a:srgbClr val="0A0A0A"/>
                </a:solidFill>
                <a:effectLst/>
                <a:latin typeface="Google Sans"/>
              </a:rPr>
              <a:t>Parallel vs. Serial Transmission (by Method):</a:t>
            </a:r>
          </a:p>
          <a:p>
            <a:pPr algn="l">
              <a:buFont typeface="Arial" panose="020B0604020202020204" pitchFamily="34" charset="0"/>
              <a:buChar char="•"/>
            </a:pPr>
            <a:endParaRPr lang="en-GB" b="1" dirty="0">
              <a:solidFill>
                <a:srgbClr val="0A0A0A"/>
              </a:solidFill>
              <a:latin typeface="Google Sans"/>
            </a:endParaRPr>
          </a:p>
          <a:p>
            <a:pPr marL="742950" lvl="1" indent="-285750" algn="l">
              <a:buFont typeface="Arial" panose="020B0604020202020204" pitchFamily="34" charset="0"/>
              <a:buChar char="•"/>
            </a:pPr>
            <a:r>
              <a:rPr lang="en-GB" b="1" i="0" dirty="0" smtClean="0">
                <a:solidFill>
                  <a:srgbClr val="0A0A0A"/>
                </a:solidFill>
                <a:effectLst/>
                <a:latin typeface="Google Sans"/>
              </a:rPr>
              <a:t>Parallel:</a:t>
            </a:r>
            <a:r>
              <a:rPr lang="en-GB" b="0" i="0" dirty="0" smtClean="0">
                <a:solidFill>
                  <a:srgbClr val="0A0A0A"/>
                </a:solidFill>
                <a:effectLst/>
                <a:latin typeface="Google Sans"/>
              </a:rPr>
              <a:t> Multiple bits are sent simultaneously over separate data lines, typically over short distances.</a:t>
            </a:r>
          </a:p>
          <a:p>
            <a:pPr lvl="1" algn="l"/>
            <a:endParaRPr lang="en-GB" b="0" i="0" dirty="0" smtClean="0">
              <a:solidFill>
                <a:srgbClr val="0A0A0A"/>
              </a:solidFill>
              <a:effectLst/>
              <a:latin typeface="Google Sans"/>
            </a:endParaRPr>
          </a:p>
          <a:p>
            <a:pPr marL="742950" lvl="1" indent="-285750" algn="l">
              <a:buFont typeface="Arial" panose="020B0604020202020204" pitchFamily="34" charset="0"/>
              <a:buChar char="•"/>
            </a:pPr>
            <a:r>
              <a:rPr lang="en-GB" b="1" i="0" dirty="0" smtClean="0">
                <a:solidFill>
                  <a:srgbClr val="0A0A0A"/>
                </a:solidFill>
                <a:effectLst/>
                <a:latin typeface="Google Sans"/>
              </a:rPr>
              <a:t>Serial:</a:t>
            </a:r>
            <a:r>
              <a:rPr lang="en-GB" b="0" i="0" dirty="0" smtClean="0">
                <a:solidFill>
                  <a:srgbClr val="0A0A0A"/>
                </a:solidFill>
                <a:effectLst/>
                <a:latin typeface="Google Sans"/>
              </a:rPr>
              <a:t> Bits are sent one after the other over a single data line, typically used for long distances.</a:t>
            </a:r>
          </a:p>
          <a:p>
            <a:r>
              <a:rPr lang="en-GB" dirty="0" smtClean="0"/>
              <a:t/>
            </a:r>
            <a:br>
              <a:rPr lang="en-GB" dirty="0" smtClean="0"/>
            </a:br>
            <a:endParaRPr lang="en-GB" dirty="0"/>
          </a:p>
        </p:txBody>
      </p:sp>
    </p:spTree>
    <p:extLst>
      <p:ext uri="{BB962C8B-B14F-4D97-AF65-F5344CB8AC3E}">
        <p14:creationId xmlns:p14="http://schemas.microsoft.com/office/powerpoint/2010/main" val="3996089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596980"/>
            <a:ext cx="10315977" cy="4572000"/>
          </a:xfrm>
        </p:spPr>
        <p:txBody>
          <a:bodyPr/>
          <a:lstStyle/>
          <a:p>
            <a:pPr algn="l"/>
            <a:r>
              <a:rPr lang="en-GB" b="1" dirty="0" smtClean="0"/>
              <a:t>Synchronous </a:t>
            </a:r>
            <a:r>
              <a:rPr lang="en-GB" b="1" dirty="0"/>
              <a:t>vs. Asynchronous </a:t>
            </a:r>
            <a:r>
              <a:rPr lang="en-GB" b="1" dirty="0" smtClean="0"/>
              <a:t>Transmission (By Timing)</a:t>
            </a:r>
          </a:p>
          <a:p>
            <a:pPr algn="l"/>
            <a:endParaRPr lang="en-GB" b="1" dirty="0"/>
          </a:p>
          <a:p>
            <a:pPr marL="342900" indent="-342900" algn="l">
              <a:buFont typeface="Wingdings" panose="05000000000000000000" pitchFamily="2" charset="2"/>
              <a:buChar char="§"/>
            </a:pPr>
            <a:r>
              <a:rPr lang="en-GB" b="1" dirty="0" smtClean="0"/>
              <a:t>Asynchronous</a:t>
            </a:r>
            <a:r>
              <a:rPr lang="en-GB" b="1" dirty="0"/>
              <a:t>:</a:t>
            </a:r>
            <a:r>
              <a:rPr lang="en-GB" dirty="0"/>
              <a:t> Data is sent at irregular intervals using start and stop bits to synchronize the sender and </a:t>
            </a:r>
            <a:r>
              <a:rPr lang="en-GB" dirty="0" smtClean="0"/>
              <a:t>receiver.</a:t>
            </a:r>
          </a:p>
          <a:p>
            <a:pPr marL="342900" indent="-342900" algn="l">
              <a:buFont typeface="Wingdings" panose="05000000000000000000" pitchFamily="2" charset="2"/>
              <a:buChar char="§"/>
            </a:pPr>
            <a:endParaRPr lang="en-GB" b="1" dirty="0"/>
          </a:p>
          <a:p>
            <a:pPr marL="342900" indent="-342900" algn="l">
              <a:buFont typeface="Wingdings" panose="05000000000000000000" pitchFamily="2" charset="2"/>
              <a:buChar char="§"/>
            </a:pPr>
            <a:r>
              <a:rPr lang="en-GB" b="1" dirty="0" smtClean="0"/>
              <a:t>Synchronous</a:t>
            </a:r>
            <a:r>
              <a:rPr lang="en-GB" b="1" dirty="0"/>
              <a:t>:</a:t>
            </a:r>
            <a:r>
              <a:rPr lang="en-GB" dirty="0"/>
              <a:t> A continuous stream of data is sent with precise timing (clock frequency), without start and stop bits, making it faster.</a:t>
            </a:r>
          </a:p>
          <a:p>
            <a:pPr algn="l"/>
            <a:r>
              <a:rPr lang="en-GB" dirty="0" smtClean="0"/>
              <a:t/>
            </a:r>
            <a:br>
              <a:rPr lang="en-GB" dirty="0" smtClean="0"/>
            </a:br>
            <a:endParaRPr lang="en-GB" dirty="0"/>
          </a:p>
        </p:txBody>
      </p:sp>
    </p:spTree>
    <p:extLst>
      <p:ext uri="{BB962C8B-B14F-4D97-AF65-F5344CB8AC3E}">
        <p14:creationId xmlns:p14="http://schemas.microsoft.com/office/powerpoint/2010/main" val="1075590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596980"/>
            <a:ext cx="10315977" cy="4572000"/>
          </a:xfrm>
        </p:spPr>
        <p:txBody>
          <a:bodyPr/>
          <a:lstStyle/>
          <a:p>
            <a:pPr algn="l"/>
            <a:endParaRPr lang="en-GB" sz="2000" b="1" dirty="0"/>
          </a:p>
          <a:p>
            <a:pPr algn="l"/>
            <a:r>
              <a:rPr lang="en-US" sz="2200" b="1" dirty="0"/>
              <a:t>Transmission Modes (Direction)</a:t>
            </a:r>
          </a:p>
          <a:p>
            <a:pPr algn="l"/>
            <a:endParaRPr lang="en-US" sz="2200" b="1" dirty="0" smtClean="0"/>
          </a:p>
          <a:p>
            <a:pPr marL="342900" indent="-342900" algn="l">
              <a:buFont typeface="Wingdings" panose="05000000000000000000" pitchFamily="2" charset="2"/>
              <a:buChar char="§"/>
            </a:pPr>
            <a:r>
              <a:rPr lang="en-US" sz="2200" b="1" dirty="0" smtClean="0"/>
              <a:t>Simplex</a:t>
            </a:r>
            <a:r>
              <a:rPr lang="en-US" sz="2200" b="1" dirty="0"/>
              <a:t>:</a:t>
            </a:r>
            <a:r>
              <a:rPr lang="en-US" sz="2200" dirty="0"/>
              <a:t> One-way communication (e.g., TV broadcast to TV).</a:t>
            </a:r>
          </a:p>
          <a:p>
            <a:pPr marL="342900" indent="-342900" algn="l">
              <a:buFont typeface="Wingdings" panose="05000000000000000000" pitchFamily="2" charset="2"/>
              <a:buChar char="§"/>
            </a:pPr>
            <a:endParaRPr lang="en-US" sz="2200" b="1" dirty="0" smtClean="0"/>
          </a:p>
          <a:p>
            <a:pPr marL="342900" indent="-342900" algn="l">
              <a:buFont typeface="Wingdings" panose="05000000000000000000" pitchFamily="2" charset="2"/>
              <a:buChar char="§"/>
            </a:pPr>
            <a:r>
              <a:rPr lang="en-US" sz="2200" b="1" dirty="0" smtClean="0"/>
              <a:t>Half-Duplex</a:t>
            </a:r>
            <a:r>
              <a:rPr lang="en-US" sz="2200" b="1" dirty="0"/>
              <a:t>:</a:t>
            </a:r>
            <a:r>
              <a:rPr lang="en-US" sz="2200" dirty="0"/>
              <a:t> Two-way, but only one device transmits at a time (e.g., walkie-talkies).</a:t>
            </a:r>
          </a:p>
          <a:p>
            <a:pPr marL="342900" indent="-342900" algn="l">
              <a:buFont typeface="Wingdings" panose="05000000000000000000" pitchFamily="2" charset="2"/>
              <a:buChar char="§"/>
            </a:pPr>
            <a:endParaRPr lang="en-US" sz="2200" b="1" dirty="0" smtClean="0"/>
          </a:p>
          <a:p>
            <a:pPr marL="342900" indent="-342900" algn="l">
              <a:buFont typeface="Wingdings" panose="05000000000000000000" pitchFamily="2" charset="2"/>
              <a:buChar char="§"/>
            </a:pPr>
            <a:r>
              <a:rPr lang="en-US" sz="2200" b="1" dirty="0" smtClean="0"/>
              <a:t>Full-Duplex</a:t>
            </a:r>
            <a:r>
              <a:rPr lang="en-US" sz="2200" b="1" dirty="0"/>
              <a:t>:</a:t>
            </a:r>
            <a:r>
              <a:rPr lang="en-US" sz="2200" dirty="0"/>
              <a:t> Two-way, simultaneous communication (e.g., phone calls, modern internet). </a:t>
            </a:r>
            <a:endParaRPr lang="en-GB" sz="2200" dirty="0"/>
          </a:p>
          <a:p>
            <a:pPr algn="l"/>
            <a:r>
              <a:rPr lang="en-GB" dirty="0" smtClean="0"/>
              <a:t/>
            </a:r>
            <a:br>
              <a:rPr lang="en-GB" dirty="0" smtClean="0"/>
            </a:br>
            <a:endParaRPr lang="en-GB" dirty="0"/>
          </a:p>
        </p:txBody>
      </p:sp>
    </p:spTree>
    <p:extLst>
      <p:ext uri="{BB962C8B-B14F-4D97-AF65-F5344CB8AC3E}">
        <p14:creationId xmlns:p14="http://schemas.microsoft.com/office/powerpoint/2010/main" val="1418054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6" y="1420837"/>
            <a:ext cx="11102975" cy="5317587"/>
          </a:xfrm>
        </p:spPr>
        <p:txBody>
          <a:bodyPr>
            <a:normAutofit fontScale="92500" lnSpcReduction="10000"/>
          </a:bodyPr>
          <a:lstStyle/>
          <a:p>
            <a:pPr algn="l"/>
            <a:r>
              <a:rPr lang="en-GB" b="1" dirty="0" smtClean="0"/>
              <a:t>Data Communication Terminology</a:t>
            </a:r>
          </a:p>
          <a:p>
            <a:pPr algn="l"/>
            <a:endParaRPr lang="en-US" b="1" dirty="0" smtClean="0"/>
          </a:p>
          <a:p>
            <a:pPr marL="342900" indent="-342900" algn="l">
              <a:buFont typeface="Wingdings" panose="05000000000000000000" pitchFamily="2" charset="2"/>
              <a:buChar char="§"/>
            </a:pPr>
            <a:r>
              <a:rPr lang="en-US" b="1" dirty="0" smtClean="0"/>
              <a:t>Channel:</a:t>
            </a:r>
            <a:r>
              <a:rPr lang="en-US" dirty="0" smtClean="0"/>
              <a:t> A channel is a portion of the communications medium allocated to the sender and receiver for conveying information between them.</a:t>
            </a:r>
          </a:p>
          <a:p>
            <a:pPr marL="342900" indent="-342900" algn="l">
              <a:buFont typeface="Wingdings" panose="05000000000000000000" pitchFamily="2" charset="2"/>
              <a:buChar char="§"/>
            </a:pPr>
            <a:endParaRPr lang="en-US" b="1" dirty="0" smtClean="0"/>
          </a:p>
          <a:p>
            <a:pPr marL="342900" indent="-342900" algn="l">
              <a:buFont typeface="Wingdings" panose="05000000000000000000" pitchFamily="2" charset="2"/>
              <a:buChar char="§"/>
            </a:pPr>
            <a:r>
              <a:rPr lang="en-US" b="1" dirty="0" smtClean="0"/>
              <a:t>Baud Rate:</a:t>
            </a:r>
            <a:r>
              <a:rPr lang="en-US" dirty="0" smtClean="0"/>
              <a:t> Baud rate is the same as symbol rate and is a measure of the number of line changes which occur every second.</a:t>
            </a:r>
          </a:p>
          <a:p>
            <a:pPr marL="342900" indent="-342900" algn="l">
              <a:buFont typeface="Wingdings" panose="05000000000000000000" pitchFamily="2" charset="2"/>
              <a:buChar char="§"/>
            </a:pPr>
            <a:endParaRPr lang="en-US" b="1" dirty="0" smtClean="0"/>
          </a:p>
          <a:p>
            <a:pPr marL="342900" indent="-342900" algn="l">
              <a:buFont typeface="Wingdings" panose="05000000000000000000" pitchFamily="2" charset="2"/>
              <a:buChar char="§"/>
            </a:pPr>
            <a:r>
              <a:rPr lang="en-US" b="1" dirty="0" smtClean="0"/>
              <a:t>Bits Per Second:</a:t>
            </a:r>
            <a:r>
              <a:rPr lang="en-US" dirty="0" smtClean="0"/>
              <a:t> This is an expression of the number of data bits per second.</a:t>
            </a:r>
          </a:p>
          <a:p>
            <a:pPr marL="342900" indent="-342900" algn="l">
              <a:buFont typeface="Wingdings" panose="05000000000000000000" pitchFamily="2" charset="2"/>
              <a:buChar char="§"/>
            </a:pPr>
            <a:endParaRPr lang="en-US" dirty="0" smtClean="0"/>
          </a:p>
          <a:p>
            <a:pPr marL="342900" indent="-342900" algn="l">
              <a:buFont typeface="Wingdings" panose="05000000000000000000" pitchFamily="2" charset="2"/>
              <a:buChar char="§"/>
            </a:pPr>
            <a:r>
              <a:rPr lang="en-US" b="1" dirty="0" smtClean="0"/>
              <a:t>Bandwidth: </a:t>
            </a:r>
            <a:r>
              <a:rPr lang="en-US" dirty="0" smtClean="0"/>
              <a:t>Bandwidth is the frequency range of a channel, measured as the difference between the highest and lowest frequencies that the channel supports. The maximum transmission speed is dependent upon the available bandwidth.</a:t>
            </a:r>
            <a:r>
              <a:rPr lang="en-US" sz="2200" dirty="0" smtClean="0"/>
              <a:t> </a:t>
            </a:r>
            <a:endParaRPr lang="en-GB" sz="2200" b="1" dirty="0" smtClean="0"/>
          </a:p>
          <a:p>
            <a:pPr algn="l"/>
            <a:r>
              <a:rPr lang="en-GB" dirty="0" smtClean="0"/>
              <a:t/>
            </a:r>
            <a:br>
              <a:rPr lang="en-GB" dirty="0" smtClean="0"/>
            </a:br>
            <a:endParaRPr lang="en-GB" dirty="0"/>
          </a:p>
        </p:txBody>
      </p:sp>
    </p:spTree>
    <p:extLst>
      <p:ext uri="{BB962C8B-B14F-4D97-AF65-F5344CB8AC3E}">
        <p14:creationId xmlns:p14="http://schemas.microsoft.com/office/powerpoint/2010/main" val="4025245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6" y="1420837"/>
            <a:ext cx="11102975" cy="5317587"/>
          </a:xfrm>
        </p:spPr>
        <p:txBody>
          <a:bodyPr>
            <a:normAutofit fontScale="92500" lnSpcReduction="10000"/>
          </a:bodyPr>
          <a:lstStyle/>
          <a:p>
            <a:pPr algn="l"/>
            <a:r>
              <a:rPr lang="en-GB" b="1" dirty="0" err="1"/>
              <a:t>Analog</a:t>
            </a:r>
            <a:r>
              <a:rPr lang="en-GB" b="1" dirty="0"/>
              <a:t> Communication</a:t>
            </a:r>
          </a:p>
          <a:p>
            <a:pPr marL="342900" indent="-342900" algn="l">
              <a:buFont typeface="Wingdings" panose="05000000000000000000" pitchFamily="2" charset="2"/>
              <a:buChar char="§"/>
            </a:pPr>
            <a:r>
              <a:rPr lang="en-GB" dirty="0"/>
              <a:t>Signal: Continuous waves, varying amplitude, frequency, or phase.</a:t>
            </a:r>
          </a:p>
          <a:p>
            <a:pPr marL="342900" indent="-342900" algn="l">
              <a:buFont typeface="Wingdings" panose="05000000000000000000" pitchFamily="2" charset="2"/>
              <a:buChar char="§"/>
            </a:pPr>
            <a:r>
              <a:rPr lang="en-GB" dirty="0"/>
              <a:t>Representation: Sine waves, reflecting real-world phenomena (sound, light) directly.</a:t>
            </a:r>
          </a:p>
          <a:p>
            <a:pPr marL="342900" indent="-342900" algn="l">
              <a:buFont typeface="Wingdings" panose="05000000000000000000" pitchFamily="2" charset="2"/>
              <a:buChar char="§"/>
            </a:pPr>
            <a:r>
              <a:rPr lang="en-GB" dirty="0"/>
              <a:t>Pros: High fidelity for audio/video, simpler processing, lower bandwidth.</a:t>
            </a:r>
          </a:p>
          <a:p>
            <a:pPr marL="342900" indent="-342900" algn="l">
              <a:buFont typeface="Wingdings" panose="05000000000000000000" pitchFamily="2" charset="2"/>
              <a:buChar char="§"/>
            </a:pPr>
            <a:r>
              <a:rPr lang="en-GB" dirty="0"/>
              <a:t>Cons: Susceptible to noise/interference, lower quality over distance, less secure.</a:t>
            </a:r>
          </a:p>
          <a:p>
            <a:pPr marL="342900" indent="-342900" algn="l">
              <a:buFont typeface="Wingdings" panose="05000000000000000000" pitchFamily="2" charset="2"/>
              <a:buChar char="§"/>
            </a:pPr>
            <a:r>
              <a:rPr lang="en-GB" dirty="0"/>
              <a:t>Examples: AM/FM Radio, traditional TV, landline phones. </a:t>
            </a:r>
          </a:p>
          <a:p>
            <a:pPr algn="l"/>
            <a:r>
              <a:rPr lang="en-GB" b="1" dirty="0"/>
              <a:t>Digital Communication</a:t>
            </a:r>
          </a:p>
          <a:p>
            <a:pPr marL="342900" indent="-342900" algn="l">
              <a:buFont typeface="Wingdings" panose="05000000000000000000" pitchFamily="2" charset="2"/>
              <a:buChar char="§"/>
            </a:pPr>
            <a:r>
              <a:rPr lang="en-GB" dirty="0"/>
              <a:t>Signal: Discrete, pulsed signals (square waves) representing 0s and 1s.</a:t>
            </a:r>
          </a:p>
          <a:p>
            <a:pPr marL="342900" indent="-342900" algn="l">
              <a:buFont typeface="Wingdings" panose="05000000000000000000" pitchFamily="2" charset="2"/>
              <a:buChar char="§"/>
            </a:pPr>
            <a:r>
              <a:rPr lang="en-GB" dirty="0"/>
              <a:t>Representation: Binary code (</a:t>
            </a:r>
            <a:r>
              <a:rPr lang="en-GB" dirty="0" err="1"/>
              <a:t>bitstreams</a:t>
            </a:r>
            <a:r>
              <a:rPr lang="en-GB" dirty="0"/>
              <a:t>).</a:t>
            </a:r>
          </a:p>
          <a:p>
            <a:pPr marL="342900" indent="-342900" algn="l">
              <a:buFont typeface="Wingdings" panose="05000000000000000000" pitchFamily="2" charset="2"/>
              <a:buChar char="§"/>
            </a:pPr>
            <a:r>
              <a:rPr lang="en-GB" dirty="0"/>
              <a:t>Pros: High noise immunity, error detection/correction, easy compression/encryption, versatile (</a:t>
            </a:r>
            <a:r>
              <a:rPr lang="en-GB" dirty="0" err="1"/>
              <a:t>fiber</a:t>
            </a:r>
            <a:r>
              <a:rPr lang="en-GB" dirty="0"/>
              <a:t> optics, wireless).</a:t>
            </a:r>
          </a:p>
          <a:p>
            <a:pPr marL="342900" indent="-342900" algn="l">
              <a:buFont typeface="Wingdings" panose="05000000000000000000" pitchFamily="2" charset="2"/>
              <a:buChar char="§"/>
            </a:pPr>
            <a:r>
              <a:rPr lang="en-GB" dirty="0"/>
              <a:t>Cons: Requires more bandwidth, conversion adds complexity.</a:t>
            </a:r>
          </a:p>
          <a:p>
            <a:pPr marL="342900" indent="-342900" algn="l">
              <a:buFont typeface="Wingdings" panose="05000000000000000000" pitchFamily="2" charset="2"/>
              <a:buChar char="§"/>
            </a:pPr>
            <a:r>
              <a:rPr lang="en-GB" dirty="0"/>
              <a:t>Examples: Internet (Wi-Fi, Ethernet), mobile phones, CDs, streaming services. </a:t>
            </a:r>
            <a:r>
              <a:rPr lang="en-GB" dirty="0" smtClean="0"/>
              <a:t/>
            </a:r>
            <a:br>
              <a:rPr lang="en-GB" dirty="0" smtClean="0"/>
            </a:br>
            <a:endParaRPr lang="en-GB" dirty="0"/>
          </a:p>
        </p:txBody>
      </p:sp>
    </p:spTree>
    <p:extLst>
      <p:ext uri="{BB962C8B-B14F-4D97-AF65-F5344CB8AC3E}">
        <p14:creationId xmlns:p14="http://schemas.microsoft.com/office/powerpoint/2010/main" val="27443987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6" y="1420837"/>
            <a:ext cx="11102975" cy="5317587"/>
          </a:xfrm>
        </p:spPr>
        <p:txBody>
          <a:bodyPr>
            <a:normAutofit/>
          </a:bodyPr>
          <a:lstStyle/>
          <a:p>
            <a:pPr algn="l"/>
            <a:endParaRPr lang="en-GB" dirty="0"/>
          </a:p>
        </p:txBody>
      </p:sp>
      <p:sp>
        <p:nvSpPr>
          <p:cNvPr id="4" name="Rectangle 3"/>
          <p:cNvSpPr/>
          <p:nvPr/>
        </p:nvSpPr>
        <p:spPr>
          <a:xfrm>
            <a:off x="1627161" y="4261818"/>
            <a:ext cx="139270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Segments</a:t>
            </a:r>
            <a:endParaRPr lang="en-US" dirty="0"/>
          </a:p>
        </p:txBody>
      </p:sp>
      <p:sp>
        <p:nvSpPr>
          <p:cNvPr id="5" name="Rectangle 4"/>
          <p:cNvSpPr/>
          <p:nvPr/>
        </p:nvSpPr>
        <p:spPr>
          <a:xfrm>
            <a:off x="3505199" y="4917369"/>
            <a:ext cx="2192216"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Network Layer</a:t>
            </a:r>
            <a:endParaRPr lang="en-US" dirty="0"/>
          </a:p>
        </p:txBody>
      </p:sp>
      <p:sp>
        <p:nvSpPr>
          <p:cNvPr id="6" name="Rectangle 5"/>
          <p:cNvSpPr/>
          <p:nvPr/>
        </p:nvSpPr>
        <p:spPr>
          <a:xfrm>
            <a:off x="1627162" y="4919713"/>
            <a:ext cx="139270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Packets</a:t>
            </a:r>
            <a:endParaRPr lang="en-US" dirty="0"/>
          </a:p>
        </p:txBody>
      </p:sp>
      <p:sp>
        <p:nvSpPr>
          <p:cNvPr id="7" name="Rectangle 6"/>
          <p:cNvSpPr/>
          <p:nvPr/>
        </p:nvSpPr>
        <p:spPr>
          <a:xfrm>
            <a:off x="3505199" y="5604694"/>
            <a:ext cx="2192216"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 Link Layer</a:t>
            </a:r>
            <a:endParaRPr lang="en-US" dirty="0"/>
          </a:p>
        </p:txBody>
      </p:sp>
      <p:sp>
        <p:nvSpPr>
          <p:cNvPr id="8" name="Rectangle 7"/>
          <p:cNvSpPr/>
          <p:nvPr/>
        </p:nvSpPr>
        <p:spPr>
          <a:xfrm>
            <a:off x="1627162" y="5613950"/>
            <a:ext cx="139270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Frames</a:t>
            </a:r>
            <a:endParaRPr lang="en-US" dirty="0"/>
          </a:p>
        </p:txBody>
      </p:sp>
      <p:sp>
        <p:nvSpPr>
          <p:cNvPr id="9" name="Rectangle 8"/>
          <p:cNvSpPr/>
          <p:nvPr/>
        </p:nvSpPr>
        <p:spPr>
          <a:xfrm>
            <a:off x="3505199" y="6235504"/>
            <a:ext cx="2192216"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Physical Layer</a:t>
            </a:r>
            <a:endParaRPr lang="en-US" dirty="0"/>
          </a:p>
        </p:txBody>
      </p:sp>
      <p:sp>
        <p:nvSpPr>
          <p:cNvPr id="10" name="Rectangle 9"/>
          <p:cNvSpPr/>
          <p:nvPr/>
        </p:nvSpPr>
        <p:spPr>
          <a:xfrm>
            <a:off x="1627163" y="6235504"/>
            <a:ext cx="139270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Bits</a:t>
            </a:r>
            <a:endParaRPr lang="en-US" dirty="0"/>
          </a:p>
        </p:txBody>
      </p:sp>
      <p:sp>
        <p:nvSpPr>
          <p:cNvPr id="11" name="Rectangle 10"/>
          <p:cNvSpPr/>
          <p:nvPr/>
        </p:nvSpPr>
        <p:spPr>
          <a:xfrm>
            <a:off x="3505199" y="3666979"/>
            <a:ext cx="2192216"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Session Layer</a:t>
            </a:r>
            <a:endParaRPr lang="en-US" dirty="0"/>
          </a:p>
        </p:txBody>
      </p:sp>
      <p:sp>
        <p:nvSpPr>
          <p:cNvPr id="12" name="Rectangle 11"/>
          <p:cNvSpPr/>
          <p:nvPr/>
        </p:nvSpPr>
        <p:spPr>
          <a:xfrm>
            <a:off x="3505199" y="4259474"/>
            <a:ext cx="2192216"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Transport Layer</a:t>
            </a:r>
            <a:endParaRPr lang="en-US" dirty="0"/>
          </a:p>
        </p:txBody>
      </p:sp>
      <p:sp>
        <p:nvSpPr>
          <p:cNvPr id="13" name="Rectangle 12"/>
          <p:cNvSpPr/>
          <p:nvPr/>
        </p:nvSpPr>
        <p:spPr>
          <a:xfrm>
            <a:off x="1627160" y="3666979"/>
            <a:ext cx="139270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endParaRPr lang="en-US" dirty="0"/>
          </a:p>
        </p:txBody>
      </p:sp>
      <p:sp>
        <p:nvSpPr>
          <p:cNvPr id="14" name="Rectangle 13"/>
          <p:cNvSpPr/>
          <p:nvPr/>
        </p:nvSpPr>
        <p:spPr>
          <a:xfrm>
            <a:off x="1627159" y="2444970"/>
            <a:ext cx="139270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endParaRPr lang="en-US" dirty="0"/>
          </a:p>
        </p:txBody>
      </p:sp>
      <p:sp>
        <p:nvSpPr>
          <p:cNvPr id="15" name="Rectangle 14"/>
          <p:cNvSpPr/>
          <p:nvPr/>
        </p:nvSpPr>
        <p:spPr>
          <a:xfrm>
            <a:off x="3505199" y="2430674"/>
            <a:ext cx="2192216"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Application Layer</a:t>
            </a:r>
            <a:endParaRPr lang="en-US" dirty="0"/>
          </a:p>
        </p:txBody>
      </p:sp>
      <p:sp>
        <p:nvSpPr>
          <p:cNvPr id="16" name="Rectangle 15"/>
          <p:cNvSpPr/>
          <p:nvPr/>
        </p:nvSpPr>
        <p:spPr>
          <a:xfrm>
            <a:off x="3505199" y="3052228"/>
            <a:ext cx="2192216"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Presentation Layer</a:t>
            </a:r>
            <a:endParaRPr lang="en-US" dirty="0"/>
          </a:p>
        </p:txBody>
      </p:sp>
      <p:sp>
        <p:nvSpPr>
          <p:cNvPr id="17" name="Rectangle 16"/>
          <p:cNvSpPr/>
          <p:nvPr/>
        </p:nvSpPr>
        <p:spPr>
          <a:xfrm>
            <a:off x="1627159" y="3045425"/>
            <a:ext cx="139270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Data</a:t>
            </a:r>
            <a:endParaRPr lang="en-US" dirty="0"/>
          </a:p>
        </p:txBody>
      </p:sp>
      <p:sp>
        <p:nvSpPr>
          <p:cNvPr id="18" name="Rectangle 17"/>
          <p:cNvSpPr/>
          <p:nvPr/>
        </p:nvSpPr>
        <p:spPr>
          <a:xfrm>
            <a:off x="6504523" y="2430674"/>
            <a:ext cx="2658794" cy="16020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Application Layer</a:t>
            </a:r>
            <a:endParaRPr lang="en-US" dirty="0"/>
          </a:p>
        </p:txBody>
      </p:sp>
      <p:cxnSp>
        <p:nvCxnSpPr>
          <p:cNvPr id="20" name="Straight Connector 19"/>
          <p:cNvCxnSpPr/>
          <p:nvPr/>
        </p:nvCxnSpPr>
        <p:spPr>
          <a:xfrm>
            <a:off x="6023019" y="2613554"/>
            <a:ext cx="0" cy="123630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15" idx="3"/>
          </p:cNvCxnSpPr>
          <p:nvPr/>
        </p:nvCxnSpPr>
        <p:spPr>
          <a:xfrm flipH="1">
            <a:off x="5697415" y="2613554"/>
            <a:ext cx="3256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flipH="1">
            <a:off x="5717195" y="3228305"/>
            <a:ext cx="3256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5687013" y="3842133"/>
            <a:ext cx="3256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6042799" y="3052228"/>
            <a:ext cx="46172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6504523" y="4259474"/>
            <a:ext cx="255507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Transport Layer</a:t>
            </a:r>
            <a:endParaRPr lang="en-US" dirty="0"/>
          </a:p>
        </p:txBody>
      </p:sp>
      <p:cxnSp>
        <p:nvCxnSpPr>
          <p:cNvPr id="29" name="Straight Connector 28"/>
          <p:cNvCxnSpPr>
            <a:stCxn id="28" idx="1"/>
          </p:cNvCxnSpPr>
          <p:nvPr/>
        </p:nvCxnSpPr>
        <p:spPr>
          <a:xfrm flipH="1">
            <a:off x="5717195" y="4442354"/>
            <a:ext cx="787328" cy="1172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flipH="1">
            <a:off x="5697415" y="5106572"/>
            <a:ext cx="807108" cy="86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flipH="1">
            <a:off x="5697415" y="5790508"/>
            <a:ext cx="3256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5687013" y="6421209"/>
            <a:ext cx="32560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flipH="1">
            <a:off x="6042799" y="6093904"/>
            <a:ext cx="437420" cy="1147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9" name="Rectangle 38"/>
          <p:cNvSpPr/>
          <p:nvPr/>
        </p:nvSpPr>
        <p:spPr>
          <a:xfrm>
            <a:off x="6504523" y="4928035"/>
            <a:ext cx="2555071" cy="3657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Internet Layer</a:t>
            </a:r>
            <a:endParaRPr lang="en-US" dirty="0"/>
          </a:p>
        </p:txBody>
      </p:sp>
      <p:sp>
        <p:nvSpPr>
          <p:cNvPr id="40" name="Rectangle 39"/>
          <p:cNvSpPr/>
          <p:nvPr/>
        </p:nvSpPr>
        <p:spPr>
          <a:xfrm>
            <a:off x="6480219" y="5592253"/>
            <a:ext cx="2579375" cy="9659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Network Access Layer</a:t>
            </a:r>
            <a:endParaRPr lang="en-US" dirty="0"/>
          </a:p>
        </p:txBody>
      </p:sp>
      <p:cxnSp>
        <p:nvCxnSpPr>
          <p:cNvPr id="43" name="Straight Connector 42"/>
          <p:cNvCxnSpPr/>
          <p:nvPr/>
        </p:nvCxnSpPr>
        <p:spPr>
          <a:xfrm flipH="1">
            <a:off x="6018991" y="5787574"/>
            <a:ext cx="4028" cy="63081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9163317" y="2430674"/>
            <a:ext cx="2602524" cy="160206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https, TLS, DNS</a:t>
            </a:r>
            <a:endParaRPr lang="en-US" dirty="0">
              <a:solidFill>
                <a:schemeClr val="tx1"/>
              </a:solidFill>
            </a:endParaRPr>
          </a:p>
        </p:txBody>
      </p:sp>
      <p:sp>
        <p:nvSpPr>
          <p:cNvPr id="50" name="Rectangle 49"/>
          <p:cNvSpPr/>
          <p:nvPr/>
        </p:nvSpPr>
        <p:spPr>
          <a:xfrm>
            <a:off x="9059594" y="4259474"/>
            <a:ext cx="2694524" cy="36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TCP, UDP</a:t>
            </a:r>
            <a:endParaRPr lang="en-US" dirty="0"/>
          </a:p>
        </p:txBody>
      </p:sp>
      <p:sp>
        <p:nvSpPr>
          <p:cNvPr id="51" name="Rectangle 50"/>
          <p:cNvSpPr/>
          <p:nvPr/>
        </p:nvSpPr>
        <p:spPr>
          <a:xfrm>
            <a:off x="9071317" y="5604694"/>
            <a:ext cx="2602524" cy="94381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Ethernet, Wireless LAN</a:t>
            </a:r>
            <a:endParaRPr lang="en-US" dirty="0">
              <a:solidFill>
                <a:schemeClr val="tx1"/>
              </a:solidFill>
            </a:endParaRPr>
          </a:p>
        </p:txBody>
      </p:sp>
      <p:sp>
        <p:nvSpPr>
          <p:cNvPr id="53" name="Rectangle 52"/>
          <p:cNvSpPr/>
          <p:nvPr/>
        </p:nvSpPr>
        <p:spPr>
          <a:xfrm>
            <a:off x="9071317" y="4917369"/>
            <a:ext cx="2694524" cy="36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iPv4, iPv6</a:t>
            </a:r>
            <a:endParaRPr lang="en-US" dirty="0"/>
          </a:p>
        </p:txBody>
      </p:sp>
      <p:sp>
        <p:nvSpPr>
          <p:cNvPr id="54" name="Rectangle 53"/>
          <p:cNvSpPr/>
          <p:nvPr/>
        </p:nvSpPr>
        <p:spPr>
          <a:xfrm>
            <a:off x="7724055" y="1856496"/>
            <a:ext cx="2694524" cy="36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TCP/IP Model</a:t>
            </a:r>
            <a:endParaRPr lang="en-US" dirty="0"/>
          </a:p>
        </p:txBody>
      </p:sp>
      <p:sp>
        <p:nvSpPr>
          <p:cNvPr id="55" name="Rectangle 54"/>
          <p:cNvSpPr/>
          <p:nvPr/>
        </p:nvSpPr>
        <p:spPr>
          <a:xfrm>
            <a:off x="3416335" y="1860358"/>
            <a:ext cx="2270678" cy="36576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OSI Model</a:t>
            </a:r>
            <a:endParaRPr lang="en-US" dirty="0"/>
          </a:p>
        </p:txBody>
      </p:sp>
    </p:spTree>
    <p:extLst>
      <p:ext uri="{BB962C8B-B14F-4D97-AF65-F5344CB8AC3E}">
        <p14:creationId xmlns:p14="http://schemas.microsoft.com/office/powerpoint/2010/main" val="17009706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420838"/>
            <a:ext cx="11088710" cy="4902690"/>
          </a:xfrm>
        </p:spPr>
        <p:txBody>
          <a:bodyPr>
            <a:normAutofit lnSpcReduction="10000"/>
          </a:bodyPr>
          <a:lstStyle/>
          <a:p>
            <a:pPr algn="l"/>
            <a:r>
              <a:rPr lang="en-GB" b="1" dirty="0" smtClean="0"/>
              <a:t>Topology:</a:t>
            </a:r>
          </a:p>
          <a:p>
            <a:pPr algn="l"/>
            <a:r>
              <a:rPr lang="en-US" dirty="0" smtClean="0"/>
              <a:t>The </a:t>
            </a:r>
            <a:r>
              <a:rPr lang="en-US" dirty="0"/>
              <a:t>layout or structure of a network, showing how devices (nodes like computers, routers, printers) and connections (links, cables) are arranged and how data flows between </a:t>
            </a:r>
            <a:r>
              <a:rPr lang="en-US" dirty="0" smtClean="0"/>
              <a:t>them.</a:t>
            </a:r>
          </a:p>
          <a:p>
            <a:pPr algn="l"/>
            <a:endParaRPr lang="en-US" dirty="0"/>
          </a:p>
          <a:p>
            <a:pPr algn="l"/>
            <a:r>
              <a:rPr lang="en-US" b="1" dirty="0" smtClean="0"/>
              <a:t>Types of Topology:</a:t>
            </a:r>
          </a:p>
          <a:p>
            <a:pPr marL="342900" indent="-342900" algn="l">
              <a:buFont typeface="Wingdings" panose="05000000000000000000" pitchFamily="2" charset="2"/>
              <a:buChar char="§"/>
            </a:pPr>
            <a:r>
              <a:rPr lang="en-US" b="1" dirty="0"/>
              <a:t>Star:</a:t>
            </a:r>
            <a:r>
              <a:rPr lang="en-US" dirty="0"/>
              <a:t> All nodes connect to a central hub or switch. Easy to manage, but failure of the hub brings down the </a:t>
            </a:r>
            <a:r>
              <a:rPr lang="en-US" dirty="0" smtClean="0"/>
              <a:t>network.</a:t>
            </a:r>
          </a:p>
          <a:p>
            <a:pPr marL="342900" indent="-342900" algn="l">
              <a:buFont typeface="Wingdings" panose="05000000000000000000" pitchFamily="2" charset="2"/>
              <a:buChar char="§"/>
            </a:pPr>
            <a:r>
              <a:rPr lang="en-US" b="1" dirty="0" smtClean="0"/>
              <a:t>Bus</a:t>
            </a:r>
            <a:r>
              <a:rPr lang="en-US" b="1" dirty="0"/>
              <a:t>:</a:t>
            </a:r>
            <a:r>
              <a:rPr lang="en-US" dirty="0"/>
              <a:t> All devices share a single main cable (bus). Simple but can suffer from data collisions and single point of failure on the </a:t>
            </a:r>
            <a:r>
              <a:rPr lang="en-US" dirty="0" smtClean="0"/>
              <a:t>bus.</a:t>
            </a:r>
          </a:p>
          <a:p>
            <a:pPr marL="342900" indent="-342900" algn="l">
              <a:buFont typeface="Wingdings" panose="05000000000000000000" pitchFamily="2" charset="2"/>
              <a:buChar char="§"/>
            </a:pPr>
            <a:r>
              <a:rPr lang="en-US" b="1" dirty="0" smtClean="0"/>
              <a:t>Ring</a:t>
            </a:r>
            <a:r>
              <a:rPr lang="en-US" b="1" dirty="0"/>
              <a:t>:</a:t>
            </a:r>
            <a:r>
              <a:rPr lang="en-US" dirty="0"/>
              <a:t> Each node connects to exactly two other nodes, forming a circle. Data travels in one direction.</a:t>
            </a:r>
            <a:r>
              <a:rPr lang="en-GB" dirty="0" smtClean="0"/>
              <a:t/>
            </a:r>
            <a:br>
              <a:rPr lang="en-GB" dirty="0" smtClean="0"/>
            </a:br>
            <a:endParaRPr lang="en-GB" dirty="0"/>
          </a:p>
        </p:txBody>
      </p:sp>
    </p:spTree>
    <p:extLst>
      <p:ext uri="{BB962C8B-B14F-4D97-AF65-F5344CB8AC3E}">
        <p14:creationId xmlns:p14="http://schemas.microsoft.com/office/powerpoint/2010/main" val="18444584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Data Transmission in IICT</a:t>
            </a:r>
            <a:endParaRPr lang="en-GB" dirty="0"/>
          </a:p>
        </p:txBody>
      </p:sp>
      <p:sp>
        <p:nvSpPr>
          <p:cNvPr id="3" name="Subtitle 2"/>
          <p:cNvSpPr>
            <a:spLocks noGrp="1"/>
          </p:cNvSpPr>
          <p:nvPr>
            <p:ph type="subTitle" idx="1"/>
          </p:nvPr>
        </p:nvSpPr>
        <p:spPr>
          <a:xfrm>
            <a:off x="953037" y="1420838"/>
            <a:ext cx="11088710" cy="4902690"/>
          </a:xfrm>
        </p:spPr>
        <p:txBody>
          <a:bodyPr>
            <a:normAutofit/>
          </a:bodyPr>
          <a:lstStyle/>
          <a:p>
            <a:pPr marL="342900" indent="-342900" algn="l">
              <a:buFont typeface="Wingdings" panose="05000000000000000000" pitchFamily="2" charset="2"/>
              <a:buChar char="§"/>
            </a:pPr>
            <a:r>
              <a:rPr lang="en-US" b="1" dirty="0"/>
              <a:t>Mesh:</a:t>
            </a:r>
            <a:r>
              <a:rPr lang="en-US" dirty="0"/>
              <a:t> Each node connects to multiple other nodes, offering high redundancy (full mesh</a:t>
            </a:r>
            <a:r>
              <a:rPr lang="en-US" dirty="0" smtClean="0"/>
              <a:t>).</a:t>
            </a:r>
          </a:p>
          <a:p>
            <a:pPr marL="342900" indent="-342900" algn="l">
              <a:buFont typeface="Wingdings" panose="05000000000000000000" pitchFamily="2" charset="2"/>
              <a:buChar char="§"/>
            </a:pPr>
            <a:r>
              <a:rPr lang="en-US" b="1" dirty="0" smtClean="0"/>
              <a:t>Tree </a:t>
            </a:r>
            <a:r>
              <a:rPr lang="en-US" b="1" dirty="0"/>
              <a:t>(Hierarchical):</a:t>
            </a:r>
            <a:r>
              <a:rPr lang="en-US" dirty="0"/>
              <a:t> A combination of Star and Bus, with nodes organized in a </a:t>
            </a:r>
            <a:r>
              <a:rPr lang="en-US" dirty="0" smtClean="0"/>
              <a:t>hierarchy.</a:t>
            </a:r>
          </a:p>
          <a:p>
            <a:pPr marL="342900" indent="-342900" algn="l">
              <a:buFont typeface="Wingdings" panose="05000000000000000000" pitchFamily="2" charset="2"/>
              <a:buChar char="§"/>
            </a:pPr>
            <a:r>
              <a:rPr lang="en-US" b="1" dirty="0" smtClean="0"/>
              <a:t>Hybrid</a:t>
            </a:r>
            <a:r>
              <a:rPr lang="en-US" b="1" dirty="0"/>
              <a:t>:</a:t>
            </a:r>
            <a:r>
              <a:rPr lang="en-US" dirty="0"/>
              <a:t> A mix of two or more topologies (e.g., a Star-Bus network). </a:t>
            </a:r>
            <a:r>
              <a:rPr lang="en-GB" dirty="0" smtClean="0"/>
              <a:t/>
            </a:r>
            <a:br>
              <a:rPr lang="en-GB" dirty="0" smtClean="0"/>
            </a:br>
            <a:endParaRPr lang="en-GB" dirty="0"/>
          </a:p>
        </p:txBody>
      </p:sp>
    </p:spTree>
    <p:extLst>
      <p:ext uri="{BB962C8B-B14F-4D97-AF65-F5344CB8AC3E}">
        <p14:creationId xmlns:p14="http://schemas.microsoft.com/office/powerpoint/2010/main" val="7361301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smtClean="0"/>
              <a:t>Role </a:t>
            </a:r>
            <a:r>
              <a:rPr lang="en-GB" dirty="0" smtClean="0"/>
              <a:t>of IICT in Education</a:t>
            </a:r>
            <a:endParaRPr lang="en-GB" dirty="0"/>
          </a:p>
        </p:txBody>
      </p:sp>
      <p:sp>
        <p:nvSpPr>
          <p:cNvPr id="3" name="Subtitle 2"/>
          <p:cNvSpPr>
            <a:spLocks noGrp="1"/>
          </p:cNvSpPr>
          <p:nvPr>
            <p:ph type="subTitle" idx="1"/>
          </p:nvPr>
        </p:nvSpPr>
        <p:spPr>
          <a:xfrm>
            <a:off x="953037" y="1420838"/>
            <a:ext cx="11088710" cy="4902690"/>
          </a:xfrm>
        </p:spPr>
        <p:txBody>
          <a:bodyPr>
            <a:normAutofit lnSpcReduction="10000"/>
          </a:bodyPr>
          <a:lstStyle/>
          <a:p>
            <a:pPr algn="l"/>
            <a:r>
              <a:rPr lang="en-US" sz="2200" b="1" dirty="0" smtClean="0"/>
              <a:t>Role of IICT in Education:</a:t>
            </a:r>
          </a:p>
          <a:p>
            <a:pPr algn="l"/>
            <a:r>
              <a:rPr lang="en-US" sz="2200" dirty="0" smtClean="0"/>
              <a:t>Information </a:t>
            </a:r>
            <a:r>
              <a:rPr lang="en-US" sz="2200" dirty="0"/>
              <a:t>and Communication Technology (ICT) transforms education by making learning interactive, accessible, and personalized through tools like computers, internet, and multimedia, fostering engagement, digital literacy, and 21st-century skills, while also supporting distance learning and efficient management for a more inclusive, student-centered environment. </a:t>
            </a:r>
            <a:endParaRPr lang="en-US" sz="2200" b="1" dirty="0" smtClean="0"/>
          </a:p>
          <a:p>
            <a:pPr algn="l"/>
            <a:r>
              <a:rPr lang="en-US" sz="2200" b="1" dirty="0"/>
              <a:t>Key Roles of ICT in Education</a:t>
            </a:r>
          </a:p>
          <a:p>
            <a:pPr marL="342900" indent="-342900" algn="l">
              <a:buFont typeface="Wingdings" panose="05000000000000000000" pitchFamily="2" charset="2"/>
              <a:buChar char="§"/>
            </a:pPr>
            <a:r>
              <a:rPr lang="en-US" sz="2200" b="1" dirty="0"/>
              <a:t>Enhances Engagement &amp; Interaction:</a:t>
            </a:r>
            <a:r>
              <a:rPr lang="en-US" sz="2200" dirty="0"/>
              <a:t> ICT uses videos, simulations, games, and </a:t>
            </a:r>
            <a:r>
              <a:rPr lang="en-US" sz="2200" dirty="0" err="1"/>
              <a:t>smartboards</a:t>
            </a:r>
            <a:r>
              <a:rPr lang="en-US" sz="2200" dirty="0"/>
              <a:t> to make learning dynamic and cater to diverse learning styles, improving understanding and </a:t>
            </a:r>
            <a:r>
              <a:rPr lang="en-US" sz="2200" dirty="0" smtClean="0"/>
              <a:t>retention.</a:t>
            </a:r>
          </a:p>
          <a:p>
            <a:pPr marL="342900" indent="-342900" algn="l">
              <a:buFont typeface="Wingdings" panose="05000000000000000000" pitchFamily="2" charset="2"/>
              <a:buChar char="§"/>
            </a:pPr>
            <a:r>
              <a:rPr lang="en-US" sz="2200" b="1" dirty="0" smtClean="0"/>
              <a:t>Promotes </a:t>
            </a:r>
            <a:r>
              <a:rPr lang="en-US" sz="2200" b="1" dirty="0"/>
              <a:t>Accessibility &amp; Inclusivity:</a:t>
            </a:r>
            <a:r>
              <a:rPr lang="en-US" sz="2200" dirty="0"/>
              <a:t> Provides access to global resources, supports distance/online learning for remote or disabled students, and allows self-paced learning, breaking down geographical and physical </a:t>
            </a:r>
            <a:r>
              <a:rPr lang="en-US" sz="2200" dirty="0" smtClean="0"/>
              <a:t>barriers.</a:t>
            </a:r>
          </a:p>
          <a:p>
            <a:pPr marL="342900" indent="-342900" algn="l">
              <a:buFont typeface="Wingdings" panose="05000000000000000000" pitchFamily="2" charset="2"/>
              <a:buChar char="§"/>
            </a:pPr>
            <a:r>
              <a:rPr lang="en-US" sz="2200" b="1" dirty="0" smtClean="0"/>
              <a:t>Develops </a:t>
            </a:r>
            <a:r>
              <a:rPr lang="en-US" sz="2200" b="1" dirty="0"/>
              <a:t>Essential Skills:</a:t>
            </a:r>
            <a:r>
              <a:rPr lang="en-US" sz="2200" dirty="0"/>
              <a:t> Fosters critical thinking, problem-solving, creativity, collaboration, and crucial digital literacy needed for the modern world.</a:t>
            </a:r>
            <a:r>
              <a:rPr lang="en-GB" sz="2200" dirty="0" smtClean="0"/>
              <a:t/>
            </a:r>
            <a:br>
              <a:rPr lang="en-GB" sz="2200" dirty="0" smtClean="0"/>
            </a:br>
            <a:endParaRPr lang="en-GB" sz="2200" dirty="0"/>
          </a:p>
        </p:txBody>
      </p:sp>
    </p:spTree>
    <p:extLst>
      <p:ext uri="{BB962C8B-B14F-4D97-AF65-F5344CB8AC3E}">
        <p14:creationId xmlns:p14="http://schemas.microsoft.com/office/powerpoint/2010/main" val="11444533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a:t>Role of IICT in Education</a:t>
            </a:r>
            <a:endParaRPr lang="en-GB" dirty="0"/>
          </a:p>
        </p:txBody>
      </p:sp>
      <p:sp>
        <p:nvSpPr>
          <p:cNvPr id="3" name="Subtitle 2"/>
          <p:cNvSpPr>
            <a:spLocks noGrp="1"/>
          </p:cNvSpPr>
          <p:nvPr>
            <p:ph type="subTitle" idx="1"/>
          </p:nvPr>
        </p:nvSpPr>
        <p:spPr>
          <a:xfrm>
            <a:off x="953037" y="1420838"/>
            <a:ext cx="11088710" cy="4902690"/>
          </a:xfrm>
        </p:spPr>
        <p:txBody>
          <a:bodyPr>
            <a:normAutofit/>
          </a:bodyPr>
          <a:lstStyle/>
          <a:p>
            <a:pPr marL="342900" indent="-342900" algn="l">
              <a:buFont typeface="Wingdings" panose="05000000000000000000" pitchFamily="2" charset="2"/>
              <a:buChar char="§"/>
            </a:pPr>
            <a:r>
              <a:rPr lang="en-US" sz="2200" b="1" dirty="0" smtClean="0"/>
              <a:t>Personalizes </a:t>
            </a:r>
            <a:r>
              <a:rPr lang="en-US" sz="2200" b="1" dirty="0"/>
              <a:t>Learning:</a:t>
            </a:r>
            <a:r>
              <a:rPr lang="en-US" sz="2200" dirty="0"/>
              <a:t> Enables adaptive learning paths, tailored content, and immediate feedback, allowing students to learn at their own </a:t>
            </a:r>
            <a:r>
              <a:rPr lang="en-US" sz="2200" dirty="0" smtClean="0"/>
              <a:t>pace.</a:t>
            </a:r>
          </a:p>
          <a:p>
            <a:pPr marL="342900" indent="-342900" algn="l">
              <a:buFont typeface="Wingdings" panose="05000000000000000000" pitchFamily="2" charset="2"/>
              <a:buChar char="§"/>
            </a:pPr>
            <a:r>
              <a:rPr lang="en-US" sz="2200" b="1" dirty="0" smtClean="0"/>
              <a:t>Supports </a:t>
            </a:r>
            <a:r>
              <a:rPr lang="en-US" sz="2200" b="1" dirty="0"/>
              <a:t>Teachers:</a:t>
            </a:r>
            <a:r>
              <a:rPr lang="en-US" sz="2200" dirty="0"/>
              <a:t> Offers tools for content creation, data management, professional development, and efficient communication, freeing up time for personalized </a:t>
            </a:r>
            <a:r>
              <a:rPr lang="en-US" sz="2200" dirty="0" smtClean="0"/>
              <a:t>instruction.</a:t>
            </a:r>
          </a:p>
          <a:p>
            <a:pPr marL="342900" indent="-342900" algn="l">
              <a:buFont typeface="Wingdings" panose="05000000000000000000" pitchFamily="2" charset="2"/>
              <a:buChar char="§"/>
            </a:pPr>
            <a:r>
              <a:rPr lang="en-US" sz="2200" b="1" dirty="0" smtClean="0"/>
              <a:t>Facilitates </a:t>
            </a:r>
            <a:r>
              <a:rPr lang="en-US" sz="2200" b="1" dirty="0"/>
              <a:t>Collaboration:</a:t>
            </a:r>
            <a:r>
              <a:rPr lang="en-US" sz="2200" dirty="0"/>
              <a:t> Connects students and teachers globally through online forums, projects, and communication platforms, enabling real-time </a:t>
            </a:r>
            <a:r>
              <a:rPr lang="en-US" sz="2200" dirty="0" smtClean="0"/>
              <a:t>teamwork.</a:t>
            </a:r>
          </a:p>
          <a:p>
            <a:pPr marL="342900" indent="-342900" algn="l">
              <a:buFont typeface="Wingdings" panose="05000000000000000000" pitchFamily="2" charset="2"/>
              <a:buChar char="§"/>
            </a:pPr>
            <a:r>
              <a:rPr lang="en-US" sz="2200" b="1" dirty="0" smtClean="0"/>
              <a:t>Streamlines </a:t>
            </a:r>
            <a:r>
              <a:rPr lang="en-US" sz="2200" b="1" dirty="0"/>
              <a:t>Management:</a:t>
            </a:r>
            <a:r>
              <a:rPr lang="en-US" sz="2200" dirty="0"/>
              <a:t> Automates administrative tasks like grading and attendance, improving efficiency in educational institutions. </a:t>
            </a:r>
            <a:endParaRPr lang="en-GB" sz="2200" dirty="0"/>
          </a:p>
        </p:txBody>
      </p:sp>
    </p:spTree>
    <p:extLst>
      <p:ext uri="{BB962C8B-B14F-4D97-AF65-F5344CB8AC3E}">
        <p14:creationId xmlns:p14="http://schemas.microsoft.com/office/powerpoint/2010/main" val="9005154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a:t>Role of IICT in Education</a:t>
            </a:r>
            <a:endParaRPr lang="en-GB" dirty="0"/>
          </a:p>
        </p:txBody>
      </p:sp>
      <p:sp>
        <p:nvSpPr>
          <p:cNvPr id="3" name="Subtitle 2"/>
          <p:cNvSpPr>
            <a:spLocks noGrp="1"/>
          </p:cNvSpPr>
          <p:nvPr>
            <p:ph type="subTitle" idx="1"/>
          </p:nvPr>
        </p:nvSpPr>
        <p:spPr>
          <a:xfrm>
            <a:off x="953037" y="1420838"/>
            <a:ext cx="11088710" cy="4902690"/>
          </a:xfrm>
        </p:spPr>
        <p:txBody>
          <a:bodyPr>
            <a:normAutofit/>
          </a:bodyPr>
          <a:lstStyle/>
          <a:p>
            <a:pPr algn="l"/>
            <a:r>
              <a:rPr lang="en-US" sz="2200" b="1" dirty="0"/>
              <a:t>Examples of ICT Tools in Education</a:t>
            </a:r>
          </a:p>
          <a:p>
            <a:pPr marL="342900" indent="-342900" algn="l">
              <a:buFont typeface="Wingdings" panose="05000000000000000000" pitchFamily="2" charset="2"/>
              <a:buChar char="§"/>
            </a:pPr>
            <a:r>
              <a:rPr lang="en-US" sz="2200" dirty="0"/>
              <a:t>Learning Management Systems (LMS) like Google </a:t>
            </a:r>
            <a:r>
              <a:rPr lang="en-US" sz="2200" dirty="0" smtClean="0"/>
              <a:t>Classroom.</a:t>
            </a:r>
          </a:p>
          <a:p>
            <a:pPr marL="342900" indent="-342900" algn="l">
              <a:buFont typeface="Wingdings" panose="05000000000000000000" pitchFamily="2" charset="2"/>
              <a:buChar char="§"/>
            </a:pPr>
            <a:r>
              <a:rPr lang="en-US" sz="2200" dirty="0" smtClean="0"/>
              <a:t>Interactive Whiteboards/Smart boards.</a:t>
            </a:r>
          </a:p>
          <a:p>
            <a:pPr marL="342900" indent="-342900" algn="l">
              <a:buFont typeface="Wingdings" panose="05000000000000000000" pitchFamily="2" charset="2"/>
              <a:buChar char="§"/>
            </a:pPr>
            <a:r>
              <a:rPr lang="en-US" sz="2200" dirty="0" smtClean="0"/>
              <a:t>Educational </a:t>
            </a:r>
            <a:r>
              <a:rPr lang="en-US" sz="2200" dirty="0"/>
              <a:t>Apps and </a:t>
            </a:r>
            <a:r>
              <a:rPr lang="en-US" sz="2200" dirty="0" smtClean="0"/>
              <a:t>Software.</a:t>
            </a:r>
          </a:p>
          <a:p>
            <a:pPr marL="342900" indent="-342900" algn="l">
              <a:buFont typeface="Wingdings" panose="05000000000000000000" pitchFamily="2" charset="2"/>
              <a:buChar char="§"/>
            </a:pPr>
            <a:r>
              <a:rPr lang="en-US" sz="2200" dirty="0" smtClean="0"/>
              <a:t>Digital </a:t>
            </a:r>
            <a:r>
              <a:rPr lang="en-US" sz="2200" dirty="0"/>
              <a:t>Libraries and Online </a:t>
            </a:r>
            <a:r>
              <a:rPr lang="en-US" sz="2200" dirty="0" smtClean="0"/>
              <a:t>Resources.</a:t>
            </a:r>
          </a:p>
          <a:p>
            <a:pPr marL="342900" indent="-342900" algn="l">
              <a:buFont typeface="Wingdings" panose="05000000000000000000" pitchFamily="2" charset="2"/>
              <a:buChar char="§"/>
            </a:pPr>
            <a:r>
              <a:rPr lang="en-US" sz="2200" dirty="0" smtClean="0"/>
              <a:t>Video </a:t>
            </a:r>
            <a:r>
              <a:rPr lang="en-US" sz="2200" dirty="0"/>
              <a:t>Conferencing &amp; Online Platforms for virtual </a:t>
            </a:r>
            <a:r>
              <a:rPr lang="en-US" sz="2200" dirty="0" smtClean="0"/>
              <a:t>classrooms. </a:t>
            </a:r>
            <a:endParaRPr lang="en-GB" sz="2200" dirty="0"/>
          </a:p>
        </p:txBody>
      </p:sp>
    </p:spTree>
    <p:extLst>
      <p:ext uri="{BB962C8B-B14F-4D97-AF65-F5344CB8AC3E}">
        <p14:creationId xmlns:p14="http://schemas.microsoft.com/office/powerpoint/2010/main" val="305961704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a:t>Role of IICT in </a:t>
            </a:r>
            <a:r>
              <a:rPr lang="en-GB" dirty="0" smtClean="0"/>
              <a:t>Healthcare</a:t>
            </a:r>
            <a:endParaRPr lang="en-GB" dirty="0"/>
          </a:p>
        </p:txBody>
      </p:sp>
      <p:sp>
        <p:nvSpPr>
          <p:cNvPr id="3" name="Subtitle 2"/>
          <p:cNvSpPr>
            <a:spLocks noGrp="1"/>
          </p:cNvSpPr>
          <p:nvPr>
            <p:ph type="subTitle" idx="1"/>
          </p:nvPr>
        </p:nvSpPr>
        <p:spPr>
          <a:xfrm>
            <a:off x="953037" y="1420838"/>
            <a:ext cx="11088710" cy="4902690"/>
          </a:xfrm>
        </p:spPr>
        <p:txBody>
          <a:bodyPr>
            <a:normAutofit lnSpcReduction="10000"/>
          </a:bodyPr>
          <a:lstStyle/>
          <a:p>
            <a:pPr algn="l"/>
            <a:r>
              <a:rPr lang="en-US" sz="2200" b="1" dirty="0" smtClean="0"/>
              <a:t>Role of IICT in Healthcare:</a:t>
            </a:r>
          </a:p>
          <a:p>
            <a:pPr algn="l"/>
            <a:r>
              <a:rPr lang="en-US" sz="2200" dirty="0" smtClean="0"/>
              <a:t>ICT </a:t>
            </a:r>
            <a:r>
              <a:rPr lang="en-US" sz="2200" dirty="0"/>
              <a:t>(Information and Communication Technology) in healthcare revolutionizes patient care, efficiency, and access through tools like electronic health records (EHRs), telemedicine, and mobile health apps, enabling better data management, improved communication, reduced errors, cost savings, and expanded care to remote areas, ultimately improving health outcomes and supporting public health </a:t>
            </a:r>
            <a:r>
              <a:rPr lang="en-US" sz="2200" dirty="0" smtClean="0"/>
              <a:t>initiatives.</a:t>
            </a:r>
          </a:p>
          <a:p>
            <a:pPr algn="l"/>
            <a:r>
              <a:rPr lang="en-US" sz="2200" b="1" dirty="0"/>
              <a:t>Key Roles of ICT in Healthcare:</a:t>
            </a:r>
          </a:p>
          <a:p>
            <a:pPr algn="l"/>
            <a:r>
              <a:rPr lang="en-US" sz="2200" b="1" dirty="0" err="1" smtClean="0"/>
              <a:t>i</a:t>
            </a:r>
            <a:r>
              <a:rPr lang="en-US" sz="2200" b="1" dirty="0" smtClean="0"/>
              <a:t>) Enhanced </a:t>
            </a:r>
            <a:r>
              <a:rPr lang="en-US" sz="2200" b="1" dirty="0"/>
              <a:t>Patient Care &amp; Outcomes:</a:t>
            </a:r>
          </a:p>
          <a:p>
            <a:pPr marL="342900" indent="-342900" algn="l">
              <a:buFont typeface="Wingdings" panose="05000000000000000000" pitchFamily="2" charset="2"/>
              <a:buChar char="§"/>
            </a:pPr>
            <a:r>
              <a:rPr lang="en-US" sz="2200" b="1" dirty="0"/>
              <a:t>EHRs:</a:t>
            </a:r>
            <a:r>
              <a:rPr lang="en-US" sz="2200" dirty="0"/>
              <a:t> Centralize patient data for better information sharing and reduced medical </a:t>
            </a:r>
            <a:r>
              <a:rPr lang="en-US" sz="2200" dirty="0" smtClean="0"/>
              <a:t>errors.</a:t>
            </a:r>
          </a:p>
          <a:p>
            <a:pPr marL="342900" indent="-342900" algn="l">
              <a:buFont typeface="Wingdings" panose="05000000000000000000" pitchFamily="2" charset="2"/>
              <a:buChar char="§"/>
            </a:pPr>
            <a:r>
              <a:rPr lang="en-US" sz="2200" b="1" dirty="0" smtClean="0"/>
              <a:t>Decision </a:t>
            </a:r>
            <a:r>
              <a:rPr lang="en-US" sz="2200" b="1" dirty="0"/>
              <a:t>Support Systems:</a:t>
            </a:r>
            <a:r>
              <a:rPr lang="en-US" sz="2200" dirty="0"/>
              <a:t> Assist professionals in making faster, more informed clinical decisions</a:t>
            </a:r>
            <a:r>
              <a:rPr lang="en-US" sz="2200" dirty="0" smtClean="0"/>
              <a:t>.</a:t>
            </a:r>
          </a:p>
          <a:p>
            <a:pPr marL="342900" indent="-342900" algn="l">
              <a:buFont typeface="Wingdings" panose="05000000000000000000" pitchFamily="2" charset="2"/>
              <a:buChar char="§"/>
            </a:pPr>
            <a:r>
              <a:rPr lang="en-US" sz="2200" b="1" dirty="0"/>
              <a:t>Telemedicine &amp; Mobile Health:</a:t>
            </a:r>
            <a:r>
              <a:rPr lang="en-US" sz="2200" dirty="0"/>
              <a:t> Provide remote consultations, monitoring </a:t>
            </a:r>
            <a:r>
              <a:rPr lang="en-US" sz="2200" dirty="0" smtClean="0"/>
              <a:t>(Tele-monitoring</a:t>
            </a:r>
            <a:r>
              <a:rPr lang="en-US" sz="2200" dirty="0"/>
              <a:t>), and health education, extending care to rural areas. </a:t>
            </a:r>
          </a:p>
          <a:p>
            <a:pPr marL="342900" indent="-342900" algn="l">
              <a:buFont typeface="Wingdings" panose="05000000000000000000" pitchFamily="2" charset="2"/>
              <a:buChar char="§"/>
            </a:pPr>
            <a:r>
              <a:rPr lang="en-US" sz="2200" b="1" dirty="0"/>
              <a:t>Personalized Care:</a:t>
            </a:r>
            <a:r>
              <a:rPr lang="en-US" sz="2200" dirty="0"/>
              <a:t> Up-to-date data allows for tailored treatment plans.  </a:t>
            </a:r>
            <a:endParaRPr lang="en-GB" sz="2200" dirty="0"/>
          </a:p>
        </p:txBody>
      </p:sp>
    </p:spTree>
    <p:extLst>
      <p:ext uri="{BB962C8B-B14F-4D97-AF65-F5344CB8AC3E}">
        <p14:creationId xmlns:p14="http://schemas.microsoft.com/office/powerpoint/2010/main" val="20582810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a:t>Role of IICT in Healthcare</a:t>
            </a:r>
            <a:endParaRPr lang="en-GB" dirty="0"/>
          </a:p>
        </p:txBody>
      </p:sp>
      <p:sp>
        <p:nvSpPr>
          <p:cNvPr id="3" name="Subtitle 2"/>
          <p:cNvSpPr>
            <a:spLocks noGrp="1"/>
          </p:cNvSpPr>
          <p:nvPr>
            <p:ph type="subTitle" idx="1"/>
          </p:nvPr>
        </p:nvSpPr>
        <p:spPr>
          <a:xfrm>
            <a:off x="953037" y="1420838"/>
            <a:ext cx="11088710" cy="4902690"/>
          </a:xfrm>
        </p:spPr>
        <p:txBody>
          <a:bodyPr>
            <a:normAutofit/>
          </a:bodyPr>
          <a:lstStyle/>
          <a:p>
            <a:pPr algn="l"/>
            <a:r>
              <a:rPr lang="en-US" sz="2200" b="1" dirty="0" smtClean="0"/>
              <a:t>ii) Improved </a:t>
            </a:r>
            <a:r>
              <a:rPr lang="en-US" sz="2200" b="1" dirty="0"/>
              <a:t>Efficiency &amp; Cost Reduction:</a:t>
            </a:r>
          </a:p>
          <a:p>
            <a:pPr marL="342900" indent="-342900" algn="l">
              <a:buFont typeface="Wingdings" panose="05000000000000000000" pitchFamily="2" charset="2"/>
              <a:buChar char="§"/>
            </a:pPr>
            <a:r>
              <a:rPr lang="en-US" sz="2200" b="1" dirty="0"/>
              <a:t>Streamlined Processes: </a:t>
            </a:r>
            <a:r>
              <a:rPr lang="en-US" sz="2200" dirty="0"/>
              <a:t>Automates administrative tasks like billing, claims, and records management. </a:t>
            </a:r>
          </a:p>
          <a:p>
            <a:pPr marL="342900" indent="-342900" algn="l">
              <a:buFont typeface="Wingdings" panose="05000000000000000000" pitchFamily="2" charset="2"/>
              <a:buChar char="§"/>
            </a:pPr>
            <a:r>
              <a:rPr lang="en-US" sz="2200" b="1" dirty="0"/>
              <a:t>Reduced Paperwork: </a:t>
            </a:r>
            <a:r>
              <a:rPr lang="en-US" sz="2200" dirty="0"/>
              <a:t>Digitization saves time and resources.</a:t>
            </a:r>
            <a:r>
              <a:rPr lang="en-US" sz="2200" b="1" dirty="0"/>
              <a:t> </a:t>
            </a:r>
            <a:endParaRPr lang="en-US" sz="2200" b="1" dirty="0" smtClean="0"/>
          </a:p>
          <a:p>
            <a:pPr marL="342900" indent="-342900" algn="l">
              <a:buFont typeface="Wingdings" panose="05000000000000000000" pitchFamily="2" charset="2"/>
              <a:buChar char="§"/>
            </a:pPr>
            <a:r>
              <a:rPr lang="en-US" sz="2200" b="1" dirty="0" smtClean="0"/>
              <a:t>Faster </a:t>
            </a:r>
            <a:r>
              <a:rPr lang="en-US" sz="2200" b="1" dirty="0"/>
              <a:t>Service: </a:t>
            </a:r>
            <a:r>
              <a:rPr lang="en-US" sz="2200" dirty="0"/>
              <a:t>Quicker access to information speeds up workflows.</a:t>
            </a:r>
            <a:r>
              <a:rPr lang="en-US" sz="2200" b="1" dirty="0"/>
              <a:t> </a:t>
            </a:r>
            <a:endParaRPr lang="en-US" sz="2200" b="1" dirty="0" smtClean="0"/>
          </a:p>
          <a:p>
            <a:pPr algn="l"/>
            <a:endParaRPr lang="en-US" sz="2200" b="1" dirty="0"/>
          </a:p>
          <a:p>
            <a:pPr algn="l"/>
            <a:r>
              <a:rPr lang="en-US" sz="2200" b="1" dirty="0" smtClean="0"/>
              <a:t>iii) Better </a:t>
            </a:r>
            <a:r>
              <a:rPr lang="en-US" sz="2200" b="1" dirty="0"/>
              <a:t>Communication &amp; Collaboration:</a:t>
            </a:r>
          </a:p>
          <a:p>
            <a:pPr marL="342900" indent="-342900" algn="l">
              <a:buFont typeface="Wingdings" panose="05000000000000000000" pitchFamily="2" charset="2"/>
              <a:buChar char="§"/>
            </a:pPr>
            <a:r>
              <a:rPr lang="en-US" sz="2200" b="1" dirty="0"/>
              <a:t>Provider-to-Provider:</a:t>
            </a:r>
            <a:r>
              <a:rPr lang="en-US" sz="2200" dirty="0"/>
              <a:t> Enables seamless information flow among healthcare teams, crucial for integrated care.</a:t>
            </a:r>
            <a:r>
              <a:rPr lang="en-US" sz="2200" b="1" dirty="0"/>
              <a:t> </a:t>
            </a:r>
          </a:p>
          <a:p>
            <a:pPr marL="342900" indent="-342900" algn="l">
              <a:buFont typeface="Wingdings" panose="05000000000000000000" pitchFamily="2" charset="2"/>
              <a:buChar char="§"/>
            </a:pPr>
            <a:r>
              <a:rPr lang="en-US" sz="2200" b="1" dirty="0" smtClean="0"/>
              <a:t>Provider-to-Patient</a:t>
            </a:r>
            <a:r>
              <a:rPr lang="en-US" sz="2200" b="1" dirty="0"/>
              <a:t>: </a:t>
            </a:r>
            <a:r>
              <a:rPr lang="en-US" sz="2200" dirty="0"/>
              <a:t>Empowers patients with portals and apps for better engagement and shared decision-making.</a:t>
            </a:r>
            <a:r>
              <a:rPr lang="en-US" sz="2200" b="1" dirty="0"/>
              <a:t> </a:t>
            </a:r>
            <a:endParaRPr lang="en-GB" sz="2200" dirty="0"/>
          </a:p>
        </p:txBody>
      </p:sp>
    </p:spTree>
    <p:extLst>
      <p:ext uri="{BB962C8B-B14F-4D97-AF65-F5344CB8AC3E}">
        <p14:creationId xmlns:p14="http://schemas.microsoft.com/office/powerpoint/2010/main" val="247013894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a:t>Role of IICT in Healthcare</a:t>
            </a:r>
            <a:endParaRPr lang="en-GB" dirty="0"/>
          </a:p>
        </p:txBody>
      </p:sp>
      <p:sp>
        <p:nvSpPr>
          <p:cNvPr id="3" name="Subtitle 2"/>
          <p:cNvSpPr>
            <a:spLocks noGrp="1"/>
          </p:cNvSpPr>
          <p:nvPr>
            <p:ph type="subTitle" idx="1"/>
          </p:nvPr>
        </p:nvSpPr>
        <p:spPr>
          <a:xfrm>
            <a:off x="953037" y="1420838"/>
            <a:ext cx="11088710" cy="4902690"/>
          </a:xfrm>
        </p:spPr>
        <p:txBody>
          <a:bodyPr>
            <a:normAutofit/>
          </a:bodyPr>
          <a:lstStyle/>
          <a:p>
            <a:pPr algn="l"/>
            <a:r>
              <a:rPr lang="en-US" sz="2200" b="1" dirty="0" smtClean="0"/>
              <a:t>iv) Data </a:t>
            </a:r>
            <a:r>
              <a:rPr lang="en-US" sz="2200" b="1" dirty="0"/>
              <a:t>Management &amp; Security:</a:t>
            </a:r>
          </a:p>
          <a:p>
            <a:pPr marL="342900" indent="-342900" algn="l">
              <a:buFont typeface="Wingdings" panose="05000000000000000000" pitchFamily="2" charset="2"/>
              <a:buChar char="§"/>
            </a:pPr>
            <a:r>
              <a:rPr lang="en-US" sz="2200" b="1" dirty="0"/>
              <a:t>Secure Storage: </a:t>
            </a:r>
            <a:endParaRPr lang="en-US" sz="2200" dirty="0" smtClean="0"/>
          </a:p>
          <a:p>
            <a:pPr marL="342900" indent="-342900" algn="l">
              <a:buFont typeface="Wingdings" panose="05000000000000000000" pitchFamily="2" charset="2"/>
              <a:buChar char="§"/>
            </a:pPr>
            <a:r>
              <a:rPr lang="en-US" sz="2200" b="1" dirty="0" smtClean="0"/>
              <a:t>Data </a:t>
            </a:r>
            <a:r>
              <a:rPr lang="en-US" sz="2200" b="1" dirty="0"/>
              <a:t>Analysis: </a:t>
            </a:r>
            <a:r>
              <a:rPr lang="en-US" sz="2200" dirty="0"/>
              <a:t>Supports research, public health planning, and resource allocation.</a:t>
            </a:r>
            <a:r>
              <a:rPr lang="en-US" sz="2200" b="1" dirty="0"/>
              <a:t> </a:t>
            </a:r>
          </a:p>
          <a:p>
            <a:pPr algn="l"/>
            <a:endParaRPr lang="en-US" sz="2200" b="1" dirty="0" smtClean="0"/>
          </a:p>
          <a:p>
            <a:pPr algn="l"/>
            <a:r>
              <a:rPr lang="en-US" sz="2200" b="1" dirty="0" smtClean="0"/>
              <a:t>v) Public </a:t>
            </a:r>
            <a:r>
              <a:rPr lang="en-US" sz="2200" b="1" dirty="0"/>
              <a:t>Health &amp; Accessibility:</a:t>
            </a:r>
          </a:p>
          <a:p>
            <a:pPr marL="342900" indent="-342900" algn="l">
              <a:buFont typeface="Wingdings" panose="05000000000000000000" pitchFamily="2" charset="2"/>
              <a:buChar char="§"/>
            </a:pPr>
            <a:r>
              <a:rPr lang="en-US" sz="2200" b="1" dirty="0"/>
              <a:t>Disease Surveillance:</a:t>
            </a:r>
            <a:r>
              <a:rPr lang="en-US" sz="2200" dirty="0"/>
              <a:t> Helps monitor and manage public health threats. </a:t>
            </a:r>
          </a:p>
          <a:p>
            <a:pPr marL="342900" indent="-342900" algn="l">
              <a:buFont typeface="Wingdings" panose="05000000000000000000" pitchFamily="2" charset="2"/>
              <a:buChar char="§"/>
            </a:pPr>
            <a:r>
              <a:rPr lang="en-US" sz="2200" b="1" dirty="0" smtClean="0"/>
              <a:t>Disaster </a:t>
            </a:r>
            <a:r>
              <a:rPr lang="en-US" sz="2200" b="1" dirty="0"/>
              <a:t>Recovery: </a:t>
            </a:r>
            <a:r>
              <a:rPr lang="en-US" sz="2200" dirty="0"/>
              <a:t>Ensures data backup and system recovery.</a:t>
            </a:r>
            <a:r>
              <a:rPr lang="en-US" sz="2200" b="1" dirty="0"/>
              <a:t> </a:t>
            </a:r>
          </a:p>
          <a:p>
            <a:pPr marL="342900" indent="-342900" algn="l">
              <a:buFont typeface="Wingdings" panose="05000000000000000000" pitchFamily="2" charset="2"/>
              <a:buChar char="§"/>
            </a:pPr>
            <a:r>
              <a:rPr lang="en-US" sz="2200" b="1" dirty="0" smtClean="0"/>
              <a:t>Health </a:t>
            </a:r>
            <a:r>
              <a:rPr lang="en-US" sz="2200" b="1" dirty="0"/>
              <a:t>Awareness: </a:t>
            </a:r>
            <a:r>
              <a:rPr lang="en-US" sz="2200" dirty="0"/>
              <a:t>Distributes health information and promotes preventative measures. </a:t>
            </a:r>
            <a:endParaRPr lang="en-GB" sz="2200" dirty="0"/>
          </a:p>
        </p:txBody>
      </p:sp>
    </p:spTree>
    <p:extLst>
      <p:ext uri="{BB962C8B-B14F-4D97-AF65-F5344CB8AC3E}">
        <p14:creationId xmlns:p14="http://schemas.microsoft.com/office/powerpoint/2010/main" val="4404108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8039" y="1122363"/>
            <a:ext cx="9289961" cy="152645"/>
          </a:xfrm>
        </p:spPr>
        <p:txBody>
          <a:bodyPr>
            <a:normAutofit fontScale="90000"/>
          </a:bodyPr>
          <a:lstStyle/>
          <a:p>
            <a:r>
              <a:rPr lang="en-GB" dirty="0"/>
              <a:t>Role of IICT in Healthcare</a:t>
            </a:r>
            <a:endParaRPr lang="en-GB" dirty="0"/>
          </a:p>
        </p:txBody>
      </p:sp>
      <p:sp>
        <p:nvSpPr>
          <p:cNvPr id="3" name="Subtitle 2"/>
          <p:cNvSpPr>
            <a:spLocks noGrp="1"/>
          </p:cNvSpPr>
          <p:nvPr>
            <p:ph type="subTitle" idx="1"/>
          </p:nvPr>
        </p:nvSpPr>
        <p:spPr>
          <a:xfrm>
            <a:off x="953037" y="1420838"/>
            <a:ext cx="11088710" cy="4902690"/>
          </a:xfrm>
        </p:spPr>
        <p:txBody>
          <a:bodyPr>
            <a:normAutofit/>
          </a:bodyPr>
          <a:lstStyle/>
          <a:p>
            <a:pPr algn="l"/>
            <a:r>
              <a:rPr lang="en-US" sz="2200" b="1" dirty="0"/>
              <a:t>Examples of ICT Tools</a:t>
            </a:r>
            <a:r>
              <a:rPr lang="en-US" sz="2200" b="1" dirty="0" smtClean="0"/>
              <a:t>:</a:t>
            </a:r>
          </a:p>
          <a:p>
            <a:pPr algn="l"/>
            <a:endParaRPr lang="en-US" sz="2200" b="1" dirty="0"/>
          </a:p>
          <a:p>
            <a:pPr marL="342900" indent="-342900" algn="l">
              <a:buFont typeface="Wingdings" panose="05000000000000000000" pitchFamily="2" charset="2"/>
              <a:buChar char="§"/>
            </a:pPr>
            <a:r>
              <a:rPr lang="en-US" sz="2200" b="1" dirty="0"/>
              <a:t>Electronic Health Records (EHRs):</a:t>
            </a:r>
            <a:r>
              <a:rPr lang="en-US" sz="2200" dirty="0"/>
              <a:t> Digital patient </a:t>
            </a:r>
            <a:r>
              <a:rPr lang="en-US" sz="2200" dirty="0" smtClean="0"/>
              <a:t>charts.</a:t>
            </a:r>
          </a:p>
          <a:p>
            <a:pPr marL="342900" indent="-342900" algn="l">
              <a:buFont typeface="Wingdings" panose="05000000000000000000" pitchFamily="2" charset="2"/>
              <a:buChar char="§"/>
            </a:pPr>
            <a:r>
              <a:rPr lang="en-US" sz="2200" b="1" dirty="0" smtClean="0"/>
              <a:t>Tele-health </a:t>
            </a:r>
            <a:r>
              <a:rPr lang="en-US" sz="2200" b="1" dirty="0"/>
              <a:t>Platforms:</a:t>
            </a:r>
            <a:r>
              <a:rPr lang="en-US" sz="2200" dirty="0"/>
              <a:t> Virtual doctor </a:t>
            </a:r>
            <a:r>
              <a:rPr lang="en-US" sz="2200" dirty="0" smtClean="0"/>
              <a:t>visits.</a:t>
            </a:r>
          </a:p>
          <a:p>
            <a:pPr marL="342900" indent="-342900" algn="l">
              <a:buFont typeface="Wingdings" panose="05000000000000000000" pitchFamily="2" charset="2"/>
              <a:buChar char="§"/>
            </a:pPr>
            <a:r>
              <a:rPr lang="en-US" sz="2200" b="1" dirty="0" smtClean="0"/>
              <a:t>Mobile </a:t>
            </a:r>
            <a:r>
              <a:rPr lang="en-US" sz="2200" b="1" dirty="0"/>
              <a:t>Health (mHealth):</a:t>
            </a:r>
            <a:r>
              <a:rPr lang="en-US" sz="2200" dirty="0"/>
              <a:t> Health apps and </a:t>
            </a:r>
            <a:r>
              <a:rPr lang="en-US" sz="2200" dirty="0" smtClean="0"/>
              <a:t>wearable </a:t>
            </a:r>
            <a:r>
              <a:rPr lang="en-US" sz="2200" dirty="0"/>
              <a:t>for </a:t>
            </a:r>
            <a:r>
              <a:rPr lang="en-US" sz="2200" dirty="0" smtClean="0"/>
              <a:t>monitoring.</a:t>
            </a:r>
          </a:p>
          <a:p>
            <a:pPr marL="342900" indent="-342900" algn="l">
              <a:buFont typeface="Wingdings" panose="05000000000000000000" pitchFamily="2" charset="2"/>
              <a:buChar char="§"/>
            </a:pPr>
            <a:r>
              <a:rPr lang="en-US" sz="2200" b="1" dirty="0" smtClean="0"/>
              <a:t>Internet </a:t>
            </a:r>
            <a:r>
              <a:rPr lang="en-US" sz="2200" b="1" dirty="0"/>
              <a:t>of Things (</a:t>
            </a:r>
            <a:r>
              <a:rPr lang="en-US" sz="2200" b="1" dirty="0" err="1"/>
              <a:t>IoT</a:t>
            </a:r>
            <a:r>
              <a:rPr lang="en-US" sz="2200" b="1" dirty="0"/>
              <a:t>):</a:t>
            </a:r>
            <a:r>
              <a:rPr lang="en-US" sz="2200" dirty="0"/>
              <a:t> Smart devices for tracking equipment or patient vitals.</a:t>
            </a:r>
            <a:endParaRPr lang="en-GB" sz="2200" dirty="0"/>
          </a:p>
        </p:txBody>
      </p:sp>
    </p:spTree>
    <p:extLst>
      <p:ext uri="{BB962C8B-B14F-4D97-AF65-F5344CB8AC3E}">
        <p14:creationId xmlns:p14="http://schemas.microsoft.com/office/powerpoint/2010/main" val="113017496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152</TotalTime>
  <Words>1317</Words>
  <Application>Microsoft Office PowerPoint</Application>
  <PresentationFormat>Widescreen</PresentationFormat>
  <Paragraphs>192</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Calibri Light</vt:lpstr>
      <vt:lpstr>Google Sans</vt:lpstr>
      <vt:lpstr>Wingdings</vt:lpstr>
      <vt:lpstr>Office Theme</vt:lpstr>
      <vt:lpstr>Data Transmission in IICT</vt:lpstr>
      <vt:lpstr>Data Transmission in IICT</vt:lpstr>
      <vt:lpstr>Data Transmission in IICT</vt:lpstr>
      <vt:lpstr>Data Transmission in IICT</vt:lpstr>
      <vt:lpstr>Data Transmission in IICT</vt:lpstr>
      <vt:lpstr>Data Transmission in IICT</vt:lpstr>
      <vt:lpstr>Data Transmission in IICT</vt:lpstr>
      <vt:lpstr>Data Transmission in IICT</vt:lpstr>
      <vt:lpstr>Data Transmission in IICT</vt:lpstr>
      <vt:lpstr>Data Transmission in IICT</vt:lpstr>
      <vt:lpstr>Data Transmission in IICT</vt:lpstr>
      <vt:lpstr>Data Transmission in IICT</vt:lpstr>
      <vt:lpstr>Data Transmission in IICT</vt:lpstr>
      <vt:lpstr>Data Transmission in IICT</vt:lpstr>
      <vt:lpstr>Role of IICT in Education</vt:lpstr>
      <vt:lpstr>Role of IICT in Education</vt:lpstr>
      <vt:lpstr>Role of IICT in Education</vt:lpstr>
      <vt:lpstr>Role of IICT in Healthcare</vt:lpstr>
      <vt:lpstr>Role of IICT in Healthcare</vt:lpstr>
      <vt:lpstr>Role of IICT in Healthcare</vt:lpstr>
      <vt:lpstr>Role of IICT in Healthcare</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Transmission in IICT</dc:title>
  <dc:creator>Wajahat Traders</dc:creator>
  <cp:lastModifiedBy>Masood Magsi</cp:lastModifiedBy>
  <cp:revision>20</cp:revision>
  <dcterms:created xsi:type="dcterms:W3CDTF">2026-01-02T06:09:29Z</dcterms:created>
  <dcterms:modified xsi:type="dcterms:W3CDTF">2026-01-03T10:21:43Z</dcterms:modified>
</cp:coreProperties>
</file>