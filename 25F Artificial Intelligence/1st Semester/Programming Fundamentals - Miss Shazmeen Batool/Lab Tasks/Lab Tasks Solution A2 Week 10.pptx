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44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54" d="100"/>
          <a:sy n="54" d="100"/>
        </p:scale>
        <p:origin x="-970" y="-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overOverlay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FF4282D-DD47-4BD2-B4E4-03CD91B40D17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BBAC41E-B5DD-4622-B453-5F4DACEC7AF7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1194101" y="2887530"/>
            <a:ext cx="6779110" cy="923330"/>
            <a:chOff x="1172584" y="1381459"/>
            <a:chExt cx="6779110" cy="923330"/>
          </a:xfrm>
          <a:effectLst>
            <a:outerShdw blurRad="38100" dist="12700" dir="16200000" rotWithShape="0">
              <a:prstClr val="black">
                <a:alpha val="30000"/>
              </a:prstClr>
            </a:outerShdw>
          </a:effectLst>
        </p:grpSpPr>
        <p:sp>
          <p:nvSpPr>
            <p:cNvPr id="9" name="TextBox 8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ln w="3175">
                    <a:solidFill>
                      <a:schemeClr val="tx2">
                        <a:alpha val="60000"/>
                      </a:schemeClr>
                    </a:solidFill>
                  </a:ln>
                  <a:solidFill>
                    <a:schemeClr val="tx2">
                      <a:lumMod val="90000"/>
                    </a:schemeClr>
                  </a:solidFill>
                  <a:effectLst>
                    <a:outerShdw blurRad="34925" dist="12700" dir="14400000" algn="ctr" rotWithShape="0">
                      <a:srgbClr val="000000">
                        <a:alpha val="21000"/>
                      </a:srgbClr>
                    </a:outerShdw>
                  </a:effectLst>
                  <a:latin typeface="Wingdings" pitchFamily="2" charset="2"/>
                </a:rPr>
                <a:t></a:t>
              </a:r>
              <a:endParaRPr lang="en-US" sz="5400" dirty="0">
                <a:ln w="3175">
                  <a:solidFill>
                    <a:schemeClr val="tx2">
                      <a:alpha val="60000"/>
                    </a:schemeClr>
                  </a:solidFill>
                </a:ln>
                <a:solidFill>
                  <a:schemeClr val="tx2">
                    <a:lumMod val="90000"/>
                  </a:schemeClr>
                </a:solidFill>
                <a:effectLst>
                  <a:outerShdw blurRad="34925" dist="12700" dir="14400000" algn="ctr" rotWithShape="0">
                    <a:srgbClr val="000000">
                      <a:alpha val="21000"/>
                    </a:srgbClr>
                  </a:outerShdw>
                </a:effectLst>
                <a:latin typeface="Wingdings" pitchFamily="2" charset="2"/>
              </a:endParaRPr>
            </a:p>
          </p:txBody>
        </p:sp>
        <p:cxnSp>
          <p:nvCxnSpPr>
            <p:cNvPr id="10" name="Straight Connector 9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9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rot="10800000">
              <a:off x="4831976" y="192293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9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83341" y="1387737"/>
            <a:ext cx="6777318" cy="1731982"/>
          </a:xfrm>
        </p:spPr>
        <p:txBody>
          <a:bodyPr anchor="b"/>
          <a:lstStyle>
            <a:lvl1pPr>
              <a:defRPr>
                <a:ln w="3175">
                  <a:solidFill>
                    <a:schemeClr val="tx1">
                      <a:alpha val="65000"/>
                    </a:schemeClr>
                  </a:solidFill>
                </a:ln>
                <a:solidFill>
                  <a:schemeClr val="tx1"/>
                </a:solidFill>
                <a:effectLst>
                  <a:outerShdw blurRad="25400" dist="12700" dir="14220000" rotWithShape="0">
                    <a:prstClr val="black">
                      <a:alpha val="50000"/>
                    </a:prstClr>
                  </a:outerShdw>
                </a:effectLst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767862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  <a:effectLst>
                  <a:outerShdw blurRad="34925" dist="12700" dir="14400000" rotWithShape="0">
                    <a:prstClr val="black">
                      <a:alpha val="21000"/>
                    </a:prstClr>
                  </a:outerShdw>
                </a:effectLst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4282D-DD47-4BD2-B4E4-03CD91B40D17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AC41E-B5DD-4622-B453-5F4DACEC7AF7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grpSp>
        <p:nvGrpSpPr>
          <p:cNvPr id="12" name="Group 11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3" name="TextBox 12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4" name="Straight Connector 13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CoverOverlay.png"/>
          <p:cNvPicPr>
            <a:picLocks noChangeAspect="1"/>
          </p:cNvPicPr>
          <p:nvPr/>
        </p:nvPicPr>
        <p:blipFill>
          <a:blip r:embed="rId2" cstate="print">
            <a:lum/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grpSp>
        <p:nvGrpSpPr>
          <p:cNvPr id="7" name="Group 7"/>
          <p:cNvGrpSpPr/>
          <p:nvPr/>
        </p:nvGrpSpPr>
        <p:grpSpPr>
          <a:xfrm>
            <a:off x="1172584" y="2887579"/>
            <a:ext cx="6779110" cy="923330"/>
            <a:chOff x="1172584" y="1381459"/>
            <a:chExt cx="6779110" cy="923330"/>
          </a:xfrm>
        </p:grpSpPr>
        <p:sp>
          <p:nvSpPr>
            <p:cNvPr id="9" name="TextBox 8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0" name="Straight Connector 9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rot="10800000">
              <a:off x="4831976" y="1927412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0040" y="1204857"/>
            <a:ext cx="7754713" cy="1910716"/>
          </a:xfrm>
        </p:spPr>
        <p:txBody>
          <a:bodyPr anchor="b"/>
          <a:lstStyle>
            <a:lvl1pPr algn="ctr">
              <a:defRPr sz="5400" b="0" cap="none" baseline="0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9248" y="3767316"/>
            <a:ext cx="7734747" cy="1500187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4282D-DD47-4BD2-B4E4-03CD91B40D17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AC41E-B5DD-4622-B453-5F4DACEC7AF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4282D-DD47-4BD2-B4E4-03CD91B40D17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AC41E-B5DD-4622-B453-5F4DACEC7AF7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itle 1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grpSp>
        <p:nvGrpSpPr>
          <p:cNvPr id="13" name="Group 12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4" name="TextBox 13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5" name="Straight Connector 14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Content Placeholder 7"/>
          <p:cNvSpPr>
            <a:spLocks noGrp="1"/>
          </p:cNvSpPr>
          <p:nvPr>
            <p:ph sz="quarter" idx="13"/>
          </p:nvPr>
        </p:nvSpPr>
        <p:spPr>
          <a:xfrm>
            <a:off x="685800" y="2240280"/>
            <a:ext cx="3803904" cy="387705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" name="Content Placeholder 9"/>
          <p:cNvSpPr>
            <a:spLocks noGrp="1"/>
          </p:cNvSpPr>
          <p:nvPr>
            <p:ph sz="quarter" idx="14"/>
          </p:nvPr>
        </p:nvSpPr>
        <p:spPr>
          <a:xfrm>
            <a:off x="4645151" y="2240280"/>
            <a:ext cx="3803904" cy="387705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51560" y="2240280"/>
            <a:ext cx="3442446" cy="658368"/>
          </a:xfrm>
        </p:spPr>
        <p:txBody>
          <a:bodyPr anchor="b"/>
          <a:lstStyle>
            <a:lvl1pPr marL="0" indent="0" algn="ctr">
              <a:buNone/>
              <a:defRPr sz="24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8488" y="2947595"/>
            <a:ext cx="3803904" cy="317296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02306" y="2240280"/>
            <a:ext cx="3447288" cy="658368"/>
          </a:xfrm>
        </p:spPr>
        <p:txBody>
          <a:bodyPr anchor="b"/>
          <a:lstStyle>
            <a:lvl1pPr marL="0" indent="0" algn="ctr">
              <a:buNone/>
              <a:defRPr sz="24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44368"/>
            <a:ext cx="3799728" cy="317296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4282D-DD47-4BD2-B4E4-03CD91B40D17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AC41E-B5DD-4622-B453-5F4DACEC7AF7}" type="slidenum">
              <a:rPr lang="en-US" smtClean="0"/>
              <a:t>‹#›</a:t>
            </a:fld>
            <a:endParaRPr lang="en-US"/>
          </a:p>
        </p:txBody>
      </p:sp>
      <p:grpSp>
        <p:nvGrpSpPr>
          <p:cNvPr id="14" name="Group 13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6" name="TextBox 15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7" name="Straight Connector 16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4282D-DD47-4BD2-B4E4-03CD91B40D17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AC41E-B5DD-4622-B453-5F4DACEC7AF7}" type="slidenum">
              <a:rPr lang="en-US" smtClean="0"/>
              <a:t>‹#›</a:t>
            </a:fld>
            <a:endParaRPr lang="en-US"/>
          </a:p>
        </p:txBody>
      </p:sp>
      <p:grpSp>
        <p:nvGrpSpPr>
          <p:cNvPr id="10" name="Group 9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4" name="TextBox 13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5" name="Straight Connector 14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4282D-DD47-4BD2-B4E4-03CD91B40D17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AC41E-B5DD-4622-B453-5F4DACEC7AF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34579" y="1678195"/>
            <a:ext cx="3422483" cy="1886921"/>
          </a:xfrm>
        </p:spPr>
        <p:txBody>
          <a:bodyPr anchor="b"/>
          <a:lstStyle>
            <a:lvl1pPr algn="l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2001" y="559398"/>
            <a:ext cx="4116667" cy="5566765"/>
          </a:xfrm>
        </p:spPr>
        <p:txBody>
          <a:bodyPr anchor="ctr"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34579" y="3603812"/>
            <a:ext cx="3411725" cy="2517289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4282D-DD47-4BD2-B4E4-03CD91B40D17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AC41E-B5DD-4622-B453-5F4DACEC7AF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731" y="4668818"/>
            <a:ext cx="7767021" cy="644729"/>
          </a:xfrm>
        </p:spPr>
        <p:txBody>
          <a:bodyPr anchor="b"/>
          <a:lstStyle>
            <a:lvl1pPr algn="ctr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240000">
            <a:off x="2183792" y="666965"/>
            <a:ext cx="4772156" cy="3598016"/>
          </a:xfr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24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8489" y="5324306"/>
            <a:ext cx="7756264" cy="804862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4282D-DD47-4BD2-B4E4-03CD91B40D17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AC41E-B5DD-4622-B453-5F4DACEC7AF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ctr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4282D-DD47-4BD2-B4E4-03CD91B40D17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AC41E-B5DD-4622-B453-5F4DACEC7AF7}" type="slidenum">
              <a:rPr lang="en-US" smtClean="0"/>
              <a:t>‹#›</a:t>
            </a:fld>
            <a:endParaRPr lang="en-US"/>
          </a:p>
        </p:txBody>
      </p:sp>
      <p:grpSp>
        <p:nvGrpSpPr>
          <p:cNvPr id="11" name="Group 10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5" name="TextBox 14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6" name="Straight Connector 15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66560" y="559398"/>
            <a:ext cx="1678193" cy="556676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8488" y="849854"/>
            <a:ext cx="5507917" cy="5023821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4282D-DD47-4BD2-B4E4-03CD91B40D17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AC41E-B5DD-4622-B453-5F4DACEC7AF7}" type="slidenum">
              <a:rPr lang="en-US" smtClean="0"/>
              <a:t>‹#›</a:t>
            </a:fld>
            <a:endParaRPr lang="en-US"/>
          </a:p>
        </p:txBody>
      </p:sp>
      <p:grpSp>
        <p:nvGrpSpPr>
          <p:cNvPr id="11" name="Group 10"/>
          <p:cNvGrpSpPr/>
          <p:nvPr/>
        </p:nvGrpSpPr>
        <p:grpSpPr>
          <a:xfrm rot="5400000">
            <a:off x="3909050" y="2880823"/>
            <a:ext cx="5480154" cy="923330"/>
            <a:chOff x="1815339" y="1381459"/>
            <a:chExt cx="5480154" cy="923330"/>
          </a:xfrm>
        </p:grpSpPr>
        <p:sp>
          <p:nvSpPr>
            <p:cNvPr id="12" name="TextBox 11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3" name="Straight Connector 12"/>
            <p:cNvCxnSpPr/>
            <p:nvPr/>
          </p:nvCxnSpPr>
          <p:spPr>
            <a:xfrm flipH="1" flipV="1">
              <a:off x="1815339" y="1924709"/>
              <a:ext cx="2468880" cy="2505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rot="10800000">
              <a:off x="4826613" y="1927417"/>
              <a:ext cx="2468880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flip="none" rotWithShape="1">
            <a:gsLst>
              <a:gs pos="83000">
                <a:schemeClr val="bg1">
                  <a:alpha val="11000"/>
                </a:schemeClr>
              </a:gs>
              <a:gs pos="100000">
                <a:schemeClr val="bg2">
                  <a:lumMod val="75000"/>
                  <a:alpha val="23000"/>
                </a:schemeClr>
              </a:gs>
            </a:gsLst>
            <a:path path="rect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8490" y="570156"/>
            <a:ext cx="7756263" cy="10542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9247" y="2248347"/>
            <a:ext cx="7745505" cy="38778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60378" y="616144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fld id="{AFF4282D-DD47-4BD2-B4E4-03CD91B40D17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16144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639264" y="616144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BBBAC41E-B5DD-4622-B453-5F4DACEC7AF7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441" r:id="rId1"/>
    <p:sldLayoutId id="2147484442" r:id="rId2"/>
    <p:sldLayoutId id="2147484443" r:id="rId3"/>
    <p:sldLayoutId id="2147484444" r:id="rId4"/>
    <p:sldLayoutId id="2147484445" r:id="rId5"/>
    <p:sldLayoutId id="2147484446" r:id="rId6"/>
    <p:sldLayoutId id="2147484447" r:id="rId7"/>
    <p:sldLayoutId id="2147484448" r:id="rId8"/>
    <p:sldLayoutId id="2147484449" r:id="rId9"/>
    <p:sldLayoutId id="2147484450" r:id="rId10"/>
    <p:sldLayoutId id="214748445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540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65760" indent="-36576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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777240" indent="-36576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"/>
        <a:defRPr sz="2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143000" indent="-36576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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508760" indent="-32004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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828800" indent="-32004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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148840" indent="-274320" algn="l" defTabSz="914400" rtl="0" eaLnBrk="1" latinLnBrk="0" hangingPunct="1">
        <a:spcBef>
          <a:spcPts val="400"/>
        </a:spcBef>
        <a:buClr>
          <a:schemeClr val="accent1"/>
        </a:buClr>
        <a:buFont typeface="Wingdings" pitchFamily="2" charset="2"/>
        <a:buChar char="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468880" indent="-274320" algn="l" defTabSz="914400" rtl="0" eaLnBrk="1" latinLnBrk="0" hangingPunct="1">
        <a:spcBef>
          <a:spcPts val="400"/>
        </a:spcBef>
        <a:buClr>
          <a:schemeClr val="accent1"/>
        </a:buClr>
        <a:buFont typeface="Wingdings" pitchFamily="2" charset="2"/>
        <a:buChar char="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788920" indent="-274320" algn="l" defTabSz="914400" rtl="0" eaLnBrk="1" latinLnBrk="0" hangingPunct="1">
        <a:spcBef>
          <a:spcPts val="400"/>
        </a:spcBef>
        <a:buClr>
          <a:schemeClr val="accent1"/>
        </a:buClr>
        <a:buFont typeface="Wingdings" pitchFamily="2" charset="2"/>
        <a:buChar char="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108960" indent="-274320" algn="l" defTabSz="914400" rtl="0" eaLnBrk="1" latinLnBrk="0" hangingPunct="1">
        <a:spcBef>
          <a:spcPts val="400"/>
        </a:spcBef>
        <a:buClr>
          <a:schemeClr val="accent1"/>
        </a:buClr>
        <a:buFont typeface="Wingdings" pitchFamily="2" charset="2"/>
        <a:buChar char="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Programming Fundamentals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By</a:t>
            </a:r>
          </a:p>
          <a:p>
            <a:r>
              <a:rPr lang="en-US" dirty="0" smtClean="0"/>
              <a:t>Shazmeen Batool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53996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endParaRPr lang="en-US" b="1" dirty="0" smtClean="0"/>
          </a:p>
          <a:p>
            <a:pPr algn="just"/>
            <a:endParaRPr lang="en-US" b="1" dirty="0"/>
          </a:p>
          <a:p>
            <a:pPr algn="just"/>
            <a:r>
              <a:rPr lang="en-US" b="1" dirty="0" smtClean="0"/>
              <a:t>You </a:t>
            </a:r>
            <a:r>
              <a:rPr lang="en-US" b="1" dirty="0"/>
              <a:t>have a variable storing a student's age. Use a pointer to access and print the age, then change the age through the pointer and print it again.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Lab Task 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46259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457200"/>
            <a:ext cx="6972528" cy="563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6800" y="1295400"/>
            <a:ext cx="3153379" cy="9477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271701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endParaRPr lang="en-US" dirty="0" smtClean="0"/>
          </a:p>
          <a:p>
            <a:pPr algn="just"/>
            <a:endParaRPr lang="en-US" dirty="0"/>
          </a:p>
          <a:p>
            <a:pPr algn="just"/>
            <a:r>
              <a:rPr lang="en-US" b="1" dirty="0" smtClean="0"/>
              <a:t>You </a:t>
            </a:r>
            <a:r>
              <a:rPr lang="en-US" b="1" dirty="0"/>
              <a:t>have an array of 5 test scores. Use a pointer to iterate through the array and print each score, then calculate and print the sum.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Lab Task </a:t>
            </a:r>
            <a:r>
              <a:rPr lang="en-US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8299723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307" y="228600"/>
            <a:ext cx="8844293" cy="5715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10895" y="609600"/>
            <a:ext cx="2223505" cy="1981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73957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endParaRPr lang="en-US" b="1" dirty="0" smtClean="0"/>
          </a:p>
          <a:p>
            <a:pPr algn="just"/>
            <a:endParaRPr lang="en-US" b="1" dirty="0"/>
          </a:p>
          <a:p>
            <a:pPr algn="just"/>
            <a:endParaRPr lang="en-US" b="1" dirty="0" smtClean="0"/>
          </a:p>
          <a:p>
            <a:pPr algn="just"/>
            <a:r>
              <a:rPr lang="en-US" b="1" dirty="0" smtClean="0"/>
              <a:t>What is the output of the program in the next slide?</a:t>
            </a:r>
            <a:endParaRPr lang="en-US" b="1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Lab Task </a:t>
            </a:r>
            <a:r>
              <a:rPr lang="en-US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152344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399" y="202208"/>
            <a:ext cx="7323279" cy="62747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0432" y="762000"/>
            <a:ext cx="4147344" cy="1447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771136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endParaRPr lang="en-US" b="1" dirty="0" smtClean="0"/>
          </a:p>
          <a:p>
            <a:pPr algn="just"/>
            <a:endParaRPr lang="en-US" b="1" dirty="0"/>
          </a:p>
          <a:p>
            <a:pPr algn="just"/>
            <a:endParaRPr lang="en-US" b="1" dirty="0" smtClean="0"/>
          </a:p>
          <a:p>
            <a:pPr algn="just"/>
            <a:r>
              <a:rPr lang="en-US" b="1" dirty="0" smtClean="0"/>
              <a:t>What is the output of the program in the next slide?</a:t>
            </a:r>
            <a:endParaRPr lang="en-US" b="1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Lab Task </a:t>
            </a:r>
            <a:r>
              <a:rPr lang="en-US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4571704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8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228600"/>
            <a:ext cx="5181600" cy="62411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9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91325" y="4117941"/>
            <a:ext cx="1743075" cy="22066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664156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endParaRPr lang="en-US" b="1" dirty="0" smtClean="0"/>
          </a:p>
          <a:p>
            <a:pPr algn="just"/>
            <a:endParaRPr lang="en-US" b="1" dirty="0"/>
          </a:p>
          <a:p>
            <a:pPr algn="just"/>
            <a:endParaRPr lang="en-US" b="1" dirty="0" smtClean="0"/>
          </a:p>
          <a:p>
            <a:pPr algn="just"/>
            <a:r>
              <a:rPr lang="en-US" b="1" dirty="0" smtClean="0"/>
              <a:t>What is the output of the program in the next slide?</a:t>
            </a:r>
            <a:endParaRPr lang="en-US" b="1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Lab Task </a:t>
            </a:r>
            <a:r>
              <a:rPr lang="en-US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38489058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275630"/>
            <a:ext cx="4343400" cy="62775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0400" y="4495800"/>
            <a:ext cx="1166183" cy="1471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21008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endParaRPr lang="en-US" b="1" dirty="0" smtClean="0"/>
          </a:p>
          <a:p>
            <a:pPr algn="just"/>
            <a:endParaRPr lang="en-US" b="1" dirty="0"/>
          </a:p>
          <a:p>
            <a:pPr algn="just"/>
            <a:endParaRPr lang="en-US" b="1" dirty="0" smtClean="0"/>
          </a:p>
          <a:p>
            <a:pPr algn="just"/>
            <a:r>
              <a:rPr lang="en-US" b="1" dirty="0" smtClean="0"/>
              <a:t>What is the output of the program in the next slide?</a:t>
            </a:r>
            <a:endParaRPr lang="en-US" b="1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Lab Task </a:t>
            </a:r>
            <a:r>
              <a:rPr lang="en-US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32535525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859" y="533400"/>
            <a:ext cx="7409287" cy="5334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79031" y="5205413"/>
            <a:ext cx="4555369" cy="9667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524578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endParaRPr lang="en-US" b="1" dirty="0" smtClean="0"/>
          </a:p>
          <a:p>
            <a:pPr marL="0" indent="0" algn="just">
              <a:buNone/>
            </a:pPr>
            <a:endParaRPr lang="en-US" b="1" dirty="0" smtClean="0"/>
          </a:p>
          <a:p>
            <a:pPr algn="just"/>
            <a:r>
              <a:rPr lang="en-US" b="1" dirty="0"/>
              <a:t>Write a C++ program that prompts the user to enter an integer value, then uses a pointer to access and display that value.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Lab Task </a:t>
            </a:r>
            <a:r>
              <a:rPr lang="en-US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6534729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504825"/>
            <a:ext cx="6772554" cy="5743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5400" y="990600"/>
            <a:ext cx="3215495" cy="10144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047371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 smtClean="0"/>
              <a:t>You </a:t>
            </a:r>
            <a:r>
              <a:rPr lang="en-US" dirty="0"/>
              <a:t>are entering marks for a certain number of students in a class. Write a program that:</a:t>
            </a:r>
          </a:p>
          <a:p>
            <a:pPr marL="708660" indent="-342900" algn="just">
              <a:buFont typeface="Wingdings" pitchFamily="2" charset="2"/>
              <a:buChar char="ü"/>
            </a:pPr>
            <a:r>
              <a:rPr lang="en-US" dirty="0"/>
              <a:t>Prompts the user to enter the number of </a:t>
            </a:r>
            <a:r>
              <a:rPr lang="en-US" dirty="0" smtClean="0"/>
              <a:t>students.</a:t>
            </a:r>
          </a:p>
          <a:p>
            <a:pPr marL="708660" indent="-342900" algn="just">
              <a:buFont typeface="Wingdings" pitchFamily="2" charset="2"/>
              <a:buChar char="ü"/>
            </a:pPr>
            <a:r>
              <a:rPr lang="en-US" dirty="0" smtClean="0"/>
              <a:t>Uses </a:t>
            </a:r>
            <a:r>
              <a:rPr lang="en-US" dirty="0"/>
              <a:t>dynamic memory allocation to create an array for their </a:t>
            </a:r>
            <a:r>
              <a:rPr lang="en-US" dirty="0" smtClean="0"/>
              <a:t>marks.</a:t>
            </a:r>
          </a:p>
          <a:p>
            <a:pPr marL="708660" indent="-342900" algn="just">
              <a:buFont typeface="Wingdings" pitchFamily="2" charset="2"/>
              <a:buChar char="ü"/>
            </a:pPr>
            <a:r>
              <a:rPr lang="en-US" dirty="0" smtClean="0"/>
              <a:t>Uses </a:t>
            </a:r>
            <a:r>
              <a:rPr lang="en-US" dirty="0"/>
              <a:t>a pointer to input marks for each </a:t>
            </a:r>
            <a:r>
              <a:rPr lang="en-US" dirty="0" smtClean="0"/>
              <a:t>student.</a:t>
            </a:r>
          </a:p>
          <a:p>
            <a:pPr marL="708660" indent="-342900" algn="just">
              <a:buFont typeface="Wingdings" pitchFamily="2" charset="2"/>
              <a:buChar char="ü"/>
            </a:pPr>
            <a:r>
              <a:rPr lang="en-US" dirty="0" smtClean="0"/>
              <a:t>Displays </a:t>
            </a:r>
            <a:r>
              <a:rPr lang="en-US" dirty="0"/>
              <a:t>all the marks using the </a:t>
            </a:r>
            <a:r>
              <a:rPr lang="en-US" dirty="0" smtClean="0"/>
              <a:t>pointer.</a:t>
            </a:r>
          </a:p>
          <a:p>
            <a:pPr marL="708660" indent="-342900" algn="just">
              <a:buFont typeface="Wingdings" pitchFamily="2" charset="2"/>
              <a:buChar char="ü"/>
            </a:pPr>
            <a:r>
              <a:rPr lang="en-US" dirty="0" smtClean="0"/>
              <a:t>Frees </a:t>
            </a:r>
            <a:r>
              <a:rPr lang="en-US" dirty="0"/>
              <a:t>the allocated memory.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Lab Task </a:t>
            </a:r>
            <a:r>
              <a:rPr lang="en-US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6149253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598" y="152400"/>
            <a:ext cx="6855802" cy="62715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176919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Hardcover">
  <a:themeElements>
    <a:clrScheme name="Hardcover">
      <a:dk1>
        <a:sysClr val="windowText" lastClr="000000"/>
      </a:dk1>
      <a:lt1>
        <a:sysClr val="window" lastClr="FFFFFF"/>
      </a:lt1>
      <a:dk2>
        <a:srgbClr val="895D1D"/>
      </a:dk2>
      <a:lt2>
        <a:srgbClr val="ECE9C6"/>
      </a:lt2>
      <a:accent1>
        <a:srgbClr val="873624"/>
      </a:accent1>
      <a:accent2>
        <a:srgbClr val="D6862D"/>
      </a:accent2>
      <a:accent3>
        <a:srgbClr val="D0BE40"/>
      </a:accent3>
      <a:accent4>
        <a:srgbClr val="877F6C"/>
      </a:accent4>
      <a:accent5>
        <a:srgbClr val="972109"/>
      </a:accent5>
      <a:accent6>
        <a:srgbClr val="AEB795"/>
      </a:accent6>
      <a:hlink>
        <a:srgbClr val="CC9900"/>
      </a:hlink>
      <a:folHlink>
        <a:srgbClr val="B2B2B2"/>
      </a:folHlink>
    </a:clrScheme>
    <a:fontScheme name="Hardcover">
      <a:majorFont>
        <a:latin typeface="Book Antiqua"/>
        <a:ea typeface=""/>
        <a:cs typeface=""/>
        <a:font script="Grek" typeface="Times New Roman"/>
        <a:font script="Cyrl" typeface="Times New Roman"/>
        <a:font script="Jpan" typeface="HGS明朝E"/>
        <a:font script="Hang" typeface="궁서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Book Antiqua"/>
        <a:ea typeface=""/>
        <a:cs typeface=""/>
        <a:font script="Grek" typeface="Times New Roman"/>
        <a:font script="Cyrl" typeface="Times New Roman"/>
        <a:font script="Jpan" typeface="HGS明朝E"/>
        <a:font script="Hang" typeface="돋움"/>
        <a:font script="Hans" typeface="宋体"/>
        <a:font script="Hant" typeface="新細明體"/>
        <a:font script="Arab" typeface="Times New Roman"/>
        <a:font script="Hebr" typeface="David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Hardcover">
      <a:fillStyleLst>
        <a:solidFill>
          <a:schemeClr val="phClr"/>
        </a:solidFill>
        <a:solidFill>
          <a:schemeClr val="phClr">
            <a:tint val="68000"/>
            <a:shade val="94000"/>
            <a:satMod val="300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80000"/>
                <a:lumMod val="98000"/>
              </a:schemeClr>
            </a:gs>
            <a:gs pos="100000">
              <a:schemeClr val="phClr">
                <a:satMod val="130000"/>
              </a:schemeClr>
            </a:gs>
          </a:gsLst>
          <a:lin ang="5160000" scaled="0"/>
        </a:gradFill>
      </a:fillStyleLst>
      <a:lnStyleLst>
        <a:ln w="12700" cap="flat" cmpd="sng" algn="ctr">
          <a:solidFill>
            <a:schemeClr val="phClr">
              <a:shade val="90000"/>
              <a:lumMod val="90000"/>
            </a:schemeClr>
          </a:solidFill>
          <a:prstDash val="solid"/>
        </a:ln>
        <a:ln w="19050" cap="flat" cmpd="sng" algn="ctr">
          <a:solidFill>
            <a:schemeClr val="phClr">
              <a:shade val="75000"/>
              <a:lumMod val="9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12700" dir="5400000" rotWithShape="0">
              <a:srgbClr val="000000">
                <a:alpha val="1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6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400000"/>
            </a:lightRig>
          </a:scene3d>
          <a:sp3d>
            <a:bevelT w="25400" h="25400"/>
          </a:sp3d>
        </a:effectStyle>
      </a:effectStyleLst>
      <a:bgFillStyleLst>
        <a:solidFill>
          <a:schemeClr val="phClr">
            <a:tint val="96000"/>
            <a:lumMod val="11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3000"/>
                <a:shade val="20000"/>
              </a:schemeClr>
              <a:schemeClr val="phClr">
                <a:tint val="90000"/>
                <a:shade val="85000"/>
                <a:satMod val="115000"/>
              </a:schemeClr>
            </a:duotone>
          </a:blip>
          <a:tile tx="0" ty="0" sx="60000" sy="60000" flip="none" algn="tl"/>
        </a:blipFill>
        <a:blipFill rotWithShape="1">
          <a:blip xmlns:r="http://schemas.openxmlformats.org/officeDocument/2006/relationships" r:embed="rId2">
            <a:duotone>
              <a:schemeClr val="phClr">
                <a:shade val="50000"/>
                <a:satMod val="340000"/>
                <a:lumMod val="40000"/>
              </a:schemeClr>
              <a:schemeClr val="phClr">
                <a:tint val="92000"/>
                <a:shade val="94000"/>
                <a:hueMod val="110000"/>
                <a:satMod val="236000"/>
                <a:lumMod val="120000"/>
              </a:schemeClr>
            </a:duotone>
          </a:blip>
          <a:stretch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Hardcover</Template>
  <TotalTime>2122</TotalTime>
  <Words>227</Words>
  <Application>Microsoft Office PowerPoint</Application>
  <PresentationFormat>On-screen Show (4:3)</PresentationFormat>
  <Paragraphs>42</Paragraphs>
  <Slides>17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Hardcover</vt:lpstr>
      <vt:lpstr>Programming Fundamentals</vt:lpstr>
      <vt:lpstr>Lab Task 1</vt:lpstr>
      <vt:lpstr>PowerPoint Presentation</vt:lpstr>
      <vt:lpstr>Lab Task 2</vt:lpstr>
      <vt:lpstr>PowerPoint Presentation</vt:lpstr>
      <vt:lpstr>Lab Task 3</vt:lpstr>
      <vt:lpstr>PowerPoint Presentation</vt:lpstr>
      <vt:lpstr>Lab Task 4</vt:lpstr>
      <vt:lpstr>PowerPoint Presentation</vt:lpstr>
      <vt:lpstr>Lab Task 5</vt:lpstr>
      <vt:lpstr>PowerPoint Presentation</vt:lpstr>
      <vt:lpstr>Lab Task 6</vt:lpstr>
      <vt:lpstr>PowerPoint Presentation</vt:lpstr>
      <vt:lpstr>Lab Task 7</vt:lpstr>
      <vt:lpstr>PowerPoint Presentation</vt:lpstr>
      <vt:lpstr>Lab Task 8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Programming Fundamentals</dc:title>
  <dc:creator>p06</dc:creator>
  <cp:lastModifiedBy>p06</cp:lastModifiedBy>
  <cp:revision>104</cp:revision>
  <dcterms:created xsi:type="dcterms:W3CDTF">2023-02-13T17:33:34Z</dcterms:created>
  <dcterms:modified xsi:type="dcterms:W3CDTF">2025-12-25T11:38:41Z</dcterms:modified>
</cp:coreProperties>
</file>