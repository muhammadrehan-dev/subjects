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87" r:id="rId14"/>
    <p:sldId id="270" r:id="rId15"/>
    <p:sldId id="271" r:id="rId16"/>
    <p:sldId id="272" r:id="rId17"/>
    <p:sldId id="273" r:id="rId18"/>
    <p:sldId id="308" r:id="rId19"/>
    <p:sldId id="309" r:id="rId20"/>
    <p:sldId id="315" r:id="rId21"/>
    <p:sldId id="274" r:id="rId22"/>
    <p:sldId id="275" r:id="rId23"/>
    <p:sldId id="276" r:id="rId24"/>
    <p:sldId id="277" r:id="rId25"/>
    <p:sldId id="279" r:id="rId26"/>
    <p:sldId id="286" r:id="rId27"/>
    <p:sldId id="310" r:id="rId28"/>
    <p:sldId id="307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2CD6932-DACD-4D4F-9C23-D4086F3B0A9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9E00AFBB-299E-47DA-8BAF-ADB4AADC1EC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1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076253"/>
          </a:xfrm>
        </p:spPr>
        <p:txBody>
          <a:bodyPr>
            <a:normAutofit/>
          </a:bodyPr>
          <a:lstStyle/>
          <a:p>
            <a:r>
              <a:rPr lang="en-US" dirty="0"/>
              <a:t>Identifiers </a:t>
            </a:r>
          </a:p>
          <a:p>
            <a:r>
              <a:rPr lang="en-US" dirty="0"/>
              <a:t>Variables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Simple C++ </a:t>
            </a:r>
            <a:r>
              <a:rPr lang="en-US" dirty="0" smtClean="0"/>
              <a:t>Program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Identifiers are the unique names given to variables, classes, functions, or other entities by the programmer</a:t>
            </a:r>
            <a:r>
              <a:rPr lang="en-US" dirty="0" smtClean="0"/>
              <a:t>. </a:t>
            </a:r>
          </a:p>
          <a:p>
            <a:r>
              <a:rPr lang="en-US" dirty="0" smtClean="0"/>
              <a:t>C</a:t>
            </a:r>
            <a:r>
              <a:rPr lang="en-US" dirty="0"/>
              <a:t>++ is a case-sensitive language</a:t>
            </a:r>
            <a:r>
              <a:rPr lang="en-US" dirty="0" smtClean="0"/>
              <a:t>.</a:t>
            </a:r>
          </a:p>
          <a:p>
            <a:pPr marL="800100" indent="-342900"/>
            <a:r>
              <a:rPr lang="en-US" dirty="0" smtClean="0"/>
              <a:t>Work </a:t>
            </a:r>
            <a:r>
              <a:rPr lang="en-US" dirty="0"/>
              <a:t>is not </a:t>
            </a:r>
            <a:r>
              <a:rPr lang="en-US" dirty="0" smtClean="0"/>
              <a:t>work</a:t>
            </a:r>
          </a:p>
          <a:p>
            <a:r>
              <a:rPr lang="en-US" dirty="0" smtClean="0"/>
              <a:t>Identifiers </a:t>
            </a:r>
            <a:r>
              <a:rPr lang="en-US" dirty="0"/>
              <a:t>should be </a:t>
            </a:r>
            <a:r>
              <a:rPr lang="en-US" dirty="0" smtClean="0"/>
              <a:t>descriptive</a:t>
            </a:r>
          </a:p>
          <a:p>
            <a:pPr marL="800100" indent="-342900"/>
            <a:r>
              <a:rPr lang="en-US" dirty="0" smtClean="0"/>
              <a:t>Using </a:t>
            </a:r>
            <a:r>
              <a:rPr lang="en-US" dirty="0"/>
              <a:t>meaningful identifiers is a good programming </a:t>
            </a:r>
            <a:r>
              <a:rPr lang="en-US" dirty="0" smtClean="0"/>
              <a:t>practice.</a:t>
            </a:r>
          </a:p>
          <a:p>
            <a:r>
              <a:rPr lang="en-US" dirty="0"/>
              <a:t>For </a:t>
            </a:r>
            <a:r>
              <a:rPr lang="en-US" dirty="0" smtClean="0"/>
              <a:t>example:</a:t>
            </a:r>
          </a:p>
          <a:p>
            <a:pPr marL="800100" indent="-342900"/>
            <a:r>
              <a:rPr lang="en-US" dirty="0" smtClean="0"/>
              <a:t>int </a:t>
            </a:r>
            <a:r>
              <a:rPr lang="en-US" dirty="0"/>
              <a:t>money;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Identifier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059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2133601"/>
            <a:ext cx="8534400" cy="4572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Identifiers must be </a:t>
            </a:r>
            <a:r>
              <a:rPr lang="en-US" dirty="0" smtClean="0"/>
              <a:t>unique.</a:t>
            </a:r>
          </a:p>
          <a:p>
            <a:r>
              <a:rPr lang="en-US" dirty="0" smtClean="0"/>
              <a:t>Identifiers </a:t>
            </a:r>
            <a:r>
              <a:rPr lang="en-US" dirty="0"/>
              <a:t>cannot be reserved </a:t>
            </a:r>
            <a:r>
              <a:rPr lang="en-US" dirty="0" smtClean="0"/>
              <a:t>words (</a:t>
            </a:r>
            <a:r>
              <a:rPr lang="en-US" dirty="0"/>
              <a:t>keywords) </a:t>
            </a:r>
          </a:p>
          <a:p>
            <a:pPr marL="800100" indent="-342900"/>
            <a:r>
              <a:rPr lang="en-US" dirty="0"/>
              <a:t>d</a:t>
            </a:r>
            <a:r>
              <a:rPr lang="en-US" dirty="0" smtClean="0"/>
              <a:t>ouble		 main		 return</a:t>
            </a:r>
          </a:p>
          <a:p>
            <a:r>
              <a:rPr lang="en-US" dirty="0" smtClean="0"/>
              <a:t>Identifier </a:t>
            </a:r>
            <a:r>
              <a:rPr lang="en-US" dirty="0"/>
              <a:t>must start with a letter or underscore, and be followed by zero or more letters (A-Z, a-z), digits (0-9), or </a:t>
            </a:r>
            <a:r>
              <a:rPr lang="en-US" dirty="0" smtClean="0"/>
              <a:t>underscores.</a:t>
            </a:r>
          </a:p>
          <a:p>
            <a:r>
              <a:rPr lang="en-US" dirty="0"/>
              <a:t>C++ does not allow punctuation characters such as @, $, and % within identifiers.</a:t>
            </a:r>
            <a:endParaRPr lang="en-US" dirty="0" smtClean="0"/>
          </a:p>
          <a:p>
            <a:r>
              <a:rPr lang="en-US" b="1" dirty="0" smtClean="0"/>
              <a:t>VALID </a:t>
            </a:r>
          </a:p>
          <a:p>
            <a:pPr marL="800100" indent="-342900"/>
            <a:r>
              <a:rPr lang="en-US" dirty="0" smtClean="0"/>
              <a:t>_</a:t>
            </a:r>
            <a:r>
              <a:rPr lang="en-US" dirty="0"/>
              <a:t>taxRateY2K </a:t>
            </a:r>
            <a:r>
              <a:rPr lang="en-US" dirty="0" smtClean="0"/>
              <a:t>		</a:t>
            </a:r>
            <a:r>
              <a:rPr lang="en-US" dirty="0" err="1" smtClean="0"/>
              <a:t>ageOfHorse</a:t>
            </a:r>
            <a:r>
              <a:rPr lang="en-US" dirty="0" smtClean="0"/>
              <a:t> </a:t>
            </a:r>
            <a:endParaRPr lang="en-US" dirty="0"/>
          </a:p>
          <a:p>
            <a:pPr marL="800100" indent="-342900"/>
            <a:r>
              <a:rPr lang="en-US" dirty="0" err="1" smtClean="0"/>
              <a:t>age_of_dog</a:t>
            </a:r>
            <a:r>
              <a:rPr lang="en-US" dirty="0" smtClean="0"/>
              <a:t> 		</a:t>
            </a:r>
            <a:r>
              <a:rPr lang="en-US" dirty="0" err="1" smtClean="0"/>
              <a:t>PrintHeading</a:t>
            </a:r>
            <a:endParaRPr lang="en-US" dirty="0" smtClean="0"/>
          </a:p>
          <a:p>
            <a:r>
              <a:rPr lang="en-US" b="1" dirty="0" smtClean="0"/>
              <a:t>NOT </a:t>
            </a:r>
            <a:r>
              <a:rPr lang="en-US" b="1" dirty="0"/>
              <a:t>VALID </a:t>
            </a:r>
            <a:endParaRPr lang="en-US" b="1" dirty="0" smtClean="0"/>
          </a:p>
          <a:p>
            <a:pPr marL="800100" indent="-342900"/>
            <a:r>
              <a:rPr lang="en-US" dirty="0" smtClean="0"/>
              <a:t>age</a:t>
            </a:r>
            <a:r>
              <a:rPr lang="en-US" dirty="0"/>
              <a:t># </a:t>
            </a:r>
            <a:r>
              <a:rPr lang="en-US" dirty="0" smtClean="0"/>
              <a:t>			2000TaxRate </a:t>
            </a:r>
          </a:p>
          <a:p>
            <a:pPr marL="800100" indent="-342900"/>
            <a:r>
              <a:rPr lang="en-US" dirty="0" smtClean="0"/>
              <a:t>Age-Of-Dog 		main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Identifier?</a:t>
            </a:r>
          </a:p>
        </p:txBody>
      </p:sp>
    </p:spTree>
    <p:extLst>
      <p:ext uri="{BB962C8B-B14F-4D97-AF65-F5344CB8AC3E}">
        <p14:creationId xmlns:p14="http://schemas.microsoft.com/office/powerpoint/2010/main" val="228481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C++ Data Types</a:t>
            </a:r>
            <a:endParaRPr lang="en-US" dirty="0"/>
          </a:p>
        </p:txBody>
      </p:sp>
      <p:sp>
        <p:nvSpPr>
          <p:cNvPr id="4" name="AutoShape 5" descr="C++ Data Types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7" descr="C++ Data Types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2286000"/>
            <a:ext cx="7524750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004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built-in data types in C++, are known as the Primitive Data Types.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56263" cy="1054250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++ Primitive </a:t>
            </a:r>
            <a:r>
              <a:rPr lang="en-US" dirty="0"/>
              <a:t>Data Types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3390900"/>
            <a:ext cx="710565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30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6806323"/>
              </p:ext>
            </p:extLst>
          </p:nvPr>
        </p:nvGraphicFramePr>
        <p:xfrm>
          <a:off x="1523999" y="2194560"/>
          <a:ext cx="6172201" cy="4431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245"/>
                <a:gridCol w="2844956"/>
                <a:gridCol w="1905000"/>
              </a:tblGrid>
              <a:tr h="587786">
                <a:tc>
                  <a:txBody>
                    <a:bodyPr/>
                    <a:lstStyle/>
                    <a:p>
                      <a:r>
                        <a:rPr lang="en-US" dirty="0" smtClean="0"/>
                        <a:t>Data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Size (In Bytes)</a:t>
                      </a:r>
                      <a:endParaRPr lang="en-US" dirty="0"/>
                    </a:p>
                  </a:txBody>
                  <a:tcPr/>
                </a:tc>
              </a:tr>
              <a:tr h="335878">
                <a:tc>
                  <a:txBody>
                    <a:bodyPr/>
                    <a:lstStyle/>
                    <a:p>
                      <a:r>
                        <a:rPr lang="en-US" dirty="0" smtClean="0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Integer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or 4</a:t>
                      </a:r>
                      <a:endParaRPr lang="en-US" dirty="0"/>
                    </a:p>
                  </a:txBody>
                  <a:tcPr/>
                </a:tc>
              </a:tr>
              <a:tr h="587786">
                <a:tc>
                  <a:txBody>
                    <a:bodyPr/>
                    <a:lstStyle/>
                    <a:p>
                      <a:r>
                        <a:rPr lang="en-US" dirty="0" smtClean="0"/>
                        <a:t>float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Floating-point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839694">
                <a:tc>
                  <a:txBody>
                    <a:bodyPr/>
                    <a:lstStyle/>
                    <a:p>
                      <a:r>
                        <a:rPr lang="en-US" dirty="0" smtClean="0"/>
                        <a:t>double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Double Floating-point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  <a:tr h="335878">
                <a:tc>
                  <a:txBody>
                    <a:bodyPr/>
                    <a:lstStyle/>
                    <a:p>
                      <a:r>
                        <a:rPr lang="en-US" dirty="0" smtClean="0"/>
                        <a:t>char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Character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587786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wchar_t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Wide</a:t>
                      </a:r>
                      <a:r>
                        <a:rPr lang="en-US" baseline="0" dirty="0" smtClean="0"/>
                        <a:t> Character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3587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Boolean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35878">
                <a:tc>
                  <a:txBody>
                    <a:bodyPr/>
                    <a:lstStyle/>
                    <a:p>
                      <a:r>
                        <a:rPr lang="en-US" dirty="0" smtClean="0"/>
                        <a:t>void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Empty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358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 Types</a:t>
            </a:r>
          </a:p>
        </p:txBody>
      </p:sp>
    </p:spTree>
    <p:extLst>
      <p:ext uri="{BB962C8B-B14F-4D97-AF65-F5344CB8AC3E}">
        <p14:creationId xmlns:p14="http://schemas.microsoft.com/office/powerpoint/2010/main" val="57373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of the basic types can be modified using </a:t>
            </a:r>
            <a:r>
              <a:rPr lang="en-US" dirty="0" smtClean="0"/>
              <a:t>one or </a:t>
            </a:r>
            <a:r>
              <a:rPr lang="en-US" dirty="0"/>
              <a:t>more of these type modifiers −</a:t>
            </a:r>
          </a:p>
          <a:p>
            <a:pPr marL="800100" indent="-342900"/>
            <a:r>
              <a:rPr lang="en-US" dirty="0"/>
              <a:t>signed</a:t>
            </a:r>
          </a:p>
          <a:p>
            <a:pPr marL="800100" indent="-342900"/>
            <a:r>
              <a:rPr lang="en-US" dirty="0"/>
              <a:t>unsigned</a:t>
            </a:r>
          </a:p>
          <a:p>
            <a:pPr marL="800100" indent="-342900"/>
            <a:r>
              <a:rPr lang="en-US" dirty="0"/>
              <a:t>short</a:t>
            </a:r>
          </a:p>
          <a:p>
            <a:pPr marL="800100" indent="-342900"/>
            <a:r>
              <a:rPr lang="en-US" dirty="0"/>
              <a:t>long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 Types</a:t>
            </a:r>
          </a:p>
        </p:txBody>
      </p:sp>
    </p:spTree>
    <p:extLst>
      <p:ext uri="{BB962C8B-B14F-4D97-AF65-F5344CB8AC3E}">
        <p14:creationId xmlns:p14="http://schemas.microsoft.com/office/powerpoint/2010/main" val="275785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3050637"/>
              </p:ext>
            </p:extLst>
          </p:nvPr>
        </p:nvGraphicFramePr>
        <p:xfrm>
          <a:off x="304800" y="1016000"/>
          <a:ext cx="8534400" cy="472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141"/>
                <a:gridCol w="1460843"/>
                <a:gridCol w="445941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Typical Range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4bytes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-2147483648 to 2147483647</a:t>
                      </a: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unsigned 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4bytes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 to 4294967295</a:t>
                      </a: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signed 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4bytes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-2147483648 to 2147483647</a:t>
                      </a: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short 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2bytes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-32768 to 32767</a:t>
                      </a: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unsigned short 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2bytes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 to 65,535</a:t>
                      </a: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signed short 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2bytes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-32768 to 32767</a:t>
                      </a: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long 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4</a:t>
                      </a:r>
                      <a:r>
                        <a:rPr lang="en-US" dirty="0" smtClean="0">
                          <a:effectLst/>
                        </a:rPr>
                        <a:t>bytes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/>
                        <a:t>–2,147,483,647 to 2,147,483,647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signed long 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4</a:t>
                      </a:r>
                      <a:r>
                        <a:rPr lang="en-US" dirty="0" smtClean="0">
                          <a:effectLst/>
                        </a:rPr>
                        <a:t>bytes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same as long int</a:t>
                      </a: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unsigned long 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4</a:t>
                      </a:r>
                      <a:r>
                        <a:rPr lang="en-US" dirty="0" smtClean="0">
                          <a:effectLst/>
                        </a:rPr>
                        <a:t>bytes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+4,294,967,295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long </a:t>
                      </a:r>
                      <a:r>
                        <a:rPr lang="en-US" dirty="0" err="1">
                          <a:effectLst/>
                        </a:rPr>
                        <a:t>long</a:t>
                      </a:r>
                      <a:r>
                        <a:rPr lang="en-US" dirty="0">
                          <a:effectLst/>
                        </a:rPr>
                        <a:t> 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8bytes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-(2^63) to (2^63)-1</a:t>
                      </a: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unsigned long </a:t>
                      </a:r>
                      <a:r>
                        <a:rPr lang="en-US" dirty="0" err="1">
                          <a:effectLst/>
                        </a:rPr>
                        <a:t>long</a:t>
                      </a:r>
                      <a:r>
                        <a:rPr lang="en-US" dirty="0">
                          <a:effectLst/>
                        </a:rPr>
                        <a:t> int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8bytes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 to 18,446,744,073,709,551,615</a:t>
                      </a:r>
                    </a:p>
                  </a:txBody>
                  <a:tcPr marL="60960" marR="60960" marT="60960" marB="6096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6336268"/>
            <a:ext cx="861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</a:t>
            </a:r>
            <a:r>
              <a:rPr lang="en-US" i="1" dirty="0"/>
              <a:t>Above values may vary from compiler to compiler.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56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5823646"/>
              </p:ext>
            </p:extLst>
          </p:nvPr>
        </p:nvGraphicFramePr>
        <p:xfrm>
          <a:off x="304800" y="1016000"/>
          <a:ext cx="8534400" cy="479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141"/>
                <a:gridCol w="1460843"/>
                <a:gridCol w="445941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Typical Range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float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4bytes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 smtClean="0"/>
                        <a:t>Negative range: </a:t>
                      </a:r>
                    </a:p>
                    <a:p>
                      <a:pPr fontAlgn="t"/>
                      <a:r>
                        <a:rPr lang="en-US" dirty="0" smtClean="0"/>
                        <a:t>-3.4028235E+38 to -1.4E-45 </a:t>
                      </a:r>
                    </a:p>
                    <a:p>
                      <a:pPr fontAlgn="t"/>
                      <a:r>
                        <a:rPr lang="en-US" b="1" dirty="0" smtClean="0"/>
                        <a:t>Positive range: </a:t>
                      </a:r>
                    </a:p>
                    <a:p>
                      <a:pPr fontAlgn="t"/>
                      <a:r>
                        <a:rPr lang="en-US" dirty="0" smtClean="0"/>
                        <a:t>1.4E-45 to 3.4028235E+38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double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8bytes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 smtClean="0"/>
                        <a:t>Negative range: </a:t>
                      </a:r>
                    </a:p>
                    <a:p>
                      <a:pPr fontAlgn="t"/>
                      <a:r>
                        <a:rPr lang="en-US" dirty="0" smtClean="0"/>
                        <a:t>-1.7976931348623157E+308 to -4.9E-324 </a:t>
                      </a:r>
                      <a:r>
                        <a:rPr lang="en-US" b="1" dirty="0" smtClean="0"/>
                        <a:t>Positive range: </a:t>
                      </a:r>
                    </a:p>
                    <a:p>
                      <a:pPr fontAlgn="t"/>
                      <a:r>
                        <a:rPr lang="en-US" dirty="0" smtClean="0"/>
                        <a:t>4.9E-324 to 1.7976931348623157E+308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long double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12bytes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as double</a:t>
                      </a:r>
                      <a:endParaRPr lang="en-US" b="0" dirty="0">
                        <a:effectLst/>
                      </a:endParaRP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char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1 byte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 dirty="0" smtClean="0">
                          <a:effectLst/>
                        </a:rPr>
                        <a:t>-128 to 127</a:t>
                      </a:r>
                      <a:endParaRPr lang="en-US" b="0" dirty="0">
                        <a:effectLst/>
                      </a:endParaRP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signed char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1 byte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 dirty="0" smtClean="0">
                          <a:effectLst/>
                        </a:rPr>
                        <a:t>-128 to 127</a:t>
                      </a:r>
                      <a:endParaRPr lang="en-US" b="0" dirty="0">
                        <a:effectLst/>
                      </a:endParaRP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unsigned char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1 byte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 dirty="0" smtClean="0">
                          <a:effectLst/>
                        </a:rPr>
                        <a:t>0 to 255</a:t>
                      </a:r>
                      <a:endParaRPr lang="en-US" b="0" dirty="0">
                        <a:effectLst/>
                      </a:endParaRP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 err="1">
                          <a:effectLst/>
                        </a:rPr>
                        <a:t>wchar_t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2 or 4 bytes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0</a:t>
                      </a:r>
                      <a:r>
                        <a:rPr lang="en-US" baseline="0" dirty="0" smtClean="0">
                          <a:effectLst/>
                        </a:rPr>
                        <a:t> to 65535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6096000"/>
            <a:ext cx="861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</a:t>
            </a:r>
            <a:r>
              <a:rPr lang="en-US" i="1" dirty="0"/>
              <a:t>Above values may vary from compiler to compiler.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01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Integral </a:t>
            </a:r>
            <a:r>
              <a:rPr lang="en-US" dirty="0" smtClean="0"/>
              <a:t>Types</a:t>
            </a:r>
          </a:p>
          <a:p>
            <a:pPr marL="800100" indent="-342900"/>
            <a:r>
              <a:rPr lang="en-US" dirty="0"/>
              <a:t>R</a:t>
            </a:r>
            <a:r>
              <a:rPr lang="en-US" dirty="0" smtClean="0"/>
              <a:t>epresent </a:t>
            </a:r>
            <a:r>
              <a:rPr lang="en-US" dirty="0"/>
              <a:t>whole numbers and </a:t>
            </a:r>
            <a:r>
              <a:rPr lang="en-US" dirty="0" smtClean="0"/>
              <a:t>their negatives. </a:t>
            </a:r>
          </a:p>
          <a:p>
            <a:pPr marL="800100" indent="-342900"/>
            <a:r>
              <a:rPr lang="en-US" dirty="0" smtClean="0"/>
              <a:t>Declared </a:t>
            </a:r>
            <a:r>
              <a:rPr lang="en-US" dirty="0"/>
              <a:t>as int, short, </a:t>
            </a:r>
            <a:r>
              <a:rPr lang="en-US" dirty="0" smtClean="0"/>
              <a:t>or long</a:t>
            </a:r>
          </a:p>
          <a:p>
            <a:r>
              <a:rPr lang="en-US" dirty="0" smtClean="0"/>
              <a:t>Character Types</a:t>
            </a:r>
          </a:p>
          <a:p>
            <a:pPr marL="800100" indent="-342900"/>
            <a:r>
              <a:rPr lang="en-US" dirty="0"/>
              <a:t>R</a:t>
            </a:r>
            <a:r>
              <a:rPr lang="en-US" dirty="0" smtClean="0"/>
              <a:t>epresent </a:t>
            </a:r>
            <a:r>
              <a:rPr lang="en-US" dirty="0"/>
              <a:t>single </a:t>
            </a:r>
            <a:r>
              <a:rPr lang="en-US" dirty="0" smtClean="0"/>
              <a:t>characters. </a:t>
            </a:r>
            <a:endParaRPr lang="en-US" dirty="0"/>
          </a:p>
          <a:p>
            <a:pPr marL="800100" indent="-342900"/>
            <a:r>
              <a:rPr lang="en-US" dirty="0"/>
              <a:t>D</a:t>
            </a:r>
            <a:r>
              <a:rPr lang="en-US" dirty="0" smtClean="0"/>
              <a:t>eclared </a:t>
            </a:r>
            <a:r>
              <a:rPr lang="en-US" dirty="0"/>
              <a:t>as </a:t>
            </a:r>
            <a:r>
              <a:rPr lang="en-US" dirty="0" smtClean="0"/>
              <a:t>char.</a:t>
            </a:r>
          </a:p>
          <a:p>
            <a:pPr marL="800100" indent="-342900"/>
            <a:r>
              <a:rPr lang="en-US" dirty="0" smtClean="0"/>
              <a:t>Stored </a:t>
            </a:r>
            <a:r>
              <a:rPr lang="en-US" dirty="0"/>
              <a:t>by ASCII </a:t>
            </a:r>
            <a:r>
              <a:rPr lang="en-US" dirty="0" smtClean="0"/>
              <a:t>values. </a:t>
            </a:r>
            <a:endParaRPr lang="en-US" dirty="0"/>
          </a:p>
          <a:p>
            <a:r>
              <a:rPr lang="en-US" dirty="0" smtClean="0"/>
              <a:t>Boolean Type</a:t>
            </a:r>
          </a:p>
          <a:p>
            <a:pPr marL="800100" indent="-342900"/>
            <a:r>
              <a:rPr lang="en-US" dirty="0"/>
              <a:t>D</a:t>
            </a:r>
            <a:r>
              <a:rPr lang="en-US" dirty="0" smtClean="0"/>
              <a:t>eclared </a:t>
            </a:r>
            <a:r>
              <a:rPr lang="en-US" dirty="0"/>
              <a:t>as </a:t>
            </a:r>
            <a:r>
              <a:rPr lang="en-US" dirty="0" err="1" smtClean="0"/>
              <a:t>bool</a:t>
            </a:r>
            <a:r>
              <a:rPr lang="en-US" dirty="0"/>
              <a:t>.</a:t>
            </a:r>
            <a:endParaRPr lang="en-US" dirty="0" smtClean="0"/>
          </a:p>
          <a:p>
            <a:pPr marL="800100" indent="-342900"/>
            <a:r>
              <a:rPr lang="en-US" dirty="0"/>
              <a:t>H</a:t>
            </a:r>
            <a:r>
              <a:rPr lang="en-US" dirty="0" smtClean="0"/>
              <a:t>as </a:t>
            </a:r>
            <a:r>
              <a:rPr lang="en-US" dirty="0"/>
              <a:t>only 2 </a:t>
            </a:r>
            <a:r>
              <a:rPr lang="en-US" dirty="0" smtClean="0"/>
              <a:t>values true/false.</a:t>
            </a:r>
          </a:p>
          <a:p>
            <a:r>
              <a:rPr lang="en-US" dirty="0" smtClean="0"/>
              <a:t>Floating Types</a:t>
            </a:r>
          </a:p>
          <a:p>
            <a:pPr marL="800100" indent="-342900"/>
            <a:r>
              <a:rPr lang="en-US" dirty="0"/>
              <a:t>R</a:t>
            </a:r>
            <a:r>
              <a:rPr lang="en-US" dirty="0" smtClean="0"/>
              <a:t>epresent </a:t>
            </a:r>
            <a:r>
              <a:rPr lang="en-US" dirty="0"/>
              <a:t>real numbers with a decimal </a:t>
            </a:r>
            <a:r>
              <a:rPr lang="en-US" dirty="0" smtClean="0"/>
              <a:t>point</a:t>
            </a:r>
          </a:p>
          <a:p>
            <a:pPr marL="800100" indent="-342900"/>
            <a:r>
              <a:rPr lang="en-US" dirty="0"/>
              <a:t>D</a:t>
            </a:r>
            <a:r>
              <a:rPr lang="en-US" dirty="0" smtClean="0"/>
              <a:t>eclared </a:t>
            </a:r>
            <a:r>
              <a:rPr lang="en-US" dirty="0"/>
              <a:t>as float, or </a:t>
            </a:r>
            <a:r>
              <a:rPr lang="en-US" dirty="0" smtClean="0"/>
              <a:t>double</a:t>
            </a:r>
          </a:p>
          <a:p>
            <a:pPr marL="800100" indent="-342900"/>
            <a:r>
              <a:rPr lang="en-US" dirty="0" smtClean="0"/>
              <a:t>Scientific </a:t>
            </a:r>
            <a:r>
              <a:rPr lang="en-US" dirty="0"/>
              <a:t>notation where e (or E) stand for “times 10 to the ” (.55-e6)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56263" cy="1054250"/>
          </a:xfrm>
        </p:spPr>
        <p:txBody>
          <a:bodyPr/>
          <a:lstStyle/>
          <a:p>
            <a:r>
              <a:rPr lang="en-US" dirty="0" smtClean="0"/>
              <a:t>Primitive </a:t>
            </a:r>
            <a:r>
              <a:rPr lang="en-US" dirty="0"/>
              <a:t>Data Types in C++</a:t>
            </a:r>
          </a:p>
        </p:txBody>
      </p:sp>
    </p:spTree>
    <p:extLst>
      <p:ext uri="{BB962C8B-B14F-4D97-AF65-F5344CB8AC3E}">
        <p14:creationId xmlns:p14="http://schemas.microsoft.com/office/powerpoint/2010/main" val="107531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8139953" cy="438105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int</a:t>
            </a:r>
            <a:r>
              <a:rPr lang="en-US" dirty="0"/>
              <a:t> sample values </a:t>
            </a: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4578	-4578	   0</a:t>
            </a:r>
          </a:p>
          <a:p>
            <a:pPr marL="457200" indent="0">
              <a:buNone/>
            </a:pPr>
            <a:endParaRPr lang="en-US" dirty="0" smtClean="0"/>
          </a:p>
          <a:p>
            <a:r>
              <a:rPr lang="en-US" b="1" dirty="0" err="1" smtClean="0"/>
              <a:t>bool</a:t>
            </a:r>
            <a:r>
              <a:rPr lang="en-US" dirty="0" smtClean="0"/>
              <a:t> </a:t>
            </a:r>
            <a:r>
              <a:rPr lang="en-US" dirty="0"/>
              <a:t>values </a:t>
            </a: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True	false </a:t>
            </a:r>
          </a:p>
          <a:p>
            <a:endParaRPr lang="en-US" b="1" dirty="0" smtClean="0"/>
          </a:p>
          <a:p>
            <a:r>
              <a:rPr lang="en-US" b="1" dirty="0" smtClean="0"/>
              <a:t>float</a:t>
            </a:r>
            <a:r>
              <a:rPr lang="en-US" dirty="0" smtClean="0"/>
              <a:t> </a:t>
            </a:r>
            <a:r>
              <a:rPr lang="en-US" dirty="0"/>
              <a:t>sample values </a:t>
            </a: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95.274	95.0	.265 </a:t>
            </a:r>
          </a:p>
          <a:p>
            <a:endParaRPr lang="en-US" b="1" dirty="0" smtClean="0"/>
          </a:p>
          <a:p>
            <a:r>
              <a:rPr lang="en-US" b="1" dirty="0" smtClean="0"/>
              <a:t>char</a:t>
            </a:r>
            <a:r>
              <a:rPr lang="en-US" dirty="0" smtClean="0"/>
              <a:t> </a:t>
            </a:r>
            <a:r>
              <a:rPr lang="en-US" dirty="0"/>
              <a:t>sample values </a:t>
            </a: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‘</a:t>
            </a:r>
            <a:r>
              <a:rPr lang="en-US" dirty="0"/>
              <a:t>B</a:t>
            </a:r>
            <a:r>
              <a:rPr lang="en-US" dirty="0" smtClean="0"/>
              <a:t>’		‘</a:t>
            </a:r>
            <a:r>
              <a:rPr lang="en-US" dirty="0"/>
              <a:t>d</a:t>
            </a:r>
            <a:r>
              <a:rPr lang="en-US" dirty="0" smtClean="0"/>
              <a:t>’	‘</a:t>
            </a:r>
            <a:r>
              <a:rPr lang="en-US" dirty="0"/>
              <a:t>4</a:t>
            </a:r>
            <a:r>
              <a:rPr lang="en-US" dirty="0" smtClean="0"/>
              <a:t>’	‘?’	‘*’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69750"/>
            <a:ext cx="7756263" cy="1054250"/>
          </a:xfrm>
        </p:spPr>
        <p:txBody>
          <a:bodyPr/>
          <a:lstStyle/>
          <a:p>
            <a:r>
              <a:rPr lang="en-US" dirty="0"/>
              <a:t>Samples of C++ Data Values</a:t>
            </a:r>
          </a:p>
        </p:txBody>
      </p:sp>
    </p:spTree>
    <p:extLst>
      <p:ext uri="{BB962C8B-B14F-4D97-AF65-F5344CB8AC3E}">
        <p14:creationId xmlns:p14="http://schemas.microsoft.com/office/powerpoint/2010/main" val="282135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</a:t>
            </a:r>
            <a:r>
              <a:rPr lang="en-US" dirty="0" err="1" smtClean="0"/>
              <a:t>izeof</a:t>
            </a:r>
            <a:r>
              <a:rPr lang="en-US" dirty="0" smtClean="0"/>
              <a:t>()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33738"/>
            <a:ext cx="6695816" cy="202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402516"/>
            <a:ext cx="2819400" cy="1303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50013" y="4933890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Output:</a:t>
            </a:r>
            <a:endParaRPr lang="en-US" sz="2000" b="1" dirty="0"/>
          </a:p>
        </p:txBody>
      </p:sp>
      <p:sp>
        <p:nvSpPr>
          <p:cNvPr id="2" name="Rectangle 1"/>
          <p:cNvSpPr/>
          <p:nvPr/>
        </p:nvSpPr>
        <p:spPr>
          <a:xfrm>
            <a:off x="838200" y="2286000"/>
            <a:ext cx="7543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The </a:t>
            </a:r>
            <a:r>
              <a:rPr lang="en-US" sz="2000" b="1" dirty="0" err="1"/>
              <a:t>sizeof</a:t>
            </a:r>
            <a:r>
              <a:rPr lang="en-US" sz="2000" dirty="0"/>
              <a:t> is a </a:t>
            </a:r>
            <a:r>
              <a:rPr lang="en-US" sz="2000" dirty="0" smtClean="0"/>
              <a:t>keyword</a:t>
            </a:r>
            <a:r>
              <a:rPr lang="en-US" sz="2000" dirty="0"/>
              <a:t> </a:t>
            </a:r>
            <a:r>
              <a:rPr lang="en-US" sz="2000" dirty="0" smtClean="0"/>
              <a:t>refers to an </a:t>
            </a:r>
            <a:r>
              <a:rPr lang="en-US" sz="2000" dirty="0"/>
              <a:t>operator that determines the size, in bytes, of a variable or data type.</a:t>
            </a:r>
          </a:p>
        </p:txBody>
      </p:sp>
    </p:spTree>
    <p:extLst>
      <p:ext uri="{BB962C8B-B14F-4D97-AF65-F5344CB8AC3E}">
        <p14:creationId xmlns:p14="http://schemas.microsoft.com/office/powerpoint/2010/main" val="152531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ASCII Table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017" y="2176463"/>
            <a:ext cx="5129783" cy="445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385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variable is a memory address where data can be stored and </a:t>
            </a:r>
            <a:r>
              <a:rPr lang="en-US" dirty="0" smtClean="0"/>
              <a:t>changed.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Declaring </a:t>
            </a:r>
            <a:r>
              <a:rPr lang="en-US" dirty="0"/>
              <a:t>a variable means specifying both its name and its data type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All variables must be declared with a name and a data type before they can be used in a program.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5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declaration tells the compiler to allocate enough memory to hold a value of this data type, and to associate the identifier with this location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int </a:t>
            </a:r>
            <a:r>
              <a:rPr lang="en-US" dirty="0" err="1"/>
              <a:t>ageOfDog</a:t>
            </a:r>
            <a:r>
              <a:rPr lang="en-US" dirty="0"/>
              <a:t>;→ </a:t>
            </a:r>
          </a:p>
          <a:p>
            <a:r>
              <a:rPr lang="en-US" dirty="0" smtClean="0"/>
              <a:t>char </a:t>
            </a:r>
            <a:r>
              <a:rPr lang="en-US" dirty="0" err="1"/>
              <a:t>middleInitial</a:t>
            </a:r>
            <a:r>
              <a:rPr lang="en-US" dirty="0"/>
              <a:t>; → </a:t>
            </a:r>
          </a:p>
          <a:p>
            <a:r>
              <a:rPr lang="en-US" dirty="0" smtClean="0"/>
              <a:t>float </a:t>
            </a:r>
            <a:r>
              <a:rPr lang="en-US" dirty="0" err="1"/>
              <a:t>taxRate</a:t>
            </a:r>
            <a:r>
              <a:rPr lang="en-US" dirty="0"/>
              <a:t>;→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56263" cy="1054250"/>
          </a:xfrm>
        </p:spPr>
        <p:txBody>
          <a:bodyPr/>
          <a:lstStyle/>
          <a:p>
            <a:r>
              <a:rPr lang="en-US" dirty="0"/>
              <a:t>What Does a Variable Declaration Do?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810000"/>
            <a:ext cx="3028950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181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1524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variables must declared before </a:t>
            </a:r>
            <a:r>
              <a:rPr lang="en-US" dirty="0" smtClean="0"/>
              <a:t>use.</a:t>
            </a:r>
          </a:p>
          <a:p>
            <a:pPr marL="800100" indent="-342900"/>
            <a:r>
              <a:rPr lang="en-US" dirty="0" smtClean="0"/>
              <a:t>At </a:t>
            </a:r>
            <a:r>
              <a:rPr lang="en-US" dirty="0"/>
              <a:t>the top of the </a:t>
            </a:r>
            <a:r>
              <a:rPr lang="en-US" dirty="0" smtClean="0"/>
              <a:t>program</a:t>
            </a:r>
          </a:p>
          <a:p>
            <a:pPr marL="800100" indent="-342900"/>
            <a:r>
              <a:rPr lang="en-US" dirty="0" smtClean="0"/>
              <a:t>Just </a:t>
            </a:r>
            <a:r>
              <a:rPr lang="en-US" dirty="0"/>
              <a:t>before </a:t>
            </a:r>
            <a:r>
              <a:rPr lang="en-US" dirty="0" smtClean="0"/>
              <a:t>use.</a:t>
            </a:r>
          </a:p>
          <a:p>
            <a:r>
              <a:rPr lang="en-US" dirty="0" smtClean="0"/>
              <a:t>Commas </a:t>
            </a:r>
            <a:r>
              <a:rPr lang="en-US" dirty="0"/>
              <a:t>are used to separate identifiers of the same </a:t>
            </a:r>
            <a:r>
              <a:rPr lang="en-US" dirty="0" smtClean="0"/>
              <a:t>type.</a:t>
            </a:r>
          </a:p>
          <a:p>
            <a:pPr marL="914400" indent="0">
              <a:buNone/>
            </a:pPr>
            <a:r>
              <a:rPr lang="en-US" dirty="0" smtClean="0"/>
              <a:t>int </a:t>
            </a:r>
            <a:r>
              <a:rPr lang="en-US" dirty="0"/>
              <a:t>count, age; </a:t>
            </a:r>
          </a:p>
          <a:p>
            <a:r>
              <a:rPr lang="en-US" dirty="0" smtClean="0"/>
              <a:t>Variables </a:t>
            </a:r>
            <a:r>
              <a:rPr lang="en-US" dirty="0"/>
              <a:t>can be initialized to a starting value when they are </a:t>
            </a:r>
            <a:r>
              <a:rPr lang="en-US" dirty="0" smtClean="0"/>
              <a:t>declared. </a:t>
            </a:r>
          </a:p>
          <a:p>
            <a:pPr marL="914400" indent="0">
              <a:buNone/>
            </a:pPr>
            <a:r>
              <a:rPr lang="en-US" dirty="0" smtClean="0"/>
              <a:t>int </a:t>
            </a:r>
            <a:r>
              <a:rPr lang="en-US" dirty="0"/>
              <a:t>count = 0; </a:t>
            </a:r>
            <a:endParaRPr lang="en-US" dirty="0" smtClean="0"/>
          </a:p>
          <a:p>
            <a:pPr marL="914400" indent="0">
              <a:buNone/>
            </a:pPr>
            <a:r>
              <a:rPr lang="en-US" dirty="0" smtClean="0"/>
              <a:t>int </a:t>
            </a:r>
            <a:r>
              <a:rPr lang="en-US" dirty="0"/>
              <a:t>age, count = 0;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Declaration</a:t>
            </a:r>
          </a:p>
        </p:txBody>
      </p:sp>
    </p:spTree>
    <p:extLst>
      <p:ext uri="{BB962C8B-B14F-4D97-AF65-F5344CB8AC3E}">
        <p14:creationId xmlns:p14="http://schemas.microsoft.com/office/powerpoint/2010/main" val="54938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Declare the variables c, </a:t>
            </a:r>
            <a:r>
              <a:rPr lang="en-US" dirty="0" err="1"/>
              <a:t>thisIsAVariable</a:t>
            </a:r>
            <a:r>
              <a:rPr lang="en-US" dirty="0"/>
              <a:t>, q76354 and number to be of type </a:t>
            </a:r>
            <a:r>
              <a:rPr lang="en-US" dirty="0" smtClean="0"/>
              <a:t>int.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285" y="3200400"/>
            <a:ext cx="2881915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43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Declare the variables c, </a:t>
            </a:r>
            <a:r>
              <a:rPr lang="en-US" dirty="0" err="1"/>
              <a:t>thisIsAVariable</a:t>
            </a:r>
            <a:r>
              <a:rPr lang="en-US" dirty="0"/>
              <a:t>, q76354 and number to be of type </a:t>
            </a:r>
            <a:r>
              <a:rPr lang="en-US" dirty="0" err="1"/>
              <a:t>int</a:t>
            </a:r>
            <a:r>
              <a:rPr lang="en-US" dirty="0"/>
              <a:t> (in one statement).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759" y="3343275"/>
            <a:ext cx="4142241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329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Declare the variables x, y, z and result to be of type </a:t>
            </a:r>
            <a:r>
              <a:rPr lang="en-US" dirty="0" err="1"/>
              <a:t>int</a:t>
            </a:r>
            <a:r>
              <a:rPr lang="en-US" dirty="0"/>
              <a:t> (in separate statements) and </a:t>
            </a:r>
            <a:r>
              <a:rPr lang="en-US" dirty="0" smtClean="0"/>
              <a:t>initialize </a:t>
            </a:r>
            <a:r>
              <a:rPr lang="en-US" dirty="0"/>
              <a:t>each to 0.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701" y="3138488"/>
            <a:ext cx="2604899" cy="341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62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56263" cy="1054250"/>
          </a:xfrm>
        </p:spPr>
        <p:txBody>
          <a:bodyPr/>
          <a:lstStyle/>
          <a:p>
            <a:r>
              <a:rPr lang="en-US" dirty="0"/>
              <a:t>Trace a Program Execution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2333625"/>
            <a:ext cx="5915025" cy="376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503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56263" cy="1054250"/>
          </a:xfrm>
        </p:spPr>
        <p:txBody>
          <a:bodyPr/>
          <a:lstStyle/>
          <a:p>
            <a:r>
              <a:rPr lang="en-US" dirty="0"/>
              <a:t>Trace a Program Execution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8" y="2286000"/>
            <a:ext cx="5724525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823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56263" cy="1054250"/>
          </a:xfrm>
        </p:spPr>
        <p:txBody>
          <a:bodyPr/>
          <a:lstStyle/>
          <a:p>
            <a:r>
              <a:rPr lang="en-US" dirty="0"/>
              <a:t>Trace a Program Execution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2276475"/>
            <a:ext cx="600075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069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56263" cy="1054250"/>
          </a:xfrm>
        </p:spPr>
        <p:txBody>
          <a:bodyPr/>
          <a:lstStyle/>
          <a:p>
            <a:r>
              <a:rPr lang="en-US" dirty="0"/>
              <a:t>Trace a Program Execution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2295525"/>
            <a:ext cx="6029325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541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56263" cy="1054250"/>
          </a:xfrm>
        </p:spPr>
        <p:txBody>
          <a:bodyPr/>
          <a:lstStyle/>
          <a:p>
            <a:r>
              <a:rPr lang="en-US" dirty="0"/>
              <a:t>Trace a Program Execution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863" y="2295525"/>
            <a:ext cx="6010275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577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09800"/>
            <a:ext cx="4725622" cy="328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581400"/>
            <a:ext cx="2243138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477000" y="3124200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8917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342900" algn="just"/>
            <a:r>
              <a:rPr lang="en-US" sz="2000" dirty="0"/>
              <a:t>The char data type is used to store a single character. The character must be surrounded by single quotes, like 'A' or 'c':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 </a:t>
            </a:r>
            <a:r>
              <a:rPr lang="en-US" dirty="0"/>
              <a:t>D</a:t>
            </a:r>
            <a:r>
              <a:rPr lang="en-US" dirty="0" smtClean="0"/>
              <a:t>ata </a:t>
            </a:r>
            <a:r>
              <a:rPr lang="en-US" dirty="0"/>
              <a:t>T</a:t>
            </a:r>
            <a:r>
              <a:rPr lang="en-US" dirty="0" smtClean="0"/>
              <a:t>ype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657600"/>
            <a:ext cx="208915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5" y="6096000"/>
            <a:ext cx="815975" cy="441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657601"/>
            <a:ext cx="1768642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6096000"/>
            <a:ext cx="924137" cy="479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1" y="3657601"/>
            <a:ext cx="1751602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420" y="6096001"/>
            <a:ext cx="1032084" cy="479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688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Conditional Statements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99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695</TotalTime>
  <Words>650</Words>
  <Application>Microsoft Office PowerPoint</Application>
  <PresentationFormat>On-screen Show (4:3)</PresentationFormat>
  <Paragraphs>197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Hardcover</vt:lpstr>
      <vt:lpstr>Programming Fundamentals</vt:lpstr>
      <vt:lpstr>Today’s Lecture</vt:lpstr>
      <vt:lpstr>Identifier?</vt:lpstr>
      <vt:lpstr>Identifier?</vt:lpstr>
      <vt:lpstr>C++ Data Types</vt:lpstr>
      <vt:lpstr>C++ Primitive Data Types</vt:lpstr>
      <vt:lpstr>Primitive Data Types</vt:lpstr>
      <vt:lpstr>Primitive Data Types</vt:lpstr>
      <vt:lpstr>PowerPoint Presentation</vt:lpstr>
      <vt:lpstr>PowerPoint Presentation</vt:lpstr>
      <vt:lpstr>Primitive Data Types in C++</vt:lpstr>
      <vt:lpstr>Samples of C++ Data Values</vt:lpstr>
      <vt:lpstr>sizeof()</vt:lpstr>
      <vt:lpstr>ASCII Table</vt:lpstr>
      <vt:lpstr>Variable</vt:lpstr>
      <vt:lpstr>What Does a Variable Declaration Do?</vt:lpstr>
      <vt:lpstr>Variable Declaration</vt:lpstr>
      <vt:lpstr>Activity</vt:lpstr>
      <vt:lpstr>Activity</vt:lpstr>
      <vt:lpstr>Activity</vt:lpstr>
      <vt:lpstr>Trace a Program Execution</vt:lpstr>
      <vt:lpstr>Trace a Program Execution</vt:lpstr>
      <vt:lpstr>Trace a Program Execution</vt:lpstr>
      <vt:lpstr>Trace a Program Execution</vt:lpstr>
      <vt:lpstr>Trace a Program Execution</vt:lpstr>
      <vt:lpstr>Example</vt:lpstr>
      <vt:lpstr>char Data Type </vt:lpstr>
      <vt:lpstr>Next Lecture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79</cp:revision>
  <dcterms:created xsi:type="dcterms:W3CDTF">2023-01-21T17:06:48Z</dcterms:created>
  <dcterms:modified xsi:type="dcterms:W3CDTF">2025-09-23T20:31:58Z</dcterms:modified>
</cp:coreProperties>
</file>