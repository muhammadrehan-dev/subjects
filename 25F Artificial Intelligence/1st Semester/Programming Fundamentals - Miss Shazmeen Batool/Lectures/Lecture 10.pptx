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35"/>
  </p:notesMasterIdLst>
  <p:sldIdLst>
    <p:sldId id="275" r:id="rId2"/>
    <p:sldId id="276" r:id="rId3"/>
    <p:sldId id="277" r:id="rId4"/>
    <p:sldId id="315" r:id="rId5"/>
    <p:sldId id="316" r:id="rId6"/>
    <p:sldId id="317" r:id="rId7"/>
    <p:sldId id="318" r:id="rId8"/>
    <p:sldId id="319" r:id="rId9"/>
    <p:sldId id="293" r:id="rId10"/>
    <p:sldId id="321" r:id="rId11"/>
    <p:sldId id="294" r:id="rId12"/>
    <p:sldId id="327" r:id="rId13"/>
    <p:sldId id="295" r:id="rId14"/>
    <p:sldId id="296" r:id="rId15"/>
    <p:sldId id="297" r:id="rId16"/>
    <p:sldId id="323" r:id="rId17"/>
    <p:sldId id="326" r:id="rId18"/>
    <p:sldId id="325" r:id="rId19"/>
    <p:sldId id="299" r:id="rId20"/>
    <p:sldId id="298" r:id="rId21"/>
    <p:sldId id="300" r:id="rId22"/>
    <p:sldId id="301" r:id="rId23"/>
    <p:sldId id="302" r:id="rId24"/>
    <p:sldId id="312" r:id="rId25"/>
    <p:sldId id="303" r:id="rId26"/>
    <p:sldId id="304" r:id="rId27"/>
    <p:sldId id="305" r:id="rId28"/>
    <p:sldId id="313" r:id="rId29"/>
    <p:sldId id="306" r:id="rId30"/>
    <p:sldId id="307" r:id="rId31"/>
    <p:sldId id="314" r:id="rId32"/>
    <p:sldId id="308" r:id="rId33"/>
    <p:sldId id="309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CF3F4-0DD4-4829-B90F-37434986F336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CB7F0-DE21-4EFF-895C-2F01B68F3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47110-DE54-4872-A5AE-CA21AC8F8A6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0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Ternary Operator</a:t>
            </a:r>
          </a:p>
          <a:p>
            <a:r>
              <a:rPr lang="en-US" dirty="0"/>
              <a:t>Switch in C++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Numbers in C++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the variables a = 2, b = 4, and c = 6. Indicate by circling the T or F if each of the following conditions is true or false: 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83" y="3581400"/>
            <a:ext cx="7027817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6477000" y="3733800"/>
            <a:ext cx="381000" cy="381000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239000" y="4191000"/>
            <a:ext cx="381000" cy="381000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477000" y="4724400"/>
            <a:ext cx="381000" cy="381000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77000" y="5181600"/>
            <a:ext cx="381000" cy="381000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477000" y="5715000"/>
            <a:ext cx="381000" cy="381000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6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Write an if statement that prints the message “The number is valid” if the variable speed is within the range 0 through 200. 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763" y="3352800"/>
            <a:ext cx="4226637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603674"/>
            <a:ext cx="4205871" cy="1120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17" y="5410200"/>
            <a:ext cx="3166033" cy="77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15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Write an if statement that prints the message “The number is not valid” if the variable speed is outside the range 0 through 200.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886200"/>
            <a:ext cx="5548524" cy="133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224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Explain why you cannot convert the following if/else if statement into a switch </a:t>
            </a:r>
            <a:r>
              <a:rPr lang="en-US" dirty="0" smtClean="0"/>
              <a:t>statement.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932" y="3200400"/>
            <a:ext cx="3575586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320040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/>
              <a:t>1. </a:t>
            </a:r>
            <a:r>
              <a:rPr lang="en-US" sz="2000" b="1" dirty="0"/>
              <a:t>Switch statements can't handle multiple variables in one switch; they only work on one at a time.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4355068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2</a:t>
            </a:r>
            <a:r>
              <a:rPr lang="en-US" sz="2000" b="1" dirty="0" smtClean="0"/>
              <a:t>. </a:t>
            </a:r>
            <a:r>
              <a:rPr lang="en-US" sz="2000" b="1" dirty="0"/>
              <a:t>Switch </a:t>
            </a:r>
            <a:r>
              <a:rPr lang="en-US" sz="2000" b="1" dirty="0" smtClean="0"/>
              <a:t>doesn't </a:t>
            </a:r>
            <a:r>
              <a:rPr lang="en-US" sz="2000" b="1" dirty="0"/>
              <a:t>s</a:t>
            </a:r>
            <a:r>
              <a:rPr lang="en-US" sz="2000" b="1" dirty="0" smtClean="0"/>
              <a:t>upport </a:t>
            </a:r>
            <a:r>
              <a:rPr lang="en-US" sz="2000" b="1" dirty="0"/>
              <a:t>l</a:t>
            </a:r>
            <a:r>
              <a:rPr lang="en-US" sz="2000" b="1" dirty="0" smtClean="0"/>
              <a:t>ogical operators.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5248870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3</a:t>
            </a:r>
            <a:r>
              <a:rPr lang="en-US" sz="2000" b="1" dirty="0" smtClean="0"/>
              <a:t>. </a:t>
            </a:r>
            <a:r>
              <a:rPr lang="en-US" sz="2000" b="1" dirty="0"/>
              <a:t>Switch works with integers, characters, or </a:t>
            </a:r>
            <a:r>
              <a:rPr lang="en-US" sz="2000" b="1" dirty="0" err="1" smtClean="0"/>
              <a:t>enums</a:t>
            </a:r>
            <a:r>
              <a:rPr lang="en-US" sz="2000" b="1" dirty="0" smtClean="0"/>
              <a:t>, </a:t>
            </a:r>
            <a:r>
              <a:rPr lang="en-US" sz="2000" b="1" dirty="0"/>
              <a:t>but not directly with floating-point numbers</a:t>
            </a:r>
            <a:r>
              <a:rPr lang="en-US" sz="2000" b="1" dirty="0" smtClean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3067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wrong with the following switch statement?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297" y="2895600"/>
            <a:ext cx="5748503" cy="284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2864584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/>
              <a:t>1. </a:t>
            </a:r>
            <a:r>
              <a:rPr lang="en-US" sz="2000" b="1" dirty="0"/>
              <a:t>Invalid Case </a:t>
            </a:r>
            <a:r>
              <a:rPr lang="en-US" sz="2000" b="1" dirty="0" smtClean="0"/>
              <a:t>Labels.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409890"/>
            <a:ext cx="320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2</a:t>
            </a:r>
            <a:r>
              <a:rPr lang="en-US" sz="2000" b="1" dirty="0" smtClean="0"/>
              <a:t>. </a:t>
            </a:r>
            <a:r>
              <a:rPr lang="en-US" sz="2000" b="1" dirty="0"/>
              <a:t>You can't use operators like </a:t>
            </a:r>
            <a:r>
              <a:rPr lang="en-US" sz="2000" b="1" dirty="0"/>
              <a:t>&lt;</a:t>
            </a:r>
            <a:r>
              <a:rPr lang="en-US" sz="2000" b="1" dirty="0"/>
              <a:t>, </a:t>
            </a:r>
            <a:r>
              <a:rPr lang="en-US" sz="2000" b="1" dirty="0"/>
              <a:t>==</a:t>
            </a:r>
            <a:r>
              <a:rPr lang="en-US" sz="2000" b="1" dirty="0"/>
              <a:t>, or </a:t>
            </a:r>
            <a:r>
              <a:rPr lang="en-US" sz="2000" b="1" dirty="0"/>
              <a:t>&gt;</a:t>
            </a:r>
            <a:r>
              <a:rPr lang="en-US" sz="2000" b="1" dirty="0"/>
              <a:t> in case </a:t>
            </a:r>
            <a:r>
              <a:rPr lang="en-US" sz="2000" b="1" dirty="0" smtClean="0"/>
              <a:t>labels</a:t>
            </a:r>
            <a:r>
              <a:rPr lang="en-US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338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Random numbers are useful for lots of different programming tasks. The following are just a few </a:t>
            </a:r>
            <a:r>
              <a:rPr lang="en-US" dirty="0" smtClean="0"/>
              <a:t>examples:</a:t>
            </a:r>
          </a:p>
          <a:p>
            <a:pPr marL="914400" algn="just"/>
            <a:r>
              <a:rPr lang="en-US" dirty="0" smtClean="0"/>
              <a:t>Random </a:t>
            </a:r>
            <a:r>
              <a:rPr lang="en-US" dirty="0"/>
              <a:t>numbers are commonly used in games. For example, computer games that let the player roll dice use random numbers to represent the values of the dice</a:t>
            </a:r>
            <a:r>
              <a:rPr lang="en-US" dirty="0" smtClean="0"/>
              <a:t>.</a:t>
            </a:r>
          </a:p>
          <a:p>
            <a:pPr marL="914400" algn="just"/>
            <a:r>
              <a:rPr lang="en-US" dirty="0"/>
              <a:t>Random numbers are useful in simulation programs. In some simulations, the computer must randomly decide how a person, animal, insect, or other living being will behave. Formulas can be constructed in which a random number is used to determine various actions and events that take place in the program.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Random Numbers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35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marL="914400" algn="just"/>
            <a:r>
              <a:rPr lang="en-US" dirty="0" smtClean="0"/>
              <a:t>Random </a:t>
            </a:r>
            <a:r>
              <a:rPr lang="en-US" dirty="0"/>
              <a:t>numbers are useful in statistical programs that must randomly select data for analysis. </a:t>
            </a:r>
            <a:endParaRPr lang="en-US" dirty="0" smtClean="0"/>
          </a:p>
          <a:p>
            <a:pPr marL="914400" algn="just"/>
            <a:r>
              <a:rPr lang="en-US" dirty="0"/>
              <a:t>Random numbers are useful in statistical programs that must randomly select data for analysis. </a:t>
            </a:r>
            <a:endParaRPr lang="en-US" dirty="0" smtClean="0"/>
          </a:p>
          <a:p>
            <a:pPr algn="just"/>
            <a:r>
              <a:rPr lang="en-US" dirty="0"/>
              <a:t>The C++ library has a function, </a:t>
            </a:r>
            <a:r>
              <a:rPr lang="en-US" b="1" dirty="0"/>
              <a:t>rand()</a:t>
            </a:r>
            <a:r>
              <a:rPr lang="en-US" dirty="0"/>
              <a:t>, that you can use to generate random numbers. (The rand() function requires the </a:t>
            </a:r>
            <a:r>
              <a:rPr lang="en-US" dirty="0" err="1"/>
              <a:t>cstdlib</a:t>
            </a:r>
            <a:r>
              <a:rPr lang="en-US" dirty="0"/>
              <a:t> header file.) The number returned from the function is an int.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Random Numbers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779" y="2286000"/>
            <a:ext cx="3996221" cy="3892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495800"/>
            <a:ext cx="1474974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53200" y="3962400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904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3200400"/>
            <a:ext cx="7745505" cy="4038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After this statement executes, the variable y will contain a random number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Random Numbers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90800"/>
            <a:ext cx="2367666" cy="586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819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56" y="2286000"/>
            <a:ext cx="5022922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343400"/>
            <a:ext cx="323556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91200" y="3813956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122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0485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 obtain a random integer between 0 and 9, use rand() % 10 </a:t>
            </a: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algn="ctr"/>
            <a:r>
              <a:rPr lang="en-US" dirty="0" smtClean="0"/>
              <a:t>To </a:t>
            </a:r>
            <a:r>
              <a:rPr lang="en-US" dirty="0"/>
              <a:t>obtain a random integer between 0 and 99, use rand() % 100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 smtClean="0"/>
              <a:t>Random </a:t>
            </a:r>
            <a:r>
              <a:rPr lang="en-US" dirty="0"/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316853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448" y="2133601"/>
            <a:ext cx="4331621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191000"/>
            <a:ext cx="1371600" cy="80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10400" y="3733800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7320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09800"/>
            <a:ext cx="7745505" cy="464820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actuality, the numbers produced by rand</a:t>
            </a:r>
            <a:r>
              <a:rPr lang="en-US" dirty="0" smtClean="0"/>
              <a:t>() are </a:t>
            </a:r>
            <a:r>
              <a:rPr lang="en-US" dirty="0"/>
              <a:t>pseudorandom. The function uses an algorithm that produces the same sequence of numbers each time the program is repeated on the same system.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suppose the following statements are executed.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/>
              <a:t>The three numbers displayed will appear to be random, but each time the program runs, the same three values will be generated.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/>
              <a:t>Random Numbers 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859" y="4414838"/>
            <a:ext cx="3494941" cy="107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702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448" y="2133601"/>
            <a:ext cx="4331621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191000"/>
            <a:ext cx="1371600" cy="80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10400" y="3733800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r>
              <a:rPr lang="en-US" sz="2400" dirty="0"/>
              <a:t> If random numbers are generated with rand() without first calling </a:t>
            </a:r>
            <a:r>
              <a:rPr lang="en-US" sz="2400" dirty="0" err="1"/>
              <a:t>srand</a:t>
            </a:r>
            <a:r>
              <a:rPr lang="en-US" sz="2400" dirty="0"/>
              <a:t>(), your program will create the same sequence of numbers each time it runs.</a:t>
            </a:r>
          </a:p>
        </p:txBody>
      </p:sp>
    </p:spTree>
    <p:extLst>
      <p:ext uri="{BB962C8B-B14F-4D97-AF65-F5344CB8AC3E}">
        <p14:creationId xmlns:p14="http://schemas.microsoft.com/office/powerpoint/2010/main" val="393746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09800"/>
            <a:ext cx="7745505" cy="464820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order to randomize the results of rand(), the </a:t>
            </a:r>
            <a:r>
              <a:rPr lang="en-US" dirty="0" err="1"/>
              <a:t>srand</a:t>
            </a:r>
            <a:r>
              <a:rPr lang="en-US" dirty="0"/>
              <a:t>() function must be used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err="1"/>
              <a:t>srand</a:t>
            </a:r>
            <a:r>
              <a:rPr lang="en-US" dirty="0"/>
              <a:t>() accepts an unsigned </a:t>
            </a:r>
            <a:r>
              <a:rPr lang="en-US" dirty="0" err="1"/>
              <a:t>int</a:t>
            </a:r>
            <a:r>
              <a:rPr lang="en-US" dirty="0"/>
              <a:t> argument, which acts as a seed value for the algorithm.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By </a:t>
            </a:r>
            <a:r>
              <a:rPr lang="en-US" dirty="0"/>
              <a:t>specifying different seed values, rand() will generate different sequences of random numbers. 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381000"/>
            <a:ext cx="7756263" cy="1054250"/>
          </a:xfrm>
        </p:spPr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rand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8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54" y="2286000"/>
            <a:ext cx="8261246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509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common practice for getting unique seed values is to call the time function, which is part of the standard library.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r>
              <a:rPr lang="en-US" dirty="0"/>
              <a:t>The time function gives you a number based on the current date and time, which changes every second. This means each run of your program is likely to get a different seed, leading to different random results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time function requires the </a:t>
            </a:r>
            <a:r>
              <a:rPr lang="en-US" dirty="0" err="1"/>
              <a:t>ctime</a:t>
            </a:r>
            <a:r>
              <a:rPr lang="en-US" dirty="0"/>
              <a:t> header file, and you pass 0 as an argument to the </a:t>
            </a:r>
            <a:r>
              <a:rPr lang="en-US" dirty="0" smtClean="0"/>
              <a:t>function.</a:t>
            </a:r>
          </a:p>
          <a:p>
            <a:pPr algn="just"/>
            <a:endParaRPr lang="en-US" dirty="0"/>
          </a:p>
          <a:p>
            <a:pPr marL="0" indent="0" algn="ctr">
              <a:buNone/>
            </a:pPr>
            <a:r>
              <a:rPr lang="en-US" sz="3000" b="1" dirty="0" err="1"/>
              <a:t>srand</a:t>
            </a:r>
            <a:r>
              <a:rPr lang="en-US" sz="3000" b="1" dirty="0"/>
              <a:t>(time(0))</a:t>
            </a:r>
            <a:endParaRPr lang="en-US" sz="3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rand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7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328" y="2209800"/>
            <a:ext cx="453557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528" y="2971799"/>
            <a:ext cx="2795472" cy="42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527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program may be set up to work as follows: </a:t>
            </a:r>
            <a:endParaRPr lang="en-US" dirty="0" smtClean="0"/>
          </a:p>
          <a:p>
            <a:pPr marL="914400" algn="just"/>
            <a:r>
              <a:rPr lang="en-US" dirty="0" smtClean="0"/>
              <a:t>Step </a:t>
            </a:r>
            <a:r>
              <a:rPr lang="en-US" dirty="0"/>
              <a:t>1: Generate two single-digit integers into number1 and number2. </a:t>
            </a:r>
            <a:endParaRPr lang="en-US" dirty="0" smtClean="0"/>
          </a:p>
          <a:p>
            <a:pPr marL="914400" algn="just"/>
            <a:r>
              <a:rPr lang="en-US" dirty="0" smtClean="0"/>
              <a:t>Step </a:t>
            </a:r>
            <a:r>
              <a:rPr lang="en-US" dirty="0"/>
              <a:t>2: Ask user to enter y if he/she wants to play this game. </a:t>
            </a:r>
            <a:endParaRPr lang="en-US" dirty="0" smtClean="0"/>
          </a:p>
          <a:p>
            <a:pPr marL="914400" algn="just"/>
            <a:r>
              <a:rPr lang="en-US" dirty="0" smtClean="0"/>
              <a:t>Step </a:t>
            </a:r>
            <a:r>
              <a:rPr lang="en-US" dirty="0"/>
              <a:t>3: if user enters yes Prompt the user to answer “What is number1 + number2?” </a:t>
            </a:r>
            <a:endParaRPr lang="en-US" dirty="0" smtClean="0"/>
          </a:p>
          <a:p>
            <a:pPr marL="914400" algn="just"/>
            <a:r>
              <a:rPr lang="en-US" dirty="0" smtClean="0"/>
              <a:t>Step </a:t>
            </a:r>
            <a:r>
              <a:rPr lang="en-US" dirty="0"/>
              <a:t>4: Check the student’s answer and display whether it is correct. If user guess correct answer, display Congratulations otherwise print sorry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34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6989"/>
            <a:ext cx="8219246" cy="6694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1905000" cy="290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116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39" y="237945"/>
            <a:ext cx="8804661" cy="3114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874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Example</a:t>
            </a:r>
            <a:r>
              <a:rPr lang="en-US" dirty="0" smtClean="0"/>
              <a:t>:</a:t>
            </a:r>
          </a:p>
          <a:p>
            <a:pPr marL="45720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Generating random numbers between </a:t>
            </a:r>
            <a:r>
              <a:rPr lang="en-US" dirty="0" smtClean="0"/>
              <a:t>1 </a:t>
            </a:r>
            <a:r>
              <a:rPr lang="en-US" dirty="0"/>
              <a:t>and </a:t>
            </a:r>
            <a:r>
              <a:rPr lang="en-US" dirty="0" smtClean="0"/>
              <a:t>6 </a:t>
            </a:r>
            <a:r>
              <a:rPr lang="en-US" dirty="0"/>
              <a:t>where </a:t>
            </a:r>
            <a:r>
              <a:rPr lang="en-US" dirty="0" smtClean="0"/>
              <a:t>1 </a:t>
            </a:r>
            <a:r>
              <a:rPr lang="en-US" dirty="0"/>
              <a:t>= minimum value and </a:t>
            </a:r>
            <a:r>
              <a:rPr lang="en-US" dirty="0" smtClean="0"/>
              <a:t>6 = maximum </a:t>
            </a:r>
            <a:r>
              <a:rPr lang="en-US" dirty="0"/>
              <a:t>value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Formula</a:t>
            </a:r>
          </a:p>
          <a:p>
            <a:pPr marL="457200" indent="0" algn="just">
              <a:buNone/>
            </a:pPr>
            <a:r>
              <a:rPr lang="en-US" dirty="0" smtClean="0"/>
              <a:t>(rand() % (</a:t>
            </a:r>
            <a:r>
              <a:rPr lang="en-US" dirty="0"/>
              <a:t>maximum </a:t>
            </a:r>
            <a:r>
              <a:rPr lang="en-US" dirty="0" smtClean="0"/>
              <a:t>value - minimum value + 1)) + minimum </a:t>
            </a:r>
            <a:r>
              <a:rPr lang="en-US" dirty="0"/>
              <a:t>value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915400" cy="1054250"/>
          </a:xfrm>
        </p:spPr>
        <p:txBody>
          <a:bodyPr/>
          <a:lstStyle/>
          <a:p>
            <a:r>
              <a:rPr lang="en-US" sz="4400" dirty="0"/>
              <a:t>Generating random number between lower and upper bound</a:t>
            </a:r>
          </a:p>
        </p:txBody>
      </p:sp>
    </p:spTree>
    <p:extLst>
      <p:ext uri="{BB962C8B-B14F-4D97-AF65-F5344CB8AC3E}">
        <p14:creationId xmlns:p14="http://schemas.microsoft.com/office/powerpoint/2010/main" val="96371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704379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71800"/>
            <a:ext cx="2438400" cy="37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52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Which </a:t>
            </a:r>
            <a:r>
              <a:rPr lang="en-US" dirty="0"/>
              <a:t>of the following is a possible </a:t>
            </a:r>
            <a:r>
              <a:rPr lang="en-US" dirty="0" smtClean="0"/>
              <a:t>output </a:t>
            </a:r>
            <a:r>
              <a:rPr lang="en-US" dirty="0"/>
              <a:t>from invoking rand</a:t>
            </a:r>
            <a:r>
              <a:rPr lang="en-US" dirty="0" smtClean="0"/>
              <a:t>()? </a:t>
            </a:r>
          </a:p>
          <a:p>
            <a:pPr marL="0" indent="0" algn="ctr">
              <a:buNone/>
            </a:pPr>
            <a:r>
              <a:rPr lang="en-US" dirty="0" smtClean="0"/>
              <a:t>323.4, 5, 34, 1, 0.5, 0.234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8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How </a:t>
            </a:r>
            <a:r>
              <a:rPr lang="en-US" sz="2000" dirty="0"/>
              <a:t>do you generate a random integer i such </a:t>
            </a:r>
            <a:r>
              <a:rPr lang="en-US" sz="2000" dirty="0" smtClean="0"/>
              <a:t>that</a:t>
            </a:r>
          </a:p>
          <a:p>
            <a:pPr marL="0" indent="0" algn="ctr">
              <a:buNone/>
            </a:pPr>
            <a:r>
              <a:rPr lang="en-US" sz="2000" dirty="0" smtClean="0"/>
              <a:t>0</a:t>
            </a:r>
            <a:r>
              <a:rPr lang="en-US" sz="2000" dirty="0"/>
              <a:t>&lt;=i </a:t>
            </a:r>
            <a:r>
              <a:rPr lang="en-US" sz="2000" dirty="0" smtClean="0"/>
              <a:t>&lt;=20?</a:t>
            </a:r>
          </a:p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endParaRPr lang="en-US" sz="2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025000"/>
            <a:ext cx="4343400" cy="3804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05199"/>
            <a:ext cx="1828800" cy="278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611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generate a random integer i such that </a:t>
            </a:r>
          </a:p>
          <a:p>
            <a:pPr marL="0" indent="0" algn="ctr">
              <a:buNone/>
            </a:pPr>
            <a:r>
              <a:rPr lang="en-US" dirty="0"/>
              <a:t>10&lt;=i&lt;=20</a:t>
            </a:r>
            <a:r>
              <a:rPr lang="en-US" dirty="0" smtClean="0"/>
              <a:t>?</a:t>
            </a:r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914" y="3124201"/>
            <a:ext cx="4924724" cy="3677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683841"/>
            <a:ext cx="1905000" cy="290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31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How do you generate a random integer i such that </a:t>
            </a:r>
            <a:endParaRPr lang="en-US" sz="2200" dirty="0" smtClean="0"/>
          </a:p>
          <a:p>
            <a:pPr marL="0" indent="0" algn="ctr">
              <a:buNone/>
            </a:pPr>
            <a:r>
              <a:rPr lang="en-US" sz="2200" dirty="0" smtClean="0"/>
              <a:t>10 </a:t>
            </a:r>
            <a:r>
              <a:rPr lang="en-US" sz="2200" dirty="0"/>
              <a:t>&lt;=i&lt;=50? </a:t>
            </a:r>
            <a:endParaRPr lang="en-US" sz="2200" dirty="0" smtClean="0"/>
          </a:p>
          <a:p>
            <a:pPr marL="0" indent="0" algn="ctr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06" y="3152775"/>
            <a:ext cx="6630862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933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Find </a:t>
            </a:r>
            <a:r>
              <a:rPr lang="en-US" sz="2200" dirty="0"/>
              <a:t>out what RAND_MAX is on your machine.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664" y="2895600"/>
            <a:ext cx="3079336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51054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constant </a:t>
            </a:r>
            <a:r>
              <a:rPr lang="en-US" sz="2400" b="1" dirty="0"/>
              <a:t>RAND_MAX </a:t>
            </a:r>
            <a:r>
              <a:rPr lang="en-US" sz="2400" dirty="0"/>
              <a:t>is the maximum value that can be returned by the rand function.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866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Write a program which ask user to generate a random number between 1 and 3 and print apple if random number is 1, prints, grapes if random number is </a:t>
            </a:r>
            <a:r>
              <a:rPr lang="en-US" dirty="0" smtClean="0"/>
              <a:t>2 print orange </a:t>
            </a:r>
            <a:r>
              <a:rPr lang="en-US" dirty="0"/>
              <a:t>and prints peach if number is 3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(</a:t>
            </a:r>
            <a:r>
              <a:rPr lang="en-US" dirty="0" smtClean="0"/>
              <a:t>N</a:t>
            </a:r>
            <a:r>
              <a:rPr lang="en-US" dirty="0" smtClean="0"/>
              <a:t>ote: </a:t>
            </a:r>
            <a:r>
              <a:rPr lang="en-US" dirty="0"/>
              <a:t>U</a:t>
            </a:r>
            <a:r>
              <a:rPr lang="en-US" dirty="0" smtClean="0"/>
              <a:t>se </a:t>
            </a:r>
            <a:r>
              <a:rPr lang="en-US" dirty="0"/>
              <a:t>switch)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33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0"/>
            <a:ext cx="3929743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5486400"/>
            <a:ext cx="413571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572000"/>
            <a:ext cx="1524000" cy="6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629400" y="4034135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1"/>
            <a:ext cx="1676400" cy="25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551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1191</TotalTime>
  <Words>928</Words>
  <Application>Microsoft Office PowerPoint</Application>
  <PresentationFormat>On-screen Show (4:3)</PresentationFormat>
  <Paragraphs>107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Hardcover</vt:lpstr>
      <vt:lpstr>Programming Fundamentals</vt:lpstr>
      <vt:lpstr>Previous Lecture</vt:lpstr>
      <vt:lpstr>Today’s Lecture</vt:lpstr>
      <vt:lpstr>Class Activity</vt:lpstr>
      <vt:lpstr>Class Activity</vt:lpstr>
      <vt:lpstr>Class Activity</vt:lpstr>
      <vt:lpstr>Class Activity</vt:lpstr>
      <vt:lpstr>Class Activity</vt:lpstr>
      <vt:lpstr>Random Numbers </vt:lpstr>
      <vt:lpstr>Random Numbers </vt:lpstr>
      <vt:lpstr>Example</vt:lpstr>
      <vt:lpstr>Random Numbers </vt:lpstr>
      <vt:lpstr>Example</vt:lpstr>
      <vt:lpstr>Random Numbers</vt:lpstr>
      <vt:lpstr>Example</vt:lpstr>
      <vt:lpstr>Random Numbers </vt:lpstr>
      <vt:lpstr>Example</vt:lpstr>
      <vt:lpstr>srand()</vt:lpstr>
      <vt:lpstr>Comparison</vt:lpstr>
      <vt:lpstr>srand()</vt:lpstr>
      <vt:lpstr>Example</vt:lpstr>
      <vt:lpstr>Activity</vt:lpstr>
      <vt:lpstr>PowerPoint Presentation</vt:lpstr>
      <vt:lpstr>PowerPoint Presentation</vt:lpstr>
      <vt:lpstr>Generating random number between lower and upper bound</vt:lpstr>
      <vt:lpstr>Example</vt:lpstr>
      <vt:lpstr>Tasks</vt:lpstr>
      <vt:lpstr>Tasks</vt:lpstr>
      <vt:lpstr>Tasks</vt:lpstr>
      <vt:lpstr>Tasks</vt:lpstr>
      <vt:lpstr>Tasks</vt:lpstr>
      <vt:lpstr>Task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129</cp:revision>
  <dcterms:created xsi:type="dcterms:W3CDTF">2023-02-13T17:33:34Z</dcterms:created>
  <dcterms:modified xsi:type="dcterms:W3CDTF">2025-10-14T21:16:46Z</dcterms:modified>
</cp:coreProperties>
</file>