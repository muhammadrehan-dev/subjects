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5"/>
  </p:notesMasterIdLst>
  <p:sldIdLst>
    <p:sldId id="275" r:id="rId2"/>
    <p:sldId id="276" r:id="rId3"/>
    <p:sldId id="277" r:id="rId4"/>
    <p:sldId id="306" r:id="rId5"/>
    <p:sldId id="329" r:id="rId6"/>
    <p:sldId id="330" r:id="rId7"/>
    <p:sldId id="331" r:id="rId8"/>
    <p:sldId id="332" r:id="rId9"/>
    <p:sldId id="335" r:id="rId10"/>
    <p:sldId id="328" r:id="rId11"/>
    <p:sldId id="334" r:id="rId12"/>
    <p:sldId id="336" r:id="rId13"/>
    <p:sldId id="333" r:id="rId14"/>
    <p:sldId id="338" r:id="rId15"/>
    <p:sldId id="307" r:id="rId16"/>
    <p:sldId id="339" r:id="rId17"/>
    <p:sldId id="340" r:id="rId18"/>
    <p:sldId id="337" r:id="rId19"/>
    <p:sldId id="311" r:id="rId20"/>
    <p:sldId id="312" r:id="rId21"/>
    <p:sldId id="314" r:id="rId22"/>
    <p:sldId id="316" r:id="rId23"/>
    <p:sldId id="31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80" y="-1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  <a:p>
            <a:r>
              <a:rPr lang="en-US" dirty="0"/>
              <a:t>Function Overloading</a:t>
            </a:r>
          </a:p>
          <a:p>
            <a:r>
              <a:rPr lang="en-US" dirty="0"/>
              <a:t>Inline Functions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recursive function is one that calls </a:t>
            </a:r>
            <a:r>
              <a:rPr lang="en-US" dirty="0" smtClean="0"/>
              <a:t>itself.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have seen instances of functions calling other functions. Function A can call function B, which can then call function C. It’s also possible for a function to call itself. A function that calls itself is a </a:t>
            </a:r>
            <a:r>
              <a:rPr lang="en-US" b="1" dirty="0"/>
              <a:t>recursive function.</a:t>
            </a:r>
          </a:p>
        </p:txBody>
      </p:sp>
    </p:spTree>
    <p:extLst>
      <p:ext uri="{BB962C8B-B14F-4D97-AF65-F5344CB8AC3E}">
        <p14:creationId xmlns:p14="http://schemas.microsoft.com/office/powerpoint/2010/main" val="180827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48347"/>
            <a:ext cx="8839199" cy="4457253"/>
          </a:xfrm>
        </p:spPr>
        <p:txBody>
          <a:bodyPr>
            <a:noAutofit/>
          </a:bodyPr>
          <a:lstStyle/>
          <a:p>
            <a:pPr algn="just"/>
            <a:endParaRPr lang="en-US" sz="2200" dirty="0" smtClean="0"/>
          </a:p>
          <a:p>
            <a:pPr algn="just"/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endParaRPr lang="en-US" sz="2200" dirty="0" smtClean="0"/>
          </a:p>
          <a:p>
            <a:pPr algn="just"/>
            <a:r>
              <a:rPr lang="en-US" sz="2200" dirty="0" smtClean="0"/>
              <a:t>This </a:t>
            </a:r>
            <a:r>
              <a:rPr lang="en-US" sz="2200" dirty="0"/>
              <a:t>function displays the string “This is a recursive function.\n”, and then calls itself. Each time it calls itself, the cycle is repeated. Can you see a problem with the function? </a:t>
            </a:r>
            <a:endParaRPr lang="en-US" sz="2200" dirty="0" smtClean="0"/>
          </a:p>
          <a:p>
            <a:pPr algn="just"/>
            <a:r>
              <a:rPr lang="en-US" sz="2200" dirty="0" smtClean="0"/>
              <a:t>There’s </a:t>
            </a:r>
            <a:r>
              <a:rPr lang="en-US" sz="2200" dirty="0"/>
              <a:t>no way to stop the recursive calls. This function is like an infinite loop because there is no code to stop it from repeating. </a:t>
            </a:r>
            <a:endParaRPr lang="en-US" sz="2200" dirty="0" smtClean="0"/>
          </a:p>
          <a:p>
            <a:pPr algn="just"/>
            <a:r>
              <a:rPr lang="en-US" sz="2200" dirty="0"/>
              <a:t>The function example message will eventually cause the program to crash.</a:t>
            </a:r>
            <a:endParaRPr lang="en-US" sz="2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60" y="2197911"/>
            <a:ext cx="6187440" cy="1535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92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Like a loop, a recursive function must have some method to control the number of times it repeats.</a:t>
            </a:r>
            <a:endParaRPr lang="en-U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21" y="3200400"/>
            <a:ext cx="6545179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05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For example, let’s say a program calls the function with the following statement: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/>
              <a:t>The argument, 5, will cause the function to call itself five </a:t>
            </a:r>
            <a:r>
              <a:rPr lang="en-US" dirty="0" smtClean="0"/>
              <a:t>times.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37" y="2971800"/>
            <a:ext cx="2138363" cy="435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038600"/>
            <a:ext cx="3890962" cy="2664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698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324600" cy="658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76800" y="152400"/>
            <a:ext cx="41452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/>
              <a:t>The </a:t>
            </a:r>
            <a:r>
              <a:rPr lang="en-US" sz="2000" dirty="0"/>
              <a:t>function is called a total of </a:t>
            </a:r>
            <a:r>
              <a:rPr lang="en-US" sz="2000" b="1" dirty="0"/>
              <a:t>six times</a:t>
            </a:r>
            <a:r>
              <a:rPr lang="en-US" sz="2000" dirty="0"/>
              <a:t>. </a:t>
            </a:r>
            <a:endParaRPr lang="en-US" sz="2000" dirty="0" smtClean="0"/>
          </a:p>
          <a:p>
            <a:pPr algn="just"/>
            <a:r>
              <a:rPr lang="en-US" sz="2000" dirty="0" smtClean="0"/>
              <a:t>The </a:t>
            </a:r>
            <a:r>
              <a:rPr lang="en-US" sz="2000" b="1" dirty="0"/>
              <a:t>first time </a:t>
            </a:r>
            <a:r>
              <a:rPr lang="en-US" sz="2000" dirty="0"/>
              <a:t>it is called from main, and the other five times it calls itself, so the depth of recursion is five. </a:t>
            </a:r>
            <a:endParaRPr lang="en-US" sz="2000" dirty="0" smtClean="0"/>
          </a:p>
          <a:p>
            <a:pPr algn="just"/>
            <a:r>
              <a:rPr lang="en-US" sz="2000" dirty="0" smtClean="0"/>
              <a:t>When </a:t>
            </a:r>
            <a:r>
              <a:rPr lang="en-US" sz="2000" dirty="0"/>
              <a:t>the function reaches its sixth call, the times parameter will be set to 0. </a:t>
            </a:r>
            <a:endParaRPr lang="en-US" sz="2000" dirty="0" smtClean="0"/>
          </a:p>
          <a:p>
            <a:pPr algn="just"/>
            <a:r>
              <a:rPr lang="en-US" sz="2000" dirty="0" smtClean="0"/>
              <a:t>At </a:t>
            </a:r>
            <a:r>
              <a:rPr lang="en-US" sz="2000" dirty="0"/>
              <a:t>that point, the if statement’s conditional expression will be false, so the function will return.</a:t>
            </a:r>
          </a:p>
        </p:txBody>
      </p:sp>
    </p:spTree>
    <p:extLst>
      <p:ext uri="{BB962C8B-B14F-4D97-AF65-F5344CB8AC3E}">
        <p14:creationId xmlns:p14="http://schemas.microsoft.com/office/powerpoint/2010/main" val="97085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8600"/>
            <a:ext cx="7312042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 rot="16200000">
            <a:off x="-2673276" y="2901876"/>
            <a:ext cx="6553202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371600"/>
            <a:ext cx="427482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645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Control of </a:t>
            </a:r>
            <a:r>
              <a:rPr lang="en-US" dirty="0"/>
              <a:t>the program will return from the sixth instance of the function to the point in the fifth instance directly after the recursive function call: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81400"/>
            <a:ext cx="6927695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034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1000"/>
            <a:ext cx="7625091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 rot="16200000">
            <a:off x="-2673276" y="2901876"/>
            <a:ext cx="6553202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1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 rot="16200000">
            <a:off x="-2673276" y="2901876"/>
            <a:ext cx="6553202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1000"/>
            <a:ext cx="6174089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065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Some repetitive problems, however, are more easily solved with recursion than with iteration. </a:t>
            </a:r>
            <a:endParaRPr lang="en-US" dirty="0" smtClean="0"/>
          </a:p>
          <a:p>
            <a:pPr algn="just"/>
            <a:r>
              <a:rPr lang="en-US" dirty="0" smtClean="0"/>
              <a:t>Where </a:t>
            </a:r>
            <a:r>
              <a:rPr lang="en-US" dirty="0"/>
              <a:t>an iterative algorithm might result in faster execution time, the programmer might be able to design a recursive algorithm faster. </a:t>
            </a:r>
            <a:endParaRPr lang="en-US" dirty="0" smtClean="0"/>
          </a:p>
          <a:p>
            <a:pPr algn="just"/>
            <a:r>
              <a:rPr lang="en-US" dirty="0"/>
              <a:t>In general, a recursive function works like </a:t>
            </a:r>
            <a:r>
              <a:rPr lang="en-US" dirty="0" smtClean="0"/>
              <a:t>this:</a:t>
            </a:r>
          </a:p>
          <a:p>
            <a:pPr marL="914400" algn="just">
              <a:buFont typeface="Wingdings" pitchFamily="2" charset="2"/>
              <a:buChar char="§"/>
            </a:pPr>
            <a:r>
              <a:rPr lang="en-US" dirty="0" smtClean="0"/>
              <a:t>If </a:t>
            </a:r>
            <a:r>
              <a:rPr lang="en-US" dirty="0"/>
              <a:t>the problem can be solved now, without recursion, then the function solves it and </a:t>
            </a:r>
            <a:r>
              <a:rPr lang="en-US" dirty="0" smtClean="0"/>
              <a:t>returns.</a:t>
            </a:r>
          </a:p>
          <a:p>
            <a:pPr marL="914400" algn="just">
              <a:buFont typeface="Wingdings" pitchFamily="2" charset="2"/>
              <a:buChar char="§"/>
            </a:pPr>
            <a:r>
              <a:rPr lang="en-US" dirty="0" smtClean="0"/>
              <a:t>If </a:t>
            </a:r>
            <a:r>
              <a:rPr lang="en-US" dirty="0"/>
              <a:t>the problem cannot be solved now, then the function reduces it to a smaller but similar problem and calls itself to solve the smaller problem. </a:t>
            </a:r>
          </a:p>
        </p:txBody>
      </p:sp>
    </p:spTree>
    <p:extLst>
      <p:ext uri="{BB962C8B-B14F-4D97-AF65-F5344CB8AC3E}">
        <p14:creationId xmlns:p14="http://schemas.microsoft.com/office/powerpoint/2010/main" val="197633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order to apply this approach, we first identify at least one case in which the problem can be solved without recursion. This is known as the </a:t>
            </a:r>
            <a:r>
              <a:rPr lang="en-US" b="1" dirty="0"/>
              <a:t>base case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Second</a:t>
            </a:r>
            <a:r>
              <a:rPr lang="en-US" dirty="0"/>
              <a:t>, we determine a way to solve the problem in all other circumstances using recursion. This is called the </a:t>
            </a:r>
            <a:r>
              <a:rPr lang="en-US" b="1" dirty="0"/>
              <a:t>recursive case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the recursive case, we must always reduce the problem to a smaller version of the original problem. </a:t>
            </a:r>
            <a:endParaRPr lang="en-US" dirty="0" smtClean="0"/>
          </a:p>
          <a:p>
            <a:pPr algn="just"/>
            <a:r>
              <a:rPr lang="en-US" dirty="0" smtClean="0"/>
              <a:t>By </a:t>
            </a:r>
            <a:r>
              <a:rPr lang="en-US" dirty="0"/>
              <a:t>reducing the problem with each recursive call, the base case will eventually be reached and the recursion will stop. </a:t>
            </a:r>
          </a:p>
        </p:txBody>
      </p:sp>
    </p:spTree>
    <p:extLst>
      <p:ext uri="{BB962C8B-B14F-4D97-AF65-F5344CB8AC3E}">
        <p14:creationId xmlns:p14="http://schemas.microsoft.com/office/powerpoint/2010/main" val="49290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recursive </a:t>
            </a:r>
            <a:r>
              <a:rPr lang="en-US" dirty="0" smtClean="0"/>
              <a:t>function </a:t>
            </a:r>
            <a:r>
              <a:rPr lang="en-US" dirty="0"/>
              <a:t>for computing factorial(n) can be simply described as follows: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92" y="3190875"/>
            <a:ext cx="5378408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748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"/>
            <a:ext cx="5990665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87321" y="2875281"/>
            <a:ext cx="6606541" cy="10541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438" y="4114800"/>
            <a:ext cx="4094162" cy="12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840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40925"/>
            <a:ext cx="8686800" cy="577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 txBox="1">
            <a:spLocks/>
          </p:cNvSpPr>
          <p:nvPr/>
        </p:nvSpPr>
        <p:spPr>
          <a:xfrm>
            <a:off x="688490" y="88750"/>
            <a:ext cx="7756263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Activation Record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1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Recursion is a technique that leads to elegant solutions to problems that are difficult to program using simple </a:t>
            </a:r>
            <a:r>
              <a:rPr lang="en-US" dirty="0" smtClean="0"/>
              <a:t>loops.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endParaRPr lang="en-US" dirty="0"/>
          </a:p>
          <a:p>
            <a:pPr algn="just"/>
            <a:r>
              <a:rPr lang="en-US" dirty="0" smtClean="0"/>
              <a:t>Recursion </a:t>
            </a:r>
            <a:r>
              <a:rPr lang="en-US" dirty="0"/>
              <a:t>is a useful programming technique. In some cases, it enables you to develop a natural, straightforward, simple solution to an otherwise difficult problem.</a:t>
            </a:r>
          </a:p>
        </p:txBody>
      </p:sp>
    </p:spTree>
    <p:extLst>
      <p:ext uri="{BB962C8B-B14F-4D97-AF65-F5344CB8AC3E}">
        <p14:creationId xmlns:p14="http://schemas.microsoft.com/office/powerpoint/2010/main" val="247585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Infinite </a:t>
            </a:r>
            <a:r>
              <a:rPr lang="en-US" dirty="0"/>
              <a:t>recursion can occur if recursion does not reduce the problem in a manner that allows it to eventually converge into the base case or a base case is not specified. 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suppose you mistakenly write the factorial function as follows: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function runs infinitely and causes the stack overflow.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791075"/>
            <a:ext cx="324802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183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sz="3600" dirty="0"/>
              <a:t>Activity: Show the output of the following </a:t>
            </a:r>
            <a:r>
              <a:rPr lang="en-US" sz="3600" dirty="0" smtClean="0"/>
              <a:t>program </a:t>
            </a:r>
            <a:r>
              <a:rPr lang="en-US" sz="3600" dirty="0"/>
              <a:t>and identify base cases and recursive calls.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50042"/>
            <a:ext cx="4648200" cy="4447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457700"/>
            <a:ext cx="191833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796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sz="3600" dirty="0"/>
              <a:t>Activity: Show the output of the following </a:t>
            </a:r>
            <a:r>
              <a:rPr lang="en-US" sz="3600" dirty="0" smtClean="0"/>
              <a:t>program </a:t>
            </a:r>
            <a:r>
              <a:rPr lang="en-US" sz="3600" dirty="0"/>
              <a:t>and identify base cases and recursive calls.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138" y="4957763"/>
            <a:ext cx="2218862" cy="68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82" y="2209800"/>
            <a:ext cx="2962418" cy="4474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763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88968"/>
            <a:ext cx="2905125" cy="4769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152400" y="381000"/>
            <a:ext cx="8839200" cy="1054250"/>
          </a:xfrm>
        </p:spPr>
        <p:txBody>
          <a:bodyPr/>
          <a:lstStyle/>
          <a:p>
            <a:r>
              <a:rPr lang="en-US" sz="3600" dirty="0"/>
              <a:t>Activity: Show the output of the following </a:t>
            </a:r>
            <a:r>
              <a:rPr lang="en-US" sz="3600" dirty="0" smtClean="0"/>
              <a:t>program </a:t>
            </a:r>
            <a:r>
              <a:rPr lang="en-US" sz="3600" dirty="0"/>
              <a:t>and identify base cases and recursive calls.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642" y="5010150"/>
            <a:ext cx="229975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298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Structure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4926</TotalTime>
  <Words>680</Words>
  <Application>Microsoft Office PowerPoint</Application>
  <PresentationFormat>On-screen Show (4:3)</PresentationFormat>
  <Paragraphs>67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Hardcover</vt:lpstr>
      <vt:lpstr>Programming Fundamentals</vt:lpstr>
      <vt:lpstr>Previous Lecture</vt:lpstr>
      <vt:lpstr>Today’s Lecture</vt:lpstr>
      <vt:lpstr>Recursion</vt:lpstr>
      <vt:lpstr>Recursion</vt:lpstr>
      <vt:lpstr>Recursion</vt:lpstr>
      <vt:lpstr>Recursion</vt:lpstr>
      <vt:lpstr>PowerPoint Presentation</vt:lpstr>
      <vt:lpstr>PowerPoint Presentation</vt:lpstr>
      <vt:lpstr>Recursion</vt:lpstr>
      <vt:lpstr>PowerPoint Presentation</vt:lpstr>
      <vt:lpstr>PowerPoint Presentation</vt:lpstr>
      <vt:lpstr>Recursion</vt:lpstr>
      <vt:lpstr>Recursion</vt:lpstr>
      <vt:lpstr>Recursion</vt:lpstr>
      <vt:lpstr>Example</vt:lpstr>
      <vt:lpstr>PowerPoint Presentation</vt:lpstr>
      <vt:lpstr>Recursion</vt:lpstr>
      <vt:lpstr>Infinite Recursion</vt:lpstr>
      <vt:lpstr>Activity: Show the output of the following program and identify base cases and recursive calls.</vt:lpstr>
      <vt:lpstr>Activity: Show the output of the following program and identify base cases and recursive calls.</vt:lpstr>
      <vt:lpstr>Activity: Show the output of the following program and identify base cases and recursive calls.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363</cp:revision>
  <dcterms:created xsi:type="dcterms:W3CDTF">2023-02-13T17:33:34Z</dcterms:created>
  <dcterms:modified xsi:type="dcterms:W3CDTF">2025-12-02T21:18:17Z</dcterms:modified>
</cp:coreProperties>
</file>