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23"/>
  </p:notesMasterIdLst>
  <p:sldIdLst>
    <p:sldId id="275" r:id="rId2"/>
    <p:sldId id="276" r:id="rId3"/>
    <p:sldId id="277" r:id="rId4"/>
    <p:sldId id="346" r:id="rId5"/>
    <p:sldId id="347" r:id="rId6"/>
    <p:sldId id="348" r:id="rId7"/>
    <p:sldId id="349" r:id="rId8"/>
    <p:sldId id="350" r:id="rId9"/>
    <p:sldId id="351" r:id="rId10"/>
    <p:sldId id="352" r:id="rId11"/>
    <p:sldId id="354" r:id="rId12"/>
    <p:sldId id="353" r:id="rId13"/>
    <p:sldId id="355" r:id="rId14"/>
    <p:sldId id="356" r:id="rId15"/>
    <p:sldId id="357" r:id="rId16"/>
    <p:sldId id="358" r:id="rId17"/>
    <p:sldId id="359" r:id="rId18"/>
    <p:sldId id="360" r:id="rId19"/>
    <p:sldId id="361" r:id="rId20"/>
    <p:sldId id="363" r:id="rId21"/>
    <p:sldId id="36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1090" y="-15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12/13/2025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12/13/2025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12/13/2025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Structures </a:t>
            </a:r>
            <a:r>
              <a:rPr lang="en-US" dirty="0"/>
              <a:t>and Functions</a:t>
            </a:r>
          </a:p>
          <a:p>
            <a:r>
              <a:rPr lang="en-US" dirty="0"/>
              <a:t>Structures and Pointers</a:t>
            </a:r>
          </a:p>
        </p:txBody>
      </p:sp>
      <p:sp>
        <p:nvSpPr>
          <p:cNvPr id="3" name="Title 2"/>
          <p:cNvSpPr>
            <a:spLocks noGrp="1"/>
          </p:cNvSpPr>
          <p:nvPr>
            <p:ph type="title"/>
          </p:nvPr>
        </p:nvSpPr>
        <p:spPr/>
        <p:txBody>
          <a:bodyPr/>
          <a:lstStyle/>
          <a:p>
            <a:r>
              <a:rPr lang="en-US" dirty="0"/>
              <a:t>Previous Lecture</a:t>
            </a:r>
          </a:p>
        </p:txBody>
      </p:sp>
    </p:spTree>
    <p:extLst>
      <p:ext uri="{BB962C8B-B14F-4D97-AF65-F5344CB8AC3E}">
        <p14:creationId xmlns:p14="http://schemas.microsoft.com/office/powerpoint/2010/main" val="21114295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Introduction to File Handling</a:t>
            </a:r>
            <a:endParaRPr lang="en-US" dirty="0"/>
          </a:p>
        </p:txBody>
      </p:sp>
      <p:sp>
        <p:nvSpPr>
          <p:cNvPr id="4" name="Title 2"/>
          <p:cNvSpPr>
            <a:spLocks noGrp="1"/>
          </p:cNvSpPr>
          <p:nvPr>
            <p:ph type="title"/>
          </p:nvPr>
        </p:nvSpPr>
        <p:spPr/>
        <p:txBody>
          <a:bodyPr/>
          <a:lstStyle/>
          <a:p>
            <a:r>
              <a:rPr lang="en-US" dirty="0" smtClean="0"/>
              <a:t>Today’s Lecture</a:t>
            </a:r>
            <a:endParaRPr lang="en-US" dirty="0"/>
          </a:p>
        </p:txBody>
      </p:sp>
    </p:spTree>
    <p:extLst>
      <p:ext uri="{BB962C8B-B14F-4D97-AF65-F5344CB8AC3E}">
        <p14:creationId xmlns:p14="http://schemas.microsoft.com/office/powerpoint/2010/main" val="5935344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When a program needs to save data for later use, it writes the data in a file. The data can then be read from the file at a later time</a:t>
            </a:r>
            <a:r>
              <a:rPr lang="en-US" dirty="0" smtClean="0"/>
              <a:t>.</a:t>
            </a:r>
          </a:p>
          <a:p>
            <a:pPr algn="just"/>
            <a:r>
              <a:rPr lang="en-US" dirty="0"/>
              <a:t>The programs you have written so far require the user to reenter data each time the program runs, because data kept in variables and control properties is stored in RAM and disappears once the program stops running. </a:t>
            </a:r>
            <a:endParaRPr lang="en-US" dirty="0" smtClean="0"/>
          </a:p>
          <a:p>
            <a:pPr algn="just"/>
            <a:r>
              <a:rPr lang="en-US" dirty="0" smtClean="0"/>
              <a:t>If </a:t>
            </a:r>
            <a:r>
              <a:rPr lang="en-US" dirty="0"/>
              <a:t>a program is to retain data between the times it runs, it must have a way of saving it.</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17148676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Data is saved in a file, which is usually stored on a computer’s disk. </a:t>
            </a:r>
            <a:endParaRPr lang="en-US" dirty="0" smtClean="0"/>
          </a:p>
          <a:p>
            <a:pPr algn="just"/>
            <a:endParaRPr lang="en-US" dirty="0" smtClean="0"/>
          </a:p>
          <a:p>
            <a:pPr algn="just"/>
            <a:r>
              <a:rPr lang="en-US" dirty="0" smtClean="0"/>
              <a:t>Once </a:t>
            </a:r>
            <a:r>
              <a:rPr lang="en-US" dirty="0"/>
              <a:t>the data is saved in a file, it will remain there after the program stops running. </a:t>
            </a:r>
            <a:endParaRPr lang="en-US" dirty="0" smtClean="0"/>
          </a:p>
          <a:p>
            <a:pPr algn="just"/>
            <a:endParaRPr lang="en-US" dirty="0" smtClean="0"/>
          </a:p>
          <a:p>
            <a:pPr algn="just"/>
            <a:r>
              <a:rPr lang="en-US" dirty="0" smtClean="0"/>
              <a:t>Data </a:t>
            </a:r>
            <a:r>
              <a:rPr lang="en-US" dirty="0"/>
              <a:t>that is stored in a file can be then retrieved and used at a later time. </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42503772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lnSpcReduction="10000"/>
          </a:bodyPr>
          <a:lstStyle/>
          <a:p>
            <a:pPr algn="just"/>
            <a:r>
              <a:rPr lang="en-US" dirty="0"/>
              <a:t>Most of the commercial software that you use on a day-to-day basis store data in files. The following are a few examples</a:t>
            </a:r>
            <a:r>
              <a:rPr lang="en-US" dirty="0" smtClean="0"/>
              <a:t>.</a:t>
            </a:r>
          </a:p>
          <a:p>
            <a:pPr marL="914400" algn="just">
              <a:buFont typeface="Wingdings" pitchFamily="2" charset="2"/>
              <a:buChar char="ü"/>
            </a:pPr>
            <a:r>
              <a:rPr lang="en-US" b="1" dirty="0"/>
              <a:t>Word processors: </a:t>
            </a:r>
            <a:r>
              <a:rPr lang="en-US" dirty="0"/>
              <a:t>Word processing programs are used to write letters, memos, reports, and other documents. The documents are then saved in files so they can be edited and printed</a:t>
            </a:r>
            <a:r>
              <a:rPr lang="en-US" dirty="0" smtClean="0"/>
              <a:t>.</a:t>
            </a:r>
          </a:p>
          <a:p>
            <a:pPr marL="914400" algn="just">
              <a:buFont typeface="Wingdings" pitchFamily="2" charset="2"/>
              <a:buChar char="ü"/>
            </a:pPr>
            <a:r>
              <a:rPr lang="en-US" b="1" dirty="0"/>
              <a:t>Image editors: </a:t>
            </a:r>
            <a:r>
              <a:rPr lang="en-US" dirty="0"/>
              <a:t>Image editing programs are used to draw graphics and edit images such as the ones that you take with a digital camera. The images that you create or edit with an image editor are saved in files.</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35222874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914400" algn="just">
              <a:buFont typeface="Wingdings" pitchFamily="2" charset="2"/>
              <a:buChar char="ü"/>
            </a:pPr>
            <a:r>
              <a:rPr lang="en-US" b="1" dirty="0" smtClean="0"/>
              <a:t>Spreadsheets</a:t>
            </a:r>
            <a:r>
              <a:rPr lang="en-US" b="1" dirty="0"/>
              <a:t>: </a:t>
            </a:r>
            <a:r>
              <a:rPr lang="en-US" dirty="0"/>
              <a:t>Spreadsheet programs are used to work with numerical data. Numbers and mathematical formulas can be inserted into the rows and columns of the spreadsheet. The spreadsheet can then be saved in a file for use </a:t>
            </a:r>
            <a:r>
              <a:rPr lang="en-US" dirty="0" smtClean="0"/>
              <a:t>later</a:t>
            </a:r>
          </a:p>
          <a:p>
            <a:pPr marL="914400" algn="just">
              <a:buFont typeface="Wingdings" pitchFamily="2" charset="2"/>
              <a:buChar char="ü"/>
            </a:pPr>
            <a:r>
              <a:rPr lang="en-US" b="1" dirty="0"/>
              <a:t>Web browsers: </a:t>
            </a:r>
            <a:r>
              <a:rPr lang="en-US" dirty="0"/>
              <a:t>Sometimes when you visit a Web page, the browser stores a small file known as a cookie on your computer. Cookies typically contain information about the browsing session, such as the contents of a shopping cart. </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26093340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914400" algn="just">
              <a:buFont typeface="Wingdings" pitchFamily="2" charset="2"/>
              <a:buChar char="ü"/>
            </a:pPr>
            <a:r>
              <a:rPr lang="en-US" b="1" dirty="0"/>
              <a:t>Games: </a:t>
            </a:r>
            <a:r>
              <a:rPr lang="en-US" dirty="0"/>
              <a:t>Many computer games keep data stored in files. For example, some games keep a list of player names with their scores stored in a file. These games typically display the players’ names in order of their scores, from highest to lowest. Some games also allow you to save your current game status in a file so you can quit the game and then resume playing it later without having to start from the beginning. </a:t>
            </a:r>
            <a:endParaRPr lang="en-US" dirty="0" smtClean="0"/>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9669031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Programs that are used in daily business operations rely extensively on files. </a:t>
            </a:r>
            <a:endParaRPr lang="en-US" dirty="0" smtClean="0"/>
          </a:p>
          <a:p>
            <a:pPr algn="just"/>
            <a:endParaRPr lang="en-US" dirty="0" smtClean="0"/>
          </a:p>
          <a:p>
            <a:pPr algn="just"/>
            <a:r>
              <a:rPr lang="en-US" b="1" dirty="0" smtClean="0"/>
              <a:t>Payroll</a:t>
            </a:r>
            <a:r>
              <a:rPr lang="en-US" dirty="0" smtClean="0"/>
              <a:t> </a:t>
            </a:r>
            <a:r>
              <a:rPr lang="en-US" dirty="0"/>
              <a:t>programs keep employee data in files, inventory programs keep data about a company’s products in files, </a:t>
            </a:r>
            <a:r>
              <a:rPr lang="en-US" b="1" dirty="0"/>
              <a:t>accounting systems </a:t>
            </a:r>
            <a:r>
              <a:rPr lang="en-US" dirty="0"/>
              <a:t>keep data about a company’s financial operations in files, and so on. </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37798225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Programmers usually refer to the process of saving data in a file as </a:t>
            </a:r>
            <a:r>
              <a:rPr lang="en-US" b="1" dirty="0"/>
              <a:t>writing data </a:t>
            </a:r>
            <a:r>
              <a:rPr lang="en-US" dirty="0"/>
              <a:t>to the file. </a:t>
            </a:r>
            <a:endParaRPr lang="en-US" dirty="0" smtClean="0"/>
          </a:p>
          <a:p>
            <a:pPr algn="just"/>
            <a:endParaRPr lang="en-US" dirty="0" smtClean="0"/>
          </a:p>
          <a:p>
            <a:pPr algn="just"/>
            <a:r>
              <a:rPr lang="en-US" dirty="0" smtClean="0"/>
              <a:t>When </a:t>
            </a:r>
            <a:r>
              <a:rPr lang="en-US" dirty="0"/>
              <a:t>a piece of data is written to a file, it is copied from a variable in RAM to the file. </a:t>
            </a:r>
            <a:endParaRPr lang="en-US" dirty="0" smtClean="0"/>
          </a:p>
          <a:p>
            <a:pPr algn="just"/>
            <a:endParaRPr lang="en-US" dirty="0" smtClean="0"/>
          </a:p>
          <a:p>
            <a:pPr algn="just"/>
            <a:r>
              <a:rPr lang="en-US" dirty="0" smtClean="0"/>
              <a:t>An </a:t>
            </a:r>
            <a:r>
              <a:rPr lang="en-US" b="1" dirty="0"/>
              <a:t>output file </a:t>
            </a:r>
            <a:r>
              <a:rPr lang="en-US" dirty="0"/>
              <a:t>is a file that data is written to. </a:t>
            </a:r>
            <a:endParaRPr lang="en-US" dirty="0" smtClean="0"/>
          </a:p>
          <a:p>
            <a:pPr algn="just"/>
            <a:endParaRPr lang="en-US" dirty="0" smtClean="0"/>
          </a:p>
          <a:p>
            <a:pPr algn="just"/>
            <a:r>
              <a:rPr lang="en-US" dirty="0" smtClean="0"/>
              <a:t>It </a:t>
            </a:r>
            <a:r>
              <a:rPr lang="en-US" dirty="0"/>
              <a:t>is called an output file because the program stores output in it. </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16968423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152400" y="457200"/>
            <a:ext cx="8686800" cy="1054250"/>
          </a:xfrm>
        </p:spPr>
        <p:txBody>
          <a:bodyPr/>
          <a:lstStyle/>
          <a:p>
            <a:r>
              <a:rPr lang="en-US" dirty="0"/>
              <a:t>Writing data to a file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06" y="2181224"/>
            <a:ext cx="8407594" cy="445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62584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 process of retrieving data from a file is known as </a:t>
            </a:r>
            <a:r>
              <a:rPr lang="en-US" b="1" dirty="0"/>
              <a:t>reading data </a:t>
            </a:r>
            <a:r>
              <a:rPr lang="en-US" dirty="0"/>
              <a:t>from the file. </a:t>
            </a:r>
            <a:endParaRPr lang="en-US" dirty="0" smtClean="0"/>
          </a:p>
          <a:p>
            <a:pPr algn="just"/>
            <a:endParaRPr lang="en-US" dirty="0" smtClean="0"/>
          </a:p>
          <a:p>
            <a:pPr algn="just"/>
            <a:r>
              <a:rPr lang="en-US" dirty="0" smtClean="0"/>
              <a:t>When </a:t>
            </a:r>
            <a:r>
              <a:rPr lang="en-US" dirty="0"/>
              <a:t>a piece of data is read from a file, it is copied from the file into a variable in </a:t>
            </a:r>
            <a:r>
              <a:rPr lang="en-US" dirty="0" smtClean="0"/>
              <a:t>RAM.</a:t>
            </a:r>
          </a:p>
          <a:p>
            <a:pPr algn="just"/>
            <a:endParaRPr lang="en-US" dirty="0" smtClean="0"/>
          </a:p>
          <a:p>
            <a:pPr algn="just"/>
            <a:r>
              <a:rPr lang="en-US" dirty="0" smtClean="0"/>
              <a:t>An </a:t>
            </a:r>
            <a:r>
              <a:rPr lang="en-US" b="1" dirty="0"/>
              <a:t>input file </a:t>
            </a:r>
            <a:r>
              <a:rPr lang="en-US" dirty="0"/>
              <a:t>is a file that data is read from. </a:t>
            </a:r>
            <a:endParaRPr lang="en-US" dirty="0" smtClean="0"/>
          </a:p>
          <a:p>
            <a:pPr marL="0" indent="0" algn="just">
              <a:buNone/>
            </a:pPr>
            <a:endParaRPr lang="en-US" dirty="0" smtClean="0"/>
          </a:p>
          <a:p>
            <a:pPr algn="just"/>
            <a:r>
              <a:rPr lang="en-US" dirty="0" smtClean="0"/>
              <a:t>It </a:t>
            </a:r>
            <a:r>
              <a:rPr lang="en-US" dirty="0"/>
              <a:t>is called an input file because the program gets input from the file. </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39877845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152400" y="457200"/>
            <a:ext cx="8686800" cy="1054250"/>
          </a:xfrm>
        </p:spPr>
        <p:txBody>
          <a:bodyPr/>
          <a:lstStyle/>
          <a:p>
            <a:r>
              <a:rPr lang="en-US" dirty="0" smtClean="0"/>
              <a:t>Reading </a:t>
            </a:r>
            <a:r>
              <a:rPr lang="en-US" dirty="0"/>
              <a:t>data from a file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535" y="2200274"/>
            <a:ext cx="8479465" cy="4501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88234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smtClean="0"/>
              <a:t>When </a:t>
            </a:r>
            <a:r>
              <a:rPr lang="en-US" dirty="0"/>
              <a:t>a file is used by a program, three steps must be taken</a:t>
            </a:r>
            <a:r>
              <a:rPr lang="en-US" dirty="0" smtClean="0"/>
              <a:t>.</a:t>
            </a:r>
          </a:p>
          <a:p>
            <a:pPr marL="914400" algn="just">
              <a:buFont typeface="Wingdings" pitchFamily="2" charset="2"/>
              <a:buChar char="Ø"/>
            </a:pPr>
            <a:r>
              <a:rPr lang="en-US" b="1" dirty="0"/>
              <a:t>Open the file</a:t>
            </a:r>
            <a:r>
              <a:rPr lang="en-US" dirty="0"/>
              <a:t>—Opening a file creates a connection between the file and the program. Opening an </a:t>
            </a:r>
            <a:r>
              <a:rPr lang="en-US" b="1" dirty="0"/>
              <a:t>output file </a:t>
            </a:r>
            <a:r>
              <a:rPr lang="en-US" dirty="0"/>
              <a:t>usually creates the file on the disk and allows the program to write data to it. Opening an </a:t>
            </a:r>
            <a:r>
              <a:rPr lang="en-US" b="1" dirty="0"/>
              <a:t>input file </a:t>
            </a:r>
            <a:r>
              <a:rPr lang="en-US" dirty="0"/>
              <a:t>allows the program to read data from the file.</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18158952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marL="914400" algn="just">
              <a:buFont typeface="Wingdings" pitchFamily="2" charset="2"/>
              <a:buChar char="Ø"/>
            </a:pPr>
            <a:r>
              <a:rPr lang="en-US" b="1" dirty="0" smtClean="0"/>
              <a:t>Process </a:t>
            </a:r>
            <a:r>
              <a:rPr lang="en-US" b="1" dirty="0"/>
              <a:t>the file</a:t>
            </a:r>
            <a:r>
              <a:rPr lang="en-US" dirty="0"/>
              <a:t>—Data is either written to the file (if it is an output file) or read from the file (if it is an input file</a:t>
            </a:r>
            <a:r>
              <a:rPr lang="en-US" dirty="0" smtClean="0"/>
              <a:t>).</a:t>
            </a:r>
          </a:p>
          <a:p>
            <a:pPr marL="548640" indent="0" algn="just">
              <a:buNone/>
            </a:pPr>
            <a:endParaRPr lang="en-US" dirty="0" smtClean="0"/>
          </a:p>
          <a:p>
            <a:pPr marL="914400" algn="just">
              <a:buFont typeface="Wingdings" pitchFamily="2" charset="2"/>
              <a:buChar char="Ø"/>
            </a:pPr>
            <a:r>
              <a:rPr lang="en-US" b="1" dirty="0"/>
              <a:t>Close the file</a:t>
            </a:r>
            <a:r>
              <a:rPr lang="en-US" dirty="0"/>
              <a:t>—After the program is finished using the file, the file must be closed. Closing a file disconnects the file from the program.</a:t>
            </a:r>
          </a:p>
        </p:txBody>
      </p:sp>
      <p:sp>
        <p:nvSpPr>
          <p:cNvPr id="4" name="Title 2"/>
          <p:cNvSpPr>
            <a:spLocks noGrp="1"/>
          </p:cNvSpPr>
          <p:nvPr>
            <p:ph type="title"/>
          </p:nvPr>
        </p:nvSpPr>
        <p:spPr>
          <a:xfrm>
            <a:off x="152400" y="457200"/>
            <a:ext cx="8686800" cy="1054250"/>
          </a:xfrm>
        </p:spPr>
        <p:txBody>
          <a:bodyPr/>
          <a:lstStyle/>
          <a:p>
            <a:r>
              <a:rPr lang="en-US" dirty="0"/>
              <a:t>Using Files for Data </a:t>
            </a:r>
            <a:r>
              <a:rPr lang="en-US" dirty="0" smtClean="0"/>
              <a:t>Storage</a:t>
            </a:r>
            <a:endParaRPr lang="en-US" dirty="0"/>
          </a:p>
        </p:txBody>
      </p:sp>
    </p:spTree>
    <p:extLst>
      <p:ext uri="{BB962C8B-B14F-4D97-AF65-F5344CB8AC3E}">
        <p14:creationId xmlns:p14="http://schemas.microsoft.com/office/powerpoint/2010/main" val="158061493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In general, there are two types of files: </a:t>
            </a:r>
            <a:r>
              <a:rPr lang="en-US" b="1" dirty="0"/>
              <a:t>text</a:t>
            </a:r>
            <a:r>
              <a:rPr lang="en-US" dirty="0"/>
              <a:t> and </a:t>
            </a:r>
            <a:r>
              <a:rPr lang="en-US" b="1" dirty="0"/>
              <a:t>binary</a:t>
            </a:r>
            <a:r>
              <a:rPr lang="en-US" dirty="0"/>
              <a:t>. </a:t>
            </a:r>
            <a:endParaRPr lang="en-US" dirty="0" smtClean="0"/>
          </a:p>
          <a:p>
            <a:pPr marL="914400" algn="just">
              <a:buFont typeface="Wingdings" pitchFamily="2" charset="2"/>
              <a:buChar char="q"/>
            </a:pPr>
            <a:r>
              <a:rPr lang="en-US" dirty="0" smtClean="0"/>
              <a:t>A </a:t>
            </a:r>
            <a:r>
              <a:rPr lang="en-US" b="1" dirty="0"/>
              <a:t>text file </a:t>
            </a:r>
            <a:r>
              <a:rPr lang="en-US" dirty="0"/>
              <a:t>contains data that has been encoded as text, using a scheme such as ASCII or Unicode. Even if the file contains numbers, those numbers are stored in the file as a series of characters. As a result, the file may be opened and viewed in a text editor such as </a:t>
            </a:r>
            <a:r>
              <a:rPr lang="en-US" b="1" dirty="0"/>
              <a:t>Notepad</a:t>
            </a:r>
            <a:r>
              <a:rPr lang="en-US" dirty="0" smtClean="0"/>
              <a:t>.</a:t>
            </a:r>
          </a:p>
          <a:p>
            <a:pPr marL="914400" algn="just">
              <a:buFont typeface="Wingdings" pitchFamily="2" charset="2"/>
              <a:buChar char="q"/>
            </a:pPr>
            <a:r>
              <a:rPr lang="en-US" dirty="0"/>
              <a:t>A </a:t>
            </a:r>
            <a:r>
              <a:rPr lang="en-US" b="1" dirty="0"/>
              <a:t>binary file </a:t>
            </a:r>
            <a:r>
              <a:rPr lang="en-US" dirty="0"/>
              <a:t>contains data that has not been converted to text. Thus, you cannot view the contents of a binary file with a text editor. </a:t>
            </a:r>
          </a:p>
        </p:txBody>
      </p:sp>
      <p:sp>
        <p:nvSpPr>
          <p:cNvPr id="4" name="Title 2"/>
          <p:cNvSpPr>
            <a:spLocks noGrp="1"/>
          </p:cNvSpPr>
          <p:nvPr>
            <p:ph type="title"/>
          </p:nvPr>
        </p:nvSpPr>
        <p:spPr>
          <a:xfrm>
            <a:off x="152400" y="457200"/>
            <a:ext cx="8686800" cy="1054250"/>
          </a:xfrm>
        </p:spPr>
        <p:txBody>
          <a:bodyPr/>
          <a:lstStyle/>
          <a:p>
            <a:r>
              <a:rPr lang="en-US" dirty="0"/>
              <a:t>Types of Files</a:t>
            </a:r>
          </a:p>
        </p:txBody>
      </p:sp>
    </p:spTree>
    <p:extLst>
      <p:ext uri="{BB962C8B-B14F-4D97-AF65-F5344CB8AC3E}">
        <p14:creationId xmlns:p14="http://schemas.microsoft.com/office/powerpoint/2010/main" val="18925972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There are two general ways to access data stored in a file: </a:t>
            </a:r>
            <a:endParaRPr lang="en-US" dirty="0" smtClean="0"/>
          </a:p>
          <a:p>
            <a:pPr marL="914400" algn="just">
              <a:buFont typeface="Wingdings" pitchFamily="2" charset="2"/>
              <a:buChar char="§"/>
            </a:pPr>
            <a:r>
              <a:rPr lang="en-US" b="1" dirty="0"/>
              <a:t>S</a:t>
            </a:r>
            <a:r>
              <a:rPr lang="en-US" b="1" dirty="0" smtClean="0"/>
              <a:t>equential Access</a:t>
            </a:r>
          </a:p>
          <a:p>
            <a:pPr marL="914400" algn="just">
              <a:buFont typeface="Wingdings" pitchFamily="2" charset="2"/>
              <a:buChar char="§"/>
            </a:pPr>
            <a:r>
              <a:rPr lang="en-US" b="1" dirty="0"/>
              <a:t>D</a:t>
            </a:r>
            <a:r>
              <a:rPr lang="en-US" b="1" dirty="0" smtClean="0"/>
              <a:t>irect Access</a:t>
            </a:r>
            <a:r>
              <a:rPr lang="en-US" dirty="0"/>
              <a:t>.</a:t>
            </a:r>
          </a:p>
        </p:txBody>
      </p:sp>
      <p:sp>
        <p:nvSpPr>
          <p:cNvPr id="4" name="Title 2"/>
          <p:cNvSpPr>
            <a:spLocks noGrp="1"/>
          </p:cNvSpPr>
          <p:nvPr>
            <p:ph type="title"/>
          </p:nvPr>
        </p:nvSpPr>
        <p:spPr>
          <a:xfrm>
            <a:off x="152400" y="457200"/>
            <a:ext cx="8686800" cy="1054250"/>
          </a:xfrm>
        </p:spPr>
        <p:txBody>
          <a:bodyPr/>
          <a:lstStyle/>
          <a:p>
            <a:r>
              <a:rPr lang="en-US" dirty="0"/>
              <a:t>File Access Methods </a:t>
            </a:r>
          </a:p>
        </p:txBody>
      </p:sp>
    </p:spTree>
    <p:extLst>
      <p:ext uri="{BB962C8B-B14F-4D97-AF65-F5344CB8AC3E}">
        <p14:creationId xmlns:p14="http://schemas.microsoft.com/office/powerpoint/2010/main" val="101111860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lnSpcReduction="10000"/>
          </a:bodyPr>
          <a:lstStyle/>
          <a:p>
            <a:pPr algn="just"/>
            <a:r>
              <a:rPr lang="en-US" dirty="0"/>
              <a:t>When you work with a sequential access file, you access data from the beginning of the file to the end of the file. </a:t>
            </a:r>
            <a:endParaRPr lang="en-US" dirty="0" smtClean="0"/>
          </a:p>
          <a:p>
            <a:pPr algn="just"/>
            <a:r>
              <a:rPr lang="en-US" dirty="0" smtClean="0"/>
              <a:t>If </a:t>
            </a:r>
            <a:r>
              <a:rPr lang="en-US" dirty="0"/>
              <a:t>you want to read a piece of data that is stored at the very end of the file, you have to read all of the data that comes before it—you cannot jump directly to the desired data. </a:t>
            </a:r>
            <a:endParaRPr lang="en-US" dirty="0" smtClean="0"/>
          </a:p>
          <a:p>
            <a:pPr algn="just"/>
            <a:r>
              <a:rPr lang="en-US" dirty="0" smtClean="0"/>
              <a:t>This </a:t>
            </a:r>
            <a:r>
              <a:rPr lang="en-US" dirty="0"/>
              <a:t>is similar to the way cassette tape players work. If you want to listen to the last song on a cassette tape, you have to either fast-forward over all of the songs that come before it or listen to them. There is no way to jump directly to a specific song.</a:t>
            </a:r>
          </a:p>
        </p:txBody>
      </p:sp>
      <p:sp>
        <p:nvSpPr>
          <p:cNvPr id="4" name="Title 2"/>
          <p:cNvSpPr>
            <a:spLocks noGrp="1"/>
          </p:cNvSpPr>
          <p:nvPr>
            <p:ph type="title"/>
          </p:nvPr>
        </p:nvSpPr>
        <p:spPr>
          <a:xfrm>
            <a:off x="152400" y="457200"/>
            <a:ext cx="8686800" cy="1054250"/>
          </a:xfrm>
        </p:spPr>
        <p:txBody>
          <a:bodyPr/>
          <a:lstStyle/>
          <a:p>
            <a:pPr marL="914400"/>
            <a:r>
              <a:rPr lang="en-US" dirty="0"/>
              <a:t>Sequential </a:t>
            </a:r>
            <a:r>
              <a:rPr lang="en-US" dirty="0" smtClean="0"/>
              <a:t>Access</a:t>
            </a:r>
            <a:endParaRPr lang="en-US" dirty="0"/>
          </a:p>
        </p:txBody>
      </p:sp>
    </p:spTree>
    <p:extLst>
      <p:ext uri="{BB962C8B-B14F-4D97-AF65-F5344CB8AC3E}">
        <p14:creationId xmlns:p14="http://schemas.microsoft.com/office/powerpoint/2010/main" val="169525465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When you work with a </a:t>
            </a:r>
            <a:r>
              <a:rPr lang="en-US" b="1" dirty="0"/>
              <a:t>random access file </a:t>
            </a:r>
            <a:r>
              <a:rPr lang="en-US" dirty="0"/>
              <a:t>(also known as a direct access file), you can jump directly to any piece of data in the file without reading the data that comes before it. </a:t>
            </a:r>
            <a:endParaRPr lang="en-US" dirty="0" smtClean="0"/>
          </a:p>
          <a:p>
            <a:pPr algn="just"/>
            <a:r>
              <a:rPr lang="en-US" dirty="0" smtClean="0"/>
              <a:t>This </a:t>
            </a:r>
            <a:r>
              <a:rPr lang="en-US" dirty="0"/>
              <a:t>is similar to the way a CD player or an MP3 player works. You can jump directly to any song that you want to listen to.</a:t>
            </a:r>
          </a:p>
        </p:txBody>
      </p:sp>
      <p:sp>
        <p:nvSpPr>
          <p:cNvPr id="4" name="Title 2"/>
          <p:cNvSpPr>
            <a:spLocks noGrp="1"/>
          </p:cNvSpPr>
          <p:nvPr>
            <p:ph type="title"/>
          </p:nvPr>
        </p:nvSpPr>
        <p:spPr>
          <a:xfrm>
            <a:off x="152400" y="457200"/>
            <a:ext cx="8686800" cy="1054250"/>
          </a:xfrm>
        </p:spPr>
        <p:txBody>
          <a:bodyPr/>
          <a:lstStyle/>
          <a:p>
            <a:pPr marL="914400"/>
            <a:r>
              <a:rPr lang="en-US" dirty="0"/>
              <a:t>Direct </a:t>
            </a:r>
            <a:r>
              <a:rPr lang="en-US" dirty="0" smtClean="0"/>
              <a:t>Access</a:t>
            </a:r>
            <a:endParaRPr lang="en-US" dirty="0"/>
          </a:p>
        </p:txBody>
      </p:sp>
    </p:spTree>
    <p:extLst>
      <p:ext uri="{BB962C8B-B14F-4D97-AF65-F5344CB8AC3E}">
        <p14:creationId xmlns:p14="http://schemas.microsoft.com/office/powerpoint/2010/main" val="1309216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Files on a disk are identified by a </a:t>
            </a:r>
            <a:r>
              <a:rPr lang="en-US" b="1" dirty="0"/>
              <a:t>filename</a:t>
            </a:r>
            <a:r>
              <a:rPr lang="en-US" dirty="0" smtClean="0"/>
              <a:t>.</a:t>
            </a:r>
          </a:p>
          <a:p>
            <a:pPr algn="just"/>
            <a:endParaRPr lang="en-US" dirty="0" smtClean="0"/>
          </a:p>
          <a:p>
            <a:pPr algn="just"/>
            <a:r>
              <a:rPr lang="en-US" dirty="0"/>
              <a:t>Each operating system has its own rules for naming files. Many systems, including Windows, support the use of </a:t>
            </a:r>
            <a:r>
              <a:rPr lang="en-US" b="1" dirty="0"/>
              <a:t>filename extensions</a:t>
            </a:r>
            <a:r>
              <a:rPr lang="en-US" dirty="0"/>
              <a:t>, which are short sequences of characters that appear at the end of a filename preceded by a period (known as a “dot</a:t>
            </a:r>
            <a:r>
              <a:rPr lang="en-US" dirty="0" smtClean="0"/>
              <a:t>”). </a:t>
            </a:r>
            <a:r>
              <a:rPr lang="en-US" dirty="0"/>
              <a:t>For example </a:t>
            </a:r>
            <a:r>
              <a:rPr lang="en-US" b="1" dirty="0"/>
              <a:t>.txt </a:t>
            </a:r>
            <a:r>
              <a:rPr lang="en-US" dirty="0"/>
              <a:t>etc.</a:t>
            </a:r>
            <a:endParaRPr lang="en-US" dirty="0" smtClean="0"/>
          </a:p>
          <a:p>
            <a:pPr marL="0" indent="0" algn="just">
              <a:buNone/>
            </a:pPr>
            <a:endParaRPr lang="en-US" dirty="0" smtClean="0"/>
          </a:p>
        </p:txBody>
      </p:sp>
      <p:sp>
        <p:nvSpPr>
          <p:cNvPr id="4" name="Title 2"/>
          <p:cNvSpPr>
            <a:spLocks noGrp="1"/>
          </p:cNvSpPr>
          <p:nvPr>
            <p:ph type="title"/>
          </p:nvPr>
        </p:nvSpPr>
        <p:spPr>
          <a:xfrm>
            <a:off x="152400" y="381000"/>
            <a:ext cx="8686800" cy="1054250"/>
          </a:xfrm>
        </p:spPr>
        <p:txBody>
          <a:bodyPr/>
          <a:lstStyle/>
          <a:p>
            <a:pPr marL="914400"/>
            <a:r>
              <a:rPr lang="en-US" dirty="0"/>
              <a:t>Filenames</a:t>
            </a:r>
          </a:p>
        </p:txBody>
      </p:sp>
    </p:spTree>
    <p:extLst>
      <p:ext uri="{BB962C8B-B14F-4D97-AF65-F5344CB8AC3E}">
        <p14:creationId xmlns:p14="http://schemas.microsoft.com/office/powerpoint/2010/main" val="29815897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File Stream Objects </a:t>
            </a:r>
          </a:p>
          <a:p>
            <a:r>
              <a:rPr lang="en-US" dirty="0" smtClean="0"/>
              <a:t>Setting Up a Program for File </a:t>
            </a:r>
            <a:r>
              <a:rPr lang="en-US" dirty="0" err="1" smtClean="0"/>
              <a:t>Input/Output</a:t>
            </a:r>
            <a:endParaRPr lang="en-US" dirty="0" smtClean="0"/>
          </a:p>
          <a:p>
            <a:r>
              <a:rPr lang="en-US" dirty="0" smtClean="0"/>
              <a:t>Creating a File Object and Opening a File</a:t>
            </a:r>
          </a:p>
          <a:p>
            <a:r>
              <a:rPr lang="en-US" dirty="0" smtClean="0"/>
              <a:t>Closing a File </a:t>
            </a:r>
          </a:p>
          <a:p>
            <a:r>
              <a:rPr lang="en-US" dirty="0" smtClean="0"/>
              <a:t>Writing Data to a File </a:t>
            </a:r>
            <a:endParaRPr lang="en-US" dirty="0"/>
          </a:p>
        </p:txBody>
      </p:sp>
      <p:sp>
        <p:nvSpPr>
          <p:cNvPr id="4" name="Title 2"/>
          <p:cNvSpPr>
            <a:spLocks noGrp="1"/>
          </p:cNvSpPr>
          <p:nvPr>
            <p:ph type="title"/>
          </p:nvPr>
        </p:nvSpPr>
        <p:spPr/>
        <p:txBody>
          <a:bodyPr/>
          <a:lstStyle/>
          <a:p>
            <a:r>
              <a:rPr lang="en-US" dirty="0" smtClean="0"/>
              <a:t>Next Lecture</a:t>
            </a:r>
            <a:endParaRPr lang="en-US" dirty="0"/>
          </a:p>
        </p:txBody>
      </p:sp>
    </p:spTree>
    <p:extLst>
      <p:ext uri="{BB962C8B-B14F-4D97-AF65-F5344CB8AC3E}">
        <p14:creationId xmlns:p14="http://schemas.microsoft.com/office/powerpoint/2010/main" val="5212558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4187</TotalTime>
  <Words>1211</Words>
  <Application>Microsoft Office PowerPoint</Application>
  <PresentationFormat>On-screen Show (4:3)</PresentationFormat>
  <Paragraphs>81</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Hardcover</vt:lpstr>
      <vt:lpstr>Programming Fundamentals</vt:lpstr>
      <vt:lpstr>Previous Lecture</vt:lpstr>
      <vt:lpstr>Today’s Lecture</vt:lpstr>
      <vt:lpstr>Using Files for Data Storage</vt:lpstr>
      <vt:lpstr>Using Files for Data Storage</vt:lpstr>
      <vt:lpstr>Using Files for Data Storage</vt:lpstr>
      <vt:lpstr>Using Files for Data Storage</vt:lpstr>
      <vt:lpstr>Using Files for Data Storage</vt:lpstr>
      <vt:lpstr>Using Files for Data Storage</vt:lpstr>
      <vt:lpstr>Using Files for Data Storage</vt:lpstr>
      <vt:lpstr>Writing data to a file </vt:lpstr>
      <vt:lpstr>Using Files for Data Storage</vt:lpstr>
      <vt:lpstr>Reading data from a file</vt:lpstr>
      <vt:lpstr>Using Files for Data Storage</vt:lpstr>
      <vt:lpstr>Using Files for Data Storage</vt:lpstr>
      <vt:lpstr>Types of Files</vt:lpstr>
      <vt:lpstr>File Access Methods </vt:lpstr>
      <vt:lpstr>Sequential Access</vt:lpstr>
      <vt:lpstr>Direct Access</vt:lpstr>
      <vt:lpstr>Filenames</vt:lpstr>
      <vt:lpstr>Next Lecture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498</cp:revision>
  <dcterms:created xsi:type="dcterms:W3CDTF">2023-02-13T17:33:34Z</dcterms:created>
  <dcterms:modified xsi:type="dcterms:W3CDTF">2025-12-13T18:53:53Z</dcterms:modified>
</cp:coreProperties>
</file>