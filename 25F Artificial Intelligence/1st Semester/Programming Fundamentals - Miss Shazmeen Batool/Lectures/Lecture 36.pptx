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8"/>
  </p:notesMasterIdLst>
  <p:sldIdLst>
    <p:sldId id="275" r:id="rId2"/>
    <p:sldId id="276" r:id="rId3"/>
    <p:sldId id="277" r:id="rId4"/>
    <p:sldId id="341" r:id="rId5"/>
    <p:sldId id="342" r:id="rId6"/>
    <p:sldId id="343" r:id="rId7"/>
    <p:sldId id="344" r:id="rId8"/>
    <p:sldId id="345" r:id="rId9"/>
    <p:sldId id="346" r:id="rId10"/>
    <p:sldId id="347" r:id="rId11"/>
    <p:sldId id="348" r:id="rId12"/>
    <p:sldId id="349" r:id="rId13"/>
    <p:sldId id="387" r:id="rId14"/>
    <p:sldId id="388" r:id="rId15"/>
    <p:sldId id="389" r:id="rId16"/>
    <p:sldId id="390" r:id="rId17"/>
    <p:sldId id="391" r:id="rId18"/>
    <p:sldId id="386" r:id="rId19"/>
    <p:sldId id="350" r:id="rId20"/>
    <p:sldId id="351" r:id="rId21"/>
    <p:sldId id="352" r:id="rId22"/>
    <p:sldId id="353" r:id="rId23"/>
    <p:sldId id="392" r:id="rId24"/>
    <p:sldId id="354" r:id="rId25"/>
    <p:sldId id="393" r:id="rId26"/>
    <p:sldId id="315"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50" d="100"/>
          <a:sy n="50" d="100"/>
        </p:scale>
        <p:origin x="-1080" y="-1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12/10/2025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12/10/2025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12/10/2025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12/10/2025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12/10/2025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12/10/2025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Array as a Member of Structure</a:t>
            </a:r>
          </a:p>
          <a:p>
            <a:r>
              <a:rPr lang="en-US" dirty="0"/>
              <a:t>Array of Structures</a:t>
            </a:r>
          </a:p>
          <a:p>
            <a:r>
              <a:rPr lang="en-US" dirty="0"/>
              <a:t>Nested Structures</a:t>
            </a:r>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Structures </a:t>
            </a:r>
            <a:r>
              <a:rPr lang="en-US" dirty="0" smtClean="0"/>
              <a:t>and Functions</a:t>
            </a:r>
          </a:p>
          <a:p>
            <a:r>
              <a:rPr lang="en-US" dirty="0" smtClean="0"/>
              <a:t>Structures and Pointers</a:t>
            </a:r>
            <a:endParaRPr lang="en-US" dirty="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28600" y="2819400"/>
            <a:ext cx="8534400" cy="1054100"/>
          </a:xfrm>
        </p:spPr>
        <p:txBody>
          <a:bodyPr/>
          <a:lstStyle/>
          <a:p>
            <a:r>
              <a:rPr lang="en-US" sz="6600" dirty="0"/>
              <a:t>Structures </a:t>
            </a:r>
            <a:r>
              <a:rPr lang="en-US" sz="6600" dirty="0" smtClean="0"/>
              <a:t>and Function</a:t>
            </a:r>
            <a:endParaRPr lang="en-US" sz="6600" dirty="0"/>
          </a:p>
        </p:txBody>
      </p:sp>
    </p:spTree>
    <p:extLst>
      <p:ext uri="{BB962C8B-B14F-4D97-AF65-F5344CB8AC3E}">
        <p14:creationId xmlns:p14="http://schemas.microsoft.com/office/powerpoint/2010/main" val="42455587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smtClean="0"/>
              <a:t>Structure Members as Function Arguments</a:t>
            </a:r>
            <a:endParaRPr lang="en-US" dirty="0"/>
          </a:p>
        </p:txBody>
      </p:sp>
      <p:sp>
        <p:nvSpPr>
          <p:cNvPr id="3" name="Content Placeholder 2"/>
          <p:cNvSpPr>
            <a:spLocks noGrp="1"/>
          </p:cNvSpPr>
          <p:nvPr>
            <p:ph idx="1"/>
          </p:nvPr>
        </p:nvSpPr>
        <p:spPr/>
        <p:txBody>
          <a:bodyPr>
            <a:normAutofit/>
          </a:bodyPr>
          <a:lstStyle/>
          <a:p>
            <a:pPr algn="just"/>
            <a:r>
              <a:rPr lang="en-US" dirty="0" smtClean="0"/>
              <a:t>Structure variables may be passed as arguments to functions.</a:t>
            </a:r>
          </a:p>
          <a:p>
            <a:pPr algn="just"/>
            <a:endParaRPr lang="en-US" dirty="0" smtClean="0"/>
          </a:p>
          <a:p>
            <a:pPr algn="just"/>
            <a:r>
              <a:rPr lang="en-US" dirty="0" smtClean="0"/>
              <a:t>Like other variables, the individual members of a structure variable may be used as function arguments. </a:t>
            </a:r>
            <a:endParaRPr lang="en-US" dirty="0"/>
          </a:p>
        </p:txBody>
      </p:sp>
    </p:spTree>
    <p:extLst>
      <p:ext uri="{BB962C8B-B14F-4D97-AF65-F5344CB8AC3E}">
        <p14:creationId xmlns:p14="http://schemas.microsoft.com/office/powerpoint/2010/main" val="34699975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52399"/>
            <a:ext cx="5562600" cy="643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744" y="152400"/>
            <a:ext cx="579205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15622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smtClean="0"/>
              <a:t>Structure as Function Arguments</a:t>
            </a:r>
            <a:endParaRPr lang="en-US" dirty="0"/>
          </a:p>
        </p:txBody>
      </p:sp>
      <p:sp>
        <p:nvSpPr>
          <p:cNvPr id="3" name="Content Placeholder 2"/>
          <p:cNvSpPr>
            <a:spLocks noGrp="1"/>
          </p:cNvSpPr>
          <p:nvPr>
            <p:ph idx="1"/>
          </p:nvPr>
        </p:nvSpPr>
        <p:spPr/>
        <p:txBody>
          <a:bodyPr>
            <a:normAutofit/>
          </a:bodyPr>
          <a:lstStyle/>
          <a:p>
            <a:pPr marL="0" indent="0" algn="just">
              <a:buNone/>
            </a:pPr>
            <a:endParaRPr lang="en-US" dirty="0"/>
          </a:p>
          <a:p>
            <a:pPr algn="just"/>
            <a:endParaRPr lang="en-US" dirty="0" smtClean="0"/>
          </a:p>
          <a:p>
            <a:pPr algn="just"/>
            <a:r>
              <a:rPr lang="en-US" dirty="0" smtClean="0"/>
              <a:t>Sometimes it’s more convenient to pass an entire structure variable into a function instead of individual members. </a:t>
            </a:r>
            <a:endParaRPr lang="en-US" dirty="0"/>
          </a:p>
        </p:txBody>
      </p:sp>
    </p:spTree>
    <p:extLst>
      <p:ext uri="{BB962C8B-B14F-4D97-AF65-F5344CB8AC3E}">
        <p14:creationId xmlns:p14="http://schemas.microsoft.com/office/powerpoint/2010/main" val="42429244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5187172"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6407" y="228600"/>
            <a:ext cx="5138993"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42235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28600" y="2895600"/>
            <a:ext cx="8534400" cy="1054100"/>
          </a:xfrm>
        </p:spPr>
        <p:txBody>
          <a:bodyPr/>
          <a:lstStyle/>
          <a:p>
            <a:r>
              <a:rPr lang="en-US" sz="6600" dirty="0" smtClean="0"/>
              <a:t>Structure as Reference Parameter</a:t>
            </a:r>
            <a:endParaRPr lang="en-US" sz="6600" dirty="0"/>
          </a:p>
        </p:txBody>
      </p:sp>
    </p:spTree>
    <p:extLst>
      <p:ext uri="{BB962C8B-B14F-4D97-AF65-F5344CB8AC3E}">
        <p14:creationId xmlns:p14="http://schemas.microsoft.com/office/powerpoint/2010/main" val="4731721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smtClean="0"/>
              <a:t>Structure as Reference Parameter</a:t>
            </a:r>
            <a:endParaRPr lang="en-US" dirty="0"/>
          </a:p>
        </p:txBody>
      </p:sp>
      <p:sp>
        <p:nvSpPr>
          <p:cNvPr id="3" name="Content Placeholder 2"/>
          <p:cNvSpPr>
            <a:spLocks noGrp="1"/>
          </p:cNvSpPr>
          <p:nvPr>
            <p:ph idx="1"/>
          </p:nvPr>
        </p:nvSpPr>
        <p:spPr/>
        <p:txBody>
          <a:bodyPr/>
          <a:lstStyle/>
          <a:p>
            <a:pPr algn="just"/>
            <a:r>
              <a:rPr lang="en-US" dirty="0" smtClean="0"/>
              <a:t>Structures can be passed by reference just as other simple types.</a:t>
            </a:r>
          </a:p>
          <a:p>
            <a:pPr algn="just"/>
            <a:r>
              <a:rPr lang="en-US" dirty="0" smtClean="0"/>
              <a:t>When a structure is passed by reference the called function declares a reference for the passed structure and refers to the original structure elements through its reference.</a:t>
            </a:r>
          </a:p>
          <a:p>
            <a:pPr algn="just"/>
            <a:r>
              <a:rPr lang="en-US" dirty="0" smtClean="0"/>
              <a:t>Thus, the called function works with the original values.</a:t>
            </a:r>
            <a:endParaRPr lang="en-US" dirty="0"/>
          </a:p>
        </p:txBody>
      </p:sp>
    </p:spTree>
    <p:extLst>
      <p:ext uri="{BB962C8B-B14F-4D97-AF65-F5344CB8AC3E}">
        <p14:creationId xmlns:p14="http://schemas.microsoft.com/office/powerpoint/2010/main" val="5720507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8509" y="228600"/>
            <a:ext cx="6918691" cy="6324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1067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28600" y="2895600"/>
            <a:ext cx="8534400" cy="1054100"/>
          </a:xfrm>
        </p:spPr>
        <p:txBody>
          <a:bodyPr/>
          <a:lstStyle/>
          <a:p>
            <a:r>
              <a:rPr lang="en-US" sz="6600" dirty="0"/>
              <a:t>Constant Reference Parameters </a:t>
            </a:r>
          </a:p>
        </p:txBody>
      </p:sp>
    </p:spTree>
    <p:extLst>
      <p:ext uri="{BB962C8B-B14F-4D97-AF65-F5344CB8AC3E}">
        <p14:creationId xmlns:p14="http://schemas.microsoft.com/office/powerpoint/2010/main" val="19306132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a:t>Constant Reference Parameters </a:t>
            </a:r>
          </a:p>
        </p:txBody>
      </p:sp>
      <p:sp>
        <p:nvSpPr>
          <p:cNvPr id="3" name="Content Placeholder 2"/>
          <p:cNvSpPr>
            <a:spLocks noGrp="1"/>
          </p:cNvSpPr>
          <p:nvPr>
            <p:ph idx="1"/>
          </p:nvPr>
        </p:nvSpPr>
        <p:spPr/>
        <p:txBody>
          <a:bodyPr/>
          <a:lstStyle/>
          <a:p>
            <a:pPr algn="just"/>
            <a:r>
              <a:rPr lang="en-US" dirty="0"/>
              <a:t>Sometimes structures can be quite large. Passing large structures by value can decrease a program’s performance because a copy of the structure has to be created. </a:t>
            </a:r>
            <a:endParaRPr lang="en-US" dirty="0" smtClean="0"/>
          </a:p>
          <a:p>
            <a:pPr algn="just"/>
            <a:r>
              <a:rPr lang="en-US" dirty="0" smtClean="0"/>
              <a:t>When </a:t>
            </a:r>
            <a:r>
              <a:rPr lang="en-US" dirty="0"/>
              <a:t>a structure is passed by reference, however, it isn’t copied. </a:t>
            </a:r>
            <a:endParaRPr lang="en-US" dirty="0" smtClean="0"/>
          </a:p>
          <a:p>
            <a:pPr algn="just"/>
            <a:r>
              <a:rPr lang="en-US" dirty="0" smtClean="0"/>
              <a:t>A </a:t>
            </a:r>
            <a:r>
              <a:rPr lang="en-US" dirty="0"/>
              <a:t>reference that points to the original argument is passed instead. So, it’s often preferable to pass large objects such as structures by reference. </a:t>
            </a:r>
          </a:p>
        </p:txBody>
      </p:sp>
    </p:spTree>
    <p:extLst>
      <p:ext uri="{BB962C8B-B14F-4D97-AF65-F5344CB8AC3E}">
        <p14:creationId xmlns:p14="http://schemas.microsoft.com/office/powerpoint/2010/main" val="18748921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a:t>Constant Reference Parameters </a:t>
            </a:r>
          </a:p>
        </p:txBody>
      </p:sp>
      <p:sp>
        <p:nvSpPr>
          <p:cNvPr id="3" name="Content Placeholder 2"/>
          <p:cNvSpPr>
            <a:spLocks noGrp="1"/>
          </p:cNvSpPr>
          <p:nvPr>
            <p:ph idx="1"/>
          </p:nvPr>
        </p:nvSpPr>
        <p:spPr/>
        <p:txBody>
          <a:bodyPr/>
          <a:lstStyle/>
          <a:p>
            <a:pPr algn="just"/>
            <a:r>
              <a:rPr lang="en-US" dirty="0"/>
              <a:t>Of course, the disadvantage of passing an object by reference is that the function has access to the original argument. It can potentially alter the argument’s value. </a:t>
            </a:r>
            <a:endParaRPr lang="en-US" dirty="0" smtClean="0"/>
          </a:p>
          <a:p>
            <a:pPr algn="just"/>
            <a:r>
              <a:rPr lang="en-US" dirty="0" smtClean="0"/>
              <a:t>This </a:t>
            </a:r>
            <a:r>
              <a:rPr lang="en-US" dirty="0"/>
              <a:t>can be prevented, however, by passing the argument as a constant </a:t>
            </a:r>
            <a:r>
              <a:rPr lang="en-US" dirty="0" smtClean="0"/>
              <a:t>reference.</a:t>
            </a:r>
            <a:endParaRPr lang="en-US" dirty="0"/>
          </a:p>
        </p:txBody>
      </p:sp>
    </p:spTree>
    <p:extLst>
      <p:ext uri="{BB962C8B-B14F-4D97-AF65-F5344CB8AC3E}">
        <p14:creationId xmlns:p14="http://schemas.microsoft.com/office/powerpoint/2010/main" val="2198089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
            <a:ext cx="7239000" cy="6522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68094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381000"/>
            <a:ext cx="863155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52" y="3152774"/>
            <a:ext cx="8461165" cy="885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601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2400"/>
            <a:ext cx="7578896"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4191000"/>
            <a:ext cx="4310975"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4935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28600" y="2895600"/>
            <a:ext cx="8534400" cy="1054100"/>
          </a:xfrm>
        </p:spPr>
        <p:txBody>
          <a:bodyPr/>
          <a:lstStyle/>
          <a:p>
            <a:r>
              <a:rPr lang="en-US" sz="6600" dirty="0" smtClean="0"/>
              <a:t>Returning Structure from Function</a:t>
            </a:r>
            <a:endParaRPr lang="en-US" sz="6600" dirty="0"/>
          </a:p>
        </p:txBody>
      </p:sp>
    </p:spTree>
    <p:extLst>
      <p:ext uri="{BB962C8B-B14F-4D97-AF65-F5344CB8AC3E}">
        <p14:creationId xmlns:p14="http://schemas.microsoft.com/office/powerpoint/2010/main" val="424622355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smtClean="0"/>
              <a:t>Returning Structure from Function</a:t>
            </a:r>
            <a:endParaRPr lang="en-US" dirty="0"/>
          </a:p>
        </p:txBody>
      </p:sp>
      <p:sp>
        <p:nvSpPr>
          <p:cNvPr id="3" name="Content Placeholder 2"/>
          <p:cNvSpPr>
            <a:spLocks noGrp="1"/>
          </p:cNvSpPr>
          <p:nvPr>
            <p:ph idx="1"/>
          </p:nvPr>
        </p:nvSpPr>
        <p:spPr/>
        <p:txBody>
          <a:bodyPr/>
          <a:lstStyle/>
          <a:p>
            <a:pPr algn="just"/>
            <a:r>
              <a:rPr lang="en-US" dirty="0" smtClean="0"/>
              <a:t>A function may return a structure.</a:t>
            </a:r>
          </a:p>
          <a:p>
            <a:pPr marL="0" indent="0" algn="just">
              <a:buNone/>
            </a:pPr>
            <a:endParaRPr lang="en-US" dirty="0" smtClean="0"/>
          </a:p>
          <a:p>
            <a:pPr algn="just"/>
            <a:r>
              <a:rPr lang="en-US" dirty="0" smtClean="0"/>
              <a:t>Just as functions can be written to return an </a:t>
            </a:r>
            <a:r>
              <a:rPr lang="en-US" dirty="0" err="1" smtClean="0"/>
              <a:t>int</a:t>
            </a:r>
            <a:r>
              <a:rPr lang="en-US" dirty="0" smtClean="0"/>
              <a:t>, long, double, or other data type, they can also be designed to return a structure.</a:t>
            </a:r>
            <a:endParaRPr lang="en-US" dirty="0"/>
          </a:p>
        </p:txBody>
      </p:sp>
    </p:spTree>
    <p:extLst>
      <p:ext uri="{BB962C8B-B14F-4D97-AF65-F5344CB8AC3E}">
        <p14:creationId xmlns:p14="http://schemas.microsoft.com/office/powerpoint/2010/main" val="389665369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6914" y="152400"/>
            <a:ext cx="5039686" cy="6539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73661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smtClean="0"/>
              <a:t>Returning Structure from Function</a:t>
            </a:r>
            <a:endParaRPr lang="en-US" dirty="0"/>
          </a:p>
        </p:txBody>
      </p:sp>
      <p:sp>
        <p:nvSpPr>
          <p:cNvPr id="3" name="Content Placeholder 2"/>
          <p:cNvSpPr>
            <a:spLocks noGrp="1"/>
          </p:cNvSpPr>
          <p:nvPr>
            <p:ph idx="1"/>
          </p:nvPr>
        </p:nvSpPr>
        <p:spPr/>
        <p:txBody>
          <a:bodyPr/>
          <a:lstStyle/>
          <a:p>
            <a:pPr algn="just"/>
            <a:r>
              <a:rPr lang="en-US" dirty="0" smtClean="0"/>
              <a:t>Notice that the </a:t>
            </a:r>
            <a:r>
              <a:rPr lang="en-US" dirty="0" err="1" smtClean="0"/>
              <a:t>getCircleData</a:t>
            </a:r>
            <a:r>
              <a:rPr lang="en-US" dirty="0" smtClean="0"/>
              <a:t>() function has a return data type of </a:t>
            </a:r>
            <a:r>
              <a:rPr lang="en-US" b="1" dirty="0" smtClean="0"/>
              <a:t>circle</a:t>
            </a:r>
            <a:r>
              <a:rPr lang="en-US" dirty="0" smtClean="0"/>
              <a:t>.</a:t>
            </a:r>
          </a:p>
          <a:p>
            <a:pPr algn="just"/>
            <a:endParaRPr lang="en-US" dirty="0" smtClean="0"/>
          </a:p>
          <a:p>
            <a:pPr algn="just"/>
            <a:r>
              <a:rPr lang="en-US" dirty="0" smtClean="0"/>
              <a:t>That means the function returns an entire circle structure when it terminates.</a:t>
            </a:r>
          </a:p>
          <a:p>
            <a:pPr algn="just"/>
            <a:endParaRPr lang="en-US" dirty="0" smtClean="0"/>
          </a:p>
          <a:p>
            <a:pPr algn="just"/>
            <a:r>
              <a:rPr lang="en-US" dirty="0" smtClean="0"/>
              <a:t>The return value can be assigned to any variable that is of type circle.</a:t>
            </a:r>
            <a:endParaRPr lang="en-US" dirty="0"/>
          </a:p>
        </p:txBody>
      </p:sp>
    </p:spTree>
    <p:extLst>
      <p:ext uri="{BB962C8B-B14F-4D97-AF65-F5344CB8AC3E}">
        <p14:creationId xmlns:p14="http://schemas.microsoft.com/office/powerpoint/2010/main" val="371091609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228600" y="2895600"/>
            <a:ext cx="8534400" cy="1054100"/>
          </a:xfrm>
        </p:spPr>
        <p:txBody>
          <a:bodyPr/>
          <a:lstStyle/>
          <a:p>
            <a:r>
              <a:rPr lang="en-US" sz="6600" dirty="0" smtClean="0"/>
              <a:t>Pointers to Structures</a:t>
            </a:r>
            <a:endParaRPr lang="en-US" sz="6600" dirty="0"/>
          </a:p>
        </p:txBody>
      </p:sp>
    </p:spTree>
    <p:extLst>
      <p:ext uri="{BB962C8B-B14F-4D97-AF65-F5344CB8AC3E}">
        <p14:creationId xmlns:p14="http://schemas.microsoft.com/office/powerpoint/2010/main" val="13533259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a:t>Pointers to Structures</a:t>
            </a:r>
          </a:p>
        </p:txBody>
      </p:sp>
      <p:sp>
        <p:nvSpPr>
          <p:cNvPr id="3" name="Content Placeholder 2"/>
          <p:cNvSpPr>
            <a:spLocks noGrp="1"/>
          </p:cNvSpPr>
          <p:nvPr>
            <p:ph idx="1"/>
          </p:nvPr>
        </p:nvSpPr>
        <p:spPr>
          <a:xfrm>
            <a:off x="699247" y="2248347"/>
            <a:ext cx="7745505" cy="4381053"/>
          </a:xfrm>
        </p:spPr>
        <p:txBody>
          <a:bodyPr>
            <a:normAutofit lnSpcReduction="10000"/>
          </a:bodyPr>
          <a:lstStyle/>
          <a:p>
            <a:pPr algn="just"/>
            <a:r>
              <a:rPr lang="en-US" dirty="0"/>
              <a:t>You may take the address of a structure variable and create variables that are pointers to structures. </a:t>
            </a:r>
            <a:endParaRPr lang="en-US" dirty="0" smtClean="0"/>
          </a:p>
          <a:p>
            <a:pPr algn="just"/>
            <a:endParaRPr lang="en-US" dirty="0"/>
          </a:p>
          <a:p>
            <a:pPr algn="just"/>
            <a:r>
              <a:rPr lang="en-US" dirty="0"/>
              <a:t>C++ has a special operator for dereferencing structure pointers. It’s called the </a:t>
            </a:r>
            <a:r>
              <a:rPr lang="en-US" b="1" dirty="0"/>
              <a:t>structure pointer operator</a:t>
            </a:r>
            <a:r>
              <a:rPr lang="en-US" dirty="0"/>
              <a:t>, and it consists of a hyphen (-) followed by the greater-than symbol (&gt;). </a:t>
            </a:r>
            <a:endParaRPr lang="en-US" dirty="0" smtClean="0"/>
          </a:p>
          <a:p>
            <a:pPr algn="just"/>
            <a:endParaRPr lang="en-US" dirty="0"/>
          </a:p>
          <a:p>
            <a:pPr algn="just"/>
            <a:r>
              <a:rPr lang="en-US" dirty="0"/>
              <a:t>The structure pointer operator is supposed to look like an arrow, thus visually indicating that a “pointer” is being used.</a:t>
            </a:r>
          </a:p>
        </p:txBody>
      </p:sp>
    </p:spTree>
    <p:extLst>
      <p:ext uri="{BB962C8B-B14F-4D97-AF65-F5344CB8AC3E}">
        <p14:creationId xmlns:p14="http://schemas.microsoft.com/office/powerpoint/2010/main" val="18721478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5329"/>
            <a:ext cx="6019800" cy="6506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56093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8490" y="381000"/>
            <a:ext cx="7756263" cy="1054250"/>
          </a:xfrm>
        </p:spPr>
        <p:txBody>
          <a:bodyPr/>
          <a:lstStyle/>
          <a:p>
            <a:r>
              <a:rPr lang="en-US" dirty="0"/>
              <a:t>Pointers to Structures</a:t>
            </a:r>
          </a:p>
        </p:txBody>
      </p:sp>
      <p:sp>
        <p:nvSpPr>
          <p:cNvPr id="3" name="Content Placeholder 2"/>
          <p:cNvSpPr>
            <a:spLocks noGrp="1"/>
          </p:cNvSpPr>
          <p:nvPr>
            <p:ph idx="1"/>
          </p:nvPr>
        </p:nvSpPr>
        <p:spPr/>
        <p:txBody>
          <a:bodyPr/>
          <a:lstStyle/>
          <a:p>
            <a:pPr algn="just"/>
            <a:r>
              <a:rPr lang="en-US" dirty="0"/>
              <a:t>The structure pointer operator takes the place of the dot operator in statements using pointers to structures. The operator automatically dereferences the structure pointer on its left. There is no need to enclose the pointer name in parentheses. </a:t>
            </a:r>
          </a:p>
        </p:txBody>
      </p:sp>
    </p:spTree>
    <p:extLst>
      <p:ext uri="{BB962C8B-B14F-4D97-AF65-F5344CB8AC3E}">
        <p14:creationId xmlns:p14="http://schemas.microsoft.com/office/powerpoint/2010/main" val="32157696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mtClean="0"/>
              <a:t>File Handling</a:t>
            </a:r>
            <a:endParaRPr lang="en-US" dirty="0"/>
          </a:p>
        </p:txBody>
      </p:sp>
      <p:sp>
        <p:nvSpPr>
          <p:cNvPr id="3" name="Title 2"/>
          <p:cNvSpPr>
            <a:spLocks noGrp="1"/>
          </p:cNvSpPr>
          <p:nvPr>
            <p:ph type="title"/>
          </p:nvPr>
        </p:nvSpPr>
        <p:spPr/>
        <p:txBody>
          <a:bodyPr/>
          <a:lstStyle/>
          <a:p>
            <a:r>
              <a:rPr lang="en-US" dirty="0" smtClean="0"/>
              <a:t>Next Lecture</a:t>
            </a:r>
            <a:endParaRPr lang="en-US" dirty="0"/>
          </a:p>
        </p:txBody>
      </p:sp>
    </p:spTree>
    <p:extLst>
      <p:ext uri="{BB962C8B-B14F-4D97-AF65-F5344CB8AC3E}">
        <p14:creationId xmlns:p14="http://schemas.microsoft.com/office/powerpoint/2010/main" val="216637202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5213</TotalTime>
  <Words>485</Words>
  <Application>Microsoft Office PowerPoint</Application>
  <PresentationFormat>On-screen Show (4:3)</PresentationFormat>
  <Paragraphs>54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Hardcover</vt:lpstr>
      <vt:lpstr>Programming Fundamentals</vt:lpstr>
      <vt:lpstr>Previous Lecture</vt:lpstr>
      <vt:lpstr>Today’s Lecture</vt:lpstr>
      <vt:lpstr>Structures and Function</vt:lpstr>
      <vt:lpstr>Structure Members as Function Arguments</vt:lpstr>
      <vt:lpstr>PowerPoint Presentation</vt:lpstr>
      <vt:lpstr>Structure as Function Arguments</vt:lpstr>
      <vt:lpstr>PowerPoint Presentation</vt:lpstr>
      <vt:lpstr>Structure as Reference Parameter</vt:lpstr>
      <vt:lpstr>Structure as Reference Parameter</vt:lpstr>
      <vt:lpstr>PowerPoint Presentation</vt:lpstr>
      <vt:lpstr>Constant Reference Parameters </vt:lpstr>
      <vt:lpstr>Constant Reference Parameters </vt:lpstr>
      <vt:lpstr>Constant Reference Parameters </vt:lpstr>
      <vt:lpstr>PowerPoint Presentation</vt:lpstr>
      <vt:lpstr>PowerPoint Presentation</vt:lpstr>
      <vt:lpstr>PowerPoint Presentation</vt:lpstr>
      <vt:lpstr>Returning Structure from Function</vt:lpstr>
      <vt:lpstr>Returning Structure from Function</vt:lpstr>
      <vt:lpstr>PowerPoint Presentation</vt:lpstr>
      <vt:lpstr>Returning Structure from Function</vt:lpstr>
      <vt:lpstr>Pointers to Structures</vt:lpstr>
      <vt:lpstr>Pointers to Structures</vt:lpstr>
      <vt:lpstr>PowerPoint Presentation</vt:lpstr>
      <vt:lpstr>Pointers to Structures</vt:lpstr>
      <vt:lpstr>Next Lecture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423</cp:revision>
  <dcterms:created xsi:type="dcterms:W3CDTF">2023-02-13T17:33:34Z</dcterms:created>
  <dcterms:modified xsi:type="dcterms:W3CDTF">2025-12-09T20:28:03Z</dcterms:modified>
</cp:coreProperties>
</file>