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40" r:id="rId1"/>
  </p:sldMasterIdLst>
  <p:notesMasterIdLst>
    <p:notesMasterId r:id="rId33"/>
  </p:notesMasterIdLst>
  <p:sldIdLst>
    <p:sldId id="275" r:id="rId2"/>
    <p:sldId id="322" r:id="rId3"/>
    <p:sldId id="323" r:id="rId4"/>
    <p:sldId id="324" r:id="rId5"/>
    <p:sldId id="325" r:id="rId6"/>
    <p:sldId id="326" r:id="rId7"/>
    <p:sldId id="327" r:id="rId8"/>
    <p:sldId id="328" r:id="rId9"/>
    <p:sldId id="329" r:id="rId10"/>
    <p:sldId id="330" r:id="rId11"/>
    <p:sldId id="331" r:id="rId12"/>
    <p:sldId id="332" r:id="rId13"/>
    <p:sldId id="333" r:id="rId14"/>
    <p:sldId id="334" r:id="rId15"/>
    <p:sldId id="335" r:id="rId16"/>
    <p:sldId id="336" r:id="rId17"/>
    <p:sldId id="337" r:id="rId18"/>
    <p:sldId id="338" r:id="rId19"/>
    <p:sldId id="339" r:id="rId20"/>
    <p:sldId id="340" r:id="rId21"/>
    <p:sldId id="341" r:id="rId22"/>
    <p:sldId id="342" r:id="rId23"/>
    <p:sldId id="343" r:id="rId24"/>
    <p:sldId id="344" r:id="rId25"/>
    <p:sldId id="345" r:id="rId26"/>
    <p:sldId id="346" r:id="rId27"/>
    <p:sldId id="347" r:id="rId28"/>
    <p:sldId id="348" r:id="rId29"/>
    <p:sldId id="349" r:id="rId30"/>
    <p:sldId id="350" r:id="rId31"/>
    <p:sldId id="351"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4" d="100"/>
          <a:sy n="54" d="100"/>
        </p:scale>
        <p:origin x="-960"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6A68638-8D4C-4224-86C6-C1F65257DA59}" type="datetimeFigureOut">
              <a:rPr lang="en-US" smtClean="0"/>
              <a:t>10/24/2025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AE47110-DE54-4872-A5AE-CA21AC8F8A64}" type="slidenum">
              <a:rPr lang="en-US" smtClean="0"/>
              <a:t>‹#›</a:t>
            </a:fld>
            <a:endParaRPr lang="en-US"/>
          </a:p>
        </p:txBody>
      </p:sp>
    </p:spTree>
    <p:extLst>
      <p:ext uri="{BB962C8B-B14F-4D97-AF65-F5344CB8AC3E}">
        <p14:creationId xmlns:p14="http://schemas.microsoft.com/office/powerpoint/2010/main" val="30165697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6" descr="CoverOverlay.png"/>
          <p:cNvPicPr>
            <a:picLocks noChangeAspect="1"/>
          </p:cNvPicPr>
          <p:nvPr/>
        </p:nvPicPr>
        <p:blipFill>
          <a:blip r:embed="rId2" cstate="print"/>
          <a:stretch>
            <a:fillRect/>
          </a:stretch>
        </p:blipFill>
        <p:spPr>
          <a:xfrm>
            <a:off x="0" y="0"/>
            <a:ext cx="9144000" cy="6858000"/>
          </a:xfrm>
          <a:prstGeom prst="rect">
            <a:avLst/>
          </a:prstGeom>
        </p:spPr>
      </p:pic>
      <p:sp>
        <p:nvSpPr>
          <p:cNvPr id="4" name="Date Placeholder 3"/>
          <p:cNvSpPr>
            <a:spLocks noGrp="1"/>
          </p:cNvSpPr>
          <p:nvPr>
            <p:ph type="dt" sz="half" idx="10"/>
          </p:nvPr>
        </p:nvSpPr>
        <p:spPr/>
        <p:txBody>
          <a:bodyPr/>
          <a:lstStyle>
            <a:lvl1pPr>
              <a:defRPr>
                <a:solidFill>
                  <a:schemeClr val="tx2"/>
                </a:solidFill>
              </a:defRPr>
            </a:lvl1pPr>
          </a:lstStyle>
          <a:p>
            <a:fld id="{AFF4282D-DD47-4BD2-B4E4-03CD91B40D17}" type="datetimeFigureOut">
              <a:rPr lang="en-US" smtClean="0"/>
              <a:t>10/24/2025</a:t>
            </a:fld>
            <a:endParaRPr lang="en-US"/>
          </a:p>
        </p:txBody>
      </p:sp>
      <p:sp>
        <p:nvSpPr>
          <p:cNvPr id="5" name="Footer Placeholder 4"/>
          <p:cNvSpPr>
            <a:spLocks noGrp="1"/>
          </p:cNvSpPr>
          <p:nvPr>
            <p:ph type="ftr" sz="quarter" idx="11"/>
          </p:nvPr>
        </p:nvSpPr>
        <p:spPr/>
        <p:txBody>
          <a:bodyPr/>
          <a:lstStyle>
            <a:lvl1pPr>
              <a:defRPr>
                <a:solidFill>
                  <a:schemeClr val="tx2"/>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BBBAC41E-B5DD-4622-B453-5F4DACEC7AF7}" type="slidenum">
              <a:rPr lang="en-US" smtClean="0"/>
              <a:t>‹#›</a:t>
            </a:fld>
            <a:endParaRPr lang="en-US"/>
          </a:p>
        </p:txBody>
      </p:sp>
      <p:grpSp>
        <p:nvGrpSpPr>
          <p:cNvPr id="8" name="Group 7"/>
          <p:cNvGrpSpPr/>
          <p:nvPr/>
        </p:nvGrpSpPr>
        <p:grpSpPr>
          <a:xfrm>
            <a:off x="1194101" y="2887530"/>
            <a:ext cx="6779110" cy="923330"/>
            <a:chOff x="1172584" y="1381459"/>
            <a:chExt cx="6779110" cy="923330"/>
          </a:xfrm>
          <a:effectLst>
            <a:outerShdw blurRad="38100" dist="12700" dir="16200000" rotWithShape="0">
              <a:prstClr val="black">
                <a:alpha val="30000"/>
              </a:prstClr>
            </a:outerShdw>
          </a:effectLst>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smtClean="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itchFamily="2" charset="2"/>
                </a:rPr>
                <a:t></a:t>
              </a:r>
              <a:endParaRPr lang="en-US" sz="5400" dirty="0">
                <a:ln w="3175">
                  <a:solidFill>
                    <a:schemeClr val="tx2">
                      <a:alpha val="60000"/>
                    </a:schemeClr>
                  </a:solidFill>
                </a:ln>
                <a:solidFill>
                  <a:schemeClr val="tx2">
                    <a:lumMod val="90000"/>
                  </a:schemeClr>
                </a:solidFill>
                <a:effectLst>
                  <a:outerShdw blurRad="34925" dist="12700" dir="14400000" algn="ctr" rotWithShape="0">
                    <a:srgbClr val="000000">
                      <a:alpha val="21000"/>
                    </a:srgbClr>
                  </a:outerShdw>
                </a:effectLst>
                <a:latin typeface="Wingdings" pitchFamily="2" charset="2"/>
              </a:endParaRPr>
            </a:p>
          </p:txBody>
        </p:sp>
        <p:cxnSp>
          <p:nvCxnSpPr>
            <p:cNvPr id="10" name="Straight Connector 9"/>
            <p:cNvCxnSpPr/>
            <p:nvPr/>
          </p:nvCxnSpPr>
          <p:spPr>
            <a:xfrm rot="10800000">
              <a:off x="1172584" y="192562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2930"/>
              <a:ext cx="3119718" cy="1588"/>
            </a:xfrm>
            <a:prstGeom prst="line">
              <a:avLst/>
            </a:prstGeom>
            <a:ln>
              <a:solidFill>
                <a:schemeClr val="tx2">
                  <a:lumMod val="9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183341" y="1387737"/>
            <a:ext cx="6777318" cy="1731982"/>
          </a:xfrm>
        </p:spPr>
        <p:txBody>
          <a:bodyPr anchor="b"/>
          <a:lstStyle>
            <a:lvl1pPr>
              <a:defRPr>
                <a:ln w="3175">
                  <a:solidFill>
                    <a:schemeClr val="tx1">
                      <a:alpha val="65000"/>
                    </a:schemeClr>
                  </a:solidFill>
                </a:ln>
                <a:solidFill>
                  <a:schemeClr val="tx1"/>
                </a:solidFill>
                <a:effectLst>
                  <a:outerShdw blurRad="25400" dist="12700" dir="14220000" rotWithShape="0">
                    <a:prstClr val="black">
                      <a:alpha val="50000"/>
                    </a:prstClr>
                  </a:outerShdw>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1371600" y="3767862"/>
            <a:ext cx="6400800" cy="1752600"/>
          </a:xfrm>
        </p:spPr>
        <p:txBody>
          <a:bodyPr/>
          <a:lstStyle>
            <a:lvl1pPr marL="0" indent="0" algn="ctr">
              <a:buNone/>
              <a:defRPr>
                <a:solidFill>
                  <a:schemeClr val="tx1"/>
                </a:solidFill>
                <a:effectLst>
                  <a:outerShdw blurRad="34925" dist="12700" dir="14400000" rotWithShape="0">
                    <a:prstClr val="black">
                      <a:alpha val="21000"/>
                    </a:prstClr>
                  </a:outerShdw>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FF4282D-DD47-4BD2-B4E4-03CD91B40D17}" type="datetimeFigureOut">
              <a:rPr lang="en-US" smtClean="0"/>
              <a:t>10/24/2025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BAC41E-B5DD-4622-B453-5F4DACEC7AF7}" type="slidenum">
              <a:rPr lang="en-US" smtClean="0"/>
              <a:t>‹#›</a:t>
            </a:fld>
            <a:endParaRPr lang="en-US"/>
          </a:p>
        </p:txBody>
      </p:sp>
      <p:sp>
        <p:nvSpPr>
          <p:cNvPr id="11" name="Title 10"/>
          <p:cNvSpPr>
            <a:spLocks noGrp="1"/>
          </p:cNvSpPr>
          <p:nvPr>
            <p:ph type="title"/>
          </p:nvPr>
        </p:nvSpPr>
        <p:spPr/>
        <p:txBody>
          <a:bodyPr/>
          <a:lstStyle/>
          <a:p>
            <a:r>
              <a:rPr lang="en-US" smtClean="0"/>
              <a:t>Click to edit Master title style</a:t>
            </a:r>
            <a:endParaRPr lang="en-US"/>
          </a:p>
        </p:txBody>
      </p:sp>
      <p:grpSp>
        <p:nvGrpSpPr>
          <p:cNvPr id="12" name="Group 11"/>
          <p:cNvGrpSpPr/>
          <p:nvPr/>
        </p:nvGrpSpPr>
        <p:grpSpPr>
          <a:xfrm>
            <a:off x="1172584" y="1392217"/>
            <a:ext cx="6779110" cy="923330"/>
            <a:chOff x="1172584" y="1381459"/>
            <a:chExt cx="6779110" cy="923330"/>
          </a:xfrm>
        </p:grpSpPr>
        <p:sp>
          <p:nvSpPr>
            <p:cNvPr id="13" name="TextBox 12"/>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4" name="Straight Connector 13"/>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12" name="Picture 11" descr="CoverOverlay.png"/>
          <p:cNvPicPr>
            <a:picLocks noChangeAspect="1"/>
          </p:cNvPicPr>
          <p:nvPr/>
        </p:nvPicPr>
        <p:blipFill>
          <a:blip r:embed="rId2" cstate="print">
            <a:lum/>
          </a:blip>
          <a:stretch>
            <a:fillRect/>
          </a:stretch>
        </p:blipFill>
        <p:spPr>
          <a:xfrm>
            <a:off x="0" y="0"/>
            <a:ext cx="9144000" cy="6858000"/>
          </a:xfrm>
          <a:prstGeom prst="rect">
            <a:avLst/>
          </a:prstGeom>
        </p:spPr>
      </p:pic>
      <p:grpSp>
        <p:nvGrpSpPr>
          <p:cNvPr id="7" name="Group 7"/>
          <p:cNvGrpSpPr/>
          <p:nvPr/>
        </p:nvGrpSpPr>
        <p:grpSpPr>
          <a:xfrm>
            <a:off x="1172584" y="2887579"/>
            <a:ext cx="6779110" cy="923330"/>
            <a:chOff x="1172584" y="1381459"/>
            <a:chExt cx="6779110" cy="923330"/>
          </a:xfrm>
        </p:grpSpPr>
        <p:sp>
          <p:nvSpPr>
            <p:cNvPr id="9" name="TextBox 8"/>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0" name="Straight Connector 9"/>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10800000">
              <a:off x="4831976" y="1927412"/>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690040" y="1204857"/>
            <a:ext cx="7754713" cy="1910716"/>
          </a:xfrm>
        </p:spPr>
        <p:txBody>
          <a:bodyPr anchor="b"/>
          <a:lstStyle>
            <a:lvl1pPr algn="ctr">
              <a:defRPr sz="5400" b="0" cap="none" baseline="0">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699248" y="3767316"/>
            <a:ext cx="7734747" cy="1500187"/>
          </a:xfrm>
        </p:spPr>
        <p:txBody>
          <a:bodyPr anchor="t"/>
          <a:lstStyle>
            <a:lvl1pPr marL="0" indent="0" algn="ct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FF4282D-DD47-4BD2-B4E4-03CD91B40D17}" type="datetimeFigureOut">
              <a:rPr lang="en-US" smtClean="0"/>
              <a:t>10/24/2025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BAC41E-B5DD-4622-B453-5F4DACEC7AF7}"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AFF4282D-DD47-4BD2-B4E4-03CD91B40D17}" type="datetimeFigureOut">
              <a:rPr lang="en-US" smtClean="0"/>
              <a:t>10/24/2025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BAC41E-B5DD-4622-B453-5F4DACEC7AF7}" type="slidenum">
              <a:rPr lang="en-US" smtClean="0"/>
              <a:t>‹#›</a:t>
            </a:fld>
            <a:endParaRPr lang="en-US"/>
          </a:p>
        </p:txBody>
      </p:sp>
      <p:sp>
        <p:nvSpPr>
          <p:cNvPr id="12" name="Title 11"/>
          <p:cNvSpPr>
            <a:spLocks noGrp="1"/>
          </p:cNvSpPr>
          <p:nvPr>
            <p:ph type="title"/>
          </p:nvPr>
        </p:nvSpPr>
        <p:spPr/>
        <p:txBody>
          <a:bodyPr/>
          <a:lstStyle>
            <a:lvl1pPr>
              <a:defRPr>
                <a:solidFill>
                  <a:schemeClr val="tx2"/>
                </a:solidFill>
              </a:defRPr>
            </a:lvl1pPr>
          </a:lstStyle>
          <a:p>
            <a:r>
              <a:rPr lang="en-US" smtClean="0"/>
              <a:t>Click to edit Master title style</a:t>
            </a:r>
            <a:endParaRPr lang="en-US" dirty="0"/>
          </a:p>
        </p:txBody>
      </p:sp>
      <p:grpSp>
        <p:nvGrpSpPr>
          <p:cNvPr id="13" name="Group 12"/>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
        <p:nvSpPr>
          <p:cNvPr id="8" name="Content Placeholder 7"/>
          <p:cNvSpPr>
            <a:spLocks noGrp="1"/>
          </p:cNvSpPr>
          <p:nvPr>
            <p:ph sz="quarter" idx="13"/>
          </p:nvPr>
        </p:nvSpPr>
        <p:spPr>
          <a:xfrm>
            <a:off x="685800" y="2240280"/>
            <a:ext cx="3803904" cy="387705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 name="Content Placeholder 9"/>
          <p:cNvSpPr>
            <a:spLocks noGrp="1"/>
          </p:cNvSpPr>
          <p:nvPr>
            <p:ph sz="quarter" idx="14"/>
          </p:nvPr>
        </p:nvSpPr>
        <p:spPr>
          <a:xfrm>
            <a:off x="4645151" y="2240280"/>
            <a:ext cx="3803904" cy="3877056"/>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051560" y="2240280"/>
            <a:ext cx="3442446"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88488" y="2947595"/>
            <a:ext cx="3803904"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02306" y="2240280"/>
            <a:ext cx="3447288" cy="658368"/>
          </a:xfrm>
        </p:spPr>
        <p:txBody>
          <a:bodyPr anchor="b"/>
          <a:lstStyle>
            <a:lvl1pPr marL="0" indent="0" algn="ctr">
              <a:buNone/>
              <a:defRPr sz="24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6" y="2944368"/>
            <a:ext cx="3799728" cy="317296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AFF4282D-DD47-4BD2-B4E4-03CD91B40D17}" type="datetimeFigureOut">
              <a:rPr lang="en-US" smtClean="0"/>
              <a:t>10/24/2025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BBAC41E-B5DD-4622-B453-5F4DACEC7AF7}" type="slidenum">
              <a:rPr lang="en-US" smtClean="0"/>
              <a:t>‹#›</a:t>
            </a:fld>
            <a:endParaRPr lang="en-US"/>
          </a:p>
        </p:txBody>
      </p:sp>
      <p:grpSp>
        <p:nvGrpSpPr>
          <p:cNvPr id="14" name="Group 13"/>
          <p:cNvGrpSpPr/>
          <p:nvPr/>
        </p:nvGrpSpPr>
        <p:grpSpPr>
          <a:xfrm>
            <a:off x="1172584" y="1392217"/>
            <a:ext cx="6779110" cy="923330"/>
            <a:chOff x="1172584" y="1381459"/>
            <a:chExt cx="6779110" cy="923330"/>
          </a:xfrm>
        </p:grpSpPr>
        <p:sp>
          <p:nvSpPr>
            <p:cNvPr id="16" name="TextBox 15"/>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7" name="Straight Connector 16"/>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AFF4282D-DD47-4BD2-B4E4-03CD91B40D17}" type="datetimeFigureOut">
              <a:rPr lang="en-US" smtClean="0"/>
              <a:t>10/24/2025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BBAC41E-B5DD-4622-B453-5F4DACEC7AF7}" type="slidenum">
              <a:rPr lang="en-US" smtClean="0"/>
              <a:t>‹#›</a:t>
            </a:fld>
            <a:endParaRPr lang="en-US"/>
          </a:p>
        </p:txBody>
      </p:sp>
      <p:grpSp>
        <p:nvGrpSpPr>
          <p:cNvPr id="10" name="Group 9"/>
          <p:cNvGrpSpPr/>
          <p:nvPr/>
        </p:nvGrpSpPr>
        <p:grpSpPr>
          <a:xfrm>
            <a:off x="1172584" y="1392217"/>
            <a:ext cx="6779110" cy="923330"/>
            <a:chOff x="1172584" y="1381459"/>
            <a:chExt cx="6779110" cy="923330"/>
          </a:xfrm>
        </p:grpSpPr>
        <p:sp>
          <p:nvSpPr>
            <p:cNvPr id="14" name="TextBox 13"/>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5" name="Straight Connector 14"/>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F4282D-DD47-4BD2-B4E4-03CD91B40D17}" type="datetimeFigureOut">
              <a:rPr lang="en-US" smtClean="0"/>
              <a:t>10/24/2025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BBAC41E-B5DD-4622-B453-5F4DACEC7AF7}"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34579" y="1678195"/>
            <a:ext cx="3422483" cy="1886921"/>
          </a:xfrm>
        </p:spPr>
        <p:txBody>
          <a:bodyPr anchor="b"/>
          <a:lstStyle>
            <a:lvl1pPr algn="l">
              <a:defRPr sz="2800" b="0"/>
            </a:lvl1pPr>
          </a:lstStyle>
          <a:p>
            <a:r>
              <a:rPr lang="en-US" smtClean="0"/>
              <a:t>Click to edit Master title style</a:t>
            </a:r>
            <a:endParaRPr lang="en-US"/>
          </a:p>
        </p:txBody>
      </p:sp>
      <p:sp>
        <p:nvSpPr>
          <p:cNvPr id="3" name="Content Placeholder 2"/>
          <p:cNvSpPr>
            <a:spLocks noGrp="1"/>
          </p:cNvSpPr>
          <p:nvPr>
            <p:ph idx="1"/>
          </p:nvPr>
        </p:nvSpPr>
        <p:spPr>
          <a:xfrm>
            <a:off x="692001" y="559398"/>
            <a:ext cx="4116667" cy="5566765"/>
          </a:xfrm>
        </p:spPr>
        <p:txBody>
          <a:bodyPr anchor="ctr"/>
          <a:lstStyle>
            <a:lvl1pPr>
              <a:defRPr sz="2400"/>
            </a:lvl1pPr>
            <a:lvl2pPr>
              <a:defRPr sz="2200"/>
            </a:lvl2pPr>
            <a:lvl3pPr>
              <a:defRPr sz="2000"/>
            </a:lvl3pPr>
            <a:lvl4pPr>
              <a:defRPr sz="1800"/>
            </a:lvl4pPr>
            <a:lvl5pPr>
              <a:defRPr sz="16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034579" y="3603812"/>
            <a:ext cx="3411725" cy="2517289"/>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FF4282D-DD47-4BD2-B4E4-03CD91B40D17}" type="datetimeFigureOut">
              <a:rPr lang="en-US" smtClean="0"/>
              <a:t>10/24/2025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BAC41E-B5DD-4622-B453-5F4DACEC7AF7}"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731" y="4668818"/>
            <a:ext cx="7767021" cy="644729"/>
          </a:xfrm>
        </p:spPr>
        <p:txBody>
          <a:bodyPr anchor="b"/>
          <a:lstStyle>
            <a:lvl1pPr algn="ctr">
              <a:defRPr sz="2800" b="0"/>
            </a:lvl1pPr>
          </a:lstStyle>
          <a:p>
            <a:r>
              <a:rPr lang="en-US" smtClean="0"/>
              <a:t>Click to edit Master title style</a:t>
            </a:r>
            <a:endParaRPr lang="en-US"/>
          </a:p>
        </p:txBody>
      </p:sp>
      <p:sp>
        <p:nvSpPr>
          <p:cNvPr id="3" name="Picture Placeholder 2"/>
          <p:cNvSpPr>
            <a:spLocks noGrp="1"/>
          </p:cNvSpPr>
          <p:nvPr>
            <p:ph type="pic" idx="1"/>
          </p:nvPr>
        </p:nvSpPr>
        <p:spPr>
          <a:xfrm rot="240000">
            <a:off x="2183792" y="666965"/>
            <a:ext cx="4772156" cy="3598016"/>
          </a:xfrm>
          <a:solidFill>
            <a:srgbClr val="FFFFFF">
              <a:shade val="85000"/>
            </a:srgbClr>
          </a:solidFill>
          <a:ln w="190500" cap="sq">
            <a:solidFill>
              <a:srgbClr val="FFFFFF"/>
            </a:solidFill>
            <a:miter lim="800000"/>
          </a:ln>
          <a:effectLst>
            <a:outerShdw blurRad="65000" dist="50800" dir="12900000" kx="195000" ky="145000" algn="tl" rotWithShape="0">
              <a:srgbClr val="000000">
                <a:alpha val="24000"/>
              </a:srgbClr>
            </a:outerShdw>
          </a:effectLst>
          <a:scene3d>
            <a:camera prst="orthographicFront">
              <a:rot lat="0" lon="0" rev="360000"/>
            </a:camera>
            <a:lightRig rig="twoPt" dir="t">
              <a:rot lat="0" lon="0" rev="7200000"/>
            </a:lightRig>
          </a:scene3d>
          <a:sp3d contourW="12700">
            <a:bevelT w="25400" h="19050"/>
            <a:contourClr>
              <a:srgbClr val="969696"/>
            </a:contourClr>
          </a:sp3d>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88489" y="5324306"/>
            <a:ext cx="7756264" cy="804862"/>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FF4282D-DD47-4BD2-B4E4-03CD91B40D17}" type="datetimeFigureOut">
              <a:rPr lang="en-US" smtClean="0"/>
              <a:t>10/24/2025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BBAC41E-B5DD-4622-B453-5F4DACEC7AF7}"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FF4282D-DD47-4BD2-B4E4-03CD91B40D17}" type="datetimeFigureOut">
              <a:rPr lang="en-US" smtClean="0"/>
              <a:t>10/24/2025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BAC41E-B5DD-4622-B453-5F4DACEC7AF7}" type="slidenum">
              <a:rPr lang="en-US" smtClean="0"/>
              <a:t>‹#›</a:t>
            </a:fld>
            <a:endParaRPr lang="en-US"/>
          </a:p>
        </p:txBody>
      </p:sp>
      <p:grpSp>
        <p:nvGrpSpPr>
          <p:cNvPr id="11" name="Group 10"/>
          <p:cNvGrpSpPr/>
          <p:nvPr/>
        </p:nvGrpSpPr>
        <p:grpSpPr>
          <a:xfrm>
            <a:off x="1172584" y="1392217"/>
            <a:ext cx="6779110" cy="923330"/>
            <a:chOff x="1172584" y="1381459"/>
            <a:chExt cx="6779110" cy="923330"/>
          </a:xfrm>
        </p:grpSpPr>
        <p:sp>
          <p:nvSpPr>
            <p:cNvPr id="15" name="TextBox 14"/>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6" name="Straight Connector 15"/>
            <p:cNvCxnSpPr/>
            <p:nvPr/>
          </p:nvCxnSpPr>
          <p:spPr>
            <a:xfrm rot="10800000">
              <a:off x="1172584" y="192562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10800000">
              <a:off x="4831976" y="1922650"/>
              <a:ext cx="3119718"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6560" y="559398"/>
            <a:ext cx="1678193" cy="556676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8488" y="849854"/>
            <a:ext cx="5507917" cy="502382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FF4282D-DD47-4BD2-B4E4-03CD91B40D17}" type="datetimeFigureOut">
              <a:rPr lang="en-US" smtClean="0"/>
              <a:t>10/24/2025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BBAC41E-B5DD-4622-B453-5F4DACEC7AF7}" type="slidenum">
              <a:rPr lang="en-US" smtClean="0"/>
              <a:t>‹#›</a:t>
            </a:fld>
            <a:endParaRPr lang="en-US"/>
          </a:p>
        </p:txBody>
      </p:sp>
      <p:grpSp>
        <p:nvGrpSpPr>
          <p:cNvPr id="11" name="Group 10"/>
          <p:cNvGrpSpPr/>
          <p:nvPr/>
        </p:nvGrpSpPr>
        <p:grpSpPr>
          <a:xfrm rot="5400000">
            <a:off x="3909050" y="2880823"/>
            <a:ext cx="5480154" cy="923330"/>
            <a:chOff x="1815339" y="1381459"/>
            <a:chExt cx="5480154" cy="923330"/>
          </a:xfrm>
        </p:grpSpPr>
        <p:sp>
          <p:nvSpPr>
            <p:cNvPr id="12" name="TextBox 11"/>
            <p:cNvSpPr txBox="1"/>
            <p:nvPr/>
          </p:nvSpPr>
          <p:spPr>
            <a:xfrm>
              <a:off x="4147073" y="1381459"/>
              <a:ext cx="877163" cy="923330"/>
            </a:xfrm>
            <a:prstGeom prst="rect">
              <a:avLst/>
            </a:prstGeom>
            <a:noFill/>
          </p:spPr>
          <p:txBody>
            <a:bodyPr wrap="none" rtlCol="0">
              <a:spAutoFit/>
            </a:bodyPr>
            <a:lstStyle/>
            <a:p>
              <a:r>
                <a:rPr lang="en-US" sz="5400" dirty="0" smtClean="0">
                  <a:solidFill>
                    <a:schemeClr val="tx2">
                      <a:lumMod val="60000"/>
                      <a:lumOff val="40000"/>
                    </a:schemeClr>
                  </a:solidFill>
                  <a:latin typeface="Wingdings" pitchFamily="2" charset="2"/>
                </a:rPr>
                <a:t></a:t>
              </a:r>
              <a:endParaRPr lang="en-US" sz="5400" dirty="0">
                <a:solidFill>
                  <a:schemeClr val="tx2">
                    <a:lumMod val="60000"/>
                    <a:lumOff val="40000"/>
                  </a:schemeClr>
                </a:solidFill>
                <a:latin typeface="Wingdings" pitchFamily="2" charset="2"/>
              </a:endParaRPr>
            </a:p>
          </p:txBody>
        </p:sp>
        <p:cxnSp>
          <p:nvCxnSpPr>
            <p:cNvPr id="13" name="Straight Connector 12"/>
            <p:cNvCxnSpPr/>
            <p:nvPr/>
          </p:nvCxnSpPr>
          <p:spPr>
            <a:xfrm flipH="1" flipV="1">
              <a:off x="1815339" y="1924709"/>
              <a:ext cx="2468880" cy="2505"/>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4826613" y="1927417"/>
              <a:ext cx="2468880" cy="1588"/>
            </a:xfrm>
            <a:prstGeom prst="line">
              <a:avLst/>
            </a:prstGeom>
            <a:ln>
              <a:solidFill>
                <a:schemeClr val="tx2">
                  <a:lumMod val="60000"/>
                  <a:lumOff val="40000"/>
                </a:schemeClr>
              </a:solidFill>
            </a:ln>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gradFill flip="none" rotWithShape="1">
            <a:gsLst>
              <a:gs pos="83000">
                <a:schemeClr val="bg1">
                  <a:alpha val="11000"/>
                </a:schemeClr>
              </a:gs>
              <a:gs pos="100000">
                <a:schemeClr val="bg2">
                  <a:lumMod val="75000"/>
                  <a:alpha val="23000"/>
                </a:schemeClr>
              </a:gs>
            </a:gsLst>
            <a:path path="rect">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88490" y="570156"/>
            <a:ext cx="7756263" cy="1054250"/>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699247" y="2248347"/>
            <a:ext cx="7745505" cy="3877815"/>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360378" y="6161442"/>
            <a:ext cx="2133600" cy="365125"/>
          </a:xfrm>
          <a:prstGeom prst="rect">
            <a:avLst/>
          </a:prstGeom>
        </p:spPr>
        <p:txBody>
          <a:bodyPr vert="horz" lIns="91440" tIns="45720" rIns="91440" bIns="45720" rtlCol="0" anchor="ctr"/>
          <a:lstStyle>
            <a:lvl1pPr algn="l">
              <a:defRPr sz="1200">
                <a:solidFill>
                  <a:schemeClr val="tx2"/>
                </a:solidFill>
              </a:defRPr>
            </a:lvl1pPr>
          </a:lstStyle>
          <a:p>
            <a:fld id="{AFF4282D-DD47-4BD2-B4E4-03CD91B40D17}" type="datetimeFigureOut">
              <a:rPr lang="en-US" smtClean="0"/>
              <a:t>10/24/2025</a:t>
            </a:fld>
            <a:endParaRPr lang="en-US"/>
          </a:p>
        </p:txBody>
      </p:sp>
      <p:sp>
        <p:nvSpPr>
          <p:cNvPr id="5" name="Footer Placeholder 4"/>
          <p:cNvSpPr>
            <a:spLocks noGrp="1"/>
          </p:cNvSpPr>
          <p:nvPr>
            <p:ph type="ftr" sz="quarter" idx="3"/>
          </p:nvPr>
        </p:nvSpPr>
        <p:spPr>
          <a:xfrm>
            <a:off x="3124200" y="6161442"/>
            <a:ext cx="2895600" cy="365125"/>
          </a:xfrm>
          <a:prstGeom prst="rect">
            <a:avLst/>
          </a:prstGeom>
        </p:spPr>
        <p:txBody>
          <a:bodyPr vert="horz" lIns="91440" tIns="45720" rIns="91440" bIns="45720" rtlCol="0" anchor="ctr"/>
          <a:lstStyle>
            <a:lvl1pPr algn="ctr">
              <a:defRPr sz="1200">
                <a:solidFill>
                  <a:schemeClr val="tx2"/>
                </a:solidFill>
              </a:defRPr>
            </a:lvl1pPr>
          </a:lstStyle>
          <a:p>
            <a:endParaRPr lang="en-US"/>
          </a:p>
        </p:txBody>
      </p:sp>
      <p:sp>
        <p:nvSpPr>
          <p:cNvPr id="6" name="Slide Number Placeholder 5"/>
          <p:cNvSpPr>
            <a:spLocks noGrp="1"/>
          </p:cNvSpPr>
          <p:nvPr>
            <p:ph type="sldNum" sz="quarter" idx="4"/>
          </p:nvPr>
        </p:nvSpPr>
        <p:spPr>
          <a:xfrm>
            <a:off x="6639264" y="6161442"/>
            <a:ext cx="2133600" cy="365125"/>
          </a:xfrm>
          <a:prstGeom prst="rect">
            <a:avLst/>
          </a:prstGeom>
        </p:spPr>
        <p:txBody>
          <a:bodyPr vert="horz" lIns="91440" tIns="45720" rIns="91440" bIns="45720" rtlCol="0" anchor="ctr"/>
          <a:lstStyle>
            <a:lvl1pPr algn="r">
              <a:defRPr sz="1200">
                <a:solidFill>
                  <a:schemeClr val="tx2"/>
                </a:solidFill>
              </a:defRPr>
            </a:lvl1pPr>
          </a:lstStyle>
          <a:p>
            <a:fld id="{BBBAC41E-B5DD-4622-B453-5F4DACEC7AF7}"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4441" r:id="rId1"/>
    <p:sldLayoutId id="2147484442" r:id="rId2"/>
    <p:sldLayoutId id="2147484443" r:id="rId3"/>
    <p:sldLayoutId id="2147484444" r:id="rId4"/>
    <p:sldLayoutId id="2147484445" r:id="rId5"/>
    <p:sldLayoutId id="2147484446" r:id="rId6"/>
    <p:sldLayoutId id="2147484447" r:id="rId7"/>
    <p:sldLayoutId id="2147484448" r:id="rId8"/>
    <p:sldLayoutId id="2147484449" r:id="rId9"/>
    <p:sldLayoutId id="2147484450" r:id="rId10"/>
    <p:sldLayoutId id="2147484451" r:id="rId11"/>
  </p:sldLayoutIdLst>
  <p:txStyles>
    <p:titleStyle>
      <a:lvl1pPr algn="ctr" defTabSz="914400" rtl="0" eaLnBrk="1" latinLnBrk="0" hangingPunct="1">
        <a:spcBef>
          <a:spcPct val="0"/>
        </a:spcBef>
        <a:buNone/>
        <a:defRPr sz="54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65760" indent="-365760" algn="l" defTabSz="914400" rtl="0" eaLnBrk="1" latinLnBrk="0" hangingPunct="1">
        <a:spcBef>
          <a:spcPct val="20000"/>
        </a:spcBef>
        <a:buClr>
          <a:schemeClr val="accent1"/>
        </a:buClr>
        <a:buFont typeface="Wingdings" pitchFamily="2" charset="2"/>
        <a:buChar char=""/>
        <a:defRPr sz="2400" kern="1200">
          <a:solidFill>
            <a:schemeClr val="tx1">
              <a:lumMod val="85000"/>
              <a:lumOff val="15000"/>
            </a:schemeClr>
          </a:solidFill>
          <a:latin typeface="+mn-lt"/>
          <a:ea typeface="+mn-ea"/>
          <a:cs typeface="+mn-cs"/>
        </a:defRPr>
      </a:lvl1pPr>
      <a:lvl2pPr marL="777240" indent="-365760" algn="l" defTabSz="914400" rtl="0" eaLnBrk="1" latinLnBrk="0" hangingPunct="1">
        <a:spcBef>
          <a:spcPct val="20000"/>
        </a:spcBef>
        <a:buClr>
          <a:schemeClr val="accent1"/>
        </a:buClr>
        <a:buFont typeface="Wingdings" pitchFamily="2" charset="2"/>
        <a:buChar char=""/>
        <a:defRPr sz="2200" kern="1200">
          <a:solidFill>
            <a:schemeClr val="tx1">
              <a:lumMod val="85000"/>
              <a:lumOff val="15000"/>
            </a:schemeClr>
          </a:solidFill>
          <a:latin typeface="+mn-lt"/>
          <a:ea typeface="+mn-ea"/>
          <a:cs typeface="+mn-cs"/>
        </a:defRPr>
      </a:lvl2pPr>
      <a:lvl3pPr marL="1143000" indent="-365760" algn="l" defTabSz="914400" rtl="0" eaLnBrk="1" latinLnBrk="0" hangingPunct="1">
        <a:spcBef>
          <a:spcPct val="20000"/>
        </a:spcBef>
        <a:buClr>
          <a:schemeClr val="accent1"/>
        </a:buClr>
        <a:buFont typeface="Wingdings" pitchFamily="2" charset="2"/>
        <a:buChar char=""/>
        <a:defRPr sz="2000" kern="1200">
          <a:solidFill>
            <a:schemeClr val="tx1">
              <a:lumMod val="85000"/>
              <a:lumOff val="15000"/>
            </a:schemeClr>
          </a:solidFill>
          <a:latin typeface="+mn-lt"/>
          <a:ea typeface="+mn-ea"/>
          <a:cs typeface="+mn-cs"/>
        </a:defRPr>
      </a:lvl3pPr>
      <a:lvl4pPr marL="1508760" indent="-320040" algn="l" defTabSz="914400" rtl="0" eaLnBrk="1" latinLnBrk="0" hangingPunct="1">
        <a:spcBef>
          <a:spcPct val="20000"/>
        </a:spcBef>
        <a:buClr>
          <a:schemeClr val="accent1"/>
        </a:buClr>
        <a:buFont typeface="Wingdings" pitchFamily="2" charset="2"/>
        <a:buChar char=""/>
        <a:defRPr sz="1800" kern="1200">
          <a:solidFill>
            <a:schemeClr val="tx1">
              <a:lumMod val="85000"/>
              <a:lumOff val="15000"/>
            </a:schemeClr>
          </a:solidFill>
          <a:latin typeface="+mn-lt"/>
          <a:ea typeface="+mn-ea"/>
          <a:cs typeface="+mn-cs"/>
        </a:defRPr>
      </a:lvl4pPr>
      <a:lvl5pPr marL="1828800" indent="-320040" algn="l" defTabSz="914400" rtl="0" eaLnBrk="1" latinLnBrk="0" hangingPunct="1">
        <a:spcBef>
          <a:spcPct val="20000"/>
        </a:spcBef>
        <a:buClr>
          <a:schemeClr val="accent1"/>
        </a:buClr>
        <a:buFont typeface="Wingdings" pitchFamily="2" charset="2"/>
        <a:buChar char=""/>
        <a:defRPr sz="1600" kern="1200">
          <a:solidFill>
            <a:schemeClr val="tx1">
              <a:lumMod val="85000"/>
              <a:lumOff val="15000"/>
            </a:schemeClr>
          </a:solidFill>
          <a:latin typeface="+mn-lt"/>
          <a:ea typeface="+mn-ea"/>
          <a:cs typeface="+mn-cs"/>
        </a:defRPr>
      </a:lvl5pPr>
      <a:lvl6pPr marL="214884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6pPr>
      <a:lvl7pPr marL="246888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7pPr>
      <a:lvl8pPr marL="278892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8pPr>
      <a:lvl9pPr marL="3108960" indent="-274320" algn="l" defTabSz="914400" rtl="0" eaLnBrk="1" latinLnBrk="0" hangingPunct="1">
        <a:spcBef>
          <a:spcPts val="400"/>
        </a:spcBef>
        <a:buClr>
          <a:schemeClr val="accent1"/>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t>Programming Fundamentals</a:t>
            </a:r>
            <a:endParaRPr lang="en-US" dirty="0"/>
          </a:p>
        </p:txBody>
      </p:sp>
      <p:sp>
        <p:nvSpPr>
          <p:cNvPr id="3" name="Subtitle 2"/>
          <p:cNvSpPr>
            <a:spLocks noGrp="1"/>
          </p:cNvSpPr>
          <p:nvPr>
            <p:ph type="subTitle" idx="1"/>
          </p:nvPr>
        </p:nvSpPr>
        <p:spPr/>
        <p:txBody>
          <a:bodyPr>
            <a:normAutofit/>
          </a:bodyPr>
          <a:lstStyle/>
          <a:p>
            <a:r>
              <a:rPr lang="en-US" dirty="0" smtClean="0"/>
              <a:t>By</a:t>
            </a:r>
          </a:p>
          <a:p>
            <a:r>
              <a:rPr lang="en-US" dirty="0" smtClean="0"/>
              <a:t>Shazmeen Batool</a:t>
            </a:r>
            <a:endParaRPr lang="en-US" dirty="0"/>
          </a:p>
        </p:txBody>
      </p:sp>
    </p:spTree>
    <p:extLst>
      <p:ext uri="{BB962C8B-B14F-4D97-AF65-F5344CB8AC3E}">
        <p14:creationId xmlns:p14="http://schemas.microsoft.com/office/powerpoint/2010/main" val="284235889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lgn="just"/>
            <a:r>
              <a:rPr lang="en-US" dirty="0"/>
              <a:t>Repeats a statement or group of statements while a given condition is true. It tests the condition before executing the loop body</a:t>
            </a:r>
            <a:r>
              <a:rPr lang="en-US" dirty="0" smtClean="0"/>
              <a:t>.</a:t>
            </a:r>
          </a:p>
          <a:p>
            <a:pPr marL="0" indent="0" algn="just">
              <a:buNone/>
            </a:pPr>
            <a:endParaRPr lang="en-US" dirty="0" smtClean="0"/>
          </a:p>
          <a:p>
            <a:pPr algn="just"/>
            <a:r>
              <a:rPr lang="en-US" dirty="0"/>
              <a:t>The while loop has two important parts</a:t>
            </a:r>
            <a:r>
              <a:rPr lang="en-US" dirty="0" smtClean="0"/>
              <a:t>:</a:t>
            </a:r>
          </a:p>
          <a:p>
            <a:pPr marL="914400" indent="-514350" algn="just">
              <a:buFont typeface="+mj-lt"/>
              <a:buAutoNum type="romanLcPeriod"/>
            </a:pPr>
            <a:r>
              <a:rPr lang="en-US" dirty="0"/>
              <a:t>A</a:t>
            </a:r>
            <a:r>
              <a:rPr lang="en-US" dirty="0" smtClean="0"/>
              <a:t>n </a:t>
            </a:r>
            <a:r>
              <a:rPr lang="en-US" dirty="0"/>
              <a:t>expression that is tested for a true or false </a:t>
            </a:r>
            <a:r>
              <a:rPr lang="en-US" dirty="0" smtClean="0"/>
              <a:t>value.</a:t>
            </a:r>
          </a:p>
          <a:p>
            <a:pPr marL="914400" indent="-514350" algn="just">
              <a:buFont typeface="+mj-lt"/>
              <a:buAutoNum type="romanLcPeriod"/>
            </a:pPr>
            <a:r>
              <a:rPr lang="en-US" dirty="0" smtClean="0"/>
              <a:t>A statement </a:t>
            </a:r>
            <a:r>
              <a:rPr lang="en-US" dirty="0"/>
              <a:t>or block that is repeated as long as the expression is true. </a:t>
            </a:r>
          </a:p>
        </p:txBody>
      </p:sp>
      <p:sp>
        <p:nvSpPr>
          <p:cNvPr id="3" name="Title 2"/>
          <p:cNvSpPr>
            <a:spLocks noGrp="1"/>
          </p:cNvSpPr>
          <p:nvPr>
            <p:ph type="title"/>
          </p:nvPr>
        </p:nvSpPr>
        <p:spPr/>
        <p:txBody>
          <a:bodyPr/>
          <a:lstStyle/>
          <a:p>
            <a:r>
              <a:rPr lang="en-US" dirty="0"/>
              <a:t>w</a:t>
            </a:r>
            <a:r>
              <a:rPr lang="en-US" dirty="0" smtClean="0"/>
              <a:t>hile loop</a:t>
            </a:r>
            <a:endParaRPr lang="en-US" dirty="0"/>
          </a:p>
        </p:txBody>
      </p:sp>
    </p:spTree>
    <p:extLst>
      <p:ext uri="{BB962C8B-B14F-4D97-AF65-F5344CB8AC3E}">
        <p14:creationId xmlns:p14="http://schemas.microsoft.com/office/powerpoint/2010/main" val="345629211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w</a:t>
            </a:r>
            <a:r>
              <a:rPr lang="en-US" dirty="0" smtClean="0"/>
              <a:t>hile loop</a:t>
            </a: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2243138"/>
            <a:ext cx="4922278" cy="4081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2364976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rmAutofit lnSpcReduction="10000"/>
          </a:bodyPr>
          <a:lstStyle/>
          <a:p>
            <a:pPr algn="just"/>
            <a:r>
              <a:rPr lang="en-US" dirty="0"/>
              <a:t>Here is the general format of the while loop</a:t>
            </a:r>
            <a:r>
              <a:rPr lang="en-US" dirty="0" smtClean="0"/>
              <a:t>:</a:t>
            </a:r>
          </a:p>
          <a:p>
            <a:pPr algn="just"/>
            <a:endParaRPr lang="en-US" dirty="0"/>
          </a:p>
          <a:p>
            <a:pPr algn="just"/>
            <a:endParaRPr lang="en-US" dirty="0" smtClean="0"/>
          </a:p>
          <a:p>
            <a:pPr algn="just"/>
            <a:endParaRPr lang="en-US" dirty="0"/>
          </a:p>
          <a:p>
            <a:pPr algn="just"/>
            <a:r>
              <a:rPr lang="en-US" dirty="0"/>
              <a:t>In the general format, </a:t>
            </a:r>
            <a:r>
              <a:rPr lang="en-US" b="1" dirty="0"/>
              <a:t>expression</a:t>
            </a:r>
            <a:r>
              <a:rPr lang="en-US" dirty="0"/>
              <a:t> is any expression that can be evaluated as true or false, and </a:t>
            </a:r>
            <a:r>
              <a:rPr lang="en-US" b="1" dirty="0"/>
              <a:t>statement</a:t>
            </a:r>
            <a:r>
              <a:rPr lang="en-US" dirty="0"/>
              <a:t> is any valid C++ statement. </a:t>
            </a:r>
            <a:endParaRPr lang="en-US" dirty="0" smtClean="0"/>
          </a:p>
          <a:p>
            <a:pPr algn="just"/>
            <a:r>
              <a:rPr lang="en-US" dirty="0" smtClean="0"/>
              <a:t>The </a:t>
            </a:r>
            <a:r>
              <a:rPr lang="en-US" dirty="0"/>
              <a:t>first line shown in the format is sometimes called the </a:t>
            </a:r>
            <a:r>
              <a:rPr lang="en-US" b="1" dirty="0"/>
              <a:t>loop header</a:t>
            </a:r>
            <a:r>
              <a:rPr lang="en-US" dirty="0"/>
              <a:t>. It consists of the key word </a:t>
            </a:r>
            <a:r>
              <a:rPr lang="en-US" b="1" dirty="0"/>
              <a:t>while</a:t>
            </a:r>
            <a:r>
              <a:rPr lang="en-US" dirty="0"/>
              <a:t> followed by an </a:t>
            </a:r>
            <a:r>
              <a:rPr lang="en-US" b="1" dirty="0"/>
              <a:t>expression</a:t>
            </a:r>
            <a:r>
              <a:rPr lang="en-US" dirty="0"/>
              <a:t> enclosed in parentheses.  </a:t>
            </a:r>
          </a:p>
        </p:txBody>
      </p:sp>
      <p:sp>
        <p:nvSpPr>
          <p:cNvPr id="3" name="Title 2"/>
          <p:cNvSpPr>
            <a:spLocks noGrp="1"/>
          </p:cNvSpPr>
          <p:nvPr>
            <p:ph type="title"/>
          </p:nvPr>
        </p:nvSpPr>
        <p:spPr/>
        <p:txBody>
          <a:bodyPr/>
          <a:lstStyle/>
          <a:p>
            <a:r>
              <a:rPr lang="en-US" dirty="0"/>
              <a:t>w</a:t>
            </a:r>
            <a:r>
              <a:rPr lang="en-US" dirty="0" smtClean="0"/>
              <a:t>hile loop</a:t>
            </a:r>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3042" y="2667000"/>
            <a:ext cx="4234358" cy="1233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7074292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rmAutofit/>
          </a:bodyPr>
          <a:lstStyle/>
          <a:p>
            <a:pPr algn="just"/>
            <a:r>
              <a:rPr lang="en-US" dirty="0"/>
              <a:t>Here’s how the loop works: the expression is tested, and if it is true, the statement is executed. Then, the expression is tested again. If it is true, the statement is executed. This cycle repeats until the expression is false</a:t>
            </a:r>
            <a:r>
              <a:rPr lang="en-US" dirty="0" smtClean="0"/>
              <a:t>.</a:t>
            </a:r>
          </a:p>
          <a:p>
            <a:pPr algn="just"/>
            <a:endParaRPr lang="en-US" dirty="0"/>
          </a:p>
          <a:p>
            <a:pPr algn="just"/>
            <a:r>
              <a:rPr lang="en-US" dirty="0"/>
              <a:t>The statement that is repeated is known as the body of the loop. It is also considered a </a:t>
            </a:r>
            <a:r>
              <a:rPr lang="en-US" b="1" dirty="0"/>
              <a:t>conditionally executed statement</a:t>
            </a:r>
            <a:r>
              <a:rPr lang="en-US" dirty="0"/>
              <a:t>, because it is executed only under the condition that the expression is true. </a:t>
            </a:r>
          </a:p>
        </p:txBody>
      </p:sp>
      <p:sp>
        <p:nvSpPr>
          <p:cNvPr id="3" name="Title 2"/>
          <p:cNvSpPr>
            <a:spLocks noGrp="1"/>
          </p:cNvSpPr>
          <p:nvPr>
            <p:ph type="title"/>
          </p:nvPr>
        </p:nvSpPr>
        <p:spPr/>
        <p:txBody>
          <a:bodyPr/>
          <a:lstStyle/>
          <a:p>
            <a:r>
              <a:rPr lang="en-US" dirty="0"/>
              <a:t>w</a:t>
            </a:r>
            <a:r>
              <a:rPr lang="en-US" dirty="0" smtClean="0"/>
              <a:t>hile loop</a:t>
            </a:r>
            <a:endParaRPr lang="en-US" dirty="0"/>
          </a:p>
        </p:txBody>
      </p:sp>
    </p:spTree>
    <p:extLst>
      <p:ext uri="{BB962C8B-B14F-4D97-AF65-F5344CB8AC3E}">
        <p14:creationId xmlns:p14="http://schemas.microsoft.com/office/powerpoint/2010/main" val="4811149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rmAutofit/>
          </a:bodyPr>
          <a:lstStyle/>
          <a:p>
            <a:pPr algn="just"/>
            <a:r>
              <a:rPr lang="en-US" dirty="0"/>
              <a:t>Notice there is no semicolon after the expression in parentheses. Like the if statement, the while loop is not complete without the statement that follows it</a:t>
            </a:r>
            <a:r>
              <a:rPr lang="en-US" dirty="0" smtClean="0"/>
              <a:t>.</a:t>
            </a:r>
          </a:p>
          <a:p>
            <a:pPr algn="just"/>
            <a:endParaRPr lang="en-US" dirty="0"/>
          </a:p>
          <a:p>
            <a:pPr algn="just"/>
            <a:r>
              <a:rPr lang="en-US" dirty="0"/>
              <a:t>If you wish the while loop to repeat a block of statements, its format is:</a:t>
            </a:r>
          </a:p>
        </p:txBody>
      </p:sp>
      <p:sp>
        <p:nvSpPr>
          <p:cNvPr id="3" name="Title 2"/>
          <p:cNvSpPr>
            <a:spLocks noGrp="1"/>
          </p:cNvSpPr>
          <p:nvPr>
            <p:ph type="title"/>
          </p:nvPr>
        </p:nvSpPr>
        <p:spPr/>
        <p:txBody>
          <a:bodyPr/>
          <a:lstStyle/>
          <a:p>
            <a:r>
              <a:rPr lang="en-US" dirty="0"/>
              <a:t>w</a:t>
            </a:r>
            <a:r>
              <a:rPr lang="en-US" dirty="0" smtClean="0"/>
              <a:t>hile loop</a:t>
            </a:r>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0" y="4626248"/>
            <a:ext cx="5142827" cy="22118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9700894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p:cNvSpPr txBox="1">
            <a:spLocks/>
          </p:cNvSpPr>
          <p:nvPr/>
        </p:nvSpPr>
        <p:spPr>
          <a:xfrm rot="16200000">
            <a:off x="-2787574" y="2939975"/>
            <a:ext cx="6629400" cy="1054250"/>
          </a:xfrm>
          <a:prstGeom prst="rect">
            <a:avLst/>
          </a:prstGeom>
        </p:spPr>
        <p:txBody>
          <a:bodyPr/>
          <a:lstStyle>
            <a:lvl1pPr algn="ctr" defTabSz="914400" rtl="0" eaLnBrk="1" latinLnBrk="0" hangingPunct="1">
              <a:spcBef>
                <a:spcPct val="0"/>
              </a:spcBef>
              <a:buNone/>
              <a:defRPr sz="54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smtClean="0"/>
              <a:t>Example</a:t>
            </a:r>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304800"/>
            <a:ext cx="4888589" cy="59035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81800" y="153571"/>
            <a:ext cx="2028411" cy="2257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82374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457253"/>
          </a:xfrm>
        </p:spPr>
        <p:txBody>
          <a:bodyPr>
            <a:normAutofit/>
          </a:bodyPr>
          <a:lstStyle/>
          <a:p>
            <a:pPr algn="just"/>
            <a:r>
              <a:rPr lang="en-US" dirty="0"/>
              <a:t>Each repetition of a loop is known as an </a:t>
            </a:r>
            <a:r>
              <a:rPr lang="en-US" b="1" dirty="0"/>
              <a:t>iteration.</a:t>
            </a:r>
            <a:r>
              <a:rPr lang="en-US" dirty="0"/>
              <a:t> </a:t>
            </a:r>
            <a:endParaRPr lang="en-US" dirty="0" smtClean="0"/>
          </a:p>
          <a:p>
            <a:pPr algn="just"/>
            <a:r>
              <a:rPr lang="en-US" dirty="0" smtClean="0"/>
              <a:t>This </a:t>
            </a:r>
            <a:r>
              <a:rPr lang="en-US" dirty="0"/>
              <a:t>loop will perform five iterations because the variable number is initialized with the value 0, and it is incremented each time the body of the loop is executed. </a:t>
            </a:r>
            <a:endParaRPr lang="en-US" dirty="0" smtClean="0"/>
          </a:p>
          <a:p>
            <a:pPr algn="just"/>
            <a:r>
              <a:rPr lang="en-US" dirty="0" smtClean="0"/>
              <a:t>When </a:t>
            </a:r>
            <a:r>
              <a:rPr lang="en-US" dirty="0"/>
              <a:t>the expression number &lt; 5 is tested and found to be false, the loop will terminate and the program will resume execution at the statement that immediately follows the loop.</a:t>
            </a:r>
          </a:p>
        </p:txBody>
      </p:sp>
      <p:sp>
        <p:nvSpPr>
          <p:cNvPr id="3" name="Title 2"/>
          <p:cNvSpPr>
            <a:spLocks noGrp="1"/>
          </p:cNvSpPr>
          <p:nvPr>
            <p:ph type="title"/>
          </p:nvPr>
        </p:nvSpPr>
        <p:spPr/>
        <p:txBody>
          <a:bodyPr/>
          <a:lstStyle/>
          <a:p>
            <a:r>
              <a:rPr lang="en-US" dirty="0"/>
              <a:t>w</a:t>
            </a:r>
            <a:r>
              <a:rPr lang="en-US" dirty="0" smtClean="0"/>
              <a:t>hile loop</a:t>
            </a:r>
            <a:endParaRPr lang="en-US" dirty="0"/>
          </a:p>
        </p:txBody>
      </p:sp>
    </p:spTree>
    <p:extLst>
      <p:ext uri="{BB962C8B-B14F-4D97-AF65-F5344CB8AC3E}">
        <p14:creationId xmlns:p14="http://schemas.microsoft.com/office/powerpoint/2010/main" val="2542166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w</a:t>
            </a:r>
            <a:r>
              <a:rPr lang="en-US" dirty="0" smtClean="0"/>
              <a:t>hile loop</a:t>
            </a:r>
            <a:endParaRPr 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2209800"/>
            <a:ext cx="7151002" cy="3452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228600" y="5943600"/>
            <a:ext cx="8686800" cy="707886"/>
          </a:xfrm>
          <a:prstGeom prst="rect">
            <a:avLst/>
          </a:prstGeom>
        </p:spPr>
        <p:txBody>
          <a:bodyPr wrap="square">
            <a:spAutoFit/>
          </a:bodyPr>
          <a:lstStyle/>
          <a:p>
            <a:pPr algn="just"/>
            <a:r>
              <a:rPr lang="en-US" sz="2000" dirty="0"/>
              <a:t>In this example, the number variable is referred to as the </a:t>
            </a:r>
            <a:r>
              <a:rPr lang="en-US" sz="2000" b="1" dirty="0"/>
              <a:t>loop control variable</a:t>
            </a:r>
            <a:r>
              <a:rPr lang="en-US" sz="2000" dirty="0"/>
              <a:t> because it controls the number of times that the loop iterates. </a:t>
            </a:r>
          </a:p>
        </p:txBody>
      </p:sp>
    </p:spTree>
    <p:extLst>
      <p:ext uri="{BB962C8B-B14F-4D97-AF65-F5344CB8AC3E}">
        <p14:creationId xmlns:p14="http://schemas.microsoft.com/office/powerpoint/2010/main" val="2126914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rot="16200000">
            <a:off x="-2889251" y="2901950"/>
            <a:ext cx="6553200" cy="1054100"/>
          </a:xfrm>
        </p:spPr>
        <p:txBody>
          <a:bodyPr/>
          <a:lstStyle/>
          <a:p>
            <a:r>
              <a:rPr lang="en-US" sz="4400" dirty="0" smtClean="0"/>
              <a:t>What will be the output?</a:t>
            </a:r>
            <a:endParaRPr lang="en-US" sz="4400"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167325"/>
            <a:ext cx="4572000" cy="5436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600" y="304800"/>
            <a:ext cx="2487930" cy="8025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3657600" y="4772997"/>
            <a:ext cx="5329311" cy="1938992"/>
          </a:xfrm>
          <a:prstGeom prst="rect">
            <a:avLst/>
          </a:prstGeom>
        </p:spPr>
        <p:txBody>
          <a:bodyPr wrap="square">
            <a:spAutoFit/>
          </a:bodyPr>
          <a:lstStyle/>
          <a:p>
            <a:pPr algn="just"/>
            <a:r>
              <a:rPr lang="en-US" sz="2000" dirty="0"/>
              <a:t>The while loop is known as a </a:t>
            </a:r>
            <a:r>
              <a:rPr lang="en-US" sz="2000" b="1" dirty="0"/>
              <a:t>pretest loop</a:t>
            </a:r>
            <a:r>
              <a:rPr lang="en-US" sz="2000" dirty="0"/>
              <a:t>, which means it tests its expression before each iteration</a:t>
            </a:r>
            <a:r>
              <a:rPr lang="en-US" sz="2000" dirty="0" smtClean="0"/>
              <a:t>.</a:t>
            </a:r>
          </a:p>
          <a:p>
            <a:pPr algn="just"/>
            <a:r>
              <a:rPr lang="en-US" sz="2000" dirty="0"/>
              <a:t>An important characteristic of the while loop is that the loop will never iterate if the test expression is false to start with.</a:t>
            </a:r>
          </a:p>
        </p:txBody>
      </p:sp>
    </p:spTree>
    <p:extLst>
      <p:ext uri="{BB962C8B-B14F-4D97-AF65-F5344CB8AC3E}">
        <p14:creationId xmlns:p14="http://schemas.microsoft.com/office/powerpoint/2010/main" val="2474079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rot="16200000">
            <a:off x="-2508251" y="2901951"/>
            <a:ext cx="6705602" cy="1054100"/>
          </a:xfrm>
        </p:spPr>
        <p:txBody>
          <a:bodyPr/>
          <a:lstStyle/>
          <a:p>
            <a:r>
              <a:rPr lang="en-US" sz="4500" dirty="0" smtClean="0"/>
              <a:t>What will be the output?</a:t>
            </a:r>
            <a:endParaRPr lang="en-US" sz="4500" dirty="0"/>
          </a:p>
        </p:txBody>
      </p:sp>
      <p:sp>
        <p:nvSpPr>
          <p:cNvPr id="4" name="TextBox 3"/>
          <p:cNvSpPr txBox="1"/>
          <p:nvPr/>
        </p:nvSpPr>
        <p:spPr>
          <a:xfrm>
            <a:off x="7239000" y="3429000"/>
            <a:ext cx="1039067" cy="400110"/>
          </a:xfrm>
          <a:prstGeom prst="rect">
            <a:avLst/>
          </a:prstGeom>
          <a:noFill/>
        </p:spPr>
        <p:txBody>
          <a:bodyPr wrap="none" rtlCol="0">
            <a:spAutoFit/>
          </a:bodyPr>
          <a:lstStyle/>
          <a:p>
            <a:r>
              <a:rPr lang="en-US" sz="2000" b="1" dirty="0" smtClean="0"/>
              <a:t>Output</a:t>
            </a:r>
            <a:endParaRPr lang="en-US" sz="2000" b="1" dirty="0"/>
          </a:p>
        </p:txBody>
      </p:sp>
      <p:pic>
        <p:nvPicPr>
          <p:cNvPr id="205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4999" y="228599"/>
            <a:ext cx="4139953" cy="62505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4"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3800" y="3886200"/>
            <a:ext cx="476250" cy="25929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461485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54"/>
                                        </p:tgtEl>
                                        <p:attrNameLst>
                                          <p:attrName>style.visibility</p:attrName>
                                        </p:attrNameLst>
                                      </p:cBhvr>
                                      <p:to>
                                        <p:strVal val="visible"/>
                                      </p:to>
                                    </p:set>
                                    <p:animEffect transition="in" filter="fade">
                                      <p:cBhvr>
                                        <p:cTn id="12" dur="500"/>
                                        <p:tgtEl>
                                          <p:spTgt spid="20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8451" y="228599"/>
            <a:ext cx="6545949" cy="5195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itle 2"/>
          <p:cNvSpPr>
            <a:spLocks noGrp="1"/>
          </p:cNvSpPr>
          <p:nvPr>
            <p:ph type="title" idx="4294967295"/>
          </p:nvPr>
        </p:nvSpPr>
        <p:spPr>
          <a:xfrm rot="16200000">
            <a:off x="-2441906" y="2911805"/>
            <a:ext cx="6725311" cy="1054100"/>
          </a:xfrm>
        </p:spPr>
        <p:txBody>
          <a:bodyPr/>
          <a:lstStyle/>
          <a:p>
            <a:r>
              <a:rPr lang="en-US" sz="3200" dirty="0"/>
              <a:t>Write a </a:t>
            </a:r>
            <a:r>
              <a:rPr lang="en-US" sz="3200" dirty="0" smtClean="0"/>
              <a:t>C++ program to </a:t>
            </a:r>
            <a:r>
              <a:rPr lang="en-US" sz="3200" dirty="0"/>
              <a:t>find the first 10 natural </a:t>
            </a:r>
            <a:r>
              <a:rPr lang="en-US" sz="3200" dirty="0" smtClean="0"/>
              <a:t>numbers using while loop.</a:t>
            </a:r>
            <a:endParaRPr lang="en-US" sz="3200" dirty="0"/>
          </a:p>
        </p:txBody>
      </p:sp>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3601" y="3746779"/>
            <a:ext cx="3200400" cy="3082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09965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fade">
                                      <p:cBhvr>
                                        <p:cTn id="7" dur="500"/>
                                        <p:tgtEl>
                                          <p:spTgt spid="307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147"/>
                                        </p:tgtEl>
                                        <p:attrNameLst>
                                          <p:attrName>style.visibility</p:attrName>
                                        </p:attrNameLst>
                                      </p:cBhvr>
                                      <p:to>
                                        <p:strVal val="visible"/>
                                      </p:to>
                                    </p:set>
                                    <p:animEffect transition="in" filter="fade">
                                      <p:cBhvr>
                                        <p:cTn id="12" dur="500"/>
                                        <p:tgtEl>
                                          <p:spTgt spid="61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152399"/>
            <a:ext cx="6994684" cy="51793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itle 2"/>
          <p:cNvSpPr>
            <a:spLocks noGrp="1"/>
          </p:cNvSpPr>
          <p:nvPr>
            <p:ph type="title" idx="4294967295"/>
          </p:nvPr>
        </p:nvSpPr>
        <p:spPr>
          <a:xfrm rot="16200000">
            <a:off x="-2537679" y="2918680"/>
            <a:ext cx="6739060" cy="1054100"/>
          </a:xfrm>
        </p:spPr>
        <p:txBody>
          <a:bodyPr/>
          <a:lstStyle/>
          <a:p>
            <a:r>
              <a:rPr lang="en-US" sz="3200" dirty="0"/>
              <a:t>Write a </a:t>
            </a:r>
            <a:r>
              <a:rPr lang="en-US" sz="3200" dirty="0" smtClean="0"/>
              <a:t>C++ program </a:t>
            </a:r>
            <a:r>
              <a:rPr lang="en-US" sz="3200" dirty="0"/>
              <a:t>to find the sum of first 10 natural </a:t>
            </a:r>
            <a:r>
              <a:rPr lang="en-US" sz="3200" dirty="0" smtClean="0"/>
              <a:t>numbers using while loop.</a:t>
            </a:r>
            <a:endParaRPr lang="en-US" sz="3200" dirty="0"/>
          </a:p>
        </p:txBody>
      </p:sp>
      <p:sp>
        <p:nvSpPr>
          <p:cNvPr id="6" name="TextBox 5"/>
          <p:cNvSpPr txBox="1"/>
          <p:nvPr/>
        </p:nvSpPr>
        <p:spPr>
          <a:xfrm>
            <a:off x="6181671" y="5100935"/>
            <a:ext cx="1285929" cy="461665"/>
          </a:xfrm>
          <a:prstGeom prst="rect">
            <a:avLst/>
          </a:prstGeom>
          <a:noFill/>
        </p:spPr>
        <p:txBody>
          <a:bodyPr wrap="none" rtlCol="0">
            <a:spAutoFit/>
          </a:bodyPr>
          <a:lstStyle/>
          <a:p>
            <a:r>
              <a:rPr lang="en-US" sz="2400" b="1" dirty="0" smtClean="0"/>
              <a:t>Output:</a:t>
            </a:r>
            <a:endParaRPr lang="en-US" sz="2400" b="1" dirty="0"/>
          </a:p>
        </p:txBody>
      </p:sp>
      <p:pic>
        <p:nvPicPr>
          <p:cNvPr id="717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96639" y="5603731"/>
            <a:ext cx="5334434" cy="720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28953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171"/>
                                        </p:tgtEl>
                                        <p:attrNameLst>
                                          <p:attrName>style.visibility</p:attrName>
                                        </p:attrNameLst>
                                      </p:cBhvr>
                                      <p:to>
                                        <p:strVal val="visible"/>
                                      </p:to>
                                    </p:set>
                                    <p:animEffect transition="in" filter="fade">
                                      <p:cBhvr>
                                        <p:cTn id="12" dur="500"/>
                                        <p:tgtEl>
                                          <p:spTgt spid="7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609653"/>
          </a:xfrm>
        </p:spPr>
        <p:txBody>
          <a:bodyPr>
            <a:normAutofit lnSpcReduction="10000"/>
          </a:bodyPr>
          <a:lstStyle/>
          <a:p>
            <a:pPr algn="just"/>
            <a:r>
              <a:rPr lang="en-US" dirty="0"/>
              <a:t>If a loop does not have a way of stopping, it is called an infinite loop. An infinite loop continues to repeat until the program is </a:t>
            </a:r>
            <a:r>
              <a:rPr lang="en-US" dirty="0" smtClean="0"/>
              <a:t>interrupted.</a:t>
            </a:r>
          </a:p>
          <a:p>
            <a:pPr algn="just"/>
            <a:endParaRPr lang="en-US" dirty="0"/>
          </a:p>
          <a:p>
            <a:pPr algn="just"/>
            <a:endParaRPr lang="en-US" dirty="0" smtClean="0"/>
          </a:p>
          <a:p>
            <a:pPr algn="just"/>
            <a:endParaRPr lang="en-US" dirty="0"/>
          </a:p>
          <a:p>
            <a:pPr algn="just"/>
            <a:endParaRPr lang="en-US" dirty="0" smtClean="0"/>
          </a:p>
          <a:p>
            <a:pPr algn="just"/>
            <a:endParaRPr lang="en-US" dirty="0" smtClean="0"/>
          </a:p>
          <a:p>
            <a:pPr algn="just"/>
            <a:r>
              <a:rPr lang="en-US" dirty="0" smtClean="0"/>
              <a:t>This </a:t>
            </a:r>
            <a:r>
              <a:rPr lang="en-US" dirty="0"/>
              <a:t>is an infinite loop because it does not contain a statement that changes the value of the number variable. Each time the expression number &lt; 5 is tested, number will contain the value 0. </a:t>
            </a:r>
          </a:p>
        </p:txBody>
      </p:sp>
      <p:sp>
        <p:nvSpPr>
          <p:cNvPr id="3" name="Title 2"/>
          <p:cNvSpPr>
            <a:spLocks noGrp="1"/>
          </p:cNvSpPr>
          <p:nvPr>
            <p:ph type="title"/>
          </p:nvPr>
        </p:nvSpPr>
        <p:spPr/>
        <p:txBody>
          <a:bodyPr/>
          <a:lstStyle/>
          <a:p>
            <a:r>
              <a:rPr lang="en-US" dirty="0"/>
              <a:t>Infinite Loops </a:t>
            </a:r>
          </a:p>
        </p:txBody>
      </p:sp>
      <p:pic>
        <p:nvPicPr>
          <p:cNvPr id="717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6526" y="3429000"/>
            <a:ext cx="3495674" cy="1747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8792471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609653"/>
          </a:xfrm>
        </p:spPr>
        <p:txBody>
          <a:bodyPr>
            <a:normAutofit/>
          </a:bodyPr>
          <a:lstStyle/>
          <a:p>
            <a:pPr algn="just"/>
            <a:r>
              <a:rPr lang="en-US" dirty="0"/>
              <a:t>It’s also possible to create an infinite loop by accidentally placing a semicolon after the first line of the while loop.</a:t>
            </a:r>
          </a:p>
          <a:p>
            <a:pPr algn="just"/>
            <a:endParaRPr lang="en-US" dirty="0" smtClean="0"/>
          </a:p>
          <a:p>
            <a:pPr algn="just"/>
            <a:endParaRPr lang="en-US" dirty="0"/>
          </a:p>
          <a:p>
            <a:pPr algn="just"/>
            <a:endParaRPr lang="en-US" dirty="0" smtClean="0"/>
          </a:p>
          <a:p>
            <a:pPr marL="0" indent="0" algn="just">
              <a:buNone/>
            </a:pPr>
            <a:endParaRPr lang="en-US" dirty="0" smtClean="0"/>
          </a:p>
        </p:txBody>
      </p:sp>
      <p:sp>
        <p:nvSpPr>
          <p:cNvPr id="3" name="Title 2"/>
          <p:cNvSpPr>
            <a:spLocks noGrp="1"/>
          </p:cNvSpPr>
          <p:nvPr>
            <p:ph type="title"/>
          </p:nvPr>
        </p:nvSpPr>
        <p:spPr/>
        <p:txBody>
          <a:bodyPr/>
          <a:lstStyle/>
          <a:p>
            <a:r>
              <a:rPr lang="en-US" dirty="0"/>
              <a:t>Infinite Loops </a:t>
            </a: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7974" y="3619500"/>
            <a:ext cx="6779226" cy="2171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9131100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609653"/>
          </a:xfrm>
        </p:spPr>
        <p:txBody>
          <a:bodyPr>
            <a:normAutofit/>
          </a:bodyPr>
          <a:lstStyle/>
          <a:p>
            <a:pPr algn="just"/>
            <a:r>
              <a:rPr lang="en-US" dirty="0"/>
              <a:t>The semicolon at the end of the first line is assumed to be a null statement and disconnects the while statement from the block that comes after it. To the compiler, this loop looks like:</a:t>
            </a:r>
            <a:endParaRPr lang="en-US" dirty="0" smtClean="0"/>
          </a:p>
          <a:p>
            <a:pPr algn="just"/>
            <a:endParaRPr lang="en-US" dirty="0"/>
          </a:p>
          <a:p>
            <a:pPr marL="0" indent="0" algn="just">
              <a:buNone/>
            </a:pPr>
            <a:endParaRPr lang="en-US" dirty="0" smtClean="0"/>
          </a:p>
          <a:p>
            <a:pPr algn="just"/>
            <a:r>
              <a:rPr lang="en-US" dirty="0"/>
              <a:t>This while loop will forever execute the null statement, which does nothing. The program will appear to have “gone into space” because there is nothing to display screen output or show activity. </a:t>
            </a:r>
          </a:p>
        </p:txBody>
      </p:sp>
      <p:sp>
        <p:nvSpPr>
          <p:cNvPr id="3" name="Title 2"/>
          <p:cNvSpPr>
            <a:spLocks noGrp="1"/>
          </p:cNvSpPr>
          <p:nvPr>
            <p:ph type="title"/>
          </p:nvPr>
        </p:nvSpPr>
        <p:spPr/>
        <p:txBody>
          <a:bodyPr/>
          <a:lstStyle/>
          <a:p>
            <a:r>
              <a:rPr lang="en-US" dirty="0"/>
              <a:t>Infinite Loops </a:t>
            </a: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0" y="4035251"/>
            <a:ext cx="3352800" cy="4605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409367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699247" y="2248347"/>
            <a:ext cx="7745505" cy="4609653"/>
          </a:xfrm>
        </p:spPr>
        <p:txBody>
          <a:bodyPr>
            <a:normAutofit/>
          </a:bodyPr>
          <a:lstStyle/>
          <a:p>
            <a:pPr algn="just"/>
            <a:r>
              <a:rPr lang="en-US" dirty="0"/>
              <a:t>Another common pitfall with loops is accidentally using the = operator when you intend to use the == operator</a:t>
            </a:r>
            <a:r>
              <a:rPr lang="en-US" dirty="0" smtClean="0"/>
              <a:t>.</a:t>
            </a:r>
          </a:p>
          <a:p>
            <a:pPr algn="just"/>
            <a:endParaRPr lang="en-US" dirty="0"/>
          </a:p>
          <a:p>
            <a:pPr algn="just"/>
            <a:endParaRPr lang="en-US" dirty="0" smtClean="0"/>
          </a:p>
          <a:p>
            <a:pPr algn="just"/>
            <a:endParaRPr lang="en-US" dirty="0"/>
          </a:p>
          <a:p>
            <a:pPr algn="just"/>
            <a:endParaRPr lang="en-US" dirty="0" smtClean="0"/>
          </a:p>
          <a:p>
            <a:pPr algn="just"/>
            <a:endParaRPr lang="en-US" dirty="0"/>
          </a:p>
          <a:p>
            <a:pPr algn="just"/>
            <a:r>
              <a:rPr lang="en-US" dirty="0" smtClean="0"/>
              <a:t>It is </a:t>
            </a:r>
            <a:r>
              <a:rPr lang="en-US" dirty="0"/>
              <a:t>an infinite loop because the test expression assigns 1 to remainder each time it is evaluated instead of testing whether remainder is equal to 1.  </a:t>
            </a:r>
            <a:endParaRPr lang="en-US" dirty="0" smtClean="0"/>
          </a:p>
          <a:p>
            <a:pPr algn="just"/>
            <a:endParaRPr lang="en-US" dirty="0"/>
          </a:p>
          <a:p>
            <a:pPr algn="just"/>
            <a:endParaRPr lang="en-US" dirty="0" smtClean="0"/>
          </a:p>
          <a:p>
            <a:pPr algn="just"/>
            <a:endParaRPr lang="en-US" dirty="0"/>
          </a:p>
          <a:p>
            <a:pPr algn="just"/>
            <a:endParaRPr lang="en-US" dirty="0" smtClean="0"/>
          </a:p>
          <a:p>
            <a:pPr algn="just"/>
            <a:endParaRPr lang="en-US" dirty="0"/>
          </a:p>
          <a:p>
            <a:pPr algn="just"/>
            <a:endParaRPr lang="en-US" dirty="0"/>
          </a:p>
        </p:txBody>
      </p:sp>
      <p:sp>
        <p:nvSpPr>
          <p:cNvPr id="3" name="Title 2"/>
          <p:cNvSpPr>
            <a:spLocks noGrp="1"/>
          </p:cNvSpPr>
          <p:nvPr>
            <p:ph type="title"/>
          </p:nvPr>
        </p:nvSpPr>
        <p:spPr/>
        <p:txBody>
          <a:bodyPr/>
          <a:lstStyle/>
          <a:p>
            <a:r>
              <a:rPr lang="en-US" dirty="0"/>
              <a:t>Infinite Loops </a:t>
            </a:r>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3200400"/>
            <a:ext cx="4495800" cy="23103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2044030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Identify the Problem</a:t>
            </a:r>
            <a:endParaRPr lang="en-US" dirty="0"/>
          </a:p>
        </p:txBody>
      </p:sp>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2514600"/>
            <a:ext cx="4107151" cy="283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2771087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dirty="0"/>
              <a:t>As a rule the while must test a condition that will eventually become false, otherwise the loop would be executed forever, </a:t>
            </a:r>
            <a:r>
              <a:rPr lang="en-US" dirty="0" smtClean="0"/>
              <a:t>indefinitely.</a:t>
            </a:r>
          </a:p>
          <a:p>
            <a:endParaRPr lang="en-US" dirty="0" smtClean="0"/>
          </a:p>
          <a:p>
            <a:r>
              <a:rPr lang="en-US" dirty="0" smtClean="0"/>
              <a:t>Instead </a:t>
            </a:r>
            <a:r>
              <a:rPr lang="en-US" dirty="0"/>
              <a:t>of incrementing, we can decrement the counter as </a:t>
            </a:r>
            <a:r>
              <a:rPr lang="en-US" dirty="0" smtClean="0"/>
              <a:t>well.</a:t>
            </a:r>
          </a:p>
          <a:p>
            <a:endParaRPr lang="en-US" dirty="0" smtClean="0"/>
          </a:p>
          <a:p>
            <a:r>
              <a:rPr lang="en-US" dirty="0" smtClean="0"/>
              <a:t>It </a:t>
            </a:r>
            <a:r>
              <a:rPr lang="en-US" dirty="0"/>
              <a:t>is not necessary that a loop counter must only be an </a:t>
            </a:r>
            <a:r>
              <a:rPr lang="en-US" dirty="0" err="1" smtClean="0"/>
              <a:t>int</a:t>
            </a:r>
            <a:r>
              <a:rPr lang="en-US" dirty="0" smtClean="0"/>
              <a:t>, </a:t>
            </a:r>
            <a:r>
              <a:rPr lang="en-US" dirty="0"/>
              <a:t>it can be even float.</a:t>
            </a:r>
          </a:p>
          <a:p>
            <a:endParaRPr lang="en-US" dirty="0"/>
          </a:p>
        </p:txBody>
      </p:sp>
      <p:sp>
        <p:nvSpPr>
          <p:cNvPr id="3" name="Title 2"/>
          <p:cNvSpPr>
            <a:spLocks noGrp="1"/>
          </p:cNvSpPr>
          <p:nvPr>
            <p:ph type="title"/>
          </p:nvPr>
        </p:nvSpPr>
        <p:spPr/>
        <p:txBody>
          <a:bodyPr/>
          <a:lstStyle/>
          <a:p>
            <a:r>
              <a:rPr lang="en-US" dirty="0"/>
              <a:t>w</a:t>
            </a:r>
            <a:r>
              <a:rPr lang="en-US" dirty="0" smtClean="0"/>
              <a:t>hile Loop</a:t>
            </a:r>
            <a:endParaRPr lang="en-US" dirty="0"/>
          </a:p>
        </p:txBody>
      </p:sp>
    </p:spTree>
    <p:extLst>
      <p:ext uri="{BB962C8B-B14F-4D97-AF65-F5344CB8AC3E}">
        <p14:creationId xmlns:p14="http://schemas.microsoft.com/office/powerpoint/2010/main" val="295879824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r>
              <a:rPr lang="en-US" dirty="0"/>
              <a:t>If you write a loop that conditionally executes a block of statements, don’t forget to enclose all of the statements in a set of braces. If the braces are accidentally left out, the while statement conditionally executes only the very next statement.</a:t>
            </a:r>
          </a:p>
        </p:txBody>
      </p:sp>
      <p:sp>
        <p:nvSpPr>
          <p:cNvPr id="3" name="Title 2"/>
          <p:cNvSpPr>
            <a:spLocks noGrp="1"/>
          </p:cNvSpPr>
          <p:nvPr>
            <p:ph type="title"/>
          </p:nvPr>
        </p:nvSpPr>
        <p:spPr>
          <a:xfrm>
            <a:off x="152400" y="457200"/>
            <a:ext cx="8763000" cy="1054250"/>
          </a:xfrm>
        </p:spPr>
        <p:txBody>
          <a:bodyPr/>
          <a:lstStyle/>
          <a:p>
            <a:r>
              <a:rPr lang="en-US" sz="4800" dirty="0"/>
              <a:t>Don’t Forget the Braces with a Block of Statements</a:t>
            </a:r>
          </a:p>
        </p:txBody>
      </p:sp>
      <p:pic>
        <p:nvPicPr>
          <p:cNvPr id="1024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4343400"/>
            <a:ext cx="5105400" cy="1801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3429132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r>
              <a:rPr lang="en-US" dirty="0"/>
              <a:t>In this code the number++ statement is not in the body of the loop. Because the braces are missing, the while statement only executes the statement that immediately follows it. </a:t>
            </a:r>
            <a:r>
              <a:rPr lang="en-US" dirty="0" smtClean="0"/>
              <a:t>This </a:t>
            </a:r>
            <a:r>
              <a:rPr lang="en-US" dirty="0"/>
              <a:t>loop will execute infinitely because there is no code in its body that changes the number variable. </a:t>
            </a:r>
          </a:p>
        </p:txBody>
      </p:sp>
      <p:sp>
        <p:nvSpPr>
          <p:cNvPr id="3" name="Title 2"/>
          <p:cNvSpPr>
            <a:spLocks noGrp="1"/>
          </p:cNvSpPr>
          <p:nvPr>
            <p:ph type="title"/>
          </p:nvPr>
        </p:nvSpPr>
        <p:spPr>
          <a:xfrm>
            <a:off x="152400" y="457200"/>
            <a:ext cx="8763000" cy="1054250"/>
          </a:xfrm>
        </p:spPr>
        <p:txBody>
          <a:bodyPr/>
          <a:lstStyle/>
          <a:p>
            <a:r>
              <a:rPr lang="en-US" sz="4800" dirty="0"/>
              <a:t>Don’t Forget the Braces with a Block of Statements</a:t>
            </a:r>
          </a:p>
        </p:txBody>
      </p:sp>
    </p:spTree>
    <p:extLst>
      <p:ext uri="{BB962C8B-B14F-4D97-AF65-F5344CB8AC3E}">
        <p14:creationId xmlns:p14="http://schemas.microsoft.com/office/powerpoint/2010/main" val="405814403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r>
              <a:rPr lang="en-US" dirty="0"/>
              <a:t>It’s possible to create loops that look like this</a:t>
            </a:r>
            <a:r>
              <a:rPr lang="en-US" dirty="0" smtClean="0"/>
              <a:t>:</a:t>
            </a:r>
          </a:p>
          <a:p>
            <a:pPr algn="just"/>
            <a:endParaRPr lang="en-US" dirty="0"/>
          </a:p>
          <a:p>
            <a:pPr algn="just"/>
            <a:endParaRPr lang="en-US" dirty="0" smtClean="0"/>
          </a:p>
          <a:p>
            <a:pPr algn="just"/>
            <a:r>
              <a:rPr lang="en-US" dirty="0"/>
              <a:t>Avoid this style of programming. </a:t>
            </a:r>
          </a:p>
        </p:txBody>
      </p:sp>
      <p:sp>
        <p:nvSpPr>
          <p:cNvPr id="3" name="Title 2"/>
          <p:cNvSpPr>
            <a:spLocks noGrp="1"/>
          </p:cNvSpPr>
          <p:nvPr>
            <p:ph type="title"/>
          </p:nvPr>
        </p:nvSpPr>
        <p:spPr>
          <a:xfrm>
            <a:off x="152400" y="457200"/>
            <a:ext cx="8763000" cy="1054250"/>
          </a:xfrm>
        </p:spPr>
        <p:txBody>
          <a:bodyPr/>
          <a:lstStyle/>
          <a:p>
            <a:r>
              <a:rPr lang="en-US" sz="4800" dirty="0"/>
              <a:t>Programming Style and the while Loop</a:t>
            </a:r>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9932" y="2909888"/>
            <a:ext cx="7605868" cy="442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5475556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pPr algn="just"/>
            <a:r>
              <a:rPr lang="en-US" dirty="0"/>
              <a:t>The while loop can be used to create input routines that repeat until acceptable data is entered. </a:t>
            </a:r>
            <a:endParaRPr lang="en-US" dirty="0" smtClean="0"/>
          </a:p>
          <a:p>
            <a:pPr algn="just"/>
            <a:endParaRPr lang="en-US" dirty="0"/>
          </a:p>
          <a:p>
            <a:pPr algn="just"/>
            <a:r>
              <a:rPr lang="en-US" b="1" dirty="0"/>
              <a:t>Input validation </a:t>
            </a:r>
            <a:r>
              <a:rPr lang="en-US" dirty="0"/>
              <a:t>is the process of inspecting data given to a program by the user and determining if it is valid. </a:t>
            </a:r>
            <a:endParaRPr lang="en-US" dirty="0" smtClean="0"/>
          </a:p>
          <a:p>
            <a:pPr algn="just"/>
            <a:endParaRPr lang="en-US" dirty="0"/>
          </a:p>
          <a:p>
            <a:pPr algn="just"/>
            <a:r>
              <a:rPr lang="en-US" dirty="0" smtClean="0"/>
              <a:t>A </a:t>
            </a:r>
            <a:r>
              <a:rPr lang="en-US" dirty="0"/>
              <a:t>good program should give clear instructions about the kind of input that is acceptable and not assume the user has followed those instructions. </a:t>
            </a:r>
          </a:p>
        </p:txBody>
      </p:sp>
      <p:sp>
        <p:nvSpPr>
          <p:cNvPr id="3" name="Title 2"/>
          <p:cNvSpPr>
            <a:spLocks noGrp="1"/>
          </p:cNvSpPr>
          <p:nvPr>
            <p:ph type="title"/>
          </p:nvPr>
        </p:nvSpPr>
        <p:spPr>
          <a:xfrm>
            <a:off x="152400" y="457200"/>
            <a:ext cx="8763000" cy="1054250"/>
          </a:xfrm>
        </p:spPr>
        <p:txBody>
          <a:bodyPr/>
          <a:lstStyle/>
          <a:p>
            <a:r>
              <a:rPr lang="en-US" sz="4800" dirty="0" smtClean="0"/>
              <a:t>Using the while Loop for Input Validation</a:t>
            </a:r>
            <a:endParaRPr lang="en-US" sz="4800" dirty="0"/>
          </a:p>
        </p:txBody>
      </p:sp>
    </p:spTree>
    <p:extLst>
      <p:ext uri="{BB962C8B-B14F-4D97-AF65-F5344CB8AC3E}">
        <p14:creationId xmlns:p14="http://schemas.microsoft.com/office/powerpoint/2010/main" val="349822138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lgn="just"/>
            <a:r>
              <a:rPr lang="en-US" dirty="0"/>
              <a:t>The while loop is especially useful for validating input. If an invalid value is entered, a loop can require that the user reenter it as many times as necessary. </a:t>
            </a:r>
          </a:p>
        </p:txBody>
      </p:sp>
      <p:sp>
        <p:nvSpPr>
          <p:cNvPr id="3" name="Title 2"/>
          <p:cNvSpPr>
            <a:spLocks noGrp="1"/>
          </p:cNvSpPr>
          <p:nvPr>
            <p:ph type="title"/>
          </p:nvPr>
        </p:nvSpPr>
        <p:spPr>
          <a:xfrm>
            <a:off x="152400" y="457200"/>
            <a:ext cx="8763000" cy="1054250"/>
          </a:xfrm>
        </p:spPr>
        <p:txBody>
          <a:bodyPr/>
          <a:lstStyle/>
          <a:p>
            <a:r>
              <a:rPr lang="en-US" sz="4800" dirty="0" smtClean="0"/>
              <a:t>Using the while Loop for Input Validation</a:t>
            </a:r>
            <a:endParaRPr lang="en-US" sz="4800" dirty="0"/>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3886200"/>
            <a:ext cx="6706721" cy="266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5269378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lgn="just"/>
            <a:r>
              <a:rPr lang="en-US" dirty="0"/>
              <a:t>The read operation that takes place just before the loop is called a </a:t>
            </a:r>
            <a:r>
              <a:rPr lang="en-US" b="1" dirty="0" smtClean="0"/>
              <a:t>priming read</a:t>
            </a:r>
            <a:r>
              <a:rPr lang="en-US" dirty="0" smtClean="0"/>
              <a:t>. </a:t>
            </a:r>
            <a:r>
              <a:rPr lang="en-US" dirty="0"/>
              <a:t>It provides the first value for the loop to test. Subsequent values are obtained by the loop. </a:t>
            </a:r>
          </a:p>
        </p:txBody>
      </p:sp>
      <p:sp>
        <p:nvSpPr>
          <p:cNvPr id="3" name="Title 2"/>
          <p:cNvSpPr>
            <a:spLocks noGrp="1"/>
          </p:cNvSpPr>
          <p:nvPr>
            <p:ph type="title"/>
          </p:nvPr>
        </p:nvSpPr>
        <p:spPr>
          <a:xfrm>
            <a:off x="152400" y="457200"/>
            <a:ext cx="8763000" cy="1054250"/>
          </a:xfrm>
        </p:spPr>
        <p:txBody>
          <a:bodyPr/>
          <a:lstStyle/>
          <a:p>
            <a:r>
              <a:rPr lang="en-US" sz="4800" dirty="0" smtClean="0"/>
              <a:t>Using the while Loop for Input Validation</a:t>
            </a:r>
            <a:endParaRPr lang="en-US" sz="4800" dirty="0"/>
          </a:p>
        </p:txBody>
      </p:sp>
    </p:spTree>
    <p:extLst>
      <p:ext uri="{BB962C8B-B14F-4D97-AF65-F5344CB8AC3E}">
        <p14:creationId xmlns:p14="http://schemas.microsoft.com/office/powerpoint/2010/main" val="396242808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a:bodyPr>
          <a:lstStyle/>
          <a:p>
            <a:pPr algn="just"/>
            <a:r>
              <a:rPr lang="en-US" dirty="0"/>
              <a:t>A counter is a variable that is regularly incremented or decremented each time a loop iterates</a:t>
            </a:r>
            <a:r>
              <a:rPr lang="en-US" dirty="0" smtClean="0"/>
              <a:t>.</a:t>
            </a:r>
          </a:p>
          <a:p>
            <a:pPr algn="just"/>
            <a:endParaRPr lang="en-US" dirty="0"/>
          </a:p>
        </p:txBody>
      </p:sp>
      <p:sp>
        <p:nvSpPr>
          <p:cNvPr id="3" name="Title 2"/>
          <p:cNvSpPr>
            <a:spLocks noGrp="1"/>
          </p:cNvSpPr>
          <p:nvPr>
            <p:ph type="title"/>
          </p:nvPr>
        </p:nvSpPr>
        <p:spPr>
          <a:xfrm>
            <a:off x="152400" y="457200"/>
            <a:ext cx="8763000" cy="1054250"/>
          </a:xfrm>
        </p:spPr>
        <p:txBody>
          <a:bodyPr/>
          <a:lstStyle/>
          <a:p>
            <a:r>
              <a:rPr lang="en-US" sz="4800" dirty="0" smtClean="0"/>
              <a:t>Counters</a:t>
            </a:r>
            <a:endParaRPr lang="en-US" sz="4800" dirty="0"/>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46842" y="3124200"/>
            <a:ext cx="5020958" cy="3705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228600" y="3277772"/>
            <a:ext cx="3657600" cy="2246769"/>
          </a:xfrm>
          <a:prstGeom prst="rect">
            <a:avLst/>
          </a:prstGeom>
        </p:spPr>
        <p:txBody>
          <a:bodyPr wrap="square">
            <a:spAutoFit/>
          </a:bodyPr>
          <a:lstStyle/>
          <a:p>
            <a:pPr algn="just"/>
            <a:r>
              <a:rPr lang="en-US" sz="2000" b="1" dirty="0" err="1"/>
              <a:t>num</a:t>
            </a:r>
            <a:r>
              <a:rPr lang="en-US" sz="2000" dirty="0"/>
              <a:t> is used as a </a:t>
            </a:r>
            <a:r>
              <a:rPr lang="en-US" sz="2000" b="1" dirty="0"/>
              <a:t>counter variable</a:t>
            </a:r>
            <a:r>
              <a:rPr lang="en-US" sz="2000" dirty="0"/>
              <a:t>, which means it is regularly incremented in each iteration of the loop. </a:t>
            </a:r>
          </a:p>
          <a:p>
            <a:pPr algn="just"/>
            <a:r>
              <a:rPr lang="en-US" sz="2000" dirty="0" smtClean="0"/>
              <a:t>In </a:t>
            </a:r>
            <a:r>
              <a:rPr lang="en-US" sz="2000" dirty="0"/>
              <a:t>essence, </a:t>
            </a:r>
            <a:r>
              <a:rPr lang="en-US" sz="2000" b="1" dirty="0" err="1"/>
              <a:t>num</a:t>
            </a:r>
            <a:r>
              <a:rPr lang="en-US" sz="2000" dirty="0"/>
              <a:t> keeps count of the number of iterations the loop has performed. </a:t>
            </a:r>
          </a:p>
        </p:txBody>
      </p:sp>
    </p:spTree>
    <p:extLst>
      <p:ext uri="{BB962C8B-B14F-4D97-AF65-F5344CB8AC3E}">
        <p14:creationId xmlns:p14="http://schemas.microsoft.com/office/powerpoint/2010/main" val="1286573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r>
              <a:rPr lang="en-US" dirty="0"/>
              <a:t>Another common technique for controlling a loop is to designate a special value when reading and processing a set of values. </a:t>
            </a:r>
            <a:endParaRPr lang="en-US" dirty="0" smtClean="0"/>
          </a:p>
          <a:p>
            <a:pPr algn="just"/>
            <a:r>
              <a:rPr lang="en-US" dirty="0" smtClean="0"/>
              <a:t>This </a:t>
            </a:r>
            <a:r>
              <a:rPr lang="en-US" dirty="0"/>
              <a:t>special input value, known as a sentinel value, signifies the end of the input. </a:t>
            </a:r>
            <a:endParaRPr lang="en-US" dirty="0" smtClean="0"/>
          </a:p>
          <a:p>
            <a:pPr algn="just"/>
            <a:r>
              <a:rPr lang="en-US" dirty="0" smtClean="0"/>
              <a:t>A </a:t>
            </a:r>
            <a:r>
              <a:rPr lang="en-US" dirty="0"/>
              <a:t>loop that uses a sentinel value to control its execution is called a </a:t>
            </a:r>
            <a:r>
              <a:rPr lang="en-US" b="1" dirty="0"/>
              <a:t>sentinel-controlled loop</a:t>
            </a:r>
            <a:r>
              <a:rPr lang="en-US" dirty="0"/>
              <a:t>. </a:t>
            </a:r>
            <a:endParaRPr lang="en-US" dirty="0" smtClean="0"/>
          </a:p>
          <a:p>
            <a:pPr algn="just"/>
            <a:r>
              <a:rPr lang="en-US" dirty="0"/>
              <a:t>When the user enters the sentinel, the loop terminates. </a:t>
            </a:r>
          </a:p>
        </p:txBody>
      </p:sp>
      <p:sp>
        <p:nvSpPr>
          <p:cNvPr id="3" name="Title 2"/>
          <p:cNvSpPr>
            <a:spLocks noGrp="1"/>
          </p:cNvSpPr>
          <p:nvPr>
            <p:ph type="title"/>
          </p:nvPr>
        </p:nvSpPr>
        <p:spPr>
          <a:xfrm>
            <a:off x="688490" y="457200"/>
            <a:ext cx="7756263" cy="1054250"/>
          </a:xfrm>
        </p:spPr>
        <p:txBody>
          <a:bodyPr/>
          <a:lstStyle/>
          <a:p>
            <a:r>
              <a:rPr lang="en-US" dirty="0"/>
              <a:t>Controlling a Loop with a Sentinel Value</a:t>
            </a:r>
          </a:p>
        </p:txBody>
      </p:sp>
    </p:spTree>
    <p:extLst>
      <p:ext uri="{BB962C8B-B14F-4D97-AF65-F5344CB8AC3E}">
        <p14:creationId xmlns:p14="http://schemas.microsoft.com/office/powerpoint/2010/main" val="302844173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rot="16200000">
            <a:off x="-2762386" y="2889113"/>
            <a:ext cx="6731273" cy="1054100"/>
          </a:xfrm>
        </p:spPr>
        <p:txBody>
          <a:bodyPr/>
          <a:lstStyle/>
          <a:p>
            <a:r>
              <a:rPr lang="en-US" sz="4400" dirty="0"/>
              <a:t>Controlling a Loop with a Sentinel Value</a:t>
            </a: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238022"/>
            <a:ext cx="4599097" cy="63151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86550" y="3631930"/>
            <a:ext cx="2305050" cy="2768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67291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147"/>
                                        </p:tgtEl>
                                        <p:attrNameLst>
                                          <p:attrName>style.visibility</p:attrName>
                                        </p:attrNameLst>
                                      </p:cBhvr>
                                      <p:to>
                                        <p:strVal val="visible"/>
                                      </p:to>
                                    </p:set>
                                    <p:animEffect transition="in" filter="fade">
                                      <p:cBhvr>
                                        <p:cTn id="7" dur="500"/>
                                        <p:tgtEl>
                                          <p:spTgt spid="61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r>
              <a:rPr lang="en-US" b="1" dirty="0" smtClean="0"/>
              <a:t>Example:</a:t>
            </a:r>
          </a:p>
          <a:p>
            <a:pPr indent="0" algn="just">
              <a:buNone/>
            </a:pPr>
            <a:r>
              <a:rPr lang="en-US" dirty="0" smtClean="0"/>
              <a:t>Create a program </a:t>
            </a:r>
            <a:r>
              <a:rPr lang="en-US" dirty="0"/>
              <a:t>for a small coffee shop that allows customers to enter the number of cups of coffee they want to order. The program should continue to accept orders until the user enters a sentinel value of 0, which indicates that they are done ordering. After the user finishes entering their orders, the program should display the total number of cups ordered.</a:t>
            </a:r>
          </a:p>
        </p:txBody>
      </p:sp>
      <p:sp>
        <p:nvSpPr>
          <p:cNvPr id="3" name="Title 2"/>
          <p:cNvSpPr>
            <a:spLocks noGrp="1"/>
          </p:cNvSpPr>
          <p:nvPr>
            <p:ph type="title"/>
          </p:nvPr>
        </p:nvSpPr>
        <p:spPr>
          <a:xfrm>
            <a:off x="688490" y="457200"/>
            <a:ext cx="7756263" cy="1054250"/>
          </a:xfrm>
        </p:spPr>
        <p:txBody>
          <a:bodyPr/>
          <a:lstStyle/>
          <a:p>
            <a:r>
              <a:rPr lang="en-US" dirty="0"/>
              <a:t>Controlling a Loop with a Sentinel Value</a:t>
            </a:r>
          </a:p>
        </p:txBody>
      </p:sp>
    </p:spTree>
    <p:extLst>
      <p:ext uri="{BB962C8B-B14F-4D97-AF65-F5344CB8AC3E}">
        <p14:creationId xmlns:p14="http://schemas.microsoft.com/office/powerpoint/2010/main" val="130411818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idx="4294967295"/>
          </p:nvPr>
        </p:nvSpPr>
        <p:spPr>
          <a:xfrm rot="16200000">
            <a:off x="-2762386" y="2889113"/>
            <a:ext cx="6731273" cy="1054100"/>
          </a:xfrm>
        </p:spPr>
        <p:txBody>
          <a:bodyPr/>
          <a:lstStyle/>
          <a:p>
            <a:r>
              <a:rPr lang="en-US" sz="4400" dirty="0"/>
              <a:t>Controlling a Loop with a Sentinel Value</a:t>
            </a:r>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76200"/>
            <a:ext cx="7409798" cy="55543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6536" y="5486400"/>
            <a:ext cx="7058025" cy="1304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58739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lgn="just"/>
            <a:r>
              <a:rPr lang="en-US" dirty="0"/>
              <a:t>Convert the following while loop to a for loop:</a:t>
            </a:r>
          </a:p>
        </p:txBody>
      </p:sp>
      <p:sp>
        <p:nvSpPr>
          <p:cNvPr id="3" name="Title 2"/>
          <p:cNvSpPr>
            <a:spLocks noGrp="1"/>
          </p:cNvSpPr>
          <p:nvPr>
            <p:ph type="title"/>
          </p:nvPr>
        </p:nvSpPr>
        <p:spPr>
          <a:xfrm>
            <a:off x="688490" y="457200"/>
            <a:ext cx="7756263" cy="1054250"/>
          </a:xfrm>
        </p:spPr>
        <p:txBody>
          <a:bodyPr/>
          <a:lstStyle/>
          <a:p>
            <a:r>
              <a:rPr lang="en-US" dirty="0" smtClean="0"/>
              <a:t>Class Activity</a:t>
            </a: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2819400"/>
            <a:ext cx="5289335" cy="2076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58785" y="5257800"/>
            <a:ext cx="6132815" cy="144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40752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Hardcover">
  <a:themeElements>
    <a:clrScheme name="Hardcover">
      <a:dk1>
        <a:sysClr val="windowText" lastClr="000000"/>
      </a:dk1>
      <a:lt1>
        <a:sysClr val="window" lastClr="FFFFFF"/>
      </a:lt1>
      <a:dk2>
        <a:srgbClr val="895D1D"/>
      </a:dk2>
      <a:lt2>
        <a:srgbClr val="ECE9C6"/>
      </a:lt2>
      <a:accent1>
        <a:srgbClr val="873624"/>
      </a:accent1>
      <a:accent2>
        <a:srgbClr val="D6862D"/>
      </a:accent2>
      <a:accent3>
        <a:srgbClr val="D0BE40"/>
      </a:accent3>
      <a:accent4>
        <a:srgbClr val="877F6C"/>
      </a:accent4>
      <a:accent5>
        <a:srgbClr val="972109"/>
      </a:accent5>
      <a:accent6>
        <a:srgbClr val="AEB795"/>
      </a:accent6>
      <a:hlink>
        <a:srgbClr val="CC9900"/>
      </a:hlink>
      <a:folHlink>
        <a:srgbClr val="B2B2B2"/>
      </a:folHlink>
    </a:clrScheme>
    <a:fontScheme name="Hardcover">
      <a:majorFont>
        <a:latin typeface="Book Antiqua"/>
        <a:ea typeface=""/>
        <a:cs typeface=""/>
        <a:font script="Grek" typeface="Times New Roman"/>
        <a:font script="Cyrl" typeface="Times New Roman"/>
        <a:font script="Jpan" typeface="HGS明朝E"/>
        <a:font script="Hang" typeface="궁서"/>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Book Antiqua"/>
        <a:ea typeface=""/>
        <a:cs typeface=""/>
        <a:font script="Grek" typeface="Times New Roman"/>
        <a:font script="Cyrl" typeface="Times New Roman"/>
        <a:font script="Jpan" typeface="HGS明朝E"/>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Hardcover">
      <a:fillStyleLst>
        <a:solidFill>
          <a:schemeClr val="phClr"/>
        </a:solidFill>
        <a:solidFill>
          <a:schemeClr val="phClr">
            <a:tint val="68000"/>
            <a:shade val="94000"/>
            <a:satMod val="300000"/>
            <a:lumMod val="110000"/>
          </a:schemeClr>
        </a:solidFill>
        <a:gradFill rotWithShape="1">
          <a:gsLst>
            <a:gs pos="0">
              <a:schemeClr val="phClr">
                <a:tint val="94000"/>
                <a:satMod val="180000"/>
                <a:lumMod val="98000"/>
              </a:schemeClr>
            </a:gs>
            <a:gs pos="100000">
              <a:schemeClr val="phClr">
                <a:satMod val="130000"/>
              </a:schemeClr>
            </a:gs>
          </a:gsLst>
          <a:lin ang="5160000" scaled="0"/>
        </a:gradFill>
      </a:fillStyleLst>
      <a:lnStyleLst>
        <a:ln w="12700" cap="flat" cmpd="sng" algn="ctr">
          <a:solidFill>
            <a:schemeClr val="phClr">
              <a:shade val="90000"/>
              <a:lumMod val="90000"/>
            </a:schemeClr>
          </a:solidFill>
          <a:prstDash val="solid"/>
        </a:ln>
        <a:ln w="19050" cap="flat" cmpd="sng" algn="ctr">
          <a:solidFill>
            <a:schemeClr val="phClr">
              <a:shade val="75000"/>
              <a:lumMod val="90000"/>
            </a:schemeClr>
          </a:solidFill>
          <a:prstDash val="solid"/>
        </a:ln>
        <a:ln w="25400" cap="flat" cmpd="sng" algn="ctr">
          <a:solidFill>
            <a:schemeClr val="phClr"/>
          </a:solidFill>
          <a:prstDash val="solid"/>
        </a:ln>
      </a:lnStyleLst>
      <a:effectStyleLst>
        <a:effectStyle>
          <a:effectLst>
            <a:outerShdw blurRad="38100" dist="12700" dir="5400000" rotWithShape="0">
              <a:srgbClr val="000000">
                <a:alpha val="15000"/>
              </a:srgbClr>
            </a:outerShdw>
          </a:effectLst>
        </a:effectStyle>
        <a:effectStyle>
          <a:effectLst>
            <a:outerShdw blurRad="50800" dist="25400" dir="5400000" rotWithShape="0">
              <a:srgbClr val="000000">
                <a:alpha val="46000"/>
              </a:srgbClr>
            </a:outerShdw>
          </a:effectLst>
        </a:effectStyle>
        <a:effectStyle>
          <a:effectLst>
            <a:outerShdw blurRad="50800" dist="25400" dir="5400000" rotWithShape="0">
              <a:srgbClr val="000000">
                <a:alpha val="48000"/>
              </a:srgbClr>
            </a:outerShdw>
          </a:effectLst>
          <a:scene3d>
            <a:camera prst="orthographicFront">
              <a:rot lat="0" lon="0" rev="0"/>
            </a:camera>
            <a:lightRig rig="threePt" dir="tl">
              <a:rot lat="0" lon="0" rev="2400000"/>
            </a:lightRig>
          </a:scene3d>
          <a:sp3d>
            <a:bevelT w="25400" h="25400"/>
          </a:sp3d>
        </a:effectStyle>
      </a:effectStyleLst>
      <a:bgFillStyleLst>
        <a:solidFill>
          <a:schemeClr val="phClr">
            <a:tint val="96000"/>
            <a:lumMod val="110000"/>
          </a:schemeClr>
        </a:solidFill>
        <a:blipFill rotWithShape="1">
          <a:blip xmlns:r="http://schemas.openxmlformats.org/officeDocument/2006/relationships" r:embed="rId1">
            <a:duotone>
              <a:schemeClr val="phClr">
                <a:tint val="93000"/>
                <a:shade val="20000"/>
              </a:schemeClr>
              <a:schemeClr val="phClr">
                <a:tint val="90000"/>
                <a:shade val="85000"/>
                <a:satMod val="115000"/>
              </a:schemeClr>
            </a:duotone>
          </a:blip>
          <a:tile tx="0" ty="0" sx="60000" sy="60000" flip="none" algn="tl"/>
        </a:blipFill>
        <a:blipFill rotWithShape="1">
          <a:blip xmlns:r="http://schemas.openxmlformats.org/officeDocument/2006/relationships" r:embed="rId2">
            <a:duotone>
              <a:schemeClr val="phClr">
                <a:shade val="50000"/>
                <a:satMod val="340000"/>
                <a:lumMod val="40000"/>
              </a:schemeClr>
              <a:schemeClr val="phClr">
                <a:tint val="92000"/>
                <a:shade val="94000"/>
                <a:hueMod val="110000"/>
                <a:satMod val="236000"/>
                <a:lumMod val="120000"/>
              </a:schemeClr>
            </a:duotone>
          </a:blip>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Hardcover</Template>
  <TotalTime>2252</TotalTime>
  <Words>1251</Words>
  <Application>Microsoft Office PowerPoint</Application>
  <PresentationFormat>On-screen Show (4:3)</PresentationFormat>
  <Paragraphs>111</Paragraphs>
  <Slides>31</Slides>
  <Notes>0</Notes>
  <HiddenSlides>0</HiddenSlides>
  <MMClips>0</MMClips>
  <ScaleCrop>false</ScaleCrop>
  <HeadingPairs>
    <vt:vector size="4" baseType="variant">
      <vt:variant>
        <vt:lpstr>Theme</vt:lpstr>
      </vt:variant>
      <vt:variant>
        <vt:i4>1</vt:i4>
      </vt:variant>
      <vt:variant>
        <vt:lpstr>Slide Titles</vt:lpstr>
      </vt:variant>
      <vt:variant>
        <vt:i4>31</vt:i4>
      </vt:variant>
    </vt:vector>
  </HeadingPairs>
  <TitlesOfParts>
    <vt:vector size="32" baseType="lpstr">
      <vt:lpstr>Hardcover</vt:lpstr>
      <vt:lpstr>Programming Fundamentals</vt:lpstr>
      <vt:lpstr>while loop</vt:lpstr>
      <vt:lpstr>while loop</vt:lpstr>
      <vt:lpstr>while loop</vt:lpstr>
      <vt:lpstr>while loop</vt:lpstr>
      <vt:lpstr>while loop</vt:lpstr>
      <vt:lpstr>PowerPoint Presentation</vt:lpstr>
      <vt:lpstr>while loop</vt:lpstr>
      <vt:lpstr>while loop</vt:lpstr>
      <vt:lpstr>What will be the output?</vt:lpstr>
      <vt:lpstr>What will be the output?</vt:lpstr>
      <vt:lpstr>Write a C++ program to find the first 10 natural numbers using while loop.</vt:lpstr>
      <vt:lpstr>Write a C++ program to find the sum of first 10 natural numbers using while loop.</vt:lpstr>
      <vt:lpstr>Infinite Loops </vt:lpstr>
      <vt:lpstr>Infinite Loops </vt:lpstr>
      <vt:lpstr>Infinite Loops </vt:lpstr>
      <vt:lpstr>Infinite Loops </vt:lpstr>
      <vt:lpstr>Identify the Problem</vt:lpstr>
      <vt:lpstr>while Loop</vt:lpstr>
      <vt:lpstr>Don’t Forget the Braces with a Block of Statements</vt:lpstr>
      <vt:lpstr>Don’t Forget the Braces with a Block of Statements</vt:lpstr>
      <vt:lpstr>Programming Style and the while Loop</vt:lpstr>
      <vt:lpstr>Using the while Loop for Input Validation</vt:lpstr>
      <vt:lpstr>Using the while Loop for Input Validation</vt:lpstr>
      <vt:lpstr>Using the while Loop for Input Validation</vt:lpstr>
      <vt:lpstr>Counters</vt:lpstr>
      <vt:lpstr>Controlling a Loop with a Sentinel Value</vt:lpstr>
      <vt:lpstr>Controlling a Loop with a Sentinel Value</vt:lpstr>
      <vt:lpstr>Controlling a Loop with a Sentinel Value</vt:lpstr>
      <vt:lpstr>Controlling a Loop with a Sentinel Value</vt:lpstr>
      <vt:lpstr>Class Activity</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Programming Fundamentals</dc:title>
  <dc:creator>p06</dc:creator>
  <cp:lastModifiedBy>p06</cp:lastModifiedBy>
  <cp:revision>187</cp:revision>
  <dcterms:created xsi:type="dcterms:W3CDTF">2023-02-13T17:33:34Z</dcterms:created>
  <dcterms:modified xsi:type="dcterms:W3CDTF">2025-10-23T20:03:02Z</dcterms:modified>
</cp:coreProperties>
</file>