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6" r:id="rId3"/>
    <p:sldId id="296" r:id="rId4"/>
    <p:sldId id="319" r:id="rId5"/>
    <p:sldId id="297" r:id="rId6"/>
    <p:sldId id="298" r:id="rId7"/>
    <p:sldId id="299" r:id="rId8"/>
    <p:sldId id="300" r:id="rId9"/>
    <p:sldId id="301" r:id="rId10"/>
    <p:sldId id="317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1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Programming Languages</a:t>
            </a:r>
          </a:p>
          <a:p>
            <a:r>
              <a:rPr lang="en-US" dirty="0"/>
              <a:t>C++ Program-Development </a:t>
            </a:r>
            <a:r>
              <a:rPr lang="en-US" dirty="0" smtClean="0"/>
              <a:t>Environment</a:t>
            </a:r>
          </a:p>
          <a:p>
            <a:r>
              <a:rPr lang="en-US" dirty="0" smtClean="0"/>
              <a:t>Programming </a:t>
            </a:r>
            <a:r>
              <a:rPr lang="en-US" dirty="0"/>
              <a:t>Style and Documentation </a:t>
            </a:r>
          </a:p>
          <a:p>
            <a:r>
              <a:rPr lang="en-US" dirty="0"/>
              <a:t>Programming </a:t>
            </a:r>
            <a:r>
              <a:rPr lang="en-US" dirty="0" smtClean="0"/>
              <a:t>Errors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1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Computers process data under the control of sequences of instructions called computer </a:t>
            </a:r>
            <a:r>
              <a:rPr lang="en-US" b="1" dirty="0"/>
              <a:t>programs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programs guide the computer through ordered actions specified by people called computer </a:t>
            </a:r>
            <a:r>
              <a:rPr lang="en-US" b="1" dirty="0"/>
              <a:t>programmers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programs that run on a computer are referred to as </a:t>
            </a:r>
            <a:r>
              <a:rPr lang="en-US" b="1" dirty="0"/>
              <a:t>software</a:t>
            </a:r>
            <a:r>
              <a:rPr lang="en-US" dirty="0"/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0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Machine Language</a:t>
            </a:r>
          </a:p>
          <a:p>
            <a:pPr marL="800100" indent="-342900"/>
            <a:r>
              <a:rPr lang="en-US" dirty="0">
                <a:solidFill>
                  <a:schemeClr val="tx1"/>
                </a:solidFill>
              </a:rPr>
              <a:t>Machine language is a low-level language made up of binary numbers or bits that a computer can understand. 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indent="-342900"/>
            <a:r>
              <a:rPr lang="en-US" dirty="0" smtClean="0">
                <a:solidFill>
                  <a:schemeClr val="tx1"/>
                </a:solidFill>
              </a:rPr>
              <a:t>The instructions are in binary code.</a:t>
            </a:r>
          </a:p>
          <a:p>
            <a:pPr marL="800100" indent="-342900"/>
            <a:r>
              <a:rPr lang="en-US" b="1" dirty="0">
                <a:solidFill>
                  <a:schemeClr val="tx1"/>
                </a:solidFill>
              </a:rPr>
              <a:t> </a:t>
            </a: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uch programs are highly difficult to read and modify for humans.</a:t>
            </a:r>
          </a:p>
          <a:p>
            <a:pPr marL="800100" indent="-342900"/>
            <a:r>
              <a:rPr lang="en-US" dirty="0" smtClean="0">
                <a:solidFill>
                  <a:schemeClr val="tx1"/>
                </a:solidFill>
              </a:rPr>
              <a:t>For example: A in binary code will be </a:t>
            </a:r>
            <a:r>
              <a:rPr lang="en-US" dirty="0">
                <a:solidFill>
                  <a:schemeClr val="tx1"/>
                </a:solidFill>
              </a:rPr>
              <a:t>01000001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Programming Languages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30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387781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Assembly Language</a:t>
            </a:r>
          </a:p>
          <a:p>
            <a:pPr marL="800100" indent="-342900"/>
            <a:r>
              <a:rPr lang="en-US" dirty="0">
                <a:solidFill>
                  <a:schemeClr val="tx1"/>
                </a:solidFill>
              </a:rPr>
              <a:t>Assembly language is the more than low level and less than high-level language so it is intermediary language. 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indent="-342900"/>
            <a:r>
              <a:rPr lang="en-US" dirty="0">
                <a:solidFill>
                  <a:schemeClr val="tx1"/>
                </a:solidFill>
              </a:rPr>
              <a:t>Assembly languages use numbers, symbols, and abbreviations instead of 0s and 1s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800100" indent="-342900"/>
            <a:r>
              <a:rPr lang="en-US" dirty="0" smtClean="0">
                <a:solidFill>
                  <a:schemeClr val="tx1"/>
                </a:solidFill>
              </a:rPr>
              <a:t>Assembler is used to convert assembly language into machine code.</a:t>
            </a:r>
          </a:p>
          <a:p>
            <a:pPr marL="800100" indent="-342900"/>
            <a:r>
              <a:rPr lang="en-US" dirty="0" smtClean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addition, subtraction and multiplications it uses symbols likes Add, sub and Mul, etc. 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indent="-342900"/>
            <a:r>
              <a:rPr lang="en-US" dirty="0" smtClean="0">
                <a:solidFill>
                  <a:schemeClr val="tx1"/>
                </a:solidFill>
              </a:rPr>
              <a:t>Example:</a:t>
            </a:r>
          </a:p>
          <a:p>
            <a:pPr marL="914400" indent="0">
              <a:buNone/>
            </a:pPr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eax</a:t>
            </a:r>
            <a:r>
              <a:rPr lang="en-US" dirty="0">
                <a:solidFill>
                  <a:schemeClr val="tx1"/>
                </a:solidFill>
              </a:rPr>
              <a:t>, 3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MOV </a:t>
            </a:r>
            <a:r>
              <a:rPr lang="en-US" dirty="0" err="1">
                <a:solidFill>
                  <a:schemeClr val="tx1"/>
                </a:solidFill>
              </a:rPr>
              <a:t>ebx</a:t>
            </a:r>
            <a:r>
              <a:rPr lang="en-US" dirty="0">
                <a:solidFill>
                  <a:schemeClr val="tx1"/>
                </a:solidFill>
              </a:rPr>
              <a:t>, 4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ADD </a:t>
            </a:r>
            <a:r>
              <a:rPr lang="en-US" dirty="0" err="1">
                <a:solidFill>
                  <a:schemeClr val="tx1"/>
                </a:solidFill>
              </a:rPr>
              <a:t>eax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ebx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ecx</a:t>
            </a:r>
            <a:endParaRPr lang="en-US" dirty="0" smtClean="0">
              <a:solidFill>
                <a:schemeClr val="tx1"/>
              </a:solidFill>
            </a:endParaRPr>
          </a:p>
          <a:p>
            <a:pPr marL="800100" indent="-3429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Programming Languages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862637"/>
            <a:ext cx="6342289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93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3877815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High-Level Languages</a:t>
            </a:r>
          </a:p>
          <a:p>
            <a:pPr marL="800100" indent="-342900" algn="just"/>
            <a:r>
              <a:rPr lang="en-US" dirty="0" smtClean="0">
                <a:solidFill>
                  <a:schemeClr val="tx1"/>
                </a:solidFill>
              </a:rPr>
              <a:t>Are English like and easy to learn program.</a:t>
            </a:r>
          </a:p>
          <a:p>
            <a:pPr marL="800100" indent="-342900" algn="just"/>
            <a:r>
              <a:rPr lang="en-US" dirty="0" smtClean="0">
                <a:solidFill>
                  <a:schemeClr val="tx1"/>
                </a:solidFill>
              </a:rPr>
              <a:t>For Example, following is a high-level language statement that computes sum of two numbers.</a:t>
            </a:r>
          </a:p>
          <a:p>
            <a:pPr marL="914400" indent="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Sum = 3+4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pPr marL="800100" indent="-342900" algn="just"/>
            <a:r>
              <a:rPr lang="en-US" dirty="0">
                <a:solidFill>
                  <a:schemeClr val="tx1"/>
                </a:solidFill>
              </a:rPr>
              <a:t>Translator programs called </a:t>
            </a:r>
            <a:r>
              <a:rPr lang="en-US" b="1" dirty="0">
                <a:solidFill>
                  <a:schemeClr val="tx1"/>
                </a:solidFill>
              </a:rPr>
              <a:t>compilers</a:t>
            </a:r>
            <a:r>
              <a:rPr lang="en-US" dirty="0">
                <a:solidFill>
                  <a:schemeClr val="tx1"/>
                </a:solidFill>
              </a:rPr>
              <a:t> convert high-level language programs into machine language.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Programming Languages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3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56263" cy="1054250"/>
          </a:xfrm>
        </p:spPr>
        <p:txBody>
          <a:bodyPr/>
          <a:lstStyle/>
          <a:p>
            <a:r>
              <a:rPr lang="en-US" dirty="0" smtClean="0"/>
              <a:t>Popular High-Level Languages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COBOL (</a:t>
            </a:r>
            <a:r>
              <a:rPr lang="en-US" dirty="0"/>
              <a:t>Common Business Oriented </a:t>
            </a:r>
            <a:r>
              <a:rPr lang="en-US" dirty="0" smtClean="0"/>
              <a:t>Language)</a:t>
            </a:r>
          </a:p>
          <a:p>
            <a:r>
              <a:rPr lang="en-US" dirty="0" smtClean="0"/>
              <a:t>FORTAN (</a:t>
            </a:r>
            <a:r>
              <a:rPr lang="en-US" dirty="0" err="1"/>
              <a:t>FORmula</a:t>
            </a:r>
            <a:r>
              <a:rPr lang="en-US" dirty="0"/>
              <a:t> </a:t>
            </a:r>
            <a:r>
              <a:rPr lang="en-US" dirty="0" err="1" smtClean="0"/>
              <a:t>TRANslation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BASIC (</a:t>
            </a:r>
            <a:r>
              <a:rPr lang="en-US" dirty="0"/>
              <a:t>Beginners' All-purpose Symbolic Instruction </a:t>
            </a:r>
            <a:r>
              <a:rPr lang="en-US" dirty="0" smtClean="0"/>
              <a:t>Code)</a:t>
            </a:r>
          </a:p>
          <a:p>
            <a:r>
              <a:rPr lang="en-US" dirty="0" smtClean="0"/>
              <a:t>Pascal (named </a:t>
            </a:r>
            <a:r>
              <a:rPr lang="en-US" dirty="0"/>
              <a:t>for </a:t>
            </a:r>
            <a:r>
              <a:rPr lang="en-US" dirty="0" err="1"/>
              <a:t>Blaise</a:t>
            </a:r>
            <a:r>
              <a:rPr lang="en-US" dirty="0"/>
              <a:t> Pascal)</a:t>
            </a:r>
            <a:endParaRPr lang="en-US" dirty="0" smtClean="0"/>
          </a:p>
          <a:p>
            <a:r>
              <a:rPr lang="en-US" dirty="0" smtClean="0"/>
              <a:t>Ada (</a:t>
            </a:r>
            <a:r>
              <a:rPr lang="en-US" dirty="0"/>
              <a:t>n</a:t>
            </a:r>
            <a:r>
              <a:rPr lang="en-US" dirty="0" smtClean="0"/>
              <a:t>amed for Ada Lovelace)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 (developed by Dennis Ritchie)</a:t>
            </a:r>
          </a:p>
          <a:p>
            <a:r>
              <a:rPr lang="en-US" dirty="0"/>
              <a:t>Visual Basic (Basic-like visual language developed by Microsoft)</a:t>
            </a:r>
          </a:p>
          <a:p>
            <a:r>
              <a:rPr lang="en-US" dirty="0"/>
              <a:t>Delphi (Pascal-like visual language developed by Borland)</a:t>
            </a:r>
          </a:p>
          <a:p>
            <a:r>
              <a:rPr lang="en-US" dirty="0"/>
              <a:t>C++ (An object-oriented language, based on C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5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25" y="1012874"/>
            <a:ext cx="8714021" cy="48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530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56263" cy="1054250"/>
          </a:xfrm>
        </p:spPr>
        <p:txBody>
          <a:bodyPr/>
          <a:lstStyle/>
          <a:p>
            <a:r>
              <a:rPr lang="en-US" dirty="0" smtClean="0"/>
              <a:t>First High-Level Language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6" y="2362200"/>
            <a:ext cx="8704821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29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C++ is one of today’s most popular software development languages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</a:t>
            </a:r>
            <a:r>
              <a:rPr lang="en-US" dirty="0"/>
              <a:t>++, an extension of C, was developed by </a:t>
            </a:r>
            <a:r>
              <a:rPr lang="en-US" dirty="0" err="1"/>
              <a:t>Bjarne</a:t>
            </a:r>
            <a:r>
              <a:rPr lang="en-US" dirty="0"/>
              <a:t> </a:t>
            </a:r>
            <a:r>
              <a:rPr lang="en-US" dirty="0" err="1"/>
              <a:t>Stroustrup</a:t>
            </a:r>
            <a:r>
              <a:rPr lang="en-US" dirty="0"/>
              <a:t> in 1979 at Bell Laboratories. </a:t>
            </a:r>
            <a:endParaRPr lang="en-US" dirty="0" smtClean="0"/>
          </a:p>
          <a:p>
            <a:pPr algn="just"/>
            <a:r>
              <a:rPr lang="en-US" dirty="0" smtClean="0"/>
              <a:t>Originally </a:t>
            </a:r>
            <a:r>
              <a:rPr lang="en-US" dirty="0"/>
              <a:t>called “C with Classes”, it was renamed to C++ in the early 1980s. </a:t>
            </a:r>
            <a:endParaRPr lang="en-US" dirty="0" smtClean="0"/>
          </a:p>
          <a:p>
            <a:pPr algn="just"/>
            <a:r>
              <a:rPr lang="en-US" dirty="0" smtClean="0"/>
              <a:t>C</a:t>
            </a:r>
            <a:r>
              <a:rPr lang="en-US" dirty="0"/>
              <a:t>++ provides a number of features that “spruce up” the C language, but more importantly, it provides capabilities for object-oriented programming.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C++ </a:t>
            </a:r>
            <a:r>
              <a:rPr lang="en-US" dirty="0"/>
              <a:t>is widely used to develop systems that demand performance, such as operating systems, embedded systems, real-time systems and communications systems.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8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C++ </a:t>
            </a:r>
            <a:r>
              <a:rPr lang="en-US" dirty="0"/>
              <a:t>programs typically go through six phases to be </a:t>
            </a:r>
            <a:r>
              <a:rPr lang="en-US" dirty="0" smtClean="0"/>
              <a:t>executed:</a:t>
            </a:r>
          </a:p>
          <a:p>
            <a:pPr marL="914400"/>
            <a:r>
              <a:rPr lang="en-US" dirty="0" smtClean="0"/>
              <a:t>Edit</a:t>
            </a:r>
          </a:p>
          <a:p>
            <a:pPr marL="914400"/>
            <a:r>
              <a:rPr lang="en-US" dirty="0" smtClean="0"/>
              <a:t>Preprocess</a:t>
            </a:r>
          </a:p>
          <a:p>
            <a:pPr marL="914400"/>
            <a:r>
              <a:rPr lang="en-US" dirty="0" smtClean="0"/>
              <a:t>Compile</a:t>
            </a:r>
          </a:p>
          <a:p>
            <a:pPr marL="914400"/>
            <a:r>
              <a:rPr lang="en-US" dirty="0" smtClean="0"/>
              <a:t>Link</a:t>
            </a:r>
          </a:p>
          <a:p>
            <a:pPr marL="914400"/>
            <a:r>
              <a:rPr lang="en-US" dirty="0" smtClean="0"/>
              <a:t>Load</a:t>
            </a:r>
          </a:p>
          <a:p>
            <a:pPr marL="914400"/>
            <a:r>
              <a:rPr lang="en-US" dirty="0" smtClean="0"/>
              <a:t>Execute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249260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 </a:t>
            </a:r>
            <a:r>
              <a:rPr lang="en-US" b="1" dirty="0"/>
              <a:t>1: </a:t>
            </a:r>
            <a:r>
              <a:rPr lang="en-US" b="1" dirty="0" smtClean="0"/>
              <a:t>Editing</a:t>
            </a:r>
            <a:r>
              <a:rPr lang="en-US" b="1" dirty="0" smtClean="0"/>
              <a:t> </a:t>
            </a:r>
            <a:r>
              <a:rPr lang="en-US" b="1" dirty="0"/>
              <a:t>a </a:t>
            </a:r>
            <a:r>
              <a:rPr lang="en-US" b="1" dirty="0" smtClean="0"/>
              <a:t>Program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96" y="3124200"/>
            <a:ext cx="8381104" cy="141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 </a:t>
            </a:r>
            <a:r>
              <a:rPr lang="en-US" b="1" dirty="0"/>
              <a:t>2 and 3: Preprocessing and Compiling a </a:t>
            </a:r>
            <a:r>
              <a:rPr lang="en-US" b="1" dirty="0" smtClean="0"/>
              <a:t>C++ </a:t>
            </a:r>
            <a:r>
              <a:rPr lang="en-US" b="1" dirty="0"/>
              <a:t>Program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352800"/>
            <a:ext cx="7194550" cy="1257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998156"/>
            <a:ext cx="7162800" cy="132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 </a:t>
            </a:r>
            <a:r>
              <a:rPr lang="en-US" b="1" dirty="0"/>
              <a:t>4: </a:t>
            </a:r>
            <a:r>
              <a:rPr lang="en-US" b="1" dirty="0" smtClean="0"/>
              <a:t>Linking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971800"/>
            <a:ext cx="8771471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1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 </a:t>
            </a:r>
            <a:r>
              <a:rPr lang="en-US" b="1" dirty="0"/>
              <a:t>5: </a:t>
            </a:r>
            <a:r>
              <a:rPr lang="en-US" b="1" dirty="0" smtClean="0"/>
              <a:t>Loading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61" y="2895600"/>
            <a:ext cx="587233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5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 6: Execution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70156"/>
            <a:ext cx="8763000" cy="1054250"/>
          </a:xfrm>
        </p:spPr>
        <p:txBody>
          <a:bodyPr/>
          <a:lstStyle/>
          <a:p>
            <a:r>
              <a:rPr lang="en-US" sz="4800" dirty="0" smtClean="0"/>
              <a:t>Typical </a:t>
            </a:r>
            <a:r>
              <a:rPr lang="en-US" sz="4800" dirty="0" smtClean="0"/>
              <a:t>C++ </a:t>
            </a:r>
            <a:r>
              <a:rPr lang="en-US" sz="4800" dirty="0"/>
              <a:t>Program-Development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85" y="2890837"/>
            <a:ext cx="6108215" cy="31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Source Code</a:t>
            </a:r>
          </a:p>
        </p:txBody>
      </p:sp>
      <p:sp>
        <p:nvSpPr>
          <p:cNvPr id="2" name="AutoShape 2" descr="Difference between Linker and Loader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154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359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IDE is a software program that is designed to help programmers and developers build software.</a:t>
            </a:r>
          </a:p>
          <a:p>
            <a:r>
              <a:rPr lang="en-US" dirty="0" smtClean="0"/>
              <a:t>Most IDEs include:</a:t>
            </a:r>
          </a:p>
          <a:p>
            <a:pPr marL="800100" indent="-342900"/>
            <a:r>
              <a:rPr lang="en-US" dirty="0" smtClean="0"/>
              <a:t>A source code editor</a:t>
            </a:r>
          </a:p>
          <a:p>
            <a:pPr marL="800100" indent="-342900"/>
            <a:r>
              <a:rPr lang="en-US" dirty="0" smtClean="0"/>
              <a:t>A compiler</a:t>
            </a:r>
          </a:p>
          <a:p>
            <a:pPr marL="800100" indent="-342900"/>
            <a:r>
              <a:rPr lang="en-US" dirty="0" smtClean="0"/>
              <a:t>Build automation tools</a:t>
            </a:r>
          </a:p>
          <a:p>
            <a:pPr marL="800100" indent="-342900"/>
            <a:r>
              <a:rPr lang="en-US" dirty="0" smtClean="0"/>
              <a:t>A debugger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Integrated Development Environment (IDE)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0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 smtClean="0"/>
              <a:t>iostream</a:t>
            </a:r>
            <a:r>
              <a:rPr lang="en-US" dirty="0"/>
              <a:t>&gt;		 // Pre-processor Directives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using </a:t>
            </a:r>
            <a:r>
              <a:rPr lang="en-US" dirty="0"/>
              <a:t>namespace </a:t>
            </a:r>
            <a:r>
              <a:rPr lang="en-US" dirty="0" err="1"/>
              <a:t>std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		</a:t>
            </a:r>
            <a:r>
              <a:rPr lang="en-US" dirty="0" smtClean="0"/>
              <a:t>	 // </a:t>
            </a:r>
            <a:r>
              <a:rPr lang="en-US" dirty="0"/>
              <a:t>Body of Program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c</a:t>
            </a:r>
            <a:r>
              <a:rPr lang="en-US" dirty="0" err="1" smtClean="0"/>
              <a:t>out</a:t>
            </a:r>
            <a:r>
              <a:rPr lang="en-US" dirty="0" smtClean="0"/>
              <a:t>&lt;&lt;“Welcome to C++”;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retrun</a:t>
            </a:r>
            <a:r>
              <a:rPr lang="en-US" dirty="0" smtClean="0"/>
              <a:t>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C++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9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 smtClean="0"/>
              <a:t>cout</a:t>
            </a:r>
            <a:r>
              <a:rPr lang="en-US" dirty="0" smtClean="0"/>
              <a:t>&lt;&lt;“Welcome to C++”&lt;&lt;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err="1" smtClean="0"/>
              <a:t>cout</a:t>
            </a:r>
            <a:r>
              <a:rPr lang="en-US" dirty="0" smtClean="0"/>
              <a:t>&lt;&lt;“Welcome to C++ Builder!”&lt;&lt;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err="1" smtClean="0"/>
              <a:t>cout</a:t>
            </a:r>
            <a:r>
              <a:rPr lang="en-US" dirty="0"/>
              <a:t>&lt;&lt;“Welcome to C</a:t>
            </a:r>
            <a:r>
              <a:rPr lang="en-US" dirty="0" smtClean="0"/>
              <a:t>++ Compiler!”&lt;&lt;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retrun</a:t>
            </a:r>
            <a:r>
              <a:rPr lang="en-US" dirty="0"/>
              <a:t>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Extending the simple C++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168445"/>
              </p:ext>
            </p:extLst>
          </p:nvPr>
        </p:nvGraphicFramePr>
        <p:xfrm>
          <a:off x="457200" y="609600"/>
          <a:ext cx="8305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48000"/>
                <a:gridCol w="3886200"/>
              </a:tblGrid>
              <a:tr h="2928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Character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Name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/>
                </a:tc>
              </a:tr>
              <a:tr h="51248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#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Pound Sign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Used in #include to denote a preprocessor directive.</a:t>
                      </a:r>
                      <a:endParaRPr lang="en-US" sz="2000" dirty="0"/>
                    </a:p>
                  </a:txBody>
                  <a:tcPr/>
                </a:tc>
              </a:tr>
              <a:tr h="51248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&lt;&gt;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Opening and closing angle</a:t>
                      </a:r>
                      <a:r>
                        <a:rPr lang="en-US" sz="2000" baseline="0" dirty="0" smtClean="0"/>
                        <a:t> brackets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Encloses a library</a:t>
                      </a:r>
                      <a:r>
                        <a:rPr lang="en-US" sz="2000" baseline="0" dirty="0" smtClean="0"/>
                        <a:t> name when used with #include.</a:t>
                      </a:r>
                      <a:endParaRPr lang="en-US" sz="2000" dirty="0"/>
                    </a:p>
                  </a:txBody>
                  <a:tcPr/>
                </a:tc>
              </a:tr>
              <a:tr h="51248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( 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Opening and closing parentheses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Used with functions such</a:t>
                      </a:r>
                      <a:r>
                        <a:rPr lang="en-US" sz="2000" baseline="0" dirty="0" smtClean="0"/>
                        <a:t> as main().</a:t>
                      </a:r>
                      <a:endParaRPr lang="en-US" sz="2000" dirty="0"/>
                    </a:p>
                  </a:txBody>
                  <a:tcPr/>
                </a:tc>
              </a:tr>
              <a:tr h="51248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{ }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Opening and closing braces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Denotes a block to enclose statements.</a:t>
                      </a:r>
                      <a:endParaRPr lang="en-US" sz="2000" dirty="0"/>
                    </a:p>
                  </a:txBody>
                  <a:tcPr/>
                </a:tc>
              </a:tr>
              <a:tr h="2928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//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Double slashes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Precedes a comment line.</a:t>
                      </a:r>
                      <a:endParaRPr lang="en-US" sz="2000" dirty="0"/>
                    </a:p>
                  </a:txBody>
                  <a:tcPr/>
                </a:tc>
              </a:tr>
              <a:tr h="2928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Stream insertion operator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Outputs to the console.</a:t>
                      </a:r>
                      <a:endParaRPr lang="en-US" sz="2000" dirty="0"/>
                    </a:p>
                  </a:txBody>
                  <a:tcPr/>
                </a:tc>
              </a:tr>
              <a:tr h="5124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“</a:t>
                      </a:r>
                      <a:r>
                        <a:rPr lang="en-US" sz="2000" baseline="0" dirty="0" smtClean="0"/>
                        <a:t>  </a:t>
                      </a:r>
                      <a:r>
                        <a:rPr lang="en-US" sz="2000" dirty="0" smtClean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Opening and closing quotation marks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Wraps a string (i.e. sequence of characters)</a:t>
                      </a:r>
                      <a:endParaRPr lang="en-US" sz="2000" dirty="0"/>
                    </a:p>
                  </a:txBody>
                  <a:tcPr/>
                </a:tc>
              </a:tr>
              <a:tr h="29284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;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Semicolon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Marks the end of the statement.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24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programming style and proper documentation make a program easy to read and help programmers prevent </a:t>
            </a:r>
            <a:r>
              <a:rPr lang="en-US" dirty="0" smtClean="0"/>
              <a:t>errors</a:t>
            </a:r>
          </a:p>
          <a:p>
            <a:pPr marL="800100" indent="-342900"/>
            <a:r>
              <a:rPr lang="en-US" dirty="0"/>
              <a:t>Appropriate Comments and Comment </a:t>
            </a:r>
            <a:r>
              <a:rPr lang="en-US" dirty="0" smtClean="0"/>
              <a:t>Styles</a:t>
            </a:r>
          </a:p>
          <a:p>
            <a:pPr marL="800100" indent="-342900"/>
            <a:r>
              <a:rPr lang="en-US" dirty="0" smtClean="0"/>
              <a:t>Proper </a:t>
            </a:r>
            <a:r>
              <a:rPr lang="en-US" dirty="0"/>
              <a:t>Indentation and </a:t>
            </a:r>
            <a:r>
              <a:rPr lang="en-US" dirty="0" smtClean="0"/>
              <a:t>Spacing</a:t>
            </a:r>
          </a:p>
          <a:p>
            <a:pPr marL="457200" indent="0">
              <a:buNone/>
            </a:pPr>
            <a:endParaRPr lang="en-US" dirty="0" smtClean="0"/>
          </a:p>
          <a:p>
            <a:pPr marL="4572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56263" cy="1054250"/>
          </a:xfrm>
        </p:spPr>
        <p:txBody>
          <a:bodyPr/>
          <a:lstStyle/>
          <a:p>
            <a:r>
              <a:rPr lang="en-US" dirty="0" smtClean="0"/>
              <a:t>Programming Style and Documentation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766310"/>
            <a:ext cx="3785129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33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48347"/>
            <a:ext cx="8534400" cy="4457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Programming errors can be categorized into three types: syntax errors, runtime errors, and logic errors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Syntax Errors:</a:t>
            </a:r>
          </a:p>
          <a:p>
            <a:pPr marL="731520" indent="0">
              <a:buNone/>
            </a:pPr>
            <a:r>
              <a:rPr lang="en-US" sz="2000" dirty="0"/>
              <a:t>Errors that are detected by the compiler are called syntax errors or compile errors. Syntax errors result from errors in code construction, such as mistyping a keyword, omitting necessary punctuation, or using an opening brace without a corresponding closing brace</a:t>
            </a:r>
            <a:r>
              <a:rPr lang="en-US" sz="2000" dirty="0" smtClean="0"/>
              <a:t>.</a:t>
            </a:r>
          </a:p>
          <a:p>
            <a:pPr marL="457200" indent="0">
              <a:buNone/>
            </a:pP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Errors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71136"/>
            <a:ext cx="4114800" cy="183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520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48347"/>
            <a:ext cx="8534400" cy="445725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Runtime Errors:</a:t>
            </a:r>
          </a:p>
          <a:p>
            <a:pPr marL="731520" indent="0">
              <a:buNone/>
            </a:pPr>
            <a:r>
              <a:rPr lang="en-US" sz="2000" dirty="0"/>
              <a:t>Runtime errors cause a program to terminate abnormally. </a:t>
            </a:r>
            <a:endParaRPr lang="en-US" sz="2000" dirty="0" smtClean="0"/>
          </a:p>
          <a:p>
            <a:pPr marL="1257300" indent="-342900"/>
            <a:r>
              <a:rPr lang="en-US" sz="2000" dirty="0" smtClean="0"/>
              <a:t>They </a:t>
            </a:r>
            <a:r>
              <a:rPr lang="en-US" sz="2000" dirty="0"/>
              <a:t>occur while an application is running if the environment detects an operation that is impossible to carry out. Input mistakes typically cause runtime errors. </a:t>
            </a:r>
          </a:p>
          <a:p>
            <a:pPr marL="1257300" indent="-342900"/>
            <a:r>
              <a:rPr lang="en-US" sz="2000" dirty="0" smtClean="0"/>
              <a:t>Another </a:t>
            </a:r>
            <a:r>
              <a:rPr lang="en-US" sz="2000" dirty="0"/>
              <a:t>common source of runtime errors is division by zero.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Errors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43400"/>
            <a:ext cx="3076743" cy="1466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747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48347"/>
            <a:ext cx="8534400" cy="445725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Logic Errors:</a:t>
            </a:r>
          </a:p>
          <a:p>
            <a:pPr marL="731520" indent="0">
              <a:buNone/>
            </a:pPr>
            <a:r>
              <a:rPr lang="en-US" sz="2000" dirty="0"/>
              <a:t>Logic errors occur when a program does not perform the way it was intended. Errors of this kind occur for many different reasons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Errors</a:t>
            </a:r>
          </a:p>
        </p:txBody>
      </p:sp>
    </p:spTree>
    <p:extLst>
      <p:ext uri="{BB962C8B-B14F-4D97-AF65-F5344CB8AC3E}">
        <p14:creationId xmlns:p14="http://schemas.microsoft.com/office/powerpoint/2010/main" val="289784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Error 1: Missing </a:t>
            </a:r>
            <a:r>
              <a:rPr lang="en-US" dirty="0" smtClean="0"/>
              <a:t>Braces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Common Error 2: Missing </a:t>
            </a:r>
            <a:r>
              <a:rPr lang="en-US" dirty="0" smtClean="0"/>
              <a:t>Semicolons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7" y="4571999"/>
            <a:ext cx="343852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822" y="2895600"/>
            <a:ext cx="459935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5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Error 3: Missing Quotation </a:t>
            </a:r>
            <a:r>
              <a:rPr lang="en-US" dirty="0" smtClean="0"/>
              <a:t>Marks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Common Error 4: Misspelling Names </a:t>
            </a:r>
          </a:p>
          <a:p>
            <a:pPr marL="731520" indent="0">
              <a:buNone/>
            </a:pPr>
            <a:r>
              <a:rPr lang="en-US" dirty="0" smtClean="0"/>
              <a:t>C</a:t>
            </a:r>
            <a:r>
              <a:rPr lang="en-US" dirty="0"/>
              <a:t>++ is case-sensitive. Misspelling names is a common error made by new programmers. For example, the word main is misspelled as Main in the following code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Errors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743200"/>
            <a:ext cx="3450792" cy="81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16" y="5642592"/>
            <a:ext cx="3718560" cy="94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48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Task 01</a:t>
            </a:r>
          </a:p>
          <a:p>
            <a:pPr marL="800100" indent="-342900"/>
            <a:r>
              <a:rPr lang="en-US" dirty="0" smtClean="0"/>
              <a:t>Identify </a:t>
            </a:r>
            <a:r>
              <a:rPr lang="en-US" dirty="0"/>
              <a:t>and fix the errors in the following </a:t>
            </a:r>
            <a:r>
              <a:rPr lang="en-US" dirty="0" smtClean="0"/>
              <a:t>code: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352800"/>
            <a:ext cx="5128751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086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Task 02</a:t>
            </a:r>
          </a:p>
          <a:p>
            <a:pPr marL="800100" indent="-342900"/>
            <a:r>
              <a:rPr lang="en-US" dirty="0" smtClean="0"/>
              <a:t>How </a:t>
            </a:r>
            <a:r>
              <a:rPr lang="en-US" dirty="0"/>
              <a:t>do you denote a comment line and a comment paragraph</a:t>
            </a:r>
            <a:r>
              <a:rPr lang="en-US" dirty="0" smtClean="0"/>
              <a:t>?</a:t>
            </a:r>
          </a:p>
          <a:p>
            <a:r>
              <a:rPr lang="en-US" b="1" dirty="0" smtClean="0"/>
              <a:t>Task 03</a:t>
            </a:r>
          </a:p>
          <a:p>
            <a:pPr marL="800100" indent="-342900"/>
            <a:r>
              <a:rPr lang="en-US" dirty="0"/>
              <a:t>Reformat the following program according to the programming style and documentation </a:t>
            </a:r>
            <a:r>
              <a:rPr lang="en-US" dirty="0" smtClean="0"/>
              <a:t>guidelines.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913" y="3657600"/>
            <a:ext cx="3826546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26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717</TotalTime>
  <Words>889</Words>
  <Application>Microsoft Office PowerPoint</Application>
  <PresentationFormat>On-screen Show (4:3)</PresentationFormat>
  <Paragraphs>163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Hardcover</vt:lpstr>
      <vt:lpstr>Programming Fundamentals</vt:lpstr>
      <vt:lpstr>Today’s Lecture</vt:lpstr>
      <vt:lpstr>Program</vt:lpstr>
      <vt:lpstr>Programming Languages</vt:lpstr>
      <vt:lpstr>Programming Languages</vt:lpstr>
      <vt:lpstr>Programming Languages</vt:lpstr>
      <vt:lpstr>Popular High-Level Languages</vt:lpstr>
      <vt:lpstr>PowerPoint Presentation</vt:lpstr>
      <vt:lpstr>First High-Level Language</vt:lpstr>
      <vt:lpstr>C++</vt:lpstr>
      <vt:lpstr>C++</vt:lpstr>
      <vt:lpstr>Typical C++ Program-Development Environment</vt:lpstr>
      <vt:lpstr>Typical C++ Program-Development Environment</vt:lpstr>
      <vt:lpstr>Typical C++ Program-Development Environment</vt:lpstr>
      <vt:lpstr>Typical C++ Program-Development Environment</vt:lpstr>
      <vt:lpstr>Typical C++ Program-Development Environment</vt:lpstr>
      <vt:lpstr>Typical C++ Program-Development Environment</vt:lpstr>
      <vt:lpstr>Compiling Source Code</vt:lpstr>
      <vt:lpstr>Integrated Development Environment (IDE)</vt:lpstr>
      <vt:lpstr>A Simple C++ Program</vt:lpstr>
      <vt:lpstr>Extending the simple C++ Program</vt:lpstr>
      <vt:lpstr>PowerPoint Presentation</vt:lpstr>
      <vt:lpstr>Programming Style and Documentation</vt:lpstr>
      <vt:lpstr>Programming Errors</vt:lpstr>
      <vt:lpstr>Programming Errors</vt:lpstr>
      <vt:lpstr>Programming Errors</vt:lpstr>
      <vt:lpstr>Common Errors</vt:lpstr>
      <vt:lpstr>Common Errors</vt:lpstr>
      <vt:lpstr>Tasks</vt:lpstr>
      <vt:lpstr>Tasks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problem solving</dc:title>
  <dc:creator>p06</dc:creator>
  <cp:lastModifiedBy>p06</cp:lastModifiedBy>
  <cp:revision>53</cp:revision>
  <dcterms:created xsi:type="dcterms:W3CDTF">2023-01-14T12:48:14Z</dcterms:created>
  <dcterms:modified xsi:type="dcterms:W3CDTF">2025-09-23T20:31:10Z</dcterms:modified>
</cp:coreProperties>
</file>