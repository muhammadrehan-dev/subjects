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40" r:id="rId1"/>
  </p:sldMasterIdLst>
  <p:notesMasterIdLst>
    <p:notesMasterId r:id="rId23"/>
  </p:notesMasterIdLst>
  <p:sldIdLst>
    <p:sldId id="275" r:id="rId2"/>
    <p:sldId id="276" r:id="rId3"/>
    <p:sldId id="277" r:id="rId4"/>
    <p:sldId id="299" r:id="rId5"/>
    <p:sldId id="300" r:id="rId6"/>
    <p:sldId id="301" r:id="rId7"/>
    <p:sldId id="302" r:id="rId8"/>
    <p:sldId id="303" r:id="rId9"/>
    <p:sldId id="304" r:id="rId10"/>
    <p:sldId id="305" r:id="rId11"/>
    <p:sldId id="306" r:id="rId12"/>
    <p:sldId id="307" r:id="rId13"/>
    <p:sldId id="308" r:id="rId14"/>
    <p:sldId id="309" r:id="rId15"/>
    <p:sldId id="310" r:id="rId16"/>
    <p:sldId id="311" r:id="rId17"/>
    <p:sldId id="312" r:id="rId18"/>
    <p:sldId id="313" r:id="rId19"/>
    <p:sldId id="314" r:id="rId20"/>
    <p:sldId id="315" r:id="rId21"/>
    <p:sldId id="316"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4" d="100"/>
          <a:sy n="54" d="100"/>
        </p:scale>
        <p:origin x="-96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A68638-8D4C-4224-86C6-C1F65257DA59}" type="datetimeFigureOut">
              <a:rPr lang="en-US" smtClean="0"/>
              <a:t>10/24/2025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E47110-DE54-4872-A5AE-CA21AC8F8A64}" type="slidenum">
              <a:rPr lang="en-US" smtClean="0"/>
              <a:t>‹#›</a:t>
            </a:fld>
            <a:endParaRPr lang="en-US"/>
          </a:p>
        </p:txBody>
      </p:sp>
    </p:spTree>
    <p:extLst>
      <p:ext uri="{BB962C8B-B14F-4D97-AF65-F5344CB8AC3E}">
        <p14:creationId xmlns:p14="http://schemas.microsoft.com/office/powerpoint/2010/main" val="3016569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AFF4282D-DD47-4BD2-B4E4-03CD91B40D17}" type="datetimeFigureOut">
              <a:rPr lang="en-US" smtClean="0"/>
              <a:t>10/24/2025</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BBAC41E-B5DD-4622-B453-5F4DACEC7AF7}" type="slidenum">
              <a:rPr lang="en-US" smtClean="0"/>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4282D-DD47-4BD2-B4E4-03CD91B40D17}"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FF4282D-DD47-4BD2-B4E4-03CD91B40D17}"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FF4282D-DD47-4BD2-B4E4-03CD91B40D17}" type="datetimeFigureOut">
              <a:rPr lang="en-US" smtClean="0"/>
              <a:t>10/24/2025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BAC41E-B5DD-4622-B453-5F4DACEC7AF7}" type="slidenum">
              <a:rPr lang="en-US" smtClean="0"/>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FF4282D-DD47-4BD2-B4E4-03CD91B40D17}" type="datetimeFigureOut">
              <a:rPr lang="en-US" smtClean="0"/>
              <a:t>10/24/2025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BAC41E-B5DD-4622-B453-5F4DACEC7AF7}" type="slidenum">
              <a:rPr lang="en-US" smtClean="0"/>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F4282D-DD47-4BD2-B4E4-03CD91B40D17}" type="datetimeFigureOut">
              <a:rPr lang="en-US" smtClean="0"/>
              <a:t>10/24/2025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AFF4282D-DD47-4BD2-B4E4-03CD91B40D17}" type="datetimeFigureOut">
              <a:rPr lang="en-US" smtClean="0"/>
              <a:t>10/24/2025</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BBBAC41E-B5DD-4622-B453-5F4DACEC7AF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Programming Fundamentals</a:t>
            </a:r>
            <a:endParaRPr lang="en-US" dirty="0"/>
          </a:p>
        </p:txBody>
      </p:sp>
      <p:sp>
        <p:nvSpPr>
          <p:cNvPr id="3" name="Subtitle 2"/>
          <p:cNvSpPr>
            <a:spLocks noGrp="1"/>
          </p:cNvSpPr>
          <p:nvPr>
            <p:ph type="subTitle" idx="1"/>
          </p:nvPr>
        </p:nvSpPr>
        <p:spPr/>
        <p:txBody>
          <a:bodyPr>
            <a:normAutofit/>
          </a:bodyPr>
          <a:lstStyle/>
          <a:p>
            <a:r>
              <a:rPr lang="en-US" dirty="0" smtClean="0"/>
              <a:t>By</a:t>
            </a:r>
          </a:p>
          <a:p>
            <a:r>
              <a:rPr lang="en-US" dirty="0" smtClean="0"/>
              <a:t>Shazmeen Batool</a:t>
            </a:r>
            <a:endParaRPr lang="en-US" dirty="0"/>
          </a:p>
        </p:txBody>
      </p:sp>
    </p:spTree>
    <p:extLst>
      <p:ext uri="{BB962C8B-B14F-4D97-AF65-F5344CB8AC3E}">
        <p14:creationId xmlns:p14="http://schemas.microsoft.com/office/powerpoint/2010/main" val="28423588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w</a:t>
            </a:r>
            <a:r>
              <a:rPr lang="en-US" dirty="0" smtClean="0"/>
              <a:t>hile loop</a:t>
            </a:r>
            <a:endParaRPr lang="en-US" dirty="0"/>
          </a:p>
        </p:txBody>
      </p:sp>
      <p:sp>
        <p:nvSpPr>
          <p:cNvPr id="3" name="Title 2"/>
          <p:cNvSpPr>
            <a:spLocks noGrp="1"/>
          </p:cNvSpPr>
          <p:nvPr>
            <p:ph type="title"/>
          </p:nvPr>
        </p:nvSpPr>
        <p:spPr/>
        <p:txBody>
          <a:bodyPr/>
          <a:lstStyle/>
          <a:p>
            <a:r>
              <a:rPr lang="en-US" dirty="0"/>
              <a:t>Previous Lecture</a:t>
            </a:r>
          </a:p>
        </p:txBody>
      </p:sp>
    </p:spTree>
    <p:extLst>
      <p:ext uri="{BB962C8B-B14F-4D97-AF65-F5344CB8AC3E}">
        <p14:creationId xmlns:p14="http://schemas.microsoft.com/office/powerpoint/2010/main" val="21114295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d</a:t>
            </a:r>
            <a:r>
              <a:rPr lang="en-US" dirty="0" smtClean="0"/>
              <a:t>o-while loop</a:t>
            </a:r>
            <a:endParaRPr lang="en-US" dirty="0"/>
          </a:p>
        </p:txBody>
      </p:sp>
      <p:sp>
        <p:nvSpPr>
          <p:cNvPr id="4" name="Title 2"/>
          <p:cNvSpPr>
            <a:spLocks noGrp="1"/>
          </p:cNvSpPr>
          <p:nvPr>
            <p:ph type="title"/>
          </p:nvPr>
        </p:nvSpPr>
        <p:spPr/>
        <p:txBody>
          <a:bodyPr/>
          <a:lstStyle/>
          <a:p>
            <a:r>
              <a:rPr lang="en-US" dirty="0" smtClean="0"/>
              <a:t>Today’s Lecture</a:t>
            </a:r>
            <a:endParaRPr lang="en-US" dirty="0"/>
          </a:p>
        </p:txBody>
      </p:sp>
    </p:spTree>
    <p:extLst>
      <p:ext uri="{BB962C8B-B14F-4D97-AF65-F5344CB8AC3E}">
        <p14:creationId xmlns:p14="http://schemas.microsoft.com/office/powerpoint/2010/main" val="5935344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The do-while loop is a posttest loop, which means its expression is tested after each iteration. </a:t>
            </a:r>
            <a:endParaRPr lang="en-US" dirty="0" smtClean="0"/>
          </a:p>
          <a:p>
            <a:pPr marL="0" indent="0" algn="just">
              <a:buNone/>
            </a:pPr>
            <a:endParaRPr lang="en-US" dirty="0" smtClean="0"/>
          </a:p>
          <a:p>
            <a:pPr algn="just"/>
            <a:r>
              <a:rPr lang="en-US" dirty="0" smtClean="0"/>
              <a:t>A </a:t>
            </a:r>
            <a:r>
              <a:rPr lang="en-US" dirty="0"/>
              <a:t>do-while loop is the same as a while loop except that it executes the loop body first and then checks the </a:t>
            </a:r>
            <a:r>
              <a:rPr lang="en-US" dirty="0" smtClean="0"/>
              <a:t>loop condition. </a:t>
            </a:r>
            <a:r>
              <a:rPr lang="en-US" dirty="0"/>
              <a:t>I</a:t>
            </a:r>
            <a:r>
              <a:rPr lang="en-US" dirty="0" smtClean="0"/>
              <a:t>f </a:t>
            </a:r>
            <a:r>
              <a:rPr lang="en-US" dirty="0"/>
              <a:t>the condition is true, then it will repeat the loop as long as the condition is true.</a:t>
            </a:r>
          </a:p>
          <a:p>
            <a:endParaRPr lang="en-US" dirty="0"/>
          </a:p>
        </p:txBody>
      </p:sp>
      <p:sp>
        <p:nvSpPr>
          <p:cNvPr id="3" name="Title 2"/>
          <p:cNvSpPr>
            <a:spLocks noGrp="1"/>
          </p:cNvSpPr>
          <p:nvPr>
            <p:ph type="title"/>
          </p:nvPr>
        </p:nvSpPr>
        <p:spPr/>
        <p:txBody>
          <a:bodyPr/>
          <a:lstStyle/>
          <a:p>
            <a:r>
              <a:rPr lang="en-US" dirty="0"/>
              <a:t>d</a:t>
            </a:r>
            <a:r>
              <a:rPr lang="en-US" dirty="0" smtClean="0"/>
              <a:t>o while Loop</a:t>
            </a:r>
            <a:endParaRPr lang="en-US" dirty="0"/>
          </a:p>
        </p:txBody>
      </p:sp>
    </p:spTree>
    <p:extLst>
      <p:ext uri="{BB962C8B-B14F-4D97-AF65-F5344CB8AC3E}">
        <p14:creationId xmlns:p14="http://schemas.microsoft.com/office/powerpoint/2010/main" val="20750356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The do-while loop looks something like an inverted while loop. Here is the do-while loop’s format when the body of the loop contains only a single statement</a:t>
            </a:r>
            <a:r>
              <a:rPr lang="en-US" dirty="0" smtClean="0"/>
              <a:t>:</a:t>
            </a:r>
          </a:p>
          <a:p>
            <a:pPr algn="just"/>
            <a:endParaRPr lang="en-US" dirty="0"/>
          </a:p>
          <a:p>
            <a:pPr algn="just"/>
            <a:endParaRPr lang="en-US" dirty="0" smtClean="0"/>
          </a:p>
          <a:p>
            <a:pPr algn="just"/>
            <a:endParaRPr lang="en-US" dirty="0"/>
          </a:p>
          <a:p>
            <a:pPr marL="0" indent="0" algn="just">
              <a:buNone/>
            </a:pPr>
            <a:r>
              <a:rPr lang="en-US" dirty="0" smtClean="0"/>
              <a:t> </a:t>
            </a:r>
            <a:endParaRPr lang="en-US" dirty="0"/>
          </a:p>
        </p:txBody>
      </p:sp>
      <p:sp>
        <p:nvSpPr>
          <p:cNvPr id="3" name="Title 2"/>
          <p:cNvSpPr>
            <a:spLocks noGrp="1"/>
          </p:cNvSpPr>
          <p:nvPr>
            <p:ph type="title"/>
          </p:nvPr>
        </p:nvSpPr>
        <p:spPr/>
        <p:txBody>
          <a:bodyPr/>
          <a:lstStyle/>
          <a:p>
            <a:r>
              <a:rPr lang="en-US" dirty="0"/>
              <a:t>d</a:t>
            </a:r>
            <a:r>
              <a:rPr lang="en-US" dirty="0" smtClean="0"/>
              <a:t>o while Loop</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581401"/>
            <a:ext cx="5678666" cy="1295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59719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Autofit/>
          </a:bodyPr>
          <a:lstStyle/>
          <a:p>
            <a:pPr algn="just"/>
            <a:r>
              <a:rPr lang="en-US" dirty="0"/>
              <a:t>Here is the format of the do-while loop when the body of the loop contains multiple statements: </a:t>
            </a:r>
            <a:endParaRPr lang="en-US" dirty="0" smtClean="0"/>
          </a:p>
          <a:p>
            <a:pPr algn="just"/>
            <a:endParaRPr lang="en-US" dirty="0"/>
          </a:p>
          <a:p>
            <a:pPr algn="just"/>
            <a:endParaRPr lang="en-US" dirty="0" smtClean="0"/>
          </a:p>
          <a:p>
            <a:pPr algn="just"/>
            <a:endParaRPr lang="en-US" dirty="0"/>
          </a:p>
          <a:p>
            <a:pPr algn="just"/>
            <a:endParaRPr lang="en-US" dirty="0" smtClean="0"/>
          </a:p>
          <a:p>
            <a:pPr marL="0" indent="0" algn="just">
              <a:buNone/>
            </a:pPr>
            <a:endParaRPr lang="en-US" dirty="0" smtClean="0"/>
          </a:p>
          <a:p>
            <a:pPr marL="0" indent="0" algn="just">
              <a:buNone/>
            </a:pPr>
            <a:endParaRPr lang="en-US" dirty="0"/>
          </a:p>
          <a:p>
            <a:pPr algn="just"/>
            <a:r>
              <a:rPr lang="en-US" dirty="0" smtClean="0"/>
              <a:t>The </a:t>
            </a:r>
            <a:r>
              <a:rPr lang="en-US" dirty="0"/>
              <a:t>do-while loop must be terminated with a semicolon. </a:t>
            </a:r>
          </a:p>
          <a:p>
            <a:pPr marL="0" indent="0" algn="just">
              <a:buNone/>
            </a:pPr>
            <a:endParaRPr lang="en-US" dirty="0" smtClean="0"/>
          </a:p>
          <a:p>
            <a:pPr algn="just"/>
            <a:endParaRPr lang="en-US" dirty="0"/>
          </a:p>
          <a:p>
            <a:pPr marL="0" indent="0" algn="just">
              <a:buNone/>
            </a:pPr>
            <a:r>
              <a:rPr lang="en-US" dirty="0" smtClean="0"/>
              <a:t> </a:t>
            </a:r>
            <a:endParaRPr lang="en-US" dirty="0"/>
          </a:p>
        </p:txBody>
      </p:sp>
      <p:sp>
        <p:nvSpPr>
          <p:cNvPr id="3" name="Title 2"/>
          <p:cNvSpPr>
            <a:spLocks noGrp="1"/>
          </p:cNvSpPr>
          <p:nvPr>
            <p:ph type="title"/>
          </p:nvPr>
        </p:nvSpPr>
        <p:spPr/>
        <p:txBody>
          <a:bodyPr/>
          <a:lstStyle/>
          <a:p>
            <a:r>
              <a:rPr lang="en-US" dirty="0"/>
              <a:t>d</a:t>
            </a:r>
            <a:r>
              <a:rPr lang="en-US" dirty="0" smtClean="0"/>
              <a:t>o while Loop</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124200"/>
            <a:ext cx="5393216"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11853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The do-while loop is a posttest loop. This means it does not test its expression until it has completed an iteration. </a:t>
            </a:r>
            <a:endParaRPr lang="en-US" dirty="0" smtClean="0"/>
          </a:p>
          <a:p>
            <a:pPr algn="just"/>
            <a:r>
              <a:rPr lang="en-US" dirty="0" smtClean="0"/>
              <a:t>As </a:t>
            </a:r>
            <a:r>
              <a:rPr lang="en-US" dirty="0"/>
              <a:t>a result, the do-while loop always performs at least one iteration, even if the expression is false to begin with. </a:t>
            </a:r>
            <a:endParaRPr lang="en-US" dirty="0" smtClean="0"/>
          </a:p>
          <a:p>
            <a:pPr algn="just"/>
            <a:r>
              <a:rPr lang="en-US" dirty="0" smtClean="0"/>
              <a:t>This </a:t>
            </a:r>
            <a:r>
              <a:rPr lang="en-US" dirty="0"/>
              <a:t>differs from the behavior of a while loop, which you will recall is a pretest loop</a:t>
            </a:r>
          </a:p>
        </p:txBody>
      </p:sp>
      <p:sp>
        <p:nvSpPr>
          <p:cNvPr id="3" name="Title 2"/>
          <p:cNvSpPr>
            <a:spLocks noGrp="1"/>
          </p:cNvSpPr>
          <p:nvPr>
            <p:ph type="title"/>
          </p:nvPr>
        </p:nvSpPr>
        <p:spPr/>
        <p:txBody>
          <a:bodyPr/>
          <a:lstStyle/>
          <a:p>
            <a:r>
              <a:rPr lang="en-US" dirty="0"/>
              <a:t>d</a:t>
            </a:r>
            <a:r>
              <a:rPr lang="en-US" dirty="0" smtClean="0"/>
              <a:t>o while Loop</a:t>
            </a:r>
            <a:endParaRPr lang="en-US" dirty="0"/>
          </a:p>
        </p:txBody>
      </p:sp>
    </p:spTree>
    <p:extLst>
      <p:ext uri="{BB962C8B-B14F-4D97-AF65-F5344CB8AC3E}">
        <p14:creationId xmlns:p14="http://schemas.microsoft.com/office/powerpoint/2010/main" val="1357365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a:t>
            </a:r>
            <a:r>
              <a:rPr lang="en-US" dirty="0" smtClean="0"/>
              <a:t>o while Loop</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 y="2743200"/>
            <a:ext cx="3268980" cy="2951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2590800"/>
            <a:ext cx="3400425" cy="3073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838200" y="2209800"/>
            <a:ext cx="1319592" cy="369332"/>
          </a:xfrm>
          <a:prstGeom prst="rect">
            <a:avLst/>
          </a:prstGeom>
          <a:noFill/>
        </p:spPr>
        <p:txBody>
          <a:bodyPr wrap="none" rtlCol="0">
            <a:spAutoFit/>
          </a:bodyPr>
          <a:lstStyle/>
          <a:p>
            <a:r>
              <a:rPr lang="en-US" b="1" dirty="0"/>
              <a:t>w</a:t>
            </a:r>
            <a:r>
              <a:rPr lang="en-US" b="1" dirty="0" smtClean="0"/>
              <a:t>hile loop</a:t>
            </a:r>
            <a:endParaRPr lang="en-US" b="1" dirty="0"/>
          </a:p>
        </p:txBody>
      </p:sp>
      <p:sp>
        <p:nvSpPr>
          <p:cNvPr id="7" name="TextBox 6"/>
          <p:cNvSpPr txBox="1"/>
          <p:nvPr/>
        </p:nvSpPr>
        <p:spPr>
          <a:xfrm>
            <a:off x="5638800" y="2145268"/>
            <a:ext cx="1665841" cy="369332"/>
          </a:xfrm>
          <a:prstGeom prst="rect">
            <a:avLst/>
          </a:prstGeom>
          <a:noFill/>
        </p:spPr>
        <p:txBody>
          <a:bodyPr wrap="none" rtlCol="0">
            <a:spAutoFit/>
          </a:bodyPr>
          <a:lstStyle/>
          <a:p>
            <a:r>
              <a:rPr lang="en-US" b="1" dirty="0"/>
              <a:t>d</a:t>
            </a:r>
            <a:r>
              <a:rPr lang="en-US" b="1" dirty="0" smtClean="0"/>
              <a:t>o-while loop</a:t>
            </a:r>
            <a:endParaRPr lang="en-US" b="1" dirty="0"/>
          </a:p>
        </p:txBody>
      </p:sp>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9810" y="5694804"/>
            <a:ext cx="663819" cy="71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5694804"/>
            <a:ext cx="1347172"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9586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a:t>
            </a:r>
            <a:r>
              <a:rPr lang="en-US" dirty="0" smtClean="0"/>
              <a:t>o while Loop</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2274276"/>
            <a:ext cx="3048000" cy="4126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513466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041321"/>
            <a:ext cx="2971800" cy="4771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2"/>
          <p:cNvSpPr>
            <a:spLocks noGrp="1"/>
          </p:cNvSpPr>
          <p:nvPr>
            <p:ph type="title"/>
          </p:nvPr>
        </p:nvSpPr>
        <p:spPr/>
        <p:txBody>
          <a:bodyPr/>
          <a:lstStyle/>
          <a:p>
            <a:r>
              <a:rPr lang="en-US" dirty="0"/>
              <a:t>d</a:t>
            </a:r>
            <a:r>
              <a:rPr lang="en-US" dirty="0" smtClean="0"/>
              <a:t>o while Loop</a:t>
            </a:r>
            <a:endParaRPr lang="en-US"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4379119"/>
            <a:ext cx="533400" cy="2250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477000" y="3881735"/>
            <a:ext cx="1208985" cy="461665"/>
          </a:xfrm>
          <a:prstGeom prst="rect">
            <a:avLst/>
          </a:prstGeom>
          <a:noFill/>
        </p:spPr>
        <p:txBody>
          <a:bodyPr wrap="none" rtlCol="0">
            <a:spAutoFit/>
          </a:bodyPr>
          <a:lstStyle/>
          <a:p>
            <a:r>
              <a:rPr lang="en-US" sz="2400" b="1" dirty="0" smtClean="0"/>
              <a:t>Output</a:t>
            </a:r>
            <a:endParaRPr lang="en-US" sz="2400" b="1" dirty="0"/>
          </a:p>
        </p:txBody>
      </p:sp>
    </p:spTree>
    <p:extLst>
      <p:ext uri="{BB962C8B-B14F-4D97-AF65-F5344CB8AC3E}">
        <p14:creationId xmlns:p14="http://schemas.microsoft.com/office/powerpoint/2010/main" val="1493003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p:txBody>
          <a:bodyPr/>
          <a:lstStyle/>
          <a:p>
            <a:r>
              <a:rPr lang="en-US" dirty="0"/>
              <a:t>d</a:t>
            </a:r>
            <a:r>
              <a:rPr lang="en-US" dirty="0" smtClean="0"/>
              <a:t>o while Loop</a:t>
            </a:r>
            <a:endParaRPr lang="en-US" dirty="0"/>
          </a:p>
        </p:txBody>
      </p:sp>
      <p:sp>
        <p:nvSpPr>
          <p:cNvPr id="4" name="TextBox 3"/>
          <p:cNvSpPr txBox="1"/>
          <p:nvPr/>
        </p:nvSpPr>
        <p:spPr>
          <a:xfrm>
            <a:off x="6477000" y="3881735"/>
            <a:ext cx="1208985" cy="461665"/>
          </a:xfrm>
          <a:prstGeom prst="rect">
            <a:avLst/>
          </a:prstGeom>
          <a:noFill/>
        </p:spPr>
        <p:txBody>
          <a:bodyPr wrap="none" rtlCol="0">
            <a:spAutoFit/>
          </a:bodyPr>
          <a:lstStyle/>
          <a:p>
            <a:r>
              <a:rPr lang="en-US" sz="2400" b="1" dirty="0" smtClean="0"/>
              <a:t>Output</a:t>
            </a:r>
            <a:endParaRPr lang="en-US" sz="2400" b="1"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3354" y="4343400"/>
            <a:ext cx="676275" cy="766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081945"/>
            <a:ext cx="2743200" cy="4602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3035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You should use the do-while loop when you want to make sure the loop executes at least once. </a:t>
            </a:r>
            <a:endParaRPr lang="en-US" dirty="0" smtClean="0"/>
          </a:p>
          <a:p>
            <a:pPr marL="0" indent="0" algn="just">
              <a:buNone/>
            </a:pPr>
            <a:endParaRPr lang="en-US" dirty="0" smtClean="0"/>
          </a:p>
          <a:p>
            <a:pPr algn="just"/>
            <a:r>
              <a:rPr lang="en-US" b="1" dirty="0" smtClean="0"/>
              <a:t>For </a:t>
            </a:r>
            <a:r>
              <a:rPr lang="en-US" b="1" dirty="0"/>
              <a:t>example</a:t>
            </a:r>
            <a:r>
              <a:rPr lang="en-US" dirty="0"/>
              <a:t>, </a:t>
            </a:r>
            <a:r>
              <a:rPr lang="en-US" dirty="0" smtClean="0"/>
              <a:t>program in the next slide averages </a:t>
            </a:r>
            <a:r>
              <a:rPr lang="en-US" dirty="0"/>
              <a:t>a series of three test scores for a student. After the </a:t>
            </a:r>
            <a:r>
              <a:rPr lang="en-US" dirty="0" smtClean="0"/>
              <a:t>average </a:t>
            </a:r>
            <a:r>
              <a:rPr lang="en-US" dirty="0"/>
              <a:t>is displayed, it asks the user if he or she wants to average another set of test scores. The program repeats as long as the user enters Y for yes.</a:t>
            </a:r>
          </a:p>
        </p:txBody>
      </p:sp>
      <p:sp>
        <p:nvSpPr>
          <p:cNvPr id="3" name="Title 2"/>
          <p:cNvSpPr>
            <a:spLocks noGrp="1"/>
          </p:cNvSpPr>
          <p:nvPr>
            <p:ph type="title"/>
          </p:nvPr>
        </p:nvSpPr>
        <p:spPr/>
        <p:txBody>
          <a:bodyPr/>
          <a:lstStyle/>
          <a:p>
            <a:r>
              <a:rPr lang="en-US" dirty="0"/>
              <a:t>d</a:t>
            </a:r>
            <a:r>
              <a:rPr lang="en-US" dirty="0" smtClean="0"/>
              <a:t>o while Loop</a:t>
            </a:r>
            <a:endParaRPr lang="en-US" dirty="0"/>
          </a:p>
        </p:txBody>
      </p:sp>
    </p:spTree>
    <p:extLst>
      <p:ext uri="{BB962C8B-B14F-4D97-AF65-F5344CB8AC3E}">
        <p14:creationId xmlns:p14="http://schemas.microsoft.com/office/powerpoint/2010/main" val="4353609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36508"/>
            <a:ext cx="7297546" cy="6569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70877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76200"/>
            <a:ext cx="4648200" cy="35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2"/>
          <p:cNvSpPr txBox="1">
            <a:spLocks/>
          </p:cNvSpPr>
          <p:nvPr/>
        </p:nvSpPr>
        <p:spPr>
          <a:xfrm rot="16200000">
            <a:off x="-2501600" y="2922457"/>
            <a:ext cx="6362250" cy="1054250"/>
          </a:xfrm>
          <a:prstGeom prst="rect">
            <a:avLst/>
          </a:prstGeom>
        </p:spPr>
        <p:txBody>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Output</a:t>
            </a:r>
            <a:endParaRPr lang="en-US" dirty="0"/>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457200"/>
            <a:ext cx="56538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1371600"/>
            <a:ext cx="5813042"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2895600"/>
            <a:ext cx="5736842" cy="1779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4724400"/>
            <a:ext cx="42672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5870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When this program was written, the programmer had no way of knowing the number of times the loop would iterate. This is because the loop asks the user if he or she wants to repeat the process. </a:t>
            </a:r>
            <a:endParaRPr lang="en-US" dirty="0" smtClean="0"/>
          </a:p>
          <a:p>
            <a:pPr algn="just"/>
            <a:r>
              <a:rPr lang="en-US" dirty="0" smtClean="0"/>
              <a:t>This </a:t>
            </a:r>
            <a:r>
              <a:rPr lang="en-US" dirty="0"/>
              <a:t>type of loop is known as a </a:t>
            </a:r>
            <a:r>
              <a:rPr lang="en-US" b="1" dirty="0"/>
              <a:t>user-controlled loop</a:t>
            </a:r>
            <a:r>
              <a:rPr lang="en-US" dirty="0"/>
              <a:t>, because it allows the user to decide the number of iterations.</a:t>
            </a:r>
          </a:p>
        </p:txBody>
      </p:sp>
      <p:sp>
        <p:nvSpPr>
          <p:cNvPr id="3" name="Title 2"/>
          <p:cNvSpPr>
            <a:spLocks noGrp="1"/>
          </p:cNvSpPr>
          <p:nvPr>
            <p:ph type="title"/>
          </p:nvPr>
        </p:nvSpPr>
        <p:spPr/>
        <p:txBody>
          <a:bodyPr/>
          <a:lstStyle/>
          <a:p>
            <a:r>
              <a:rPr lang="en-US" dirty="0"/>
              <a:t>d</a:t>
            </a:r>
            <a:r>
              <a:rPr lang="en-US" dirty="0" smtClean="0"/>
              <a:t>o while Loop</a:t>
            </a:r>
            <a:endParaRPr lang="en-US" dirty="0"/>
          </a:p>
        </p:txBody>
      </p:sp>
    </p:spTree>
    <p:extLst>
      <p:ext uri="{BB962C8B-B14F-4D97-AF65-F5344CB8AC3E}">
        <p14:creationId xmlns:p14="http://schemas.microsoft.com/office/powerpoint/2010/main" val="11322564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fontScale="92500" lnSpcReduction="10000"/>
          </a:bodyPr>
          <a:lstStyle/>
          <a:p>
            <a:pPr algn="just"/>
            <a:r>
              <a:rPr lang="en-US" dirty="0"/>
              <a:t>The do-while loop is a good choice for repeating a </a:t>
            </a:r>
            <a:r>
              <a:rPr lang="en-US" dirty="0" smtClean="0"/>
              <a:t>menu.</a:t>
            </a:r>
          </a:p>
          <a:p>
            <a:pPr marL="0" indent="0" algn="just">
              <a:buNone/>
            </a:pPr>
            <a:endParaRPr lang="en-US" dirty="0" smtClean="0"/>
          </a:p>
          <a:p>
            <a:pPr marL="0" indent="0" algn="just">
              <a:buNone/>
            </a:pPr>
            <a:r>
              <a:rPr lang="en-US" b="1" dirty="0" smtClean="0"/>
              <a:t>Program:</a:t>
            </a:r>
            <a:endParaRPr lang="en-US" b="1" dirty="0"/>
          </a:p>
          <a:p>
            <a:r>
              <a:rPr lang="en-US" dirty="0"/>
              <a:t>Write a C++ program that displays a simple menu with three options:</a:t>
            </a:r>
          </a:p>
          <a:p>
            <a:pPr marL="914400" indent="-514350">
              <a:buFont typeface="+mj-lt"/>
              <a:buAutoNum type="romanLcPeriod"/>
            </a:pPr>
            <a:r>
              <a:rPr lang="en-US" dirty="0"/>
              <a:t>Print "Hello </a:t>
            </a:r>
            <a:r>
              <a:rPr lang="en-US" dirty="0" smtClean="0"/>
              <a:t>World“</a:t>
            </a:r>
          </a:p>
          <a:p>
            <a:pPr marL="914400" indent="-514350">
              <a:buFont typeface="+mj-lt"/>
              <a:buAutoNum type="romanLcPeriod"/>
            </a:pPr>
            <a:r>
              <a:rPr lang="en-US" dirty="0" smtClean="0"/>
              <a:t>Print </a:t>
            </a:r>
            <a:r>
              <a:rPr lang="en-US" dirty="0"/>
              <a:t>the current </a:t>
            </a:r>
            <a:r>
              <a:rPr lang="en-US" dirty="0" smtClean="0"/>
              <a:t>date.</a:t>
            </a:r>
          </a:p>
          <a:p>
            <a:pPr marL="914400" indent="-514350">
              <a:buFont typeface="+mj-lt"/>
              <a:buAutoNum type="romanLcPeriod"/>
            </a:pPr>
            <a:r>
              <a:rPr lang="en-US" dirty="0" smtClean="0"/>
              <a:t>Exit </a:t>
            </a:r>
            <a:r>
              <a:rPr lang="en-US" dirty="0"/>
              <a:t>the program</a:t>
            </a:r>
          </a:p>
          <a:p>
            <a:pPr marL="0" indent="0">
              <a:buNone/>
            </a:pPr>
            <a:r>
              <a:rPr lang="en-US" dirty="0" smtClean="0"/>
              <a:t>The </a:t>
            </a:r>
            <a:r>
              <a:rPr lang="en-US" dirty="0"/>
              <a:t>program should repeat the menu after each choice (except exit) and use a do-while loop to ensure the menu appears at least once. Handle invalid inputs by showing an error message and re-displaying the menu.</a:t>
            </a:r>
          </a:p>
          <a:p>
            <a:pPr algn="just"/>
            <a:endParaRPr lang="en-US" dirty="0"/>
          </a:p>
        </p:txBody>
      </p:sp>
      <p:sp>
        <p:nvSpPr>
          <p:cNvPr id="3" name="Title 2"/>
          <p:cNvSpPr>
            <a:spLocks noGrp="1"/>
          </p:cNvSpPr>
          <p:nvPr>
            <p:ph type="title"/>
          </p:nvPr>
        </p:nvSpPr>
        <p:spPr>
          <a:xfrm>
            <a:off x="228600" y="381000"/>
            <a:ext cx="8763000" cy="1054250"/>
          </a:xfrm>
        </p:spPr>
        <p:txBody>
          <a:bodyPr/>
          <a:lstStyle/>
          <a:p>
            <a:r>
              <a:rPr lang="en-US" dirty="0"/>
              <a:t>Using do-while with Menus </a:t>
            </a:r>
          </a:p>
        </p:txBody>
      </p:sp>
    </p:spTree>
    <p:extLst>
      <p:ext uri="{BB962C8B-B14F-4D97-AF65-F5344CB8AC3E}">
        <p14:creationId xmlns:p14="http://schemas.microsoft.com/office/powerpoint/2010/main" val="31446079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52400"/>
            <a:ext cx="6096000" cy="6539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13385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28600"/>
            <a:ext cx="6729506"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2174018"/>
            <a:ext cx="3400425" cy="4473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9402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Although most repetitive algorithms can be written with any of the three types of loops, each works best in different situations</a:t>
            </a:r>
            <a:r>
              <a:rPr lang="en-US" dirty="0" smtClean="0"/>
              <a:t>.</a:t>
            </a:r>
          </a:p>
          <a:p>
            <a:pPr marL="640080" algn="just">
              <a:buFont typeface="Arial" pitchFamily="34" charset="0"/>
              <a:buChar char="•"/>
            </a:pPr>
            <a:r>
              <a:rPr lang="en-US" dirty="0" smtClean="0"/>
              <a:t>The </a:t>
            </a:r>
            <a:r>
              <a:rPr lang="en-US" b="1" dirty="0"/>
              <a:t>while loop </a:t>
            </a:r>
            <a:r>
              <a:rPr lang="en-US" dirty="0"/>
              <a:t>is a conditional loop, which means it repeats as long as a particular condition exists. It is also a pretest loop, so it is ideal in situations where you do not want the loop to iterate if the condition is false from the beginning. </a:t>
            </a:r>
            <a:endParaRPr lang="en-US" dirty="0" smtClean="0"/>
          </a:p>
          <a:p>
            <a:pPr marL="640080" indent="0" algn="just">
              <a:buNone/>
            </a:pPr>
            <a:r>
              <a:rPr lang="en-US" b="1" dirty="0"/>
              <a:t>For example</a:t>
            </a:r>
            <a:r>
              <a:rPr lang="en-US" dirty="0"/>
              <a:t>, validating input that has been read and reading lists of data terminated by a sentinel value are good applications of the while loop. </a:t>
            </a:r>
          </a:p>
        </p:txBody>
      </p:sp>
      <p:sp>
        <p:nvSpPr>
          <p:cNvPr id="3" name="Title 2"/>
          <p:cNvSpPr>
            <a:spLocks noGrp="1"/>
          </p:cNvSpPr>
          <p:nvPr>
            <p:ph type="title"/>
          </p:nvPr>
        </p:nvSpPr>
        <p:spPr/>
        <p:txBody>
          <a:bodyPr/>
          <a:lstStyle/>
          <a:p>
            <a:r>
              <a:rPr lang="en-US" dirty="0"/>
              <a:t>Which Loop to Use?</a:t>
            </a:r>
          </a:p>
        </p:txBody>
      </p:sp>
    </p:spTree>
    <p:extLst>
      <p:ext uri="{BB962C8B-B14F-4D97-AF65-F5344CB8AC3E}">
        <p14:creationId xmlns:p14="http://schemas.microsoft.com/office/powerpoint/2010/main" val="14305599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marL="640080" algn="just">
              <a:buFont typeface="Arial" pitchFamily="34" charset="0"/>
              <a:buChar char="•"/>
            </a:pPr>
            <a:r>
              <a:rPr lang="en-US" dirty="0" smtClean="0"/>
              <a:t>The </a:t>
            </a:r>
            <a:r>
              <a:rPr lang="en-US" b="1" dirty="0"/>
              <a:t>do-while</a:t>
            </a:r>
            <a:r>
              <a:rPr lang="en-US" dirty="0"/>
              <a:t> loop is also a conditional loop. Unlike the while loop, however, do-while is a posttest loop. It is ideal in situations where you always want the loop to iterate at least once. </a:t>
            </a:r>
            <a:endParaRPr lang="en-US" dirty="0" smtClean="0"/>
          </a:p>
          <a:p>
            <a:pPr marL="640080" indent="0" algn="just">
              <a:buNone/>
            </a:pPr>
            <a:r>
              <a:rPr lang="en-US" dirty="0" smtClean="0"/>
              <a:t>The </a:t>
            </a:r>
            <a:r>
              <a:rPr lang="en-US" b="1" dirty="0"/>
              <a:t>do-while</a:t>
            </a:r>
            <a:r>
              <a:rPr lang="en-US" dirty="0"/>
              <a:t> loop is a good choice for repeating a menu. </a:t>
            </a:r>
          </a:p>
        </p:txBody>
      </p:sp>
      <p:sp>
        <p:nvSpPr>
          <p:cNvPr id="3" name="Title 2"/>
          <p:cNvSpPr>
            <a:spLocks noGrp="1"/>
          </p:cNvSpPr>
          <p:nvPr>
            <p:ph type="title"/>
          </p:nvPr>
        </p:nvSpPr>
        <p:spPr/>
        <p:txBody>
          <a:bodyPr/>
          <a:lstStyle/>
          <a:p>
            <a:r>
              <a:rPr lang="en-US" dirty="0"/>
              <a:t>Which Loop to Use?</a:t>
            </a:r>
          </a:p>
        </p:txBody>
      </p:sp>
    </p:spTree>
    <p:extLst>
      <p:ext uri="{BB962C8B-B14F-4D97-AF65-F5344CB8AC3E}">
        <p14:creationId xmlns:p14="http://schemas.microsoft.com/office/powerpoint/2010/main" val="6539158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marL="640080" indent="-342900" algn="just">
              <a:buFont typeface="Arial" pitchFamily="34" charset="0"/>
              <a:buChar char="•"/>
            </a:pPr>
            <a:r>
              <a:rPr lang="en-US" dirty="0"/>
              <a:t>The </a:t>
            </a:r>
            <a:r>
              <a:rPr lang="en-US" b="1" dirty="0"/>
              <a:t>for loop </a:t>
            </a:r>
            <a:r>
              <a:rPr lang="en-US" dirty="0"/>
              <a:t>is a pretest loop that has built-in expressions for initializing, testing, and updating. These expressions make it very convenient to use a counter variable to control the number of iterations that the loop performs. </a:t>
            </a:r>
            <a:endParaRPr lang="en-US" dirty="0" smtClean="0"/>
          </a:p>
          <a:p>
            <a:pPr marL="640080" indent="0" algn="just">
              <a:buNone/>
            </a:pPr>
            <a:r>
              <a:rPr lang="en-US" dirty="0" smtClean="0"/>
              <a:t>The </a:t>
            </a:r>
            <a:r>
              <a:rPr lang="en-US" b="1" dirty="0"/>
              <a:t>for loop </a:t>
            </a:r>
            <a:r>
              <a:rPr lang="en-US" dirty="0"/>
              <a:t>is ideal in situations where the exact number of iterations is known. </a:t>
            </a:r>
          </a:p>
        </p:txBody>
      </p:sp>
      <p:sp>
        <p:nvSpPr>
          <p:cNvPr id="3" name="Title 2"/>
          <p:cNvSpPr>
            <a:spLocks noGrp="1"/>
          </p:cNvSpPr>
          <p:nvPr>
            <p:ph type="title"/>
          </p:nvPr>
        </p:nvSpPr>
        <p:spPr/>
        <p:txBody>
          <a:bodyPr/>
          <a:lstStyle/>
          <a:p>
            <a:r>
              <a:rPr lang="en-US" dirty="0"/>
              <a:t>Which Loop to Use?</a:t>
            </a:r>
          </a:p>
        </p:txBody>
      </p:sp>
    </p:spTree>
    <p:extLst>
      <p:ext uri="{BB962C8B-B14F-4D97-AF65-F5344CB8AC3E}">
        <p14:creationId xmlns:p14="http://schemas.microsoft.com/office/powerpoint/2010/main" val="7387718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2260</TotalTime>
  <Words>683</Words>
  <Application>Microsoft Office PowerPoint</Application>
  <PresentationFormat>On-screen Show (4:3)</PresentationFormat>
  <Paragraphs>68</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Hardcover</vt:lpstr>
      <vt:lpstr>Programming Fundamentals</vt:lpstr>
      <vt:lpstr>Previous Lecture</vt:lpstr>
      <vt:lpstr>Today’s Lecture</vt:lpstr>
      <vt:lpstr>do while Loop</vt:lpstr>
      <vt:lpstr>do while Loop</vt:lpstr>
      <vt:lpstr>do while Loop</vt:lpstr>
      <vt:lpstr>do while Loop</vt:lpstr>
      <vt:lpstr>do while Loop</vt:lpstr>
      <vt:lpstr>do while Loop</vt:lpstr>
      <vt:lpstr>do while Loop</vt:lpstr>
      <vt:lpstr>do while Loop</vt:lpstr>
      <vt:lpstr>do while Loop</vt:lpstr>
      <vt:lpstr>PowerPoint Presentation</vt:lpstr>
      <vt:lpstr>PowerPoint Presentation</vt:lpstr>
      <vt:lpstr>do while Loop</vt:lpstr>
      <vt:lpstr>Using do-while with Menus </vt:lpstr>
      <vt:lpstr>PowerPoint Presentation</vt:lpstr>
      <vt:lpstr>PowerPoint Presentation</vt:lpstr>
      <vt:lpstr>Which Loop to Use?</vt:lpstr>
      <vt:lpstr>Which Loop to Use?</vt:lpstr>
      <vt:lpstr>Which Loop to Use?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Fundamentals</dc:title>
  <dc:creator>p06</dc:creator>
  <cp:lastModifiedBy>p06</cp:lastModifiedBy>
  <cp:revision>182</cp:revision>
  <dcterms:created xsi:type="dcterms:W3CDTF">2023-02-13T17:33:34Z</dcterms:created>
  <dcterms:modified xsi:type="dcterms:W3CDTF">2025-10-23T20:03:40Z</dcterms:modified>
</cp:coreProperties>
</file>