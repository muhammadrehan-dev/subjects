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32"/>
  </p:notesMasterIdLst>
  <p:sldIdLst>
    <p:sldId id="275" r:id="rId2"/>
    <p:sldId id="276" r:id="rId3"/>
    <p:sldId id="277" r:id="rId4"/>
    <p:sldId id="301" r:id="rId5"/>
    <p:sldId id="337" r:id="rId6"/>
    <p:sldId id="300" r:id="rId7"/>
    <p:sldId id="338" r:id="rId8"/>
    <p:sldId id="302" r:id="rId9"/>
    <p:sldId id="297" r:id="rId10"/>
    <p:sldId id="339" r:id="rId11"/>
    <p:sldId id="340" r:id="rId12"/>
    <p:sldId id="298" r:id="rId13"/>
    <p:sldId id="299" r:id="rId14"/>
    <p:sldId id="341" r:id="rId15"/>
    <p:sldId id="342" r:id="rId16"/>
    <p:sldId id="343" r:id="rId17"/>
    <p:sldId id="361" r:id="rId18"/>
    <p:sldId id="344" r:id="rId19"/>
    <p:sldId id="345" r:id="rId20"/>
    <p:sldId id="346" r:id="rId21"/>
    <p:sldId id="347" r:id="rId22"/>
    <p:sldId id="349" r:id="rId23"/>
    <p:sldId id="351" r:id="rId24"/>
    <p:sldId id="353" r:id="rId25"/>
    <p:sldId id="356" r:id="rId26"/>
    <p:sldId id="357" r:id="rId27"/>
    <p:sldId id="358" r:id="rId28"/>
    <p:sldId id="359" r:id="rId29"/>
    <p:sldId id="360" r:id="rId30"/>
    <p:sldId id="28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11/19/2025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11/19/2025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11/19/2025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relationship between array and pointers</a:t>
            </a:r>
          </a:p>
          <a:p>
            <a:r>
              <a:rPr lang="en-US" smtClean="0"/>
              <a:t>Pointers Arithmetic</a:t>
            </a:r>
            <a:endParaRPr lang="en-US" dirty="0"/>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Reference Variable</a:t>
            </a:r>
          </a:p>
          <a:p>
            <a:r>
              <a:rPr lang="en-US" dirty="0" smtClean="0"/>
              <a:t>Double Pointers</a:t>
            </a:r>
          </a:p>
          <a:p>
            <a:r>
              <a:rPr lang="en-US" dirty="0" smtClean="0"/>
              <a:t>Dynamic Memory Allocation</a:t>
            </a:r>
            <a:r>
              <a:rPr lang="en-US" dirty="0" smtClean="0"/>
              <a:t> </a:t>
            </a:r>
            <a:endParaRPr lang="en-US" dirty="0" smtClean="0"/>
          </a:p>
          <a:p>
            <a:pPr marL="0" indent="0">
              <a:buNone/>
            </a:pPr>
            <a:endParaRPr lang="en-US" dirty="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609600" y="2743200"/>
            <a:ext cx="7756525" cy="1054100"/>
          </a:xfrm>
        </p:spPr>
        <p:txBody>
          <a:bodyPr/>
          <a:lstStyle/>
          <a:p>
            <a:r>
              <a:rPr lang="en-US" dirty="0" smtClean="0"/>
              <a:t>Reference Variables</a:t>
            </a:r>
            <a:endParaRPr lang="en-US" dirty="0"/>
          </a:p>
        </p:txBody>
      </p:sp>
    </p:spTree>
    <p:extLst>
      <p:ext uri="{BB962C8B-B14F-4D97-AF65-F5344CB8AC3E}">
        <p14:creationId xmlns:p14="http://schemas.microsoft.com/office/powerpoint/2010/main" val="341769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133600"/>
            <a:ext cx="8305799" cy="4648199"/>
          </a:xfrm>
        </p:spPr>
        <p:txBody>
          <a:bodyPr>
            <a:normAutofit lnSpcReduction="10000"/>
          </a:bodyPr>
          <a:lstStyle/>
          <a:p>
            <a:pPr algn="just"/>
            <a:r>
              <a:rPr lang="en-US" dirty="0"/>
              <a:t>Imagine you have a real object, like a toy car, and you give it a nickname or an extra label. In C++, a </a:t>
            </a:r>
            <a:r>
              <a:rPr lang="en-US" b="1" dirty="0"/>
              <a:t>reference variable</a:t>
            </a:r>
            <a:r>
              <a:rPr lang="en-US" dirty="0"/>
              <a:t> is like that extra label – it's not a copy of the object, but another way to refer to the exact same thing</a:t>
            </a:r>
            <a:r>
              <a:rPr lang="en-US" dirty="0" smtClean="0"/>
              <a:t>.</a:t>
            </a:r>
          </a:p>
          <a:p>
            <a:pPr algn="just"/>
            <a:endParaRPr lang="en-US" dirty="0" smtClean="0"/>
          </a:p>
          <a:p>
            <a:pPr algn="just"/>
            <a:r>
              <a:rPr lang="en-US" dirty="0"/>
              <a:t>A </a:t>
            </a:r>
            <a:r>
              <a:rPr lang="en-US" b="1" dirty="0"/>
              <a:t>reference</a:t>
            </a:r>
            <a:r>
              <a:rPr lang="en-US" dirty="0"/>
              <a:t> is declared using the </a:t>
            </a:r>
            <a:r>
              <a:rPr lang="en-US" b="1" dirty="0"/>
              <a:t>&amp;</a:t>
            </a:r>
            <a:r>
              <a:rPr lang="en-US" dirty="0"/>
              <a:t> symbol and must be tied to an existing variable right when you create it (you can't make a reference without something to point to</a:t>
            </a:r>
            <a:r>
              <a:rPr lang="en-US" dirty="0" smtClean="0"/>
              <a:t>).</a:t>
            </a:r>
          </a:p>
          <a:p>
            <a:pPr algn="just"/>
            <a:endParaRPr lang="en-US" dirty="0" smtClean="0"/>
          </a:p>
          <a:p>
            <a:pPr algn="just"/>
            <a:r>
              <a:rPr lang="en-US" dirty="0"/>
              <a:t>Once created, the reference acts as an alias: any changes you make using the reference directly affect the original variable, and vice versa.</a:t>
            </a:r>
          </a:p>
          <a:p>
            <a:pPr algn="just"/>
            <a:endParaRPr lang="en-US" dirty="0"/>
          </a:p>
          <a:p>
            <a:pPr algn="just"/>
            <a:endParaRPr lang="en-US" dirty="0"/>
          </a:p>
        </p:txBody>
      </p:sp>
      <p:sp>
        <p:nvSpPr>
          <p:cNvPr id="3" name="Title 2"/>
          <p:cNvSpPr>
            <a:spLocks noGrp="1"/>
          </p:cNvSpPr>
          <p:nvPr>
            <p:ph type="title"/>
          </p:nvPr>
        </p:nvSpPr>
        <p:spPr>
          <a:xfrm>
            <a:off x="152400" y="381000"/>
            <a:ext cx="8839200" cy="1054250"/>
          </a:xfrm>
        </p:spPr>
        <p:txBody>
          <a:bodyPr/>
          <a:lstStyle/>
          <a:p>
            <a:r>
              <a:rPr lang="en-US" dirty="0" smtClean="0"/>
              <a:t>Reference Variables</a:t>
            </a:r>
            <a:endParaRPr lang="en-US" dirty="0"/>
          </a:p>
        </p:txBody>
      </p:sp>
    </p:spTree>
    <p:extLst>
      <p:ext uri="{BB962C8B-B14F-4D97-AF65-F5344CB8AC3E}">
        <p14:creationId xmlns:p14="http://schemas.microsoft.com/office/powerpoint/2010/main" val="3536488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6846278"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904" y="1662112"/>
            <a:ext cx="3413896"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145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rot="16200000">
            <a:off x="-2771749" y="2901875"/>
            <a:ext cx="6705600"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What is the output?</a:t>
            </a:r>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57200"/>
            <a:ext cx="3733800" cy="5786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4495800"/>
            <a:ext cx="881062" cy="1095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28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94313762"/>
              </p:ext>
            </p:extLst>
          </p:nvPr>
        </p:nvGraphicFramePr>
        <p:xfrm>
          <a:off x="698500" y="2392680"/>
          <a:ext cx="7747000" cy="4084320"/>
        </p:xfrm>
        <a:graphic>
          <a:graphicData uri="http://schemas.openxmlformats.org/drawingml/2006/table">
            <a:tbl>
              <a:tblPr firstRow="1" bandRow="1">
                <a:tableStyleId>{5C22544A-7EE6-4342-B048-85BDC9FD1C3A}</a:tableStyleId>
              </a:tblPr>
              <a:tblGrid>
                <a:gridCol w="3873500"/>
                <a:gridCol w="3873500"/>
              </a:tblGrid>
              <a:tr h="370840">
                <a:tc>
                  <a:txBody>
                    <a:bodyPr/>
                    <a:lstStyle/>
                    <a:p>
                      <a:pPr algn="ctr"/>
                      <a:r>
                        <a:rPr lang="en-US" sz="2400" dirty="0" smtClean="0"/>
                        <a:t>Pointers</a:t>
                      </a:r>
                      <a:endParaRPr lang="en-US" sz="2400" dirty="0"/>
                    </a:p>
                  </a:txBody>
                  <a:tcPr/>
                </a:tc>
                <a:tc>
                  <a:txBody>
                    <a:bodyPr/>
                    <a:lstStyle/>
                    <a:p>
                      <a:pPr algn="ctr"/>
                      <a:r>
                        <a:rPr lang="en-US" sz="2400" dirty="0" smtClean="0"/>
                        <a:t>Reference Variables</a:t>
                      </a:r>
                      <a:endParaRPr lang="en-US" sz="2400" dirty="0"/>
                    </a:p>
                  </a:txBody>
                  <a:tcPr/>
                </a:tc>
              </a:tr>
              <a:tr h="370840">
                <a:tc>
                  <a:txBody>
                    <a:bodyPr/>
                    <a:lstStyle/>
                    <a:p>
                      <a:r>
                        <a:rPr lang="en-US" sz="2200" b="0" i="0" kern="1200" dirty="0" smtClean="0">
                          <a:solidFill>
                            <a:schemeClr val="dk1"/>
                          </a:solidFill>
                          <a:effectLst/>
                          <a:latin typeface="+mn-lt"/>
                          <a:ea typeface="+mn-ea"/>
                          <a:cs typeface="+mn-cs"/>
                        </a:rPr>
                        <a:t>It is not necessary to initialize it with a value during declaration.</a:t>
                      </a:r>
                      <a:endParaRPr lang="en-US" sz="2200" dirty="0"/>
                    </a:p>
                  </a:txBody>
                  <a:tcPr/>
                </a:tc>
                <a:tc>
                  <a:txBody>
                    <a:bodyPr/>
                    <a:lstStyle/>
                    <a:p>
                      <a:r>
                        <a:rPr lang="en-US" sz="2200" b="0" i="0" kern="1200" dirty="0" smtClean="0">
                          <a:solidFill>
                            <a:schemeClr val="dk1"/>
                          </a:solidFill>
                          <a:effectLst/>
                          <a:latin typeface="+mn-lt"/>
                          <a:ea typeface="+mn-ea"/>
                          <a:cs typeface="+mn-cs"/>
                        </a:rPr>
                        <a:t>It is necessary to initialize it with a value during declaration.</a:t>
                      </a:r>
                      <a:endParaRPr lang="en-US" sz="22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It can be assigned a </a:t>
                      </a:r>
                      <a:r>
                        <a:rPr lang="en-US" sz="2200" b="0" i="1" kern="1200" dirty="0" smtClean="0">
                          <a:solidFill>
                            <a:schemeClr val="dk1"/>
                          </a:solidFill>
                          <a:effectLst/>
                          <a:latin typeface="+mn-lt"/>
                          <a:ea typeface="+mn-ea"/>
                          <a:cs typeface="+mn-cs"/>
                        </a:rPr>
                        <a:t>NULL</a:t>
                      </a:r>
                      <a:r>
                        <a:rPr lang="en-US" sz="2200" b="0" i="0" kern="1200" dirty="0" smtClean="0">
                          <a:solidFill>
                            <a:schemeClr val="dk1"/>
                          </a:solidFill>
                          <a:effectLst/>
                          <a:latin typeface="+mn-lt"/>
                          <a:ea typeface="+mn-ea"/>
                          <a:cs typeface="+mn-cs"/>
                        </a:rPr>
                        <a:t> value.</a:t>
                      </a:r>
                    </a:p>
                    <a:p>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It cannot be </a:t>
                      </a:r>
                      <a:r>
                        <a:rPr lang="en-US" sz="2200" b="0" i="1" kern="1200" dirty="0" smtClean="0">
                          <a:solidFill>
                            <a:schemeClr val="dk1"/>
                          </a:solidFill>
                          <a:effectLst/>
                          <a:latin typeface="+mn-lt"/>
                          <a:ea typeface="+mn-ea"/>
                          <a:cs typeface="+mn-cs"/>
                        </a:rPr>
                        <a:t>NULL</a:t>
                      </a:r>
                      <a:r>
                        <a:rPr lang="en-US" sz="2200" b="0" i="0" kern="1200" dirty="0" smtClean="0">
                          <a:solidFill>
                            <a:schemeClr val="dk1"/>
                          </a:solidFill>
                          <a:effectLst/>
                          <a:latin typeface="+mn-lt"/>
                          <a:ea typeface="+mn-ea"/>
                          <a:cs typeface="+mn-cs"/>
                        </a:rPr>
                        <a:t>.</a:t>
                      </a:r>
                    </a:p>
                    <a:p>
                      <a:endParaRPr lang="en-US" sz="2200" dirty="0"/>
                    </a:p>
                  </a:txBody>
                  <a:tcPr/>
                </a:tc>
              </a:tr>
              <a:tr h="370840">
                <a:tc>
                  <a:txBody>
                    <a:bodyPr/>
                    <a:lstStyle/>
                    <a:p>
                      <a:r>
                        <a:rPr lang="en-US" sz="2200" b="0" i="0" kern="1200" dirty="0" smtClean="0">
                          <a:solidFill>
                            <a:schemeClr val="dk1"/>
                          </a:solidFill>
                          <a:effectLst/>
                          <a:latin typeface="+mn-lt"/>
                          <a:ea typeface="+mn-ea"/>
                          <a:cs typeface="+mn-cs"/>
                        </a:rPr>
                        <a:t>After declaration, it can be re-assigned to any other variable of the same type.</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It cannot be re-assigned to any other variable after its initialization.</a:t>
                      </a:r>
                    </a:p>
                    <a:p>
                      <a:endParaRPr lang="en-US" sz="2200" dirty="0"/>
                    </a:p>
                  </a:txBody>
                  <a:tcPr/>
                </a:tc>
              </a:tr>
            </a:tbl>
          </a:graphicData>
        </a:graphic>
      </p:graphicFrame>
      <p:sp>
        <p:nvSpPr>
          <p:cNvPr id="3" name="Title 2"/>
          <p:cNvSpPr>
            <a:spLocks noGrp="1"/>
          </p:cNvSpPr>
          <p:nvPr>
            <p:ph type="title"/>
          </p:nvPr>
        </p:nvSpPr>
        <p:spPr>
          <a:xfrm>
            <a:off x="228600" y="381000"/>
            <a:ext cx="8763000" cy="1054250"/>
          </a:xfrm>
        </p:spPr>
        <p:txBody>
          <a:bodyPr/>
          <a:lstStyle/>
          <a:p>
            <a:r>
              <a:rPr lang="en-US" dirty="0" smtClean="0"/>
              <a:t>Difference b/w Pointer and Reference Variables</a:t>
            </a:r>
            <a:endParaRPr lang="en-US" dirty="0"/>
          </a:p>
        </p:txBody>
      </p:sp>
    </p:spTree>
    <p:extLst>
      <p:ext uri="{BB962C8B-B14F-4D97-AF65-F5344CB8AC3E}">
        <p14:creationId xmlns:p14="http://schemas.microsoft.com/office/powerpoint/2010/main" val="29446672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609600" y="2743200"/>
            <a:ext cx="7756525" cy="1054100"/>
          </a:xfrm>
        </p:spPr>
        <p:txBody>
          <a:bodyPr/>
          <a:lstStyle/>
          <a:p>
            <a:r>
              <a:rPr lang="en-US" dirty="0" smtClean="0"/>
              <a:t>Double Pointers</a:t>
            </a:r>
            <a:endParaRPr lang="en-US" dirty="0"/>
          </a:p>
        </p:txBody>
      </p:sp>
    </p:spTree>
    <p:extLst>
      <p:ext uri="{BB962C8B-B14F-4D97-AF65-F5344CB8AC3E}">
        <p14:creationId xmlns:p14="http://schemas.microsoft.com/office/powerpoint/2010/main" val="3796964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133600"/>
            <a:ext cx="8305799" cy="4648199"/>
          </a:xfrm>
        </p:spPr>
        <p:txBody>
          <a:bodyPr>
            <a:normAutofit/>
          </a:bodyPr>
          <a:lstStyle/>
          <a:p>
            <a:pPr algn="just"/>
            <a:r>
              <a:rPr lang="en-US" dirty="0"/>
              <a:t>Imagine you have a box that contains a note with directions to another box. The first box is like a </a:t>
            </a:r>
            <a:r>
              <a:rPr lang="en-US" b="1" dirty="0"/>
              <a:t>pointer</a:t>
            </a:r>
            <a:r>
              <a:rPr lang="en-US" dirty="0"/>
              <a:t> (it points to something), and the second box is what it points to</a:t>
            </a:r>
            <a:r>
              <a:rPr lang="en-US" dirty="0" smtClean="0"/>
              <a:t>.</a:t>
            </a:r>
          </a:p>
          <a:p>
            <a:pPr algn="just"/>
            <a:endParaRPr lang="en-US" dirty="0" smtClean="0"/>
          </a:p>
          <a:p>
            <a:pPr algn="just"/>
            <a:r>
              <a:rPr lang="en-US" dirty="0"/>
              <a:t>Now, what if you have a pointer that points to </a:t>
            </a:r>
            <a:r>
              <a:rPr lang="en-US" i="1" dirty="0"/>
              <a:t>another pointer</a:t>
            </a:r>
            <a:r>
              <a:rPr lang="en-US" dirty="0"/>
              <a:t>? That's a </a:t>
            </a:r>
            <a:r>
              <a:rPr lang="en-US" b="1" dirty="0"/>
              <a:t>double pointer</a:t>
            </a:r>
            <a:r>
              <a:rPr lang="en-US" dirty="0"/>
              <a:t> (or "pointer to a pointer") – it's like a box that holds directions to a box that holds directions to the actual thing</a:t>
            </a:r>
            <a:r>
              <a:rPr lang="en-US" dirty="0" smtClean="0"/>
              <a:t>.</a:t>
            </a:r>
          </a:p>
        </p:txBody>
      </p:sp>
      <p:sp>
        <p:nvSpPr>
          <p:cNvPr id="3" name="Title 2"/>
          <p:cNvSpPr>
            <a:spLocks noGrp="1"/>
          </p:cNvSpPr>
          <p:nvPr>
            <p:ph type="title"/>
          </p:nvPr>
        </p:nvSpPr>
        <p:spPr>
          <a:xfrm>
            <a:off x="152400" y="381000"/>
            <a:ext cx="8839200" cy="1054250"/>
          </a:xfrm>
        </p:spPr>
        <p:txBody>
          <a:bodyPr/>
          <a:lstStyle/>
          <a:p>
            <a:r>
              <a:rPr lang="en-US" dirty="0"/>
              <a:t>Double Pointers</a:t>
            </a:r>
          </a:p>
        </p:txBody>
      </p:sp>
    </p:spTree>
    <p:extLst>
      <p:ext uri="{BB962C8B-B14F-4D97-AF65-F5344CB8AC3E}">
        <p14:creationId xmlns:p14="http://schemas.microsoft.com/office/powerpoint/2010/main" val="26861859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133600"/>
            <a:ext cx="8305799" cy="4648199"/>
          </a:xfrm>
        </p:spPr>
        <p:txBody>
          <a:bodyPr>
            <a:normAutofit/>
          </a:bodyPr>
          <a:lstStyle/>
          <a:p>
            <a:pPr algn="just"/>
            <a:r>
              <a:rPr lang="en-US" dirty="0" smtClean="0"/>
              <a:t>In </a:t>
            </a:r>
            <a:r>
              <a:rPr lang="en-US" dirty="0"/>
              <a:t>C++, a double pointer is declared with two asterisks (**), like </a:t>
            </a:r>
            <a:r>
              <a:rPr lang="en-US" dirty="0" err="1"/>
              <a:t>int</a:t>
            </a:r>
            <a:r>
              <a:rPr lang="en-US" dirty="0"/>
              <a:t>** </a:t>
            </a:r>
            <a:r>
              <a:rPr lang="en-US" dirty="0" err="1"/>
              <a:t>ptr</a:t>
            </a:r>
            <a:r>
              <a:rPr lang="en-US" dirty="0"/>
              <a:t>;. It points to a memory address that holds another pointer, which then points to the actual data (like an integer).</a:t>
            </a:r>
          </a:p>
        </p:txBody>
      </p:sp>
      <p:sp>
        <p:nvSpPr>
          <p:cNvPr id="3" name="Title 2"/>
          <p:cNvSpPr>
            <a:spLocks noGrp="1"/>
          </p:cNvSpPr>
          <p:nvPr>
            <p:ph type="title"/>
          </p:nvPr>
        </p:nvSpPr>
        <p:spPr>
          <a:xfrm>
            <a:off x="152400" y="381000"/>
            <a:ext cx="8839200" cy="1054250"/>
          </a:xfrm>
        </p:spPr>
        <p:txBody>
          <a:bodyPr/>
          <a:lstStyle/>
          <a:p>
            <a:r>
              <a:rPr lang="en-US" dirty="0"/>
              <a:t>Double Pointers</a:t>
            </a:r>
          </a:p>
        </p:txBody>
      </p:sp>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3428999"/>
            <a:ext cx="3810000" cy="3351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799893"/>
            <a:ext cx="914400" cy="696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428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63" y="685800"/>
            <a:ext cx="9068853"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42001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Double Pointers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314575"/>
            <a:ext cx="4188436"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514600"/>
            <a:ext cx="3647704"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50790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133600"/>
            <a:ext cx="8305799" cy="4648199"/>
          </a:xfrm>
        </p:spPr>
        <p:txBody>
          <a:bodyPr>
            <a:normAutofit/>
          </a:bodyPr>
          <a:lstStyle/>
          <a:p>
            <a:r>
              <a:rPr lang="en-US" dirty="0"/>
              <a:t>Single pointer (*): Points directly to data.</a:t>
            </a:r>
          </a:p>
          <a:p>
            <a:r>
              <a:rPr lang="en-US" dirty="0"/>
              <a:t>Double pointer (**): Points to a pointer, which points to data. You need to dereference twice (with **) to access the value.</a:t>
            </a:r>
          </a:p>
          <a:p>
            <a:r>
              <a:rPr lang="en-US" dirty="0"/>
              <a:t>They're useful for things like dynamic arrays, 2D arrays, or functions that modify pointers (e.g., in linked lists or when passing pointers by reference).</a:t>
            </a:r>
          </a:p>
          <a:p>
            <a:r>
              <a:rPr lang="en-US" dirty="0"/>
              <a:t>Think of it as a "chain of directions": Follow the first pointer to find the second, then follow that to the treasure. If you mess up the chain, you might get lost in memory! Always initialize them to avoid errors</a:t>
            </a:r>
            <a:r>
              <a:rPr lang="en-US" dirty="0" smtClean="0"/>
              <a:t>.</a:t>
            </a:r>
            <a:endParaRPr lang="en-US" dirty="0"/>
          </a:p>
        </p:txBody>
      </p:sp>
      <p:sp>
        <p:nvSpPr>
          <p:cNvPr id="3" name="Title 2"/>
          <p:cNvSpPr>
            <a:spLocks noGrp="1"/>
          </p:cNvSpPr>
          <p:nvPr>
            <p:ph type="title"/>
          </p:nvPr>
        </p:nvSpPr>
        <p:spPr>
          <a:xfrm>
            <a:off x="152400" y="381000"/>
            <a:ext cx="8839200" cy="1054250"/>
          </a:xfrm>
        </p:spPr>
        <p:txBody>
          <a:bodyPr/>
          <a:lstStyle/>
          <a:p>
            <a:r>
              <a:rPr lang="en-US" dirty="0"/>
              <a:t>Double Pointers</a:t>
            </a:r>
          </a:p>
        </p:txBody>
      </p:sp>
    </p:spTree>
    <p:extLst>
      <p:ext uri="{BB962C8B-B14F-4D97-AF65-F5344CB8AC3E}">
        <p14:creationId xmlns:p14="http://schemas.microsoft.com/office/powerpoint/2010/main" val="17827286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685800" y="2679700"/>
            <a:ext cx="7756525" cy="105410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11956740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smtClean="0"/>
              <a:t>You </a:t>
            </a:r>
            <a:r>
              <a:rPr lang="en-US" dirty="0"/>
              <a:t>can control the allocation and </a:t>
            </a:r>
            <a:r>
              <a:rPr lang="en-US" dirty="0" err="1"/>
              <a:t>deallocation</a:t>
            </a:r>
            <a:r>
              <a:rPr lang="en-US" dirty="0"/>
              <a:t> of memory in a program for objects and for arrays of any built-in or user-defined </a:t>
            </a:r>
            <a:r>
              <a:rPr lang="en-US" dirty="0" smtClean="0"/>
              <a:t>type.</a:t>
            </a:r>
          </a:p>
          <a:p>
            <a:pPr algn="just"/>
            <a:endParaRPr lang="en-US" dirty="0"/>
          </a:p>
          <a:p>
            <a:pPr algn="just"/>
            <a:r>
              <a:rPr lang="en-US" dirty="0"/>
              <a:t>To dynamically allocate memory means that a program, while running, asks the computer to set aside a chunk of unused memory large enough to hold a variable of a specific data type. </a:t>
            </a:r>
          </a:p>
        </p:txBody>
      </p:sp>
      <p:sp>
        <p:nvSpPr>
          <p:cNvPr id="3" name="Title 2"/>
          <p:cNvSpPr>
            <a:spLocks noGrp="1"/>
          </p:cNvSpPr>
          <p:nvPr>
            <p:ph type="title"/>
          </p:nvPr>
        </p:nvSpPr>
        <p:spPr>
          <a:xfrm>
            <a:off x="688490" y="381000"/>
            <a:ext cx="7756263" cy="105425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38499638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Imagine your program is like a house with a fixed number of rooms (memory) built in. But sometimes, you need extra space for guests or stuff that shows up later – you can't predict it ahead of time. </a:t>
            </a:r>
            <a:r>
              <a:rPr lang="en-US" b="1" dirty="0"/>
              <a:t>Dynamic memory allocation</a:t>
            </a:r>
            <a:r>
              <a:rPr lang="en-US" dirty="0"/>
              <a:t> in C++ lets you "build" extra rooms (memory) while the program is running, using tools like new and delete.</a:t>
            </a:r>
          </a:p>
        </p:txBody>
      </p:sp>
      <p:sp>
        <p:nvSpPr>
          <p:cNvPr id="3" name="Title 2"/>
          <p:cNvSpPr>
            <a:spLocks noGrp="1"/>
          </p:cNvSpPr>
          <p:nvPr>
            <p:ph type="title"/>
          </p:nvPr>
        </p:nvSpPr>
        <p:spPr>
          <a:xfrm>
            <a:off x="688490" y="381000"/>
            <a:ext cx="7756263" cy="105425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12774239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Let’s say a program needs to create an integer variable. It will make a request to the computer that it allocate enough bytes to store an int. When the computer fills this request, it finds and sets aside a chunk of unused memory large enough for the variable. It then gives the program the starting address of the chunk of memory. The program can only access the newly allocated memory through its address, so a pointer is required to use those bytes.</a:t>
            </a:r>
          </a:p>
        </p:txBody>
      </p:sp>
      <p:sp>
        <p:nvSpPr>
          <p:cNvPr id="3" name="Title 2"/>
          <p:cNvSpPr>
            <a:spLocks noGrp="1"/>
          </p:cNvSpPr>
          <p:nvPr>
            <p:ph type="title"/>
          </p:nvPr>
        </p:nvSpPr>
        <p:spPr>
          <a:xfrm>
            <a:off x="688490" y="381000"/>
            <a:ext cx="7756263" cy="105425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2633022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48347"/>
            <a:ext cx="8216153" cy="4381053"/>
          </a:xfrm>
        </p:spPr>
        <p:txBody>
          <a:bodyPr>
            <a:normAutofit fontScale="92500" lnSpcReduction="20000"/>
          </a:bodyPr>
          <a:lstStyle/>
          <a:p>
            <a:pPr algn="just"/>
            <a:r>
              <a:rPr lang="en-US" dirty="0"/>
              <a:t>The way a C++ program requests dynamically allocated memory is through the </a:t>
            </a:r>
            <a:r>
              <a:rPr lang="en-US" b="1" dirty="0"/>
              <a:t>new</a:t>
            </a:r>
            <a:r>
              <a:rPr lang="en-US" dirty="0"/>
              <a:t> operator. </a:t>
            </a:r>
            <a:endParaRPr lang="en-US" dirty="0" smtClean="0"/>
          </a:p>
          <a:p>
            <a:pPr algn="just"/>
            <a:endParaRPr lang="en-US" dirty="0"/>
          </a:p>
          <a:p>
            <a:pPr algn="just"/>
            <a:r>
              <a:rPr lang="en-US" dirty="0"/>
              <a:t>You can use the new operator to dynamically allocate (i.e., reserve) the exact amount of memory required to hold an object or built-in array at execution time. </a:t>
            </a:r>
            <a:endParaRPr lang="en-US" dirty="0" smtClean="0"/>
          </a:p>
          <a:p>
            <a:pPr algn="just"/>
            <a:endParaRPr lang="en-US" dirty="0"/>
          </a:p>
          <a:p>
            <a:pPr algn="just"/>
            <a:r>
              <a:rPr lang="en-US" dirty="0" smtClean="0"/>
              <a:t>The </a:t>
            </a:r>
            <a:r>
              <a:rPr lang="en-US" dirty="0"/>
              <a:t>object or built-in array is created in the free store (also called the heap)—a region of memory assigned to each program for storing dynamically allocated </a:t>
            </a:r>
            <a:r>
              <a:rPr lang="en-US" dirty="0" smtClean="0"/>
              <a:t>objects.</a:t>
            </a:r>
          </a:p>
          <a:p>
            <a:pPr algn="just"/>
            <a:endParaRPr lang="en-US" dirty="0"/>
          </a:p>
          <a:p>
            <a:pPr algn="just"/>
            <a:r>
              <a:rPr lang="en-US" dirty="0" smtClean="0"/>
              <a:t>Once </a:t>
            </a:r>
            <a:r>
              <a:rPr lang="en-US" dirty="0"/>
              <a:t>memory is allocated in the free store, you can access it via the pointer that operator new returns.</a:t>
            </a:r>
          </a:p>
        </p:txBody>
      </p:sp>
      <p:sp>
        <p:nvSpPr>
          <p:cNvPr id="3" name="Title 2"/>
          <p:cNvSpPr>
            <a:spLocks noGrp="1"/>
          </p:cNvSpPr>
          <p:nvPr>
            <p:ph type="title"/>
          </p:nvPr>
        </p:nvSpPr>
        <p:spPr>
          <a:xfrm>
            <a:off x="688490" y="381000"/>
            <a:ext cx="7756263" cy="105425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29825630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48347"/>
            <a:ext cx="8216153" cy="4381053"/>
          </a:xfrm>
        </p:spPr>
        <p:txBody>
          <a:bodyPr>
            <a:normAutofit/>
          </a:bodyPr>
          <a:lstStyle/>
          <a:p>
            <a:pPr algn="just"/>
            <a:r>
              <a:rPr lang="en-US" dirty="0"/>
              <a:t>When you no longer need the memory, you can return it to the free store by using the delete operator to </a:t>
            </a:r>
            <a:r>
              <a:rPr lang="en-US" dirty="0" err="1"/>
              <a:t>deallocate</a:t>
            </a:r>
            <a:r>
              <a:rPr lang="en-US" dirty="0"/>
              <a:t> (i.e., release) the memory, which can then be reused by future new operations.</a:t>
            </a:r>
          </a:p>
        </p:txBody>
      </p:sp>
      <p:sp>
        <p:nvSpPr>
          <p:cNvPr id="3" name="Title 2"/>
          <p:cNvSpPr>
            <a:spLocks noGrp="1"/>
          </p:cNvSpPr>
          <p:nvPr>
            <p:ph type="title"/>
          </p:nvPr>
        </p:nvSpPr>
        <p:spPr>
          <a:xfrm>
            <a:off x="688490" y="381000"/>
            <a:ext cx="7756263" cy="1054250"/>
          </a:xfrm>
        </p:spPr>
        <p:txBody>
          <a:bodyPr/>
          <a:lstStyle/>
          <a:p>
            <a:r>
              <a:rPr lang="en-US" dirty="0" smtClean="0"/>
              <a:t>Dynamic Memory Allocation</a:t>
            </a:r>
            <a:endParaRPr lang="en-US" dirty="0"/>
          </a:p>
        </p:txBody>
      </p:sp>
    </p:spTree>
    <p:extLst>
      <p:ext uri="{BB962C8B-B14F-4D97-AF65-F5344CB8AC3E}">
        <p14:creationId xmlns:p14="http://schemas.microsoft.com/office/powerpoint/2010/main" val="7135306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304800"/>
            <a:ext cx="8686800" cy="1054250"/>
          </a:xfrm>
        </p:spPr>
        <p:txBody>
          <a:bodyPr/>
          <a:lstStyle/>
          <a:p>
            <a:r>
              <a:rPr lang="en-US" dirty="0"/>
              <a:t>Dynamic Memory Allocation</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97723"/>
            <a:ext cx="3309257"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248" y="5257800"/>
            <a:ext cx="533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7756" y="2297722"/>
            <a:ext cx="3036829" cy="2274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3775" y="5257800"/>
            <a:ext cx="16690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843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fade">
                                      <p:cBhvr>
                                        <p:cTn id="7" dur="1000"/>
                                        <p:tgtEl>
                                          <p:spTgt spid="7171"/>
                                        </p:tgtEl>
                                      </p:cBhvr>
                                    </p:animEffect>
                                    <p:anim calcmode="lin" valueType="num">
                                      <p:cBhvr>
                                        <p:cTn id="8" dur="1000" fill="hold"/>
                                        <p:tgtEl>
                                          <p:spTgt spid="7171"/>
                                        </p:tgtEl>
                                        <p:attrNameLst>
                                          <p:attrName>ppt_x</p:attrName>
                                        </p:attrNameLst>
                                      </p:cBhvr>
                                      <p:tavLst>
                                        <p:tav tm="0">
                                          <p:val>
                                            <p:strVal val="#ppt_x"/>
                                          </p:val>
                                        </p:tav>
                                        <p:tav tm="100000">
                                          <p:val>
                                            <p:strVal val="#ppt_x"/>
                                          </p:val>
                                        </p:tav>
                                      </p:tavLst>
                                    </p:anim>
                                    <p:anim calcmode="lin" valueType="num">
                                      <p:cBhvr>
                                        <p:cTn id="9" dur="1000" fill="hold"/>
                                        <p:tgtEl>
                                          <p:spTgt spid="717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172"/>
                                        </p:tgtEl>
                                        <p:attrNameLst>
                                          <p:attrName>style.visibility</p:attrName>
                                        </p:attrNameLst>
                                      </p:cBhvr>
                                      <p:to>
                                        <p:strVal val="visible"/>
                                      </p:to>
                                    </p:set>
                                    <p:animEffect transition="in" filter="fade">
                                      <p:cBhvr>
                                        <p:cTn id="14" dur="1000"/>
                                        <p:tgtEl>
                                          <p:spTgt spid="7172"/>
                                        </p:tgtEl>
                                      </p:cBhvr>
                                    </p:animEffect>
                                    <p:anim calcmode="lin" valueType="num">
                                      <p:cBhvr>
                                        <p:cTn id="15" dur="1000" fill="hold"/>
                                        <p:tgtEl>
                                          <p:spTgt spid="7172"/>
                                        </p:tgtEl>
                                        <p:attrNameLst>
                                          <p:attrName>ppt_x</p:attrName>
                                        </p:attrNameLst>
                                      </p:cBhvr>
                                      <p:tavLst>
                                        <p:tav tm="0">
                                          <p:val>
                                            <p:strVal val="#ppt_x"/>
                                          </p:val>
                                        </p:tav>
                                        <p:tav tm="100000">
                                          <p:val>
                                            <p:strVal val="#ppt_x"/>
                                          </p:val>
                                        </p:tav>
                                      </p:tavLst>
                                    </p:anim>
                                    <p:anim calcmode="lin" valueType="num">
                                      <p:cBhvr>
                                        <p:cTn id="16" dur="1000" fill="hold"/>
                                        <p:tgtEl>
                                          <p:spTgt spid="717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173"/>
                                        </p:tgtEl>
                                        <p:attrNameLst>
                                          <p:attrName>style.visibility</p:attrName>
                                        </p:attrNameLst>
                                      </p:cBhvr>
                                      <p:to>
                                        <p:strVal val="visible"/>
                                      </p:to>
                                    </p:set>
                                    <p:animEffect transition="in" filter="fade">
                                      <p:cBhvr>
                                        <p:cTn id="21" dur="1000"/>
                                        <p:tgtEl>
                                          <p:spTgt spid="7173"/>
                                        </p:tgtEl>
                                      </p:cBhvr>
                                    </p:animEffect>
                                    <p:anim calcmode="lin" valueType="num">
                                      <p:cBhvr>
                                        <p:cTn id="22" dur="1000" fill="hold"/>
                                        <p:tgtEl>
                                          <p:spTgt spid="7173"/>
                                        </p:tgtEl>
                                        <p:attrNameLst>
                                          <p:attrName>ppt_x</p:attrName>
                                        </p:attrNameLst>
                                      </p:cBhvr>
                                      <p:tavLst>
                                        <p:tav tm="0">
                                          <p:val>
                                            <p:strVal val="#ppt_x"/>
                                          </p:val>
                                        </p:tav>
                                        <p:tav tm="100000">
                                          <p:val>
                                            <p:strVal val="#ppt_x"/>
                                          </p:val>
                                        </p:tav>
                                      </p:tavLst>
                                    </p:anim>
                                    <p:anim calcmode="lin" valueType="num">
                                      <p:cBhvr>
                                        <p:cTn id="23" dur="1000" fill="hold"/>
                                        <p:tgtEl>
                                          <p:spTgt spid="71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smtClean="0"/>
              <a:t>If </a:t>
            </a:r>
            <a:r>
              <a:rPr lang="en-US" b="1" dirty="0"/>
              <a:t>new</a:t>
            </a:r>
            <a:r>
              <a:rPr lang="en-US" dirty="0"/>
              <a:t> is unable to find sufficient space in memory for the </a:t>
            </a:r>
            <a:r>
              <a:rPr lang="en-US" dirty="0" smtClean="0"/>
              <a:t>variable, it </a:t>
            </a:r>
            <a:r>
              <a:rPr lang="en-US" dirty="0"/>
              <a:t>indicates that an error occurred by throwing an exception</a:t>
            </a:r>
            <a:r>
              <a:rPr lang="en-US" dirty="0" smtClean="0"/>
              <a:t>.</a:t>
            </a:r>
          </a:p>
          <a:p>
            <a:pPr algn="just"/>
            <a:endParaRPr lang="en-US" dirty="0" smtClean="0"/>
          </a:p>
          <a:p>
            <a:pPr algn="just"/>
            <a:r>
              <a:rPr lang="en-US" dirty="0"/>
              <a:t>In C++, the delete operator is used to </a:t>
            </a:r>
            <a:r>
              <a:rPr lang="en-US" b="1" dirty="0"/>
              <a:t>release (or </a:t>
            </a:r>
            <a:r>
              <a:rPr lang="en-US" b="1" dirty="0" err="1"/>
              <a:t>deallocate</a:t>
            </a:r>
            <a:r>
              <a:rPr lang="en-US" b="1" dirty="0"/>
              <a:t>)</a:t>
            </a:r>
            <a:r>
              <a:rPr lang="en-US" dirty="0"/>
              <a:t> memory that was previously allocated dynamically using new.</a:t>
            </a:r>
          </a:p>
          <a:p>
            <a:pPr algn="just"/>
            <a:endParaRPr lang="en-US" dirty="0"/>
          </a:p>
        </p:txBody>
      </p:sp>
      <p:sp>
        <p:nvSpPr>
          <p:cNvPr id="3" name="Title 2"/>
          <p:cNvSpPr>
            <a:spLocks noGrp="1"/>
          </p:cNvSpPr>
          <p:nvPr>
            <p:ph type="title"/>
          </p:nvPr>
        </p:nvSpPr>
        <p:spPr>
          <a:xfrm>
            <a:off x="688490" y="457200"/>
            <a:ext cx="7756263" cy="1054250"/>
          </a:xfrm>
        </p:spPr>
        <p:txBody>
          <a:bodyPr/>
          <a:lstStyle/>
          <a:p>
            <a:r>
              <a:rPr lang="en-US" dirty="0"/>
              <a:t>Dynamic Memory Allocation</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6868" y="5181600"/>
            <a:ext cx="1981200" cy="51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07836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Not releasing dynamically allocated memory when it’s no longer needed can cause the system to run out of memory prematurely. This is sometimes called a “memory leak</a:t>
            </a:r>
            <a:r>
              <a:rPr lang="en-US" dirty="0" smtClean="0"/>
              <a:t>.”</a:t>
            </a:r>
          </a:p>
          <a:p>
            <a:pPr algn="just"/>
            <a:endParaRPr lang="en-US" dirty="0"/>
          </a:p>
          <a:p>
            <a:pPr algn="just"/>
            <a:r>
              <a:rPr lang="en-US" dirty="0"/>
              <a:t>Do not delete memory that was not allocated by new. Doing so results in undefined </a:t>
            </a:r>
            <a:r>
              <a:rPr lang="en-US" dirty="0" smtClean="0"/>
              <a:t>behavior.</a:t>
            </a:r>
            <a:endParaRPr lang="en-US" dirty="0"/>
          </a:p>
          <a:p>
            <a:pPr algn="just"/>
            <a:endParaRPr lang="en-US" dirty="0"/>
          </a:p>
        </p:txBody>
      </p:sp>
      <p:sp>
        <p:nvSpPr>
          <p:cNvPr id="3" name="Title 2"/>
          <p:cNvSpPr>
            <a:spLocks noGrp="1"/>
          </p:cNvSpPr>
          <p:nvPr>
            <p:ph type="title"/>
          </p:nvPr>
        </p:nvSpPr>
        <p:spPr>
          <a:xfrm>
            <a:off x="688490" y="381000"/>
            <a:ext cx="7756263" cy="1054250"/>
          </a:xfrm>
        </p:spPr>
        <p:txBody>
          <a:bodyPr/>
          <a:lstStyle/>
          <a:p>
            <a:r>
              <a:rPr lang="en-US" dirty="0"/>
              <a:t>Dynamic Memory Allocation</a:t>
            </a:r>
          </a:p>
        </p:txBody>
      </p:sp>
    </p:spTree>
    <p:extLst>
      <p:ext uri="{BB962C8B-B14F-4D97-AF65-F5344CB8AC3E}">
        <p14:creationId xmlns:p14="http://schemas.microsoft.com/office/powerpoint/2010/main" val="6736227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You can provide an initializer for a newly created fundamental-type variable, as </a:t>
            </a:r>
            <a:r>
              <a:rPr lang="en-US" dirty="0" smtClean="0"/>
              <a:t>in</a:t>
            </a:r>
          </a:p>
          <a:p>
            <a:pPr marL="0" indent="0" algn="just">
              <a:buNone/>
            </a:pPr>
            <a:endParaRPr lang="en-US" dirty="0" smtClean="0"/>
          </a:p>
          <a:p>
            <a:pPr marL="0" indent="0" algn="just">
              <a:buNone/>
            </a:pPr>
            <a:endParaRPr lang="en-US" dirty="0" smtClean="0"/>
          </a:p>
        </p:txBody>
      </p:sp>
      <p:sp>
        <p:nvSpPr>
          <p:cNvPr id="3" name="Title 2"/>
          <p:cNvSpPr>
            <a:spLocks noGrp="1"/>
          </p:cNvSpPr>
          <p:nvPr>
            <p:ph type="title"/>
          </p:nvPr>
        </p:nvSpPr>
        <p:spPr>
          <a:xfrm>
            <a:off x="228600" y="304800"/>
            <a:ext cx="8686800" cy="1054250"/>
          </a:xfrm>
        </p:spPr>
        <p:txBody>
          <a:bodyPr/>
          <a:lstStyle/>
          <a:p>
            <a:r>
              <a:rPr lang="en-US" dirty="0"/>
              <a:t>Dynamic Memory Allocation</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276600"/>
            <a:ext cx="5805488" cy="462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4367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You can also use the new operator to allocate built-in arrays dynamically. For example, a 10-element integer array can be allocated and assigned to </a:t>
            </a:r>
            <a:r>
              <a:rPr lang="en-US" dirty="0" err="1"/>
              <a:t>gradesArray</a:t>
            </a:r>
            <a:r>
              <a:rPr lang="en-US" dirty="0"/>
              <a:t> as follows</a:t>
            </a:r>
            <a:r>
              <a:rPr lang="en-US" dirty="0" smtClean="0"/>
              <a:t>:</a:t>
            </a:r>
          </a:p>
          <a:p>
            <a:pPr algn="just"/>
            <a:endParaRPr lang="en-US" dirty="0"/>
          </a:p>
          <a:p>
            <a:pPr algn="just"/>
            <a:endParaRPr lang="en-US" dirty="0" smtClean="0"/>
          </a:p>
          <a:p>
            <a:pPr algn="just"/>
            <a:r>
              <a:rPr lang="en-US" dirty="0"/>
              <a:t>which declares </a:t>
            </a:r>
            <a:r>
              <a:rPr lang="en-US" dirty="0" err="1"/>
              <a:t>int</a:t>
            </a:r>
            <a:r>
              <a:rPr lang="en-US" dirty="0"/>
              <a:t> pointer </a:t>
            </a:r>
            <a:r>
              <a:rPr lang="en-US" dirty="0" err="1"/>
              <a:t>gradesArray</a:t>
            </a:r>
            <a:r>
              <a:rPr lang="en-US" dirty="0"/>
              <a:t> and assigns to it a pointer to the first element of a dynamically allocated 10-element array of </a:t>
            </a:r>
            <a:r>
              <a:rPr lang="en-US" dirty="0" err="1"/>
              <a:t>ints</a:t>
            </a:r>
            <a:r>
              <a:rPr lang="en-US" dirty="0"/>
              <a:t>.</a:t>
            </a:r>
            <a:endParaRPr lang="en-US" dirty="0" smtClean="0"/>
          </a:p>
        </p:txBody>
      </p:sp>
      <p:sp>
        <p:nvSpPr>
          <p:cNvPr id="3" name="Title 2"/>
          <p:cNvSpPr>
            <a:spLocks noGrp="1"/>
          </p:cNvSpPr>
          <p:nvPr>
            <p:ph type="title"/>
          </p:nvPr>
        </p:nvSpPr>
        <p:spPr>
          <a:xfrm>
            <a:off x="228600" y="304800"/>
            <a:ext cx="8686800" cy="1054250"/>
          </a:xfrm>
        </p:spPr>
        <p:txBody>
          <a:bodyPr/>
          <a:lstStyle/>
          <a:p>
            <a:r>
              <a:rPr lang="en-US" dirty="0"/>
              <a:t>Dynamically Allocating Built-In Arrays with </a:t>
            </a:r>
            <a:r>
              <a:rPr lang="en-US" dirty="0" smtClean="0"/>
              <a:t>new[ ]</a:t>
            </a:r>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962400"/>
            <a:ext cx="5638800" cy="585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96045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04800"/>
            <a:ext cx="8686800" cy="1054250"/>
          </a:xfrm>
        </p:spPr>
        <p:txBody>
          <a:bodyPr/>
          <a:lstStyle/>
          <a:p>
            <a:r>
              <a:rPr lang="en-US" dirty="0"/>
              <a:t>Dynamically Allocating Built-In Arrays with </a:t>
            </a:r>
            <a:r>
              <a:rPr lang="en-US" dirty="0" smtClean="0"/>
              <a:t>new[ ]</a:t>
            </a:r>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343150"/>
            <a:ext cx="5463841"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1783" y="4808411"/>
            <a:ext cx="608217" cy="754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923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04800"/>
            <a:ext cx="8686800" cy="1054250"/>
          </a:xfrm>
        </p:spPr>
        <p:txBody>
          <a:bodyPr/>
          <a:lstStyle/>
          <a:p>
            <a:r>
              <a:rPr lang="en-US" dirty="0"/>
              <a:t>Dynamically Allocating Built-In Arrays with </a:t>
            </a:r>
            <a:r>
              <a:rPr lang="en-US" dirty="0" smtClean="0"/>
              <a:t>new[ ]</a:t>
            </a:r>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14600"/>
            <a:ext cx="6417914"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122617"/>
            <a:ext cx="8572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0686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fade">
                                      <p:cBhvr>
                                        <p:cTn id="7" dur="1000"/>
                                        <p:tgtEl>
                                          <p:spTgt spid="16388"/>
                                        </p:tgtEl>
                                      </p:cBhvr>
                                    </p:animEffect>
                                    <p:anim calcmode="lin" valueType="num">
                                      <p:cBhvr>
                                        <p:cTn id="8" dur="1000" fill="hold"/>
                                        <p:tgtEl>
                                          <p:spTgt spid="16388"/>
                                        </p:tgtEl>
                                        <p:attrNameLst>
                                          <p:attrName>ppt_x</p:attrName>
                                        </p:attrNameLst>
                                      </p:cBhvr>
                                      <p:tavLst>
                                        <p:tav tm="0">
                                          <p:val>
                                            <p:strVal val="#ppt_x"/>
                                          </p:val>
                                        </p:tav>
                                        <p:tav tm="100000">
                                          <p:val>
                                            <p:strVal val="#ppt_x"/>
                                          </p:val>
                                        </p:tav>
                                      </p:tavLst>
                                    </p:anim>
                                    <p:anim calcmode="lin" valueType="num">
                                      <p:cBhvr>
                                        <p:cTn id="9" dur="1000" fill="hold"/>
                                        <p:tgtEl>
                                          <p:spTgt spid="163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To </a:t>
            </a:r>
            <a:r>
              <a:rPr lang="en-US" dirty="0" err="1"/>
              <a:t>deallocate</a:t>
            </a:r>
            <a:r>
              <a:rPr lang="en-US" dirty="0"/>
              <a:t> the memory to which </a:t>
            </a:r>
            <a:r>
              <a:rPr lang="en-US" dirty="0" err="1"/>
              <a:t>gradesArray</a:t>
            </a:r>
            <a:r>
              <a:rPr lang="en-US" dirty="0"/>
              <a:t> points, use the statement</a:t>
            </a:r>
            <a:endParaRPr lang="en-US" dirty="0" smtClean="0"/>
          </a:p>
        </p:txBody>
      </p:sp>
      <p:sp>
        <p:nvSpPr>
          <p:cNvPr id="3" name="Title 2"/>
          <p:cNvSpPr>
            <a:spLocks noGrp="1"/>
          </p:cNvSpPr>
          <p:nvPr>
            <p:ph type="title"/>
          </p:nvPr>
        </p:nvSpPr>
        <p:spPr>
          <a:xfrm>
            <a:off x="228600" y="304800"/>
            <a:ext cx="8686800" cy="1054250"/>
          </a:xfrm>
        </p:spPr>
        <p:txBody>
          <a:bodyPr/>
          <a:lstStyle/>
          <a:p>
            <a:r>
              <a:rPr lang="en-US" sz="4400" dirty="0"/>
              <a:t>Releasing Dynamically Allocated Built-In Arrays with delete []</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148013"/>
            <a:ext cx="4001202"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38459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304800"/>
            <a:ext cx="8686800" cy="1054250"/>
          </a:xfrm>
        </p:spPr>
        <p:txBody>
          <a:bodyPr/>
          <a:lstStyle/>
          <a:p>
            <a:r>
              <a:rPr lang="en-US" sz="4400" dirty="0"/>
              <a:t>Releasing Dynamically Allocated Built-In Arrays with delete []</a:t>
            </a:r>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438400"/>
            <a:ext cx="633614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2713" y="5033274"/>
            <a:ext cx="1233487" cy="757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709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1000"/>
                                        <p:tgtEl>
                                          <p:spTgt spid="18434"/>
                                        </p:tgtEl>
                                      </p:cBhvr>
                                    </p:animEffect>
                                    <p:anim calcmode="lin" valueType="num">
                                      <p:cBhvr>
                                        <p:cTn id="8" dur="1000" fill="hold"/>
                                        <p:tgtEl>
                                          <p:spTgt spid="18434"/>
                                        </p:tgtEl>
                                        <p:attrNameLst>
                                          <p:attrName>ppt_x</p:attrName>
                                        </p:attrNameLst>
                                      </p:cBhvr>
                                      <p:tavLst>
                                        <p:tav tm="0">
                                          <p:val>
                                            <p:strVal val="#ppt_x"/>
                                          </p:val>
                                        </p:tav>
                                        <p:tav tm="100000">
                                          <p:val>
                                            <p:strVal val="#ppt_x"/>
                                          </p:val>
                                        </p:tav>
                                      </p:tavLst>
                                    </p:anim>
                                    <p:anim calcmode="lin" valueType="num">
                                      <p:cBhvr>
                                        <p:cTn id="9" dur="1000" fill="hold"/>
                                        <p:tgtEl>
                                          <p:spTgt spid="184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Lecture</a:t>
            </a:r>
            <a:endParaRPr lang="en-US" dirty="0"/>
          </a:p>
        </p:txBody>
      </p:sp>
      <p:sp>
        <p:nvSpPr>
          <p:cNvPr id="3" name="Content Placeholder 2"/>
          <p:cNvSpPr>
            <a:spLocks noGrp="1"/>
          </p:cNvSpPr>
          <p:nvPr>
            <p:ph idx="1"/>
          </p:nvPr>
        </p:nvSpPr>
        <p:spPr/>
        <p:txBody>
          <a:bodyPr/>
          <a:lstStyle/>
          <a:p>
            <a:r>
              <a:rPr lang="en-US" smtClean="0"/>
              <a:t>Functions</a:t>
            </a:r>
            <a:endParaRPr lang="en-US" dirty="0" smtClean="0"/>
          </a:p>
        </p:txBody>
      </p:sp>
    </p:spTree>
    <p:extLst>
      <p:ext uri="{BB962C8B-B14F-4D97-AF65-F5344CB8AC3E}">
        <p14:creationId xmlns:p14="http://schemas.microsoft.com/office/powerpoint/2010/main" val="300335897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4209</TotalTime>
  <Words>763</Words>
  <Application>Microsoft Office PowerPoint</Application>
  <PresentationFormat>On-screen Show (4:3)</PresentationFormat>
  <Paragraphs>82</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Hardcover</vt:lpstr>
      <vt:lpstr>Programming Fundamentals</vt:lpstr>
      <vt:lpstr>Previous Lecture</vt:lpstr>
      <vt:lpstr>Today’s Lecture</vt:lpstr>
      <vt:lpstr>Reference Variables</vt:lpstr>
      <vt:lpstr>Reference Variables</vt:lpstr>
      <vt:lpstr>PowerPoint Presentation</vt:lpstr>
      <vt:lpstr>PowerPoint Presentation</vt:lpstr>
      <vt:lpstr>Difference b/w Pointer and Reference Variables</vt:lpstr>
      <vt:lpstr>Double Pointers</vt:lpstr>
      <vt:lpstr>Double Pointers</vt:lpstr>
      <vt:lpstr>Double Pointers</vt:lpstr>
      <vt:lpstr>PowerPoint Presentation</vt:lpstr>
      <vt:lpstr>Double Pointers</vt:lpstr>
      <vt:lpstr>Double Pointers</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 Memory Allocation</vt:lpstr>
      <vt:lpstr>Dynamically Allocating Built-In Arrays with new[ ]</vt:lpstr>
      <vt:lpstr>Dynamically Allocating Built-In Arrays with new[ ]</vt:lpstr>
      <vt:lpstr>Dynamically Allocating Built-In Arrays with new[ ]</vt:lpstr>
      <vt:lpstr>Releasing Dynamically Allocated Built-In Arrays with delete []</vt:lpstr>
      <vt:lpstr>Releasing Dynamically Allocated Built-In Arrays with delete []</vt:lpstr>
      <vt:lpstr>Next Lecture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314</cp:revision>
  <dcterms:created xsi:type="dcterms:W3CDTF">2023-02-13T17:33:34Z</dcterms:created>
  <dcterms:modified xsi:type="dcterms:W3CDTF">2025-11-18T21:45:10Z</dcterms:modified>
</cp:coreProperties>
</file>