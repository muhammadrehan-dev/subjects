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320" r:id="rId4"/>
    <p:sldId id="321" r:id="rId5"/>
    <p:sldId id="326" r:id="rId6"/>
    <p:sldId id="297" r:id="rId7"/>
    <p:sldId id="319" r:id="rId8"/>
    <p:sldId id="298" r:id="rId9"/>
    <p:sldId id="311" r:id="rId10"/>
    <p:sldId id="299" r:id="rId11"/>
    <p:sldId id="312" r:id="rId12"/>
    <p:sldId id="300" r:id="rId13"/>
    <p:sldId id="318" r:id="rId14"/>
    <p:sldId id="325" r:id="rId15"/>
    <p:sldId id="302" r:id="rId16"/>
    <p:sldId id="303" r:id="rId17"/>
    <p:sldId id="304" r:id="rId18"/>
    <p:sldId id="305" r:id="rId19"/>
    <p:sldId id="327" r:id="rId20"/>
    <p:sldId id="31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2CD6932-DACD-4D4F-9C23-D4086F3B0A9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1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076253"/>
          </a:xfrm>
        </p:spPr>
        <p:txBody>
          <a:bodyPr>
            <a:normAutofit/>
          </a:bodyPr>
          <a:lstStyle/>
          <a:p>
            <a:r>
              <a:rPr lang="en-US" dirty="0" smtClean="0"/>
              <a:t>Increment </a:t>
            </a:r>
            <a:r>
              <a:rPr lang="en-US" dirty="0"/>
              <a:t>Decrement Operators</a:t>
            </a:r>
          </a:p>
          <a:p>
            <a:r>
              <a:rPr lang="en-US" dirty="0"/>
              <a:t>Augmented Assignment Operators</a:t>
            </a:r>
          </a:p>
          <a:p>
            <a:r>
              <a:rPr lang="en-US" dirty="0" smtClean="0"/>
              <a:t>Type Casting</a:t>
            </a:r>
            <a:r>
              <a:rPr lang="en-US" dirty="0" smtClean="0"/>
              <a:t> </a:t>
            </a:r>
            <a:r>
              <a:rPr lang="en-US" dirty="0"/>
              <a:t>and Named Constants</a:t>
            </a:r>
          </a:p>
          <a:p>
            <a:r>
              <a:rPr lang="en-US" dirty="0"/>
              <a:t>Escape Sequences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Type casting in C++ is a way to convert a variable from one data type to another. It’s like telling the computer, "Treat this value as if it were a different type."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/>
              <a:t>For example, if you have a number stored as a floating-point (like 3.14) but you want to use it as an integer (3), you can use type casting to convert it</a:t>
            </a:r>
            <a:r>
              <a:rPr lang="en-US" dirty="0" smtClean="0"/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545950"/>
            <a:ext cx="7756263" cy="1054250"/>
          </a:xfrm>
        </p:spPr>
        <p:txBody>
          <a:bodyPr>
            <a:normAutofit/>
          </a:bodyPr>
          <a:lstStyle/>
          <a:p>
            <a:r>
              <a:rPr lang="en-US" sz="4800" dirty="0" smtClean="0"/>
              <a:t>Type Casting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35479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1" y="2133601"/>
            <a:ext cx="8743096" cy="3992562"/>
          </a:xfrm>
        </p:spPr>
        <p:txBody>
          <a:bodyPr/>
          <a:lstStyle/>
          <a:p>
            <a:r>
              <a:rPr lang="en-US" sz="2200" dirty="0" smtClean="0">
                <a:solidFill>
                  <a:schemeClr val="tx1"/>
                </a:solidFill>
              </a:rPr>
              <a:t>Keep this in mind before answering: 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% </a:t>
            </a:r>
            <a:r>
              <a:rPr lang="en-US" sz="2200" dirty="0">
                <a:solidFill>
                  <a:schemeClr val="tx1"/>
                </a:solidFill>
              </a:rPr>
              <a:t>(remainder or modulo) is the special operator just for integer. It yields an integer as the result.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66897" cy="1054250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sz="4800" dirty="0">
                <a:solidFill>
                  <a:schemeClr val="tx1"/>
                </a:solidFill>
              </a:rPr>
              <a:t>What is the output of the following program?</a:t>
            </a:r>
            <a:endParaRPr lang="en-US" sz="4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34200"/>
            <a:ext cx="4267799" cy="258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844" y="3571341"/>
            <a:ext cx="3452756" cy="130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02" y="6210152"/>
            <a:ext cx="8493395" cy="495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324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66897" cy="1054250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sz="4800" dirty="0">
                <a:solidFill>
                  <a:schemeClr val="tx1"/>
                </a:solidFill>
              </a:rPr>
              <a:t>What is the output of the following program?</a:t>
            </a:r>
            <a:endParaRPr lang="en-US" sz="48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42" y="2362200"/>
            <a:ext cx="5535422" cy="338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978914"/>
            <a:ext cx="823912" cy="965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212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Ask user to enter two floating point numbers and calculate their modulus.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01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5096566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037114"/>
            <a:ext cx="2927606" cy="1203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3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Casting does not change the variable being cast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131" y="2819400"/>
            <a:ext cx="3735669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184728"/>
            <a:ext cx="3733800" cy="76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57800" y="3657600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7121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850750"/>
            <a:ext cx="7756263" cy="1054250"/>
          </a:xfrm>
        </p:spPr>
        <p:txBody>
          <a:bodyPr/>
          <a:lstStyle/>
          <a:p>
            <a:r>
              <a:rPr lang="en-US" b="1" dirty="0"/>
              <a:t>Print ASCII Value in C++</a:t>
            </a:r>
            <a:br>
              <a:rPr lang="en-US" b="1" dirty="0"/>
            </a:b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5999"/>
            <a:ext cx="7467600" cy="3660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145" y="6024563"/>
            <a:ext cx="3448655" cy="68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308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Named constant is an identifier that represents a permanent value.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Syntax: </a:t>
            </a: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datatype</a:t>
            </a:r>
            <a:r>
              <a:rPr lang="en-US" dirty="0" smtClean="0"/>
              <a:t> </a:t>
            </a:r>
            <a:r>
              <a:rPr lang="en-US" dirty="0" err="1" smtClean="0"/>
              <a:t>ConstantName</a:t>
            </a:r>
            <a:r>
              <a:rPr lang="en-US" dirty="0" smtClean="0"/>
              <a:t> = value;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Named Constants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94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 radius as input from user and calculate its area.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069" y="2771775"/>
            <a:ext cx="3442131" cy="401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872038"/>
            <a:ext cx="2566305" cy="76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37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 smtClean="0"/>
              <a:t>Increment and Decrement Operators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233397"/>
              </p:ext>
            </p:extLst>
          </p:nvPr>
        </p:nvGraphicFramePr>
        <p:xfrm>
          <a:off x="762000" y="2397760"/>
          <a:ext cx="7848601" cy="385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208"/>
                <a:gridCol w="1770993"/>
                <a:gridCol w="2438399"/>
                <a:gridCol w="2286001"/>
              </a:tblGrid>
              <a:tr h="5588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Operator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Description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Example(assume i = 1)</a:t>
                      </a:r>
                      <a:endParaRPr lang="en-US" sz="1600" dirty="0"/>
                    </a:p>
                  </a:txBody>
                  <a:tcPr/>
                </a:tc>
              </a:tr>
              <a:tr h="69643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++</a:t>
                      </a:r>
                      <a:r>
                        <a:rPr lang="en-US" sz="1600" dirty="0" err="1" smtClean="0"/>
                        <a:t>var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preincrement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Increment </a:t>
                      </a:r>
                      <a:r>
                        <a:rPr lang="en-US" sz="1600" dirty="0" err="1" smtClean="0"/>
                        <a:t>var</a:t>
                      </a:r>
                      <a:r>
                        <a:rPr lang="en-US" sz="1600" dirty="0" smtClean="0"/>
                        <a:t> by 1</a:t>
                      </a:r>
                      <a:r>
                        <a:rPr lang="en-US" sz="1600" baseline="0" dirty="0" smtClean="0"/>
                        <a:t> and</a:t>
                      </a:r>
                      <a:r>
                        <a:rPr lang="en-US" sz="1600" dirty="0" smtClean="0"/>
                        <a:t> use the new </a:t>
                      </a:r>
                      <a:r>
                        <a:rPr lang="en-US" sz="1600" dirty="0" err="1" smtClean="0"/>
                        <a:t>var</a:t>
                      </a:r>
                      <a:r>
                        <a:rPr lang="en-US" sz="1600" dirty="0" smtClean="0"/>
                        <a:t> value of a in the statement.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int</a:t>
                      </a:r>
                      <a:r>
                        <a:rPr lang="en-US" sz="1600" baseline="0" dirty="0" smtClean="0"/>
                        <a:t> j = ++i;</a:t>
                      </a:r>
                    </a:p>
                    <a:p>
                      <a:r>
                        <a:rPr lang="en-US" sz="1600" baseline="0" dirty="0" smtClean="0"/>
                        <a:t>    </a:t>
                      </a:r>
                    </a:p>
                    <a:p>
                      <a:r>
                        <a:rPr lang="en-US" sz="1600" baseline="0" dirty="0" smtClean="0"/>
                        <a:t>   //j is 2,  i is 2</a:t>
                      </a:r>
                    </a:p>
                  </a:txBody>
                  <a:tcPr/>
                </a:tc>
              </a:tr>
              <a:tr h="696434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var</a:t>
                      </a:r>
                      <a:r>
                        <a:rPr lang="en-US" sz="1600" dirty="0" smtClean="0"/>
                        <a:t>++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postincrement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Increment </a:t>
                      </a:r>
                      <a:r>
                        <a:rPr lang="en-US" sz="1600" dirty="0" err="1" smtClean="0"/>
                        <a:t>var</a:t>
                      </a:r>
                      <a:r>
                        <a:rPr lang="en-US" sz="1600" dirty="0" smtClean="0"/>
                        <a:t> by 1,</a:t>
                      </a:r>
                      <a:r>
                        <a:rPr lang="en-US" sz="1600" baseline="0" dirty="0" smtClean="0"/>
                        <a:t> but use the original </a:t>
                      </a:r>
                      <a:r>
                        <a:rPr lang="en-US" sz="1600" baseline="0" dirty="0" err="1" smtClean="0"/>
                        <a:t>var</a:t>
                      </a:r>
                      <a:r>
                        <a:rPr lang="en-US" sz="1600" baseline="0" dirty="0" smtClean="0"/>
                        <a:t> value in the statement.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int</a:t>
                      </a:r>
                      <a:r>
                        <a:rPr lang="en-US" sz="1600" baseline="0" dirty="0" smtClean="0"/>
                        <a:t> j = i++;</a:t>
                      </a:r>
                    </a:p>
                    <a:p>
                      <a:r>
                        <a:rPr lang="en-US" sz="1600" baseline="0" dirty="0" smtClean="0"/>
                        <a:t>    </a:t>
                      </a:r>
                    </a:p>
                    <a:p>
                      <a:r>
                        <a:rPr lang="en-US" sz="1600" baseline="0" dirty="0" smtClean="0"/>
                        <a:t>   //j is 1,  i is 2</a:t>
                      </a:r>
                    </a:p>
                  </a:txBody>
                  <a:tcPr/>
                </a:tc>
              </a:tr>
              <a:tr h="69643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</a:t>
                      </a:r>
                      <a:r>
                        <a:rPr lang="en-US" sz="1600" dirty="0" err="1" smtClean="0"/>
                        <a:t>var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predecrement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Decrement </a:t>
                      </a:r>
                      <a:r>
                        <a:rPr lang="en-US" sz="1600" dirty="0" err="1" smtClean="0"/>
                        <a:t>var</a:t>
                      </a:r>
                      <a:r>
                        <a:rPr lang="en-US" sz="1600" dirty="0" smtClean="0"/>
                        <a:t> by 1</a:t>
                      </a:r>
                      <a:r>
                        <a:rPr lang="en-US" sz="1600" baseline="0" dirty="0" smtClean="0"/>
                        <a:t> and</a:t>
                      </a:r>
                      <a:r>
                        <a:rPr lang="en-US" sz="1600" dirty="0" smtClean="0"/>
                        <a:t> use the new </a:t>
                      </a:r>
                      <a:r>
                        <a:rPr lang="en-US" sz="1600" dirty="0" err="1" smtClean="0"/>
                        <a:t>var</a:t>
                      </a:r>
                      <a:r>
                        <a:rPr lang="en-US" sz="1600" dirty="0" smtClean="0"/>
                        <a:t> value of a in the statement.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int</a:t>
                      </a:r>
                      <a:r>
                        <a:rPr lang="en-US" sz="1600" baseline="0" dirty="0" smtClean="0"/>
                        <a:t> j = --i;</a:t>
                      </a:r>
                    </a:p>
                    <a:p>
                      <a:r>
                        <a:rPr lang="en-US" sz="1600" baseline="0" dirty="0" smtClean="0"/>
                        <a:t>    </a:t>
                      </a:r>
                    </a:p>
                    <a:p>
                      <a:r>
                        <a:rPr lang="en-US" sz="1600" baseline="0" dirty="0" smtClean="0"/>
                        <a:t>   //j is 0,  i is 0</a:t>
                      </a:r>
                    </a:p>
                  </a:txBody>
                  <a:tcPr/>
                </a:tc>
              </a:tr>
              <a:tr h="696434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var</a:t>
                      </a:r>
                      <a:r>
                        <a:rPr lang="en-US" sz="1600" dirty="0" smtClean="0"/>
                        <a:t>--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postdecrement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Decrement </a:t>
                      </a:r>
                      <a:r>
                        <a:rPr lang="en-US" sz="1600" dirty="0" err="1" smtClean="0"/>
                        <a:t>var</a:t>
                      </a:r>
                      <a:r>
                        <a:rPr lang="en-US" sz="1600" dirty="0" smtClean="0"/>
                        <a:t> by 1</a:t>
                      </a:r>
                      <a:r>
                        <a:rPr lang="en-US" sz="1600" baseline="0" dirty="0" smtClean="0"/>
                        <a:t> and use the original </a:t>
                      </a:r>
                      <a:r>
                        <a:rPr lang="en-US" sz="1600" baseline="0" dirty="0" err="1" smtClean="0"/>
                        <a:t>var</a:t>
                      </a:r>
                      <a:r>
                        <a:rPr lang="en-US" sz="1600" baseline="0" dirty="0" smtClean="0"/>
                        <a:t> value in the statement.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int</a:t>
                      </a:r>
                      <a:r>
                        <a:rPr lang="en-US" sz="1600" baseline="0" dirty="0" smtClean="0"/>
                        <a:t> j = i--;</a:t>
                      </a:r>
                    </a:p>
                    <a:p>
                      <a:r>
                        <a:rPr lang="en-US" sz="1600" baseline="0" dirty="0" smtClean="0"/>
                        <a:t>    </a:t>
                      </a:r>
                    </a:p>
                    <a:p>
                      <a:r>
                        <a:rPr lang="en-US" sz="1600" baseline="0" dirty="0" smtClean="0"/>
                        <a:t>   //j is 1,  i is 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84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Increment and Decrement Operators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390775"/>
            <a:ext cx="6400800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378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 rot="16200000">
            <a:off x="-2673275" y="2901875"/>
            <a:ext cx="6858000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9" y="304800"/>
            <a:ext cx="5133613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050" y="4757225"/>
            <a:ext cx="18415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328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 smtClean="0"/>
              <a:t>Augmented Assignment Operators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647950"/>
            <a:ext cx="441960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177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algn="just"/>
            <a:r>
              <a:rPr lang="en-US" dirty="0" smtClean="0"/>
              <a:t>The backslash is called the escape character.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It tells the compiler that the next character is “escaping” it’s typical definition and using its secondary definition.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Escape Sequences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98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725858"/>
              </p:ext>
            </p:extLst>
          </p:nvPr>
        </p:nvGraphicFramePr>
        <p:xfrm>
          <a:off x="381000" y="2209801"/>
          <a:ext cx="8534400" cy="4507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6553200"/>
              </a:tblGrid>
              <a:tr h="424858"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Escape Sequence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Description</a:t>
                      </a:r>
                      <a:endParaRPr lang="en-US" sz="1700" dirty="0"/>
                    </a:p>
                  </a:txBody>
                  <a:tcPr/>
                </a:tc>
              </a:tr>
              <a:tr h="517310"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\n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Newline. Position the cursor at the beginning of the next line.</a:t>
                      </a:r>
                      <a:endParaRPr lang="en-US" sz="1700" dirty="0"/>
                    </a:p>
                  </a:txBody>
                  <a:tcPr/>
                </a:tc>
              </a:tr>
              <a:tr h="424858"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\t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Horizontal tab. Move the cursor to the next tab stop.</a:t>
                      </a:r>
                      <a:endParaRPr lang="en-US" sz="1700" dirty="0"/>
                    </a:p>
                  </a:txBody>
                  <a:tcPr/>
                </a:tc>
              </a:tr>
              <a:tr h="597875"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\b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Backspace. </a:t>
                      </a:r>
                      <a:r>
                        <a:rPr lang="en-US" sz="17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deletes or removes one character which is written before</a:t>
                      </a:r>
                      <a:endParaRPr lang="en-US" sz="1700" dirty="0"/>
                    </a:p>
                  </a:txBody>
                  <a:tcPr/>
                </a:tc>
              </a:tr>
              <a:tr h="739014"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\r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Carriage return. Position the screen cursor to the beginning of the current line; do not advance to the next line.</a:t>
                      </a:r>
                      <a:endParaRPr lang="en-US" sz="1700" dirty="0"/>
                    </a:p>
                  </a:txBody>
                  <a:tcPr/>
                </a:tc>
              </a:tr>
              <a:tr h="424858"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\a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Alert. Sound the system bell.</a:t>
                      </a:r>
                      <a:endParaRPr lang="en-US" sz="1700" dirty="0"/>
                    </a:p>
                  </a:txBody>
                  <a:tcPr/>
                </a:tc>
              </a:tr>
              <a:tr h="424858"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\\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Backslash. Insert a backslash character in a string.</a:t>
                      </a:r>
                      <a:endParaRPr lang="en-US" sz="1700" dirty="0"/>
                    </a:p>
                  </a:txBody>
                  <a:tcPr/>
                </a:tc>
              </a:tr>
              <a:tr h="424858">
                <a:tc>
                  <a:txBody>
                    <a:bodyPr/>
                    <a:lstStyle/>
                    <a:p>
                      <a:pPr algn="just"/>
                      <a:r>
                        <a:rPr lang="en-US" sz="1700" smtClean="0"/>
                        <a:t>\'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Single quote. Used to print a single quote character.</a:t>
                      </a:r>
                      <a:endParaRPr lang="en-US" sz="1700" dirty="0"/>
                    </a:p>
                  </a:txBody>
                  <a:tcPr/>
                </a:tc>
              </a:tr>
              <a:tr h="517310"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 smtClean="0"/>
                        <a:t>\"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700" dirty="0" smtClean="0"/>
                        <a:t>Double quote. Insert a double-</a:t>
                      </a:r>
                      <a:r>
                        <a:rPr lang="fr-FR" sz="1700" dirty="0" err="1" smtClean="0"/>
                        <a:t>quote</a:t>
                      </a:r>
                      <a:r>
                        <a:rPr lang="fr-FR" sz="1700" baseline="0" dirty="0" smtClean="0"/>
                        <a:t> character</a:t>
                      </a:r>
                      <a:r>
                        <a:rPr lang="fr-FR" sz="1700" dirty="0" smtClean="0"/>
                        <a:t> in a string.</a:t>
                      </a:r>
                      <a:endParaRPr lang="en-US" sz="17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Escape Sequences</a:t>
            </a:r>
          </a:p>
        </p:txBody>
      </p:sp>
    </p:spTree>
    <p:extLst>
      <p:ext uri="{BB962C8B-B14F-4D97-AF65-F5344CB8AC3E}">
        <p14:creationId xmlns:p14="http://schemas.microsoft.com/office/powerpoint/2010/main" val="63408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5504441" cy="255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5172441"/>
            <a:ext cx="256734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409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09800"/>
            <a:ext cx="3200400" cy="2889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029200"/>
            <a:ext cx="1435894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461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Print the message "This is a C++ program". Separate each word from the next by a tab.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3124200"/>
            <a:ext cx="4495800" cy="224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72" y="6024563"/>
            <a:ext cx="6027628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43000" y="5562600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644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792</TotalTime>
  <Words>536</Words>
  <Application>Microsoft Office PowerPoint</Application>
  <PresentationFormat>On-screen Show (4:3)</PresentationFormat>
  <Paragraphs>90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Hardcover</vt:lpstr>
      <vt:lpstr>Programming Fundamentals</vt:lpstr>
      <vt:lpstr>Today’s Lecture</vt:lpstr>
      <vt:lpstr>Type Casting</vt:lpstr>
      <vt:lpstr>What is the output of the following program?</vt:lpstr>
      <vt:lpstr>What is the output of the following program?</vt:lpstr>
      <vt:lpstr>Activity</vt:lpstr>
      <vt:lpstr>PowerPoint Presentation</vt:lpstr>
      <vt:lpstr>Activity</vt:lpstr>
      <vt:lpstr>Print ASCII Value in C++ </vt:lpstr>
      <vt:lpstr>Named Constants</vt:lpstr>
      <vt:lpstr>Example</vt:lpstr>
      <vt:lpstr>Increment and Decrement Operators</vt:lpstr>
      <vt:lpstr>Increment and Decrement Operators</vt:lpstr>
      <vt:lpstr>PowerPoint Presentation</vt:lpstr>
      <vt:lpstr>Augmented Assignment Operators</vt:lpstr>
      <vt:lpstr>Escape Sequences</vt:lpstr>
      <vt:lpstr>Escape Sequences</vt:lpstr>
      <vt:lpstr>Example</vt:lpstr>
      <vt:lpstr>Example</vt:lpstr>
      <vt:lpstr>Activity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97</cp:revision>
  <dcterms:created xsi:type="dcterms:W3CDTF">2023-01-21T17:06:48Z</dcterms:created>
  <dcterms:modified xsi:type="dcterms:W3CDTF">2025-09-30T19:38:47Z</dcterms:modified>
</cp:coreProperties>
</file>