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40" r:id="rId1"/>
  </p:sldMasterIdLst>
  <p:sldIdLst>
    <p:sldId id="275" r:id="rId2"/>
    <p:sldId id="276" r:id="rId3"/>
    <p:sldId id="277" r:id="rId4"/>
    <p:sldId id="328" r:id="rId5"/>
    <p:sldId id="327" r:id="rId6"/>
    <p:sldId id="329" r:id="rId7"/>
    <p:sldId id="333" r:id="rId8"/>
    <p:sldId id="292" r:id="rId9"/>
    <p:sldId id="293" r:id="rId10"/>
    <p:sldId id="294" r:id="rId11"/>
    <p:sldId id="295" r:id="rId12"/>
    <p:sldId id="324" r:id="rId13"/>
    <p:sldId id="301" r:id="rId14"/>
    <p:sldId id="314" r:id="rId15"/>
    <p:sldId id="315" r:id="rId16"/>
    <p:sldId id="297" r:id="rId17"/>
    <p:sldId id="331" r:id="rId18"/>
    <p:sldId id="332" r:id="rId19"/>
    <p:sldId id="316" r:id="rId20"/>
    <p:sldId id="325" r:id="rId21"/>
    <p:sldId id="302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-960" y="-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F4282D-DD47-4BD2-B4E4-03CD91B40D1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AFF4282D-DD47-4BD2-B4E4-03CD91B40D1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41" r:id="rId1"/>
    <p:sldLayoutId id="2147484442" r:id="rId2"/>
    <p:sldLayoutId id="2147484443" r:id="rId3"/>
    <p:sldLayoutId id="2147484444" r:id="rId4"/>
    <p:sldLayoutId id="2147484445" r:id="rId5"/>
    <p:sldLayoutId id="2147484446" r:id="rId6"/>
    <p:sldLayoutId id="2147484447" r:id="rId7"/>
    <p:sldLayoutId id="2147484448" r:id="rId8"/>
    <p:sldLayoutId id="2147484449" r:id="rId9"/>
    <p:sldLayoutId id="2147484450" r:id="rId10"/>
    <p:sldLayoutId id="214748445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Programming Fundamentals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By</a:t>
            </a:r>
          </a:p>
          <a:p>
            <a:r>
              <a:rPr lang="en-US" dirty="0" smtClean="0"/>
              <a:t>Shazmeen Batool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358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 to Control Statements </a:t>
            </a:r>
          </a:p>
          <a:p>
            <a:r>
              <a:rPr lang="en-US" dirty="0"/>
              <a:t>Boolean Data Type </a:t>
            </a:r>
          </a:p>
          <a:p>
            <a:r>
              <a:rPr lang="en-US" dirty="0"/>
              <a:t>If Statement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Previous Lecture</a:t>
            </a:r>
          </a:p>
        </p:txBody>
      </p:sp>
    </p:spTree>
    <p:extLst>
      <p:ext uri="{BB962C8B-B14F-4D97-AF65-F5344CB8AC3E}">
        <p14:creationId xmlns:p14="http://schemas.microsoft.com/office/powerpoint/2010/main" val="2111429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Two </a:t>
            </a:r>
            <a:r>
              <a:rPr lang="en-US" dirty="0"/>
              <a:t>way if else Statements </a:t>
            </a:r>
            <a:endParaRPr lang="en-US" dirty="0" smtClean="0"/>
          </a:p>
          <a:p>
            <a:r>
              <a:rPr lang="en-US" dirty="0" smtClean="0"/>
              <a:t>Common </a:t>
            </a:r>
            <a:r>
              <a:rPr lang="en-US" dirty="0"/>
              <a:t>Errors in Control </a:t>
            </a:r>
            <a:r>
              <a:rPr lang="en-US" dirty="0" smtClean="0"/>
              <a:t>Statements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Today’s Lecture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524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will be the outcome of the statements below?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Activity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895600"/>
            <a:ext cx="8900886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3276600" y="3657600"/>
            <a:ext cx="3886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352800" y="3962400"/>
            <a:ext cx="3886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352800" y="4267200"/>
            <a:ext cx="4800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276600" y="4572000"/>
            <a:ext cx="45720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352800" y="4876800"/>
            <a:ext cx="39624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677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Activity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65" y="2552700"/>
            <a:ext cx="8996984" cy="300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Oval 4"/>
          <p:cNvSpPr/>
          <p:nvPr/>
        </p:nvSpPr>
        <p:spPr>
          <a:xfrm>
            <a:off x="2743200" y="3200400"/>
            <a:ext cx="381000" cy="381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743200" y="3505200"/>
            <a:ext cx="381000" cy="381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429000" y="3886200"/>
            <a:ext cx="381000" cy="381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2743200" y="4114800"/>
            <a:ext cx="381000" cy="381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2743200" y="4495800"/>
            <a:ext cx="381000" cy="381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429000" y="4724400"/>
            <a:ext cx="381000" cy="381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2743200" y="5105400"/>
            <a:ext cx="381000" cy="381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551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Activity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133599"/>
            <a:ext cx="8407600" cy="22098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926667" y="3124200"/>
            <a:ext cx="10743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True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01573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Write an if statement that performs the following logic: if the variable sales is greater than 50,000, then assign 0.25 to the </a:t>
            </a:r>
            <a:r>
              <a:rPr lang="en-US" dirty="0" err="1"/>
              <a:t>commissionRate</a:t>
            </a:r>
            <a:r>
              <a:rPr lang="en-US" dirty="0"/>
              <a:t> variable, and assign 250 to the bonus variable.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Activity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4114800"/>
            <a:ext cx="4365625" cy="199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34437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248347"/>
            <a:ext cx="8139953" cy="445725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An if-else statement decides which statements to execute based on whether the condition is true or </a:t>
            </a:r>
            <a:r>
              <a:rPr lang="en-US" dirty="0" smtClean="0"/>
              <a:t>false.</a:t>
            </a:r>
          </a:p>
          <a:p>
            <a:r>
              <a:rPr lang="en-US" dirty="0" smtClean="0"/>
              <a:t>Here </a:t>
            </a:r>
            <a:r>
              <a:rPr lang="en-US" dirty="0"/>
              <a:t>is the syntax for a two-way if-else statement: </a:t>
            </a:r>
            <a:endParaRPr lang="en-US" dirty="0" smtClean="0"/>
          </a:p>
          <a:p>
            <a:pPr marL="457200" indent="0">
              <a:buNone/>
            </a:pPr>
            <a:r>
              <a:rPr lang="en-US" dirty="0" smtClean="0"/>
              <a:t>if </a:t>
            </a:r>
            <a:r>
              <a:rPr lang="en-US" dirty="0"/>
              <a:t>(</a:t>
            </a:r>
            <a:r>
              <a:rPr lang="en-US" dirty="0" err="1"/>
              <a:t>boolean</a:t>
            </a:r>
            <a:r>
              <a:rPr lang="en-US" dirty="0"/>
              <a:t>-expression) </a:t>
            </a:r>
            <a:endParaRPr lang="en-US" dirty="0" smtClean="0"/>
          </a:p>
          <a:p>
            <a:pPr marL="457200" indent="0">
              <a:buNone/>
            </a:pPr>
            <a:r>
              <a:rPr lang="en-US" dirty="0" smtClean="0"/>
              <a:t>{ </a:t>
            </a:r>
          </a:p>
          <a:p>
            <a:pPr marL="457200" indent="0">
              <a:buNone/>
            </a:pPr>
            <a:r>
              <a:rPr lang="en-US" dirty="0" smtClean="0"/>
              <a:t>statement(s</a:t>
            </a:r>
            <a:r>
              <a:rPr lang="en-US" dirty="0"/>
              <a:t>)-for-the-true-case; </a:t>
            </a:r>
            <a:endParaRPr lang="en-US" dirty="0" smtClean="0"/>
          </a:p>
          <a:p>
            <a:pPr marL="457200" indent="0">
              <a:buNone/>
            </a:pPr>
            <a:r>
              <a:rPr lang="en-US" dirty="0" smtClean="0"/>
              <a:t>} </a:t>
            </a:r>
          </a:p>
          <a:p>
            <a:pPr marL="457200" indent="0">
              <a:buNone/>
            </a:pPr>
            <a:r>
              <a:rPr lang="en-US" dirty="0" smtClean="0"/>
              <a:t>else </a:t>
            </a:r>
          </a:p>
          <a:p>
            <a:pPr marL="457200" indent="0">
              <a:buNone/>
            </a:pPr>
            <a:r>
              <a:rPr lang="en-US" dirty="0" smtClean="0"/>
              <a:t>{ </a:t>
            </a:r>
          </a:p>
          <a:p>
            <a:pPr marL="457200" indent="0">
              <a:buNone/>
            </a:pPr>
            <a:r>
              <a:rPr lang="en-US" dirty="0" smtClean="0"/>
              <a:t>statement(s</a:t>
            </a:r>
            <a:r>
              <a:rPr lang="en-US" dirty="0"/>
              <a:t>)-for-the-false-case; </a:t>
            </a:r>
            <a:endParaRPr lang="en-US" dirty="0" smtClean="0"/>
          </a:p>
          <a:p>
            <a:pPr marL="457200" indent="0">
              <a:buNone/>
            </a:pPr>
            <a:r>
              <a:rPr lang="en-US" dirty="0" smtClean="0"/>
              <a:t>}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8490" y="457200"/>
            <a:ext cx="7756263" cy="1054250"/>
          </a:xfrm>
        </p:spPr>
        <p:txBody>
          <a:bodyPr/>
          <a:lstStyle/>
          <a:p>
            <a:r>
              <a:rPr lang="en-US" dirty="0"/>
              <a:t>Two-Way </a:t>
            </a:r>
            <a:r>
              <a:rPr lang="en-US" dirty="0" smtClean="0"/>
              <a:t>if-else Statements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5749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if-else statement executes statements for the true case if the Boolean-expression evaluates to true; otherwise, statements for the false case are executed.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</a:t>
            </a:r>
            <a:r>
              <a:rPr lang="en-US" dirty="0" smtClean="0"/>
              <a:t>f-else statements</a:t>
            </a:r>
            <a:endParaRPr lang="en-US" dirty="0"/>
          </a:p>
        </p:txBody>
      </p:sp>
      <p:sp>
        <p:nvSpPr>
          <p:cNvPr id="4" name="AutoShape 4" descr="If...else and if...else...if statement in C - Codeforwi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3429000"/>
            <a:ext cx="3943350" cy="32523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3429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The </a:t>
            </a:r>
            <a:r>
              <a:rPr lang="en-US" b="1" dirty="0" err="1"/>
              <a:t>pseudocode</a:t>
            </a:r>
            <a:r>
              <a:rPr lang="en-US" b="1" dirty="0"/>
              <a:t> </a:t>
            </a:r>
            <a:r>
              <a:rPr lang="en-US" b="1" dirty="0" smtClean="0"/>
              <a:t>statement:</a:t>
            </a:r>
          </a:p>
          <a:p>
            <a:r>
              <a:rPr lang="en-US" dirty="0"/>
              <a:t>If student’s grade is greater than or equal to 60 Print “Passed” </a:t>
            </a:r>
            <a:r>
              <a:rPr lang="en-US" dirty="0" smtClean="0"/>
              <a:t>Else </a:t>
            </a:r>
            <a:r>
              <a:rPr lang="en-US" dirty="0"/>
              <a:t>Print “Failed</a:t>
            </a:r>
            <a:r>
              <a:rPr lang="en-US" dirty="0" smtClean="0"/>
              <a:t>”</a:t>
            </a:r>
            <a:endParaRPr lang="en-US" b="1" dirty="0" smtClean="0"/>
          </a:p>
          <a:p>
            <a:r>
              <a:rPr lang="en-US" b="1" dirty="0" smtClean="0"/>
              <a:t>Flowchart:</a:t>
            </a:r>
          </a:p>
        </p:txBody>
      </p:sp>
      <p:sp>
        <p:nvSpPr>
          <p:cNvPr id="4" name="Title 2"/>
          <p:cNvSpPr>
            <a:spLocks noGrp="1"/>
          </p:cNvSpPr>
          <p:nvPr>
            <p:ph type="title"/>
          </p:nvPr>
        </p:nvSpPr>
        <p:spPr>
          <a:xfrm>
            <a:off x="688490" y="381000"/>
            <a:ext cx="7756263" cy="1054250"/>
          </a:xfrm>
        </p:spPr>
        <p:txBody>
          <a:bodyPr/>
          <a:lstStyle/>
          <a:p>
            <a:r>
              <a:rPr lang="en-US" dirty="0"/>
              <a:t>i</a:t>
            </a:r>
            <a:r>
              <a:rPr lang="en-US" dirty="0" smtClean="0"/>
              <a:t>f-else statements Example</a:t>
            </a:r>
            <a:endParaRPr lang="en-US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962400"/>
            <a:ext cx="5486400" cy="1933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4724400"/>
            <a:ext cx="2356394" cy="10517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5927970" y="3664803"/>
            <a:ext cx="35208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If statement may be written in </a:t>
            </a:r>
            <a:r>
              <a:rPr lang="en-US" sz="2400" b="1" dirty="0" smtClean="0"/>
              <a:t>C++ </a:t>
            </a:r>
            <a:r>
              <a:rPr lang="en-US" sz="2400" b="1" dirty="0" smtClean="0"/>
              <a:t>as: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06378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133600"/>
            <a:ext cx="7745505" cy="3877815"/>
          </a:xfrm>
        </p:spPr>
        <p:txBody>
          <a:bodyPr>
            <a:normAutofit/>
          </a:bodyPr>
          <a:lstStyle/>
          <a:p>
            <a:pPr algn="just"/>
            <a:endParaRPr lang="en-US" b="1" dirty="0" smtClean="0"/>
          </a:p>
          <a:p>
            <a:pPr algn="just"/>
            <a:endParaRPr lang="en-US" b="1" dirty="0"/>
          </a:p>
          <a:p>
            <a:pPr algn="just"/>
            <a:r>
              <a:rPr lang="en-US" b="1" dirty="0" smtClean="0"/>
              <a:t>Write </a:t>
            </a:r>
            <a:r>
              <a:rPr lang="en-US" b="1" dirty="0"/>
              <a:t>a code which display the area if radius is greater than equal to zero else print negative radius </a:t>
            </a:r>
            <a:r>
              <a:rPr lang="en-US" b="1" dirty="0" smtClean="0"/>
              <a:t>(Note</a:t>
            </a:r>
            <a:r>
              <a:rPr lang="en-US" b="1" dirty="0"/>
              <a:t>: if radius is less than 0 no need to print any area only display negative radius</a:t>
            </a:r>
            <a:r>
              <a:rPr lang="en-US" b="1" dirty="0" smtClean="0"/>
              <a:t>).</a:t>
            </a:r>
            <a:endParaRPr lang="en-US" b="1" dirty="0"/>
          </a:p>
        </p:txBody>
      </p:sp>
      <p:sp>
        <p:nvSpPr>
          <p:cNvPr id="10" name="Title 2"/>
          <p:cNvSpPr>
            <a:spLocks noGrp="1"/>
          </p:cNvSpPr>
          <p:nvPr>
            <p:ph type="title"/>
          </p:nvPr>
        </p:nvSpPr>
        <p:spPr>
          <a:xfrm>
            <a:off x="688490" y="381000"/>
            <a:ext cx="7756263" cy="1054250"/>
          </a:xfrm>
        </p:spPr>
        <p:txBody>
          <a:bodyPr/>
          <a:lstStyle/>
          <a:p>
            <a:r>
              <a:rPr lang="en-US" dirty="0"/>
              <a:t>i</a:t>
            </a:r>
            <a:r>
              <a:rPr lang="en-US" dirty="0" smtClean="0"/>
              <a:t>f-else statements Example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140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04800"/>
            <a:ext cx="4972610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554372" y="2133600"/>
            <a:ext cx="12942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Output 1:</a:t>
            </a:r>
            <a:endParaRPr lang="en-US" sz="2000" b="1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2611212"/>
            <a:ext cx="3576814" cy="726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6627693" y="3886200"/>
            <a:ext cx="12942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Output 2:</a:t>
            </a:r>
            <a:endParaRPr lang="en-US" sz="2000" b="1" dirty="0"/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7855" y="4343399"/>
            <a:ext cx="3587261" cy="6858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31709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Common </a:t>
            </a:r>
            <a:r>
              <a:rPr lang="en-US" b="1" dirty="0" smtClean="0"/>
              <a:t>Error : </a:t>
            </a:r>
            <a:r>
              <a:rPr lang="en-US" b="1" dirty="0"/>
              <a:t>Mistakenly Using = for </a:t>
            </a:r>
            <a:r>
              <a:rPr lang="en-US" b="1" dirty="0" smtClean="0"/>
              <a:t>==</a:t>
            </a:r>
          </a:p>
          <a:p>
            <a:pPr marL="0" indent="0">
              <a:buNone/>
            </a:pPr>
            <a:endParaRPr lang="en-US" b="1" dirty="0" smtClean="0"/>
          </a:p>
          <a:p>
            <a:r>
              <a:rPr lang="en-US" dirty="0"/>
              <a:t>The equality testing operator is two equal signs (==). In C++, if you mistakenly use = for ==, it will lead to a logic </a:t>
            </a:r>
            <a:r>
              <a:rPr lang="en-US" dirty="0" smtClean="0"/>
              <a:t>error</a:t>
            </a:r>
            <a:r>
              <a:rPr lang="en-US" dirty="0"/>
              <a:t>. </a:t>
            </a:r>
            <a:r>
              <a:rPr lang="en-US" dirty="0" smtClean="0"/>
              <a:t>Consider the code in next slide:</a:t>
            </a:r>
          </a:p>
        </p:txBody>
      </p:sp>
      <p:sp>
        <p:nvSpPr>
          <p:cNvPr id="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Common Errors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517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Common Errors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73" y="1981200"/>
            <a:ext cx="4100077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4572000" y="2263676"/>
            <a:ext cx="4343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It </a:t>
            </a:r>
            <a:r>
              <a:rPr lang="en-US" dirty="0"/>
              <a:t>always displays "count is zero", because count = 3 assigns 3 to count and the assignment expression is evaluated to 3. Since 3 is a nonzero value, it is interpreted as a true condition by the if statement. Recall that any nonzero value evaluates to true and zero value evaluates to false.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4953000"/>
            <a:ext cx="2720622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399" y="6033255"/>
            <a:ext cx="2682651" cy="596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4724400" y="4552890"/>
            <a:ext cx="12942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Output 1:</a:t>
            </a:r>
            <a:endParaRPr lang="en-US" sz="2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4724399" y="5633145"/>
            <a:ext cx="12942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Output 2: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545849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280" y="1295400"/>
            <a:ext cx="4483132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6708" y="2895599"/>
            <a:ext cx="3162492" cy="6622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6708" y="4571999"/>
            <a:ext cx="3086292" cy="6641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5703671" y="2438400"/>
            <a:ext cx="12942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Output 1:</a:t>
            </a:r>
            <a:endParaRPr lang="en-US" sz="20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5676708" y="4114800"/>
            <a:ext cx="12942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Output 2:</a:t>
            </a:r>
            <a:endParaRPr lang="en-US" sz="2000" b="1" dirty="0"/>
          </a:p>
        </p:txBody>
      </p:sp>
      <p:sp>
        <p:nvSpPr>
          <p:cNvPr id="9" name="Title 2"/>
          <p:cNvSpPr txBox="1">
            <a:spLocks/>
          </p:cNvSpPr>
          <p:nvPr/>
        </p:nvSpPr>
        <p:spPr>
          <a:xfrm>
            <a:off x="304800" y="248598"/>
            <a:ext cx="8458200" cy="10542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smtClean="0"/>
              <a:t>What is the output?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123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>
          <a:xfrm>
            <a:off x="1244600" y="0"/>
            <a:ext cx="7747000" cy="3878263"/>
          </a:xfrm>
        </p:spPr>
        <p:txBody>
          <a:bodyPr>
            <a:normAutofit/>
          </a:bodyPr>
          <a:lstStyle/>
          <a:p>
            <a:pPr algn="just"/>
            <a:r>
              <a:rPr lang="en-US" sz="2200" dirty="0"/>
              <a:t>Write a code which display the area if radius is greater than equal to zero else print negative radius (note: if radius is less than 0 no need to print any area only display negative radius</a:t>
            </a:r>
            <a:r>
              <a:rPr lang="en-US" sz="2200" dirty="0" smtClean="0"/>
              <a:t>).</a:t>
            </a:r>
            <a:endParaRPr lang="en-US" sz="2200" dirty="0"/>
          </a:p>
        </p:txBody>
      </p:sp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 rot="16200000">
            <a:off x="-2734325" y="2899424"/>
            <a:ext cx="6700548" cy="1054100"/>
          </a:xfrm>
        </p:spPr>
        <p:txBody>
          <a:bodyPr/>
          <a:lstStyle/>
          <a:p>
            <a:r>
              <a:rPr lang="en-US" sz="4400" dirty="0"/>
              <a:t>Activity </a:t>
            </a:r>
            <a:r>
              <a:rPr lang="en-US" sz="4400" dirty="0" smtClean="0"/>
              <a:t>3: </a:t>
            </a:r>
            <a:r>
              <a:rPr lang="en-US" sz="4400" dirty="0"/>
              <a:t>What’s wrong with the following </a:t>
            </a:r>
            <a:r>
              <a:rPr lang="en-US" sz="4400" dirty="0" smtClean="0"/>
              <a:t>code?</a:t>
            </a:r>
            <a:endParaRPr lang="en-US" sz="4400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599" y="1524000"/>
            <a:ext cx="5223965" cy="52527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0326" y="1182272"/>
            <a:ext cx="3145610" cy="646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8547" y="1905000"/>
            <a:ext cx="3989253" cy="9256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25383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Activity</a:t>
            </a:r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757" y="2514600"/>
            <a:ext cx="8287043" cy="2409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7079067" y="3733800"/>
            <a:ext cx="11416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False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187927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Activity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18" y="2262554"/>
            <a:ext cx="9003974" cy="1852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524000" y="4572000"/>
            <a:ext cx="594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</a:t>
            </a:r>
            <a:r>
              <a:rPr lang="en-US" sz="2400" dirty="0" smtClean="0"/>
              <a:t>t </a:t>
            </a:r>
            <a:r>
              <a:rPr lang="en-US" sz="2400" dirty="0"/>
              <a:t>contains a </a:t>
            </a:r>
            <a:r>
              <a:rPr lang="en-US" sz="2400" b="1" dirty="0"/>
              <a:t>logic error</a:t>
            </a:r>
            <a:r>
              <a:rPr lang="en-US" sz="2400" dirty="0"/>
              <a:t> due to the </a:t>
            </a:r>
            <a:r>
              <a:rPr lang="en-US" sz="2400" b="1" dirty="0"/>
              <a:t>missing braces {}</a:t>
            </a:r>
            <a:r>
              <a:rPr lang="en-US" sz="2400" dirty="0"/>
              <a:t> around the if statement's body. </a:t>
            </a:r>
          </a:p>
        </p:txBody>
      </p:sp>
    </p:spTree>
    <p:extLst>
      <p:ext uri="{BB962C8B-B14F-4D97-AF65-F5344CB8AC3E}">
        <p14:creationId xmlns:p14="http://schemas.microsoft.com/office/powerpoint/2010/main" val="1300464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Check </a:t>
            </a:r>
            <a:r>
              <a:rPr lang="en-US" dirty="0"/>
              <a:t>Whether Number is Even or Odd using if </a:t>
            </a:r>
            <a:r>
              <a:rPr lang="en-US" dirty="0" smtClean="0"/>
              <a:t>else</a:t>
            </a:r>
            <a:r>
              <a:rPr lang="en-US" dirty="0"/>
              <a:t>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281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39210"/>
            <a:ext cx="4402380" cy="6306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8873" y="3810000"/>
            <a:ext cx="3404118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8873" y="5486400"/>
            <a:ext cx="3404118" cy="8467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348873" y="3352800"/>
            <a:ext cx="12942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Output 1:</a:t>
            </a:r>
            <a:endParaRPr lang="en-US" sz="20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348873" y="4995629"/>
            <a:ext cx="12942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Output 2: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352473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>
          <a:xfrm>
            <a:off x="1320800" y="152400"/>
            <a:ext cx="7747000" cy="3878263"/>
          </a:xfrm>
        </p:spPr>
        <p:txBody>
          <a:bodyPr/>
          <a:lstStyle/>
          <a:p>
            <a:r>
              <a:rPr lang="en-US" b="1" dirty="0" smtClean="0"/>
              <a:t>Understand </a:t>
            </a:r>
            <a:r>
              <a:rPr lang="en-US" b="1" dirty="0"/>
              <a:t>this code to explain if statement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 rot="16200000">
            <a:off x="-2649122" y="2825750"/>
            <a:ext cx="6403926" cy="1054100"/>
          </a:xfrm>
        </p:spPr>
        <p:txBody>
          <a:bodyPr/>
          <a:lstStyle/>
          <a:p>
            <a:r>
              <a:rPr lang="en-US" dirty="0" smtClean="0"/>
              <a:t>Class Activity</a:t>
            </a:r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914400"/>
            <a:ext cx="3802804" cy="549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6609" y="3810000"/>
            <a:ext cx="3404118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2038" y="5486400"/>
            <a:ext cx="3369562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563772" y="3352800"/>
            <a:ext cx="12942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Output 1:</a:t>
            </a:r>
            <a:endParaRPr lang="en-US" sz="20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638800" y="4995629"/>
            <a:ext cx="12942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Output 2: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402510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ardcover">
  <a:themeElements>
    <a:clrScheme name="Hardcover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Hardcover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Hardcover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2421</TotalTime>
  <Words>456</Words>
  <Application>Microsoft Office PowerPoint</Application>
  <PresentationFormat>On-screen Show (4:3)</PresentationFormat>
  <Paragraphs>69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Hardcover</vt:lpstr>
      <vt:lpstr>Programming Fundamentals</vt:lpstr>
      <vt:lpstr>Previous Lecture</vt:lpstr>
      <vt:lpstr>Today’s Lecture</vt:lpstr>
      <vt:lpstr>Class Activity</vt:lpstr>
      <vt:lpstr>Class Activity</vt:lpstr>
      <vt:lpstr>Class Activity</vt:lpstr>
      <vt:lpstr>Class Activity</vt:lpstr>
      <vt:lpstr>Two-Way if-else Statements</vt:lpstr>
      <vt:lpstr>if-else statements</vt:lpstr>
      <vt:lpstr>if-else statements Example</vt:lpstr>
      <vt:lpstr>if-else statements Example</vt:lpstr>
      <vt:lpstr>PowerPoint Presentation</vt:lpstr>
      <vt:lpstr>Common Errors</vt:lpstr>
      <vt:lpstr>Common Errors</vt:lpstr>
      <vt:lpstr>PowerPoint Presentation</vt:lpstr>
      <vt:lpstr>Activity 3: What’s wrong with the following code?</vt:lpstr>
      <vt:lpstr>Class Activity</vt:lpstr>
      <vt:lpstr>Class Activity</vt:lpstr>
      <vt:lpstr>Activity</vt:lpstr>
      <vt:lpstr>PowerPoint Presentation</vt:lpstr>
      <vt:lpstr>Class Activity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Fundamentals</dc:title>
  <dc:creator>p06</dc:creator>
  <cp:lastModifiedBy>p06</cp:lastModifiedBy>
  <cp:revision>107</cp:revision>
  <dcterms:created xsi:type="dcterms:W3CDTF">2023-02-13T17:33:34Z</dcterms:created>
  <dcterms:modified xsi:type="dcterms:W3CDTF">2025-10-07T17:55:06Z</dcterms:modified>
</cp:coreProperties>
</file>