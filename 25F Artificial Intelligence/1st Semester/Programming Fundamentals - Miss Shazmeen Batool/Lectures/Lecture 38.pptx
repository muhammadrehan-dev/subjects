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40" r:id="rId1"/>
  </p:sldMasterIdLst>
  <p:notesMasterIdLst>
    <p:notesMasterId r:id="rId26"/>
  </p:notesMasterIdLst>
  <p:sldIdLst>
    <p:sldId id="275" r:id="rId2"/>
    <p:sldId id="276" r:id="rId3"/>
    <p:sldId id="277" r:id="rId4"/>
    <p:sldId id="362" r:id="rId5"/>
    <p:sldId id="364" r:id="rId6"/>
    <p:sldId id="365" r:id="rId7"/>
    <p:sldId id="366" r:id="rId8"/>
    <p:sldId id="367" r:id="rId9"/>
    <p:sldId id="369" r:id="rId10"/>
    <p:sldId id="371" r:id="rId11"/>
    <p:sldId id="370" r:id="rId12"/>
    <p:sldId id="372" r:id="rId13"/>
    <p:sldId id="373" r:id="rId14"/>
    <p:sldId id="374" r:id="rId15"/>
    <p:sldId id="375" r:id="rId16"/>
    <p:sldId id="376" r:id="rId17"/>
    <p:sldId id="377" r:id="rId18"/>
    <p:sldId id="378" r:id="rId19"/>
    <p:sldId id="379" r:id="rId20"/>
    <p:sldId id="380" r:id="rId21"/>
    <p:sldId id="381" r:id="rId22"/>
    <p:sldId id="382" r:id="rId23"/>
    <p:sldId id="383" r:id="rId24"/>
    <p:sldId id="384"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50" d="100"/>
          <a:sy n="50" d="100"/>
        </p:scale>
        <p:origin x="-1090" y="-15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6A68638-8D4C-4224-86C6-C1F65257DA59}" type="datetimeFigureOut">
              <a:rPr lang="en-US" smtClean="0"/>
              <a:t>12/14/2025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AE47110-DE54-4872-A5AE-CA21AC8F8A64}" type="slidenum">
              <a:rPr lang="en-US" smtClean="0"/>
              <a:t>‹#›</a:t>
            </a:fld>
            <a:endParaRPr lang="en-US"/>
          </a:p>
        </p:txBody>
      </p:sp>
    </p:spTree>
    <p:extLst>
      <p:ext uri="{BB962C8B-B14F-4D97-AF65-F5344CB8AC3E}">
        <p14:creationId xmlns:p14="http://schemas.microsoft.com/office/powerpoint/2010/main" val="3016569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CoverOverlay.png"/>
          <p:cNvPicPr>
            <a:picLocks noChangeAspect="1"/>
          </p:cNvPicPr>
          <p:nvPr/>
        </p:nvPicPr>
        <p:blipFill>
          <a:blip r:embed="rId2" cstate="print"/>
          <a:stretch>
            <a:fillRect/>
          </a:stretch>
        </p:blipFill>
        <p:spPr>
          <a:xfrm>
            <a:off x="0" y="0"/>
            <a:ext cx="9144000" cy="6858000"/>
          </a:xfrm>
          <a:prstGeom prst="rect">
            <a:avLst/>
          </a:prstGeom>
        </p:spPr>
      </p:pic>
      <p:sp>
        <p:nvSpPr>
          <p:cNvPr id="4" name="Date Placeholder 3"/>
          <p:cNvSpPr>
            <a:spLocks noGrp="1"/>
          </p:cNvSpPr>
          <p:nvPr>
            <p:ph type="dt" sz="half" idx="10"/>
          </p:nvPr>
        </p:nvSpPr>
        <p:spPr/>
        <p:txBody>
          <a:bodyPr/>
          <a:lstStyle>
            <a:lvl1pPr>
              <a:defRPr>
                <a:solidFill>
                  <a:schemeClr val="tx2"/>
                </a:solidFill>
              </a:defRPr>
            </a:lvl1pPr>
          </a:lstStyle>
          <a:p>
            <a:fld id="{AFF4282D-DD47-4BD2-B4E4-03CD91B40D17}" type="datetimeFigureOut">
              <a:rPr lang="en-US" smtClean="0"/>
              <a:t>12/14/2025</a:t>
            </a:fld>
            <a:endParaRPr lang="en-U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BBBAC41E-B5DD-4622-B453-5F4DACEC7AF7}" type="slidenum">
              <a:rPr lang="en-US" smtClean="0"/>
              <a:t>‹#›</a:t>
            </a:fld>
            <a:endParaRPr lang="en-US"/>
          </a:p>
        </p:txBody>
      </p:sp>
      <p:grpSp>
        <p:nvGrpSpPr>
          <p:cNvPr id="8" name="Group 7"/>
          <p:cNvGrpSpPr/>
          <p:nvPr/>
        </p:nvGrpSpPr>
        <p:grpSpPr>
          <a:xfrm>
            <a:off x="1194101" y="2887530"/>
            <a:ext cx="6779110" cy="923330"/>
            <a:chOff x="1172584" y="1381459"/>
            <a:chExt cx="6779110" cy="923330"/>
          </a:xfrm>
          <a:effectLst>
            <a:outerShdw blurRad="38100" dist="12700" dir="16200000" rotWithShape="0">
              <a:prstClr val="black">
                <a:alpha val="30000"/>
              </a:prstClr>
            </a:outerShdw>
          </a:effectLst>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rPr>
                <a:t></a:t>
              </a:r>
              <a:endParaRPr lang="en-US" sz="5400" dirty="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293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83341" y="1387737"/>
            <a:ext cx="6777318" cy="1731982"/>
          </a:xfrm>
        </p:spPr>
        <p:txBody>
          <a:bodyPr anchor="b"/>
          <a:lstStyle>
            <a:lvl1pPr>
              <a:defRPr>
                <a:ln w="3175">
                  <a:solidFill>
                    <a:schemeClr val="tx1">
                      <a:alpha val="65000"/>
                    </a:schemeClr>
                  </a:solidFill>
                </a:ln>
                <a:solidFill>
                  <a:schemeClr val="tx1"/>
                </a:solidFill>
                <a:effectLst>
                  <a:outerShdw blurRad="25400" dist="12700" dir="14220000" rotWithShape="0">
                    <a:prstClr val="black">
                      <a:alpha val="50000"/>
                    </a:prstClr>
                  </a:outerShdw>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3767862"/>
            <a:ext cx="6400800" cy="1752600"/>
          </a:xfrm>
        </p:spPr>
        <p:txBody>
          <a:bodyPr/>
          <a:lstStyle>
            <a:lvl1pPr marL="0" indent="0" algn="ctr">
              <a:buNone/>
              <a:defRPr>
                <a:solidFill>
                  <a:schemeClr val="tx1"/>
                </a:solidFill>
                <a:effectLst>
                  <a:outerShdw blurRad="34925" dist="12700" dir="14400000" rotWithShape="0">
                    <a:prstClr val="black">
                      <a:alpha val="21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F4282D-DD47-4BD2-B4E4-03CD91B40D17}"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sp>
        <p:nvSpPr>
          <p:cNvPr id="11" name="Title 10"/>
          <p:cNvSpPr>
            <a:spLocks noGrp="1"/>
          </p:cNvSpPr>
          <p:nvPr>
            <p:ph type="title"/>
          </p:nvPr>
        </p:nvSpPr>
        <p:spPr/>
        <p:txBody>
          <a:bodyPr/>
          <a:lstStyle/>
          <a:p>
            <a:r>
              <a:rPr lang="en-US" smtClean="0"/>
              <a:t>Click to edit Master title style</a:t>
            </a:r>
            <a:endParaRPr lang="en-US"/>
          </a:p>
        </p:txBody>
      </p:sp>
      <p:grpSp>
        <p:nvGrpSpPr>
          <p:cNvPr id="12" name="Group 11"/>
          <p:cNvGrpSpPr/>
          <p:nvPr/>
        </p:nvGrpSpPr>
        <p:grpSpPr>
          <a:xfrm>
            <a:off x="1172584" y="1392217"/>
            <a:ext cx="6779110" cy="923330"/>
            <a:chOff x="1172584" y="1381459"/>
            <a:chExt cx="6779110" cy="923330"/>
          </a:xfrm>
        </p:grpSpPr>
        <p:sp>
          <p:nvSpPr>
            <p:cNvPr id="13" name="TextBox 12"/>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4" name="Straight Connector 13"/>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2" name="Picture 11" descr="CoverOverlay.png"/>
          <p:cNvPicPr>
            <a:picLocks noChangeAspect="1"/>
          </p:cNvPicPr>
          <p:nvPr/>
        </p:nvPicPr>
        <p:blipFill>
          <a:blip r:embed="rId2" cstate="print">
            <a:lum/>
          </a:blip>
          <a:stretch>
            <a:fillRect/>
          </a:stretch>
        </p:blipFill>
        <p:spPr>
          <a:xfrm>
            <a:off x="0" y="0"/>
            <a:ext cx="9144000" cy="6858000"/>
          </a:xfrm>
          <a:prstGeom prst="rect">
            <a:avLst/>
          </a:prstGeom>
        </p:spPr>
      </p:pic>
      <p:grpSp>
        <p:nvGrpSpPr>
          <p:cNvPr id="7" name="Group 7"/>
          <p:cNvGrpSpPr/>
          <p:nvPr/>
        </p:nvGrpSpPr>
        <p:grpSpPr>
          <a:xfrm>
            <a:off x="1172584" y="2887579"/>
            <a:ext cx="6779110" cy="923330"/>
            <a:chOff x="1172584" y="1381459"/>
            <a:chExt cx="6779110" cy="923330"/>
          </a:xfrm>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7412"/>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690040" y="1204857"/>
            <a:ext cx="7754713" cy="1910716"/>
          </a:xfrm>
        </p:spPr>
        <p:txBody>
          <a:bodyPr anchor="b"/>
          <a:lstStyle>
            <a:lvl1pPr algn="ctr">
              <a:defRPr sz="5400" b="0" cap="none"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699248" y="3767316"/>
            <a:ext cx="7734747" cy="1500187"/>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FF4282D-DD47-4BD2-B4E4-03CD91B40D17}"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FF4282D-DD47-4BD2-B4E4-03CD91B40D17}"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BAC41E-B5DD-4622-B453-5F4DACEC7AF7}" type="slidenum">
              <a:rPr lang="en-US" smtClean="0"/>
              <a:t>‹#›</a:t>
            </a:fld>
            <a:endParaRPr lang="en-US"/>
          </a:p>
        </p:txBody>
      </p:sp>
      <p:sp>
        <p:nvSpPr>
          <p:cNvPr id="12" name="Title 11"/>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grpSp>
        <p:nvGrpSpPr>
          <p:cNvPr id="13" name="Group 12"/>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8" name="Content Placeholder 7"/>
          <p:cNvSpPr>
            <a:spLocks noGrp="1"/>
          </p:cNvSpPr>
          <p:nvPr>
            <p:ph sz="quarter" idx="13"/>
          </p:nvPr>
        </p:nvSpPr>
        <p:spPr>
          <a:xfrm>
            <a:off x="685800" y="2240280"/>
            <a:ext cx="3803904" cy="387705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Content Placeholder 9"/>
          <p:cNvSpPr>
            <a:spLocks noGrp="1"/>
          </p:cNvSpPr>
          <p:nvPr>
            <p:ph sz="quarter" idx="14"/>
          </p:nvPr>
        </p:nvSpPr>
        <p:spPr>
          <a:xfrm>
            <a:off x="4645151" y="2240280"/>
            <a:ext cx="3803904" cy="387705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051560" y="2240280"/>
            <a:ext cx="3442446"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8488" y="2947595"/>
            <a:ext cx="3803904"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02306" y="2240280"/>
            <a:ext cx="3447288"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2944368"/>
            <a:ext cx="3799728"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FF4282D-DD47-4BD2-B4E4-03CD91B40D17}" type="datetimeFigureOut">
              <a:rPr lang="en-US" smtClean="0"/>
              <a:t>12/14/2025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BBAC41E-B5DD-4622-B453-5F4DACEC7AF7}" type="slidenum">
              <a:rPr lang="en-US" smtClean="0"/>
              <a:t>‹#›</a:t>
            </a:fld>
            <a:endParaRPr lang="en-US"/>
          </a:p>
        </p:txBody>
      </p:sp>
      <p:grpSp>
        <p:nvGrpSpPr>
          <p:cNvPr id="14" name="Group 13"/>
          <p:cNvGrpSpPr/>
          <p:nvPr/>
        </p:nvGrpSpPr>
        <p:grpSpPr>
          <a:xfrm>
            <a:off x="1172584" y="1392217"/>
            <a:ext cx="6779110" cy="923330"/>
            <a:chOff x="1172584" y="1381459"/>
            <a:chExt cx="6779110" cy="923330"/>
          </a:xfrm>
        </p:grpSpPr>
        <p:sp>
          <p:nvSpPr>
            <p:cNvPr id="16" name="TextBox 15"/>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7" name="Straight Connector 16"/>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FF4282D-DD47-4BD2-B4E4-03CD91B40D17}" type="datetimeFigureOut">
              <a:rPr lang="en-US" smtClean="0"/>
              <a:t>12/14/2025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BBAC41E-B5DD-4622-B453-5F4DACEC7AF7}" type="slidenum">
              <a:rPr lang="en-US" smtClean="0"/>
              <a:t>‹#›</a:t>
            </a:fld>
            <a:endParaRPr lang="en-US"/>
          </a:p>
        </p:txBody>
      </p:sp>
      <p:grpSp>
        <p:nvGrpSpPr>
          <p:cNvPr id="10" name="Group 9"/>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F4282D-DD47-4BD2-B4E4-03CD91B40D17}" type="datetimeFigureOut">
              <a:rPr lang="en-US" smtClean="0"/>
              <a:t>12/14/2025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34579" y="1678195"/>
            <a:ext cx="3422483" cy="1886921"/>
          </a:xfrm>
        </p:spPr>
        <p:txBody>
          <a:bodyPr anchor="b"/>
          <a:lstStyle>
            <a:lvl1pPr algn="l">
              <a:defRPr sz="2800" b="0"/>
            </a:lvl1pPr>
          </a:lstStyle>
          <a:p>
            <a:r>
              <a:rPr lang="en-US" smtClean="0"/>
              <a:t>Click to edit Master title style</a:t>
            </a:r>
            <a:endParaRPr lang="en-US"/>
          </a:p>
        </p:txBody>
      </p:sp>
      <p:sp>
        <p:nvSpPr>
          <p:cNvPr id="3" name="Content Placeholder 2"/>
          <p:cNvSpPr>
            <a:spLocks noGrp="1"/>
          </p:cNvSpPr>
          <p:nvPr>
            <p:ph idx="1"/>
          </p:nvPr>
        </p:nvSpPr>
        <p:spPr>
          <a:xfrm>
            <a:off x="692001" y="559398"/>
            <a:ext cx="4116667" cy="5566765"/>
          </a:xfrm>
        </p:spPr>
        <p:txBody>
          <a:bodyPr anchor="ct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034579" y="3603812"/>
            <a:ext cx="3411725" cy="2517289"/>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FF4282D-DD47-4BD2-B4E4-03CD91B40D17}"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731" y="4668818"/>
            <a:ext cx="7767021" cy="644729"/>
          </a:xfrm>
        </p:spPr>
        <p:txBody>
          <a:bodyPr anchor="b"/>
          <a:lstStyle>
            <a:lvl1pPr algn="ctr">
              <a:defRPr sz="2800" b="0"/>
            </a:lvl1pPr>
          </a:lstStyle>
          <a:p>
            <a:r>
              <a:rPr lang="en-US" smtClean="0"/>
              <a:t>Click to edit Master title style</a:t>
            </a:r>
            <a:endParaRPr lang="en-US"/>
          </a:p>
        </p:txBody>
      </p:sp>
      <p:sp>
        <p:nvSpPr>
          <p:cNvPr id="3" name="Picture Placeholder 2"/>
          <p:cNvSpPr>
            <a:spLocks noGrp="1"/>
          </p:cNvSpPr>
          <p:nvPr>
            <p:ph type="pic" idx="1"/>
          </p:nvPr>
        </p:nvSpPr>
        <p:spPr>
          <a:xfrm rot="240000">
            <a:off x="2183792" y="666965"/>
            <a:ext cx="4772156" cy="3598016"/>
          </a:xfrm>
          <a:solidFill>
            <a:srgbClr val="FFFFFF">
              <a:shade val="85000"/>
            </a:srgbClr>
          </a:solidFill>
          <a:ln w="190500" cap="sq">
            <a:solidFill>
              <a:srgbClr val="FFFFFF"/>
            </a:solidFill>
            <a:miter lim="800000"/>
          </a:ln>
          <a:effectLst>
            <a:outerShdw blurRad="65000" dist="50800" dir="12900000" kx="195000" ky="145000" algn="tl" rotWithShape="0">
              <a:srgbClr val="000000">
                <a:alpha val="24000"/>
              </a:srgbClr>
            </a:outerShdw>
          </a:effectLst>
          <a:scene3d>
            <a:camera prst="orthographicFront">
              <a:rot lat="0" lon="0" rev="360000"/>
            </a:camera>
            <a:lightRig rig="twoPt" dir="t">
              <a:rot lat="0" lon="0" rev="7200000"/>
            </a:lightRig>
          </a:scene3d>
          <a:sp3d contourW="12700">
            <a:bevelT w="25400" h="19050"/>
            <a:contourClr>
              <a:srgbClr val="969696"/>
            </a:contourClr>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8489" y="5324306"/>
            <a:ext cx="7756264" cy="804862"/>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FF4282D-DD47-4BD2-B4E4-03CD91B40D17}"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F4282D-DD47-4BD2-B4E4-03CD91B40D17}"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grpSp>
        <p:nvGrpSpPr>
          <p:cNvPr id="11" name="Group 10"/>
          <p:cNvGrpSpPr/>
          <p:nvPr/>
        </p:nvGrpSpPr>
        <p:grpSpPr>
          <a:xfrm>
            <a:off x="1172584" y="1392217"/>
            <a:ext cx="6779110" cy="923330"/>
            <a:chOff x="1172584" y="1381459"/>
            <a:chExt cx="6779110" cy="923330"/>
          </a:xfrm>
        </p:grpSpPr>
        <p:sp>
          <p:nvSpPr>
            <p:cNvPr id="15" name="TextBox 14"/>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6" name="Straight Connector 15"/>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6560" y="559398"/>
            <a:ext cx="1678193" cy="556676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8488" y="849854"/>
            <a:ext cx="5507917" cy="502382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F4282D-DD47-4BD2-B4E4-03CD91B40D17}"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grpSp>
        <p:nvGrpSpPr>
          <p:cNvPr id="11" name="Group 10"/>
          <p:cNvGrpSpPr/>
          <p:nvPr/>
        </p:nvGrpSpPr>
        <p:grpSpPr>
          <a:xfrm rot="5400000">
            <a:off x="3909050" y="2880823"/>
            <a:ext cx="5480154" cy="923330"/>
            <a:chOff x="1815339" y="1381459"/>
            <a:chExt cx="5480154" cy="923330"/>
          </a:xfrm>
        </p:grpSpPr>
        <p:sp>
          <p:nvSpPr>
            <p:cNvPr id="12" name="TextBox 11"/>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3" name="Straight Connector 12"/>
            <p:cNvCxnSpPr/>
            <p:nvPr/>
          </p:nvCxnSpPr>
          <p:spPr>
            <a:xfrm flipH="1" flipV="1">
              <a:off x="1815339" y="1924709"/>
              <a:ext cx="2468880" cy="2505"/>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826613" y="1927417"/>
              <a:ext cx="2468880"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gradFill flip="none" rotWithShape="1">
            <a:gsLst>
              <a:gs pos="83000">
                <a:schemeClr val="bg1">
                  <a:alpha val="11000"/>
                </a:schemeClr>
              </a:gs>
              <a:gs pos="100000">
                <a:schemeClr val="bg2">
                  <a:lumMod val="75000"/>
                  <a:alpha val="23000"/>
                </a:schemeClr>
              </a:gs>
            </a:gsLst>
            <a:path path="rect">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88490" y="570156"/>
            <a:ext cx="7756263" cy="105425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699247" y="2248347"/>
            <a:ext cx="7745505" cy="3877815"/>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360378" y="6161442"/>
            <a:ext cx="2133600" cy="365125"/>
          </a:xfrm>
          <a:prstGeom prst="rect">
            <a:avLst/>
          </a:prstGeom>
        </p:spPr>
        <p:txBody>
          <a:bodyPr vert="horz" lIns="91440" tIns="45720" rIns="91440" bIns="45720" rtlCol="0" anchor="ctr"/>
          <a:lstStyle>
            <a:lvl1pPr algn="l">
              <a:defRPr sz="1200">
                <a:solidFill>
                  <a:schemeClr val="tx2"/>
                </a:solidFill>
              </a:defRPr>
            </a:lvl1pPr>
          </a:lstStyle>
          <a:p>
            <a:fld id="{AFF4282D-DD47-4BD2-B4E4-03CD91B40D17}" type="datetimeFigureOut">
              <a:rPr lang="en-US" smtClean="0"/>
              <a:t>12/14/2025</a:t>
            </a:fld>
            <a:endParaRPr lang="en-US"/>
          </a:p>
        </p:txBody>
      </p:sp>
      <p:sp>
        <p:nvSpPr>
          <p:cNvPr id="5" name="Footer Placeholder 4"/>
          <p:cNvSpPr>
            <a:spLocks noGrp="1"/>
          </p:cNvSpPr>
          <p:nvPr>
            <p:ph type="ftr" sz="quarter" idx="3"/>
          </p:nvPr>
        </p:nvSpPr>
        <p:spPr>
          <a:xfrm>
            <a:off x="3124200" y="6161442"/>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n-US"/>
          </a:p>
        </p:txBody>
      </p:sp>
      <p:sp>
        <p:nvSpPr>
          <p:cNvPr id="6" name="Slide Number Placeholder 5"/>
          <p:cNvSpPr>
            <a:spLocks noGrp="1"/>
          </p:cNvSpPr>
          <p:nvPr>
            <p:ph type="sldNum" sz="quarter" idx="4"/>
          </p:nvPr>
        </p:nvSpPr>
        <p:spPr>
          <a:xfrm>
            <a:off x="6639264" y="6161442"/>
            <a:ext cx="2133600" cy="365125"/>
          </a:xfrm>
          <a:prstGeom prst="rect">
            <a:avLst/>
          </a:prstGeom>
        </p:spPr>
        <p:txBody>
          <a:bodyPr vert="horz" lIns="91440" tIns="45720" rIns="91440" bIns="45720" rtlCol="0" anchor="ctr"/>
          <a:lstStyle>
            <a:lvl1pPr algn="r">
              <a:defRPr sz="1200">
                <a:solidFill>
                  <a:schemeClr val="tx2"/>
                </a:solidFill>
              </a:defRPr>
            </a:lvl1pPr>
          </a:lstStyle>
          <a:p>
            <a:fld id="{BBBAC41E-B5DD-4622-B453-5F4DACEC7AF7}"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4441" r:id="rId1"/>
    <p:sldLayoutId id="2147484442" r:id="rId2"/>
    <p:sldLayoutId id="2147484443" r:id="rId3"/>
    <p:sldLayoutId id="2147484444" r:id="rId4"/>
    <p:sldLayoutId id="2147484445" r:id="rId5"/>
    <p:sldLayoutId id="2147484446" r:id="rId6"/>
    <p:sldLayoutId id="2147484447" r:id="rId7"/>
    <p:sldLayoutId id="2147484448" r:id="rId8"/>
    <p:sldLayoutId id="2147484449" r:id="rId9"/>
    <p:sldLayoutId id="2147484450" r:id="rId10"/>
    <p:sldLayoutId id="2147484451" r:id="rId11"/>
  </p:sldLayoutIdLst>
  <p:txStyles>
    <p:title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Programming Fundamentals</a:t>
            </a:r>
            <a:endParaRPr lang="en-US" dirty="0"/>
          </a:p>
        </p:txBody>
      </p:sp>
      <p:sp>
        <p:nvSpPr>
          <p:cNvPr id="3" name="Subtitle 2"/>
          <p:cNvSpPr>
            <a:spLocks noGrp="1"/>
          </p:cNvSpPr>
          <p:nvPr>
            <p:ph type="subTitle" idx="1"/>
          </p:nvPr>
        </p:nvSpPr>
        <p:spPr/>
        <p:txBody>
          <a:bodyPr>
            <a:normAutofit/>
          </a:bodyPr>
          <a:lstStyle/>
          <a:p>
            <a:r>
              <a:rPr lang="en-US" dirty="0" smtClean="0"/>
              <a:t>By</a:t>
            </a:r>
          </a:p>
          <a:p>
            <a:r>
              <a:rPr lang="en-US" dirty="0" smtClean="0"/>
              <a:t>Shazmeen Batool</a:t>
            </a:r>
            <a:endParaRPr lang="en-US" dirty="0"/>
          </a:p>
        </p:txBody>
      </p:sp>
    </p:spTree>
    <p:extLst>
      <p:ext uri="{BB962C8B-B14F-4D97-AF65-F5344CB8AC3E}">
        <p14:creationId xmlns:p14="http://schemas.microsoft.com/office/powerpoint/2010/main" val="28423588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Introduction to File Handling</a:t>
            </a:r>
          </a:p>
        </p:txBody>
      </p:sp>
      <p:sp>
        <p:nvSpPr>
          <p:cNvPr id="3" name="Title 2"/>
          <p:cNvSpPr>
            <a:spLocks noGrp="1"/>
          </p:cNvSpPr>
          <p:nvPr>
            <p:ph type="title"/>
          </p:nvPr>
        </p:nvSpPr>
        <p:spPr/>
        <p:txBody>
          <a:bodyPr/>
          <a:lstStyle/>
          <a:p>
            <a:r>
              <a:rPr lang="en-US" dirty="0"/>
              <a:t>Previous Lecture</a:t>
            </a:r>
          </a:p>
        </p:txBody>
      </p:sp>
    </p:spTree>
    <p:extLst>
      <p:ext uri="{BB962C8B-B14F-4D97-AF65-F5344CB8AC3E}">
        <p14:creationId xmlns:p14="http://schemas.microsoft.com/office/powerpoint/2010/main" val="21114295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File Stream Objects </a:t>
            </a:r>
          </a:p>
          <a:p>
            <a:r>
              <a:rPr lang="en-US" dirty="0"/>
              <a:t>Setting Up a Program for File </a:t>
            </a:r>
            <a:r>
              <a:rPr lang="en-US" dirty="0" err="1"/>
              <a:t>Input/Output</a:t>
            </a:r>
            <a:endParaRPr lang="en-US" dirty="0"/>
          </a:p>
          <a:p>
            <a:r>
              <a:rPr lang="en-US" dirty="0"/>
              <a:t>Creating a File Object and Opening a File</a:t>
            </a:r>
          </a:p>
          <a:p>
            <a:r>
              <a:rPr lang="en-US" dirty="0"/>
              <a:t>Closing a File </a:t>
            </a:r>
          </a:p>
          <a:p>
            <a:r>
              <a:rPr lang="en-US" dirty="0"/>
              <a:t>Writing Data to a File </a:t>
            </a:r>
          </a:p>
        </p:txBody>
      </p:sp>
      <p:sp>
        <p:nvSpPr>
          <p:cNvPr id="4" name="Title 2"/>
          <p:cNvSpPr>
            <a:spLocks noGrp="1"/>
          </p:cNvSpPr>
          <p:nvPr>
            <p:ph type="title"/>
          </p:nvPr>
        </p:nvSpPr>
        <p:spPr/>
        <p:txBody>
          <a:bodyPr/>
          <a:lstStyle/>
          <a:p>
            <a:r>
              <a:rPr lang="en-US" dirty="0" smtClean="0"/>
              <a:t>Today’s Lecture</a:t>
            </a:r>
            <a:endParaRPr lang="en-US" dirty="0"/>
          </a:p>
        </p:txBody>
      </p:sp>
    </p:spTree>
    <p:extLst>
      <p:ext uri="{BB962C8B-B14F-4D97-AF65-F5344CB8AC3E}">
        <p14:creationId xmlns:p14="http://schemas.microsoft.com/office/powerpoint/2010/main" val="5935344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algn="just"/>
            <a:r>
              <a:rPr lang="en-US" dirty="0"/>
              <a:t>In order for a program to work with a file on the computer’s disk, the program must create a </a:t>
            </a:r>
            <a:r>
              <a:rPr lang="en-US" b="1" dirty="0"/>
              <a:t>file stream object</a:t>
            </a:r>
            <a:r>
              <a:rPr lang="en-US" dirty="0"/>
              <a:t> in memory. </a:t>
            </a:r>
            <a:endParaRPr lang="en-US" dirty="0" smtClean="0"/>
          </a:p>
          <a:p>
            <a:pPr algn="just"/>
            <a:endParaRPr lang="en-US" dirty="0" smtClean="0"/>
          </a:p>
          <a:p>
            <a:pPr algn="just"/>
            <a:r>
              <a:rPr lang="en-US" dirty="0" smtClean="0"/>
              <a:t>A </a:t>
            </a:r>
            <a:r>
              <a:rPr lang="en-US" b="1" dirty="0"/>
              <a:t>file stream object</a:t>
            </a:r>
            <a:r>
              <a:rPr lang="en-US" dirty="0"/>
              <a:t> is an object that is associated with a specific file and provides a way for the program to work with that file. </a:t>
            </a:r>
            <a:endParaRPr lang="en-US" dirty="0" smtClean="0"/>
          </a:p>
          <a:p>
            <a:pPr marL="0" indent="0" algn="just">
              <a:buNone/>
            </a:pPr>
            <a:endParaRPr lang="en-US" dirty="0" smtClean="0"/>
          </a:p>
          <a:p>
            <a:pPr algn="just"/>
            <a:r>
              <a:rPr lang="en-US" dirty="0" smtClean="0"/>
              <a:t>It </a:t>
            </a:r>
            <a:r>
              <a:rPr lang="en-US" dirty="0"/>
              <a:t>is called a “stream” object because a file can be thought of as a stream of data.</a:t>
            </a:r>
          </a:p>
        </p:txBody>
      </p:sp>
      <p:sp>
        <p:nvSpPr>
          <p:cNvPr id="4" name="Title 2"/>
          <p:cNvSpPr>
            <a:spLocks noGrp="1"/>
          </p:cNvSpPr>
          <p:nvPr>
            <p:ph type="title"/>
          </p:nvPr>
        </p:nvSpPr>
        <p:spPr>
          <a:xfrm>
            <a:off x="152400" y="381000"/>
            <a:ext cx="8686800" cy="1054250"/>
          </a:xfrm>
        </p:spPr>
        <p:txBody>
          <a:bodyPr/>
          <a:lstStyle/>
          <a:p>
            <a:pPr marL="914400"/>
            <a:r>
              <a:rPr lang="en-US" dirty="0"/>
              <a:t>F</a:t>
            </a:r>
            <a:r>
              <a:rPr lang="en-US" dirty="0" smtClean="0"/>
              <a:t>ile </a:t>
            </a:r>
            <a:r>
              <a:rPr lang="en-US" dirty="0"/>
              <a:t>Stream Objects </a:t>
            </a:r>
          </a:p>
        </p:txBody>
      </p:sp>
    </p:spTree>
    <p:extLst>
      <p:ext uri="{BB962C8B-B14F-4D97-AF65-F5344CB8AC3E}">
        <p14:creationId xmlns:p14="http://schemas.microsoft.com/office/powerpoint/2010/main" val="264428987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algn="just"/>
            <a:r>
              <a:rPr lang="en-US" dirty="0"/>
              <a:t>File stream objects work very much like the </a:t>
            </a:r>
            <a:r>
              <a:rPr lang="en-US" dirty="0" err="1"/>
              <a:t>cin</a:t>
            </a:r>
            <a:r>
              <a:rPr lang="en-US" dirty="0"/>
              <a:t> and </a:t>
            </a:r>
            <a:r>
              <a:rPr lang="en-US" dirty="0" err="1"/>
              <a:t>cout</a:t>
            </a:r>
            <a:r>
              <a:rPr lang="en-US" dirty="0"/>
              <a:t> objects. </a:t>
            </a:r>
            <a:r>
              <a:rPr lang="en-US" dirty="0" smtClean="0"/>
              <a:t>A </a:t>
            </a:r>
            <a:r>
              <a:rPr lang="en-US" dirty="0"/>
              <a:t>stream of data may be sent to </a:t>
            </a:r>
            <a:r>
              <a:rPr lang="en-US" dirty="0" err="1"/>
              <a:t>cout</a:t>
            </a:r>
            <a:r>
              <a:rPr lang="en-US" dirty="0"/>
              <a:t>, which causes values to be displayed on the screen. A stream of data may be read from the keyboard by </a:t>
            </a:r>
            <a:r>
              <a:rPr lang="en-US" dirty="0" err="1"/>
              <a:t>cin</a:t>
            </a:r>
            <a:r>
              <a:rPr lang="en-US" dirty="0"/>
              <a:t>, and stored in variables. </a:t>
            </a:r>
            <a:endParaRPr lang="en-US" dirty="0" smtClean="0"/>
          </a:p>
          <a:p>
            <a:pPr marL="0" indent="0" algn="just">
              <a:buNone/>
            </a:pPr>
            <a:endParaRPr lang="en-US" dirty="0" smtClean="0"/>
          </a:p>
          <a:p>
            <a:pPr algn="just"/>
            <a:r>
              <a:rPr lang="en-US" dirty="0" smtClean="0"/>
              <a:t>Likewise</a:t>
            </a:r>
            <a:r>
              <a:rPr lang="en-US" dirty="0"/>
              <a:t>, streams of data may be sent to a </a:t>
            </a:r>
            <a:r>
              <a:rPr lang="en-US" b="1" dirty="0"/>
              <a:t>file stream </a:t>
            </a:r>
            <a:r>
              <a:rPr lang="en-US" dirty="0"/>
              <a:t>object, which writes the data to a file. When data is read from a file, the data flows from the file stream object that is associated with the file, into variables.</a:t>
            </a:r>
          </a:p>
        </p:txBody>
      </p:sp>
      <p:sp>
        <p:nvSpPr>
          <p:cNvPr id="4" name="Title 2"/>
          <p:cNvSpPr>
            <a:spLocks noGrp="1"/>
          </p:cNvSpPr>
          <p:nvPr>
            <p:ph type="title"/>
          </p:nvPr>
        </p:nvSpPr>
        <p:spPr>
          <a:xfrm>
            <a:off x="152400" y="381000"/>
            <a:ext cx="8686800" cy="1054250"/>
          </a:xfrm>
        </p:spPr>
        <p:txBody>
          <a:bodyPr/>
          <a:lstStyle/>
          <a:p>
            <a:pPr marL="914400"/>
            <a:r>
              <a:rPr lang="en-US" dirty="0"/>
              <a:t>F</a:t>
            </a:r>
            <a:r>
              <a:rPr lang="en-US" dirty="0" smtClean="0"/>
              <a:t>ile </a:t>
            </a:r>
            <a:r>
              <a:rPr lang="en-US" dirty="0"/>
              <a:t>Stream Objects </a:t>
            </a:r>
          </a:p>
        </p:txBody>
      </p:sp>
    </p:spTree>
    <p:extLst>
      <p:ext uri="{BB962C8B-B14F-4D97-AF65-F5344CB8AC3E}">
        <p14:creationId xmlns:p14="http://schemas.microsoft.com/office/powerpoint/2010/main" val="416194948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algn="just"/>
            <a:r>
              <a:rPr lang="en-US" dirty="0"/>
              <a:t>Just as </a:t>
            </a:r>
            <a:r>
              <a:rPr lang="en-US" dirty="0" err="1"/>
              <a:t>cin</a:t>
            </a:r>
            <a:r>
              <a:rPr lang="en-US" dirty="0"/>
              <a:t> and </a:t>
            </a:r>
            <a:r>
              <a:rPr lang="en-US" dirty="0" err="1"/>
              <a:t>cout</a:t>
            </a:r>
            <a:r>
              <a:rPr lang="en-US" dirty="0"/>
              <a:t> require the </a:t>
            </a:r>
            <a:r>
              <a:rPr lang="en-US" dirty="0" err="1"/>
              <a:t>iostream</a:t>
            </a:r>
            <a:r>
              <a:rPr lang="en-US" dirty="0"/>
              <a:t> file to be included in the program, C++ file access requires another header file. </a:t>
            </a:r>
            <a:endParaRPr lang="en-US" dirty="0" smtClean="0"/>
          </a:p>
          <a:p>
            <a:pPr algn="just"/>
            <a:r>
              <a:rPr lang="en-US" dirty="0" smtClean="0"/>
              <a:t>The </a:t>
            </a:r>
            <a:r>
              <a:rPr lang="en-US" dirty="0"/>
              <a:t>file </a:t>
            </a:r>
            <a:r>
              <a:rPr lang="en-US" b="1" dirty="0" err="1"/>
              <a:t>fstream</a:t>
            </a:r>
            <a:r>
              <a:rPr lang="en-US" dirty="0"/>
              <a:t> contains all the declarations necessary for file operations. It is included with the following statement:</a:t>
            </a:r>
          </a:p>
        </p:txBody>
      </p:sp>
      <p:sp>
        <p:nvSpPr>
          <p:cNvPr id="4" name="Title 2"/>
          <p:cNvSpPr>
            <a:spLocks noGrp="1"/>
          </p:cNvSpPr>
          <p:nvPr>
            <p:ph type="title"/>
          </p:nvPr>
        </p:nvSpPr>
        <p:spPr>
          <a:xfrm>
            <a:off x="152400" y="304800"/>
            <a:ext cx="8686800" cy="1054250"/>
          </a:xfrm>
        </p:spPr>
        <p:txBody>
          <a:bodyPr/>
          <a:lstStyle/>
          <a:p>
            <a:pPr marL="914400"/>
            <a:r>
              <a:rPr lang="en-US" dirty="0"/>
              <a:t>Setting Up a Program for File </a:t>
            </a:r>
            <a:r>
              <a:rPr lang="en-US" dirty="0" err="1"/>
              <a:t>Input/Output</a:t>
            </a: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4800600"/>
            <a:ext cx="3612444"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275087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algn="just"/>
            <a:r>
              <a:rPr lang="en-US" dirty="0"/>
              <a:t>The </a:t>
            </a:r>
            <a:r>
              <a:rPr lang="en-US" dirty="0" err="1"/>
              <a:t>fstream</a:t>
            </a:r>
            <a:r>
              <a:rPr lang="en-US" dirty="0"/>
              <a:t> header file defines the data types </a:t>
            </a:r>
            <a:r>
              <a:rPr lang="en-US" b="1" dirty="0" err="1"/>
              <a:t>ofstream</a:t>
            </a:r>
            <a:r>
              <a:rPr lang="en-US" dirty="0"/>
              <a:t>, </a:t>
            </a:r>
            <a:r>
              <a:rPr lang="en-US" b="1" dirty="0" err="1"/>
              <a:t>ifstream</a:t>
            </a:r>
            <a:r>
              <a:rPr lang="en-US" dirty="0"/>
              <a:t>, and </a:t>
            </a:r>
            <a:r>
              <a:rPr lang="en-US" b="1" dirty="0" err="1"/>
              <a:t>fstream</a:t>
            </a:r>
            <a:r>
              <a:rPr lang="en-US" dirty="0"/>
              <a:t>. </a:t>
            </a:r>
            <a:endParaRPr lang="en-US" dirty="0" smtClean="0"/>
          </a:p>
          <a:p>
            <a:pPr algn="just"/>
            <a:endParaRPr lang="en-US" dirty="0" smtClean="0"/>
          </a:p>
          <a:p>
            <a:pPr algn="just"/>
            <a:r>
              <a:rPr lang="en-US" dirty="0" smtClean="0"/>
              <a:t>Before </a:t>
            </a:r>
            <a:r>
              <a:rPr lang="en-US" dirty="0"/>
              <a:t>a C++ program can work with a file, it must define an object of one of these data types. </a:t>
            </a:r>
            <a:endParaRPr lang="en-US" dirty="0" smtClean="0"/>
          </a:p>
          <a:p>
            <a:pPr algn="just"/>
            <a:endParaRPr lang="en-US" dirty="0"/>
          </a:p>
          <a:p>
            <a:pPr algn="just"/>
            <a:r>
              <a:rPr lang="en-US" dirty="0" smtClean="0"/>
              <a:t>The </a:t>
            </a:r>
            <a:r>
              <a:rPr lang="en-US" dirty="0"/>
              <a:t>object will be “linked” with an actual file on the computer’s disk, and the operations that may be performed on the file depend on which of these three data types you pick for the file stream </a:t>
            </a:r>
            <a:r>
              <a:rPr lang="en-US" dirty="0" smtClean="0"/>
              <a:t>object.</a:t>
            </a:r>
            <a:endParaRPr lang="en-US" dirty="0"/>
          </a:p>
        </p:txBody>
      </p:sp>
      <p:sp>
        <p:nvSpPr>
          <p:cNvPr id="4" name="Title 2"/>
          <p:cNvSpPr>
            <a:spLocks noGrp="1"/>
          </p:cNvSpPr>
          <p:nvPr>
            <p:ph type="title"/>
          </p:nvPr>
        </p:nvSpPr>
        <p:spPr>
          <a:xfrm>
            <a:off x="152400" y="304800"/>
            <a:ext cx="8686800" cy="1054250"/>
          </a:xfrm>
        </p:spPr>
        <p:txBody>
          <a:bodyPr/>
          <a:lstStyle/>
          <a:p>
            <a:pPr marL="914400"/>
            <a:r>
              <a:rPr lang="en-US" dirty="0"/>
              <a:t>Setting Up a Program for File </a:t>
            </a:r>
            <a:r>
              <a:rPr lang="en-US" dirty="0" err="1"/>
              <a:t>Input/Output</a:t>
            </a:r>
            <a:endParaRPr lang="en-US" dirty="0"/>
          </a:p>
        </p:txBody>
      </p:sp>
    </p:spTree>
    <p:extLst>
      <p:ext uri="{BB962C8B-B14F-4D97-AF65-F5344CB8AC3E}">
        <p14:creationId xmlns:p14="http://schemas.microsoft.com/office/powerpoint/2010/main" val="328209418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p:cNvSpPr>
            <a:spLocks noGrp="1"/>
          </p:cNvSpPr>
          <p:nvPr>
            <p:ph type="title"/>
          </p:nvPr>
        </p:nvSpPr>
        <p:spPr>
          <a:xfrm>
            <a:off x="152400" y="304800"/>
            <a:ext cx="8686800" cy="1054250"/>
          </a:xfrm>
        </p:spPr>
        <p:txBody>
          <a:bodyPr/>
          <a:lstStyle/>
          <a:p>
            <a:pPr marL="914400"/>
            <a:r>
              <a:rPr lang="en-US" dirty="0"/>
              <a:t>Setting Up a Program for File </a:t>
            </a:r>
            <a:r>
              <a:rPr lang="en-US" dirty="0" err="1"/>
              <a:t>Input/Output</a:t>
            </a:r>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705" y="2628900"/>
            <a:ext cx="8790895" cy="224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3755761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algn="just"/>
            <a:r>
              <a:rPr lang="en-US" dirty="0"/>
              <a:t>Before data can be written to or read from a file, the following things must happen</a:t>
            </a:r>
            <a:r>
              <a:rPr lang="en-US" dirty="0" smtClean="0"/>
              <a:t>:</a:t>
            </a:r>
          </a:p>
          <a:p>
            <a:pPr marL="914400" algn="just">
              <a:buFont typeface="Wingdings" pitchFamily="2" charset="2"/>
              <a:buChar char="v"/>
            </a:pPr>
            <a:r>
              <a:rPr lang="en-US" dirty="0"/>
              <a:t>A file stream object must be </a:t>
            </a:r>
            <a:r>
              <a:rPr lang="en-US" dirty="0" smtClean="0"/>
              <a:t>created.</a:t>
            </a:r>
          </a:p>
          <a:p>
            <a:pPr marL="914400" algn="just">
              <a:buFont typeface="Wingdings" pitchFamily="2" charset="2"/>
              <a:buChar char="v"/>
            </a:pPr>
            <a:r>
              <a:rPr lang="en-US" dirty="0"/>
              <a:t>The file must be opened and linked to the file stream </a:t>
            </a:r>
            <a:r>
              <a:rPr lang="en-US" dirty="0" smtClean="0"/>
              <a:t>object</a:t>
            </a:r>
          </a:p>
        </p:txBody>
      </p:sp>
      <p:sp>
        <p:nvSpPr>
          <p:cNvPr id="4" name="Title 2"/>
          <p:cNvSpPr>
            <a:spLocks noGrp="1"/>
          </p:cNvSpPr>
          <p:nvPr>
            <p:ph type="title"/>
          </p:nvPr>
        </p:nvSpPr>
        <p:spPr>
          <a:xfrm>
            <a:off x="152400" y="304800"/>
            <a:ext cx="8686800" cy="1054250"/>
          </a:xfrm>
        </p:spPr>
        <p:txBody>
          <a:bodyPr/>
          <a:lstStyle/>
          <a:p>
            <a:pPr marL="914400"/>
            <a:r>
              <a:rPr lang="en-US" dirty="0"/>
              <a:t>Creating a File Object and Opening a File</a:t>
            </a:r>
          </a:p>
        </p:txBody>
      </p:sp>
    </p:spTree>
    <p:extLst>
      <p:ext uri="{BB962C8B-B14F-4D97-AF65-F5344CB8AC3E}">
        <p14:creationId xmlns:p14="http://schemas.microsoft.com/office/powerpoint/2010/main" val="125934523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algn="just"/>
            <a:r>
              <a:rPr lang="en-US" dirty="0" smtClean="0"/>
              <a:t>The </a:t>
            </a:r>
            <a:r>
              <a:rPr lang="en-US" dirty="0"/>
              <a:t>following code shows an example of opening a file for input (reading</a:t>
            </a:r>
            <a:r>
              <a:rPr lang="en-US" dirty="0" smtClean="0"/>
              <a:t>).</a:t>
            </a:r>
          </a:p>
          <a:p>
            <a:pPr algn="just"/>
            <a:endParaRPr lang="en-US" dirty="0"/>
          </a:p>
          <a:p>
            <a:pPr algn="just"/>
            <a:endParaRPr lang="en-US" dirty="0" smtClean="0"/>
          </a:p>
          <a:p>
            <a:pPr algn="just"/>
            <a:endParaRPr lang="en-US" dirty="0"/>
          </a:p>
          <a:p>
            <a:pPr algn="just"/>
            <a:r>
              <a:rPr lang="en-US" dirty="0"/>
              <a:t>After this code executes, you will be able to use the </a:t>
            </a:r>
            <a:r>
              <a:rPr lang="en-US" dirty="0" err="1"/>
              <a:t>inputFile</a:t>
            </a:r>
            <a:r>
              <a:rPr lang="en-US" dirty="0"/>
              <a:t> object to read data from the Customers.txt file.</a:t>
            </a:r>
            <a:endParaRPr lang="en-US" dirty="0" smtClean="0"/>
          </a:p>
          <a:p>
            <a:pPr algn="just"/>
            <a:endParaRPr lang="en-US" dirty="0"/>
          </a:p>
          <a:p>
            <a:pPr algn="just"/>
            <a:endParaRPr lang="en-US" dirty="0" smtClean="0"/>
          </a:p>
          <a:p>
            <a:pPr algn="just"/>
            <a:endParaRPr lang="en-US" dirty="0"/>
          </a:p>
          <a:p>
            <a:pPr algn="just"/>
            <a:endParaRPr lang="en-US" dirty="0"/>
          </a:p>
        </p:txBody>
      </p:sp>
      <p:sp>
        <p:nvSpPr>
          <p:cNvPr id="4" name="Title 2"/>
          <p:cNvSpPr>
            <a:spLocks noGrp="1"/>
          </p:cNvSpPr>
          <p:nvPr>
            <p:ph type="title"/>
          </p:nvPr>
        </p:nvSpPr>
        <p:spPr>
          <a:xfrm>
            <a:off x="152400" y="304800"/>
            <a:ext cx="8686800" cy="1054250"/>
          </a:xfrm>
        </p:spPr>
        <p:txBody>
          <a:bodyPr/>
          <a:lstStyle/>
          <a:p>
            <a:pPr marL="914400"/>
            <a:r>
              <a:rPr lang="en-US" dirty="0"/>
              <a:t>Creating a File Object and Opening a File</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3276600"/>
            <a:ext cx="5486400" cy="894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6929002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algn="just"/>
            <a:r>
              <a:rPr lang="en-US" dirty="0"/>
              <a:t>The following code shows an example of opening a file for output (writing</a:t>
            </a:r>
            <a:r>
              <a:rPr lang="en-US" dirty="0" smtClean="0"/>
              <a:t>).</a:t>
            </a:r>
          </a:p>
          <a:p>
            <a:pPr algn="just"/>
            <a:endParaRPr lang="en-US" dirty="0"/>
          </a:p>
          <a:p>
            <a:pPr algn="just"/>
            <a:endParaRPr lang="en-US" dirty="0" smtClean="0"/>
          </a:p>
          <a:p>
            <a:pPr algn="just"/>
            <a:endParaRPr lang="en-US" dirty="0"/>
          </a:p>
          <a:p>
            <a:pPr algn="just"/>
            <a:r>
              <a:rPr lang="en-US" dirty="0"/>
              <a:t>After this code executes, you will be able to use the </a:t>
            </a:r>
            <a:r>
              <a:rPr lang="en-US" dirty="0" err="1"/>
              <a:t>outputFile</a:t>
            </a:r>
            <a:r>
              <a:rPr lang="en-US" dirty="0"/>
              <a:t> object to write data to the Employees.txt file.</a:t>
            </a:r>
          </a:p>
        </p:txBody>
      </p:sp>
      <p:sp>
        <p:nvSpPr>
          <p:cNvPr id="4" name="Title 2"/>
          <p:cNvSpPr>
            <a:spLocks noGrp="1"/>
          </p:cNvSpPr>
          <p:nvPr>
            <p:ph type="title"/>
          </p:nvPr>
        </p:nvSpPr>
        <p:spPr>
          <a:xfrm>
            <a:off x="152400" y="304800"/>
            <a:ext cx="8686800" cy="1054250"/>
          </a:xfrm>
        </p:spPr>
        <p:txBody>
          <a:bodyPr/>
          <a:lstStyle/>
          <a:p>
            <a:pPr marL="914400"/>
            <a:r>
              <a:rPr lang="en-US" dirty="0"/>
              <a:t>Creating a File Object and Opening a File</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1351" y="3309938"/>
            <a:ext cx="5516249" cy="804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3838631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algn="just"/>
            <a:endParaRPr lang="en-US" dirty="0" smtClean="0"/>
          </a:p>
          <a:p>
            <a:pPr marL="0" indent="0" algn="just">
              <a:buNone/>
            </a:pPr>
            <a:endParaRPr lang="en-US" dirty="0" smtClean="0"/>
          </a:p>
          <a:p>
            <a:pPr marL="0" indent="0" algn="just">
              <a:buNone/>
            </a:pPr>
            <a:endParaRPr lang="en-US" dirty="0" smtClean="0"/>
          </a:p>
          <a:p>
            <a:pPr algn="just"/>
            <a:r>
              <a:rPr lang="en-US" dirty="0" smtClean="0"/>
              <a:t>It’s </a:t>
            </a:r>
            <a:r>
              <a:rPr lang="en-US" dirty="0"/>
              <a:t>important to remember that when you call an </a:t>
            </a:r>
            <a:r>
              <a:rPr lang="en-US" dirty="0" err="1"/>
              <a:t>ofstream</a:t>
            </a:r>
            <a:r>
              <a:rPr lang="en-US" dirty="0"/>
              <a:t> object’s open member function, the specified file will be created. </a:t>
            </a:r>
            <a:endParaRPr lang="en-US" dirty="0" smtClean="0"/>
          </a:p>
          <a:p>
            <a:pPr algn="just"/>
            <a:r>
              <a:rPr lang="en-US" dirty="0" smtClean="0"/>
              <a:t>If </a:t>
            </a:r>
            <a:r>
              <a:rPr lang="en-US" dirty="0"/>
              <a:t>the specified file already exists, it will be erased, and a new file with the same name will be created.</a:t>
            </a:r>
          </a:p>
        </p:txBody>
      </p:sp>
      <p:sp>
        <p:nvSpPr>
          <p:cNvPr id="4" name="Title 2"/>
          <p:cNvSpPr>
            <a:spLocks noGrp="1"/>
          </p:cNvSpPr>
          <p:nvPr>
            <p:ph type="title"/>
          </p:nvPr>
        </p:nvSpPr>
        <p:spPr>
          <a:xfrm>
            <a:off x="152400" y="304800"/>
            <a:ext cx="8686800" cy="1054250"/>
          </a:xfrm>
        </p:spPr>
        <p:txBody>
          <a:bodyPr/>
          <a:lstStyle/>
          <a:p>
            <a:pPr marL="914400"/>
            <a:r>
              <a:rPr lang="en-US" dirty="0"/>
              <a:t>Creating a File Object and Opening a File</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2471738"/>
            <a:ext cx="6038498" cy="881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7457257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lnSpcReduction="10000"/>
          </a:bodyPr>
          <a:lstStyle/>
          <a:p>
            <a:pPr algn="just"/>
            <a:r>
              <a:rPr lang="en-US" dirty="0"/>
              <a:t>Often, when opening a file, you will need to specify its path as well as its name. For example, on a Windows system the following statement opens the file C:\data\inventory.txt : </a:t>
            </a:r>
            <a:endParaRPr lang="en-US" dirty="0" smtClean="0"/>
          </a:p>
          <a:p>
            <a:pPr algn="just"/>
            <a:endParaRPr lang="en-US" dirty="0"/>
          </a:p>
          <a:p>
            <a:pPr algn="just"/>
            <a:endParaRPr lang="en-US" dirty="0" smtClean="0"/>
          </a:p>
          <a:p>
            <a:pPr algn="just"/>
            <a:r>
              <a:rPr lang="en-US" dirty="0"/>
              <a:t>Notice the use of two backslashes in the file’s path. Two backslashes are needed to represent one backslash in a string literal. </a:t>
            </a:r>
          </a:p>
          <a:p>
            <a:pPr algn="just"/>
            <a:endParaRPr lang="en-US" dirty="0" smtClean="0"/>
          </a:p>
          <a:p>
            <a:pPr algn="just"/>
            <a:r>
              <a:rPr lang="en-US" dirty="0" smtClean="0"/>
              <a:t>In </a:t>
            </a:r>
            <a:r>
              <a:rPr lang="en-US" dirty="0"/>
              <a:t>this statement, the file C:\data\inventory.txt is opened and linked with </a:t>
            </a:r>
            <a:r>
              <a:rPr lang="en-US" dirty="0" err="1"/>
              <a:t>inputFile</a:t>
            </a:r>
            <a:r>
              <a:rPr lang="en-US" dirty="0"/>
              <a:t>. </a:t>
            </a:r>
            <a:endParaRPr lang="en-US" dirty="0" smtClean="0"/>
          </a:p>
        </p:txBody>
      </p:sp>
      <p:sp>
        <p:nvSpPr>
          <p:cNvPr id="4" name="Title 2"/>
          <p:cNvSpPr>
            <a:spLocks noGrp="1"/>
          </p:cNvSpPr>
          <p:nvPr>
            <p:ph type="title"/>
          </p:nvPr>
        </p:nvSpPr>
        <p:spPr>
          <a:xfrm>
            <a:off x="152400" y="304800"/>
            <a:ext cx="8686800" cy="1054250"/>
          </a:xfrm>
        </p:spPr>
        <p:txBody>
          <a:bodyPr/>
          <a:lstStyle/>
          <a:p>
            <a:pPr marL="914400"/>
            <a:r>
              <a:rPr lang="en-US" dirty="0"/>
              <a:t>Creating a File Object and Opening a File</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3762375"/>
            <a:ext cx="6718056"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8526311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algn="just"/>
            <a:r>
              <a:rPr lang="en-US" dirty="0"/>
              <a:t>It is possible to define a file stream object and open a file in one statement. Here is an example: </a:t>
            </a:r>
            <a:endParaRPr lang="en-US" dirty="0" smtClean="0"/>
          </a:p>
          <a:p>
            <a:pPr algn="just"/>
            <a:endParaRPr lang="en-US" dirty="0"/>
          </a:p>
          <a:p>
            <a:pPr algn="just"/>
            <a:endParaRPr lang="en-US" dirty="0" smtClean="0"/>
          </a:p>
          <a:p>
            <a:pPr algn="just"/>
            <a:r>
              <a:rPr lang="en-US" dirty="0"/>
              <a:t>This statement defines an </a:t>
            </a:r>
            <a:r>
              <a:rPr lang="en-US" dirty="0" err="1"/>
              <a:t>ifstream</a:t>
            </a:r>
            <a:r>
              <a:rPr lang="en-US" dirty="0"/>
              <a:t> object named </a:t>
            </a:r>
            <a:r>
              <a:rPr lang="en-US" dirty="0" err="1"/>
              <a:t>inputFile</a:t>
            </a:r>
            <a:r>
              <a:rPr lang="en-US" dirty="0"/>
              <a:t> and opens the Customer.txt file. Here is an example that defines an </a:t>
            </a:r>
            <a:r>
              <a:rPr lang="en-US" dirty="0" err="1"/>
              <a:t>ofstream</a:t>
            </a:r>
            <a:r>
              <a:rPr lang="en-US" dirty="0"/>
              <a:t> object named </a:t>
            </a:r>
            <a:r>
              <a:rPr lang="en-US" dirty="0" err="1"/>
              <a:t>outputFile</a:t>
            </a:r>
            <a:r>
              <a:rPr lang="en-US" dirty="0"/>
              <a:t> and opens the </a:t>
            </a:r>
            <a:r>
              <a:rPr lang="en-US" dirty="0" smtClean="0"/>
              <a:t>Employees.txt file</a:t>
            </a:r>
            <a:r>
              <a:rPr lang="en-US" dirty="0"/>
              <a:t>:</a:t>
            </a:r>
            <a:endParaRPr lang="en-US" dirty="0" smtClean="0"/>
          </a:p>
        </p:txBody>
      </p:sp>
      <p:sp>
        <p:nvSpPr>
          <p:cNvPr id="4" name="Title 2"/>
          <p:cNvSpPr>
            <a:spLocks noGrp="1"/>
          </p:cNvSpPr>
          <p:nvPr>
            <p:ph type="title"/>
          </p:nvPr>
        </p:nvSpPr>
        <p:spPr>
          <a:xfrm>
            <a:off x="152400" y="304800"/>
            <a:ext cx="8686800" cy="1054250"/>
          </a:xfrm>
        </p:spPr>
        <p:txBody>
          <a:bodyPr/>
          <a:lstStyle/>
          <a:p>
            <a:pPr marL="914400"/>
            <a:r>
              <a:rPr lang="en-US" dirty="0"/>
              <a:t>Creating a File Object and Opening a File</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3276600"/>
            <a:ext cx="6180766" cy="500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5715000"/>
            <a:ext cx="6567054"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1521216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algn="just"/>
            <a:r>
              <a:rPr lang="en-US" dirty="0"/>
              <a:t>The opposite of opening a file is closing it. Although a program’s files are automatically closed when the program shuts down, it is a good programming practice to write statements that close them. </a:t>
            </a:r>
            <a:endParaRPr lang="en-US" dirty="0" smtClean="0"/>
          </a:p>
          <a:p>
            <a:pPr algn="just"/>
            <a:r>
              <a:rPr lang="en-US" dirty="0" smtClean="0"/>
              <a:t>Here </a:t>
            </a:r>
            <a:r>
              <a:rPr lang="en-US" dirty="0"/>
              <a:t>are two reasons a program should close files when it is finished using them: </a:t>
            </a:r>
            <a:endParaRPr lang="en-US" dirty="0" smtClean="0"/>
          </a:p>
          <a:p>
            <a:pPr marL="914400" algn="just">
              <a:buFont typeface="Wingdings" pitchFamily="2" charset="2"/>
              <a:buChar char="Ø"/>
            </a:pPr>
            <a:r>
              <a:rPr lang="en-US" dirty="0"/>
              <a:t>Some operating systems limit the number of files that may be open at one time. When a program closes files that are no longer being used, it will not deplete more of the operating system’s resources than necessary. </a:t>
            </a:r>
            <a:endParaRPr lang="en-US" dirty="0" smtClean="0"/>
          </a:p>
        </p:txBody>
      </p:sp>
      <p:sp>
        <p:nvSpPr>
          <p:cNvPr id="4" name="Title 2"/>
          <p:cNvSpPr>
            <a:spLocks noGrp="1"/>
          </p:cNvSpPr>
          <p:nvPr>
            <p:ph type="title"/>
          </p:nvPr>
        </p:nvSpPr>
        <p:spPr>
          <a:xfrm>
            <a:off x="152400" y="304800"/>
            <a:ext cx="8686800" cy="1054250"/>
          </a:xfrm>
        </p:spPr>
        <p:txBody>
          <a:bodyPr/>
          <a:lstStyle/>
          <a:p>
            <a:pPr marL="914400"/>
            <a:r>
              <a:rPr lang="en-US" dirty="0"/>
              <a:t>Closing a File </a:t>
            </a:r>
          </a:p>
        </p:txBody>
      </p:sp>
    </p:spTree>
    <p:extLst>
      <p:ext uri="{BB962C8B-B14F-4D97-AF65-F5344CB8AC3E}">
        <p14:creationId xmlns:p14="http://schemas.microsoft.com/office/powerpoint/2010/main" val="206690132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marL="914400" algn="just">
              <a:buFont typeface="Wingdings" pitchFamily="2" charset="2"/>
              <a:buChar char="Ø"/>
            </a:pPr>
            <a:r>
              <a:rPr lang="en-US" dirty="0"/>
              <a:t>Most operating systems temporarily store data in a file buffer before it is written to a file. A file buffer is a small “holding section” of memory that file-bound data is first written to. When the buffer is filled, all the data stored there is written to the file. This technique improves the system’s performance. Closing a file causes any unsaved data that may still be held in a buffer to be saved to its file. This means the data will be in the file if you need to read it later in the same program. </a:t>
            </a:r>
            <a:endParaRPr lang="en-US" dirty="0" smtClean="0"/>
          </a:p>
        </p:txBody>
      </p:sp>
      <p:sp>
        <p:nvSpPr>
          <p:cNvPr id="4" name="Title 2"/>
          <p:cNvSpPr>
            <a:spLocks noGrp="1"/>
          </p:cNvSpPr>
          <p:nvPr>
            <p:ph type="title"/>
          </p:nvPr>
        </p:nvSpPr>
        <p:spPr>
          <a:xfrm>
            <a:off x="152400" y="304800"/>
            <a:ext cx="8686800" cy="1054250"/>
          </a:xfrm>
        </p:spPr>
        <p:txBody>
          <a:bodyPr/>
          <a:lstStyle/>
          <a:p>
            <a:pPr marL="914400"/>
            <a:r>
              <a:rPr lang="en-US" dirty="0"/>
              <a:t>Closing a File </a:t>
            </a:r>
          </a:p>
        </p:txBody>
      </p:sp>
    </p:spTree>
    <p:extLst>
      <p:ext uri="{BB962C8B-B14F-4D97-AF65-F5344CB8AC3E}">
        <p14:creationId xmlns:p14="http://schemas.microsoft.com/office/powerpoint/2010/main" val="230178596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algn="just"/>
            <a:r>
              <a:rPr lang="en-US" dirty="0"/>
              <a:t>Calling the file stream object’s close member function closes a file. Here is an example:</a:t>
            </a:r>
            <a:endParaRPr lang="en-US" dirty="0" smtClean="0"/>
          </a:p>
        </p:txBody>
      </p:sp>
      <p:sp>
        <p:nvSpPr>
          <p:cNvPr id="4" name="Title 2"/>
          <p:cNvSpPr>
            <a:spLocks noGrp="1"/>
          </p:cNvSpPr>
          <p:nvPr>
            <p:ph type="title"/>
          </p:nvPr>
        </p:nvSpPr>
        <p:spPr>
          <a:xfrm>
            <a:off x="152400" y="304800"/>
            <a:ext cx="8686800" cy="1054250"/>
          </a:xfrm>
        </p:spPr>
        <p:txBody>
          <a:bodyPr/>
          <a:lstStyle/>
          <a:p>
            <a:pPr marL="914400"/>
            <a:r>
              <a:rPr lang="en-US" dirty="0"/>
              <a:t>Closing a File </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3200400"/>
            <a:ext cx="4510448"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0523115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algn="just"/>
            <a:r>
              <a:rPr lang="en-US" dirty="0"/>
              <a:t>You already know how to use the stream insertion operator (&lt;&lt;) with the </a:t>
            </a:r>
            <a:r>
              <a:rPr lang="en-US" dirty="0" err="1"/>
              <a:t>cout</a:t>
            </a:r>
            <a:r>
              <a:rPr lang="en-US" dirty="0"/>
              <a:t> object </a:t>
            </a:r>
            <a:r>
              <a:rPr lang="en-US" dirty="0" smtClean="0"/>
              <a:t>to write </a:t>
            </a:r>
            <a:r>
              <a:rPr lang="en-US" dirty="0"/>
              <a:t>data to the screen. </a:t>
            </a:r>
            <a:endParaRPr lang="en-US" dirty="0" smtClean="0"/>
          </a:p>
          <a:p>
            <a:pPr algn="just"/>
            <a:r>
              <a:rPr lang="en-US" dirty="0" smtClean="0"/>
              <a:t>It </a:t>
            </a:r>
            <a:r>
              <a:rPr lang="en-US" dirty="0"/>
              <a:t>can also be used with </a:t>
            </a:r>
            <a:r>
              <a:rPr lang="en-US" dirty="0" err="1"/>
              <a:t>ofstream</a:t>
            </a:r>
            <a:r>
              <a:rPr lang="en-US" dirty="0"/>
              <a:t> objects to write data to a </a:t>
            </a:r>
            <a:r>
              <a:rPr lang="en-US" dirty="0" smtClean="0"/>
              <a:t>file. </a:t>
            </a:r>
          </a:p>
          <a:p>
            <a:pPr algn="just"/>
            <a:r>
              <a:rPr lang="en-US" dirty="0" smtClean="0"/>
              <a:t>Assuming </a:t>
            </a:r>
            <a:r>
              <a:rPr lang="en-US" dirty="0" err="1"/>
              <a:t>outputFile</a:t>
            </a:r>
            <a:r>
              <a:rPr lang="en-US" dirty="0"/>
              <a:t> is an </a:t>
            </a:r>
            <a:r>
              <a:rPr lang="en-US" dirty="0" err="1"/>
              <a:t>ofstream</a:t>
            </a:r>
            <a:r>
              <a:rPr lang="en-US" dirty="0"/>
              <a:t> object, the following statement demonstrates </a:t>
            </a:r>
            <a:r>
              <a:rPr lang="en-US" dirty="0" smtClean="0"/>
              <a:t>using the </a:t>
            </a:r>
            <a:r>
              <a:rPr lang="en-US" dirty="0"/>
              <a:t>&lt;&lt; operator to write a string literal to a file: </a:t>
            </a:r>
            <a:endParaRPr lang="en-US" dirty="0" smtClean="0"/>
          </a:p>
        </p:txBody>
      </p:sp>
      <p:sp>
        <p:nvSpPr>
          <p:cNvPr id="4" name="Title 2"/>
          <p:cNvSpPr>
            <a:spLocks noGrp="1"/>
          </p:cNvSpPr>
          <p:nvPr>
            <p:ph type="title"/>
          </p:nvPr>
        </p:nvSpPr>
        <p:spPr>
          <a:xfrm>
            <a:off x="-533400" y="469750"/>
            <a:ext cx="9144000" cy="1054250"/>
          </a:xfrm>
        </p:spPr>
        <p:txBody>
          <a:bodyPr/>
          <a:lstStyle/>
          <a:p>
            <a:pPr marL="914400"/>
            <a:r>
              <a:rPr lang="en-US" dirty="0"/>
              <a:t>Writing Data to a File </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5638800"/>
            <a:ext cx="6912219"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7703499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marL="0" indent="0" algn="just">
              <a:buNone/>
            </a:pPr>
            <a:endParaRPr lang="en-US" dirty="0" smtClean="0"/>
          </a:p>
          <a:p>
            <a:pPr algn="just"/>
            <a:r>
              <a:rPr lang="en-US" dirty="0" smtClean="0"/>
              <a:t>This </a:t>
            </a:r>
            <a:r>
              <a:rPr lang="en-US" dirty="0"/>
              <a:t>statement writes the string literal "I love C++ programming\n" to the file associated with </a:t>
            </a:r>
            <a:r>
              <a:rPr lang="en-US" dirty="0" err="1"/>
              <a:t>outputFile</a:t>
            </a:r>
            <a:r>
              <a:rPr lang="en-US" dirty="0"/>
              <a:t>. </a:t>
            </a:r>
            <a:endParaRPr lang="en-US" dirty="0" smtClean="0"/>
          </a:p>
          <a:p>
            <a:pPr algn="just"/>
            <a:r>
              <a:rPr lang="en-US" dirty="0" smtClean="0"/>
              <a:t>As </a:t>
            </a:r>
            <a:r>
              <a:rPr lang="en-US" dirty="0"/>
              <a:t>you can see, the statement looks like a </a:t>
            </a:r>
            <a:r>
              <a:rPr lang="en-US" dirty="0" err="1"/>
              <a:t>cout</a:t>
            </a:r>
            <a:r>
              <a:rPr lang="en-US" dirty="0"/>
              <a:t> statement, except the name of the </a:t>
            </a:r>
            <a:r>
              <a:rPr lang="en-US" dirty="0" err="1"/>
              <a:t>ofstream</a:t>
            </a:r>
            <a:r>
              <a:rPr lang="en-US" dirty="0"/>
              <a:t> object name replaces </a:t>
            </a:r>
            <a:r>
              <a:rPr lang="en-US" dirty="0" err="1"/>
              <a:t>cout</a:t>
            </a:r>
            <a:r>
              <a:rPr lang="en-US" dirty="0"/>
              <a:t>. </a:t>
            </a:r>
            <a:endParaRPr lang="en-US" dirty="0" smtClean="0"/>
          </a:p>
          <a:p>
            <a:pPr algn="just"/>
            <a:r>
              <a:rPr lang="en-US" dirty="0" smtClean="0"/>
              <a:t>Here </a:t>
            </a:r>
            <a:r>
              <a:rPr lang="en-US" dirty="0"/>
              <a:t>is a statement that writes both a string literal and the contents of a variable to a file: </a:t>
            </a:r>
            <a:endParaRPr lang="en-US" dirty="0" smtClean="0"/>
          </a:p>
        </p:txBody>
      </p:sp>
      <p:sp>
        <p:nvSpPr>
          <p:cNvPr id="4" name="Title 2"/>
          <p:cNvSpPr>
            <a:spLocks noGrp="1"/>
          </p:cNvSpPr>
          <p:nvPr>
            <p:ph type="title"/>
          </p:nvPr>
        </p:nvSpPr>
        <p:spPr>
          <a:xfrm>
            <a:off x="-533400" y="469750"/>
            <a:ext cx="9144000" cy="1054250"/>
          </a:xfrm>
        </p:spPr>
        <p:txBody>
          <a:bodyPr/>
          <a:lstStyle/>
          <a:p>
            <a:pPr marL="914400"/>
            <a:r>
              <a:rPr lang="en-US" dirty="0"/>
              <a:t>Writing Data to a File </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133601"/>
            <a:ext cx="6400801" cy="4674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5943600"/>
            <a:ext cx="6664902" cy="40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6227540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marL="0" indent="0" algn="just">
              <a:buNone/>
            </a:pPr>
            <a:endParaRPr lang="en-US" dirty="0" smtClean="0"/>
          </a:p>
          <a:p>
            <a:pPr algn="just"/>
            <a:r>
              <a:rPr lang="en-US" dirty="0"/>
              <a:t>The statement above writes the stream of data to </a:t>
            </a:r>
            <a:r>
              <a:rPr lang="en-US" dirty="0" err="1"/>
              <a:t>outputFile</a:t>
            </a:r>
            <a:r>
              <a:rPr lang="en-US" dirty="0"/>
              <a:t> exactly as </a:t>
            </a:r>
            <a:r>
              <a:rPr lang="en-US" dirty="0" err="1"/>
              <a:t>cout</a:t>
            </a:r>
            <a:r>
              <a:rPr lang="en-US" dirty="0"/>
              <a:t> would write it to the screen: It writes the string "Price: ", followed by the value of the price variable, followed by a newline character. </a:t>
            </a:r>
            <a:endParaRPr lang="en-US" dirty="0" smtClean="0"/>
          </a:p>
        </p:txBody>
      </p:sp>
      <p:sp>
        <p:nvSpPr>
          <p:cNvPr id="4" name="Title 2"/>
          <p:cNvSpPr>
            <a:spLocks noGrp="1"/>
          </p:cNvSpPr>
          <p:nvPr>
            <p:ph type="title"/>
          </p:nvPr>
        </p:nvSpPr>
        <p:spPr>
          <a:xfrm>
            <a:off x="-533400" y="469750"/>
            <a:ext cx="9144000" cy="1054250"/>
          </a:xfrm>
        </p:spPr>
        <p:txBody>
          <a:bodyPr/>
          <a:lstStyle/>
          <a:p>
            <a:pPr marL="914400"/>
            <a:r>
              <a:rPr lang="en-US" dirty="0"/>
              <a:t>Writing Data to a File </a:t>
            </a: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3960" y="2257425"/>
            <a:ext cx="6664902" cy="40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0783775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2400"/>
            <a:ext cx="8822845" cy="655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0" y="4998720"/>
            <a:ext cx="1596544" cy="738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47071" y="228600"/>
            <a:ext cx="3939729"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8002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2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228600"/>
            <a:ext cx="6096000"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itle 2"/>
          <p:cNvSpPr txBox="1">
            <a:spLocks/>
          </p:cNvSpPr>
          <p:nvPr/>
        </p:nvSpPr>
        <p:spPr>
          <a:xfrm rot="16200000">
            <a:off x="-2687171" y="2932802"/>
            <a:ext cx="6491345" cy="1054250"/>
          </a:xfrm>
          <a:prstGeom prst="rect">
            <a:avLst/>
          </a:prstGeom>
        </p:spPr>
        <p:txBody>
          <a:bodyPr/>
          <a:lst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smtClean="0"/>
              <a:t>Example</a:t>
            </a:r>
            <a:endParaRPr lang="en-US" dirty="0"/>
          </a:p>
        </p:txBody>
      </p:sp>
      <p:pic>
        <p:nvPicPr>
          <p:cNvPr id="1433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6081" y="5257800"/>
            <a:ext cx="4951719"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4158" y="167640"/>
            <a:ext cx="3487442" cy="1965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91927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3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76200"/>
            <a:ext cx="5715000" cy="6669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itle 2"/>
          <p:cNvSpPr txBox="1">
            <a:spLocks/>
          </p:cNvSpPr>
          <p:nvPr/>
        </p:nvSpPr>
        <p:spPr>
          <a:xfrm rot="16200000">
            <a:off x="-2687171" y="2932802"/>
            <a:ext cx="6491345" cy="1054250"/>
          </a:xfrm>
          <a:prstGeom prst="rect">
            <a:avLst/>
          </a:prstGeom>
        </p:spPr>
        <p:txBody>
          <a:bodyPr/>
          <a:lst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smtClean="0"/>
              <a:t>Example</a:t>
            </a:r>
            <a:endParaRPr lang="en-US" dirty="0"/>
          </a:p>
        </p:txBody>
      </p:sp>
      <p:pic>
        <p:nvPicPr>
          <p:cNvPr id="1536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0301" y="5105400"/>
            <a:ext cx="4227979"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6"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1" y="164849"/>
            <a:ext cx="3600450" cy="2284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94014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Reading Data from a </a:t>
            </a:r>
            <a:r>
              <a:rPr lang="en-US" dirty="0" smtClean="0"/>
              <a:t>File</a:t>
            </a:r>
          </a:p>
          <a:p>
            <a:r>
              <a:rPr lang="en-US" dirty="0"/>
              <a:t>The Read </a:t>
            </a:r>
            <a:r>
              <a:rPr lang="en-US" dirty="0" smtClean="0"/>
              <a:t>Position</a:t>
            </a:r>
          </a:p>
          <a:p>
            <a:r>
              <a:rPr lang="en-US" dirty="0"/>
              <a:t>Reading Numeric Data From a Text File </a:t>
            </a:r>
          </a:p>
          <a:p>
            <a:r>
              <a:rPr lang="en-US" dirty="0"/>
              <a:t>Using Loops to Process Files </a:t>
            </a:r>
            <a:endParaRPr lang="en-US" dirty="0" smtClean="0"/>
          </a:p>
          <a:p>
            <a:r>
              <a:rPr lang="en-US" dirty="0"/>
              <a:t>Detecting the End of the </a:t>
            </a:r>
            <a:r>
              <a:rPr lang="en-US" dirty="0" smtClean="0"/>
              <a:t>File</a:t>
            </a:r>
          </a:p>
          <a:p>
            <a:r>
              <a:rPr lang="en-US" dirty="0"/>
              <a:t>Testing for File Open </a:t>
            </a:r>
            <a:r>
              <a:rPr lang="en-US" dirty="0" smtClean="0"/>
              <a:t>Errors</a:t>
            </a:r>
          </a:p>
          <a:p>
            <a:r>
              <a:rPr lang="en-US"/>
              <a:t>Letting the User Specify a Filename</a:t>
            </a:r>
          </a:p>
          <a:p>
            <a:pPr marL="0" indent="0">
              <a:buNone/>
            </a:pPr>
            <a:endParaRPr lang="en-US" dirty="0"/>
          </a:p>
        </p:txBody>
      </p:sp>
      <p:sp>
        <p:nvSpPr>
          <p:cNvPr id="4" name="Title 2"/>
          <p:cNvSpPr>
            <a:spLocks noGrp="1"/>
          </p:cNvSpPr>
          <p:nvPr>
            <p:ph type="title"/>
          </p:nvPr>
        </p:nvSpPr>
        <p:spPr/>
        <p:txBody>
          <a:bodyPr/>
          <a:lstStyle/>
          <a:p>
            <a:r>
              <a:rPr lang="en-US" dirty="0" smtClean="0"/>
              <a:t>Next Lecture</a:t>
            </a:r>
            <a:endParaRPr lang="en-US" dirty="0"/>
          </a:p>
        </p:txBody>
      </p:sp>
    </p:spTree>
    <p:extLst>
      <p:ext uri="{BB962C8B-B14F-4D97-AF65-F5344CB8AC3E}">
        <p14:creationId xmlns:p14="http://schemas.microsoft.com/office/powerpoint/2010/main" val="1035688037"/>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Hardcover">
  <a:themeElements>
    <a:clrScheme name="Hardcover">
      <a:dk1>
        <a:sysClr val="windowText" lastClr="000000"/>
      </a:dk1>
      <a:lt1>
        <a:sysClr val="window" lastClr="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Hardcover">
      <a:majorFont>
        <a:latin typeface="Book Antiqua"/>
        <a:ea typeface=""/>
        <a:cs typeface=""/>
        <a:font script="Grek" typeface="Times New Roman"/>
        <a:font script="Cyrl" typeface="Times New Roman"/>
        <a:font script="Jpan" typeface="HGS明朝E"/>
        <a:font script="Hang" typeface="궁서"/>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ook Antiqua"/>
        <a:ea typeface=""/>
        <a:cs typeface=""/>
        <a:font script="Grek" typeface="Times New Roman"/>
        <a:font script="Cyrl" typeface="Times New Roman"/>
        <a:font script="Jpan" typeface="HGS明朝E"/>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Hardcover">
      <a:fillStyleLst>
        <a:solidFill>
          <a:schemeClr val="phClr"/>
        </a:solidFill>
        <a:solidFill>
          <a:schemeClr val="phClr">
            <a:tint val="68000"/>
            <a:shade val="94000"/>
            <a:satMod val="300000"/>
            <a:lumMod val="110000"/>
          </a:schemeClr>
        </a:solidFill>
        <a:gradFill rotWithShape="1">
          <a:gsLst>
            <a:gs pos="0">
              <a:schemeClr val="phClr">
                <a:tint val="94000"/>
                <a:satMod val="180000"/>
                <a:lumMod val="98000"/>
              </a:schemeClr>
            </a:gs>
            <a:gs pos="100000">
              <a:schemeClr val="phClr">
                <a:satMod val="130000"/>
              </a:schemeClr>
            </a:gs>
          </a:gsLst>
          <a:lin ang="5160000" scaled="0"/>
        </a:gradFill>
      </a:fillStyleLst>
      <a:lnStyleLst>
        <a:ln w="12700" cap="flat" cmpd="sng" algn="ctr">
          <a:solidFill>
            <a:schemeClr val="phClr">
              <a:shade val="90000"/>
              <a:lumMod val="90000"/>
            </a:schemeClr>
          </a:solidFill>
          <a:prstDash val="solid"/>
        </a:ln>
        <a:ln w="19050" cap="flat" cmpd="sng" algn="ctr">
          <a:solidFill>
            <a:schemeClr val="phClr">
              <a:shade val="75000"/>
              <a:lumMod val="90000"/>
            </a:schemeClr>
          </a:solidFill>
          <a:prstDash val="solid"/>
        </a:ln>
        <a:ln w="25400" cap="flat" cmpd="sng" algn="ctr">
          <a:solidFill>
            <a:schemeClr val="phClr"/>
          </a:solidFill>
          <a:prstDash val="solid"/>
        </a:ln>
      </a:lnStyleLst>
      <a:effectStyleLst>
        <a:effectStyle>
          <a:effectLst>
            <a:outerShdw blurRad="38100" dist="12700" dir="5400000" rotWithShape="0">
              <a:srgbClr val="000000">
                <a:alpha val="15000"/>
              </a:srgbClr>
            </a:outerShdw>
          </a:effectLst>
        </a:effectStyle>
        <a:effectStyle>
          <a:effectLst>
            <a:outerShdw blurRad="50800" dist="25400" dir="5400000" rotWithShape="0">
              <a:srgbClr val="000000">
                <a:alpha val="46000"/>
              </a:srgbClr>
            </a:outerShdw>
          </a:effectLst>
        </a:effectStyle>
        <a:effectStyle>
          <a:effectLst>
            <a:outerShdw blurRad="50800" dist="25400" dir="5400000" rotWithShape="0">
              <a:srgbClr val="000000">
                <a:alpha val="48000"/>
              </a:srgbClr>
            </a:outerShdw>
          </a:effectLst>
          <a:scene3d>
            <a:camera prst="orthographicFront">
              <a:rot lat="0" lon="0" rev="0"/>
            </a:camera>
            <a:lightRig rig="threePt" dir="tl">
              <a:rot lat="0" lon="0" rev="2400000"/>
            </a:lightRig>
          </a:scene3d>
          <a:sp3d>
            <a:bevelT w="25400" h="25400"/>
          </a:sp3d>
        </a:effectStyle>
      </a:effectStyleLst>
      <a:bgFillStyleLst>
        <a:solidFill>
          <a:schemeClr val="phClr">
            <a:tint val="96000"/>
            <a:lumMod val="110000"/>
          </a:schemeClr>
        </a:solidFill>
        <a:blipFill rotWithShape="1">
          <a:blip xmlns:r="http://schemas.openxmlformats.org/officeDocument/2006/relationships" r:embed="rId1">
            <a:duotone>
              <a:schemeClr val="phClr">
                <a:tint val="93000"/>
                <a:shade val="20000"/>
              </a:schemeClr>
              <a:schemeClr val="phClr">
                <a:tint val="90000"/>
                <a:shade val="85000"/>
                <a:satMod val="115000"/>
              </a:schemeClr>
            </a:duotone>
          </a:blip>
          <a:tile tx="0" ty="0" sx="60000" sy="60000" flip="none" algn="tl"/>
        </a:blipFill>
        <a:blipFill rotWithShape="1">
          <a:blip xmlns:r="http://schemas.openxmlformats.org/officeDocument/2006/relationships" r:embed="rId2">
            <a:duotone>
              <a:schemeClr val="phClr">
                <a:shade val="50000"/>
                <a:satMod val="340000"/>
                <a:lumMod val="40000"/>
              </a:schemeClr>
              <a:schemeClr val="phClr">
                <a:tint val="92000"/>
                <a:shade val="94000"/>
                <a:hueMod val="110000"/>
                <a:satMod val="236000"/>
                <a:lumMod val="120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Hardcover</Template>
  <TotalTime>4195</TotalTime>
  <Words>1148</Words>
  <Application>Microsoft Office PowerPoint</Application>
  <PresentationFormat>On-screen Show (4:3)</PresentationFormat>
  <Paragraphs>97</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Hardcover</vt:lpstr>
      <vt:lpstr>Programming Fundamentals</vt:lpstr>
      <vt:lpstr>Previous Lecture</vt:lpstr>
      <vt:lpstr>Today’s Lecture</vt:lpstr>
      <vt:lpstr>File Stream Objects </vt:lpstr>
      <vt:lpstr>File Stream Objects </vt:lpstr>
      <vt:lpstr>Setting Up a Program for File Input/Output</vt:lpstr>
      <vt:lpstr>Setting Up a Program for File Input/Output</vt:lpstr>
      <vt:lpstr>Setting Up a Program for File Input/Output</vt:lpstr>
      <vt:lpstr>Creating a File Object and Opening a File</vt:lpstr>
      <vt:lpstr>Creating a File Object and Opening a File</vt:lpstr>
      <vt:lpstr>Creating a File Object and Opening a File</vt:lpstr>
      <vt:lpstr>Creating a File Object and Opening a File</vt:lpstr>
      <vt:lpstr>Creating a File Object and Opening a File</vt:lpstr>
      <vt:lpstr>Creating a File Object and Opening a File</vt:lpstr>
      <vt:lpstr>Closing a File </vt:lpstr>
      <vt:lpstr>Closing a File </vt:lpstr>
      <vt:lpstr>Closing a File </vt:lpstr>
      <vt:lpstr>Writing Data to a File </vt:lpstr>
      <vt:lpstr>Writing Data to a File </vt:lpstr>
      <vt:lpstr>Writing Data to a File </vt:lpstr>
      <vt:lpstr>PowerPoint Presentation</vt:lpstr>
      <vt:lpstr>PowerPoint Presentation</vt:lpstr>
      <vt:lpstr>PowerPoint Presentation</vt:lpstr>
      <vt:lpstr>Next Lecture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 Fundamentals</dc:title>
  <dc:creator>p06</dc:creator>
  <cp:lastModifiedBy>p06</cp:lastModifiedBy>
  <cp:revision>500</cp:revision>
  <dcterms:created xsi:type="dcterms:W3CDTF">2023-02-13T17:33:34Z</dcterms:created>
  <dcterms:modified xsi:type="dcterms:W3CDTF">2025-12-13T19:13:47Z</dcterms:modified>
</cp:coreProperties>
</file>