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440" r:id="rId1"/>
  </p:sldMasterIdLst>
  <p:notesMasterIdLst>
    <p:notesMasterId r:id="rId27"/>
  </p:notesMasterIdLst>
  <p:sldIdLst>
    <p:sldId id="275" r:id="rId2"/>
    <p:sldId id="276" r:id="rId3"/>
    <p:sldId id="277" r:id="rId4"/>
    <p:sldId id="321" r:id="rId5"/>
    <p:sldId id="322" r:id="rId6"/>
    <p:sldId id="323" r:id="rId7"/>
    <p:sldId id="324" r:id="rId8"/>
    <p:sldId id="325" r:id="rId9"/>
    <p:sldId id="326" r:id="rId10"/>
    <p:sldId id="327" r:id="rId11"/>
    <p:sldId id="328" r:id="rId12"/>
    <p:sldId id="293" r:id="rId13"/>
    <p:sldId id="329" r:id="rId14"/>
    <p:sldId id="295" r:id="rId15"/>
    <p:sldId id="296" r:id="rId16"/>
    <p:sldId id="330" r:id="rId17"/>
    <p:sldId id="331" r:id="rId18"/>
    <p:sldId id="332" r:id="rId19"/>
    <p:sldId id="333" r:id="rId20"/>
    <p:sldId id="334" r:id="rId21"/>
    <p:sldId id="335" r:id="rId22"/>
    <p:sldId id="336" r:id="rId23"/>
    <p:sldId id="362" r:id="rId24"/>
    <p:sldId id="363" r:id="rId25"/>
    <p:sldId id="287" r:id="rId2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54" d="100"/>
          <a:sy n="54" d="100"/>
        </p:scale>
        <p:origin x="-960" y="-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6A68638-8D4C-4224-86C6-C1F65257DA59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AE47110-DE54-4872-A5AE-CA21AC8F8A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5697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overOverlay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FF4282D-DD47-4BD2-B4E4-03CD91B40D17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BBAC41E-B5DD-4622-B453-5F4DACEC7AF7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1194101" y="2887530"/>
            <a:ext cx="6779110" cy="923330"/>
            <a:chOff x="1172584" y="1381459"/>
            <a:chExt cx="6779110" cy="923330"/>
          </a:xfrm>
          <a:effectLst>
            <a:outerShdw blurRad="38100" dist="12700" dir="16200000" rotWithShape="0">
              <a:prstClr val="black">
                <a:alpha val="30000"/>
              </a:prstClr>
            </a:outerShdw>
          </a:effectLst>
        </p:grpSpPr>
        <p:sp>
          <p:nvSpPr>
            <p:cNvPr id="9" name="TextBox 8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ln w="3175">
                    <a:solidFill>
                      <a:schemeClr val="tx2">
                        <a:alpha val="60000"/>
                      </a:schemeClr>
                    </a:solidFill>
                  </a:ln>
                  <a:solidFill>
                    <a:schemeClr val="tx2">
                      <a:lumMod val="90000"/>
                    </a:schemeClr>
                  </a:solidFill>
                  <a:effectLst>
                    <a:outerShdw blurRad="34925" dist="12700" dir="14400000" algn="ctr" rotWithShape="0">
                      <a:srgbClr val="000000">
                        <a:alpha val="21000"/>
                      </a:srgbClr>
                    </a:outerShdw>
                  </a:effectLst>
                  <a:latin typeface="Wingdings" pitchFamily="2" charset="2"/>
                </a:rPr>
                <a:t></a:t>
              </a:r>
              <a:endParaRPr lang="en-US" sz="5400" dirty="0">
                <a:ln w="3175">
                  <a:solidFill>
                    <a:schemeClr val="tx2">
                      <a:alpha val="60000"/>
                    </a:schemeClr>
                  </a:solidFill>
                </a:ln>
                <a:solidFill>
                  <a:schemeClr val="tx2">
                    <a:lumMod val="90000"/>
                  </a:schemeClr>
                </a:solidFill>
                <a:effectLst>
                  <a:outerShdw blurRad="34925" dist="12700" dir="14400000" algn="ctr" rotWithShape="0">
                    <a:srgbClr val="000000">
                      <a:alpha val="21000"/>
                    </a:srgbClr>
                  </a:outerShdw>
                </a:effectLst>
                <a:latin typeface="Wingdings" pitchFamily="2" charset="2"/>
              </a:endParaRPr>
            </a:p>
          </p:txBody>
        </p:sp>
        <p:cxnSp>
          <p:nvCxnSpPr>
            <p:cNvPr id="10" name="Straight Connector 9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9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rot="10800000">
              <a:off x="4831976" y="192293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9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83341" y="1387737"/>
            <a:ext cx="6777318" cy="1731982"/>
          </a:xfrm>
        </p:spPr>
        <p:txBody>
          <a:bodyPr anchor="b"/>
          <a:lstStyle>
            <a:lvl1pPr>
              <a:defRPr>
                <a:ln w="3175">
                  <a:solidFill>
                    <a:schemeClr val="tx1">
                      <a:alpha val="65000"/>
                    </a:schemeClr>
                  </a:solidFill>
                </a:ln>
                <a:solidFill>
                  <a:schemeClr val="tx1"/>
                </a:solidFill>
                <a:effectLst>
                  <a:outerShdw blurRad="25400" dist="12700" dir="14220000" rotWithShape="0">
                    <a:prstClr val="black">
                      <a:alpha val="50000"/>
                    </a:prstClr>
                  </a:outerShdw>
                </a:effectLst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767862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  <a:effectLst>
                  <a:outerShdw blurRad="34925" dist="12700" dir="14400000" rotWithShape="0">
                    <a:prstClr val="black">
                      <a:alpha val="21000"/>
                    </a:prstClr>
                  </a:outerShdw>
                </a:effectLst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4282D-DD47-4BD2-B4E4-03CD91B40D17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AC41E-B5DD-4622-B453-5F4DACEC7AF7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grpSp>
        <p:nvGrpSpPr>
          <p:cNvPr id="12" name="Group 11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3" name="TextBox 12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4" name="Straight Connector 13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CoverOverlay.png"/>
          <p:cNvPicPr>
            <a:picLocks noChangeAspect="1"/>
          </p:cNvPicPr>
          <p:nvPr/>
        </p:nvPicPr>
        <p:blipFill>
          <a:blip r:embed="rId2" cstate="print">
            <a:lum/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grpSp>
        <p:nvGrpSpPr>
          <p:cNvPr id="7" name="Group 7"/>
          <p:cNvGrpSpPr/>
          <p:nvPr/>
        </p:nvGrpSpPr>
        <p:grpSpPr>
          <a:xfrm>
            <a:off x="1172584" y="2887579"/>
            <a:ext cx="6779110" cy="923330"/>
            <a:chOff x="1172584" y="1381459"/>
            <a:chExt cx="6779110" cy="923330"/>
          </a:xfrm>
        </p:grpSpPr>
        <p:sp>
          <p:nvSpPr>
            <p:cNvPr id="9" name="TextBox 8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0" name="Straight Connector 9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rot="10800000">
              <a:off x="4831976" y="1927412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0040" y="1204857"/>
            <a:ext cx="7754713" cy="1910716"/>
          </a:xfrm>
        </p:spPr>
        <p:txBody>
          <a:bodyPr anchor="b"/>
          <a:lstStyle>
            <a:lvl1pPr algn="ctr">
              <a:defRPr sz="5400" b="0" cap="none" baseline="0"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9248" y="3767316"/>
            <a:ext cx="7734747" cy="1500187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4282D-DD47-4BD2-B4E4-03CD91B40D17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AC41E-B5DD-4622-B453-5F4DACEC7AF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4282D-DD47-4BD2-B4E4-03CD91B40D17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AC41E-B5DD-4622-B453-5F4DACEC7AF7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itle 1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grpSp>
        <p:nvGrpSpPr>
          <p:cNvPr id="13" name="Group 12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4" name="TextBox 13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5" name="Straight Connector 14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Content Placeholder 7"/>
          <p:cNvSpPr>
            <a:spLocks noGrp="1"/>
          </p:cNvSpPr>
          <p:nvPr>
            <p:ph sz="quarter" idx="13"/>
          </p:nvPr>
        </p:nvSpPr>
        <p:spPr>
          <a:xfrm>
            <a:off x="685800" y="2240280"/>
            <a:ext cx="3803904" cy="387705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" name="Content Placeholder 9"/>
          <p:cNvSpPr>
            <a:spLocks noGrp="1"/>
          </p:cNvSpPr>
          <p:nvPr>
            <p:ph sz="quarter" idx="14"/>
          </p:nvPr>
        </p:nvSpPr>
        <p:spPr>
          <a:xfrm>
            <a:off x="4645151" y="2240280"/>
            <a:ext cx="3803904" cy="387705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51560" y="2240280"/>
            <a:ext cx="3442446" cy="658368"/>
          </a:xfrm>
        </p:spPr>
        <p:txBody>
          <a:bodyPr anchor="b"/>
          <a:lstStyle>
            <a:lvl1pPr marL="0" indent="0" algn="ctr">
              <a:buNone/>
              <a:defRPr sz="24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8488" y="2947595"/>
            <a:ext cx="3803904" cy="317296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02306" y="2240280"/>
            <a:ext cx="3447288" cy="658368"/>
          </a:xfrm>
        </p:spPr>
        <p:txBody>
          <a:bodyPr anchor="b"/>
          <a:lstStyle>
            <a:lvl1pPr marL="0" indent="0" algn="ctr">
              <a:buNone/>
              <a:defRPr sz="24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44368"/>
            <a:ext cx="3799728" cy="317296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4282D-DD47-4BD2-B4E4-03CD91B40D17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AC41E-B5DD-4622-B453-5F4DACEC7AF7}" type="slidenum">
              <a:rPr lang="en-US" smtClean="0"/>
              <a:t>‹#›</a:t>
            </a:fld>
            <a:endParaRPr lang="en-US"/>
          </a:p>
        </p:txBody>
      </p:sp>
      <p:grpSp>
        <p:nvGrpSpPr>
          <p:cNvPr id="14" name="Group 13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6" name="TextBox 15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7" name="Straight Connector 16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4282D-DD47-4BD2-B4E4-03CD91B40D17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AC41E-B5DD-4622-B453-5F4DACEC7AF7}" type="slidenum">
              <a:rPr lang="en-US" smtClean="0"/>
              <a:t>‹#›</a:t>
            </a:fld>
            <a:endParaRPr lang="en-US"/>
          </a:p>
        </p:txBody>
      </p:sp>
      <p:grpSp>
        <p:nvGrpSpPr>
          <p:cNvPr id="10" name="Group 9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4" name="TextBox 13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5" name="Straight Connector 14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4282D-DD47-4BD2-B4E4-03CD91B40D17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AC41E-B5DD-4622-B453-5F4DACEC7AF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34579" y="1678195"/>
            <a:ext cx="3422483" cy="1886921"/>
          </a:xfrm>
        </p:spPr>
        <p:txBody>
          <a:bodyPr anchor="b"/>
          <a:lstStyle>
            <a:lvl1pPr algn="l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2001" y="559398"/>
            <a:ext cx="4116667" cy="5566765"/>
          </a:xfrm>
        </p:spPr>
        <p:txBody>
          <a:bodyPr anchor="ctr"/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34579" y="3603812"/>
            <a:ext cx="3411725" cy="2517289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4282D-DD47-4BD2-B4E4-03CD91B40D17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AC41E-B5DD-4622-B453-5F4DACEC7AF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731" y="4668818"/>
            <a:ext cx="7767021" cy="644729"/>
          </a:xfrm>
        </p:spPr>
        <p:txBody>
          <a:bodyPr anchor="b"/>
          <a:lstStyle>
            <a:lvl1pPr algn="ctr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240000">
            <a:off x="2183792" y="666965"/>
            <a:ext cx="4772156" cy="3598016"/>
          </a:xfr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24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8489" y="5324306"/>
            <a:ext cx="7756264" cy="804862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4282D-DD47-4BD2-B4E4-03CD91B40D17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AC41E-B5DD-4622-B453-5F4DACEC7AF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ctr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4282D-DD47-4BD2-B4E4-03CD91B40D17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AC41E-B5DD-4622-B453-5F4DACEC7AF7}" type="slidenum">
              <a:rPr lang="en-US" smtClean="0"/>
              <a:t>‹#›</a:t>
            </a:fld>
            <a:endParaRPr lang="en-US"/>
          </a:p>
        </p:txBody>
      </p:sp>
      <p:grpSp>
        <p:nvGrpSpPr>
          <p:cNvPr id="11" name="Group 10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5" name="TextBox 14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6" name="Straight Connector 15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66560" y="559398"/>
            <a:ext cx="1678193" cy="556676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8488" y="849854"/>
            <a:ext cx="5507917" cy="5023821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4282D-DD47-4BD2-B4E4-03CD91B40D17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AC41E-B5DD-4622-B453-5F4DACEC7AF7}" type="slidenum">
              <a:rPr lang="en-US" smtClean="0"/>
              <a:t>‹#›</a:t>
            </a:fld>
            <a:endParaRPr lang="en-US"/>
          </a:p>
        </p:txBody>
      </p:sp>
      <p:grpSp>
        <p:nvGrpSpPr>
          <p:cNvPr id="11" name="Group 10"/>
          <p:cNvGrpSpPr/>
          <p:nvPr/>
        </p:nvGrpSpPr>
        <p:grpSpPr>
          <a:xfrm rot="5400000">
            <a:off x="3909050" y="2880823"/>
            <a:ext cx="5480154" cy="923330"/>
            <a:chOff x="1815339" y="1381459"/>
            <a:chExt cx="5480154" cy="923330"/>
          </a:xfrm>
        </p:grpSpPr>
        <p:sp>
          <p:nvSpPr>
            <p:cNvPr id="12" name="TextBox 11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3" name="Straight Connector 12"/>
            <p:cNvCxnSpPr/>
            <p:nvPr/>
          </p:nvCxnSpPr>
          <p:spPr>
            <a:xfrm flipH="1" flipV="1">
              <a:off x="1815339" y="1924709"/>
              <a:ext cx="2468880" cy="2505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 rot="10800000">
              <a:off x="4826613" y="1927417"/>
              <a:ext cx="2468880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flip="none" rotWithShape="1">
            <a:gsLst>
              <a:gs pos="83000">
                <a:schemeClr val="bg1">
                  <a:alpha val="11000"/>
                </a:schemeClr>
              </a:gs>
              <a:gs pos="100000">
                <a:schemeClr val="bg2">
                  <a:lumMod val="75000"/>
                  <a:alpha val="23000"/>
                </a:schemeClr>
              </a:gs>
            </a:gsLst>
            <a:path path="rect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8490" y="570156"/>
            <a:ext cx="7756263" cy="10542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9247" y="2248347"/>
            <a:ext cx="7745505" cy="38778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60378" y="616144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fld id="{AFF4282D-DD47-4BD2-B4E4-03CD91B40D17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16144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639264" y="616144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BBBAC41E-B5DD-4622-B453-5F4DACEC7AF7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441" r:id="rId1"/>
    <p:sldLayoutId id="2147484442" r:id="rId2"/>
    <p:sldLayoutId id="2147484443" r:id="rId3"/>
    <p:sldLayoutId id="2147484444" r:id="rId4"/>
    <p:sldLayoutId id="2147484445" r:id="rId5"/>
    <p:sldLayoutId id="2147484446" r:id="rId6"/>
    <p:sldLayoutId id="2147484447" r:id="rId7"/>
    <p:sldLayoutId id="2147484448" r:id="rId8"/>
    <p:sldLayoutId id="2147484449" r:id="rId9"/>
    <p:sldLayoutId id="2147484450" r:id="rId10"/>
    <p:sldLayoutId id="214748445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540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65760" indent="-36576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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777240" indent="-36576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"/>
        <a:defRPr sz="2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143000" indent="-36576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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508760" indent="-32004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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828800" indent="-32004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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148840" indent="-274320" algn="l" defTabSz="914400" rtl="0" eaLnBrk="1" latinLnBrk="0" hangingPunct="1">
        <a:spcBef>
          <a:spcPts val="400"/>
        </a:spcBef>
        <a:buClr>
          <a:schemeClr val="accent1"/>
        </a:buClr>
        <a:buFont typeface="Wingdings" pitchFamily="2" charset="2"/>
        <a:buChar char="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468880" indent="-274320" algn="l" defTabSz="914400" rtl="0" eaLnBrk="1" latinLnBrk="0" hangingPunct="1">
        <a:spcBef>
          <a:spcPts val="400"/>
        </a:spcBef>
        <a:buClr>
          <a:schemeClr val="accent1"/>
        </a:buClr>
        <a:buFont typeface="Wingdings" pitchFamily="2" charset="2"/>
        <a:buChar char="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788920" indent="-274320" algn="l" defTabSz="914400" rtl="0" eaLnBrk="1" latinLnBrk="0" hangingPunct="1">
        <a:spcBef>
          <a:spcPts val="400"/>
        </a:spcBef>
        <a:buClr>
          <a:schemeClr val="accent1"/>
        </a:buClr>
        <a:buFont typeface="Wingdings" pitchFamily="2" charset="2"/>
        <a:buChar char="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108960" indent="-274320" algn="l" defTabSz="914400" rtl="0" eaLnBrk="1" latinLnBrk="0" hangingPunct="1">
        <a:spcBef>
          <a:spcPts val="400"/>
        </a:spcBef>
        <a:buClr>
          <a:schemeClr val="accent1"/>
        </a:buClr>
        <a:buFont typeface="Wingdings" pitchFamily="2" charset="2"/>
        <a:buChar char="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Programming Fundamentals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By</a:t>
            </a:r>
          </a:p>
          <a:p>
            <a:r>
              <a:rPr lang="en-US" dirty="0" smtClean="0"/>
              <a:t>Shazmeen Batool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23588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Introduction to pointers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Previous Lecture</a:t>
            </a:r>
          </a:p>
        </p:txBody>
      </p:sp>
    </p:spTree>
    <p:extLst>
      <p:ext uri="{BB962C8B-B14F-4D97-AF65-F5344CB8AC3E}">
        <p14:creationId xmlns:p14="http://schemas.microsoft.com/office/powerpoint/2010/main" val="21114295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Relationship Between Array and Pointers</a:t>
            </a:r>
          </a:p>
          <a:p>
            <a:r>
              <a:rPr lang="en-US" smtClean="0"/>
              <a:t>Pointer Arithmetic</a:t>
            </a:r>
            <a:endParaRPr lang="en-US" dirty="0"/>
          </a:p>
        </p:txBody>
      </p:sp>
      <p:sp>
        <p:nvSpPr>
          <p:cNvPr id="4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Today’s Lecture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35344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81000" y="2133600"/>
            <a:ext cx="8305799" cy="4648199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Array names can be used as constant pointers, and pointers can be used as array names</a:t>
            </a:r>
            <a:r>
              <a:rPr lang="en-US" dirty="0" smtClean="0"/>
              <a:t>.</a:t>
            </a:r>
          </a:p>
          <a:p>
            <a:pPr algn="just"/>
            <a:r>
              <a:rPr lang="en-US" dirty="0" smtClean="0"/>
              <a:t>As you know </a:t>
            </a:r>
            <a:r>
              <a:rPr lang="en-US" dirty="0"/>
              <a:t>array name, without brackets and a subscript, actually represents the starting address of the array. This means that an array name is really a pointer.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52400" y="381000"/>
            <a:ext cx="8839200" cy="1054250"/>
          </a:xfrm>
        </p:spPr>
        <p:txBody>
          <a:bodyPr/>
          <a:lstStyle/>
          <a:p>
            <a:r>
              <a:rPr lang="en-US" dirty="0"/>
              <a:t>The Relationship Between Arrays and </a:t>
            </a:r>
            <a:r>
              <a:rPr lang="en-US" dirty="0" smtClean="0"/>
              <a:t>Pointers</a:t>
            </a:r>
            <a:endParaRPr lang="en-US" dirty="0"/>
          </a:p>
        </p:txBody>
      </p:sp>
      <p:pic>
        <p:nvPicPr>
          <p:cNvPr id="1229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4210050"/>
            <a:ext cx="5509122" cy="2419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292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8400" y="5419725"/>
            <a:ext cx="1828800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878609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2"/>
          <p:cNvSpPr txBox="1">
            <a:spLocks/>
          </p:cNvSpPr>
          <p:nvPr/>
        </p:nvSpPr>
        <p:spPr>
          <a:xfrm rot="16200000">
            <a:off x="-2635174" y="2863775"/>
            <a:ext cx="6629400" cy="105425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5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2800" dirty="0"/>
              <a:t>This program shows an array name being dereferenced with the </a:t>
            </a:r>
            <a:r>
              <a:rPr lang="en-US" sz="2800" dirty="0" smtClean="0"/>
              <a:t>* </a:t>
            </a:r>
            <a:r>
              <a:rPr lang="en-US" sz="2800" dirty="0"/>
              <a:t>operator. </a:t>
            </a:r>
            <a:endParaRPr lang="en-US" sz="2800" b="1" dirty="0"/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7800" y="228598"/>
            <a:ext cx="5867400" cy="35634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31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85892" y="609600"/>
            <a:ext cx="1045585" cy="7667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Rectangle 1"/>
          <p:cNvSpPr/>
          <p:nvPr/>
        </p:nvSpPr>
        <p:spPr>
          <a:xfrm>
            <a:off x="1752600" y="4191000"/>
            <a:ext cx="66294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400" b="1" dirty="0"/>
              <a:t>Because numbers works like a pointer to the starting address of the array, the first element is retrieved when numbers is dereferenced.</a:t>
            </a:r>
          </a:p>
        </p:txBody>
      </p:sp>
    </p:spTree>
    <p:extLst>
      <p:ext uri="{BB962C8B-B14F-4D97-AF65-F5344CB8AC3E}">
        <p14:creationId xmlns:p14="http://schemas.microsoft.com/office/powerpoint/2010/main" val="21341744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81000" y="2133600"/>
            <a:ext cx="8305799" cy="4648199"/>
          </a:xfrm>
        </p:spPr>
        <p:txBody>
          <a:bodyPr>
            <a:normAutofit/>
          </a:bodyPr>
          <a:lstStyle/>
          <a:p>
            <a:pPr algn="just"/>
            <a:r>
              <a:rPr lang="en-US" b="1" dirty="0"/>
              <a:t>So how could the entire contents of an array be retrieved using the indirection operator</a:t>
            </a:r>
            <a:r>
              <a:rPr lang="en-US" b="1" dirty="0" smtClean="0"/>
              <a:t>?</a:t>
            </a:r>
            <a:endParaRPr lang="en-US" b="1" dirty="0"/>
          </a:p>
          <a:p>
            <a:pPr algn="just"/>
            <a:r>
              <a:rPr lang="en-US" dirty="0"/>
              <a:t>Now, here's the key idea: When you want to get to another box, you can use either</a:t>
            </a:r>
            <a:r>
              <a:rPr lang="en-US" dirty="0" smtClean="0"/>
              <a:t>:</a:t>
            </a:r>
          </a:p>
          <a:p>
            <a:pPr marL="914400" algn="just"/>
            <a:r>
              <a:rPr lang="en-US" b="1" dirty="0"/>
              <a:t>Subscript notation</a:t>
            </a:r>
            <a:r>
              <a:rPr lang="en-US" dirty="0"/>
              <a:t> (like numbers[1] to get Box 1).</a:t>
            </a:r>
          </a:p>
          <a:p>
            <a:pPr marL="914400" algn="just"/>
            <a:r>
              <a:rPr lang="en-US" b="1" dirty="0"/>
              <a:t>Pointer notation</a:t>
            </a:r>
            <a:r>
              <a:rPr lang="en-US" dirty="0"/>
              <a:t> (like *(numbers + 1) to get the same Box 1).</a:t>
            </a:r>
          </a:p>
          <a:p>
            <a:pPr algn="just"/>
            <a:r>
              <a:rPr lang="en-US" dirty="0"/>
              <a:t>P</a:t>
            </a:r>
            <a:r>
              <a:rPr lang="en-US" dirty="0" smtClean="0"/>
              <a:t>ointers </a:t>
            </a:r>
            <a:r>
              <a:rPr lang="en-US" dirty="0"/>
              <a:t>don't work like regular numbers. If you add 1 to a regular number (like 5 + 1 = 6), it's just adding 1. With pointers, adding 1 actually moves the arrow by the size of one box.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52400" y="381000"/>
            <a:ext cx="8839200" cy="1054250"/>
          </a:xfrm>
        </p:spPr>
        <p:txBody>
          <a:bodyPr/>
          <a:lstStyle/>
          <a:p>
            <a:r>
              <a:rPr lang="en-US" dirty="0"/>
              <a:t>The Relationship Between Arrays and </a:t>
            </a:r>
            <a:r>
              <a:rPr lang="en-US" dirty="0" smtClean="0"/>
              <a:t>Pointers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24606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81000" y="2133600"/>
            <a:ext cx="8305799" cy="4648199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This "jump" happens automatically in C++ because the computer knows the size of the data type (here, </a:t>
            </a:r>
            <a:r>
              <a:rPr lang="en-US" dirty="0" smtClean="0"/>
              <a:t>4 </a:t>
            </a:r>
            <a:r>
              <a:rPr lang="en-US" dirty="0"/>
              <a:t>bytes for </a:t>
            </a:r>
            <a:r>
              <a:rPr lang="en-US" dirty="0" err="1" smtClean="0"/>
              <a:t>int</a:t>
            </a:r>
            <a:r>
              <a:rPr lang="en-US" dirty="0" smtClean="0"/>
              <a:t>).</a:t>
            </a:r>
          </a:p>
          <a:p>
            <a:pPr marL="914400" algn="just"/>
            <a:r>
              <a:rPr lang="en-US" dirty="0"/>
              <a:t>*(numbers + 0) is the same as numbers[0] (first box</a:t>
            </a:r>
            <a:r>
              <a:rPr lang="en-US" dirty="0" smtClean="0"/>
              <a:t>).</a:t>
            </a:r>
          </a:p>
          <a:p>
            <a:pPr marL="914400" algn="just"/>
            <a:r>
              <a:rPr lang="en-US" dirty="0"/>
              <a:t>*(numbers + 1) is the same as numbers[1] (second box).</a:t>
            </a:r>
          </a:p>
          <a:p>
            <a:pPr marL="914400" algn="just"/>
            <a:r>
              <a:rPr lang="en-US" dirty="0"/>
              <a:t>*(numbers + 2) is the same as numbers[2] (third box).</a:t>
            </a:r>
          </a:p>
          <a:p>
            <a:pPr marL="548640" indent="0" algn="just">
              <a:buNone/>
            </a:pPr>
            <a:endParaRPr lang="en-US" dirty="0"/>
          </a:p>
          <a:p>
            <a:pPr algn="just"/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52400" y="381000"/>
            <a:ext cx="8839200" cy="1054250"/>
          </a:xfrm>
        </p:spPr>
        <p:txBody>
          <a:bodyPr/>
          <a:lstStyle/>
          <a:p>
            <a:r>
              <a:rPr lang="en-US" dirty="0"/>
              <a:t>The Relationship Between Arrays and </a:t>
            </a:r>
            <a:r>
              <a:rPr lang="en-US" dirty="0" smtClean="0"/>
              <a:t>Pointers</a:t>
            </a:r>
            <a:endParaRPr lang="en-US" dirty="0"/>
          </a:p>
        </p:txBody>
      </p:sp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5181600"/>
            <a:ext cx="7697709" cy="1447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479439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81000" y="2133600"/>
            <a:ext cx="8305799" cy="4648199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The parentheses are critical when adding values to pointers. </a:t>
            </a:r>
            <a:endParaRPr lang="en-US" dirty="0" smtClean="0"/>
          </a:p>
          <a:p>
            <a:pPr algn="just"/>
            <a:r>
              <a:rPr lang="en-US" dirty="0" smtClean="0"/>
              <a:t>The </a:t>
            </a:r>
            <a:r>
              <a:rPr lang="en-US" dirty="0"/>
              <a:t>* operator has precedence over the + operator, so the expression *number + 1 is not equivalent to *(number + 1). </a:t>
            </a:r>
            <a:endParaRPr lang="en-US" dirty="0" smtClean="0"/>
          </a:p>
          <a:p>
            <a:pPr algn="just"/>
            <a:r>
              <a:rPr lang="en-US" dirty="0" smtClean="0"/>
              <a:t>*</a:t>
            </a:r>
            <a:r>
              <a:rPr lang="en-US" dirty="0"/>
              <a:t>number + 1 adds one to the contents of the first element of the array, while *(number + 1) adds one to the address in number, then dereferences it. 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52400" y="381000"/>
            <a:ext cx="8839200" cy="1054250"/>
          </a:xfrm>
        </p:spPr>
        <p:txBody>
          <a:bodyPr/>
          <a:lstStyle/>
          <a:p>
            <a:r>
              <a:rPr lang="en-US" dirty="0"/>
              <a:t>The Relationship Between Arrays and </a:t>
            </a:r>
            <a:r>
              <a:rPr lang="en-US" dirty="0" smtClean="0"/>
              <a:t>Pointers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06976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2"/>
          <p:cNvSpPr txBox="1">
            <a:spLocks/>
          </p:cNvSpPr>
          <p:nvPr/>
        </p:nvSpPr>
        <p:spPr>
          <a:xfrm rot="16200000">
            <a:off x="-2814126" y="2863774"/>
            <a:ext cx="6781801" cy="105425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5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3200" b="1" dirty="0"/>
              <a:t>This program processes an array using pointer notation.</a:t>
            </a:r>
          </a:p>
        </p:txBody>
      </p:sp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7800" y="160707"/>
            <a:ext cx="6546427" cy="6404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536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14900" y="381000"/>
            <a:ext cx="3771900" cy="1676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578182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81000" y="2133600"/>
            <a:ext cx="8305799" cy="4648199"/>
          </a:xfrm>
        </p:spPr>
        <p:txBody>
          <a:bodyPr>
            <a:normAutofit/>
          </a:bodyPr>
          <a:lstStyle/>
          <a:p>
            <a:pPr algn="just"/>
            <a:r>
              <a:rPr lang="en-US" dirty="0" smtClean="0"/>
              <a:t>Address operator(&amp;) </a:t>
            </a:r>
            <a:r>
              <a:rPr lang="en-US" dirty="0"/>
              <a:t>is not needed when an array’s address is assigned to a pointer. Because the name of an array is already an address, use of the &amp; operator would be incorrect. </a:t>
            </a:r>
            <a:endParaRPr lang="en-US" dirty="0" smtClean="0"/>
          </a:p>
          <a:p>
            <a:pPr algn="just"/>
            <a:r>
              <a:rPr lang="en-US" dirty="0" smtClean="0"/>
              <a:t>You </a:t>
            </a:r>
            <a:r>
              <a:rPr lang="en-US" dirty="0"/>
              <a:t>can, however, use the address operator to get the address of an individual element in an array. For instance, &amp;numbers[1] gets the address of numbers[1]. 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52400" y="381000"/>
            <a:ext cx="8839200" cy="1054250"/>
          </a:xfrm>
        </p:spPr>
        <p:txBody>
          <a:bodyPr/>
          <a:lstStyle/>
          <a:p>
            <a:r>
              <a:rPr lang="en-US" dirty="0"/>
              <a:t>The Relationship Between Arrays and </a:t>
            </a:r>
            <a:r>
              <a:rPr lang="en-US" dirty="0" smtClean="0"/>
              <a:t>Pointers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06142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2"/>
          <p:cNvSpPr txBox="1">
            <a:spLocks/>
          </p:cNvSpPr>
          <p:nvPr/>
        </p:nvSpPr>
        <p:spPr>
          <a:xfrm rot="16200000">
            <a:off x="-2814126" y="2863774"/>
            <a:ext cx="6781801" cy="105425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5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b="1" dirty="0" smtClean="0"/>
              <a:t>Example</a:t>
            </a:r>
            <a:endParaRPr lang="en-US" b="1" dirty="0"/>
          </a:p>
        </p:txBody>
      </p:sp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3899" y="228600"/>
            <a:ext cx="7842589" cy="487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638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2526" y="4800600"/>
            <a:ext cx="5226518" cy="137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430239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int</a:t>
            </a:r>
            <a:r>
              <a:rPr lang="en-US" dirty="0" smtClean="0"/>
              <a:t> </a:t>
            </a:r>
            <a:r>
              <a:rPr lang="en-US" dirty="0" err="1"/>
              <a:t>arr</a:t>
            </a:r>
            <a:r>
              <a:rPr lang="en-US" dirty="0"/>
              <a:t>[4] = {11,13,15,18</a:t>
            </a:r>
            <a:r>
              <a:rPr lang="en-US" dirty="0" smtClean="0"/>
              <a:t>};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sv-SE" dirty="0" smtClean="0"/>
          </a:p>
          <a:p>
            <a:r>
              <a:rPr lang="sv-SE" dirty="0" smtClean="0"/>
              <a:t>int </a:t>
            </a:r>
            <a:r>
              <a:rPr lang="sv-SE" dirty="0"/>
              <a:t>*ptr = arr </a:t>
            </a:r>
            <a:endParaRPr lang="sv-SE" dirty="0" smtClean="0"/>
          </a:p>
          <a:p>
            <a:r>
              <a:rPr lang="sv-SE" dirty="0" smtClean="0"/>
              <a:t>int </a:t>
            </a:r>
            <a:r>
              <a:rPr lang="sv-SE" dirty="0"/>
              <a:t>*p1 = &amp;arr[2];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52400" y="381000"/>
            <a:ext cx="8763000" cy="1054250"/>
          </a:xfrm>
        </p:spPr>
        <p:txBody>
          <a:bodyPr/>
          <a:lstStyle/>
          <a:p>
            <a:r>
              <a:rPr lang="en-US" dirty="0"/>
              <a:t>The Relationship Between Arrays and Pointers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0" y="2895600"/>
            <a:ext cx="5181600" cy="11414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8200" y="4873611"/>
            <a:ext cx="3593137" cy="16033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65741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81000" y="2133600"/>
            <a:ext cx="8305799" cy="4648199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Some mathematical operations may be performed on pointers.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52400" y="381000"/>
            <a:ext cx="8839200" cy="1054250"/>
          </a:xfrm>
        </p:spPr>
        <p:txBody>
          <a:bodyPr/>
          <a:lstStyle/>
          <a:p>
            <a:r>
              <a:rPr lang="en-US" dirty="0"/>
              <a:t>Pointer </a:t>
            </a:r>
            <a:r>
              <a:rPr lang="en-US" dirty="0" smtClean="0"/>
              <a:t>Arithmetic</a:t>
            </a:r>
            <a:endParaRPr lang="en-US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399" y="3058918"/>
            <a:ext cx="6771777" cy="37990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2222" y="3815459"/>
            <a:ext cx="337185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146563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b="1" dirty="0" smtClean="0"/>
          </a:p>
          <a:p>
            <a:r>
              <a:rPr lang="en-US" b="1" dirty="0" smtClean="0"/>
              <a:t>Write </a:t>
            </a:r>
            <a:r>
              <a:rPr lang="en-US" b="1" dirty="0"/>
              <a:t>a code to print an array in a reverse order using pointers.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Task</a:t>
            </a:r>
            <a:endParaRPr lang="en-US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6368" y="3886200"/>
            <a:ext cx="6944632" cy="581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087651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304800"/>
            <a:ext cx="5181600" cy="5696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95887" y="5010150"/>
            <a:ext cx="3262313" cy="857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994312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81000" y="2133600"/>
            <a:ext cx="8305799" cy="4648199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Not all arithmetic operations may be performed on pointers. For example, you cannot multiply or divide a pointer. </a:t>
            </a:r>
            <a:endParaRPr lang="en-US" dirty="0" smtClean="0"/>
          </a:p>
          <a:p>
            <a:pPr algn="just"/>
            <a:r>
              <a:rPr lang="en-US" dirty="0" smtClean="0"/>
              <a:t>The </a:t>
            </a:r>
            <a:r>
              <a:rPr lang="en-US" dirty="0"/>
              <a:t>following operations are </a:t>
            </a:r>
            <a:r>
              <a:rPr lang="en-US" dirty="0" smtClean="0"/>
              <a:t>allowable:</a:t>
            </a:r>
          </a:p>
          <a:p>
            <a:pPr marL="708660" indent="-342900" algn="just">
              <a:buFont typeface="Arial" pitchFamily="34" charset="0"/>
              <a:buChar char="•"/>
            </a:pPr>
            <a:r>
              <a:rPr lang="en-US" dirty="0" smtClean="0"/>
              <a:t>The </a:t>
            </a:r>
            <a:r>
              <a:rPr lang="en-US" dirty="0"/>
              <a:t>++ and −− operators may be used to increment or decrement a pointer </a:t>
            </a:r>
            <a:r>
              <a:rPr lang="en-US" dirty="0" smtClean="0"/>
              <a:t>variable.</a:t>
            </a:r>
          </a:p>
          <a:p>
            <a:pPr marL="708660" indent="-342900" algn="just">
              <a:buFont typeface="Arial" pitchFamily="34" charset="0"/>
              <a:buChar char="•"/>
            </a:pPr>
            <a:r>
              <a:rPr lang="en-US" dirty="0" smtClean="0"/>
              <a:t>An </a:t>
            </a:r>
            <a:r>
              <a:rPr lang="en-US" dirty="0"/>
              <a:t>integer may be added to or subtracted from a pointer variable. This may be performed with the + and − operators, or the += and −= </a:t>
            </a:r>
            <a:r>
              <a:rPr lang="en-US" dirty="0" smtClean="0"/>
              <a:t>operators.</a:t>
            </a:r>
          </a:p>
          <a:p>
            <a:pPr marL="708660" indent="-342900" algn="just">
              <a:buFont typeface="Arial" pitchFamily="34" charset="0"/>
              <a:buChar char="•"/>
            </a:pPr>
            <a:r>
              <a:rPr lang="en-US" dirty="0" smtClean="0"/>
              <a:t>A </a:t>
            </a:r>
            <a:r>
              <a:rPr lang="en-US" dirty="0"/>
              <a:t>pointer may be subtracted from another pointer. 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52400" y="381000"/>
            <a:ext cx="8839200" cy="1054250"/>
          </a:xfrm>
        </p:spPr>
        <p:txBody>
          <a:bodyPr/>
          <a:lstStyle/>
          <a:p>
            <a:r>
              <a:rPr lang="en-US" dirty="0"/>
              <a:t>Pointer </a:t>
            </a:r>
            <a:r>
              <a:rPr lang="en-US" dirty="0" smtClean="0"/>
              <a:t>Arithmetic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94643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2"/>
          <p:cNvSpPr txBox="1">
            <a:spLocks/>
          </p:cNvSpPr>
          <p:nvPr/>
        </p:nvSpPr>
        <p:spPr>
          <a:xfrm rot="16200000">
            <a:off x="-2814126" y="2863774"/>
            <a:ext cx="6781801" cy="105425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5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b="1" dirty="0" smtClean="0"/>
              <a:t>What is the output? </a:t>
            </a:r>
            <a:endParaRPr lang="en-US" b="1" dirty="0"/>
          </a:p>
        </p:txBody>
      </p:sp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0" y="304800"/>
            <a:ext cx="5477039" cy="61638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741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2800" y="4953000"/>
            <a:ext cx="838200" cy="1327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382245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2"/>
          <p:cNvSpPr txBox="1">
            <a:spLocks/>
          </p:cNvSpPr>
          <p:nvPr/>
        </p:nvSpPr>
        <p:spPr>
          <a:xfrm rot="16200000">
            <a:off x="-2814126" y="2863774"/>
            <a:ext cx="6781801" cy="105425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5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b="1" dirty="0" smtClean="0"/>
              <a:t>What is the output? </a:t>
            </a:r>
            <a:endParaRPr lang="en-US" b="1" dirty="0"/>
          </a:p>
        </p:txBody>
      </p:sp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3899" y="242668"/>
            <a:ext cx="7806885" cy="41769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843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200" y="4724400"/>
            <a:ext cx="6337829" cy="552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709315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81000" y="2133600"/>
            <a:ext cx="8305799" cy="4648199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Pointers may be initialized with the address of an existing object. </a:t>
            </a:r>
            <a:endParaRPr lang="en-US" dirty="0" smtClean="0"/>
          </a:p>
          <a:p>
            <a:pPr algn="just"/>
            <a:r>
              <a:rPr lang="en-US" dirty="0" smtClean="0"/>
              <a:t>Following are the legal definitions: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52400" y="381000"/>
            <a:ext cx="8839200" cy="1054250"/>
          </a:xfrm>
        </p:spPr>
        <p:txBody>
          <a:bodyPr/>
          <a:lstStyle/>
          <a:p>
            <a:r>
              <a:rPr lang="en-US" dirty="0"/>
              <a:t>Initializing </a:t>
            </a:r>
            <a:r>
              <a:rPr lang="en-US" dirty="0" smtClean="0"/>
              <a:t>Pointers</a:t>
            </a:r>
            <a:endParaRPr lang="en-US" dirty="0"/>
          </a:p>
        </p:txBody>
      </p:sp>
      <p:pic>
        <p:nvPicPr>
          <p:cNvPr id="1945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8400" y="3581400"/>
            <a:ext cx="3581400" cy="8345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945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0800" y="4637648"/>
            <a:ext cx="2819400" cy="7840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9460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200" y="5715000"/>
            <a:ext cx="5486400" cy="5754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662298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81000" y="2133600"/>
            <a:ext cx="8305799" cy="4648199"/>
          </a:xfrm>
        </p:spPr>
        <p:txBody>
          <a:bodyPr>
            <a:normAutofit/>
          </a:bodyPr>
          <a:lstStyle/>
          <a:p>
            <a:pPr algn="just"/>
            <a:endParaRPr lang="en-US" dirty="0" smtClean="0"/>
          </a:p>
          <a:p>
            <a:pPr algn="just"/>
            <a:endParaRPr lang="en-US" dirty="0"/>
          </a:p>
          <a:p>
            <a:pPr algn="just"/>
            <a:r>
              <a:rPr lang="en-US" dirty="0"/>
              <a:t>The following is illegal because pint is being initialized with the address of an object that does not exist yet: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52400" y="381000"/>
            <a:ext cx="8839200" cy="1054250"/>
          </a:xfrm>
        </p:spPr>
        <p:txBody>
          <a:bodyPr/>
          <a:lstStyle/>
          <a:p>
            <a:r>
              <a:rPr lang="en-US" dirty="0"/>
              <a:t>Initializing </a:t>
            </a:r>
            <a:r>
              <a:rPr lang="en-US" dirty="0" smtClean="0"/>
              <a:t>Pointers</a:t>
            </a:r>
            <a:endParaRPr lang="en-US" dirty="0"/>
          </a:p>
        </p:txBody>
      </p:sp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2438400"/>
            <a:ext cx="6480066" cy="528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48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8827" y="3943350"/>
            <a:ext cx="5473212" cy="857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852675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81000" y="2133600"/>
            <a:ext cx="8305799" cy="4648199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Assume pint is a pointer variable. Is each of the following statements valid or invalid? If any is invalid, why? </a:t>
            </a:r>
            <a:endParaRPr lang="en-US" dirty="0" smtClean="0"/>
          </a:p>
          <a:p>
            <a:pPr marL="914400" indent="-457200" algn="just">
              <a:buFont typeface="+mj-lt"/>
              <a:buAutoNum type="alphaUcPeriod"/>
            </a:pPr>
            <a:r>
              <a:rPr lang="en-US" dirty="0"/>
              <a:t>pint</a:t>
            </a:r>
            <a:r>
              <a:rPr lang="en-US" dirty="0" smtClean="0"/>
              <a:t>++;</a:t>
            </a:r>
          </a:p>
          <a:p>
            <a:pPr marL="914400" indent="0" algn="just">
              <a:buNone/>
            </a:pPr>
            <a:r>
              <a:rPr lang="en-US" b="1" dirty="0"/>
              <a:t>Valid.</a:t>
            </a:r>
            <a:r>
              <a:rPr lang="en-US" dirty="0"/>
              <a:t> </a:t>
            </a:r>
            <a:endParaRPr lang="en-US" dirty="0" smtClean="0"/>
          </a:p>
          <a:p>
            <a:pPr marL="914400" indent="-457200" algn="just">
              <a:buFont typeface="+mj-lt"/>
              <a:buAutoNum type="alphaUcPeriod" startAt="2"/>
            </a:pPr>
            <a:r>
              <a:rPr lang="en-US" dirty="0"/>
              <a:t>--pint</a:t>
            </a:r>
            <a:r>
              <a:rPr lang="en-US" dirty="0" smtClean="0"/>
              <a:t>;</a:t>
            </a:r>
          </a:p>
          <a:p>
            <a:pPr marL="914400" indent="0" algn="just">
              <a:buNone/>
            </a:pPr>
            <a:r>
              <a:rPr lang="en-US" b="1" dirty="0"/>
              <a:t>Valid.</a:t>
            </a:r>
            <a:r>
              <a:rPr lang="en-US" dirty="0"/>
              <a:t> </a:t>
            </a:r>
            <a:endParaRPr lang="en-US" dirty="0" smtClean="0"/>
          </a:p>
          <a:p>
            <a:pPr marL="914400" indent="-457200" algn="just">
              <a:buFont typeface="+mj-lt"/>
              <a:buAutoNum type="alphaUcPeriod" startAt="3"/>
            </a:pPr>
            <a:r>
              <a:rPr lang="en-US" dirty="0"/>
              <a:t>pint /= 2</a:t>
            </a:r>
            <a:r>
              <a:rPr lang="en-US" dirty="0" smtClean="0"/>
              <a:t>;</a:t>
            </a:r>
          </a:p>
          <a:p>
            <a:pPr marL="914400" indent="0" algn="just">
              <a:buNone/>
            </a:pPr>
            <a:r>
              <a:rPr lang="en-US" b="1" dirty="0"/>
              <a:t>Invalid.</a:t>
            </a:r>
            <a:r>
              <a:rPr lang="en-US" dirty="0"/>
              <a:t> </a:t>
            </a:r>
            <a:endParaRPr lang="en-US" dirty="0" smtClean="0"/>
          </a:p>
          <a:p>
            <a:pPr marL="914400" indent="0" algn="just">
              <a:buNone/>
            </a:pPr>
            <a:r>
              <a:rPr lang="en-US" dirty="0"/>
              <a:t>Division assignment (/=) is not defined for pointers in C++. You cannot divide a pointer by an integer.</a:t>
            </a:r>
          </a:p>
          <a:p>
            <a:pPr marL="914400" indent="0" algn="just">
              <a:buNone/>
            </a:pP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52400" y="381000"/>
            <a:ext cx="8839200" cy="1054250"/>
          </a:xfrm>
        </p:spPr>
        <p:txBody>
          <a:bodyPr/>
          <a:lstStyle/>
          <a:p>
            <a:r>
              <a:rPr lang="en-US" dirty="0" smtClean="0"/>
              <a:t>Class Activity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29491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81000" y="2133600"/>
            <a:ext cx="8305799" cy="4648199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Assume pint is a pointer variable. Is each of the following statements valid or invalid? If any is invalid, why? </a:t>
            </a:r>
            <a:endParaRPr lang="en-US" dirty="0" smtClean="0"/>
          </a:p>
          <a:p>
            <a:pPr marL="914400" indent="-457200" algn="just">
              <a:buFont typeface="+mj-lt"/>
              <a:buAutoNum type="alphaUcPeriod" startAt="4"/>
            </a:pPr>
            <a:r>
              <a:rPr lang="en-US" dirty="0"/>
              <a:t>pint *= 4;</a:t>
            </a:r>
            <a:endParaRPr lang="en-US" dirty="0" smtClean="0"/>
          </a:p>
          <a:p>
            <a:pPr marL="914400" indent="0" algn="just">
              <a:buNone/>
            </a:pPr>
            <a:r>
              <a:rPr lang="en-US" b="1" dirty="0" smtClean="0"/>
              <a:t>Invalid.</a:t>
            </a:r>
            <a:r>
              <a:rPr lang="en-US" dirty="0" smtClean="0"/>
              <a:t> </a:t>
            </a:r>
          </a:p>
          <a:p>
            <a:pPr marL="914400" indent="0" algn="just">
              <a:buNone/>
            </a:pPr>
            <a:r>
              <a:rPr lang="en-US" dirty="0"/>
              <a:t>Multiplication assignment (*=) is also not defined for pointers. You cannot multiply a pointer by an integer</a:t>
            </a:r>
            <a:r>
              <a:rPr lang="en-US" dirty="0" smtClean="0"/>
              <a:t>.</a:t>
            </a:r>
          </a:p>
          <a:p>
            <a:pPr marL="914400" indent="-457200" algn="just">
              <a:buFont typeface="+mj-lt"/>
              <a:buAutoNum type="alphaUcPeriod" startAt="5"/>
            </a:pPr>
            <a:r>
              <a:rPr lang="en-US" dirty="0"/>
              <a:t>pint += x; (where x is an </a:t>
            </a:r>
            <a:r>
              <a:rPr lang="en-US" dirty="0" err="1"/>
              <a:t>int</a:t>
            </a:r>
            <a:r>
              <a:rPr lang="en-US" dirty="0"/>
              <a:t>)</a:t>
            </a:r>
            <a:endParaRPr lang="en-US" dirty="0" smtClean="0"/>
          </a:p>
          <a:p>
            <a:pPr marL="914400" indent="0" algn="just">
              <a:buNone/>
            </a:pPr>
            <a:r>
              <a:rPr lang="en-US" b="1" dirty="0"/>
              <a:t>Valid.</a:t>
            </a:r>
            <a:r>
              <a:rPr lang="en-US" dirty="0"/>
              <a:t> </a:t>
            </a:r>
            <a:endParaRPr lang="en-US" dirty="0" smtClean="0"/>
          </a:p>
          <a:p>
            <a:pPr marL="914400" indent="0" algn="just">
              <a:buNone/>
            </a:pP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52400" y="381000"/>
            <a:ext cx="8839200" cy="1054250"/>
          </a:xfrm>
        </p:spPr>
        <p:txBody>
          <a:bodyPr/>
          <a:lstStyle/>
          <a:p>
            <a:r>
              <a:rPr lang="en-US" dirty="0" smtClean="0"/>
              <a:t>Class Activity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64285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81000" y="2133600"/>
            <a:ext cx="8305799" cy="4648199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en-US" dirty="0"/>
              <a:t>Is each of the following definitions valid or invalid? If any is invalid, why? </a:t>
            </a:r>
            <a:endParaRPr lang="en-US" dirty="0" smtClean="0"/>
          </a:p>
          <a:p>
            <a:pPr marL="914400" indent="-457200" algn="just">
              <a:buFont typeface="+mj-lt"/>
              <a:buAutoNum type="alphaUcPeriod"/>
            </a:pPr>
            <a:r>
              <a:rPr lang="en-US" dirty="0" err="1"/>
              <a:t>int</a:t>
            </a:r>
            <a:r>
              <a:rPr lang="en-US" dirty="0"/>
              <a:t> </a:t>
            </a:r>
            <a:r>
              <a:rPr lang="en-US" dirty="0" err="1"/>
              <a:t>ivar</a:t>
            </a:r>
            <a:r>
              <a:rPr lang="en-US" dirty="0"/>
              <a:t>; </a:t>
            </a:r>
            <a:endParaRPr lang="en-US" dirty="0" smtClean="0"/>
          </a:p>
          <a:p>
            <a:pPr marL="914400" indent="0" algn="just">
              <a:buNone/>
            </a:pPr>
            <a:r>
              <a:rPr lang="en-US" dirty="0" err="1" smtClean="0"/>
              <a:t>int</a:t>
            </a:r>
            <a:r>
              <a:rPr lang="en-US" dirty="0" smtClean="0"/>
              <a:t> </a:t>
            </a:r>
            <a:r>
              <a:rPr lang="en-US" dirty="0"/>
              <a:t>*</a:t>
            </a:r>
            <a:r>
              <a:rPr lang="en-US" dirty="0" err="1"/>
              <a:t>iptr</a:t>
            </a:r>
            <a:r>
              <a:rPr lang="en-US" dirty="0"/>
              <a:t> = &amp;</a:t>
            </a:r>
            <a:r>
              <a:rPr lang="en-US" dirty="0" err="1"/>
              <a:t>ivar</a:t>
            </a:r>
            <a:r>
              <a:rPr lang="en-US" dirty="0"/>
              <a:t>;</a:t>
            </a:r>
            <a:endParaRPr lang="en-US" dirty="0" smtClean="0"/>
          </a:p>
          <a:p>
            <a:pPr marL="914400" indent="0" algn="just">
              <a:buNone/>
            </a:pPr>
            <a:r>
              <a:rPr lang="en-US" b="1" dirty="0"/>
              <a:t>V</a:t>
            </a:r>
            <a:r>
              <a:rPr lang="en-US" b="1" dirty="0" smtClean="0"/>
              <a:t>alid.</a:t>
            </a:r>
            <a:r>
              <a:rPr lang="en-US" dirty="0" smtClean="0"/>
              <a:t> </a:t>
            </a:r>
          </a:p>
          <a:p>
            <a:pPr marL="914400" indent="-457200" algn="just">
              <a:buFont typeface="+mj-lt"/>
              <a:buAutoNum type="alphaUcPeriod" startAt="2"/>
            </a:pPr>
            <a:r>
              <a:rPr lang="en-US" dirty="0" err="1"/>
              <a:t>int</a:t>
            </a:r>
            <a:r>
              <a:rPr lang="en-US" dirty="0"/>
              <a:t> </a:t>
            </a:r>
            <a:r>
              <a:rPr lang="en-US" dirty="0" err="1"/>
              <a:t>ivar</a:t>
            </a:r>
            <a:r>
              <a:rPr lang="en-US" dirty="0"/>
              <a:t>, *</a:t>
            </a:r>
            <a:r>
              <a:rPr lang="en-US" dirty="0" err="1"/>
              <a:t>iptr</a:t>
            </a:r>
            <a:r>
              <a:rPr lang="en-US" dirty="0"/>
              <a:t> = &amp;</a:t>
            </a:r>
            <a:r>
              <a:rPr lang="en-US" dirty="0" err="1"/>
              <a:t>ivar</a:t>
            </a:r>
            <a:r>
              <a:rPr lang="en-US" dirty="0"/>
              <a:t>;</a:t>
            </a:r>
            <a:endParaRPr lang="en-US" dirty="0" smtClean="0"/>
          </a:p>
          <a:p>
            <a:pPr marL="914400" indent="0" algn="just">
              <a:buNone/>
            </a:pPr>
            <a:r>
              <a:rPr lang="en-US" b="1" dirty="0" smtClean="0"/>
              <a:t>Valid.</a:t>
            </a:r>
            <a:r>
              <a:rPr lang="en-US" dirty="0" smtClean="0"/>
              <a:t> </a:t>
            </a:r>
          </a:p>
          <a:p>
            <a:pPr marL="914400" indent="-457200" algn="just">
              <a:buFont typeface="+mj-lt"/>
              <a:buAutoNum type="alphaUcPeriod" startAt="3"/>
            </a:pPr>
            <a:r>
              <a:rPr lang="en-US" dirty="0"/>
              <a:t> float </a:t>
            </a:r>
            <a:r>
              <a:rPr lang="en-US" dirty="0" err="1"/>
              <a:t>fvar</a:t>
            </a:r>
            <a:r>
              <a:rPr lang="en-US" dirty="0"/>
              <a:t>;</a:t>
            </a:r>
          </a:p>
          <a:p>
            <a:pPr marL="1005840" indent="0" algn="just">
              <a:buNone/>
            </a:pPr>
            <a:r>
              <a:rPr lang="en-US" dirty="0" err="1" smtClean="0"/>
              <a:t>int</a:t>
            </a:r>
            <a:r>
              <a:rPr lang="en-US" dirty="0" smtClean="0"/>
              <a:t> </a:t>
            </a:r>
            <a:r>
              <a:rPr lang="en-US" dirty="0"/>
              <a:t>*</a:t>
            </a:r>
            <a:r>
              <a:rPr lang="en-US" dirty="0" err="1"/>
              <a:t>iptr</a:t>
            </a:r>
            <a:r>
              <a:rPr lang="en-US" dirty="0"/>
              <a:t> = &amp;</a:t>
            </a:r>
            <a:r>
              <a:rPr lang="en-US" dirty="0" err="1"/>
              <a:t>fvar</a:t>
            </a:r>
            <a:r>
              <a:rPr lang="en-US" dirty="0" smtClean="0"/>
              <a:t>;</a:t>
            </a:r>
          </a:p>
          <a:p>
            <a:pPr marL="1005840" indent="0" algn="just">
              <a:buNone/>
            </a:pPr>
            <a:r>
              <a:rPr lang="en-US" b="1" dirty="0" smtClean="0"/>
              <a:t>Invalid</a:t>
            </a:r>
            <a:r>
              <a:rPr lang="en-US" b="1" dirty="0"/>
              <a:t>.</a:t>
            </a:r>
            <a:r>
              <a:rPr lang="en-US" dirty="0"/>
              <a:t> </a:t>
            </a:r>
            <a:endParaRPr lang="en-US" dirty="0" smtClean="0"/>
          </a:p>
          <a:p>
            <a:pPr marL="1005840" indent="0" algn="just">
              <a:buNone/>
            </a:pPr>
            <a:r>
              <a:rPr lang="en-US" dirty="0"/>
              <a:t>Assigning float* to </a:t>
            </a:r>
            <a:r>
              <a:rPr lang="en-US" dirty="0" err="1"/>
              <a:t>int</a:t>
            </a:r>
            <a:r>
              <a:rPr lang="en-US" dirty="0"/>
              <a:t>* is invalid </a:t>
            </a:r>
            <a:r>
              <a:rPr lang="en-US" dirty="0" smtClean="0"/>
              <a:t>because </a:t>
            </a:r>
            <a:r>
              <a:rPr lang="en-US" dirty="0"/>
              <a:t>they are incompatible pointer types.</a:t>
            </a:r>
          </a:p>
          <a:p>
            <a:pPr marL="1005840" indent="0" algn="just">
              <a:buNone/>
            </a:pPr>
            <a:endParaRPr lang="en-US" dirty="0"/>
          </a:p>
          <a:p>
            <a:pPr marL="1005840" indent="0" algn="just">
              <a:buNone/>
            </a:pPr>
            <a:endParaRPr lang="en-US" dirty="0" smtClean="0"/>
          </a:p>
          <a:p>
            <a:pPr marL="914400" indent="0" algn="just">
              <a:buNone/>
            </a:pP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52400" y="381000"/>
            <a:ext cx="8839200" cy="1054250"/>
          </a:xfrm>
        </p:spPr>
        <p:txBody>
          <a:bodyPr/>
          <a:lstStyle/>
          <a:p>
            <a:r>
              <a:rPr lang="en-US" dirty="0" smtClean="0"/>
              <a:t>Class Activity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42902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81000" y="2133600"/>
            <a:ext cx="8305799" cy="4648199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Is each of the following definitions valid or invalid? If any is invalid, why? </a:t>
            </a:r>
            <a:endParaRPr lang="en-US" dirty="0" smtClean="0"/>
          </a:p>
          <a:p>
            <a:pPr marL="914400" indent="-457200" algn="just">
              <a:buFont typeface="+mj-lt"/>
              <a:buAutoNum type="alphaUcPeriod" startAt="4"/>
            </a:pPr>
            <a:r>
              <a:rPr lang="en-US" dirty="0" err="1"/>
              <a:t>int</a:t>
            </a:r>
            <a:r>
              <a:rPr lang="en-US" dirty="0"/>
              <a:t> </a:t>
            </a:r>
            <a:r>
              <a:rPr lang="en-US" dirty="0" err="1"/>
              <a:t>nums</a:t>
            </a:r>
            <a:r>
              <a:rPr lang="en-US" dirty="0"/>
              <a:t>[50], *</a:t>
            </a:r>
            <a:r>
              <a:rPr lang="en-US" dirty="0" err="1"/>
              <a:t>iptr</a:t>
            </a:r>
            <a:r>
              <a:rPr lang="en-US" dirty="0"/>
              <a:t> = </a:t>
            </a:r>
            <a:r>
              <a:rPr lang="en-US" dirty="0" err="1"/>
              <a:t>nums</a:t>
            </a:r>
            <a:r>
              <a:rPr lang="en-US" dirty="0"/>
              <a:t>; </a:t>
            </a:r>
            <a:endParaRPr lang="en-US" dirty="0" smtClean="0"/>
          </a:p>
          <a:p>
            <a:pPr marL="914400" indent="0" algn="just">
              <a:buNone/>
            </a:pPr>
            <a:r>
              <a:rPr lang="en-US" b="1" dirty="0"/>
              <a:t>V</a:t>
            </a:r>
            <a:r>
              <a:rPr lang="en-US" b="1" dirty="0" smtClean="0"/>
              <a:t>alid.</a:t>
            </a:r>
            <a:r>
              <a:rPr lang="en-US" dirty="0" smtClean="0"/>
              <a:t> </a:t>
            </a:r>
          </a:p>
          <a:p>
            <a:pPr marL="914400" indent="-457200" algn="just">
              <a:buFont typeface="+mj-lt"/>
              <a:buAutoNum type="alphaUcPeriod" startAt="5"/>
            </a:pPr>
            <a:r>
              <a:rPr lang="en-US" dirty="0" err="1"/>
              <a:t>int</a:t>
            </a:r>
            <a:r>
              <a:rPr lang="en-US" dirty="0"/>
              <a:t> *</a:t>
            </a:r>
            <a:r>
              <a:rPr lang="en-US" dirty="0" err="1"/>
              <a:t>iptr</a:t>
            </a:r>
            <a:r>
              <a:rPr lang="en-US" dirty="0"/>
              <a:t> = &amp;</a:t>
            </a:r>
            <a:r>
              <a:rPr lang="en-US" dirty="0" err="1"/>
              <a:t>ivar</a:t>
            </a:r>
            <a:r>
              <a:rPr lang="en-US" dirty="0"/>
              <a:t>; </a:t>
            </a:r>
            <a:endParaRPr lang="en-US" dirty="0" smtClean="0"/>
          </a:p>
          <a:p>
            <a:pPr marL="914400" indent="0" algn="just">
              <a:buNone/>
            </a:pPr>
            <a:r>
              <a:rPr lang="en-US" dirty="0" err="1" smtClean="0"/>
              <a:t>int</a:t>
            </a:r>
            <a:r>
              <a:rPr lang="en-US" dirty="0" smtClean="0"/>
              <a:t> </a:t>
            </a:r>
            <a:r>
              <a:rPr lang="en-US" dirty="0" err="1"/>
              <a:t>ivar</a:t>
            </a:r>
            <a:r>
              <a:rPr lang="en-US" dirty="0"/>
              <a:t>;</a:t>
            </a:r>
            <a:endParaRPr lang="en-US" dirty="0" smtClean="0"/>
          </a:p>
          <a:p>
            <a:pPr marL="914400" indent="0" algn="just">
              <a:buNone/>
            </a:pPr>
            <a:r>
              <a:rPr lang="en-US" b="1" dirty="0" smtClean="0"/>
              <a:t>Invalid.</a:t>
            </a:r>
            <a:r>
              <a:rPr lang="en-US" dirty="0" smtClean="0"/>
              <a:t> </a:t>
            </a:r>
          </a:p>
          <a:p>
            <a:pPr marL="914400" indent="0" algn="just">
              <a:buNone/>
            </a:pPr>
            <a:r>
              <a:rPr lang="en-US" dirty="0" smtClean="0"/>
              <a:t>You </a:t>
            </a:r>
            <a:r>
              <a:rPr lang="en-US" dirty="0"/>
              <a:t>can't take the address of a variable that hasn't been declared yet</a:t>
            </a:r>
            <a:r>
              <a:rPr lang="en-US" dirty="0" smtClean="0"/>
              <a:t>. </a:t>
            </a:r>
            <a:r>
              <a:rPr lang="en-US" dirty="0"/>
              <a:t>T</a:t>
            </a:r>
            <a:r>
              <a:rPr lang="en-US" dirty="0" smtClean="0"/>
              <a:t>he </a:t>
            </a:r>
            <a:r>
              <a:rPr lang="en-US" dirty="0"/>
              <a:t>compiler needs to see </a:t>
            </a:r>
            <a:r>
              <a:rPr lang="en-US" dirty="0" err="1"/>
              <a:t>int</a:t>
            </a:r>
            <a:r>
              <a:rPr lang="en-US" dirty="0"/>
              <a:t> </a:t>
            </a:r>
            <a:r>
              <a:rPr lang="en-US" dirty="0" err="1"/>
              <a:t>ivar</a:t>
            </a:r>
            <a:r>
              <a:rPr lang="en-US" dirty="0"/>
              <a:t>; </a:t>
            </a:r>
            <a:r>
              <a:rPr lang="en-US" b="1" dirty="0"/>
              <a:t>before</a:t>
            </a:r>
            <a:r>
              <a:rPr lang="en-US" dirty="0"/>
              <a:t> you use &amp;</a:t>
            </a:r>
            <a:r>
              <a:rPr lang="en-US" dirty="0" err="1"/>
              <a:t>ivar</a:t>
            </a:r>
            <a:r>
              <a:rPr lang="en-US" dirty="0"/>
              <a:t>.</a:t>
            </a:r>
          </a:p>
          <a:p>
            <a:pPr marL="1005840" indent="0" algn="just">
              <a:buNone/>
            </a:pPr>
            <a:endParaRPr lang="en-US" dirty="0"/>
          </a:p>
          <a:p>
            <a:pPr marL="1005840" indent="0" algn="just">
              <a:buNone/>
            </a:pPr>
            <a:endParaRPr lang="en-US" dirty="0"/>
          </a:p>
          <a:p>
            <a:pPr marL="1005840" indent="0" algn="just">
              <a:buNone/>
            </a:pPr>
            <a:endParaRPr lang="en-US" dirty="0" smtClean="0"/>
          </a:p>
          <a:p>
            <a:pPr marL="914400" indent="0" algn="just">
              <a:buNone/>
            </a:pP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52400" y="381000"/>
            <a:ext cx="8839200" cy="1054250"/>
          </a:xfrm>
        </p:spPr>
        <p:txBody>
          <a:bodyPr/>
          <a:lstStyle/>
          <a:p>
            <a:r>
              <a:rPr lang="en-US" dirty="0" smtClean="0"/>
              <a:t>Class Activity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29440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Next Lecture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Reference Variable</a:t>
            </a:r>
          </a:p>
          <a:p>
            <a:r>
              <a:rPr lang="en-US" dirty="0" smtClean="0"/>
              <a:t>Double Pointers</a:t>
            </a:r>
          </a:p>
          <a:p>
            <a:r>
              <a:rPr lang="en-US" dirty="0" smtClean="0"/>
              <a:t>Dynamic memory Allocation</a:t>
            </a:r>
          </a:p>
        </p:txBody>
      </p:sp>
    </p:spTree>
    <p:extLst>
      <p:ext uri="{BB962C8B-B14F-4D97-AF65-F5344CB8AC3E}">
        <p14:creationId xmlns:p14="http://schemas.microsoft.com/office/powerpoint/2010/main" val="30033589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Hardcover">
  <a:themeElements>
    <a:clrScheme name="Hardcover">
      <a:dk1>
        <a:sysClr val="windowText" lastClr="000000"/>
      </a:dk1>
      <a:lt1>
        <a:sysClr val="window" lastClr="FFFFFF"/>
      </a:lt1>
      <a:dk2>
        <a:srgbClr val="895D1D"/>
      </a:dk2>
      <a:lt2>
        <a:srgbClr val="ECE9C6"/>
      </a:lt2>
      <a:accent1>
        <a:srgbClr val="873624"/>
      </a:accent1>
      <a:accent2>
        <a:srgbClr val="D6862D"/>
      </a:accent2>
      <a:accent3>
        <a:srgbClr val="D0BE40"/>
      </a:accent3>
      <a:accent4>
        <a:srgbClr val="877F6C"/>
      </a:accent4>
      <a:accent5>
        <a:srgbClr val="972109"/>
      </a:accent5>
      <a:accent6>
        <a:srgbClr val="AEB795"/>
      </a:accent6>
      <a:hlink>
        <a:srgbClr val="CC9900"/>
      </a:hlink>
      <a:folHlink>
        <a:srgbClr val="B2B2B2"/>
      </a:folHlink>
    </a:clrScheme>
    <a:fontScheme name="Hardcover">
      <a:majorFont>
        <a:latin typeface="Book Antiqua"/>
        <a:ea typeface=""/>
        <a:cs typeface=""/>
        <a:font script="Grek" typeface="Times New Roman"/>
        <a:font script="Cyrl" typeface="Times New Roman"/>
        <a:font script="Jpan" typeface="HGS明朝E"/>
        <a:font script="Hang" typeface="궁서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Book Antiqua"/>
        <a:ea typeface=""/>
        <a:cs typeface=""/>
        <a:font script="Grek" typeface="Times New Roman"/>
        <a:font script="Cyrl" typeface="Times New Roman"/>
        <a:font script="Jpan" typeface="HGS明朝E"/>
        <a:font script="Hang" typeface="돋움"/>
        <a:font script="Hans" typeface="宋体"/>
        <a:font script="Hant" typeface="新細明體"/>
        <a:font script="Arab" typeface="Times New Roman"/>
        <a:font script="Hebr" typeface="David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Hardcover">
      <a:fillStyleLst>
        <a:solidFill>
          <a:schemeClr val="phClr"/>
        </a:solidFill>
        <a:solidFill>
          <a:schemeClr val="phClr">
            <a:tint val="68000"/>
            <a:shade val="94000"/>
            <a:satMod val="300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80000"/>
                <a:lumMod val="98000"/>
              </a:schemeClr>
            </a:gs>
            <a:gs pos="100000">
              <a:schemeClr val="phClr">
                <a:satMod val="130000"/>
              </a:schemeClr>
            </a:gs>
          </a:gsLst>
          <a:lin ang="5160000" scaled="0"/>
        </a:gradFill>
      </a:fillStyleLst>
      <a:lnStyleLst>
        <a:ln w="12700" cap="flat" cmpd="sng" algn="ctr">
          <a:solidFill>
            <a:schemeClr val="phClr">
              <a:shade val="90000"/>
              <a:lumMod val="90000"/>
            </a:schemeClr>
          </a:solidFill>
          <a:prstDash val="solid"/>
        </a:ln>
        <a:ln w="19050" cap="flat" cmpd="sng" algn="ctr">
          <a:solidFill>
            <a:schemeClr val="phClr">
              <a:shade val="75000"/>
              <a:lumMod val="9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12700" dir="5400000" rotWithShape="0">
              <a:srgbClr val="000000">
                <a:alpha val="1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6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400000"/>
            </a:lightRig>
          </a:scene3d>
          <a:sp3d>
            <a:bevelT w="25400" h="25400"/>
          </a:sp3d>
        </a:effectStyle>
      </a:effectStyleLst>
      <a:bgFillStyleLst>
        <a:solidFill>
          <a:schemeClr val="phClr">
            <a:tint val="96000"/>
            <a:lumMod val="11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3000"/>
                <a:shade val="20000"/>
              </a:schemeClr>
              <a:schemeClr val="phClr">
                <a:tint val="90000"/>
                <a:shade val="85000"/>
                <a:satMod val="115000"/>
              </a:schemeClr>
            </a:duotone>
          </a:blip>
          <a:tile tx="0" ty="0" sx="60000" sy="60000" flip="none" algn="tl"/>
        </a:blipFill>
        <a:blipFill rotWithShape="1">
          <a:blip xmlns:r="http://schemas.openxmlformats.org/officeDocument/2006/relationships" r:embed="rId2">
            <a:duotone>
              <a:schemeClr val="phClr">
                <a:shade val="50000"/>
                <a:satMod val="340000"/>
                <a:lumMod val="40000"/>
              </a:schemeClr>
              <a:schemeClr val="phClr">
                <a:tint val="92000"/>
                <a:shade val="94000"/>
                <a:hueMod val="110000"/>
                <a:satMod val="236000"/>
                <a:lumMod val="120000"/>
              </a:schemeClr>
            </a:duotone>
          </a:blip>
          <a:stretch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Hardcover</Template>
  <TotalTime>4220</TotalTime>
  <Words>797</Words>
  <Application>Microsoft Office PowerPoint</Application>
  <PresentationFormat>On-screen Show (4:3)</PresentationFormat>
  <Paragraphs>103</Paragraphs>
  <Slides>25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6" baseType="lpstr">
      <vt:lpstr>Hardcover</vt:lpstr>
      <vt:lpstr>Programming Fundamentals</vt:lpstr>
      <vt:lpstr>Previous Lecture</vt:lpstr>
      <vt:lpstr>Today’s Lecture</vt:lpstr>
      <vt:lpstr>The Relationship Between Arrays and Pointers</vt:lpstr>
      <vt:lpstr>PowerPoint Presentation</vt:lpstr>
      <vt:lpstr>The Relationship Between Arrays and Pointers</vt:lpstr>
      <vt:lpstr>The Relationship Between Arrays and Pointers</vt:lpstr>
      <vt:lpstr>The Relationship Between Arrays and Pointers</vt:lpstr>
      <vt:lpstr>PowerPoint Presentation</vt:lpstr>
      <vt:lpstr>The Relationship Between Arrays and Pointers</vt:lpstr>
      <vt:lpstr>PowerPoint Presentation</vt:lpstr>
      <vt:lpstr>The Relationship Between Arrays and Pointers</vt:lpstr>
      <vt:lpstr>Pointer Arithmetic</vt:lpstr>
      <vt:lpstr>Task</vt:lpstr>
      <vt:lpstr>PowerPoint Presentation</vt:lpstr>
      <vt:lpstr>Pointer Arithmetic</vt:lpstr>
      <vt:lpstr>PowerPoint Presentation</vt:lpstr>
      <vt:lpstr>PowerPoint Presentation</vt:lpstr>
      <vt:lpstr>Initializing Pointers</vt:lpstr>
      <vt:lpstr>Initializing Pointers</vt:lpstr>
      <vt:lpstr>Class Activity</vt:lpstr>
      <vt:lpstr>Class Activity</vt:lpstr>
      <vt:lpstr>Class Activity</vt:lpstr>
      <vt:lpstr>Class Activity</vt:lpstr>
      <vt:lpstr>Next Lecture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Programming Fundamentals</dc:title>
  <dc:creator>p06</dc:creator>
  <cp:lastModifiedBy>p06</cp:lastModifiedBy>
  <cp:revision>317</cp:revision>
  <dcterms:created xsi:type="dcterms:W3CDTF">2023-02-13T17:33:34Z</dcterms:created>
  <dcterms:modified xsi:type="dcterms:W3CDTF">2025-11-18T22:25:10Z</dcterms:modified>
</cp:coreProperties>
</file>