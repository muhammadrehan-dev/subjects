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35"/>
  </p:notesMasterIdLst>
  <p:sldIdLst>
    <p:sldId id="275" r:id="rId2"/>
    <p:sldId id="276" r:id="rId3"/>
    <p:sldId id="277" r:id="rId4"/>
    <p:sldId id="278" r:id="rId5"/>
    <p:sldId id="298" r:id="rId6"/>
    <p:sldId id="308" r:id="rId7"/>
    <p:sldId id="309" r:id="rId8"/>
    <p:sldId id="318" r:id="rId9"/>
    <p:sldId id="337" r:id="rId10"/>
    <p:sldId id="288" r:id="rId11"/>
    <p:sldId id="310" r:id="rId12"/>
    <p:sldId id="311" r:id="rId13"/>
    <p:sldId id="314" r:id="rId14"/>
    <p:sldId id="289" r:id="rId15"/>
    <p:sldId id="312" r:id="rId16"/>
    <p:sldId id="315" r:id="rId17"/>
    <p:sldId id="281" r:id="rId18"/>
    <p:sldId id="336" r:id="rId19"/>
    <p:sldId id="282" r:id="rId20"/>
    <p:sldId id="284" r:id="rId21"/>
    <p:sldId id="285" r:id="rId22"/>
    <p:sldId id="286" r:id="rId23"/>
    <p:sldId id="287" r:id="rId24"/>
    <p:sldId id="294" r:id="rId25"/>
    <p:sldId id="290" r:id="rId26"/>
    <p:sldId id="316" r:id="rId27"/>
    <p:sldId id="291" r:id="rId28"/>
    <p:sldId id="295" r:id="rId29"/>
    <p:sldId id="299" r:id="rId30"/>
    <p:sldId id="296" r:id="rId31"/>
    <p:sldId id="292" r:id="rId32"/>
    <p:sldId id="293" r:id="rId33"/>
    <p:sldId id="29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 </a:t>
            </a:r>
          </a:p>
          <a:p>
            <a:r>
              <a:rPr lang="en-US" dirty="0"/>
              <a:t>Break </a:t>
            </a:r>
          </a:p>
          <a:p>
            <a:r>
              <a:rPr lang="en-US" dirty="0"/>
              <a:t>Continue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Arrays </a:t>
            </a:r>
            <a:endParaRPr lang="en-US" dirty="0" smtClean="0"/>
          </a:p>
          <a:p>
            <a:r>
              <a:rPr lang="en-US" dirty="0" smtClean="0"/>
              <a:t>Declaring </a:t>
            </a:r>
            <a:r>
              <a:rPr lang="en-US" dirty="0"/>
              <a:t>Arrays </a:t>
            </a:r>
            <a:endParaRPr lang="en-US" dirty="0" smtClean="0"/>
          </a:p>
          <a:p>
            <a:r>
              <a:rPr lang="en-US" dirty="0" smtClean="0"/>
              <a:t>Initializing </a:t>
            </a:r>
            <a:r>
              <a:rPr lang="en-US" dirty="0"/>
              <a:t>Arrays </a:t>
            </a:r>
            <a:endParaRPr lang="en-US" dirty="0" smtClean="0"/>
          </a:p>
          <a:p>
            <a:r>
              <a:rPr lang="en-US" dirty="0" smtClean="0"/>
              <a:t>Accessing </a:t>
            </a:r>
            <a:r>
              <a:rPr lang="en-US" dirty="0"/>
              <a:t>Arrays </a:t>
            </a:r>
            <a:endParaRPr lang="en-US" dirty="0" smtClean="0"/>
          </a:p>
          <a:p>
            <a:r>
              <a:rPr lang="en-US" dirty="0" smtClean="0"/>
              <a:t>Processing </a:t>
            </a:r>
            <a:r>
              <a:rPr lang="en-US" dirty="0"/>
              <a:t>Arrays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array</a:t>
            </a:r>
            <a:r>
              <a:rPr lang="en-US" dirty="0"/>
              <a:t> allows you to store and work with multiple values of the same data type</a:t>
            </a:r>
            <a:r>
              <a:rPr lang="en-US" dirty="0" smtClean="0"/>
              <a:t>.</a:t>
            </a:r>
          </a:p>
          <a:p>
            <a:r>
              <a:rPr lang="en-US" dirty="0"/>
              <a:t>The variables you have worked with so far are designed to hold only one value at a time.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962400"/>
            <a:ext cx="478536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41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works like a variable that can store a group of values, all of the same type. The values are stored together in consecutive memory locations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example: we need to store the marks of 100 students. </a:t>
            </a:r>
            <a:endParaRPr lang="en-US" dirty="0" smtClean="0"/>
          </a:p>
          <a:p>
            <a:pPr marL="914400"/>
            <a:r>
              <a:rPr lang="en-US" dirty="0" smtClean="0"/>
              <a:t>Instead </a:t>
            </a:r>
            <a:r>
              <a:rPr lang="en-US" dirty="0"/>
              <a:t>of declaring individual variables, such as marks0, marks1, . . . , and marks99, you declare one array with a name such as </a:t>
            </a:r>
            <a:r>
              <a:rPr lang="en-US" dirty="0" smtClean="0"/>
              <a:t>marks.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To declare an array, you need to specify its element type (data type) and size using the following syntax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dirty="0" err="1" smtClean="0">
                <a:solidFill>
                  <a:schemeClr val="tx2"/>
                </a:solidFill>
              </a:rPr>
              <a:t>elementType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 </a:t>
            </a:r>
            <a:r>
              <a:rPr lang="en-US" dirty="0" err="1">
                <a:solidFill>
                  <a:schemeClr val="tx2"/>
                </a:solidFill>
              </a:rPr>
              <a:t>arrayName</a:t>
            </a:r>
            <a:r>
              <a:rPr lang="en-US" dirty="0">
                <a:solidFill>
                  <a:schemeClr val="tx2"/>
                </a:solidFill>
              </a:rPr>
              <a:t>[SIZE]</a:t>
            </a:r>
            <a:r>
              <a:rPr lang="en-US" dirty="0"/>
              <a:t>;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elementType</a:t>
            </a:r>
            <a:r>
              <a:rPr lang="en-US" dirty="0"/>
              <a:t> can be any data type, and all elements in the array will have the same data type.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SIZE, known as array </a:t>
            </a:r>
            <a:r>
              <a:rPr lang="en-US" b="1" dirty="0"/>
              <a:t>size declarator</a:t>
            </a:r>
            <a:r>
              <a:rPr lang="en-US" dirty="0"/>
              <a:t>, must be a constant integer greater than zero therefore, it is </a:t>
            </a:r>
            <a:r>
              <a:rPr lang="en-US" dirty="0" smtClean="0"/>
              <a:t>fixed.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Arrays</a:t>
            </a:r>
          </a:p>
        </p:txBody>
      </p:sp>
    </p:spTree>
    <p:extLst>
      <p:ext uri="{BB962C8B-B14F-4D97-AF65-F5344CB8AC3E}">
        <p14:creationId xmlns:p14="http://schemas.microsoft.com/office/powerpoint/2010/main" val="105882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number inside the brackets is the array’s </a:t>
            </a:r>
            <a:r>
              <a:rPr lang="en-US" b="1" dirty="0"/>
              <a:t>size declarator</a:t>
            </a:r>
            <a:r>
              <a:rPr lang="en-US" dirty="0"/>
              <a:t>. It indicates the number of elements, or values, the array can hold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example: we need to store the marks of 100 students; the syntax would be as follows: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marks[100];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Arrays</a:t>
            </a:r>
          </a:p>
        </p:txBody>
      </p:sp>
    </p:spTree>
    <p:extLst>
      <p:ext uri="{BB962C8B-B14F-4D97-AF65-F5344CB8AC3E}">
        <p14:creationId xmlns:p14="http://schemas.microsoft.com/office/powerpoint/2010/main" val="234816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2248347"/>
            <a:ext cx="8839199" cy="38778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Define the following arrays</a:t>
            </a:r>
            <a:r>
              <a:rPr lang="en-US" dirty="0" smtClean="0"/>
              <a:t>:</a:t>
            </a:r>
          </a:p>
          <a:p>
            <a:pPr marL="914400" indent="-457200" algn="just">
              <a:buFont typeface="+mj-lt"/>
              <a:buAutoNum type="alphaUcPeriod"/>
            </a:pPr>
            <a:r>
              <a:rPr lang="en-US" dirty="0" err="1"/>
              <a:t>empNums</a:t>
            </a:r>
            <a:r>
              <a:rPr lang="en-US" dirty="0"/>
              <a:t>, a 100-element array of </a:t>
            </a:r>
            <a:r>
              <a:rPr lang="en-US" dirty="0" err="1" smtClean="0"/>
              <a:t>ints</a:t>
            </a: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endParaRPr lang="en-US" dirty="0"/>
          </a:p>
          <a:p>
            <a:pPr marL="914400" indent="-457200" algn="just">
              <a:buFont typeface="+mj-lt"/>
              <a:buAutoNum type="alphaUcPeriod"/>
            </a:pP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r>
              <a:rPr lang="en-US" dirty="0" err="1" smtClean="0"/>
              <a:t>payRates</a:t>
            </a:r>
            <a:r>
              <a:rPr lang="en-US" dirty="0"/>
              <a:t>, a 25-element array of </a:t>
            </a:r>
            <a:r>
              <a:rPr lang="en-US" dirty="0" smtClean="0"/>
              <a:t>floats</a:t>
            </a:r>
          </a:p>
          <a:p>
            <a:pPr marL="914400" indent="-457200" algn="just">
              <a:buFont typeface="+mj-lt"/>
              <a:buAutoNum type="alphaUcPeriod"/>
            </a:pPr>
            <a:endParaRPr lang="en-US" dirty="0"/>
          </a:p>
          <a:p>
            <a:pPr marL="914400" indent="-457200" algn="just">
              <a:buFont typeface="+mj-lt"/>
              <a:buAutoNum type="alphaUcPeriod"/>
            </a:pP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r>
              <a:rPr lang="en-US" dirty="0" err="1" smtClean="0"/>
              <a:t>lightYears</a:t>
            </a:r>
            <a:r>
              <a:rPr lang="en-US" dirty="0"/>
              <a:t>, a 1,000-element array of double 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3349971"/>
            <a:ext cx="2919412" cy="46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4689564"/>
            <a:ext cx="2919412" cy="49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943600"/>
            <a:ext cx="3148012" cy="441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092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2248347"/>
            <a:ext cx="8839199" cy="38778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What’s wrong with the following array definitions? </a:t>
            </a:r>
            <a:endParaRPr lang="en-US" dirty="0" smtClean="0"/>
          </a:p>
          <a:p>
            <a:pPr marL="914400" indent="-457200" algn="just">
              <a:buFont typeface="+mj-lt"/>
              <a:buAutoNum type="alphaUcPeriod"/>
            </a:pPr>
            <a:r>
              <a:rPr lang="en-US" b="1" dirty="0" err="1"/>
              <a:t>int</a:t>
            </a:r>
            <a:r>
              <a:rPr lang="en-US" b="1" dirty="0"/>
              <a:t> readings[-1]; </a:t>
            </a:r>
          </a:p>
          <a:p>
            <a:pPr marL="914400" indent="0" algn="just">
              <a:buNone/>
            </a:pPr>
            <a:r>
              <a:rPr lang="en-US" dirty="0"/>
              <a:t>Array sizes must be non-negative integers. A negative size (-1) is invalid and will cause a compile-time error.</a:t>
            </a:r>
            <a:endParaRPr lang="en-US" dirty="0" smtClean="0"/>
          </a:p>
          <a:p>
            <a:pPr marL="914400" indent="-457200" algn="just">
              <a:buFont typeface="+mj-lt"/>
              <a:buAutoNum type="alphaUcPeriod" startAt="2"/>
            </a:pPr>
            <a:r>
              <a:rPr lang="en-US" b="1" dirty="0" smtClean="0"/>
              <a:t>float </a:t>
            </a:r>
            <a:r>
              <a:rPr lang="en-US" b="1" dirty="0"/>
              <a:t>measurements[4.5];</a:t>
            </a:r>
          </a:p>
          <a:p>
            <a:pPr marL="914400" indent="0" algn="just">
              <a:buNone/>
            </a:pPr>
            <a:r>
              <a:rPr lang="en-US" dirty="0"/>
              <a:t>Array sizes must be integer constants. 4.5 is a floating-point number, so this is invalid</a:t>
            </a:r>
            <a:r>
              <a:rPr lang="en-US" dirty="0" smtClean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88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Arrays may be initialized when they are defined.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Like regular variables, C++ allows you to initialize an array’s elements when you create the array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series of values inside the braces and separated with commas is called an </a:t>
            </a:r>
            <a:r>
              <a:rPr lang="en-US" b="1" dirty="0"/>
              <a:t>initialization list</a:t>
            </a:r>
            <a:r>
              <a:rPr lang="en-US" dirty="0"/>
              <a:t>. These values are stored in the array elements in the order they appear in the list.</a:t>
            </a:r>
          </a:p>
          <a:p>
            <a:pPr marL="0" indent="0" algn="ctr">
              <a:buNone/>
            </a:pPr>
            <a:r>
              <a:rPr lang="en-US" dirty="0" err="1"/>
              <a:t>int</a:t>
            </a:r>
            <a:r>
              <a:rPr lang="en-US" dirty="0"/>
              <a:t> marks[4]= {1,2,3,4}; </a:t>
            </a:r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</p:spTree>
    <p:extLst>
      <p:ext uri="{BB962C8B-B14F-4D97-AF65-F5344CB8AC3E}">
        <p14:creationId xmlns:p14="http://schemas.microsoft.com/office/powerpoint/2010/main" val="308400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2248347"/>
            <a:ext cx="8991599" cy="43810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C</a:t>
            </a:r>
            <a:r>
              <a:rPr lang="en-US" dirty="0"/>
              <a:t>++ allows you to omit the array size when declaring and creating an array using an </a:t>
            </a:r>
            <a:r>
              <a:rPr lang="en-US" dirty="0" smtClean="0"/>
              <a:t>initializer.</a:t>
            </a:r>
          </a:p>
          <a:p>
            <a:pPr marL="0" indent="0" algn="ctr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marks[]= {1,2,3,4}; </a:t>
            </a:r>
            <a:endParaRPr lang="en-US" dirty="0" smtClean="0"/>
          </a:p>
          <a:p>
            <a:pPr indent="0" algn="just">
              <a:buNone/>
            </a:pPr>
            <a:r>
              <a:rPr lang="en-US" dirty="0"/>
              <a:t>Because the size declarator is omitted, C++ counts the number of items in the initialization list and gives the array that many elements. </a:t>
            </a:r>
            <a:endParaRPr lang="en-US" dirty="0" smtClean="0"/>
          </a:p>
          <a:p>
            <a:pPr indent="0" algn="just">
              <a:buNone/>
            </a:pPr>
            <a:r>
              <a:rPr lang="en-US" dirty="0"/>
              <a:t>You must provide an initialization list if you leave out an array’s size declarator. Otherwise, C++ doesn’t know how large to make the array. </a:t>
            </a:r>
          </a:p>
          <a:p>
            <a:pPr algn="just"/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</p:spTree>
    <p:extLst>
      <p:ext uri="{BB962C8B-B14F-4D97-AF65-F5344CB8AC3E}">
        <p14:creationId xmlns:p14="http://schemas.microsoft.com/office/powerpoint/2010/main" val="42702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2133601"/>
            <a:ext cx="8458201" cy="4495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marks[4]; </a:t>
            </a:r>
            <a:endParaRPr lang="en-US" dirty="0" smtClean="0"/>
          </a:p>
          <a:p>
            <a:pPr marL="548640" indent="0" algn="just">
              <a:buNone/>
            </a:pPr>
            <a:r>
              <a:rPr lang="en-US" dirty="0" smtClean="0"/>
              <a:t>marks[0</a:t>
            </a:r>
            <a:r>
              <a:rPr lang="en-US" dirty="0"/>
              <a:t>]=1; </a:t>
            </a:r>
            <a:endParaRPr lang="en-US" dirty="0" smtClean="0"/>
          </a:p>
          <a:p>
            <a:pPr marL="548640" indent="0" algn="just">
              <a:buNone/>
            </a:pPr>
            <a:r>
              <a:rPr lang="en-US" dirty="0" smtClean="0"/>
              <a:t>marks[1</a:t>
            </a:r>
            <a:r>
              <a:rPr lang="en-US" dirty="0"/>
              <a:t>]=11; </a:t>
            </a:r>
            <a:endParaRPr lang="en-US" dirty="0" smtClean="0"/>
          </a:p>
          <a:p>
            <a:pPr marL="548640" indent="0" algn="just">
              <a:buNone/>
            </a:pPr>
            <a:r>
              <a:rPr lang="en-US" dirty="0" smtClean="0"/>
              <a:t>marks[2</a:t>
            </a:r>
            <a:r>
              <a:rPr lang="en-US" dirty="0"/>
              <a:t>]=33 </a:t>
            </a:r>
            <a:endParaRPr lang="en-US" dirty="0" smtClean="0"/>
          </a:p>
          <a:p>
            <a:pPr marL="548640" indent="0" algn="just">
              <a:buNone/>
            </a:pPr>
            <a:r>
              <a:rPr lang="en-US" dirty="0" smtClean="0"/>
              <a:t>marks[3</a:t>
            </a:r>
            <a:r>
              <a:rPr lang="en-US" dirty="0"/>
              <a:t>]=4; </a:t>
            </a:r>
          </a:p>
          <a:p>
            <a:pPr marL="891540" indent="-342900" algn="just"/>
            <a:r>
              <a:rPr lang="en-US" dirty="0"/>
              <a:t>This is called </a:t>
            </a:r>
            <a:r>
              <a:rPr lang="en-US" b="1" dirty="0"/>
              <a:t>element-wise initialization</a:t>
            </a:r>
            <a:r>
              <a:rPr lang="en-US" dirty="0"/>
              <a:t> or </a:t>
            </a:r>
            <a:r>
              <a:rPr lang="en-US" b="1" dirty="0"/>
              <a:t>assignment after declaration</a:t>
            </a:r>
            <a:r>
              <a:rPr lang="en-US" dirty="0"/>
              <a:t>. </a:t>
            </a:r>
            <a:endParaRPr lang="en-US" dirty="0" smtClean="0"/>
          </a:p>
          <a:p>
            <a:pPr marL="891540" indent="-342900" algn="just"/>
            <a:r>
              <a:rPr lang="en-US" dirty="0" smtClean="0"/>
              <a:t>It </a:t>
            </a:r>
            <a:r>
              <a:rPr lang="en-US" dirty="0"/>
              <a:t>means you're declaring the array first (without initial values), and then assigning values to each element one by one using their indices. </a:t>
            </a:r>
            <a:endParaRPr lang="en-US" dirty="0" smtClean="0"/>
          </a:p>
          <a:p>
            <a:pPr marL="891540" indent="-342900" algn="just"/>
            <a:r>
              <a:rPr lang="en-US" dirty="0" smtClean="0"/>
              <a:t>This </a:t>
            </a:r>
            <a:r>
              <a:rPr lang="en-US" dirty="0"/>
              <a:t>way is useful when you need to set values later in the program, but it requires more lines of code.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</p:spTree>
    <p:extLst>
      <p:ext uri="{BB962C8B-B14F-4D97-AF65-F5344CB8AC3E}">
        <p14:creationId xmlns:p14="http://schemas.microsoft.com/office/powerpoint/2010/main" val="110023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Below </a:t>
            </a:r>
            <a:r>
              <a:rPr lang="en-US" dirty="0"/>
              <a:t>syntax gives an error </a:t>
            </a:r>
          </a:p>
          <a:p>
            <a:pPr marL="914400" algn="just"/>
            <a:r>
              <a:rPr lang="en-US" dirty="0" err="1"/>
              <a:t>int</a:t>
            </a:r>
            <a:r>
              <a:rPr lang="en-US" dirty="0"/>
              <a:t> marks[]; </a:t>
            </a:r>
          </a:p>
          <a:p>
            <a:pPr marL="1371600" indent="0" algn="just">
              <a:buNone/>
            </a:pPr>
            <a:r>
              <a:rPr lang="en-US" dirty="0"/>
              <a:t>marks[0]=1; </a:t>
            </a:r>
          </a:p>
          <a:p>
            <a:pPr marL="1371600" indent="0" algn="just">
              <a:buNone/>
            </a:pPr>
            <a:r>
              <a:rPr lang="en-US" dirty="0"/>
              <a:t>marks[1]=11; </a:t>
            </a:r>
          </a:p>
          <a:p>
            <a:pPr marL="1371600" indent="0" algn="just">
              <a:buNone/>
            </a:pPr>
            <a:r>
              <a:rPr lang="en-US" dirty="0"/>
              <a:t>marks[2]=33 </a:t>
            </a:r>
          </a:p>
          <a:p>
            <a:pPr marL="1371600" indent="0" algn="just">
              <a:buNone/>
            </a:pPr>
            <a:r>
              <a:rPr lang="en-US" dirty="0"/>
              <a:t>marks[3]=4; 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</p:spTree>
    <p:extLst>
      <p:ext uri="{BB962C8B-B14F-4D97-AF65-F5344CB8AC3E}">
        <p14:creationId xmlns:p14="http://schemas.microsoft.com/office/powerpoint/2010/main" val="108947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" y="2133600"/>
            <a:ext cx="9067800" cy="4724400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int</a:t>
            </a:r>
            <a:r>
              <a:rPr lang="en-US" dirty="0"/>
              <a:t> marks[4]= {1,2</a:t>
            </a:r>
            <a:r>
              <a:rPr lang="en-US" dirty="0" smtClean="0"/>
              <a:t>};</a:t>
            </a:r>
          </a:p>
          <a:p>
            <a:pPr marL="914400" algn="just"/>
            <a:r>
              <a:rPr lang="en-US" dirty="0" smtClean="0"/>
              <a:t>C</a:t>
            </a:r>
            <a:r>
              <a:rPr lang="en-US" dirty="0"/>
              <a:t>++ allows you to initialize a part of the array. For example, the above statement assigns values 1, 2 to the first two elements of the array named marks. The other two elements will be set to zero. </a:t>
            </a:r>
            <a:endParaRPr lang="en-US" dirty="0" smtClean="0"/>
          </a:p>
          <a:p>
            <a:pPr marL="914400" algn="just"/>
            <a:endParaRPr lang="en-US" dirty="0" smtClean="0"/>
          </a:p>
          <a:p>
            <a:pPr algn="just"/>
            <a:r>
              <a:rPr lang="en-US" dirty="0"/>
              <a:t>If you leave an element uninitialized, you must leave all the elements that follow it uninitialized as well. C++ does not provide a way to skip elements in the initialization list.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867400"/>
            <a:ext cx="773239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962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248347"/>
            <a:ext cx="8762999" cy="445725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C++ allows you to spread the initialization list across multiple lines. Both of the following array definitions are equivalent: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Note: If </a:t>
            </a:r>
            <a:r>
              <a:rPr lang="en-US" dirty="0"/>
              <a:t>an array is declared, but not initialized, all its elements will contain “garbage,” like all other local variables.</a:t>
            </a:r>
          </a:p>
          <a:p>
            <a:pPr algn="just"/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124200"/>
            <a:ext cx="5661212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01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individual elements of an array are assigned unique </a:t>
            </a:r>
            <a:r>
              <a:rPr lang="en-US" b="1" dirty="0" smtClean="0"/>
              <a:t>subscripts </a:t>
            </a:r>
            <a:r>
              <a:rPr lang="en-US" dirty="0" smtClean="0"/>
              <a:t>also known as </a:t>
            </a:r>
            <a:r>
              <a:rPr lang="en-US" b="1" dirty="0" smtClean="0"/>
              <a:t>index</a:t>
            </a:r>
            <a:r>
              <a:rPr lang="en-US" dirty="0" smtClean="0"/>
              <a:t>. </a:t>
            </a:r>
            <a:r>
              <a:rPr lang="en-US" dirty="0"/>
              <a:t>These subscripts are used to access the elements.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subscript is used as an index to pinpoint a specific element within an array. The first element is assigned the subscript 0, the second element is assigned 1, and so forth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Subscript numbering in C++ always starts at zero. The subscript of the last element in an array is one less than the total number of elements in the array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69750"/>
            <a:ext cx="7756263" cy="1054250"/>
          </a:xfrm>
        </p:spPr>
        <p:txBody>
          <a:bodyPr/>
          <a:lstStyle/>
          <a:p>
            <a:r>
              <a:rPr lang="en-US" dirty="0"/>
              <a:t>Accessing Array Elements</a:t>
            </a:r>
          </a:p>
        </p:txBody>
      </p:sp>
    </p:spTree>
    <p:extLst>
      <p:ext uri="{BB962C8B-B14F-4D97-AF65-F5344CB8AC3E}">
        <p14:creationId xmlns:p14="http://schemas.microsoft.com/office/powerpoint/2010/main" val="1551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248347"/>
            <a:ext cx="8305801" cy="46096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For example we have an array: </a:t>
            </a:r>
            <a:r>
              <a:rPr lang="en-US" dirty="0" err="1"/>
              <a:t>int</a:t>
            </a:r>
            <a:r>
              <a:rPr lang="en-US" dirty="0"/>
              <a:t> marks[10]; </a:t>
            </a:r>
          </a:p>
          <a:p>
            <a:pPr marL="914400" algn="just"/>
            <a:r>
              <a:rPr lang="en-US" dirty="0"/>
              <a:t>marks[0]=10; means the value of first element of array = 10;</a:t>
            </a:r>
          </a:p>
          <a:p>
            <a:pPr marL="914400" algn="just"/>
            <a:r>
              <a:rPr lang="en-US" dirty="0"/>
              <a:t>Similarly marks[9] = 20; means the value of last element of array = 20; </a:t>
            </a:r>
          </a:p>
          <a:p>
            <a:pPr marL="1371600" algn="just"/>
            <a:r>
              <a:rPr lang="en-US" dirty="0"/>
              <a:t>Point to note: when we declare array such as </a:t>
            </a:r>
            <a:r>
              <a:rPr lang="en-US" dirty="0" err="1"/>
              <a:t>int</a:t>
            </a:r>
            <a:r>
              <a:rPr lang="en-US" dirty="0"/>
              <a:t> marks[10], the square brackets contain the </a:t>
            </a:r>
            <a:r>
              <a:rPr lang="en-US" b="1" dirty="0"/>
              <a:t>size of the array</a:t>
            </a:r>
            <a:r>
              <a:rPr lang="en-US" dirty="0"/>
              <a:t> while after declaration when we use this array, such as marks[4] than square brackets contain the </a:t>
            </a:r>
            <a:r>
              <a:rPr lang="en-US" b="1" dirty="0"/>
              <a:t>position of element</a:t>
            </a:r>
            <a:r>
              <a:rPr lang="en-US" dirty="0"/>
              <a:t> and marks[4] mean the element which lies at 5th position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Array Elements</a:t>
            </a:r>
          </a:p>
        </p:txBody>
      </p:sp>
    </p:spTree>
    <p:extLst>
      <p:ext uri="{BB962C8B-B14F-4D97-AF65-F5344CB8AC3E}">
        <p14:creationId xmlns:p14="http://schemas.microsoft.com/office/powerpoint/2010/main" val="101733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1" y="2248347"/>
            <a:ext cx="8077200" cy="4609653"/>
          </a:xfrm>
        </p:spPr>
        <p:txBody>
          <a:bodyPr>
            <a:normAutofit/>
          </a:bodyPr>
          <a:lstStyle/>
          <a:p>
            <a:pPr marL="0" algn="just"/>
            <a:r>
              <a:rPr lang="en-US" dirty="0" smtClean="0"/>
              <a:t>Understand </a:t>
            </a:r>
            <a:r>
              <a:rPr lang="en-US" dirty="0"/>
              <a:t>the difference between the array </a:t>
            </a:r>
            <a:r>
              <a:rPr lang="en-US" b="1" dirty="0"/>
              <a:t>size declarator </a:t>
            </a:r>
            <a:r>
              <a:rPr lang="en-US" dirty="0"/>
              <a:t>and a </a:t>
            </a:r>
            <a:r>
              <a:rPr lang="en-US" b="1" dirty="0"/>
              <a:t>subscript</a:t>
            </a:r>
            <a:r>
              <a:rPr lang="en-US" dirty="0"/>
              <a:t>. </a:t>
            </a:r>
            <a:endParaRPr lang="en-US" dirty="0" smtClean="0"/>
          </a:p>
          <a:p>
            <a:pPr marL="0" algn="just"/>
            <a:r>
              <a:rPr lang="en-US" dirty="0" smtClean="0"/>
              <a:t>The </a:t>
            </a:r>
            <a:r>
              <a:rPr lang="en-US" dirty="0"/>
              <a:t>number inside the brackets of an array definition is the </a:t>
            </a:r>
            <a:r>
              <a:rPr lang="en-US" b="1" dirty="0"/>
              <a:t>size declarator</a:t>
            </a:r>
            <a:r>
              <a:rPr lang="en-US" dirty="0"/>
              <a:t>. </a:t>
            </a:r>
            <a:endParaRPr lang="en-US" dirty="0" smtClean="0"/>
          </a:p>
          <a:p>
            <a:pPr marL="0" algn="just"/>
            <a:r>
              <a:rPr lang="en-US" dirty="0" smtClean="0"/>
              <a:t>The </a:t>
            </a:r>
            <a:r>
              <a:rPr lang="en-US" dirty="0"/>
              <a:t>number inside the brackets of an assignment statement or any statement that works with the contents of an array is a </a:t>
            </a:r>
            <a:r>
              <a:rPr lang="en-US" b="1" dirty="0"/>
              <a:t>subscript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Array Elements</a:t>
            </a:r>
          </a:p>
        </p:txBody>
      </p:sp>
    </p:spTree>
    <p:extLst>
      <p:ext uri="{BB962C8B-B14F-4D97-AF65-F5344CB8AC3E}">
        <p14:creationId xmlns:p14="http://schemas.microsoft.com/office/powerpoint/2010/main" val="308538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marks[5];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 = 1;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Representation of an array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45127"/>
            <a:ext cx="8763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26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marks[5];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 = 1; </a:t>
            </a:r>
            <a:endParaRPr lang="en-US" dirty="0" smtClean="0"/>
          </a:p>
          <a:p>
            <a:r>
              <a:rPr lang="en-US" dirty="0" smtClean="0"/>
              <a:t>marks[1</a:t>
            </a:r>
            <a:r>
              <a:rPr lang="en-US" dirty="0"/>
              <a:t>] = 33;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Representation of an array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76600"/>
            <a:ext cx="8889756" cy="1010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278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marks[5];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 = 1; </a:t>
            </a:r>
            <a:endParaRPr lang="en-US" dirty="0" smtClean="0"/>
          </a:p>
          <a:p>
            <a:r>
              <a:rPr lang="en-US" dirty="0" smtClean="0"/>
              <a:t>marks[1</a:t>
            </a:r>
            <a:r>
              <a:rPr lang="en-US" dirty="0"/>
              <a:t>] = 33</a:t>
            </a:r>
            <a:r>
              <a:rPr lang="en-US" dirty="0" smtClean="0"/>
              <a:t>;</a:t>
            </a:r>
          </a:p>
          <a:p>
            <a:r>
              <a:rPr lang="en-US" dirty="0"/>
              <a:t>marks[2] = 12;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Representation of an array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8" y="3276600"/>
            <a:ext cx="8921432" cy="97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48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marks[5];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 = 1; </a:t>
            </a:r>
            <a:endParaRPr lang="en-US" dirty="0" smtClean="0"/>
          </a:p>
          <a:p>
            <a:r>
              <a:rPr lang="en-US" dirty="0" smtClean="0"/>
              <a:t>marks[1</a:t>
            </a:r>
            <a:r>
              <a:rPr lang="en-US" dirty="0"/>
              <a:t>] = 33</a:t>
            </a:r>
            <a:r>
              <a:rPr lang="en-US" dirty="0" smtClean="0"/>
              <a:t>;</a:t>
            </a:r>
          </a:p>
          <a:p>
            <a:r>
              <a:rPr lang="en-US" dirty="0"/>
              <a:t>marks[2] = 12</a:t>
            </a:r>
            <a:r>
              <a:rPr lang="en-US" dirty="0" smtClean="0"/>
              <a:t>;</a:t>
            </a:r>
          </a:p>
          <a:p>
            <a:r>
              <a:rPr lang="en-US" dirty="0"/>
              <a:t>marks[3] = 5;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Representation of an array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3124200"/>
            <a:ext cx="86995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057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marks[5];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 = 1; </a:t>
            </a:r>
            <a:endParaRPr lang="en-US" dirty="0" smtClean="0"/>
          </a:p>
          <a:p>
            <a:r>
              <a:rPr lang="en-US" dirty="0" smtClean="0"/>
              <a:t>marks[1</a:t>
            </a:r>
            <a:r>
              <a:rPr lang="en-US" dirty="0"/>
              <a:t>] = 33</a:t>
            </a:r>
            <a:r>
              <a:rPr lang="en-US" dirty="0" smtClean="0"/>
              <a:t>;</a:t>
            </a:r>
          </a:p>
          <a:p>
            <a:r>
              <a:rPr lang="en-US" dirty="0"/>
              <a:t>marks[2] = 12</a:t>
            </a:r>
            <a:r>
              <a:rPr lang="en-US" dirty="0" smtClean="0"/>
              <a:t>;</a:t>
            </a:r>
          </a:p>
          <a:p>
            <a:r>
              <a:rPr lang="en-US" dirty="0"/>
              <a:t>marks[3] = 5</a:t>
            </a:r>
            <a:r>
              <a:rPr lang="en-US" dirty="0" smtClean="0"/>
              <a:t>;</a:t>
            </a:r>
          </a:p>
          <a:p>
            <a:r>
              <a:rPr lang="en-US" dirty="0"/>
              <a:t>marks[4] = 21;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Representation of an array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4200"/>
            <a:ext cx="8653462" cy="81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214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1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89083"/>
            <a:ext cx="2743200" cy="4729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029200"/>
            <a:ext cx="9525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77000" y="44958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5419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marks[5];</a:t>
            </a:r>
          </a:p>
          <a:p>
            <a:r>
              <a:rPr lang="en-US" dirty="0" smtClean="0"/>
              <a:t>The </a:t>
            </a:r>
            <a:r>
              <a:rPr lang="en-US" dirty="0"/>
              <a:t>compiler allocates the space for 5 </a:t>
            </a:r>
            <a:r>
              <a:rPr lang="en-US" dirty="0" err="1"/>
              <a:t>int</a:t>
            </a:r>
            <a:r>
              <a:rPr lang="en-US" dirty="0"/>
              <a:t> type elements for array named </a:t>
            </a:r>
            <a:r>
              <a:rPr lang="en-US" dirty="0" smtClean="0"/>
              <a:t>marks.</a:t>
            </a:r>
          </a:p>
          <a:p>
            <a:r>
              <a:rPr lang="en-US" dirty="0" smtClean="0"/>
              <a:t>All </a:t>
            </a:r>
            <a:r>
              <a:rPr lang="en-US" dirty="0"/>
              <a:t>the elements of the array are stored in Contiguous memory locations. 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95800"/>
            <a:ext cx="654995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724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name of the array contains the address of 1st element of array</a:t>
            </a:r>
            <a:r>
              <a:rPr lang="en-US" dirty="0" smtClean="0"/>
              <a:t>.</a:t>
            </a:r>
          </a:p>
          <a:p>
            <a:pPr marL="1257300" indent="-342900"/>
            <a:r>
              <a:rPr lang="en-US" dirty="0" err="1" smtClean="0"/>
              <a:t>cout</a:t>
            </a:r>
            <a:r>
              <a:rPr lang="en-US" dirty="0"/>
              <a:t>&lt;&lt;</a:t>
            </a:r>
            <a:r>
              <a:rPr lang="en-US" dirty="0" smtClean="0"/>
              <a:t>marks;</a:t>
            </a:r>
          </a:p>
          <a:p>
            <a:pPr marL="1257300" indent="-342900"/>
            <a:r>
              <a:rPr lang="en-US" dirty="0"/>
              <a:t>P</a:t>
            </a:r>
            <a:r>
              <a:rPr lang="en-US" dirty="0" smtClean="0"/>
              <a:t>rint </a:t>
            </a:r>
            <a:r>
              <a:rPr lang="en-US" dirty="0"/>
              <a:t>0x0 on the screen.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4969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362200"/>
            <a:ext cx="3733800" cy="4046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570" y="5114925"/>
            <a:ext cx="184023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53200" y="46482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7017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81000" y="2286000"/>
            <a:ext cx="8382000" cy="1752600"/>
          </a:xfrm>
        </p:spPr>
        <p:txBody>
          <a:bodyPr/>
          <a:lstStyle/>
          <a:p>
            <a:r>
              <a:rPr lang="en-US" sz="4800" dirty="0" smtClean="0"/>
              <a:t>Inputting and Displaying Array Contents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1074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61722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00600" y="341142"/>
            <a:ext cx="4038600" cy="2402058"/>
          </a:xfrm>
        </p:spPr>
        <p:txBody>
          <a:bodyPr>
            <a:normAutofit/>
          </a:bodyPr>
          <a:lstStyle/>
          <a:p>
            <a:pPr algn="just"/>
            <a:r>
              <a:rPr lang="en-US" dirty="0" err="1" smtClean="0"/>
              <a:t>cout</a:t>
            </a:r>
            <a:r>
              <a:rPr lang="en-US" dirty="0" smtClean="0"/>
              <a:t> can be used to display values from an array.</a:t>
            </a:r>
          </a:p>
          <a:p>
            <a:pPr algn="just"/>
            <a:r>
              <a:rPr lang="en-US" dirty="0" err="1" smtClean="0"/>
              <a:t>cin</a:t>
            </a:r>
            <a:r>
              <a:rPr lang="en-US" dirty="0" smtClean="0"/>
              <a:t> can be used to store values into an array.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7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8213"/>
            <a:ext cx="4724400" cy="65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3533965"/>
            <a:ext cx="1628775" cy="279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24919" y="297180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8352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When processing array elements, you will often use a for loop—for the following reasons: </a:t>
            </a:r>
            <a:endParaRPr lang="en-US" dirty="0" smtClean="0"/>
          </a:p>
          <a:p>
            <a:pPr marL="914400" indent="-457200" algn="just">
              <a:buFont typeface="+mj-lt"/>
              <a:buAutoNum type="arabicPeriod"/>
            </a:pPr>
            <a:r>
              <a:rPr lang="en-US" dirty="0" smtClean="0"/>
              <a:t>All </a:t>
            </a:r>
            <a:r>
              <a:rPr lang="en-US" dirty="0"/>
              <a:t>of the elements in an array are of the same type. They are evenly processed in the same way using a </a:t>
            </a:r>
            <a:r>
              <a:rPr lang="en-US" dirty="0" smtClean="0"/>
              <a:t>loop.</a:t>
            </a:r>
          </a:p>
          <a:p>
            <a:pPr marL="914400" indent="-457200" algn="just">
              <a:buFont typeface="+mj-lt"/>
              <a:buAutoNum type="arabicPeriod"/>
            </a:pPr>
            <a:r>
              <a:rPr lang="en-US" dirty="0" smtClean="0"/>
              <a:t>Since </a:t>
            </a:r>
            <a:r>
              <a:rPr lang="en-US" dirty="0"/>
              <a:t>the size of the array is known, it is natural to use a for </a:t>
            </a:r>
            <a:r>
              <a:rPr lang="en-US" dirty="0" smtClean="0"/>
              <a:t>loop.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Processing 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80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7620000" cy="66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5029200" y="152400"/>
            <a:ext cx="3962400" cy="1295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/>
              <a:t>The </a:t>
            </a:r>
            <a:r>
              <a:rPr lang="en-US" b="1" dirty="0"/>
              <a:t>following loop initializes the array marks with user input </a:t>
            </a:r>
            <a:r>
              <a:rPr lang="en-US" b="1" dirty="0" smtClean="0"/>
              <a:t>values </a:t>
            </a:r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201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83315" y="2863851"/>
            <a:ext cx="6477001" cy="1054100"/>
          </a:xfrm>
        </p:spPr>
        <p:txBody>
          <a:bodyPr/>
          <a:lstStyle/>
          <a:p>
            <a:r>
              <a:rPr lang="en-US" dirty="0" smtClean="0"/>
              <a:t>Activity 2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114300"/>
            <a:ext cx="5136323" cy="651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803" y="2438400"/>
            <a:ext cx="2314797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107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4062</TotalTime>
  <Words>1194</Words>
  <Application>Microsoft Office PowerPoint</Application>
  <PresentationFormat>On-screen Show (4:3)</PresentationFormat>
  <Paragraphs>173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Hardcover</vt:lpstr>
      <vt:lpstr>Programming Fundamentals</vt:lpstr>
      <vt:lpstr>Previous Lecture</vt:lpstr>
      <vt:lpstr>Today’s Lecture</vt:lpstr>
      <vt:lpstr>Array</vt:lpstr>
      <vt:lpstr>Array</vt:lpstr>
      <vt:lpstr>Declaring Arrays</vt:lpstr>
      <vt:lpstr>Declaring Arrays</vt:lpstr>
      <vt:lpstr>Class Activity</vt:lpstr>
      <vt:lpstr>Class Activity</vt:lpstr>
      <vt:lpstr>Initializing Arrays</vt:lpstr>
      <vt:lpstr>Initializing Arrays</vt:lpstr>
      <vt:lpstr>Initializing Arrays</vt:lpstr>
      <vt:lpstr>Initializing Arrays</vt:lpstr>
      <vt:lpstr>Initializing Arrays</vt:lpstr>
      <vt:lpstr>Initializing Arrays</vt:lpstr>
      <vt:lpstr>Accessing Array Elements</vt:lpstr>
      <vt:lpstr>Accessing Array Elements</vt:lpstr>
      <vt:lpstr>Accessing Array Elements</vt:lpstr>
      <vt:lpstr>Representation of an array</vt:lpstr>
      <vt:lpstr>Representation of an array</vt:lpstr>
      <vt:lpstr>Representation of an array</vt:lpstr>
      <vt:lpstr>Representation of an array</vt:lpstr>
      <vt:lpstr>Representation of an array</vt:lpstr>
      <vt:lpstr>Activity 1</vt:lpstr>
      <vt:lpstr>Memory Allocation</vt:lpstr>
      <vt:lpstr>Memory Allocation</vt:lpstr>
      <vt:lpstr>Memory Allocation</vt:lpstr>
      <vt:lpstr>Inputting and Displaying Array Contents</vt:lpstr>
      <vt:lpstr>PowerPoint Presentation</vt:lpstr>
      <vt:lpstr>PowerPoint Presentation</vt:lpstr>
      <vt:lpstr>Processing Arrays</vt:lpstr>
      <vt:lpstr>PowerPoint Presentation</vt:lpstr>
      <vt:lpstr>Activity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251</cp:revision>
  <dcterms:created xsi:type="dcterms:W3CDTF">2023-02-13T17:33:34Z</dcterms:created>
  <dcterms:modified xsi:type="dcterms:W3CDTF">2025-11-05T19:04:46Z</dcterms:modified>
</cp:coreProperties>
</file>