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28"/>
  </p:notesMasterIdLst>
  <p:sldIdLst>
    <p:sldId id="275" r:id="rId2"/>
    <p:sldId id="276" r:id="rId3"/>
    <p:sldId id="277" r:id="rId4"/>
    <p:sldId id="384" r:id="rId5"/>
    <p:sldId id="386" r:id="rId6"/>
    <p:sldId id="388" r:id="rId7"/>
    <p:sldId id="389" r:id="rId8"/>
    <p:sldId id="390" r:id="rId9"/>
    <p:sldId id="391" r:id="rId10"/>
    <p:sldId id="387" r:id="rId11"/>
    <p:sldId id="392" r:id="rId12"/>
    <p:sldId id="394" r:id="rId13"/>
    <p:sldId id="316" r:id="rId14"/>
    <p:sldId id="396" r:id="rId15"/>
    <p:sldId id="395" r:id="rId16"/>
    <p:sldId id="398" r:id="rId17"/>
    <p:sldId id="399" r:id="rId18"/>
    <p:sldId id="400" r:id="rId19"/>
    <p:sldId id="408" r:id="rId20"/>
    <p:sldId id="397" r:id="rId21"/>
    <p:sldId id="402" r:id="rId22"/>
    <p:sldId id="403" r:id="rId23"/>
    <p:sldId id="410" r:id="rId24"/>
    <p:sldId id="411" r:id="rId25"/>
    <p:sldId id="412" r:id="rId26"/>
    <p:sldId id="409"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1090" y="-1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12/14/2025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12/14/2025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File Stream Objects </a:t>
            </a:r>
          </a:p>
          <a:p>
            <a:r>
              <a:rPr lang="en-US" dirty="0"/>
              <a:t>Setting Up a Program for File </a:t>
            </a:r>
            <a:r>
              <a:rPr lang="en-US" dirty="0" err="1"/>
              <a:t>Input/Output</a:t>
            </a:r>
            <a:endParaRPr lang="en-US" dirty="0"/>
          </a:p>
          <a:p>
            <a:r>
              <a:rPr lang="en-US" dirty="0"/>
              <a:t>Creating a File Object and Opening a File</a:t>
            </a:r>
          </a:p>
          <a:p>
            <a:r>
              <a:rPr lang="en-US" dirty="0"/>
              <a:t>Closing a File </a:t>
            </a:r>
          </a:p>
          <a:p>
            <a:r>
              <a:rPr lang="en-US" dirty="0"/>
              <a:t>Writing Data to a File </a:t>
            </a:r>
          </a:p>
        </p:txBody>
      </p:sp>
      <p:sp>
        <p:nvSpPr>
          <p:cNvPr id="3" name="Title 2"/>
          <p:cNvSpPr>
            <a:spLocks noGrp="1"/>
          </p:cNvSpPr>
          <p:nvPr>
            <p:ph type="title"/>
          </p:nvPr>
        </p:nvSpPr>
        <p:spPr/>
        <p:txBody>
          <a:bodyPr/>
          <a:lstStyle/>
          <a:p>
            <a:r>
              <a:rPr lang="en-US" dirty="0"/>
              <a:t>Previous Lecture</a:t>
            </a:r>
          </a:p>
        </p:txBody>
      </p:sp>
    </p:spTree>
    <p:extLst>
      <p:ext uri="{BB962C8B-B14F-4D97-AF65-F5344CB8AC3E}">
        <p14:creationId xmlns:p14="http://schemas.microsoft.com/office/powerpoint/2010/main" val="2111429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Reading Data from a File</a:t>
            </a:r>
          </a:p>
          <a:p>
            <a:r>
              <a:rPr lang="en-US" dirty="0"/>
              <a:t>The Read Position</a:t>
            </a:r>
          </a:p>
          <a:p>
            <a:r>
              <a:rPr lang="en-US" dirty="0"/>
              <a:t>Reading Numeric Data From a Text File </a:t>
            </a:r>
          </a:p>
          <a:p>
            <a:r>
              <a:rPr lang="en-US" dirty="0"/>
              <a:t>Using Loops to Process Files </a:t>
            </a:r>
          </a:p>
          <a:p>
            <a:r>
              <a:rPr lang="en-US" dirty="0"/>
              <a:t>Detecting the End of the File</a:t>
            </a:r>
          </a:p>
          <a:p>
            <a:r>
              <a:rPr lang="en-US" dirty="0"/>
              <a:t>Testing for File Open </a:t>
            </a:r>
            <a:r>
              <a:rPr lang="en-US" dirty="0" smtClean="0"/>
              <a:t>Errors</a:t>
            </a:r>
          </a:p>
          <a:p>
            <a:r>
              <a:rPr lang="en-US" dirty="0"/>
              <a:t>Letting the User Specify a Filename</a:t>
            </a:r>
            <a:endParaRPr lang="en-US" dirty="0"/>
          </a:p>
        </p:txBody>
      </p:sp>
      <p:sp>
        <p:nvSpPr>
          <p:cNvPr id="4"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59353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a:t>
            </a:r>
            <a:r>
              <a:rPr lang="en-US" dirty="0" err="1"/>
              <a:t>ifstream</a:t>
            </a:r>
            <a:r>
              <a:rPr lang="en-US" dirty="0"/>
              <a:t> class can be used to read data from a text file</a:t>
            </a:r>
            <a:r>
              <a:rPr lang="en-US" dirty="0" smtClean="0"/>
              <a:t>.</a:t>
            </a:r>
          </a:p>
          <a:p>
            <a:pPr algn="just"/>
            <a:r>
              <a:rPr lang="en-US" dirty="0" smtClean="0"/>
              <a:t>The </a:t>
            </a:r>
            <a:r>
              <a:rPr lang="en-US" dirty="0"/>
              <a:t>&gt;&gt; operator not only reads user input from the </a:t>
            </a:r>
            <a:r>
              <a:rPr lang="en-US" dirty="0" err="1"/>
              <a:t>cin</a:t>
            </a:r>
            <a:r>
              <a:rPr lang="en-US" dirty="0"/>
              <a:t> object, but also data from a file. </a:t>
            </a:r>
            <a:endParaRPr lang="en-US" dirty="0" smtClean="0"/>
          </a:p>
          <a:p>
            <a:pPr algn="just"/>
            <a:r>
              <a:rPr lang="en-US" dirty="0" smtClean="0"/>
              <a:t>Assuming </a:t>
            </a:r>
            <a:r>
              <a:rPr lang="en-US" dirty="0" err="1" smtClean="0"/>
              <a:t>inputFile</a:t>
            </a:r>
            <a:r>
              <a:rPr lang="en-US" dirty="0" smtClean="0"/>
              <a:t> </a:t>
            </a:r>
            <a:r>
              <a:rPr lang="en-US" dirty="0"/>
              <a:t>is an if stream object, the following statement shows the &gt;&gt; operator reading data from the file into the variable name: </a:t>
            </a:r>
            <a:endParaRPr lang="en-US" dirty="0" smtClean="0"/>
          </a:p>
        </p:txBody>
      </p:sp>
      <p:sp>
        <p:nvSpPr>
          <p:cNvPr id="4" name="Title 2"/>
          <p:cNvSpPr>
            <a:spLocks noGrp="1"/>
          </p:cNvSpPr>
          <p:nvPr>
            <p:ph type="title"/>
          </p:nvPr>
        </p:nvSpPr>
        <p:spPr>
          <a:xfrm>
            <a:off x="0" y="469750"/>
            <a:ext cx="9067800" cy="1054250"/>
          </a:xfrm>
        </p:spPr>
        <p:txBody>
          <a:bodyPr/>
          <a:lstStyle/>
          <a:p>
            <a:pPr marL="914400"/>
            <a:r>
              <a:rPr lang="en-US" dirty="0"/>
              <a:t>Reading Data from a File</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944" y="5229225"/>
            <a:ext cx="4470256"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7461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400"/>
            <a:ext cx="5645574" cy="6521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174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644" y="4191000"/>
            <a:ext cx="4298156"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781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fade">
                                      <p:cBhvr>
                                        <p:cTn id="7" dur="500"/>
                                        <p:tgtEl>
                                          <p:spTgt spid="1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When a file has been opened for input, the file stream object internally maintains a special value known as a </a:t>
            </a:r>
            <a:r>
              <a:rPr lang="en-US" b="1" dirty="0"/>
              <a:t>read position</a:t>
            </a:r>
            <a:r>
              <a:rPr lang="en-US" dirty="0"/>
              <a:t>. </a:t>
            </a:r>
            <a:endParaRPr lang="en-US" dirty="0" smtClean="0"/>
          </a:p>
          <a:p>
            <a:pPr algn="just"/>
            <a:r>
              <a:rPr lang="en-US" dirty="0" smtClean="0"/>
              <a:t>A </a:t>
            </a:r>
            <a:r>
              <a:rPr lang="en-US" dirty="0"/>
              <a:t>file’s read position marks the location of the next byte that will be read from the file. </a:t>
            </a:r>
            <a:endParaRPr lang="en-US" dirty="0" smtClean="0"/>
          </a:p>
          <a:p>
            <a:pPr algn="just"/>
            <a:r>
              <a:rPr lang="en-US" dirty="0" smtClean="0"/>
              <a:t>When </a:t>
            </a:r>
            <a:r>
              <a:rPr lang="en-US" dirty="0"/>
              <a:t>an input file is opened, its read position is initially set to the first byte in the file. </a:t>
            </a:r>
          </a:p>
          <a:p>
            <a:pPr algn="just"/>
            <a:r>
              <a:rPr lang="en-US" dirty="0" smtClean="0"/>
              <a:t>So</a:t>
            </a:r>
            <a:r>
              <a:rPr lang="en-US" dirty="0"/>
              <a:t>, the first read operation extracts data starting at the first byte. As data is read from the file, the read position moves forward, toward the end of the file. </a:t>
            </a:r>
            <a:endParaRPr lang="en-US" dirty="0" smtClean="0"/>
          </a:p>
        </p:txBody>
      </p:sp>
      <p:sp>
        <p:nvSpPr>
          <p:cNvPr id="4" name="Title 2"/>
          <p:cNvSpPr>
            <a:spLocks noGrp="1"/>
          </p:cNvSpPr>
          <p:nvPr>
            <p:ph type="title"/>
          </p:nvPr>
        </p:nvSpPr>
        <p:spPr>
          <a:xfrm>
            <a:off x="0" y="469750"/>
            <a:ext cx="9067800" cy="1054250"/>
          </a:xfrm>
        </p:spPr>
        <p:txBody>
          <a:bodyPr/>
          <a:lstStyle/>
          <a:p>
            <a:pPr marL="914400"/>
            <a:r>
              <a:rPr lang="en-US" dirty="0"/>
              <a:t>The Read Position</a:t>
            </a:r>
          </a:p>
        </p:txBody>
      </p:sp>
    </p:spTree>
    <p:extLst>
      <p:ext uri="{BB962C8B-B14F-4D97-AF65-F5344CB8AC3E}">
        <p14:creationId xmlns:p14="http://schemas.microsoft.com/office/powerpoint/2010/main" val="18537923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p:cNvGraphicFramePr>
            <a:graphicFrameLocks noGrp="1"/>
          </p:cNvGraphicFramePr>
          <p:nvPr>
            <p:ph idx="1"/>
            <p:extLst>
              <p:ext uri="{D42A27DB-BD31-4B8C-83A1-F6EECF244321}">
                <p14:modId xmlns:p14="http://schemas.microsoft.com/office/powerpoint/2010/main" val="4184834857"/>
              </p:ext>
            </p:extLst>
          </p:nvPr>
        </p:nvGraphicFramePr>
        <p:xfrm>
          <a:off x="304800" y="2362200"/>
          <a:ext cx="8534401" cy="457200"/>
        </p:xfrm>
        <a:graphic>
          <a:graphicData uri="http://schemas.openxmlformats.org/drawingml/2006/table">
            <a:tbl>
              <a:tblPr firstRow="1" bandRow="1">
                <a:tableStyleId>{5C22544A-7EE6-4342-B048-85BDC9FD1C3A}</a:tableStyleId>
              </a:tblPr>
              <a:tblGrid>
                <a:gridCol w="426720"/>
                <a:gridCol w="426720"/>
                <a:gridCol w="426720"/>
                <a:gridCol w="426720"/>
                <a:gridCol w="426720"/>
                <a:gridCol w="426720"/>
                <a:gridCol w="426720"/>
                <a:gridCol w="426720"/>
                <a:gridCol w="597658"/>
                <a:gridCol w="386793"/>
                <a:gridCol w="374316"/>
                <a:gridCol w="348114"/>
                <a:gridCol w="587676"/>
                <a:gridCol w="387683"/>
                <a:gridCol w="381000"/>
                <a:gridCol w="457200"/>
                <a:gridCol w="304800"/>
                <a:gridCol w="441961"/>
                <a:gridCol w="320039"/>
                <a:gridCol w="533401"/>
              </a:tblGrid>
              <a:tr h="457200">
                <a:tc>
                  <a:txBody>
                    <a:bodyPr/>
                    <a:lstStyle/>
                    <a:p>
                      <a:r>
                        <a:rPr lang="en-US" dirty="0" smtClean="0"/>
                        <a:t>S</a:t>
                      </a:r>
                      <a:endParaRPr lang="en-US" dirty="0"/>
                    </a:p>
                  </a:txBody>
                  <a:tcPr/>
                </a:tc>
                <a:tc>
                  <a:txBody>
                    <a:bodyPr/>
                    <a:lstStyle/>
                    <a:p>
                      <a:r>
                        <a:rPr lang="en-US" dirty="0" smtClean="0"/>
                        <a:t>h</a:t>
                      </a:r>
                      <a:endParaRPr lang="en-US" dirty="0"/>
                    </a:p>
                  </a:txBody>
                  <a:tcPr/>
                </a:tc>
                <a:tc>
                  <a:txBody>
                    <a:bodyPr/>
                    <a:lstStyle/>
                    <a:p>
                      <a:r>
                        <a:rPr lang="en-US" dirty="0" smtClean="0"/>
                        <a:t>a</a:t>
                      </a:r>
                      <a:endParaRPr lang="en-US" dirty="0"/>
                    </a:p>
                  </a:txBody>
                  <a:tcPr/>
                </a:tc>
                <a:tc>
                  <a:txBody>
                    <a:bodyPr/>
                    <a:lstStyle/>
                    <a:p>
                      <a:r>
                        <a:rPr lang="en-US" dirty="0" smtClean="0"/>
                        <a:t>z</a:t>
                      </a:r>
                      <a:endParaRPr lang="en-US" dirty="0"/>
                    </a:p>
                  </a:txBody>
                  <a:tcPr/>
                </a:tc>
                <a:tc>
                  <a:txBody>
                    <a:bodyPr/>
                    <a:lstStyle/>
                    <a:p>
                      <a:r>
                        <a:rPr lang="en-US" dirty="0" smtClean="0"/>
                        <a:t>m</a:t>
                      </a:r>
                      <a:endParaRPr lang="en-US" dirty="0"/>
                    </a:p>
                  </a:txBody>
                  <a:tcPr/>
                </a:tc>
                <a:tc>
                  <a:txBody>
                    <a:bodyPr/>
                    <a:lstStyle/>
                    <a:p>
                      <a:r>
                        <a:rPr lang="en-US" dirty="0" smtClean="0"/>
                        <a:t>e</a:t>
                      </a:r>
                      <a:endParaRPr lang="en-US" dirty="0"/>
                    </a:p>
                  </a:txBody>
                  <a:tcPr/>
                </a:tc>
                <a:tc>
                  <a:txBody>
                    <a:bodyPr/>
                    <a:lstStyle/>
                    <a:p>
                      <a:r>
                        <a:rPr lang="en-US" dirty="0" smtClean="0"/>
                        <a:t>e</a:t>
                      </a:r>
                      <a:endParaRPr lang="en-US" dirty="0"/>
                    </a:p>
                  </a:txBody>
                  <a:tcPr/>
                </a:tc>
                <a:tc>
                  <a:txBody>
                    <a:bodyPr/>
                    <a:lstStyle/>
                    <a:p>
                      <a:r>
                        <a:rPr lang="en-US" dirty="0" smtClean="0"/>
                        <a:t>n</a:t>
                      </a:r>
                      <a:endParaRPr lang="en-US" dirty="0"/>
                    </a:p>
                  </a:txBody>
                  <a:tcPr/>
                </a:tc>
                <a:tc>
                  <a:txBody>
                    <a:bodyPr/>
                    <a:lstStyle/>
                    <a:p>
                      <a:r>
                        <a:rPr lang="en-US" dirty="0" smtClean="0"/>
                        <a:t>\n</a:t>
                      </a:r>
                      <a:endParaRPr lang="en-US" dirty="0"/>
                    </a:p>
                  </a:txBody>
                  <a:tcPr/>
                </a:tc>
                <a:tc>
                  <a:txBody>
                    <a:bodyPr/>
                    <a:lstStyle/>
                    <a:p>
                      <a:r>
                        <a:rPr lang="en-US" dirty="0" smtClean="0"/>
                        <a:t>A</a:t>
                      </a:r>
                      <a:endParaRPr lang="en-US" dirty="0"/>
                    </a:p>
                  </a:txBody>
                  <a:tcPr/>
                </a:tc>
                <a:tc>
                  <a:txBody>
                    <a:bodyPr/>
                    <a:lstStyle/>
                    <a:p>
                      <a:r>
                        <a:rPr lang="en-US" dirty="0" smtClean="0"/>
                        <a:t>l</a:t>
                      </a:r>
                      <a:endParaRPr lang="en-US" dirty="0"/>
                    </a:p>
                  </a:txBody>
                  <a:tcPr/>
                </a:tc>
                <a:tc>
                  <a:txBody>
                    <a:bodyPr/>
                    <a:lstStyle/>
                    <a:p>
                      <a:r>
                        <a:rPr lang="en-US" dirty="0" smtClean="0"/>
                        <a:t>i</a:t>
                      </a:r>
                      <a:endParaRPr lang="en-US" dirty="0"/>
                    </a:p>
                  </a:txBody>
                  <a:tcPr/>
                </a:tc>
                <a:tc>
                  <a:txBody>
                    <a:bodyPr/>
                    <a:lstStyle/>
                    <a:p>
                      <a:r>
                        <a:rPr lang="en-US" dirty="0" smtClean="0"/>
                        <a:t>\n</a:t>
                      </a:r>
                      <a:endParaRPr lang="en-US" dirty="0"/>
                    </a:p>
                  </a:txBody>
                  <a:tcPr/>
                </a:tc>
                <a:tc>
                  <a:txBody>
                    <a:bodyPr/>
                    <a:lstStyle/>
                    <a:p>
                      <a:r>
                        <a:rPr lang="en-US" dirty="0" smtClean="0"/>
                        <a:t>A</a:t>
                      </a:r>
                      <a:endParaRPr lang="en-US" dirty="0"/>
                    </a:p>
                  </a:txBody>
                  <a:tcPr/>
                </a:tc>
                <a:tc>
                  <a:txBody>
                    <a:bodyPr/>
                    <a:lstStyle/>
                    <a:p>
                      <a:r>
                        <a:rPr lang="en-US" dirty="0" smtClean="0"/>
                        <a:t>y</a:t>
                      </a:r>
                      <a:endParaRPr lang="en-US" dirty="0"/>
                    </a:p>
                  </a:txBody>
                  <a:tcPr/>
                </a:tc>
                <a:tc>
                  <a:txBody>
                    <a:bodyPr/>
                    <a:lstStyle/>
                    <a:p>
                      <a:r>
                        <a:rPr lang="en-US" dirty="0" smtClean="0"/>
                        <a:t>e</a:t>
                      </a:r>
                      <a:endParaRPr lang="en-US" dirty="0"/>
                    </a:p>
                  </a:txBody>
                  <a:tcPr/>
                </a:tc>
                <a:tc>
                  <a:txBody>
                    <a:bodyPr/>
                    <a:lstStyle/>
                    <a:p>
                      <a:r>
                        <a:rPr lang="en-US" dirty="0" smtClean="0"/>
                        <a:t>s</a:t>
                      </a:r>
                      <a:endParaRPr lang="en-US" dirty="0"/>
                    </a:p>
                  </a:txBody>
                  <a:tcPr/>
                </a:tc>
                <a:tc>
                  <a:txBody>
                    <a:bodyPr/>
                    <a:lstStyle/>
                    <a:p>
                      <a:r>
                        <a:rPr lang="en-US" dirty="0" smtClean="0"/>
                        <a:t>h</a:t>
                      </a:r>
                      <a:endParaRPr lang="en-US" dirty="0"/>
                    </a:p>
                  </a:txBody>
                  <a:tcPr/>
                </a:tc>
                <a:tc>
                  <a:txBody>
                    <a:bodyPr/>
                    <a:lstStyle/>
                    <a:p>
                      <a:r>
                        <a:rPr lang="en-US" dirty="0" smtClean="0"/>
                        <a:t>a</a:t>
                      </a:r>
                      <a:endParaRPr lang="en-US" dirty="0"/>
                    </a:p>
                  </a:txBody>
                  <a:tcPr/>
                </a:tc>
                <a:tc>
                  <a:txBody>
                    <a:bodyPr/>
                    <a:lstStyle/>
                    <a:p>
                      <a:r>
                        <a:rPr lang="en-US" dirty="0" smtClean="0"/>
                        <a:t>\n</a:t>
                      </a:r>
                      <a:endParaRPr lang="en-US" dirty="0"/>
                    </a:p>
                  </a:txBody>
                  <a:tcPr/>
                </a:tc>
              </a:tr>
            </a:tbl>
          </a:graphicData>
        </a:graphic>
      </p:graphicFrame>
      <p:sp>
        <p:nvSpPr>
          <p:cNvPr id="4" name="Title 2"/>
          <p:cNvSpPr>
            <a:spLocks noGrp="1"/>
          </p:cNvSpPr>
          <p:nvPr>
            <p:ph type="title"/>
          </p:nvPr>
        </p:nvSpPr>
        <p:spPr>
          <a:xfrm>
            <a:off x="0" y="469750"/>
            <a:ext cx="9067800" cy="1054250"/>
          </a:xfrm>
        </p:spPr>
        <p:txBody>
          <a:bodyPr/>
          <a:lstStyle/>
          <a:p>
            <a:pPr marL="914400"/>
            <a:r>
              <a:rPr lang="en-US" dirty="0"/>
              <a:t>The Read Position</a:t>
            </a:r>
          </a:p>
        </p:txBody>
      </p:sp>
      <p:cxnSp>
        <p:nvCxnSpPr>
          <p:cNvPr id="6" name="Straight Arrow Connector 5"/>
          <p:cNvCxnSpPr/>
          <p:nvPr/>
        </p:nvCxnSpPr>
        <p:spPr>
          <a:xfrm flipV="1">
            <a:off x="304800" y="27432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0" y="3048000"/>
            <a:ext cx="1653017" cy="369332"/>
          </a:xfrm>
          <a:prstGeom prst="rect">
            <a:avLst/>
          </a:prstGeom>
          <a:noFill/>
        </p:spPr>
        <p:txBody>
          <a:bodyPr wrap="none" rtlCol="0">
            <a:spAutoFit/>
          </a:bodyPr>
          <a:lstStyle/>
          <a:p>
            <a:r>
              <a:rPr lang="en-US" b="1" dirty="0" smtClean="0"/>
              <a:t>Read Position</a:t>
            </a:r>
            <a:endParaRPr lang="en-US" b="1" dirty="0"/>
          </a:p>
        </p:txBody>
      </p:sp>
      <p:sp>
        <p:nvSpPr>
          <p:cNvPr id="9" name="Content Placeholder 1"/>
          <p:cNvSpPr txBox="1">
            <a:spLocks/>
          </p:cNvSpPr>
          <p:nvPr/>
        </p:nvSpPr>
        <p:spPr>
          <a:xfrm>
            <a:off x="152400" y="2248347"/>
            <a:ext cx="8839199" cy="4457253"/>
          </a:xfrm>
          <a:prstGeom prst="rect">
            <a:avLst/>
          </a:prstGeom>
        </p:spPr>
        <p:txBody>
          <a:bodyPr vert="horz" lIns="91440" tIns="45720" rIns="91440" bIns="45720" rtlCol="0">
            <a:normAutofit fontScale="92500" lnSpcReduction="20000"/>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algn="just"/>
            <a:endParaRPr lang="en-US" dirty="0" smtClean="0"/>
          </a:p>
          <a:p>
            <a:pPr algn="just"/>
            <a:endParaRPr lang="en-US" dirty="0"/>
          </a:p>
          <a:p>
            <a:pPr algn="just"/>
            <a:endParaRPr lang="en-US" dirty="0" smtClean="0"/>
          </a:p>
          <a:p>
            <a:pPr algn="just"/>
            <a:endParaRPr lang="en-US" dirty="0"/>
          </a:p>
          <a:p>
            <a:pPr algn="just"/>
            <a:r>
              <a:rPr lang="en-US" sz="2500" dirty="0" smtClean="0"/>
              <a:t>Keep in mind that when the &gt;&gt; operator extracts data from a file, it expects to read pieces of data that are separated by whitespace characters (spaces, tabs, or newlines). </a:t>
            </a:r>
          </a:p>
          <a:p>
            <a:pPr algn="just"/>
            <a:r>
              <a:rPr lang="en-US" sz="2500" dirty="0" smtClean="0"/>
              <a:t>When the statement in line 14 executes, the &gt;&gt; operator reads data from the file’s current read position, up to the \n character. </a:t>
            </a:r>
          </a:p>
          <a:p>
            <a:pPr algn="just"/>
            <a:r>
              <a:rPr lang="en-US" sz="2500" dirty="0" smtClean="0"/>
              <a:t>The data that is read from the file is assigned to the name object. </a:t>
            </a:r>
          </a:p>
          <a:p>
            <a:pPr algn="just"/>
            <a:r>
              <a:rPr lang="en-US" sz="2500" dirty="0" smtClean="0"/>
              <a:t>The \n character is also read from the file, but is not included as part of the data. So, the name object will hold the value “Shazmeen" after this statement executes</a:t>
            </a:r>
          </a:p>
        </p:txBody>
      </p:sp>
    </p:spTree>
    <p:extLst>
      <p:ext uri="{BB962C8B-B14F-4D97-AF65-F5344CB8AC3E}">
        <p14:creationId xmlns:p14="http://schemas.microsoft.com/office/powerpoint/2010/main" val="6616760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p:cNvGraphicFramePr>
            <a:graphicFrameLocks noGrp="1"/>
          </p:cNvGraphicFramePr>
          <p:nvPr>
            <p:ph idx="1"/>
            <p:extLst>
              <p:ext uri="{D42A27DB-BD31-4B8C-83A1-F6EECF244321}">
                <p14:modId xmlns:p14="http://schemas.microsoft.com/office/powerpoint/2010/main" val="3423214798"/>
              </p:ext>
            </p:extLst>
          </p:nvPr>
        </p:nvGraphicFramePr>
        <p:xfrm>
          <a:off x="304797" y="2743200"/>
          <a:ext cx="8534401" cy="457200"/>
        </p:xfrm>
        <a:graphic>
          <a:graphicData uri="http://schemas.openxmlformats.org/drawingml/2006/table">
            <a:tbl>
              <a:tblPr firstRow="1" bandRow="1">
                <a:tableStyleId>{5C22544A-7EE6-4342-B048-85BDC9FD1C3A}</a:tableStyleId>
              </a:tblPr>
              <a:tblGrid>
                <a:gridCol w="426720"/>
                <a:gridCol w="426720"/>
                <a:gridCol w="426720"/>
                <a:gridCol w="426720"/>
                <a:gridCol w="426720"/>
                <a:gridCol w="426720"/>
                <a:gridCol w="426720"/>
                <a:gridCol w="426720"/>
                <a:gridCol w="597658"/>
                <a:gridCol w="386793"/>
                <a:gridCol w="374316"/>
                <a:gridCol w="348114"/>
                <a:gridCol w="587676"/>
                <a:gridCol w="387683"/>
                <a:gridCol w="381000"/>
                <a:gridCol w="457200"/>
                <a:gridCol w="304800"/>
                <a:gridCol w="441961"/>
                <a:gridCol w="320039"/>
                <a:gridCol w="533401"/>
              </a:tblGrid>
              <a:tr h="457200">
                <a:tc>
                  <a:txBody>
                    <a:bodyPr/>
                    <a:lstStyle/>
                    <a:p>
                      <a:r>
                        <a:rPr lang="en-US" dirty="0" smtClean="0"/>
                        <a:t>S</a:t>
                      </a:r>
                      <a:endParaRPr lang="en-US" dirty="0"/>
                    </a:p>
                  </a:txBody>
                  <a:tcPr/>
                </a:tc>
                <a:tc>
                  <a:txBody>
                    <a:bodyPr/>
                    <a:lstStyle/>
                    <a:p>
                      <a:r>
                        <a:rPr lang="en-US" dirty="0" smtClean="0"/>
                        <a:t>h</a:t>
                      </a:r>
                      <a:endParaRPr lang="en-US" dirty="0"/>
                    </a:p>
                  </a:txBody>
                  <a:tcPr/>
                </a:tc>
                <a:tc>
                  <a:txBody>
                    <a:bodyPr/>
                    <a:lstStyle/>
                    <a:p>
                      <a:r>
                        <a:rPr lang="en-US" dirty="0" smtClean="0"/>
                        <a:t>a</a:t>
                      </a:r>
                      <a:endParaRPr lang="en-US" dirty="0"/>
                    </a:p>
                  </a:txBody>
                  <a:tcPr/>
                </a:tc>
                <a:tc>
                  <a:txBody>
                    <a:bodyPr/>
                    <a:lstStyle/>
                    <a:p>
                      <a:r>
                        <a:rPr lang="en-US" dirty="0" smtClean="0"/>
                        <a:t>z</a:t>
                      </a:r>
                      <a:endParaRPr lang="en-US" dirty="0"/>
                    </a:p>
                  </a:txBody>
                  <a:tcPr/>
                </a:tc>
                <a:tc>
                  <a:txBody>
                    <a:bodyPr/>
                    <a:lstStyle/>
                    <a:p>
                      <a:r>
                        <a:rPr lang="en-US" dirty="0" smtClean="0"/>
                        <a:t>m</a:t>
                      </a:r>
                      <a:endParaRPr lang="en-US" dirty="0"/>
                    </a:p>
                  </a:txBody>
                  <a:tcPr/>
                </a:tc>
                <a:tc>
                  <a:txBody>
                    <a:bodyPr/>
                    <a:lstStyle/>
                    <a:p>
                      <a:r>
                        <a:rPr lang="en-US" dirty="0" smtClean="0"/>
                        <a:t>e</a:t>
                      </a:r>
                      <a:endParaRPr lang="en-US" dirty="0"/>
                    </a:p>
                  </a:txBody>
                  <a:tcPr/>
                </a:tc>
                <a:tc>
                  <a:txBody>
                    <a:bodyPr/>
                    <a:lstStyle/>
                    <a:p>
                      <a:r>
                        <a:rPr lang="en-US" dirty="0" smtClean="0"/>
                        <a:t>e</a:t>
                      </a:r>
                      <a:endParaRPr lang="en-US" dirty="0"/>
                    </a:p>
                  </a:txBody>
                  <a:tcPr/>
                </a:tc>
                <a:tc>
                  <a:txBody>
                    <a:bodyPr/>
                    <a:lstStyle/>
                    <a:p>
                      <a:r>
                        <a:rPr lang="en-US" dirty="0" smtClean="0"/>
                        <a:t>n</a:t>
                      </a:r>
                      <a:endParaRPr lang="en-US" dirty="0"/>
                    </a:p>
                  </a:txBody>
                  <a:tcPr/>
                </a:tc>
                <a:tc>
                  <a:txBody>
                    <a:bodyPr/>
                    <a:lstStyle/>
                    <a:p>
                      <a:r>
                        <a:rPr lang="en-US" dirty="0" smtClean="0"/>
                        <a:t>\n</a:t>
                      </a:r>
                      <a:endParaRPr lang="en-US" dirty="0"/>
                    </a:p>
                  </a:txBody>
                  <a:tcPr/>
                </a:tc>
                <a:tc>
                  <a:txBody>
                    <a:bodyPr/>
                    <a:lstStyle/>
                    <a:p>
                      <a:r>
                        <a:rPr lang="en-US" dirty="0" smtClean="0"/>
                        <a:t>A</a:t>
                      </a:r>
                      <a:endParaRPr lang="en-US" dirty="0"/>
                    </a:p>
                  </a:txBody>
                  <a:tcPr/>
                </a:tc>
                <a:tc>
                  <a:txBody>
                    <a:bodyPr/>
                    <a:lstStyle/>
                    <a:p>
                      <a:r>
                        <a:rPr lang="en-US" dirty="0" smtClean="0"/>
                        <a:t>l</a:t>
                      </a:r>
                      <a:endParaRPr lang="en-US" dirty="0"/>
                    </a:p>
                  </a:txBody>
                  <a:tcPr/>
                </a:tc>
                <a:tc>
                  <a:txBody>
                    <a:bodyPr/>
                    <a:lstStyle/>
                    <a:p>
                      <a:r>
                        <a:rPr lang="en-US" dirty="0" smtClean="0"/>
                        <a:t>i</a:t>
                      </a:r>
                      <a:endParaRPr lang="en-US" dirty="0"/>
                    </a:p>
                  </a:txBody>
                  <a:tcPr/>
                </a:tc>
                <a:tc>
                  <a:txBody>
                    <a:bodyPr/>
                    <a:lstStyle/>
                    <a:p>
                      <a:r>
                        <a:rPr lang="en-US" dirty="0" smtClean="0"/>
                        <a:t>\n</a:t>
                      </a:r>
                      <a:endParaRPr lang="en-US" dirty="0"/>
                    </a:p>
                  </a:txBody>
                  <a:tcPr/>
                </a:tc>
                <a:tc>
                  <a:txBody>
                    <a:bodyPr/>
                    <a:lstStyle/>
                    <a:p>
                      <a:r>
                        <a:rPr lang="en-US" dirty="0" smtClean="0"/>
                        <a:t>A</a:t>
                      </a:r>
                      <a:endParaRPr lang="en-US" dirty="0"/>
                    </a:p>
                  </a:txBody>
                  <a:tcPr/>
                </a:tc>
                <a:tc>
                  <a:txBody>
                    <a:bodyPr/>
                    <a:lstStyle/>
                    <a:p>
                      <a:r>
                        <a:rPr lang="en-US" dirty="0" smtClean="0"/>
                        <a:t>y</a:t>
                      </a:r>
                      <a:endParaRPr lang="en-US" dirty="0"/>
                    </a:p>
                  </a:txBody>
                  <a:tcPr/>
                </a:tc>
                <a:tc>
                  <a:txBody>
                    <a:bodyPr/>
                    <a:lstStyle/>
                    <a:p>
                      <a:r>
                        <a:rPr lang="en-US" dirty="0" smtClean="0"/>
                        <a:t>e</a:t>
                      </a:r>
                      <a:endParaRPr lang="en-US" dirty="0"/>
                    </a:p>
                  </a:txBody>
                  <a:tcPr/>
                </a:tc>
                <a:tc>
                  <a:txBody>
                    <a:bodyPr/>
                    <a:lstStyle/>
                    <a:p>
                      <a:r>
                        <a:rPr lang="en-US" dirty="0" smtClean="0"/>
                        <a:t>s</a:t>
                      </a:r>
                      <a:endParaRPr lang="en-US" dirty="0"/>
                    </a:p>
                  </a:txBody>
                  <a:tcPr/>
                </a:tc>
                <a:tc>
                  <a:txBody>
                    <a:bodyPr/>
                    <a:lstStyle/>
                    <a:p>
                      <a:r>
                        <a:rPr lang="en-US" dirty="0" smtClean="0"/>
                        <a:t>h</a:t>
                      </a:r>
                      <a:endParaRPr lang="en-US" dirty="0"/>
                    </a:p>
                  </a:txBody>
                  <a:tcPr/>
                </a:tc>
                <a:tc>
                  <a:txBody>
                    <a:bodyPr/>
                    <a:lstStyle/>
                    <a:p>
                      <a:r>
                        <a:rPr lang="en-US" dirty="0" smtClean="0"/>
                        <a:t>a</a:t>
                      </a:r>
                      <a:endParaRPr lang="en-US" dirty="0"/>
                    </a:p>
                  </a:txBody>
                  <a:tcPr/>
                </a:tc>
                <a:tc>
                  <a:txBody>
                    <a:bodyPr/>
                    <a:lstStyle/>
                    <a:p>
                      <a:r>
                        <a:rPr lang="en-US" dirty="0" smtClean="0"/>
                        <a:t>\n</a:t>
                      </a:r>
                      <a:endParaRPr lang="en-US" dirty="0"/>
                    </a:p>
                  </a:txBody>
                  <a:tcPr/>
                </a:tc>
              </a:tr>
            </a:tbl>
          </a:graphicData>
        </a:graphic>
      </p:graphicFrame>
      <p:sp>
        <p:nvSpPr>
          <p:cNvPr id="4" name="Title 2"/>
          <p:cNvSpPr>
            <a:spLocks noGrp="1"/>
          </p:cNvSpPr>
          <p:nvPr>
            <p:ph type="title"/>
          </p:nvPr>
        </p:nvSpPr>
        <p:spPr>
          <a:xfrm>
            <a:off x="0" y="469750"/>
            <a:ext cx="9067800" cy="1054250"/>
          </a:xfrm>
        </p:spPr>
        <p:txBody>
          <a:bodyPr/>
          <a:lstStyle/>
          <a:p>
            <a:pPr marL="914400"/>
            <a:r>
              <a:rPr lang="en-US" dirty="0"/>
              <a:t>The Read Position</a:t>
            </a:r>
          </a:p>
        </p:txBody>
      </p:sp>
      <p:cxnSp>
        <p:nvCxnSpPr>
          <p:cNvPr id="6" name="Straight Arrow Connector 5"/>
          <p:cNvCxnSpPr/>
          <p:nvPr/>
        </p:nvCxnSpPr>
        <p:spPr>
          <a:xfrm flipV="1">
            <a:off x="4343400" y="31242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516891" y="3440668"/>
            <a:ext cx="1653017" cy="369332"/>
          </a:xfrm>
          <a:prstGeom prst="rect">
            <a:avLst/>
          </a:prstGeom>
          <a:noFill/>
        </p:spPr>
        <p:txBody>
          <a:bodyPr wrap="none" rtlCol="0">
            <a:spAutoFit/>
          </a:bodyPr>
          <a:lstStyle/>
          <a:p>
            <a:r>
              <a:rPr lang="en-US" b="1" dirty="0" smtClean="0"/>
              <a:t>Read Position</a:t>
            </a:r>
            <a:endParaRPr lang="en-US" b="1" dirty="0"/>
          </a:p>
        </p:txBody>
      </p:sp>
      <p:sp>
        <p:nvSpPr>
          <p:cNvPr id="9" name="Content Placeholder 1"/>
          <p:cNvSpPr txBox="1">
            <a:spLocks/>
          </p:cNvSpPr>
          <p:nvPr/>
        </p:nvSpPr>
        <p:spPr>
          <a:xfrm>
            <a:off x="152400" y="2133600"/>
            <a:ext cx="8839199" cy="4572000"/>
          </a:xfrm>
          <a:prstGeom prst="rect">
            <a:avLst/>
          </a:prstGeom>
        </p:spPr>
        <p:txBody>
          <a:bodyPr vert="horz" lIns="91440" tIns="45720" rIns="91440" bIns="45720" rtlCol="0">
            <a:norm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algn="just"/>
            <a:r>
              <a:rPr lang="en-US" dirty="0" smtClean="0"/>
              <a:t>The </a:t>
            </a:r>
            <a:r>
              <a:rPr lang="en-US" dirty="0"/>
              <a:t>file’s read position will then be at the </a:t>
            </a:r>
            <a:r>
              <a:rPr lang="en-US" dirty="0" smtClean="0"/>
              <a:t>location:</a:t>
            </a:r>
          </a:p>
          <a:p>
            <a:pPr algn="just"/>
            <a:endParaRPr lang="en-US" dirty="0"/>
          </a:p>
          <a:p>
            <a:pPr algn="just"/>
            <a:endParaRPr lang="en-US" dirty="0" smtClean="0"/>
          </a:p>
          <a:p>
            <a:pPr algn="just"/>
            <a:endParaRPr lang="en-US" dirty="0"/>
          </a:p>
          <a:p>
            <a:pPr algn="just"/>
            <a:r>
              <a:rPr lang="en-US" dirty="0"/>
              <a:t>When the statement in line </a:t>
            </a:r>
            <a:r>
              <a:rPr lang="en-US" dirty="0" smtClean="0"/>
              <a:t>17 </a:t>
            </a:r>
            <a:r>
              <a:rPr lang="en-US" dirty="0"/>
              <a:t>executes, it reads the next item from the file, which is </a:t>
            </a:r>
            <a:r>
              <a:rPr lang="en-US" dirty="0" smtClean="0"/>
              <a:t>“Ali", </a:t>
            </a:r>
            <a:r>
              <a:rPr lang="en-US" dirty="0"/>
              <a:t>and assigns that value to the name object. After this statement executes, the file’s read position will be advanced to the next </a:t>
            </a:r>
            <a:r>
              <a:rPr lang="en-US" dirty="0" smtClean="0"/>
              <a:t>item.</a:t>
            </a:r>
          </a:p>
        </p:txBody>
      </p:sp>
      <p:graphicFrame>
        <p:nvGraphicFramePr>
          <p:cNvPr id="7" name="Content Placeholder 2"/>
          <p:cNvGraphicFramePr>
            <a:graphicFrameLocks/>
          </p:cNvGraphicFramePr>
          <p:nvPr>
            <p:extLst>
              <p:ext uri="{D42A27DB-BD31-4B8C-83A1-F6EECF244321}">
                <p14:modId xmlns:p14="http://schemas.microsoft.com/office/powerpoint/2010/main" val="582992441"/>
              </p:ext>
            </p:extLst>
          </p:nvPr>
        </p:nvGraphicFramePr>
        <p:xfrm>
          <a:off x="457197" y="5486400"/>
          <a:ext cx="8534401" cy="457200"/>
        </p:xfrm>
        <a:graphic>
          <a:graphicData uri="http://schemas.openxmlformats.org/drawingml/2006/table">
            <a:tbl>
              <a:tblPr firstRow="1" bandRow="1">
                <a:tableStyleId>{5C22544A-7EE6-4342-B048-85BDC9FD1C3A}</a:tableStyleId>
              </a:tblPr>
              <a:tblGrid>
                <a:gridCol w="426720"/>
                <a:gridCol w="426720"/>
                <a:gridCol w="426720"/>
                <a:gridCol w="426720"/>
                <a:gridCol w="426720"/>
                <a:gridCol w="426720"/>
                <a:gridCol w="426720"/>
                <a:gridCol w="426720"/>
                <a:gridCol w="597658"/>
                <a:gridCol w="386793"/>
                <a:gridCol w="374316"/>
                <a:gridCol w="348114"/>
                <a:gridCol w="587676"/>
                <a:gridCol w="387683"/>
                <a:gridCol w="381000"/>
                <a:gridCol w="457200"/>
                <a:gridCol w="304800"/>
                <a:gridCol w="441961"/>
                <a:gridCol w="320039"/>
                <a:gridCol w="533401"/>
              </a:tblGrid>
              <a:tr h="457200">
                <a:tc>
                  <a:txBody>
                    <a:bodyPr/>
                    <a:lstStyle/>
                    <a:p>
                      <a:r>
                        <a:rPr lang="en-US" dirty="0" smtClean="0"/>
                        <a:t>S</a:t>
                      </a:r>
                      <a:endParaRPr lang="en-US" dirty="0"/>
                    </a:p>
                  </a:txBody>
                  <a:tcPr/>
                </a:tc>
                <a:tc>
                  <a:txBody>
                    <a:bodyPr/>
                    <a:lstStyle/>
                    <a:p>
                      <a:r>
                        <a:rPr lang="en-US" dirty="0" smtClean="0"/>
                        <a:t>h</a:t>
                      </a:r>
                      <a:endParaRPr lang="en-US" dirty="0"/>
                    </a:p>
                  </a:txBody>
                  <a:tcPr/>
                </a:tc>
                <a:tc>
                  <a:txBody>
                    <a:bodyPr/>
                    <a:lstStyle/>
                    <a:p>
                      <a:r>
                        <a:rPr lang="en-US" dirty="0" smtClean="0"/>
                        <a:t>a</a:t>
                      </a:r>
                      <a:endParaRPr lang="en-US" dirty="0"/>
                    </a:p>
                  </a:txBody>
                  <a:tcPr/>
                </a:tc>
                <a:tc>
                  <a:txBody>
                    <a:bodyPr/>
                    <a:lstStyle/>
                    <a:p>
                      <a:r>
                        <a:rPr lang="en-US" dirty="0" smtClean="0"/>
                        <a:t>z</a:t>
                      </a:r>
                      <a:endParaRPr lang="en-US" dirty="0"/>
                    </a:p>
                  </a:txBody>
                  <a:tcPr/>
                </a:tc>
                <a:tc>
                  <a:txBody>
                    <a:bodyPr/>
                    <a:lstStyle/>
                    <a:p>
                      <a:r>
                        <a:rPr lang="en-US" dirty="0" smtClean="0"/>
                        <a:t>m</a:t>
                      </a:r>
                      <a:endParaRPr lang="en-US" dirty="0"/>
                    </a:p>
                  </a:txBody>
                  <a:tcPr/>
                </a:tc>
                <a:tc>
                  <a:txBody>
                    <a:bodyPr/>
                    <a:lstStyle/>
                    <a:p>
                      <a:r>
                        <a:rPr lang="en-US" dirty="0" smtClean="0"/>
                        <a:t>e</a:t>
                      </a:r>
                      <a:endParaRPr lang="en-US" dirty="0"/>
                    </a:p>
                  </a:txBody>
                  <a:tcPr/>
                </a:tc>
                <a:tc>
                  <a:txBody>
                    <a:bodyPr/>
                    <a:lstStyle/>
                    <a:p>
                      <a:r>
                        <a:rPr lang="en-US" dirty="0" smtClean="0"/>
                        <a:t>e</a:t>
                      </a:r>
                      <a:endParaRPr lang="en-US" dirty="0"/>
                    </a:p>
                  </a:txBody>
                  <a:tcPr/>
                </a:tc>
                <a:tc>
                  <a:txBody>
                    <a:bodyPr/>
                    <a:lstStyle/>
                    <a:p>
                      <a:r>
                        <a:rPr lang="en-US" dirty="0" smtClean="0"/>
                        <a:t>n</a:t>
                      </a:r>
                      <a:endParaRPr lang="en-US" dirty="0"/>
                    </a:p>
                  </a:txBody>
                  <a:tcPr/>
                </a:tc>
                <a:tc>
                  <a:txBody>
                    <a:bodyPr/>
                    <a:lstStyle/>
                    <a:p>
                      <a:r>
                        <a:rPr lang="en-US" dirty="0" smtClean="0"/>
                        <a:t>\n</a:t>
                      </a:r>
                      <a:endParaRPr lang="en-US" dirty="0"/>
                    </a:p>
                  </a:txBody>
                  <a:tcPr/>
                </a:tc>
                <a:tc>
                  <a:txBody>
                    <a:bodyPr/>
                    <a:lstStyle/>
                    <a:p>
                      <a:r>
                        <a:rPr lang="en-US" dirty="0" smtClean="0"/>
                        <a:t>A</a:t>
                      </a:r>
                      <a:endParaRPr lang="en-US" dirty="0"/>
                    </a:p>
                  </a:txBody>
                  <a:tcPr/>
                </a:tc>
                <a:tc>
                  <a:txBody>
                    <a:bodyPr/>
                    <a:lstStyle/>
                    <a:p>
                      <a:r>
                        <a:rPr lang="en-US" dirty="0" smtClean="0"/>
                        <a:t>l</a:t>
                      </a:r>
                      <a:endParaRPr lang="en-US" dirty="0"/>
                    </a:p>
                  </a:txBody>
                  <a:tcPr/>
                </a:tc>
                <a:tc>
                  <a:txBody>
                    <a:bodyPr/>
                    <a:lstStyle/>
                    <a:p>
                      <a:r>
                        <a:rPr lang="en-US" dirty="0" smtClean="0"/>
                        <a:t>i</a:t>
                      </a:r>
                      <a:endParaRPr lang="en-US" dirty="0"/>
                    </a:p>
                  </a:txBody>
                  <a:tcPr/>
                </a:tc>
                <a:tc>
                  <a:txBody>
                    <a:bodyPr/>
                    <a:lstStyle/>
                    <a:p>
                      <a:r>
                        <a:rPr lang="en-US" dirty="0" smtClean="0"/>
                        <a:t>\n</a:t>
                      </a:r>
                      <a:endParaRPr lang="en-US" dirty="0"/>
                    </a:p>
                  </a:txBody>
                  <a:tcPr/>
                </a:tc>
                <a:tc>
                  <a:txBody>
                    <a:bodyPr/>
                    <a:lstStyle/>
                    <a:p>
                      <a:r>
                        <a:rPr lang="en-US" dirty="0" smtClean="0"/>
                        <a:t>A</a:t>
                      </a:r>
                      <a:endParaRPr lang="en-US" dirty="0"/>
                    </a:p>
                  </a:txBody>
                  <a:tcPr/>
                </a:tc>
                <a:tc>
                  <a:txBody>
                    <a:bodyPr/>
                    <a:lstStyle/>
                    <a:p>
                      <a:r>
                        <a:rPr lang="en-US" dirty="0" smtClean="0"/>
                        <a:t>y</a:t>
                      </a:r>
                      <a:endParaRPr lang="en-US" dirty="0"/>
                    </a:p>
                  </a:txBody>
                  <a:tcPr/>
                </a:tc>
                <a:tc>
                  <a:txBody>
                    <a:bodyPr/>
                    <a:lstStyle/>
                    <a:p>
                      <a:r>
                        <a:rPr lang="en-US" dirty="0" smtClean="0"/>
                        <a:t>e</a:t>
                      </a:r>
                      <a:endParaRPr lang="en-US" dirty="0"/>
                    </a:p>
                  </a:txBody>
                  <a:tcPr/>
                </a:tc>
                <a:tc>
                  <a:txBody>
                    <a:bodyPr/>
                    <a:lstStyle/>
                    <a:p>
                      <a:r>
                        <a:rPr lang="en-US" dirty="0" smtClean="0"/>
                        <a:t>s</a:t>
                      </a:r>
                      <a:endParaRPr lang="en-US" dirty="0"/>
                    </a:p>
                  </a:txBody>
                  <a:tcPr/>
                </a:tc>
                <a:tc>
                  <a:txBody>
                    <a:bodyPr/>
                    <a:lstStyle/>
                    <a:p>
                      <a:r>
                        <a:rPr lang="en-US" dirty="0" smtClean="0"/>
                        <a:t>h</a:t>
                      </a:r>
                      <a:endParaRPr lang="en-US" dirty="0"/>
                    </a:p>
                  </a:txBody>
                  <a:tcPr/>
                </a:tc>
                <a:tc>
                  <a:txBody>
                    <a:bodyPr/>
                    <a:lstStyle/>
                    <a:p>
                      <a:r>
                        <a:rPr lang="en-US" dirty="0" smtClean="0"/>
                        <a:t>a</a:t>
                      </a:r>
                      <a:endParaRPr lang="en-US" dirty="0"/>
                    </a:p>
                  </a:txBody>
                  <a:tcPr/>
                </a:tc>
                <a:tc>
                  <a:txBody>
                    <a:bodyPr/>
                    <a:lstStyle/>
                    <a:p>
                      <a:r>
                        <a:rPr lang="en-US" dirty="0" smtClean="0"/>
                        <a:t>\n</a:t>
                      </a:r>
                      <a:endParaRPr lang="en-US" dirty="0"/>
                    </a:p>
                  </a:txBody>
                  <a:tcPr/>
                </a:tc>
              </a:tr>
            </a:tbl>
          </a:graphicData>
        </a:graphic>
      </p:graphicFrame>
      <p:cxnSp>
        <p:nvCxnSpPr>
          <p:cNvPr id="10" name="Straight Arrow Connector 9"/>
          <p:cNvCxnSpPr/>
          <p:nvPr/>
        </p:nvCxnSpPr>
        <p:spPr>
          <a:xfrm flipV="1">
            <a:off x="6172200" y="58674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357383" y="6172200"/>
            <a:ext cx="1653017" cy="369332"/>
          </a:xfrm>
          <a:prstGeom prst="rect">
            <a:avLst/>
          </a:prstGeom>
          <a:noFill/>
        </p:spPr>
        <p:txBody>
          <a:bodyPr wrap="none" rtlCol="0">
            <a:spAutoFit/>
          </a:bodyPr>
          <a:lstStyle/>
          <a:p>
            <a:r>
              <a:rPr lang="en-US" b="1" dirty="0" smtClean="0"/>
              <a:t>Read Position</a:t>
            </a:r>
            <a:endParaRPr lang="en-US" b="1" dirty="0"/>
          </a:p>
        </p:txBody>
      </p:sp>
    </p:spTree>
    <p:extLst>
      <p:ext uri="{BB962C8B-B14F-4D97-AF65-F5344CB8AC3E}">
        <p14:creationId xmlns:p14="http://schemas.microsoft.com/office/powerpoint/2010/main" val="3107636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0" y="469750"/>
            <a:ext cx="9067800" cy="1054250"/>
          </a:xfrm>
        </p:spPr>
        <p:txBody>
          <a:bodyPr/>
          <a:lstStyle/>
          <a:p>
            <a:pPr marL="914400"/>
            <a:r>
              <a:rPr lang="en-US" dirty="0"/>
              <a:t>The Read Position</a:t>
            </a:r>
          </a:p>
        </p:txBody>
      </p:sp>
      <p:sp>
        <p:nvSpPr>
          <p:cNvPr id="9" name="Content Placeholder 1"/>
          <p:cNvSpPr txBox="1">
            <a:spLocks/>
          </p:cNvSpPr>
          <p:nvPr/>
        </p:nvSpPr>
        <p:spPr>
          <a:xfrm>
            <a:off x="152400" y="2133600"/>
            <a:ext cx="8839199" cy="4572000"/>
          </a:xfrm>
          <a:prstGeom prst="rect">
            <a:avLst/>
          </a:prstGeom>
        </p:spPr>
        <p:txBody>
          <a:bodyPr vert="horz" lIns="91440" tIns="45720" rIns="91440" bIns="45720" rtlCol="0">
            <a:norm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algn="just"/>
            <a:r>
              <a:rPr lang="en-US" dirty="0" smtClean="0"/>
              <a:t>When </a:t>
            </a:r>
            <a:r>
              <a:rPr lang="en-US" dirty="0"/>
              <a:t>the statement in line </a:t>
            </a:r>
            <a:r>
              <a:rPr lang="en-US" dirty="0" smtClean="0"/>
              <a:t>20 </a:t>
            </a:r>
            <a:r>
              <a:rPr lang="en-US" dirty="0"/>
              <a:t>executes, it reads the next item from the file, which is </a:t>
            </a:r>
            <a:r>
              <a:rPr lang="en-US" dirty="0" smtClean="0"/>
              <a:t>“Ayesha", </a:t>
            </a:r>
            <a:r>
              <a:rPr lang="en-US" dirty="0"/>
              <a:t>and assigns that value to the name object. After this statement executes, the file’s read position will be advanced to the end of the file.</a:t>
            </a:r>
            <a:endParaRPr lang="en-US" dirty="0" smtClean="0"/>
          </a:p>
        </p:txBody>
      </p:sp>
      <p:graphicFrame>
        <p:nvGraphicFramePr>
          <p:cNvPr id="7" name="Content Placeholder 2"/>
          <p:cNvGraphicFramePr>
            <a:graphicFrameLocks/>
          </p:cNvGraphicFramePr>
          <p:nvPr>
            <p:extLst>
              <p:ext uri="{D42A27DB-BD31-4B8C-83A1-F6EECF244321}">
                <p14:modId xmlns:p14="http://schemas.microsoft.com/office/powerpoint/2010/main" val="2263373123"/>
              </p:ext>
            </p:extLst>
          </p:nvPr>
        </p:nvGraphicFramePr>
        <p:xfrm>
          <a:off x="304798" y="3886200"/>
          <a:ext cx="8534401" cy="457200"/>
        </p:xfrm>
        <a:graphic>
          <a:graphicData uri="http://schemas.openxmlformats.org/drawingml/2006/table">
            <a:tbl>
              <a:tblPr firstRow="1" bandRow="1">
                <a:tableStyleId>{5C22544A-7EE6-4342-B048-85BDC9FD1C3A}</a:tableStyleId>
              </a:tblPr>
              <a:tblGrid>
                <a:gridCol w="426720"/>
                <a:gridCol w="426720"/>
                <a:gridCol w="426720"/>
                <a:gridCol w="426720"/>
                <a:gridCol w="426720"/>
                <a:gridCol w="426720"/>
                <a:gridCol w="426720"/>
                <a:gridCol w="426720"/>
                <a:gridCol w="597658"/>
                <a:gridCol w="386793"/>
                <a:gridCol w="374316"/>
                <a:gridCol w="348114"/>
                <a:gridCol w="587676"/>
                <a:gridCol w="387683"/>
                <a:gridCol w="381000"/>
                <a:gridCol w="457200"/>
                <a:gridCol w="304800"/>
                <a:gridCol w="441961"/>
                <a:gridCol w="320039"/>
                <a:gridCol w="533401"/>
              </a:tblGrid>
              <a:tr h="457200">
                <a:tc>
                  <a:txBody>
                    <a:bodyPr/>
                    <a:lstStyle/>
                    <a:p>
                      <a:r>
                        <a:rPr lang="en-US" dirty="0" smtClean="0"/>
                        <a:t>S</a:t>
                      </a:r>
                      <a:endParaRPr lang="en-US" dirty="0"/>
                    </a:p>
                  </a:txBody>
                  <a:tcPr/>
                </a:tc>
                <a:tc>
                  <a:txBody>
                    <a:bodyPr/>
                    <a:lstStyle/>
                    <a:p>
                      <a:r>
                        <a:rPr lang="en-US" dirty="0" smtClean="0"/>
                        <a:t>h</a:t>
                      </a:r>
                      <a:endParaRPr lang="en-US" dirty="0"/>
                    </a:p>
                  </a:txBody>
                  <a:tcPr/>
                </a:tc>
                <a:tc>
                  <a:txBody>
                    <a:bodyPr/>
                    <a:lstStyle/>
                    <a:p>
                      <a:r>
                        <a:rPr lang="en-US" dirty="0" smtClean="0"/>
                        <a:t>a</a:t>
                      </a:r>
                      <a:endParaRPr lang="en-US" dirty="0"/>
                    </a:p>
                  </a:txBody>
                  <a:tcPr/>
                </a:tc>
                <a:tc>
                  <a:txBody>
                    <a:bodyPr/>
                    <a:lstStyle/>
                    <a:p>
                      <a:r>
                        <a:rPr lang="en-US" dirty="0" smtClean="0"/>
                        <a:t>z</a:t>
                      </a:r>
                      <a:endParaRPr lang="en-US" dirty="0"/>
                    </a:p>
                  </a:txBody>
                  <a:tcPr/>
                </a:tc>
                <a:tc>
                  <a:txBody>
                    <a:bodyPr/>
                    <a:lstStyle/>
                    <a:p>
                      <a:r>
                        <a:rPr lang="en-US" dirty="0" smtClean="0"/>
                        <a:t>m</a:t>
                      </a:r>
                      <a:endParaRPr lang="en-US" dirty="0"/>
                    </a:p>
                  </a:txBody>
                  <a:tcPr/>
                </a:tc>
                <a:tc>
                  <a:txBody>
                    <a:bodyPr/>
                    <a:lstStyle/>
                    <a:p>
                      <a:r>
                        <a:rPr lang="en-US" dirty="0" smtClean="0"/>
                        <a:t>e</a:t>
                      </a:r>
                      <a:endParaRPr lang="en-US" dirty="0"/>
                    </a:p>
                  </a:txBody>
                  <a:tcPr/>
                </a:tc>
                <a:tc>
                  <a:txBody>
                    <a:bodyPr/>
                    <a:lstStyle/>
                    <a:p>
                      <a:r>
                        <a:rPr lang="en-US" dirty="0" smtClean="0"/>
                        <a:t>e</a:t>
                      </a:r>
                      <a:endParaRPr lang="en-US" dirty="0"/>
                    </a:p>
                  </a:txBody>
                  <a:tcPr/>
                </a:tc>
                <a:tc>
                  <a:txBody>
                    <a:bodyPr/>
                    <a:lstStyle/>
                    <a:p>
                      <a:r>
                        <a:rPr lang="en-US" dirty="0" smtClean="0"/>
                        <a:t>n</a:t>
                      </a:r>
                      <a:endParaRPr lang="en-US" dirty="0"/>
                    </a:p>
                  </a:txBody>
                  <a:tcPr/>
                </a:tc>
                <a:tc>
                  <a:txBody>
                    <a:bodyPr/>
                    <a:lstStyle/>
                    <a:p>
                      <a:r>
                        <a:rPr lang="en-US" dirty="0" smtClean="0"/>
                        <a:t>\n</a:t>
                      </a:r>
                      <a:endParaRPr lang="en-US" dirty="0"/>
                    </a:p>
                  </a:txBody>
                  <a:tcPr/>
                </a:tc>
                <a:tc>
                  <a:txBody>
                    <a:bodyPr/>
                    <a:lstStyle/>
                    <a:p>
                      <a:r>
                        <a:rPr lang="en-US" dirty="0" smtClean="0"/>
                        <a:t>A</a:t>
                      </a:r>
                      <a:endParaRPr lang="en-US" dirty="0"/>
                    </a:p>
                  </a:txBody>
                  <a:tcPr/>
                </a:tc>
                <a:tc>
                  <a:txBody>
                    <a:bodyPr/>
                    <a:lstStyle/>
                    <a:p>
                      <a:r>
                        <a:rPr lang="en-US" dirty="0" smtClean="0"/>
                        <a:t>l</a:t>
                      </a:r>
                      <a:endParaRPr lang="en-US" dirty="0"/>
                    </a:p>
                  </a:txBody>
                  <a:tcPr/>
                </a:tc>
                <a:tc>
                  <a:txBody>
                    <a:bodyPr/>
                    <a:lstStyle/>
                    <a:p>
                      <a:r>
                        <a:rPr lang="en-US" dirty="0" smtClean="0"/>
                        <a:t>i</a:t>
                      </a:r>
                      <a:endParaRPr lang="en-US" dirty="0"/>
                    </a:p>
                  </a:txBody>
                  <a:tcPr/>
                </a:tc>
                <a:tc>
                  <a:txBody>
                    <a:bodyPr/>
                    <a:lstStyle/>
                    <a:p>
                      <a:r>
                        <a:rPr lang="en-US" dirty="0" smtClean="0"/>
                        <a:t>\n</a:t>
                      </a:r>
                      <a:endParaRPr lang="en-US" dirty="0"/>
                    </a:p>
                  </a:txBody>
                  <a:tcPr/>
                </a:tc>
                <a:tc>
                  <a:txBody>
                    <a:bodyPr/>
                    <a:lstStyle/>
                    <a:p>
                      <a:r>
                        <a:rPr lang="en-US" dirty="0" smtClean="0"/>
                        <a:t>A</a:t>
                      </a:r>
                      <a:endParaRPr lang="en-US" dirty="0"/>
                    </a:p>
                  </a:txBody>
                  <a:tcPr/>
                </a:tc>
                <a:tc>
                  <a:txBody>
                    <a:bodyPr/>
                    <a:lstStyle/>
                    <a:p>
                      <a:r>
                        <a:rPr lang="en-US" dirty="0" smtClean="0"/>
                        <a:t>y</a:t>
                      </a:r>
                      <a:endParaRPr lang="en-US" dirty="0"/>
                    </a:p>
                  </a:txBody>
                  <a:tcPr/>
                </a:tc>
                <a:tc>
                  <a:txBody>
                    <a:bodyPr/>
                    <a:lstStyle/>
                    <a:p>
                      <a:r>
                        <a:rPr lang="en-US" dirty="0" smtClean="0"/>
                        <a:t>e</a:t>
                      </a:r>
                      <a:endParaRPr lang="en-US" dirty="0"/>
                    </a:p>
                  </a:txBody>
                  <a:tcPr/>
                </a:tc>
                <a:tc>
                  <a:txBody>
                    <a:bodyPr/>
                    <a:lstStyle/>
                    <a:p>
                      <a:r>
                        <a:rPr lang="en-US" dirty="0" smtClean="0"/>
                        <a:t>s</a:t>
                      </a:r>
                      <a:endParaRPr lang="en-US" dirty="0"/>
                    </a:p>
                  </a:txBody>
                  <a:tcPr/>
                </a:tc>
                <a:tc>
                  <a:txBody>
                    <a:bodyPr/>
                    <a:lstStyle/>
                    <a:p>
                      <a:r>
                        <a:rPr lang="en-US" dirty="0" smtClean="0"/>
                        <a:t>h</a:t>
                      </a:r>
                      <a:endParaRPr lang="en-US" dirty="0"/>
                    </a:p>
                  </a:txBody>
                  <a:tcPr/>
                </a:tc>
                <a:tc>
                  <a:txBody>
                    <a:bodyPr/>
                    <a:lstStyle/>
                    <a:p>
                      <a:r>
                        <a:rPr lang="en-US" dirty="0" smtClean="0"/>
                        <a:t>a</a:t>
                      </a:r>
                      <a:endParaRPr lang="en-US" dirty="0"/>
                    </a:p>
                  </a:txBody>
                  <a:tcPr/>
                </a:tc>
                <a:tc>
                  <a:txBody>
                    <a:bodyPr/>
                    <a:lstStyle/>
                    <a:p>
                      <a:r>
                        <a:rPr lang="en-US" dirty="0" smtClean="0"/>
                        <a:t>\n</a:t>
                      </a:r>
                      <a:endParaRPr lang="en-US" dirty="0"/>
                    </a:p>
                  </a:txBody>
                  <a:tcPr/>
                </a:tc>
              </a:tr>
            </a:tbl>
          </a:graphicData>
        </a:graphic>
      </p:graphicFrame>
      <p:cxnSp>
        <p:nvCxnSpPr>
          <p:cNvPr id="10" name="Straight Arrow Connector 9"/>
          <p:cNvCxnSpPr/>
          <p:nvPr/>
        </p:nvCxnSpPr>
        <p:spPr>
          <a:xfrm flipV="1">
            <a:off x="8839200" y="42672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414783" y="4495800"/>
            <a:ext cx="1653017" cy="369332"/>
          </a:xfrm>
          <a:prstGeom prst="rect">
            <a:avLst/>
          </a:prstGeom>
          <a:noFill/>
        </p:spPr>
        <p:txBody>
          <a:bodyPr wrap="none" rtlCol="0">
            <a:spAutoFit/>
          </a:bodyPr>
          <a:lstStyle/>
          <a:p>
            <a:r>
              <a:rPr lang="en-US" b="1" dirty="0" smtClean="0"/>
              <a:t>Read Position</a:t>
            </a:r>
            <a:endParaRPr lang="en-US" b="1" dirty="0"/>
          </a:p>
        </p:txBody>
      </p:sp>
    </p:spTree>
    <p:extLst>
      <p:ext uri="{BB962C8B-B14F-4D97-AF65-F5344CB8AC3E}">
        <p14:creationId xmlns:p14="http://schemas.microsoft.com/office/powerpoint/2010/main" val="6680516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9519"/>
            <a:ext cx="5715000" cy="6526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01884"/>
            <a:ext cx="4005263"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319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Remember that when data is stored in a text file, it is encoded as text, using a scheme such as ASCII or Unicode. </a:t>
            </a:r>
            <a:endParaRPr lang="en-US" dirty="0" smtClean="0"/>
          </a:p>
          <a:p>
            <a:pPr algn="just"/>
            <a:r>
              <a:rPr lang="en-US" dirty="0" smtClean="0"/>
              <a:t>Even </a:t>
            </a:r>
            <a:r>
              <a:rPr lang="en-US" dirty="0"/>
              <a:t>if the file contains numbers, those numbers are stored in the file as a series of characters. </a:t>
            </a:r>
            <a:endParaRPr lang="en-US" dirty="0" smtClean="0"/>
          </a:p>
          <a:p>
            <a:pPr algn="just"/>
            <a:r>
              <a:rPr lang="en-US" dirty="0" smtClean="0"/>
              <a:t>Fortunately</a:t>
            </a:r>
            <a:r>
              <a:rPr lang="en-US" dirty="0"/>
              <a:t>, you can use the &gt;&gt; operator to read </a:t>
            </a:r>
            <a:r>
              <a:rPr lang="en-US" dirty="0" smtClean="0"/>
              <a:t>numeric data from </a:t>
            </a:r>
            <a:r>
              <a:rPr lang="en-US" dirty="0"/>
              <a:t>a text file, into a numeric variable, and the &gt;&gt; operator will automatically convert the data to a numeric data type. </a:t>
            </a:r>
            <a:endParaRPr lang="en-US" dirty="0" smtClean="0"/>
          </a:p>
        </p:txBody>
      </p:sp>
      <p:sp>
        <p:nvSpPr>
          <p:cNvPr id="5" name="Title 2"/>
          <p:cNvSpPr txBox="1">
            <a:spLocks/>
          </p:cNvSpPr>
          <p:nvPr/>
        </p:nvSpPr>
        <p:spPr>
          <a:xfrm>
            <a:off x="228600" y="381000"/>
            <a:ext cx="8763000" cy="10542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Reading Numeric Data From a Text File </a:t>
            </a:r>
          </a:p>
        </p:txBody>
      </p:sp>
    </p:spTree>
    <p:extLst>
      <p:ext uri="{BB962C8B-B14F-4D97-AF65-F5344CB8AC3E}">
        <p14:creationId xmlns:p14="http://schemas.microsoft.com/office/powerpoint/2010/main" val="7937299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76200"/>
            <a:ext cx="5410200" cy="6578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0640" y="2590800"/>
            <a:ext cx="374257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688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81053"/>
          </a:xfrm>
        </p:spPr>
        <p:txBody>
          <a:bodyPr>
            <a:normAutofit/>
          </a:bodyPr>
          <a:lstStyle/>
          <a:p>
            <a:pPr algn="just"/>
            <a:r>
              <a:rPr lang="en-US" dirty="0"/>
              <a:t>Although some programs use files to store only small amounts of data, files are typically used to hold large collections of data. When a program uses a file to write or read a large amount of data, a loop is typically involved</a:t>
            </a:r>
            <a:r>
              <a:rPr lang="en-US" dirty="0" smtClean="0"/>
              <a:t>.</a:t>
            </a:r>
          </a:p>
          <a:p>
            <a:pPr algn="just"/>
            <a:endParaRPr lang="en-US" dirty="0"/>
          </a:p>
          <a:p>
            <a:pPr algn="just"/>
            <a:r>
              <a:rPr lang="en-US" dirty="0" smtClean="0"/>
              <a:t>The </a:t>
            </a:r>
            <a:r>
              <a:rPr lang="en-US" dirty="0"/>
              <a:t>program </a:t>
            </a:r>
            <a:r>
              <a:rPr lang="en-US" dirty="0" smtClean="0"/>
              <a:t>in the next slide gets </a:t>
            </a:r>
            <a:r>
              <a:rPr lang="en-US" dirty="0"/>
              <a:t>sales amounts for a series of days from the user and writes those amounts to a file named Sales.txt. The user specifies the number of days of sales data he or she needs to </a:t>
            </a:r>
            <a:r>
              <a:rPr lang="en-US" dirty="0" smtClean="0"/>
              <a:t>enter.</a:t>
            </a:r>
          </a:p>
        </p:txBody>
      </p:sp>
      <p:sp>
        <p:nvSpPr>
          <p:cNvPr id="3" name="Title 2"/>
          <p:cNvSpPr>
            <a:spLocks noGrp="1"/>
          </p:cNvSpPr>
          <p:nvPr>
            <p:ph type="title"/>
          </p:nvPr>
        </p:nvSpPr>
        <p:spPr>
          <a:xfrm>
            <a:off x="228600" y="304800"/>
            <a:ext cx="8686800" cy="1054250"/>
          </a:xfrm>
        </p:spPr>
        <p:txBody>
          <a:bodyPr/>
          <a:lstStyle/>
          <a:p>
            <a:r>
              <a:rPr lang="en-US" dirty="0"/>
              <a:t>Using Loops to Process Files </a:t>
            </a:r>
          </a:p>
        </p:txBody>
      </p:sp>
    </p:spTree>
    <p:extLst>
      <p:ext uri="{BB962C8B-B14F-4D97-AF65-F5344CB8AC3E}">
        <p14:creationId xmlns:p14="http://schemas.microsoft.com/office/powerpoint/2010/main" val="35440834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867" y="138054"/>
            <a:ext cx="6515167" cy="6491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2216" y="152400"/>
            <a:ext cx="5135584" cy="1766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4772025"/>
            <a:ext cx="2077872"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233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81053"/>
          </a:xfrm>
        </p:spPr>
        <p:txBody>
          <a:bodyPr>
            <a:normAutofit lnSpcReduction="10000"/>
          </a:bodyPr>
          <a:lstStyle/>
          <a:p>
            <a:pPr algn="just"/>
            <a:r>
              <a:rPr lang="en-US" dirty="0"/>
              <a:t>Quite often a program must read the contents of a file without knowing the number of items that are stored in the file. </a:t>
            </a:r>
            <a:endParaRPr lang="en-US" dirty="0" smtClean="0"/>
          </a:p>
          <a:p>
            <a:pPr algn="just"/>
            <a:r>
              <a:rPr lang="en-US" dirty="0" smtClean="0"/>
              <a:t>For </a:t>
            </a:r>
            <a:r>
              <a:rPr lang="en-US" dirty="0"/>
              <a:t>example, suppose you need to write a program that displays all of the items in a file, but you do not know how many items the file contains. </a:t>
            </a:r>
            <a:endParaRPr lang="en-US" dirty="0" smtClean="0"/>
          </a:p>
          <a:p>
            <a:pPr algn="just"/>
            <a:r>
              <a:rPr lang="en-US" dirty="0" smtClean="0"/>
              <a:t>You </a:t>
            </a:r>
            <a:r>
              <a:rPr lang="en-US" dirty="0"/>
              <a:t>can open the file and then use a loop to repeatedly read an item from the file and display it. </a:t>
            </a:r>
            <a:endParaRPr lang="en-US" dirty="0" smtClean="0"/>
          </a:p>
          <a:p>
            <a:pPr algn="just"/>
            <a:r>
              <a:rPr lang="en-US" dirty="0" smtClean="0"/>
              <a:t>However</a:t>
            </a:r>
            <a:r>
              <a:rPr lang="en-US" dirty="0"/>
              <a:t>, an error will occur if the program attempts to read beyond the end of the file. </a:t>
            </a:r>
            <a:r>
              <a:rPr lang="en-US" dirty="0" smtClean="0"/>
              <a:t>The </a:t>
            </a:r>
            <a:r>
              <a:rPr lang="en-US" dirty="0"/>
              <a:t>program needs some way of knowing when the end of the file has been reached so it will not try to read beyond it.</a:t>
            </a:r>
          </a:p>
        </p:txBody>
      </p:sp>
      <p:sp>
        <p:nvSpPr>
          <p:cNvPr id="3" name="Title 2"/>
          <p:cNvSpPr>
            <a:spLocks noGrp="1"/>
          </p:cNvSpPr>
          <p:nvPr>
            <p:ph type="title"/>
          </p:nvPr>
        </p:nvSpPr>
        <p:spPr>
          <a:xfrm>
            <a:off x="228600" y="381000"/>
            <a:ext cx="8610600" cy="1054250"/>
          </a:xfrm>
        </p:spPr>
        <p:txBody>
          <a:bodyPr/>
          <a:lstStyle/>
          <a:p>
            <a:r>
              <a:rPr lang="en-US" dirty="0"/>
              <a:t>Detecting the End of the File </a:t>
            </a:r>
          </a:p>
        </p:txBody>
      </p:sp>
    </p:spTree>
    <p:extLst>
      <p:ext uri="{BB962C8B-B14F-4D97-AF65-F5344CB8AC3E}">
        <p14:creationId xmlns:p14="http://schemas.microsoft.com/office/powerpoint/2010/main" val="20780110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81053"/>
          </a:xfrm>
        </p:spPr>
        <p:txBody>
          <a:bodyPr>
            <a:normAutofit/>
          </a:bodyPr>
          <a:lstStyle/>
          <a:p>
            <a:pPr algn="just"/>
            <a:r>
              <a:rPr lang="en-US" dirty="0"/>
              <a:t>Fortunately, the &gt;&gt; operator not only reads data from a file, but also returns a true or false value indicating whether the data was successfully read or not. </a:t>
            </a:r>
            <a:endParaRPr lang="en-US" dirty="0" smtClean="0"/>
          </a:p>
          <a:p>
            <a:pPr algn="just"/>
            <a:r>
              <a:rPr lang="en-US" dirty="0" smtClean="0"/>
              <a:t>If </a:t>
            </a:r>
            <a:r>
              <a:rPr lang="en-US" dirty="0"/>
              <a:t>the operator returns true, then a value was successfully read. If the operator returns false, it means that no value was read from the file. </a:t>
            </a:r>
          </a:p>
        </p:txBody>
      </p:sp>
      <p:sp>
        <p:nvSpPr>
          <p:cNvPr id="3" name="Title 2"/>
          <p:cNvSpPr>
            <a:spLocks noGrp="1"/>
          </p:cNvSpPr>
          <p:nvPr>
            <p:ph type="title"/>
          </p:nvPr>
        </p:nvSpPr>
        <p:spPr>
          <a:xfrm>
            <a:off x="228600" y="381000"/>
            <a:ext cx="8610600" cy="1054250"/>
          </a:xfrm>
        </p:spPr>
        <p:txBody>
          <a:bodyPr/>
          <a:lstStyle/>
          <a:p>
            <a:r>
              <a:rPr lang="en-US" dirty="0"/>
              <a:t>Detecting the End of the File </a:t>
            </a:r>
          </a:p>
        </p:txBody>
      </p:sp>
    </p:spTree>
    <p:extLst>
      <p:ext uri="{BB962C8B-B14F-4D97-AF65-F5344CB8AC3E}">
        <p14:creationId xmlns:p14="http://schemas.microsoft.com/office/powerpoint/2010/main" val="6593618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035" y="152400"/>
            <a:ext cx="4831765" cy="6506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609600"/>
            <a:ext cx="1233487" cy="1804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739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81053"/>
          </a:xfrm>
        </p:spPr>
        <p:txBody>
          <a:bodyPr>
            <a:normAutofit fontScale="92500" lnSpcReduction="10000"/>
          </a:bodyPr>
          <a:lstStyle/>
          <a:p>
            <a:pPr marL="0" indent="0" algn="just">
              <a:buNone/>
            </a:pPr>
            <a:endParaRPr lang="en-US" dirty="0" smtClean="0"/>
          </a:p>
          <a:p>
            <a:pPr algn="just"/>
            <a:r>
              <a:rPr lang="en-US" dirty="0"/>
              <a:t>Notice that the statement that extracts data from the file is used as the Boolean expression in the while loop. It works like this: </a:t>
            </a:r>
            <a:endParaRPr lang="en-US" dirty="0" smtClean="0"/>
          </a:p>
          <a:p>
            <a:pPr marL="914400" algn="just">
              <a:buFont typeface="Wingdings" pitchFamily="2" charset="2"/>
              <a:buChar char="Ø"/>
            </a:pPr>
            <a:r>
              <a:rPr lang="en-US" dirty="0"/>
              <a:t>The expression </a:t>
            </a:r>
            <a:r>
              <a:rPr lang="en-US" dirty="0" err="1"/>
              <a:t>inputFile</a:t>
            </a:r>
            <a:r>
              <a:rPr lang="en-US" dirty="0"/>
              <a:t> &gt;&gt; number executes. </a:t>
            </a:r>
            <a:endParaRPr lang="en-US" dirty="0" smtClean="0"/>
          </a:p>
          <a:p>
            <a:pPr marL="914400" algn="just">
              <a:buFont typeface="Wingdings" pitchFamily="2" charset="2"/>
              <a:buChar char="Ø"/>
            </a:pPr>
            <a:r>
              <a:rPr lang="en-US" dirty="0"/>
              <a:t>If an item is successfully read from the file, the item is stored in the number variable, and the expression returns true to indicate that it succeeded</a:t>
            </a:r>
            <a:r>
              <a:rPr lang="en-US" dirty="0" smtClean="0"/>
              <a:t>.</a:t>
            </a:r>
          </a:p>
          <a:p>
            <a:pPr marL="914400" algn="just">
              <a:buFont typeface="Wingdings" pitchFamily="2" charset="2"/>
              <a:buChar char="Ø"/>
            </a:pPr>
            <a:r>
              <a:rPr lang="en-US" dirty="0"/>
              <a:t>If there are no more items to read from the file, the expression </a:t>
            </a:r>
            <a:r>
              <a:rPr lang="en-US" dirty="0" err="1"/>
              <a:t>inputFile</a:t>
            </a:r>
            <a:r>
              <a:rPr lang="en-US" dirty="0"/>
              <a:t> &gt;&gt; number returns false, indicating that it did not read a value. In that case, the loop terminates. </a:t>
            </a:r>
          </a:p>
        </p:txBody>
      </p:sp>
      <p:sp>
        <p:nvSpPr>
          <p:cNvPr id="3" name="Title 2"/>
          <p:cNvSpPr>
            <a:spLocks noGrp="1"/>
          </p:cNvSpPr>
          <p:nvPr>
            <p:ph type="title"/>
          </p:nvPr>
        </p:nvSpPr>
        <p:spPr>
          <a:xfrm>
            <a:off x="228600" y="381000"/>
            <a:ext cx="8610600" cy="1054250"/>
          </a:xfrm>
        </p:spPr>
        <p:txBody>
          <a:bodyPr/>
          <a:lstStyle/>
          <a:p>
            <a:r>
              <a:rPr lang="en-US" dirty="0"/>
              <a:t>Detecting the End of the File </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133600"/>
            <a:ext cx="4220308"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16437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rot="16200000">
            <a:off x="-2546351" y="2940050"/>
            <a:ext cx="6629400" cy="1054100"/>
          </a:xfrm>
        </p:spPr>
        <p:txBody>
          <a:bodyPr/>
          <a:lstStyle/>
          <a:p>
            <a:r>
              <a:rPr lang="en-US" dirty="0"/>
              <a:t>Detecting the End of the File </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61008"/>
            <a:ext cx="4724400" cy="6751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40562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81053"/>
          </a:xfrm>
        </p:spPr>
        <p:txBody>
          <a:bodyPr>
            <a:normAutofit/>
          </a:bodyPr>
          <a:lstStyle/>
          <a:p>
            <a:pPr algn="just"/>
            <a:r>
              <a:rPr lang="en-US" dirty="0"/>
              <a:t>Under certain circumstances, the open member function will not </a:t>
            </a:r>
            <a:r>
              <a:rPr lang="en-US" dirty="0" smtClean="0"/>
              <a:t>work.</a:t>
            </a:r>
          </a:p>
          <a:p>
            <a:pPr algn="just"/>
            <a:r>
              <a:rPr lang="en-US" dirty="0"/>
              <a:t>For example, the following code will fail if the file info.txt does not exist: </a:t>
            </a:r>
            <a:endParaRPr lang="en-US" dirty="0" smtClean="0"/>
          </a:p>
          <a:p>
            <a:pPr algn="just"/>
            <a:endParaRPr lang="en-US" dirty="0"/>
          </a:p>
          <a:p>
            <a:pPr algn="just"/>
            <a:endParaRPr lang="en-US" dirty="0" smtClean="0"/>
          </a:p>
          <a:p>
            <a:pPr algn="just"/>
            <a:r>
              <a:rPr lang="en-US" dirty="0"/>
              <a:t>There is a way to determine whether the open member function successfully opened the file. After you call the open member function, you can test the file stream object as if it were a Boolean expression. </a:t>
            </a:r>
          </a:p>
        </p:txBody>
      </p:sp>
      <p:sp>
        <p:nvSpPr>
          <p:cNvPr id="3" name="Title 2"/>
          <p:cNvSpPr>
            <a:spLocks noGrp="1"/>
          </p:cNvSpPr>
          <p:nvPr>
            <p:ph type="title"/>
          </p:nvPr>
        </p:nvSpPr>
        <p:spPr>
          <a:xfrm>
            <a:off x="76200" y="469750"/>
            <a:ext cx="8915400" cy="1054250"/>
          </a:xfrm>
        </p:spPr>
        <p:txBody>
          <a:bodyPr/>
          <a:lstStyle/>
          <a:p>
            <a:r>
              <a:rPr lang="en-US" dirty="0"/>
              <a:t>Testing for File Open Errors</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910013"/>
            <a:ext cx="4602234" cy="81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46875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245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626" y="71900"/>
            <a:ext cx="4934174" cy="662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000125"/>
            <a:ext cx="4439138"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380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81053"/>
          </a:xfrm>
        </p:spPr>
        <p:txBody>
          <a:bodyPr>
            <a:normAutofit/>
          </a:bodyPr>
          <a:lstStyle/>
          <a:p>
            <a:pPr algn="just"/>
            <a:r>
              <a:rPr lang="en-US" dirty="0"/>
              <a:t>Another way to detect a failed attempt to open a file is with the fail member function, as shown in the following code: </a:t>
            </a:r>
          </a:p>
        </p:txBody>
      </p:sp>
      <p:sp>
        <p:nvSpPr>
          <p:cNvPr id="3" name="Title 2"/>
          <p:cNvSpPr>
            <a:spLocks noGrp="1"/>
          </p:cNvSpPr>
          <p:nvPr>
            <p:ph type="title"/>
          </p:nvPr>
        </p:nvSpPr>
        <p:spPr>
          <a:xfrm>
            <a:off x="76200" y="469750"/>
            <a:ext cx="8915400" cy="1054250"/>
          </a:xfrm>
        </p:spPr>
        <p:txBody>
          <a:bodyPr/>
          <a:lstStyle/>
          <a:p>
            <a:r>
              <a:rPr lang="en-US" dirty="0"/>
              <a:t>Testing for File Open Errors</a:t>
            </a: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505200"/>
            <a:ext cx="5212569"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19717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In each of the previous examples, the name of the file that is opened is hard-coded as a string literal into the program. </a:t>
            </a:r>
            <a:endParaRPr lang="en-US" dirty="0" smtClean="0"/>
          </a:p>
          <a:p>
            <a:pPr algn="just"/>
            <a:r>
              <a:rPr lang="en-US" dirty="0" smtClean="0"/>
              <a:t>In </a:t>
            </a:r>
            <a:r>
              <a:rPr lang="en-US" dirty="0"/>
              <a:t>many cases, you will want the user to specify the name of a file for the program to open.</a:t>
            </a:r>
          </a:p>
        </p:txBody>
      </p:sp>
      <p:sp>
        <p:nvSpPr>
          <p:cNvPr id="3" name="Title 2"/>
          <p:cNvSpPr>
            <a:spLocks noGrp="1"/>
          </p:cNvSpPr>
          <p:nvPr>
            <p:ph type="title"/>
          </p:nvPr>
        </p:nvSpPr>
        <p:spPr>
          <a:xfrm>
            <a:off x="76200" y="304800"/>
            <a:ext cx="8915400" cy="1054250"/>
          </a:xfrm>
        </p:spPr>
        <p:txBody>
          <a:bodyPr/>
          <a:lstStyle/>
          <a:p>
            <a:r>
              <a:rPr lang="en-US" dirty="0"/>
              <a:t>Letting the User Specify a Filename</a:t>
            </a:r>
          </a:p>
        </p:txBody>
      </p:sp>
    </p:spTree>
    <p:extLst>
      <p:ext uri="{BB962C8B-B14F-4D97-AF65-F5344CB8AC3E}">
        <p14:creationId xmlns:p14="http://schemas.microsoft.com/office/powerpoint/2010/main" val="16754343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rot="16200000">
            <a:off x="-2687171" y="2932802"/>
            <a:ext cx="6491345"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9185" y="228600"/>
            <a:ext cx="5705631"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93619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81053"/>
          </a:xfrm>
        </p:spPr>
        <p:txBody>
          <a:bodyPr>
            <a:normAutofit/>
          </a:bodyPr>
          <a:lstStyle/>
          <a:p>
            <a:pPr algn="just"/>
            <a:r>
              <a:rPr lang="en-US" dirty="0"/>
              <a:t>In older versions of the C++ language (prior to C++ 11), a file stream object’s open member function will not accept a string object as an argument. </a:t>
            </a:r>
            <a:endParaRPr lang="en-US" dirty="0" smtClean="0"/>
          </a:p>
          <a:p>
            <a:pPr algn="just"/>
            <a:r>
              <a:rPr lang="en-US" dirty="0" smtClean="0"/>
              <a:t>The </a:t>
            </a:r>
            <a:r>
              <a:rPr lang="en-US" dirty="0"/>
              <a:t>open member function requires that you pass the name of the file as a null-terminated string, which is also known as a C-string. </a:t>
            </a:r>
            <a:endParaRPr lang="en-US" dirty="0" smtClean="0"/>
          </a:p>
          <a:p>
            <a:pPr algn="just"/>
            <a:r>
              <a:rPr lang="en-US" dirty="0" smtClean="0"/>
              <a:t>String </a:t>
            </a:r>
            <a:r>
              <a:rPr lang="en-US" dirty="0"/>
              <a:t>literals are stored in memory as null-terminated C-strings, but string objects are not. </a:t>
            </a:r>
            <a:endParaRPr lang="en-US" dirty="0" smtClean="0"/>
          </a:p>
          <a:p>
            <a:pPr algn="just"/>
            <a:r>
              <a:rPr lang="en-US" dirty="0" smtClean="0"/>
              <a:t>Fortunately</a:t>
            </a:r>
            <a:r>
              <a:rPr lang="en-US" dirty="0"/>
              <a:t>, string objects have a member function named </a:t>
            </a:r>
            <a:r>
              <a:rPr lang="en-US" dirty="0" err="1"/>
              <a:t>c_str</a:t>
            </a:r>
            <a:r>
              <a:rPr lang="en-US" dirty="0"/>
              <a:t> that returns the contents of the object formatted as a null-terminated C-string</a:t>
            </a:r>
          </a:p>
        </p:txBody>
      </p:sp>
      <p:sp>
        <p:nvSpPr>
          <p:cNvPr id="3" name="Title 2"/>
          <p:cNvSpPr>
            <a:spLocks noGrp="1"/>
          </p:cNvSpPr>
          <p:nvPr>
            <p:ph type="title"/>
          </p:nvPr>
        </p:nvSpPr>
        <p:spPr>
          <a:xfrm>
            <a:off x="76200" y="304800"/>
            <a:ext cx="8915400" cy="1054250"/>
          </a:xfrm>
        </p:spPr>
        <p:txBody>
          <a:bodyPr/>
          <a:lstStyle/>
          <a:p>
            <a:r>
              <a:rPr lang="en-US" dirty="0"/>
              <a:t>Letting the User Specify a Filename</a:t>
            </a:r>
          </a:p>
        </p:txBody>
      </p:sp>
    </p:spTree>
    <p:extLst>
      <p:ext uri="{BB962C8B-B14F-4D97-AF65-F5344CB8AC3E}">
        <p14:creationId xmlns:p14="http://schemas.microsoft.com/office/powerpoint/2010/main" val="4228270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Using </a:t>
            </a:r>
            <a:r>
              <a:rPr lang="en-US" dirty="0"/>
              <a:t>the </a:t>
            </a:r>
            <a:r>
              <a:rPr lang="en-US" dirty="0" err="1"/>
              <a:t>fstream</a:t>
            </a:r>
            <a:r>
              <a:rPr lang="en-US" dirty="0"/>
              <a:t> Data Type </a:t>
            </a:r>
            <a:endParaRPr lang="en-US" dirty="0" smtClean="0"/>
          </a:p>
          <a:p>
            <a:r>
              <a:rPr lang="en-US" dirty="0"/>
              <a:t>Binary Files</a:t>
            </a:r>
          </a:p>
        </p:txBody>
      </p:sp>
      <p:sp>
        <p:nvSpPr>
          <p:cNvPr id="4" name="Title 2"/>
          <p:cNvSpPr>
            <a:spLocks noGrp="1"/>
          </p:cNvSpPr>
          <p:nvPr>
            <p:ph type="title"/>
          </p:nvPr>
        </p:nvSpPr>
        <p:spPr/>
        <p:txBody>
          <a:bodyPr/>
          <a:lstStyle/>
          <a:p>
            <a:r>
              <a:rPr lang="en-US" dirty="0" smtClean="0"/>
              <a:t>Next Lecture</a:t>
            </a:r>
            <a:endParaRPr lang="en-US" dirty="0"/>
          </a:p>
        </p:txBody>
      </p:sp>
    </p:spTree>
    <p:extLst>
      <p:ext uri="{BB962C8B-B14F-4D97-AF65-F5344CB8AC3E}">
        <p14:creationId xmlns:p14="http://schemas.microsoft.com/office/powerpoint/2010/main" val="106027986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4187</TotalTime>
  <Words>1336</Words>
  <Application>Microsoft Office PowerPoint</Application>
  <PresentationFormat>On-screen Show (4:3)</PresentationFormat>
  <Paragraphs>176</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Hardcover</vt:lpstr>
      <vt:lpstr>Programming Fundamentals</vt:lpstr>
      <vt:lpstr>Previous Lecture</vt:lpstr>
      <vt:lpstr>Today’s Lecture</vt:lpstr>
      <vt:lpstr>Reading Data from a File</vt:lpstr>
      <vt:lpstr>PowerPoint Presentation</vt:lpstr>
      <vt:lpstr>The Read Position</vt:lpstr>
      <vt:lpstr>The Read Position</vt:lpstr>
      <vt:lpstr>The Read Position</vt:lpstr>
      <vt:lpstr>The Read Position</vt:lpstr>
      <vt:lpstr>PowerPoint Presentation</vt:lpstr>
      <vt:lpstr>PowerPoint Presentation</vt:lpstr>
      <vt:lpstr>PowerPoint Presentation</vt:lpstr>
      <vt:lpstr>Using Loops to Process Files </vt:lpstr>
      <vt:lpstr>PowerPoint Presentation</vt:lpstr>
      <vt:lpstr>Detecting the End of the File </vt:lpstr>
      <vt:lpstr>Detecting the End of the File </vt:lpstr>
      <vt:lpstr>PowerPoint Presentation</vt:lpstr>
      <vt:lpstr>Detecting the End of the File </vt:lpstr>
      <vt:lpstr>Detecting the End of the File </vt:lpstr>
      <vt:lpstr>Testing for File Open Errors</vt:lpstr>
      <vt:lpstr>PowerPoint Presentation</vt:lpstr>
      <vt:lpstr>Testing for File Open Errors</vt:lpstr>
      <vt:lpstr>Letting the User Specify a Filename</vt:lpstr>
      <vt:lpstr>PowerPoint Presentation</vt:lpstr>
      <vt:lpstr>Letting the User Specify a Filename</vt:lpstr>
      <vt:lpstr>Next Lecture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501</cp:revision>
  <dcterms:created xsi:type="dcterms:W3CDTF">2023-02-13T17:33:34Z</dcterms:created>
  <dcterms:modified xsi:type="dcterms:W3CDTF">2025-12-13T19:13:09Z</dcterms:modified>
</cp:coreProperties>
</file>