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34"/>
  </p:notesMasterIdLst>
  <p:sldIdLst>
    <p:sldId id="275" r:id="rId2"/>
    <p:sldId id="276" r:id="rId3"/>
    <p:sldId id="277" r:id="rId4"/>
    <p:sldId id="336" r:id="rId5"/>
    <p:sldId id="337" r:id="rId6"/>
    <p:sldId id="338" r:id="rId7"/>
    <p:sldId id="339" r:id="rId8"/>
    <p:sldId id="340" r:id="rId9"/>
    <p:sldId id="341" r:id="rId10"/>
    <p:sldId id="342" r:id="rId11"/>
    <p:sldId id="343" r:id="rId12"/>
    <p:sldId id="300" r:id="rId13"/>
    <p:sldId id="301" r:id="rId14"/>
    <p:sldId id="302" r:id="rId15"/>
    <p:sldId id="303" r:id="rId16"/>
    <p:sldId id="304" r:id="rId17"/>
    <p:sldId id="305" r:id="rId18"/>
    <p:sldId id="306" r:id="rId19"/>
    <p:sldId id="321" r:id="rId20"/>
    <p:sldId id="322" r:id="rId21"/>
    <p:sldId id="323" r:id="rId22"/>
    <p:sldId id="324" r:id="rId23"/>
    <p:sldId id="325" r:id="rId24"/>
    <p:sldId id="327" r:id="rId25"/>
    <p:sldId id="328" r:id="rId26"/>
    <p:sldId id="331" r:id="rId27"/>
    <p:sldId id="332" r:id="rId28"/>
    <p:sldId id="333" r:id="rId29"/>
    <p:sldId id="334" r:id="rId30"/>
    <p:sldId id="335" r:id="rId31"/>
    <p:sldId id="329" r:id="rId32"/>
    <p:sldId id="330"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11/5/2025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Basics of Arrays </a:t>
            </a:r>
          </a:p>
          <a:p>
            <a:r>
              <a:rPr lang="en-US" dirty="0"/>
              <a:t>Declaring Arrays </a:t>
            </a:r>
          </a:p>
          <a:p>
            <a:r>
              <a:rPr lang="en-US" dirty="0"/>
              <a:t>Initializing Arrays </a:t>
            </a:r>
          </a:p>
          <a:p>
            <a:r>
              <a:rPr lang="en-US" dirty="0"/>
              <a:t>Accessing Arrays </a:t>
            </a:r>
          </a:p>
          <a:p>
            <a:r>
              <a:rPr lang="en-US" dirty="0"/>
              <a:t>Processing Arrays</a:t>
            </a:r>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Class Activities</a:t>
            </a:r>
          </a:p>
          <a:p>
            <a:r>
              <a:rPr lang="en-US" dirty="0" smtClean="0"/>
              <a:t>No </a:t>
            </a:r>
            <a:r>
              <a:rPr lang="en-US" dirty="0"/>
              <a:t>Bounds Checking in C</a:t>
            </a:r>
            <a:r>
              <a:rPr lang="en-US" dirty="0" smtClean="0"/>
              <a:t>++</a:t>
            </a:r>
          </a:p>
          <a:p>
            <a:r>
              <a:rPr lang="en-US" dirty="0"/>
              <a:t>Watch for Off-by-One </a:t>
            </a:r>
            <a:r>
              <a:rPr lang="en-US" dirty="0" smtClean="0"/>
              <a:t>Errors</a:t>
            </a:r>
          </a:p>
          <a:p>
            <a:r>
              <a:rPr lang="en-US" dirty="0"/>
              <a:t>The Range-Based for Loop</a:t>
            </a:r>
            <a:r>
              <a:rPr lang="en-US" dirty="0" smtClean="0"/>
              <a:t> </a:t>
            </a:r>
          </a:p>
          <a:p>
            <a:r>
              <a:rPr lang="en-US" dirty="0"/>
              <a:t>auto Keyword </a:t>
            </a:r>
            <a:endParaRPr lang="en-US" dirty="0" smtClean="0"/>
          </a:p>
          <a:p>
            <a:r>
              <a:rPr lang="en-US" dirty="0"/>
              <a:t>The Range-Based for Loop versus the Regular for Loop </a:t>
            </a:r>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lstStyle/>
          <a:p>
            <a:pPr algn="just"/>
            <a:r>
              <a:rPr lang="en-US" dirty="0"/>
              <a:t>Define the following arrays</a:t>
            </a:r>
            <a:r>
              <a:rPr lang="en-US" dirty="0" smtClean="0"/>
              <a:t>:</a:t>
            </a:r>
          </a:p>
          <a:p>
            <a:pPr marL="914400" indent="-457200" algn="just">
              <a:buFont typeface="+mj-lt"/>
              <a:buAutoNum type="alphaUcPeriod"/>
            </a:pPr>
            <a:r>
              <a:rPr lang="en-US" dirty="0"/>
              <a:t>ages, a 10-element array of </a:t>
            </a:r>
            <a:r>
              <a:rPr lang="en-US" dirty="0" err="1"/>
              <a:t>ints</a:t>
            </a:r>
            <a:r>
              <a:rPr lang="en-US" dirty="0"/>
              <a:t> initialized with the values 5, 7, 9, 14, 15, 17, 18, 19, 21, and 23</a:t>
            </a:r>
            <a:r>
              <a:rPr lang="en-US" dirty="0" smtClean="0"/>
              <a:t>.</a:t>
            </a:r>
          </a:p>
          <a:p>
            <a:pPr marL="457200" indent="0" algn="just">
              <a:buNone/>
            </a:pPr>
            <a:endParaRPr lang="en-US" dirty="0" smtClean="0"/>
          </a:p>
          <a:p>
            <a:pPr marL="914400" indent="-457200" algn="just">
              <a:buFont typeface="+mj-lt"/>
              <a:buAutoNum type="alphaUcPeriod"/>
            </a:pPr>
            <a:endParaRPr lang="en-US" dirty="0" smtClean="0"/>
          </a:p>
          <a:p>
            <a:pPr marL="914400" indent="-457200" algn="just">
              <a:buFont typeface="+mj-lt"/>
              <a:buAutoNum type="alphaUcPeriod" startAt="2"/>
            </a:pPr>
            <a:r>
              <a:rPr lang="en-US" dirty="0" smtClean="0"/>
              <a:t>temps</a:t>
            </a:r>
            <a:r>
              <a:rPr lang="en-US" dirty="0"/>
              <a:t>, a 7-element array of floats initialized with the values 14.7, 16.3, 18.43, 21.09, 17.9, 18.76, and 26.7</a:t>
            </a:r>
            <a:r>
              <a:rPr lang="en-US" dirty="0" smtClean="0"/>
              <a:t>.</a:t>
            </a:r>
          </a:p>
        </p:txBody>
      </p:sp>
      <p:sp>
        <p:nvSpPr>
          <p:cNvPr id="4" name="Title 2"/>
          <p:cNvSpPr>
            <a:spLocks noGrp="1"/>
          </p:cNvSpPr>
          <p:nvPr>
            <p:ph type="title"/>
          </p:nvPr>
        </p:nvSpPr>
        <p:spPr/>
        <p:txBody>
          <a:bodyPr/>
          <a:lstStyle/>
          <a:p>
            <a:r>
              <a:rPr lang="en-US" dirty="0" smtClean="0"/>
              <a:t>Class Activity 1</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738042"/>
            <a:ext cx="7086600" cy="45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342" y="5711064"/>
            <a:ext cx="8481858" cy="384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144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lstStyle/>
          <a:p>
            <a:r>
              <a:rPr lang="en-US" dirty="0"/>
              <a:t>Define the following arrays</a:t>
            </a:r>
            <a:r>
              <a:rPr lang="en-US" dirty="0" smtClean="0"/>
              <a:t>:</a:t>
            </a:r>
          </a:p>
          <a:p>
            <a:pPr marL="914400" indent="-457200">
              <a:buFont typeface="+mj-lt"/>
              <a:buAutoNum type="alphaUcPeriod" startAt="3"/>
            </a:pPr>
            <a:r>
              <a:rPr lang="en-US" dirty="0" smtClean="0"/>
              <a:t>alpha</a:t>
            </a:r>
            <a:r>
              <a:rPr lang="en-US" dirty="0"/>
              <a:t>, an 8-element array of chars initialized with the values ‘J’, ‘B’, ‘L’, ‘A’, ‘*’, ‘$’, ‘H’, and ‘M’.</a:t>
            </a:r>
            <a:endParaRPr lang="en-US" dirty="0"/>
          </a:p>
        </p:txBody>
      </p:sp>
      <p:sp>
        <p:nvSpPr>
          <p:cNvPr id="4" name="Title 2"/>
          <p:cNvSpPr>
            <a:spLocks noGrp="1"/>
          </p:cNvSpPr>
          <p:nvPr>
            <p:ph type="title"/>
          </p:nvPr>
        </p:nvSpPr>
        <p:spPr/>
        <p:txBody>
          <a:bodyPr/>
          <a:lstStyle/>
          <a:p>
            <a:r>
              <a:rPr lang="en-US" dirty="0" smtClean="0"/>
              <a:t>Class Activity 1</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86200"/>
            <a:ext cx="79857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49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Is each of the following a valid or invalid array definition? (If a definition is invalid, explain why</a:t>
            </a:r>
            <a:r>
              <a:rPr lang="en-US" dirty="0" smtClean="0"/>
              <a:t>.)</a:t>
            </a:r>
          </a:p>
          <a:p>
            <a:pPr marL="914400" indent="-457200" algn="just">
              <a:buFont typeface="+mj-lt"/>
              <a:buAutoNum type="alphaUcPeriod"/>
            </a:pPr>
            <a:r>
              <a:rPr lang="en-US" dirty="0" err="1"/>
              <a:t>int</a:t>
            </a:r>
            <a:r>
              <a:rPr lang="en-US" dirty="0"/>
              <a:t> numbers[10] = {0, 0, 1, 0, 0, 1, 0, 0, 1, 1</a:t>
            </a:r>
            <a:r>
              <a:rPr lang="en-US" dirty="0" smtClean="0"/>
              <a:t>};</a:t>
            </a:r>
          </a:p>
          <a:p>
            <a:pPr marL="914400" indent="0" algn="just">
              <a:buNone/>
            </a:pPr>
            <a:r>
              <a:rPr lang="en-US" b="1" dirty="0"/>
              <a:t>Valid</a:t>
            </a:r>
            <a:r>
              <a:rPr lang="en-US" b="1" dirty="0" smtClean="0"/>
              <a:t>.</a:t>
            </a:r>
            <a:endParaRPr lang="en-US" dirty="0" smtClean="0"/>
          </a:p>
          <a:p>
            <a:pPr marL="914400" indent="-457200" algn="just">
              <a:buFont typeface="+mj-lt"/>
              <a:buAutoNum type="alphaUcPeriod" startAt="2"/>
            </a:pPr>
            <a:r>
              <a:rPr lang="fr-FR" dirty="0" err="1"/>
              <a:t>int</a:t>
            </a:r>
            <a:r>
              <a:rPr lang="fr-FR" dirty="0"/>
              <a:t> matrix[5] = {1, 2, 3, 4, 5, 6, 7</a:t>
            </a:r>
            <a:r>
              <a:rPr lang="fr-FR" dirty="0" smtClean="0"/>
              <a:t>};</a:t>
            </a:r>
          </a:p>
          <a:p>
            <a:pPr marL="914400" indent="0" algn="just">
              <a:buNone/>
            </a:pPr>
            <a:r>
              <a:rPr lang="en-US" b="1" dirty="0"/>
              <a:t>Invalid</a:t>
            </a:r>
            <a:r>
              <a:rPr lang="en-US" b="1" dirty="0" smtClean="0"/>
              <a:t>.</a:t>
            </a:r>
          </a:p>
          <a:p>
            <a:pPr marL="914400" indent="0" algn="just">
              <a:buNone/>
            </a:pPr>
            <a:r>
              <a:rPr lang="en-US" dirty="0"/>
              <a:t>The initializer list has 7 values, but the array size is 5. This will cause a compilation error because too many initializers for the specified size</a:t>
            </a:r>
            <a:r>
              <a:rPr lang="en-US" dirty="0" smtClean="0"/>
              <a:t>.</a:t>
            </a:r>
            <a:endParaRPr lang="en-US" dirty="0"/>
          </a:p>
          <a:p>
            <a:pPr marL="914400" indent="-457200" algn="just">
              <a:buFont typeface="+mj-lt"/>
              <a:buAutoNum type="alphaUcPeriod" startAt="3"/>
            </a:pPr>
            <a:r>
              <a:rPr lang="en-US" dirty="0"/>
              <a:t>double radii[10] = {3.2, 4.7}; </a:t>
            </a:r>
            <a:endParaRPr lang="en-US" dirty="0" smtClean="0"/>
          </a:p>
          <a:p>
            <a:pPr marL="914400" indent="0" algn="just">
              <a:buNone/>
            </a:pPr>
            <a:r>
              <a:rPr lang="en-US" b="1" dirty="0"/>
              <a:t>Valid.</a:t>
            </a:r>
            <a:endParaRPr lang="en-US" dirty="0" smtClean="0"/>
          </a:p>
        </p:txBody>
      </p:sp>
      <p:sp>
        <p:nvSpPr>
          <p:cNvPr id="4" name="Title 2"/>
          <p:cNvSpPr>
            <a:spLocks noGrp="1"/>
          </p:cNvSpPr>
          <p:nvPr>
            <p:ph type="title"/>
          </p:nvPr>
        </p:nvSpPr>
        <p:spPr/>
        <p:txBody>
          <a:bodyPr/>
          <a:lstStyle/>
          <a:p>
            <a:r>
              <a:rPr lang="en-US" dirty="0" smtClean="0"/>
              <a:t>Class Activity 2</a:t>
            </a:r>
            <a:endParaRPr lang="en-US" dirty="0"/>
          </a:p>
        </p:txBody>
      </p:sp>
    </p:spTree>
    <p:extLst>
      <p:ext uri="{BB962C8B-B14F-4D97-AF65-F5344CB8AC3E}">
        <p14:creationId xmlns:p14="http://schemas.microsoft.com/office/powerpoint/2010/main" val="233595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Is each of the following a valid or invalid array definition? (If a definition is invalid, explain why</a:t>
            </a:r>
            <a:r>
              <a:rPr lang="en-US" dirty="0" smtClean="0"/>
              <a:t>.)</a:t>
            </a:r>
          </a:p>
          <a:p>
            <a:pPr marL="914400" indent="-457200" algn="just">
              <a:buFont typeface="+mj-lt"/>
              <a:buAutoNum type="alphaUcPeriod" startAt="4"/>
            </a:pPr>
            <a:r>
              <a:rPr lang="en-US" dirty="0" err="1" smtClean="0"/>
              <a:t>int</a:t>
            </a:r>
            <a:r>
              <a:rPr lang="en-US" dirty="0" smtClean="0"/>
              <a:t> </a:t>
            </a:r>
            <a:r>
              <a:rPr lang="en-US" dirty="0"/>
              <a:t>table[7] = {2, , , 27, , 45, 39</a:t>
            </a:r>
            <a:r>
              <a:rPr lang="en-US" dirty="0" smtClean="0"/>
              <a:t>};</a:t>
            </a:r>
          </a:p>
          <a:p>
            <a:pPr marL="914400" indent="0" algn="just">
              <a:buNone/>
            </a:pPr>
            <a:r>
              <a:rPr lang="en-US" b="1" dirty="0"/>
              <a:t>Invalid</a:t>
            </a:r>
            <a:r>
              <a:rPr lang="en-US" b="1" dirty="0" smtClean="0"/>
              <a:t>.</a:t>
            </a:r>
          </a:p>
          <a:p>
            <a:pPr marL="914400" indent="0" algn="just">
              <a:buNone/>
            </a:pPr>
            <a:r>
              <a:rPr lang="en-US" dirty="0"/>
              <a:t>Syntax errors: extra commas without values are not allowed in initializer lists in C++. Each element must be initialized explicitly or omitted (to default to zero). The correct way would be to omit the extra commas or assign values accordingly</a:t>
            </a:r>
            <a:r>
              <a:rPr lang="en-US" dirty="0" smtClean="0"/>
              <a:t>.</a:t>
            </a:r>
          </a:p>
          <a:p>
            <a:pPr marL="914400" indent="-457200" algn="just">
              <a:buFont typeface="+mj-lt"/>
              <a:buAutoNum type="alphaUcPeriod" startAt="5"/>
            </a:pPr>
            <a:r>
              <a:rPr lang="fr-FR" dirty="0"/>
              <a:t>char codes[] = {'A', 'X', '1', '2', 's</a:t>
            </a:r>
            <a:r>
              <a:rPr lang="fr-FR" dirty="0" smtClean="0"/>
              <a:t>'};</a:t>
            </a:r>
          </a:p>
          <a:p>
            <a:pPr marL="914400" indent="0" algn="just">
              <a:buNone/>
            </a:pPr>
            <a:r>
              <a:rPr lang="en-US" b="1" dirty="0"/>
              <a:t>Valid.</a:t>
            </a:r>
            <a:r>
              <a:rPr lang="en-US" dirty="0" smtClean="0"/>
              <a:t> </a:t>
            </a:r>
            <a:endParaRPr lang="en-US" b="1" dirty="0" smtClean="0"/>
          </a:p>
        </p:txBody>
      </p:sp>
      <p:sp>
        <p:nvSpPr>
          <p:cNvPr id="4" name="Title 2"/>
          <p:cNvSpPr>
            <a:spLocks noGrp="1"/>
          </p:cNvSpPr>
          <p:nvPr>
            <p:ph type="title"/>
          </p:nvPr>
        </p:nvSpPr>
        <p:spPr/>
        <p:txBody>
          <a:bodyPr/>
          <a:lstStyle/>
          <a:p>
            <a:r>
              <a:rPr lang="en-US" dirty="0" smtClean="0"/>
              <a:t>Class Activity 2</a:t>
            </a:r>
            <a:endParaRPr lang="en-US" dirty="0"/>
          </a:p>
        </p:txBody>
      </p:sp>
    </p:spTree>
    <p:extLst>
      <p:ext uri="{BB962C8B-B14F-4D97-AF65-F5344CB8AC3E}">
        <p14:creationId xmlns:p14="http://schemas.microsoft.com/office/powerpoint/2010/main" val="219585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Is each of the following a valid or invalid array definition? (If a definition is invalid, explain why</a:t>
            </a:r>
            <a:r>
              <a:rPr lang="en-US" dirty="0" smtClean="0"/>
              <a:t>.)</a:t>
            </a:r>
          </a:p>
          <a:p>
            <a:pPr marL="914400" indent="-457200" algn="just">
              <a:buFont typeface="+mj-lt"/>
              <a:buAutoNum type="alphaUcPeriod" startAt="6"/>
            </a:pPr>
            <a:r>
              <a:rPr lang="en-US" dirty="0" err="1" smtClean="0"/>
              <a:t>int</a:t>
            </a:r>
            <a:r>
              <a:rPr lang="en-US" dirty="0" smtClean="0"/>
              <a:t> blanks[]; </a:t>
            </a:r>
          </a:p>
          <a:p>
            <a:pPr marL="914400" indent="0" algn="just">
              <a:buNone/>
            </a:pPr>
            <a:r>
              <a:rPr lang="en-US" b="1" dirty="0"/>
              <a:t>Invalid</a:t>
            </a:r>
            <a:r>
              <a:rPr lang="en-US" b="1" dirty="0" smtClean="0"/>
              <a:t>.</a:t>
            </a:r>
            <a:endParaRPr lang="en-US" dirty="0"/>
          </a:p>
          <a:p>
            <a:pPr marL="914400" indent="0" algn="just">
              <a:buNone/>
            </a:pPr>
            <a:r>
              <a:rPr lang="en-US" dirty="0"/>
              <a:t>You cannot declare an array without specifying its size or providing an initializer. This will cause a compilation error.</a:t>
            </a:r>
          </a:p>
          <a:p>
            <a:pPr marL="914400" indent="0" algn="just">
              <a:buNone/>
            </a:pPr>
            <a:endParaRPr lang="en-US" dirty="0" smtClean="0"/>
          </a:p>
        </p:txBody>
      </p:sp>
      <p:sp>
        <p:nvSpPr>
          <p:cNvPr id="4" name="Title 2"/>
          <p:cNvSpPr>
            <a:spLocks noGrp="1"/>
          </p:cNvSpPr>
          <p:nvPr>
            <p:ph type="title"/>
          </p:nvPr>
        </p:nvSpPr>
        <p:spPr/>
        <p:txBody>
          <a:bodyPr/>
          <a:lstStyle/>
          <a:p>
            <a:r>
              <a:rPr lang="en-US" dirty="0" smtClean="0"/>
              <a:t>Class Activity 2</a:t>
            </a:r>
            <a:endParaRPr lang="en-US" dirty="0"/>
          </a:p>
        </p:txBody>
      </p:sp>
    </p:spTree>
    <p:extLst>
      <p:ext uri="{BB962C8B-B14F-4D97-AF65-F5344CB8AC3E}">
        <p14:creationId xmlns:p14="http://schemas.microsoft.com/office/powerpoint/2010/main" val="369436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Given the following array definition: </a:t>
            </a:r>
            <a:endParaRPr lang="en-US" dirty="0" smtClean="0"/>
          </a:p>
          <a:p>
            <a:pPr marL="457200" indent="0" algn="just">
              <a:buNone/>
            </a:pPr>
            <a:r>
              <a:rPr lang="en-US" dirty="0" err="1" smtClean="0"/>
              <a:t>int</a:t>
            </a:r>
            <a:r>
              <a:rPr lang="en-US" dirty="0" smtClean="0"/>
              <a:t> </a:t>
            </a:r>
            <a:r>
              <a:rPr lang="en-US" dirty="0"/>
              <a:t>values[] = {2, 6, 10, 14}; </a:t>
            </a:r>
            <a:endParaRPr lang="en-US" dirty="0" smtClean="0"/>
          </a:p>
          <a:p>
            <a:pPr marL="457200" indent="0" algn="just">
              <a:buNone/>
            </a:pPr>
            <a:r>
              <a:rPr lang="en-US" dirty="0" smtClean="0"/>
              <a:t>What </a:t>
            </a:r>
            <a:r>
              <a:rPr lang="en-US" dirty="0"/>
              <a:t>does each of the following display</a:t>
            </a:r>
            <a:r>
              <a:rPr lang="en-US" dirty="0" smtClean="0"/>
              <a:t>?</a:t>
            </a:r>
          </a:p>
          <a:p>
            <a:pPr marL="914400" indent="-457200" algn="just">
              <a:buFont typeface="+mj-lt"/>
              <a:buAutoNum type="alphaUcPeriod"/>
            </a:pPr>
            <a:r>
              <a:rPr lang="en-US" dirty="0" err="1"/>
              <a:t>cout</a:t>
            </a:r>
            <a:r>
              <a:rPr lang="en-US" dirty="0"/>
              <a:t> &lt;&lt; values[2</a:t>
            </a:r>
            <a:r>
              <a:rPr lang="en-US" dirty="0" smtClean="0"/>
              <a:t>];</a:t>
            </a:r>
          </a:p>
          <a:p>
            <a:pPr marL="914400" indent="0" algn="just">
              <a:buNone/>
            </a:pPr>
            <a:r>
              <a:rPr lang="en-US" b="1" dirty="0"/>
              <a:t>Output:</a:t>
            </a:r>
            <a:r>
              <a:rPr lang="en-US" dirty="0"/>
              <a:t> </a:t>
            </a:r>
            <a:r>
              <a:rPr lang="en-US" dirty="0" smtClean="0"/>
              <a:t>10</a:t>
            </a:r>
          </a:p>
          <a:p>
            <a:pPr marL="914400" indent="0" algn="just">
              <a:buNone/>
            </a:pPr>
            <a:endParaRPr lang="en-US" dirty="0" smtClean="0"/>
          </a:p>
          <a:p>
            <a:pPr marL="914400" indent="-457200" algn="just">
              <a:buFont typeface="+mj-lt"/>
              <a:buAutoNum type="alphaUcPeriod" startAt="2"/>
            </a:pPr>
            <a:r>
              <a:rPr lang="en-US" dirty="0" err="1"/>
              <a:t>cout</a:t>
            </a:r>
            <a:r>
              <a:rPr lang="en-US" dirty="0"/>
              <a:t> &lt;&lt; ++values[0</a:t>
            </a:r>
            <a:r>
              <a:rPr lang="en-US" dirty="0" smtClean="0"/>
              <a:t>];</a:t>
            </a:r>
          </a:p>
          <a:p>
            <a:pPr marL="914400" indent="0" algn="just">
              <a:buNone/>
            </a:pPr>
            <a:r>
              <a:rPr lang="en-US" dirty="0"/>
              <a:t>Output: </a:t>
            </a:r>
            <a:r>
              <a:rPr lang="en-US" b="1" dirty="0" smtClean="0"/>
              <a:t>3</a:t>
            </a:r>
          </a:p>
          <a:p>
            <a:pPr marL="914400" indent="0" algn="just">
              <a:buNone/>
            </a:pPr>
            <a:r>
              <a:rPr lang="en-US" dirty="0"/>
              <a:t>Now, the array is: </a:t>
            </a:r>
            <a:r>
              <a:rPr lang="en-US" dirty="0"/>
              <a:t>{3, 6, 10, 14</a:t>
            </a:r>
            <a:r>
              <a:rPr lang="en-US" dirty="0" smtClean="0"/>
              <a:t>}</a:t>
            </a:r>
            <a:endParaRPr lang="en-US" dirty="0"/>
          </a:p>
        </p:txBody>
      </p:sp>
      <p:sp>
        <p:nvSpPr>
          <p:cNvPr id="4" name="Title 2"/>
          <p:cNvSpPr>
            <a:spLocks noGrp="1"/>
          </p:cNvSpPr>
          <p:nvPr>
            <p:ph type="title"/>
          </p:nvPr>
        </p:nvSpPr>
        <p:spPr/>
        <p:txBody>
          <a:bodyPr/>
          <a:lstStyle/>
          <a:p>
            <a:r>
              <a:rPr lang="en-US" dirty="0" smtClean="0"/>
              <a:t>Class Activity 3</a:t>
            </a:r>
            <a:endParaRPr lang="en-US" dirty="0"/>
          </a:p>
        </p:txBody>
      </p:sp>
    </p:spTree>
    <p:extLst>
      <p:ext uri="{BB962C8B-B14F-4D97-AF65-F5344CB8AC3E}">
        <p14:creationId xmlns:p14="http://schemas.microsoft.com/office/powerpoint/2010/main" val="402667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Given the following array definition: </a:t>
            </a:r>
            <a:endParaRPr lang="en-US" dirty="0" smtClean="0"/>
          </a:p>
          <a:p>
            <a:pPr marL="457200" indent="0" algn="just">
              <a:buNone/>
            </a:pPr>
            <a:r>
              <a:rPr lang="en-US" dirty="0" err="1" smtClean="0"/>
              <a:t>int</a:t>
            </a:r>
            <a:r>
              <a:rPr lang="en-US" dirty="0" smtClean="0"/>
              <a:t> </a:t>
            </a:r>
            <a:r>
              <a:rPr lang="en-US" dirty="0"/>
              <a:t>values[] = {2, 6, 10, 14}; </a:t>
            </a:r>
            <a:endParaRPr lang="en-US" dirty="0" smtClean="0"/>
          </a:p>
          <a:p>
            <a:pPr marL="457200" indent="0" algn="just">
              <a:buNone/>
            </a:pPr>
            <a:r>
              <a:rPr lang="en-US" dirty="0" smtClean="0"/>
              <a:t>What </a:t>
            </a:r>
            <a:r>
              <a:rPr lang="en-US" dirty="0"/>
              <a:t>does each of the following display</a:t>
            </a:r>
            <a:r>
              <a:rPr lang="en-US" dirty="0" smtClean="0"/>
              <a:t>?</a:t>
            </a:r>
          </a:p>
          <a:p>
            <a:pPr marL="914400" indent="-457200" algn="just">
              <a:buFont typeface="+mj-lt"/>
              <a:buAutoNum type="alphaUcPeriod" startAt="3"/>
            </a:pPr>
            <a:r>
              <a:rPr lang="en-US" dirty="0" err="1"/>
              <a:t>cout</a:t>
            </a:r>
            <a:r>
              <a:rPr lang="en-US" dirty="0"/>
              <a:t> &lt;&lt; values[1</a:t>
            </a:r>
            <a:r>
              <a:rPr lang="en-US" dirty="0" smtClean="0"/>
              <a:t>]++;</a:t>
            </a:r>
          </a:p>
          <a:p>
            <a:pPr marL="914400" indent="0" algn="just">
              <a:buNone/>
            </a:pPr>
            <a:r>
              <a:rPr lang="en-US" dirty="0" smtClean="0"/>
              <a:t>After </a:t>
            </a:r>
            <a:r>
              <a:rPr lang="en-US" dirty="0"/>
              <a:t>this statement, values[1] becomes </a:t>
            </a:r>
            <a:r>
              <a:rPr lang="en-US" b="1" dirty="0" smtClean="0"/>
              <a:t>7</a:t>
            </a:r>
            <a:r>
              <a:rPr lang="en-US" dirty="0" smtClean="0"/>
              <a:t>.</a:t>
            </a:r>
          </a:p>
          <a:p>
            <a:pPr marL="914400" indent="0" algn="just">
              <a:buNone/>
            </a:pPr>
            <a:r>
              <a:rPr lang="en-US" dirty="0" smtClean="0"/>
              <a:t>Now</a:t>
            </a:r>
            <a:r>
              <a:rPr lang="en-US" dirty="0"/>
              <a:t>, the array is: {3, 7, 10, 14</a:t>
            </a:r>
            <a:r>
              <a:rPr lang="en-US" dirty="0" smtClean="0"/>
              <a:t>}.</a:t>
            </a:r>
          </a:p>
        </p:txBody>
      </p:sp>
      <p:sp>
        <p:nvSpPr>
          <p:cNvPr id="4" name="Title 2"/>
          <p:cNvSpPr>
            <a:spLocks noGrp="1"/>
          </p:cNvSpPr>
          <p:nvPr>
            <p:ph type="title"/>
          </p:nvPr>
        </p:nvSpPr>
        <p:spPr/>
        <p:txBody>
          <a:bodyPr/>
          <a:lstStyle/>
          <a:p>
            <a:r>
              <a:rPr lang="en-US" dirty="0" smtClean="0"/>
              <a:t>Class Activity 3</a:t>
            </a:r>
            <a:endParaRPr lang="en-US" dirty="0"/>
          </a:p>
        </p:txBody>
      </p:sp>
    </p:spTree>
    <p:extLst>
      <p:ext uri="{BB962C8B-B14F-4D97-AF65-F5344CB8AC3E}">
        <p14:creationId xmlns:p14="http://schemas.microsoft.com/office/powerpoint/2010/main" val="1783056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Given the following array definition: </a:t>
            </a:r>
            <a:endParaRPr lang="en-US" dirty="0" smtClean="0"/>
          </a:p>
          <a:p>
            <a:pPr marL="457200" indent="0" algn="just">
              <a:buNone/>
            </a:pPr>
            <a:r>
              <a:rPr lang="en-US" dirty="0" err="1" smtClean="0"/>
              <a:t>int</a:t>
            </a:r>
            <a:r>
              <a:rPr lang="en-US" dirty="0" smtClean="0"/>
              <a:t> </a:t>
            </a:r>
            <a:r>
              <a:rPr lang="en-US" dirty="0"/>
              <a:t>values[] = {2, 6, 10, 14}; </a:t>
            </a:r>
            <a:endParaRPr lang="en-US" dirty="0" smtClean="0"/>
          </a:p>
          <a:p>
            <a:pPr marL="457200" indent="0" algn="just">
              <a:buNone/>
            </a:pPr>
            <a:r>
              <a:rPr lang="en-US" dirty="0" smtClean="0"/>
              <a:t>What </a:t>
            </a:r>
            <a:r>
              <a:rPr lang="en-US" dirty="0"/>
              <a:t>does each of the following display</a:t>
            </a:r>
            <a:r>
              <a:rPr lang="en-US" dirty="0" smtClean="0"/>
              <a:t>?</a:t>
            </a:r>
          </a:p>
          <a:p>
            <a:pPr marL="914400" indent="-457200" algn="just">
              <a:buFont typeface="+mj-lt"/>
              <a:buAutoNum type="alphaUcPeriod" startAt="4"/>
            </a:pPr>
            <a:r>
              <a:rPr lang="fr-FR" b="1" dirty="0"/>
              <a:t>x = 2; </a:t>
            </a:r>
            <a:endParaRPr lang="fr-FR" b="1" dirty="0" smtClean="0"/>
          </a:p>
          <a:p>
            <a:pPr marL="914400" indent="0" algn="just">
              <a:buNone/>
            </a:pPr>
            <a:r>
              <a:rPr lang="fr-FR" b="1" dirty="0" smtClean="0"/>
              <a:t>cout </a:t>
            </a:r>
            <a:r>
              <a:rPr lang="fr-FR" b="1" dirty="0"/>
              <a:t>&lt;&lt; values[++x</a:t>
            </a:r>
            <a:r>
              <a:rPr lang="fr-FR" b="1" dirty="0" smtClean="0"/>
              <a:t>];</a:t>
            </a:r>
          </a:p>
          <a:p>
            <a:pPr marL="914400" indent="0" algn="just">
              <a:buNone/>
            </a:pPr>
            <a:endParaRPr lang="fr-FR" b="1" dirty="0"/>
          </a:p>
          <a:p>
            <a:pPr marL="1371600" indent="-457200" algn="just">
              <a:buFont typeface="Arial" pitchFamily="34" charset="0"/>
              <a:buChar char="•"/>
            </a:pPr>
            <a:r>
              <a:rPr lang="en-US" dirty="0" smtClean="0"/>
              <a:t>x</a:t>
            </a:r>
            <a:r>
              <a:rPr lang="en-US" dirty="0"/>
              <a:t> is assigned </a:t>
            </a:r>
            <a:r>
              <a:rPr lang="en-US" b="1" dirty="0"/>
              <a:t>2</a:t>
            </a:r>
            <a:r>
              <a:rPr lang="en-US" dirty="0" smtClean="0"/>
              <a:t>.</a:t>
            </a:r>
          </a:p>
          <a:p>
            <a:pPr marL="1371600" indent="-457200" algn="just">
              <a:buFont typeface="Arial" pitchFamily="34" charset="0"/>
              <a:buChar char="•"/>
            </a:pPr>
            <a:r>
              <a:rPr lang="en-US" dirty="0" smtClean="0"/>
              <a:t>++</a:t>
            </a:r>
            <a:r>
              <a:rPr lang="en-US" dirty="0"/>
              <a:t>x increments x before using it, so x becomes </a:t>
            </a:r>
            <a:r>
              <a:rPr lang="en-US" b="1" dirty="0" smtClean="0"/>
              <a:t>3</a:t>
            </a:r>
            <a:r>
              <a:rPr lang="en-US" dirty="0" smtClean="0"/>
              <a:t>.</a:t>
            </a:r>
          </a:p>
          <a:p>
            <a:pPr marL="1371600" indent="-457200" algn="just">
              <a:buFont typeface="Arial" pitchFamily="34" charset="0"/>
              <a:buChar char="•"/>
            </a:pPr>
            <a:r>
              <a:rPr lang="en-US" dirty="0" smtClean="0"/>
              <a:t>values[3</a:t>
            </a:r>
            <a:r>
              <a:rPr lang="en-US" dirty="0"/>
              <a:t>] is </a:t>
            </a:r>
            <a:r>
              <a:rPr lang="en-US" b="1" dirty="0" smtClean="0"/>
              <a:t>14</a:t>
            </a:r>
            <a:r>
              <a:rPr lang="en-US" dirty="0" smtClean="0"/>
              <a:t>.</a:t>
            </a:r>
          </a:p>
          <a:p>
            <a:pPr marL="1371600" indent="-457200" algn="just">
              <a:buFont typeface="Arial" pitchFamily="34" charset="0"/>
              <a:buChar char="•"/>
            </a:pPr>
            <a:r>
              <a:rPr lang="en-US" dirty="0" smtClean="0"/>
              <a:t>Output</a:t>
            </a:r>
            <a:r>
              <a:rPr lang="en-US" dirty="0"/>
              <a:t>: </a:t>
            </a:r>
            <a:r>
              <a:rPr lang="en-US" b="1" dirty="0"/>
              <a:t>14</a:t>
            </a:r>
            <a:endParaRPr lang="en-US" dirty="0"/>
          </a:p>
          <a:p>
            <a:pPr marL="914400" indent="0" algn="just">
              <a:buNone/>
            </a:pPr>
            <a:endParaRPr lang="fr-FR" dirty="0" smtClean="0"/>
          </a:p>
          <a:p>
            <a:pPr marL="914400" indent="0" algn="just">
              <a:buNone/>
            </a:pPr>
            <a:endParaRPr lang="en-US" dirty="0" smtClean="0"/>
          </a:p>
        </p:txBody>
      </p:sp>
      <p:sp>
        <p:nvSpPr>
          <p:cNvPr id="4" name="Title 2"/>
          <p:cNvSpPr>
            <a:spLocks noGrp="1"/>
          </p:cNvSpPr>
          <p:nvPr>
            <p:ph type="title"/>
          </p:nvPr>
        </p:nvSpPr>
        <p:spPr/>
        <p:txBody>
          <a:bodyPr/>
          <a:lstStyle/>
          <a:p>
            <a:r>
              <a:rPr lang="en-US" dirty="0" smtClean="0"/>
              <a:t>Class Activity 3</a:t>
            </a:r>
            <a:endParaRPr lang="en-US" dirty="0"/>
          </a:p>
        </p:txBody>
      </p:sp>
    </p:spTree>
    <p:extLst>
      <p:ext uri="{BB962C8B-B14F-4D97-AF65-F5344CB8AC3E}">
        <p14:creationId xmlns:p14="http://schemas.microsoft.com/office/powerpoint/2010/main" val="9917896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48347"/>
            <a:ext cx="8686799" cy="4381053"/>
          </a:xfrm>
        </p:spPr>
        <p:txBody>
          <a:bodyPr>
            <a:normAutofit/>
          </a:bodyPr>
          <a:lstStyle/>
          <a:p>
            <a:pPr algn="just"/>
            <a:r>
              <a:rPr lang="en-US" dirty="0"/>
              <a:t>C++ does not prevent you from overwriting an array’s bounds. </a:t>
            </a:r>
            <a:endParaRPr lang="en-US" dirty="0" smtClean="0"/>
          </a:p>
          <a:p>
            <a:pPr algn="just"/>
            <a:endParaRPr lang="en-US" dirty="0" smtClean="0"/>
          </a:p>
          <a:p>
            <a:pPr algn="just"/>
            <a:r>
              <a:rPr lang="en-US" dirty="0" smtClean="0"/>
              <a:t>To </a:t>
            </a:r>
            <a:r>
              <a:rPr lang="en-US" dirty="0"/>
              <a:t>increase runtime efficiency, C++ does not provide many of the common safeguards to prevent unsafe memory access found in other languages. </a:t>
            </a:r>
            <a:endParaRPr lang="en-US" dirty="0" smtClean="0"/>
          </a:p>
          <a:p>
            <a:pPr algn="just"/>
            <a:endParaRPr lang="en-US" dirty="0"/>
          </a:p>
          <a:p>
            <a:pPr algn="just"/>
            <a:r>
              <a:rPr lang="en-US" dirty="0" smtClean="0"/>
              <a:t>For </a:t>
            </a:r>
            <a:r>
              <a:rPr lang="en-US" dirty="0"/>
              <a:t>example, C++ does not perform array bounds checking. This means you can write programs with subscripts that go beyond the boundaries of a particular array. </a:t>
            </a:r>
            <a:endParaRPr lang="en-US" dirty="0" smtClean="0"/>
          </a:p>
        </p:txBody>
      </p:sp>
      <p:sp>
        <p:nvSpPr>
          <p:cNvPr id="3" name="Title 2"/>
          <p:cNvSpPr>
            <a:spLocks noGrp="1"/>
          </p:cNvSpPr>
          <p:nvPr>
            <p:ph type="title"/>
          </p:nvPr>
        </p:nvSpPr>
        <p:spPr>
          <a:xfrm>
            <a:off x="76200" y="533400"/>
            <a:ext cx="8991600" cy="1054250"/>
          </a:xfrm>
        </p:spPr>
        <p:txBody>
          <a:bodyPr/>
          <a:lstStyle/>
          <a:p>
            <a:r>
              <a:rPr lang="en-US" dirty="0" smtClean="0"/>
              <a:t>No Bounds Checking in C++</a:t>
            </a:r>
            <a:endParaRPr lang="en-US" dirty="0"/>
          </a:p>
        </p:txBody>
      </p:sp>
    </p:spTree>
    <p:extLst>
      <p:ext uri="{BB962C8B-B14F-4D97-AF65-F5344CB8AC3E}">
        <p14:creationId xmlns:p14="http://schemas.microsoft.com/office/powerpoint/2010/main" val="42116333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7620000" cy="6544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1"/>
          <p:cNvSpPr txBox="1">
            <a:spLocks/>
          </p:cNvSpPr>
          <p:nvPr/>
        </p:nvSpPr>
        <p:spPr>
          <a:xfrm>
            <a:off x="4419600" y="152400"/>
            <a:ext cx="4572000" cy="1981200"/>
          </a:xfrm>
          <a:prstGeom prst="rect">
            <a:avLst/>
          </a:prstGeom>
        </p:spPr>
        <p:txBody>
          <a:bodyPr vert="horz" lIns="91440" tIns="45720" rIns="91440" bIns="45720" rtlCol="0">
            <a:normAutofit fontScale="85000" lnSpcReduction="20000"/>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lgn="just"/>
            <a:r>
              <a:rPr lang="en-US" dirty="0"/>
              <a:t>Think twice before you compile and run </a:t>
            </a:r>
            <a:r>
              <a:rPr lang="en-US" dirty="0" smtClean="0"/>
              <a:t>this Program. </a:t>
            </a:r>
          </a:p>
          <a:p>
            <a:pPr algn="just"/>
            <a:r>
              <a:rPr lang="en-US" dirty="0" smtClean="0"/>
              <a:t>The </a:t>
            </a:r>
            <a:r>
              <a:rPr lang="en-US" dirty="0"/>
              <a:t>program will attempt to write to an area of memory outside the array. This is an invalid operation and will most likely cause the program to crash. </a:t>
            </a:r>
          </a:p>
        </p:txBody>
      </p:sp>
    </p:spTree>
    <p:extLst>
      <p:ext uri="{BB962C8B-B14F-4D97-AF65-F5344CB8AC3E}">
        <p14:creationId xmlns:p14="http://schemas.microsoft.com/office/powerpoint/2010/main" val="87047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48347"/>
            <a:ext cx="8686799" cy="4381053"/>
          </a:xfrm>
        </p:spPr>
        <p:txBody>
          <a:bodyPr>
            <a:normAutofit/>
          </a:bodyPr>
          <a:lstStyle/>
          <a:p>
            <a:pPr algn="just"/>
            <a:r>
              <a:rPr lang="en-US" dirty="0"/>
              <a:t>P</a:t>
            </a:r>
            <a:r>
              <a:rPr lang="en-US" dirty="0" smtClean="0"/>
              <a:t>rogram</a:t>
            </a:r>
            <a:r>
              <a:rPr lang="en-US" dirty="0"/>
              <a:t> </a:t>
            </a:r>
            <a:r>
              <a:rPr lang="en-US" dirty="0" smtClean="0"/>
              <a:t>in the previous slide </a:t>
            </a:r>
            <a:r>
              <a:rPr lang="en-US" b="1" dirty="0" smtClean="0"/>
              <a:t>might </a:t>
            </a:r>
            <a:r>
              <a:rPr lang="en-US" b="1" dirty="0"/>
              <a:t>run without an error</a:t>
            </a:r>
            <a:r>
              <a:rPr lang="en-US" dirty="0"/>
              <a:t> on many systems/compilers (like GCC or Visual Studio), but it's not guaranteed—and it's a bad idea. Here's why</a:t>
            </a:r>
            <a:r>
              <a:rPr lang="en-US" dirty="0" smtClean="0"/>
              <a:t>:</a:t>
            </a:r>
          </a:p>
          <a:p>
            <a:pPr marL="914400" indent="-457200" algn="just">
              <a:buFont typeface="+mj-lt"/>
              <a:buAutoNum type="arabicPeriod"/>
            </a:pPr>
            <a:r>
              <a:rPr lang="en-US" b="1" dirty="0"/>
              <a:t>No Compile-Time Error</a:t>
            </a:r>
            <a:r>
              <a:rPr lang="en-US" dirty="0"/>
              <a:t>: The code will compile fine because C++ doesn't check array bounds at compile time. The array values[SIZE] (with SIZE = 3) is declared, and the loops use variables, so the compiler sees valid syntax.</a:t>
            </a:r>
          </a:p>
          <a:p>
            <a:pPr algn="just"/>
            <a:endParaRPr lang="en-US" dirty="0" smtClean="0"/>
          </a:p>
        </p:txBody>
      </p:sp>
      <p:sp>
        <p:nvSpPr>
          <p:cNvPr id="3" name="Title 2"/>
          <p:cNvSpPr>
            <a:spLocks noGrp="1"/>
          </p:cNvSpPr>
          <p:nvPr>
            <p:ph type="title"/>
          </p:nvPr>
        </p:nvSpPr>
        <p:spPr>
          <a:xfrm>
            <a:off x="76200" y="533400"/>
            <a:ext cx="8991600" cy="1054250"/>
          </a:xfrm>
        </p:spPr>
        <p:txBody>
          <a:bodyPr/>
          <a:lstStyle/>
          <a:p>
            <a:r>
              <a:rPr lang="en-US" dirty="0" smtClean="0"/>
              <a:t>No Bounds Checking in C++</a:t>
            </a:r>
            <a:endParaRPr lang="en-US" dirty="0"/>
          </a:p>
        </p:txBody>
      </p:sp>
    </p:spTree>
    <p:extLst>
      <p:ext uri="{BB962C8B-B14F-4D97-AF65-F5344CB8AC3E}">
        <p14:creationId xmlns:p14="http://schemas.microsoft.com/office/powerpoint/2010/main" val="42232977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48347"/>
            <a:ext cx="8686799" cy="4381053"/>
          </a:xfrm>
        </p:spPr>
        <p:txBody>
          <a:bodyPr>
            <a:normAutofit lnSpcReduction="10000"/>
          </a:bodyPr>
          <a:lstStyle/>
          <a:p>
            <a:pPr marL="914400" indent="-457200" algn="just">
              <a:buFont typeface="+mj-lt"/>
              <a:buAutoNum type="arabicPeriod" startAt="2"/>
            </a:pPr>
            <a:r>
              <a:rPr lang="en-US" b="1" dirty="0"/>
              <a:t>Runtime Behavior</a:t>
            </a:r>
            <a:r>
              <a:rPr lang="en-US" dirty="0"/>
              <a:t>: At runtime, writing to values[3] and values[4] (beyond the array's 3 elements) is </a:t>
            </a:r>
            <a:r>
              <a:rPr lang="en-US" b="1" dirty="0"/>
              <a:t>undefined behavior</a:t>
            </a:r>
            <a:r>
              <a:rPr lang="en-US" dirty="0"/>
              <a:t>. This means</a:t>
            </a:r>
            <a:r>
              <a:rPr lang="en-US" dirty="0" smtClean="0"/>
              <a:t>:</a:t>
            </a:r>
          </a:p>
          <a:p>
            <a:pPr marL="1371600" indent="-514350" algn="just">
              <a:buFont typeface="+mj-lt"/>
              <a:buAutoNum type="romanLcPeriod"/>
            </a:pPr>
            <a:r>
              <a:rPr lang="en-US" dirty="0"/>
              <a:t>It could "work" and print something like 100 five times (if the extra writes land in unused memory</a:t>
            </a:r>
            <a:r>
              <a:rPr lang="en-US" dirty="0" smtClean="0"/>
              <a:t>).</a:t>
            </a:r>
          </a:p>
          <a:p>
            <a:pPr marL="1371600" indent="-514350" algn="just">
              <a:buFont typeface="+mj-lt"/>
              <a:buAutoNum type="romanLcPeriod"/>
            </a:pPr>
            <a:r>
              <a:rPr lang="en-US" dirty="0"/>
              <a:t>It could crash (e.g., segmentation fault on Linux/Mac).</a:t>
            </a:r>
          </a:p>
          <a:p>
            <a:pPr marL="1371600" indent="-514350" algn="just">
              <a:buFont typeface="+mj-lt"/>
              <a:buAutoNum type="romanLcPeriod"/>
            </a:pPr>
            <a:r>
              <a:rPr lang="en-US" dirty="0"/>
              <a:t>It could corrupt other data in your program, leading to weird bugs or security risks.</a:t>
            </a:r>
          </a:p>
          <a:p>
            <a:pPr marL="1371600" indent="-514350" algn="just">
              <a:buFont typeface="+mj-lt"/>
              <a:buAutoNum type="romanLcPeriod"/>
            </a:pPr>
            <a:r>
              <a:rPr lang="en-US" dirty="0"/>
              <a:t>Results vary by compiler, OS, and luck—don't rely on it</a:t>
            </a:r>
            <a:r>
              <a:rPr lang="en-US" dirty="0" smtClean="0"/>
              <a:t>!</a:t>
            </a:r>
            <a:endParaRPr lang="en-US" dirty="0"/>
          </a:p>
          <a:p>
            <a:pPr marL="1371600" indent="-514350" algn="just">
              <a:buFont typeface="+mj-lt"/>
              <a:buAutoNum type="romanLcPeriod"/>
            </a:pPr>
            <a:endParaRPr lang="en-US" dirty="0" smtClean="0"/>
          </a:p>
        </p:txBody>
      </p:sp>
      <p:sp>
        <p:nvSpPr>
          <p:cNvPr id="3" name="Title 2"/>
          <p:cNvSpPr>
            <a:spLocks noGrp="1"/>
          </p:cNvSpPr>
          <p:nvPr>
            <p:ph type="title"/>
          </p:nvPr>
        </p:nvSpPr>
        <p:spPr>
          <a:xfrm>
            <a:off x="76200" y="533400"/>
            <a:ext cx="8991600" cy="1054250"/>
          </a:xfrm>
        </p:spPr>
        <p:txBody>
          <a:bodyPr/>
          <a:lstStyle/>
          <a:p>
            <a:r>
              <a:rPr lang="en-US" dirty="0" smtClean="0"/>
              <a:t>No Bounds Checking in C++</a:t>
            </a:r>
            <a:endParaRPr lang="en-US" dirty="0"/>
          </a:p>
        </p:txBody>
      </p:sp>
    </p:spTree>
    <p:extLst>
      <p:ext uri="{BB962C8B-B14F-4D97-AF65-F5344CB8AC3E}">
        <p14:creationId xmlns:p14="http://schemas.microsoft.com/office/powerpoint/2010/main" val="24921444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48347"/>
            <a:ext cx="8686799" cy="4381053"/>
          </a:xfrm>
        </p:spPr>
        <p:txBody>
          <a:bodyPr>
            <a:normAutofit/>
          </a:bodyPr>
          <a:lstStyle/>
          <a:p>
            <a:pPr algn="just"/>
            <a:r>
              <a:rPr lang="en-US" dirty="0"/>
              <a:t>Although C++ programs are fast and efficient, the absence of safeguards such as array bounds checking usually proves to be a bad thing. It’s easy for C++ programmers to make careless mistakes that allow programs to access areas of memory that are supposed to be off-limits. You must always make sure that any time you assign values to array elements, the values are written within the array’s boundaries. </a:t>
            </a:r>
            <a:endParaRPr lang="en-US" dirty="0" smtClean="0"/>
          </a:p>
        </p:txBody>
      </p:sp>
      <p:sp>
        <p:nvSpPr>
          <p:cNvPr id="3" name="Title 2"/>
          <p:cNvSpPr>
            <a:spLocks noGrp="1"/>
          </p:cNvSpPr>
          <p:nvPr>
            <p:ph type="title"/>
          </p:nvPr>
        </p:nvSpPr>
        <p:spPr>
          <a:xfrm>
            <a:off x="76200" y="533400"/>
            <a:ext cx="8991600" cy="1054250"/>
          </a:xfrm>
        </p:spPr>
        <p:txBody>
          <a:bodyPr/>
          <a:lstStyle/>
          <a:p>
            <a:r>
              <a:rPr lang="en-US" dirty="0" smtClean="0"/>
              <a:t>No Bounds Checking in C++</a:t>
            </a:r>
            <a:endParaRPr lang="en-US" dirty="0"/>
          </a:p>
        </p:txBody>
      </p:sp>
    </p:spTree>
    <p:extLst>
      <p:ext uri="{BB962C8B-B14F-4D97-AF65-F5344CB8AC3E}">
        <p14:creationId xmlns:p14="http://schemas.microsoft.com/office/powerpoint/2010/main" val="25478859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48347"/>
            <a:ext cx="8686799" cy="4381053"/>
          </a:xfrm>
        </p:spPr>
        <p:txBody>
          <a:bodyPr>
            <a:normAutofit/>
          </a:bodyPr>
          <a:lstStyle/>
          <a:p>
            <a:pPr algn="just"/>
            <a:r>
              <a:rPr lang="en-US" dirty="0"/>
              <a:t>In working with arrays, a common type of mistake is the off-by-one error. This is an easy mistake to make because array subscripts start at 0 rather than 1. </a:t>
            </a:r>
            <a:endParaRPr lang="en-US" dirty="0" smtClean="0"/>
          </a:p>
          <a:p>
            <a:pPr algn="just"/>
            <a:r>
              <a:rPr lang="en-US" dirty="0"/>
              <a:t>It happens when you accidentally point to the wrong spot in the array—often by one position too early or too late. </a:t>
            </a:r>
            <a:endParaRPr lang="en-US" dirty="0" smtClean="0"/>
          </a:p>
          <a:p>
            <a:pPr algn="just"/>
            <a:r>
              <a:rPr lang="en-US" dirty="0" smtClean="0"/>
              <a:t>This </a:t>
            </a:r>
            <a:r>
              <a:rPr lang="en-US" dirty="0"/>
              <a:t>is easy to do because arrays start counting from 0, not 1. For example, if you have 5 items, valid spots are 0, 1, 2, 3, 4. If you loop from 1 to 5, you skip the first item (0) or go past the end (5 is invalid</a:t>
            </a:r>
            <a:r>
              <a:rPr lang="en-US" dirty="0" smtClean="0"/>
              <a:t>).</a:t>
            </a:r>
          </a:p>
          <a:p>
            <a:pPr algn="just"/>
            <a:r>
              <a:rPr lang="en-US" b="1" dirty="0"/>
              <a:t>Why it matters</a:t>
            </a:r>
            <a:r>
              <a:rPr lang="en-US" dirty="0"/>
              <a:t>: It can make your program print wrong data, crash, or access bad memory.</a:t>
            </a:r>
          </a:p>
          <a:p>
            <a:pPr algn="just"/>
            <a:endParaRPr lang="en-US" dirty="0" smtClean="0"/>
          </a:p>
        </p:txBody>
      </p:sp>
      <p:sp>
        <p:nvSpPr>
          <p:cNvPr id="3" name="Title 2"/>
          <p:cNvSpPr>
            <a:spLocks noGrp="1"/>
          </p:cNvSpPr>
          <p:nvPr>
            <p:ph type="title"/>
          </p:nvPr>
        </p:nvSpPr>
        <p:spPr>
          <a:xfrm>
            <a:off x="76200" y="533400"/>
            <a:ext cx="8991600" cy="1054250"/>
          </a:xfrm>
        </p:spPr>
        <p:txBody>
          <a:bodyPr/>
          <a:lstStyle/>
          <a:p>
            <a:r>
              <a:rPr lang="en-US" dirty="0"/>
              <a:t>Watch for Off-by-One Errors </a:t>
            </a:r>
          </a:p>
        </p:txBody>
      </p:sp>
    </p:spTree>
    <p:extLst>
      <p:ext uri="{BB962C8B-B14F-4D97-AF65-F5344CB8AC3E}">
        <p14:creationId xmlns:p14="http://schemas.microsoft.com/office/powerpoint/2010/main" val="6098218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635250" y="2940050"/>
            <a:ext cx="6629400" cy="1054100"/>
          </a:xfrm>
        </p:spPr>
        <p:txBody>
          <a:bodyPr/>
          <a:lstStyle/>
          <a:p>
            <a:r>
              <a:rPr lang="en-US" dirty="0" smtClean="0"/>
              <a:t>Example</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8600"/>
            <a:ext cx="6207268"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5398" y="5405438"/>
            <a:ext cx="2069089"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863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2667000"/>
            <a:ext cx="9144000" cy="1054100"/>
          </a:xfrm>
        </p:spPr>
        <p:txBody>
          <a:bodyPr/>
          <a:lstStyle/>
          <a:p>
            <a:r>
              <a:rPr lang="en-US" dirty="0"/>
              <a:t>The </a:t>
            </a:r>
            <a:r>
              <a:rPr lang="en-US" dirty="0" smtClean="0"/>
              <a:t>Range-Based </a:t>
            </a:r>
            <a:r>
              <a:rPr lang="en-US" dirty="0"/>
              <a:t>for </a:t>
            </a:r>
            <a:r>
              <a:rPr lang="en-US" dirty="0" smtClean="0"/>
              <a:t>Loop</a:t>
            </a:r>
            <a:endParaRPr lang="en-US" dirty="0"/>
          </a:p>
        </p:txBody>
      </p:sp>
    </p:spTree>
    <p:extLst>
      <p:ext uri="{BB962C8B-B14F-4D97-AF65-F5344CB8AC3E}">
        <p14:creationId xmlns:p14="http://schemas.microsoft.com/office/powerpoint/2010/main" val="18892867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The range-based for loop is a loop that iterates once for each element in an array. Each time the loop iterates, it copies an element from the array to a variable. The range-based for loop was introduced in C++ 11</a:t>
            </a:r>
            <a:r>
              <a:rPr lang="en-US" dirty="0" smtClean="0"/>
              <a:t>.</a:t>
            </a:r>
          </a:p>
          <a:p>
            <a:pPr algn="just"/>
            <a:r>
              <a:rPr lang="en-US" dirty="0" smtClean="0"/>
              <a:t>When </a:t>
            </a:r>
            <a:r>
              <a:rPr lang="en-US" dirty="0"/>
              <a:t>you use the </a:t>
            </a:r>
            <a:r>
              <a:rPr lang="en-US" dirty="0" smtClean="0"/>
              <a:t>range-based </a:t>
            </a:r>
            <a:r>
              <a:rPr lang="en-US" dirty="0"/>
              <a:t>for loop with an array, the loop automatically iterates once for each element in the array</a:t>
            </a:r>
            <a:r>
              <a:rPr lang="en-US" dirty="0" smtClean="0"/>
              <a:t>.</a:t>
            </a:r>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spTree>
    <p:extLst>
      <p:ext uri="{BB962C8B-B14F-4D97-AF65-F5344CB8AC3E}">
        <p14:creationId xmlns:p14="http://schemas.microsoft.com/office/powerpoint/2010/main" val="13232209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smtClean="0"/>
              <a:t>For </a:t>
            </a:r>
            <a:r>
              <a:rPr lang="en-US" dirty="0"/>
              <a:t>example, if you use the range-based for loop with an eight-element array, the loop will iterate eight times. </a:t>
            </a:r>
            <a:endParaRPr lang="en-US" dirty="0" smtClean="0"/>
          </a:p>
          <a:p>
            <a:pPr algn="just"/>
            <a:r>
              <a:rPr lang="en-US" dirty="0" smtClean="0"/>
              <a:t>Because </a:t>
            </a:r>
            <a:r>
              <a:rPr lang="en-US" dirty="0"/>
              <a:t>the range-based </a:t>
            </a:r>
            <a:r>
              <a:rPr lang="en-US" b="1" dirty="0"/>
              <a:t>for</a:t>
            </a:r>
            <a:r>
              <a:rPr lang="en-US" dirty="0"/>
              <a:t> loop automatically knows the number of elements in an array, you do not have to use a counter variable to control its iterations, as with a regular for loop. </a:t>
            </a:r>
            <a:endParaRPr lang="en-US" dirty="0" smtClean="0"/>
          </a:p>
          <a:p>
            <a:pPr algn="just"/>
            <a:r>
              <a:rPr lang="en-US" dirty="0" smtClean="0"/>
              <a:t>Additionally</a:t>
            </a:r>
            <a:r>
              <a:rPr lang="en-US" dirty="0"/>
              <a:t>, you do not have to worry about stepping outside the bounds of an array when you use the range-based for loop. </a:t>
            </a:r>
            <a:endParaRPr lang="en-US" dirty="0" smtClean="0"/>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spTree>
    <p:extLst>
      <p:ext uri="{BB962C8B-B14F-4D97-AF65-F5344CB8AC3E}">
        <p14:creationId xmlns:p14="http://schemas.microsoft.com/office/powerpoint/2010/main" val="41320509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range-based for loop is designed to work with a built-in variable known as the range variable. Each time the range-based for loop iterates, it copies an array element to the range variable. </a:t>
            </a:r>
            <a:endParaRPr lang="en-US" dirty="0" smtClean="0"/>
          </a:p>
          <a:p>
            <a:pPr algn="just"/>
            <a:r>
              <a:rPr lang="en-US" dirty="0" smtClean="0"/>
              <a:t>For </a:t>
            </a:r>
            <a:r>
              <a:rPr lang="en-US" dirty="0"/>
              <a:t>example, the first time the loop iterates, the range variable will contain the value of element 0, the second time the loop iterates, the range variable will contain the value of element 1, and so forth</a:t>
            </a:r>
            <a:r>
              <a:rPr lang="en-US" dirty="0" smtClean="0"/>
              <a:t>.</a:t>
            </a:r>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spTree>
    <p:extLst>
      <p:ext uri="{BB962C8B-B14F-4D97-AF65-F5344CB8AC3E}">
        <p14:creationId xmlns:p14="http://schemas.microsoft.com/office/powerpoint/2010/main" val="4555266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Here is the general format of the range-based for loop: </a:t>
            </a:r>
            <a:endParaRPr lang="en-US" dirty="0" smtClean="0"/>
          </a:p>
          <a:p>
            <a:pPr algn="just"/>
            <a:endParaRPr lang="en-US" dirty="0"/>
          </a:p>
          <a:p>
            <a:pPr algn="just"/>
            <a:endParaRPr lang="en-US" dirty="0" smtClean="0"/>
          </a:p>
          <a:p>
            <a:pPr algn="just"/>
            <a:r>
              <a:rPr lang="en-US" dirty="0"/>
              <a:t>Let’s look at the syntax more closely as follows: </a:t>
            </a:r>
            <a:endParaRPr lang="en-US" dirty="0" smtClean="0"/>
          </a:p>
          <a:p>
            <a:pPr marL="914400" algn="just"/>
            <a:r>
              <a:rPr lang="en-US" b="1" dirty="0" err="1"/>
              <a:t>dataType</a:t>
            </a:r>
            <a:r>
              <a:rPr lang="en-US" dirty="0"/>
              <a:t> is the data type of the range variable. It must be the same as the data type of the array elements, or a type that the elements can automatically be converted </a:t>
            </a:r>
            <a:r>
              <a:rPr lang="en-US" dirty="0" smtClean="0"/>
              <a:t>to.</a:t>
            </a:r>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124200"/>
            <a:ext cx="5937257" cy="809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35134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r>
              <a:rPr lang="en-US" b="1" dirty="0" err="1" smtClean="0"/>
              <a:t>rangeVariable</a:t>
            </a:r>
            <a:r>
              <a:rPr lang="en-US" dirty="0" smtClean="0"/>
              <a:t> </a:t>
            </a:r>
            <a:r>
              <a:rPr lang="en-US" dirty="0"/>
              <a:t>is the name of the range variable. This variable will receive the value of a different array element during each loop iteration. During the first loop iteration, it receives the value of the first element; during the second iteration, it receives the value of the second element, and so forth</a:t>
            </a:r>
            <a:r>
              <a:rPr lang="en-US" dirty="0" smtClean="0"/>
              <a:t>.</a:t>
            </a:r>
          </a:p>
          <a:p>
            <a:pPr marL="914400" algn="just"/>
            <a:r>
              <a:rPr lang="en-US" b="1" dirty="0"/>
              <a:t>array</a:t>
            </a:r>
            <a:r>
              <a:rPr lang="en-US" dirty="0"/>
              <a:t> is the name of an array on which you wish the loop to operate. The loop will iterate once for every element in the array. </a:t>
            </a:r>
            <a:endParaRPr lang="en-US" dirty="0" smtClean="0"/>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spTree>
    <p:extLst>
      <p:ext uri="{BB962C8B-B14F-4D97-AF65-F5344CB8AC3E}">
        <p14:creationId xmlns:p14="http://schemas.microsoft.com/office/powerpoint/2010/main" val="20334332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r>
              <a:rPr lang="en-US" b="1" dirty="0"/>
              <a:t>statement</a:t>
            </a:r>
            <a:r>
              <a:rPr lang="en-US" dirty="0"/>
              <a:t> is a statement that executes during a loop iteration. If you need to execute more than one statement in the loop, enclose the statements in a set of braces.</a:t>
            </a:r>
            <a:endParaRPr lang="en-US" dirty="0" smtClean="0"/>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453147"/>
            <a:ext cx="3686175" cy="332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776721"/>
            <a:ext cx="1676523" cy="558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797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If you wish, you can use the auto key word to specify the range variable’s data type.</a:t>
            </a:r>
            <a:endParaRPr lang="en-US" dirty="0" smtClean="0"/>
          </a:p>
        </p:txBody>
      </p:sp>
      <p:sp>
        <p:nvSpPr>
          <p:cNvPr id="3" name="Title 2"/>
          <p:cNvSpPr>
            <a:spLocks noGrp="1"/>
          </p:cNvSpPr>
          <p:nvPr>
            <p:ph type="title"/>
          </p:nvPr>
        </p:nvSpPr>
        <p:spPr>
          <a:xfrm>
            <a:off x="0" y="570156"/>
            <a:ext cx="9144000" cy="1054250"/>
          </a:xfrm>
        </p:spPr>
        <p:txBody>
          <a:bodyPr/>
          <a:lstStyle/>
          <a:p>
            <a:r>
              <a:rPr lang="en-US" dirty="0"/>
              <a:t>The </a:t>
            </a:r>
            <a:r>
              <a:rPr lang="en-US" dirty="0" smtClean="0"/>
              <a:t>Range-Based </a:t>
            </a:r>
            <a:r>
              <a:rPr lang="en-US" dirty="0"/>
              <a:t>for </a:t>
            </a:r>
            <a:r>
              <a:rPr lang="en-US" dirty="0" smtClean="0"/>
              <a:t>Loop</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106674"/>
            <a:ext cx="4038600" cy="367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10227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auto keyword in C++ is a way to let the compiler automatically figure out the type of a variable for you. </a:t>
            </a:r>
            <a:endParaRPr lang="en-US" dirty="0" smtClean="0"/>
          </a:p>
          <a:p>
            <a:pPr algn="just"/>
            <a:r>
              <a:rPr lang="en-US" dirty="0" smtClean="0"/>
              <a:t>Instead </a:t>
            </a:r>
            <a:r>
              <a:rPr lang="en-US" dirty="0"/>
              <a:t>of writing the full type (like </a:t>
            </a:r>
            <a:r>
              <a:rPr lang="en-US" dirty="0" err="1" smtClean="0"/>
              <a:t>int</a:t>
            </a:r>
            <a:r>
              <a:rPr lang="en-US" dirty="0" smtClean="0"/>
              <a:t>), </a:t>
            </a:r>
            <a:r>
              <a:rPr lang="en-US" dirty="0"/>
              <a:t>you just write auto, and the compiler guesses it based on what you assign to the variable</a:t>
            </a:r>
            <a:r>
              <a:rPr lang="en-US" dirty="0" smtClean="0"/>
              <a:t>.</a:t>
            </a:r>
          </a:p>
          <a:p>
            <a:pPr algn="just"/>
            <a:r>
              <a:rPr lang="en-US" b="1" dirty="0"/>
              <a:t>Example</a:t>
            </a:r>
          </a:p>
          <a:p>
            <a:pPr marL="914400" algn="just"/>
            <a:r>
              <a:rPr lang="en-US" dirty="0" smtClean="0"/>
              <a:t>Without</a:t>
            </a:r>
            <a:r>
              <a:rPr lang="en-US" dirty="0"/>
              <a:t> auto: </a:t>
            </a:r>
            <a:r>
              <a:rPr lang="en-US" dirty="0" err="1"/>
              <a:t>int</a:t>
            </a:r>
            <a:r>
              <a:rPr lang="en-US" dirty="0"/>
              <a:t> number = 42; (You specify int</a:t>
            </a:r>
            <a:r>
              <a:rPr lang="en-US" dirty="0" smtClean="0"/>
              <a:t>.)</a:t>
            </a:r>
          </a:p>
          <a:p>
            <a:pPr marL="914400" algn="just"/>
            <a:r>
              <a:rPr lang="en-US" dirty="0"/>
              <a:t>With auto: auto number = 42; (The compiler knows it's an </a:t>
            </a:r>
            <a:r>
              <a:rPr lang="en-US" dirty="0" err="1"/>
              <a:t>int</a:t>
            </a:r>
            <a:r>
              <a:rPr lang="en-US" dirty="0"/>
              <a:t> because 42 is an integer</a:t>
            </a:r>
            <a:r>
              <a:rPr lang="en-US" dirty="0" smtClean="0"/>
              <a:t>.)</a:t>
            </a:r>
            <a:endParaRPr lang="en-US" dirty="0"/>
          </a:p>
        </p:txBody>
      </p:sp>
      <p:sp>
        <p:nvSpPr>
          <p:cNvPr id="3" name="Title 2"/>
          <p:cNvSpPr>
            <a:spLocks noGrp="1"/>
          </p:cNvSpPr>
          <p:nvPr>
            <p:ph type="title"/>
          </p:nvPr>
        </p:nvSpPr>
        <p:spPr>
          <a:xfrm>
            <a:off x="0" y="570156"/>
            <a:ext cx="9144000" cy="1054250"/>
          </a:xfrm>
        </p:spPr>
        <p:txBody>
          <a:bodyPr/>
          <a:lstStyle/>
          <a:p>
            <a:r>
              <a:rPr lang="en-US" dirty="0" smtClean="0"/>
              <a:t>auto Keyword </a:t>
            </a:r>
            <a:endParaRPr lang="en-US" dirty="0"/>
          </a:p>
        </p:txBody>
      </p:sp>
    </p:spTree>
    <p:extLst>
      <p:ext uri="{BB962C8B-B14F-4D97-AF65-F5344CB8AC3E}">
        <p14:creationId xmlns:p14="http://schemas.microsoft.com/office/powerpoint/2010/main" val="6266837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2209800"/>
            <a:ext cx="7745505" cy="4457253"/>
          </a:xfrm>
        </p:spPr>
        <p:txBody>
          <a:bodyPr>
            <a:normAutofit fontScale="92500" lnSpcReduction="20000"/>
          </a:bodyPr>
          <a:lstStyle/>
          <a:p>
            <a:pPr algn="just"/>
            <a:r>
              <a:rPr lang="en-US" dirty="0"/>
              <a:t>Introduced in C++11 to reduce typing and avoid mistakes</a:t>
            </a:r>
            <a:r>
              <a:rPr lang="en-US" dirty="0" smtClean="0"/>
              <a:t>.</a:t>
            </a:r>
          </a:p>
          <a:p>
            <a:pPr algn="just"/>
            <a:endParaRPr lang="en-US" dirty="0"/>
          </a:p>
          <a:p>
            <a:pPr algn="just"/>
            <a:r>
              <a:rPr lang="en-US" dirty="0"/>
              <a:t>It only works when you initialize the variable right away (e.g., auto x = something</a:t>
            </a:r>
            <a:r>
              <a:rPr lang="en-US" dirty="0" smtClean="0"/>
              <a:t>;).</a:t>
            </a:r>
          </a:p>
          <a:p>
            <a:pPr algn="just"/>
            <a:endParaRPr lang="en-US" dirty="0"/>
          </a:p>
          <a:p>
            <a:pPr algn="just"/>
            <a:r>
              <a:rPr lang="en-US" dirty="0"/>
              <a:t>The type is deduced at compile time, so it doesn't slow down your program</a:t>
            </a:r>
            <a:r>
              <a:rPr lang="en-US" dirty="0" smtClean="0"/>
              <a:t>.</a:t>
            </a:r>
          </a:p>
          <a:p>
            <a:pPr algn="just"/>
            <a:endParaRPr lang="en-US" dirty="0" smtClean="0"/>
          </a:p>
          <a:p>
            <a:pPr algn="just"/>
            <a:r>
              <a:rPr lang="en-US" dirty="0"/>
              <a:t>Use it for local variables, loops (like </a:t>
            </a:r>
            <a:r>
              <a:rPr lang="en-US" dirty="0" smtClean="0"/>
              <a:t>for (</a:t>
            </a:r>
            <a:r>
              <a:rPr lang="en-US" dirty="0"/>
              <a:t>auto item : list)), or when the type is obvious</a:t>
            </a:r>
            <a:r>
              <a:rPr lang="en-US" dirty="0" smtClean="0"/>
              <a:t>.</a:t>
            </a:r>
          </a:p>
          <a:p>
            <a:pPr algn="just"/>
            <a:endParaRPr lang="en-US" dirty="0"/>
          </a:p>
          <a:p>
            <a:pPr algn="just"/>
            <a:r>
              <a:rPr lang="en-US" dirty="0"/>
              <a:t>Avoid it if you need to be explicit about the type for clarity or safety</a:t>
            </a:r>
            <a:r>
              <a:rPr lang="en-US" dirty="0" smtClean="0"/>
              <a:t>.</a:t>
            </a:r>
            <a:endParaRPr lang="en-US" dirty="0"/>
          </a:p>
        </p:txBody>
      </p:sp>
      <p:sp>
        <p:nvSpPr>
          <p:cNvPr id="3" name="Title 2"/>
          <p:cNvSpPr>
            <a:spLocks noGrp="1"/>
          </p:cNvSpPr>
          <p:nvPr>
            <p:ph type="title"/>
          </p:nvPr>
        </p:nvSpPr>
        <p:spPr>
          <a:xfrm>
            <a:off x="0" y="570156"/>
            <a:ext cx="9144000" cy="1054250"/>
          </a:xfrm>
        </p:spPr>
        <p:txBody>
          <a:bodyPr/>
          <a:lstStyle/>
          <a:p>
            <a:r>
              <a:rPr lang="en-US" dirty="0" smtClean="0"/>
              <a:t>auto Keyword </a:t>
            </a:r>
            <a:endParaRPr lang="en-US" dirty="0"/>
          </a:p>
        </p:txBody>
      </p:sp>
    </p:spTree>
    <p:extLst>
      <p:ext uri="{BB962C8B-B14F-4D97-AF65-F5344CB8AC3E}">
        <p14:creationId xmlns:p14="http://schemas.microsoft.com/office/powerpoint/2010/main" val="18338769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570156"/>
            <a:ext cx="9144000" cy="1054250"/>
          </a:xfrm>
        </p:spPr>
        <p:txBody>
          <a:bodyPr/>
          <a:lstStyle/>
          <a:p>
            <a:r>
              <a:rPr lang="en-US" dirty="0" smtClean="0"/>
              <a:t>auto Keyword </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15894"/>
            <a:ext cx="3609508" cy="4084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4495800"/>
            <a:ext cx="1200149"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473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570156"/>
            <a:ext cx="9144000" cy="1054250"/>
          </a:xfrm>
        </p:spPr>
        <p:txBody>
          <a:bodyPr/>
          <a:lstStyle/>
          <a:p>
            <a:r>
              <a:rPr lang="en-US" dirty="0" smtClean="0"/>
              <a:t>auto Keyword </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33600"/>
            <a:ext cx="3429000" cy="455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154657"/>
            <a:ext cx="3245283"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202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2667000"/>
            <a:ext cx="9144000" cy="1054100"/>
          </a:xfrm>
        </p:spPr>
        <p:txBody>
          <a:bodyPr/>
          <a:lstStyle/>
          <a:p>
            <a:r>
              <a:rPr lang="en-US" dirty="0"/>
              <a:t>The Range-Based for Loop versus the Regular for Loop </a:t>
            </a:r>
          </a:p>
        </p:txBody>
      </p:sp>
    </p:spTree>
    <p:extLst>
      <p:ext uri="{BB962C8B-B14F-4D97-AF65-F5344CB8AC3E}">
        <p14:creationId xmlns:p14="http://schemas.microsoft.com/office/powerpoint/2010/main" val="9783927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The range-based for loop can be used in any situation where you need to step through the elements of an array, and you do not need to use the element subscripts. </a:t>
            </a:r>
            <a:endParaRPr lang="en-US" dirty="0" smtClean="0"/>
          </a:p>
          <a:p>
            <a:pPr algn="just"/>
            <a:r>
              <a:rPr lang="en-US" dirty="0" smtClean="0"/>
              <a:t>It </a:t>
            </a:r>
            <a:r>
              <a:rPr lang="en-US" dirty="0"/>
              <a:t>will not work, however, in situations where you need the element subscript for some purpose. In those situations, you need to use the regular for loop. </a:t>
            </a:r>
            <a:endParaRPr lang="en-US" dirty="0" smtClean="0"/>
          </a:p>
        </p:txBody>
      </p:sp>
      <p:sp>
        <p:nvSpPr>
          <p:cNvPr id="3" name="Title 2"/>
          <p:cNvSpPr>
            <a:spLocks noGrp="1"/>
          </p:cNvSpPr>
          <p:nvPr>
            <p:ph type="title"/>
          </p:nvPr>
        </p:nvSpPr>
        <p:spPr>
          <a:xfrm>
            <a:off x="0" y="304800"/>
            <a:ext cx="9144000" cy="1054250"/>
          </a:xfrm>
        </p:spPr>
        <p:txBody>
          <a:bodyPr/>
          <a:lstStyle/>
          <a:p>
            <a:r>
              <a:rPr lang="en-US" dirty="0"/>
              <a:t>The Range-Based for Loop versus the Regular for Loop </a:t>
            </a:r>
          </a:p>
        </p:txBody>
      </p:sp>
    </p:spTree>
    <p:extLst>
      <p:ext uri="{BB962C8B-B14F-4D97-AF65-F5344CB8AC3E}">
        <p14:creationId xmlns:p14="http://schemas.microsoft.com/office/powerpoint/2010/main" val="36081262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4110</TotalTime>
  <Words>1487</Words>
  <Application>Microsoft Office PowerPoint</Application>
  <PresentationFormat>On-screen Show (4:3)</PresentationFormat>
  <Paragraphs>145</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Hardcover</vt:lpstr>
      <vt:lpstr>Programming Fundamentals</vt:lpstr>
      <vt:lpstr>Previous Lecture</vt:lpstr>
      <vt:lpstr>Today’s Lecture</vt:lpstr>
      <vt:lpstr>Class Activity 1</vt:lpstr>
      <vt:lpstr>Class Activity 1</vt:lpstr>
      <vt:lpstr>Class Activity 2</vt:lpstr>
      <vt:lpstr>Class Activity 2</vt:lpstr>
      <vt:lpstr>Class Activity 2</vt:lpstr>
      <vt:lpstr>Class Activity 3</vt:lpstr>
      <vt:lpstr>Class Activity 3</vt:lpstr>
      <vt:lpstr>Class Activity 3</vt:lpstr>
      <vt:lpstr>No Bounds Checking in C++</vt:lpstr>
      <vt:lpstr>PowerPoint Presentation</vt:lpstr>
      <vt:lpstr>No Bounds Checking in C++</vt:lpstr>
      <vt:lpstr>No Bounds Checking in C++</vt:lpstr>
      <vt:lpstr>No Bounds Checking in C++</vt:lpstr>
      <vt:lpstr>Watch for Off-by-One Errors </vt:lpstr>
      <vt:lpstr>Example</vt:lpstr>
      <vt:lpstr>The Range-Based for Loop</vt:lpstr>
      <vt:lpstr>The Range-Based for Loop</vt:lpstr>
      <vt:lpstr>The Range-Based for Loop</vt:lpstr>
      <vt:lpstr>The Range-Based for Loop</vt:lpstr>
      <vt:lpstr>The Range-Based for Loop</vt:lpstr>
      <vt:lpstr>The Range-Based for Loop</vt:lpstr>
      <vt:lpstr>The Range-Based for Loop</vt:lpstr>
      <vt:lpstr>The Range-Based for Loop</vt:lpstr>
      <vt:lpstr>auto Keyword </vt:lpstr>
      <vt:lpstr>auto Keyword </vt:lpstr>
      <vt:lpstr>auto Keyword </vt:lpstr>
      <vt:lpstr>auto Keyword </vt:lpstr>
      <vt:lpstr>The Range-Based for Loop versus the Regular for Loop </vt:lpstr>
      <vt:lpstr>The Range-Based for Loop versus the Regular for Loop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263</cp:revision>
  <dcterms:created xsi:type="dcterms:W3CDTF">2023-02-13T17:33:34Z</dcterms:created>
  <dcterms:modified xsi:type="dcterms:W3CDTF">2025-11-05T19:01:17Z</dcterms:modified>
</cp:coreProperties>
</file>