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78" r:id="rId4"/>
    <p:sldId id="316" r:id="rId5"/>
    <p:sldId id="280" r:id="rId6"/>
    <p:sldId id="313" r:id="rId7"/>
    <p:sldId id="281" r:id="rId8"/>
    <p:sldId id="282" r:id="rId9"/>
    <p:sldId id="283" r:id="rId10"/>
    <p:sldId id="284" r:id="rId11"/>
    <p:sldId id="290" r:id="rId12"/>
    <p:sldId id="291" r:id="rId13"/>
    <p:sldId id="292" r:id="rId14"/>
    <p:sldId id="293" r:id="rId15"/>
    <p:sldId id="294" r:id="rId16"/>
    <p:sldId id="317" r:id="rId17"/>
    <p:sldId id="318" r:id="rId18"/>
    <p:sldId id="31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7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17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076253"/>
          </a:xfrm>
        </p:spPr>
        <p:txBody>
          <a:bodyPr>
            <a:normAutofit/>
          </a:bodyPr>
          <a:lstStyle/>
          <a:p>
            <a:r>
              <a:rPr lang="en-US" dirty="0" smtClean="0"/>
              <a:t>Reading </a:t>
            </a:r>
            <a:r>
              <a:rPr lang="en-US" dirty="0"/>
              <a:t>Input from the Keyboard </a:t>
            </a:r>
            <a:endParaRPr lang="en-US" dirty="0" smtClean="0"/>
          </a:p>
          <a:p>
            <a:r>
              <a:rPr lang="en-US" dirty="0" smtClean="0"/>
              <a:t>Assignment </a:t>
            </a:r>
            <a:r>
              <a:rPr lang="en-US" dirty="0"/>
              <a:t>Statements and Assignment </a:t>
            </a:r>
            <a:r>
              <a:rPr lang="en-US" dirty="0" smtClean="0"/>
              <a:t>Expressions</a:t>
            </a:r>
          </a:p>
          <a:p>
            <a:r>
              <a:rPr lang="en-US" dirty="0"/>
              <a:t>Mathematical Operator and their Precedence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Input from the Keyboard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5268"/>
            <a:ext cx="82349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You can use the </a:t>
            </a:r>
            <a:r>
              <a:rPr lang="en-US" sz="2400" dirty="0" err="1"/>
              <a:t>cin</a:t>
            </a:r>
            <a:r>
              <a:rPr lang="en-US" sz="2400" dirty="0"/>
              <a:t> object to read input from the keyboard.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96" y="2727779"/>
            <a:ext cx="8531504" cy="2987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275" y="5715000"/>
            <a:ext cx="3209925" cy="846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224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5644896" y="2752344"/>
            <a:ext cx="3346704" cy="38770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/>
              <a:t>Output</a:t>
            </a:r>
            <a:r>
              <a:rPr lang="en-US" sz="2000" b="1" dirty="0"/>
              <a:t>: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533400" y="2145268"/>
            <a:ext cx="8595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dirty="0" smtClean="0"/>
              <a:t>he </a:t>
            </a:r>
            <a:r>
              <a:rPr lang="en-US" sz="2400" dirty="0"/>
              <a:t>user must input two </a:t>
            </a:r>
            <a:r>
              <a:rPr lang="en-US" sz="2400" dirty="0" smtClean="0"/>
              <a:t>numbers, calculate and print its sum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2658159"/>
            <a:ext cx="3886200" cy="4111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388" y="3218571"/>
            <a:ext cx="2643612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714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56263" cy="1054250"/>
          </a:xfrm>
        </p:spPr>
        <p:txBody>
          <a:bodyPr/>
          <a:lstStyle/>
          <a:p>
            <a:r>
              <a:rPr lang="en-US" dirty="0"/>
              <a:t>Reading Multiple Input in One Statement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319338"/>
            <a:ext cx="7125827" cy="400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848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sz="2000" dirty="0"/>
              <a:t>Prompt the user to enter an integer. End your prompting message with a colon (:) followed by a space and leave the cursor positioned after the space</a:t>
            </a:r>
            <a:r>
              <a:rPr lang="en-US" sz="2000" dirty="0" smtClean="0"/>
              <a:t>.</a:t>
            </a:r>
          </a:p>
          <a:p>
            <a:pPr marL="914400" lvl="0" algn="just"/>
            <a:r>
              <a:rPr lang="en-US" sz="2000" dirty="0"/>
              <a:t>Read an integer from the user at the keyboard and store it in integer variable </a:t>
            </a:r>
            <a:r>
              <a:rPr lang="en-US" sz="2000" dirty="0" smtClean="0"/>
              <a:t>a.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657600"/>
            <a:ext cx="3962400" cy="3115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621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expression is a valid arrangement of variables, constants, and </a:t>
            </a:r>
            <a:r>
              <a:rPr lang="en-US" dirty="0" smtClean="0"/>
              <a:t>operators.</a:t>
            </a:r>
          </a:p>
          <a:p>
            <a:r>
              <a:rPr lang="en-US" dirty="0" smtClean="0"/>
              <a:t>In </a:t>
            </a:r>
            <a:r>
              <a:rPr lang="en-US" dirty="0"/>
              <a:t>C++, each expression can be evaluated to compute a value of a given </a:t>
            </a:r>
            <a:r>
              <a:rPr lang="en-US" dirty="0" smtClean="0"/>
              <a:t>type</a:t>
            </a:r>
          </a:p>
          <a:p>
            <a:r>
              <a:rPr lang="en-US" dirty="0" smtClean="0"/>
              <a:t>In </a:t>
            </a:r>
            <a:r>
              <a:rPr lang="en-US" dirty="0"/>
              <a:t>C++, an expression can </a:t>
            </a:r>
            <a:r>
              <a:rPr lang="en-US" dirty="0" smtClean="0"/>
              <a:t>be:</a:t>
            </a:r>
          </a:p>
          <a:p>
            <a:pPr marL="800100" indent="-342900"/>
            <a:r>
              <a:rPr lang="en-US" dirty="0" smtClean="0"/>
              <a:t>A </a:t>
            </a:r>
            <a:r>
              <a:rPr lang="en-US" dirty="0"/>
              <a:t>variable or a constant (count, </a:t>
            </a:r>
            <a:r>
              <a:rPr lang="en-US" dirty="0" smtClean="0"/>
              <a:t>100)</a:t>
            </a:r>
          </a:p>
          <a:p>
            <a:pPr marL="800100" indent="-342900"/>
            <a:r>
              <a:rPr lang="en-US" dirty="0" smtClean="0"/>
              <a:t>An </a:t>
            </a:r>
            <a:r>
              <a:rPr lang="en-US" dirty="0"/>
              <a:t>operation (a + b, a * </a:t>
            </a:r>
            <a:r>
              <a:rPr lang="en-US" dirty="0" smtClean="0"/>
              <a:t>2)</a:t>
            </a:r>
          </a:p>
          <a:p>
            <a:pPr marL="800100" indent="-342900"/>
            <a:r>
              <a:rPr lang="en-US" dirty="0" smtClean="0"/>
              <a:t>Function </a:t>
            </a:r>
            <a:r>
              <a:rPr lang="en-US" dirty="0"/>
              <a:t>call (</a:t>
            </a:r>
            <a:r>
              <a:rPr lang="en-US" dirty="0" err="1"/>
              <a:t>getRectangleArea</a:t>
            </a:r>
            <a:r>
              <a:rPr lang="en-US" dirty="0"/>
              <a:t>(2, 4))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56263" cy="1054250"/>
          </a:xfrm>
        </p:spPr>
        <p:txBody>
          <a:bodyPr/>
          <a:lstStyle/>
          <a:p>
            <a:r>
              <a:rPr lang="en-US" dirty="0"/>
              <a:t>What is an Expression in C++?</a:t>
            </a:r>
          </a:p>
        </p:txBody>
      </p:sp>
    </p:spTree>
    <p:extLst>
      <p:ext uri="{BB962C8B-B14F-4D97-AF65-F5344CB8AC3E}">
        <p14:creationId xmlns:p14="http://schemas.microsoft.com/office/powerpoint/2010/main" val="158133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operator to give (assign) a value to a </a:t>
            </a:r>
            <a:r>
              <a:rPr lang="en-US" dirty="0" smtClean="0"/>
              <a:t>variable.</a:t>
            </a:r>
          </a:p>
          <a:p>
            <a:r>
              <a:rPr lang="en-US" dirty="0" smtClean="0"/>
              <a:t>Denote </a:t>
            </a:r>
            <a:r>
              <a:rPr lang="en-US" dirty="0"/>
              <a:t>as </a:t>
            </a:r>
            <a:r>
              <a:rPr lang="en-US" dirty="0" smtClean="0"/>
              <a:t>‘=‘</a:t>
            </a:r>
          </a:p>
          <a:p>
            <a:r>
              <a:rPr lang="en-US" dirty="0" smtClean="0"/>
              <a:t>Only </a:t>
            </a:r>
            <a:r>
              <a:rPr lang="en-US" dirty="0"/>
              <a:t>variable can be on the left </a:t>
            </a:r>
            <a:r>
              <a:rPr lang="en-US" dirty="0" smtClean="0"/>
              <a:t>side.</a:t>
            </a:r>
          </a:p>
          <a:p>
            <a:r>
              <a:rPr lang="en-US" dirty="0" smtClean="0"/>
              <a:t>An </a:t>
            </a:r>
            <a:r>
              <a:rPr lang="en-US" dirty="0"/>
              <a:t>expression is on the right </a:t>
            </a:r>
            <a:r>
              <a:rPr lang="en-US" dirty="0" smtClean="0"/>
              <a:t>side.</a:t>
            </a:r>
          </a:p>
          <a:p>
            <a:r>
              <a:rPr lang="en-US" dirty="0" smtClean="0"/>
              <a:t>Variables </a:t>
            </a:r>
            <a:r>
              <a:rPr lang="en-US" dirty="0"/>
              <a:t>keep their assigned values until changed by another assignment statement or by reading in a new value.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Operator</a:t>
            </a:r>
          </a:p>
        </p:txBody>
      </p:sp>
    </p:spTree>
    <p:extLst>
      <p:ext uri="{BB962C8B-B14F-4D97-AF65-F5344CB8AC3E}">
        <p14:creationId xmlns:p14="http://schemas.microsoft.com/office/powerpoint/2010/main" val="2400623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 = </a:t>
            </a:r>
            <a:r>
              <a:rPr lang="en-US" dirty="0" smtClean="0"/>
              <a:t>Expression</a:t>
            </a:r>
          </a:p>
          <a:p>
            <a:pPr marL="800100" indent="-342900"/>
            <a:r>
              <a:rPr lang="en-US" dirty="0" smtClean="0"/>
              <a:t>First</a:t>
            </a:r>
            <a:r>
              <a:rPr lang="en-US" dirty="0"/>
              <a:t>, expression on right is </a:t>
            </a:r>
            <a:r>
              <a:rPr lang="en-US" dirty="0" smtClean="0"/>
              <a:t>evaluated.</a:t>
            </a:r>
          </a:p>
          <a:p>
            <a:pPr marL="800100" indent="-342900"/>
            <a:r>
              <a:rPr lang="en-US" dirty="0" smtClean="0"/>
              <a:t>Then </a:t>
            </a:r>
            <a:r>
              <a:rPr lang="en-US" dirty="0"/>
              <a:t>the resulting value is stored in the memory location of Variable on left. 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56263" cy="1054250"/>
          </a:xfrm>
        </p:spPr>
        <p:txBody>
          <a:bodyPr/>
          <a:lstStyle/>
          <a:p>
            <a:r>
              <a:rPr lang="en-US" dirty="0"/>
              <a:t>Assignment Operator Syntax</a:t>
            </a:r>
          </a:p>
        </p:txBody>
      </p:sp>
    </p:spTree>
    <p:extLst>
      <p:ext uri="{BB962C8B-B14F-4D97-AF65-F5344CB8AC3E}">
        <p14:creationId xmlns:p14="http://schemas.microsoft.com/office/powerpoint/2010/main" val="317022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457200" indent="0">
              <a:buNone/>
            </a:pPr>
            <a:r>
              <a:rPr lang="en-US" dirty="0" smtClean="0"/>
              <a:t>int </a:t>
            </a:r>
            <a:r>
              <a:rPr lang="en-US" dirty="0"/>
              <a:t>count = 0; </a:t>
            </a:r>
            <a:endParaRPr lang="en-US" dirty="0" smtClean="0"/>
          </a:p>
          <a:p>
            <a:pPr marL="457200" indent="0">
              <a:buNone/>
            </a:pPr>
            <a:r>
              <a:rPr lang="en-US" dirty="0" smtClean="0"/>
              <a:t>int </a:t>
            </a:r>
            <a:r>
              <a:rPr lang="en-US" dirty="0"/>
              <a:t>starting; </a:t>
            </a:r>
            <a:endParaRPr lang="en-US" dirty="0" smtClean="0"/>
          </a:p>
          <a:p>
            <a:pPr marL="457200" indent="0">
              <a:buNone/>
            </a:pPr>
            <a:r>
              <a:rPr lang="en-US" dirty="0" smtClean="0"/>
              <a:t>starting </a:t>
            </a:r>
            <a:r>
              <a:rPr lang="en-US" dirty="0"/>
              <a:t>= count + 5;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56263" cy="1054250"/>
          </a:xfrm>
        </p:spPr>
        <p:txBody>
          <a:bodyPr/>
          <a:lstStyle/>
          <a:p>
            <a:r>
              <a:rPr lang="en-US" dirty="0"/>
              <a:t>Assignment Operator Mechanism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115240"/>
            <a:ext cx="1447800" cy="1330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281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Operators: +, -, *, /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For floating numbers, the result as same as Math operations.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Note: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O</a:t>
            </a:r>
            <a:r>
              <a:rPr lang="en-US" dirty="0" smtClean="0">
                <a:solidFill>
                  <a:schemeClr val="tx1"/>
                </a:solidFill>
              </a:rPr>
              <a:t>n </a:t>
            </a:r>
            <a:r>
              <a:rPr lang="en-US" dirty="0" smtClean="0">
                <a:solidFill>
                  <a:schemeClr val="tx1"/>
                </a:solidFill>
              </a:rPr>
              <a:t>integer </a:t>
            </a:r>
            <a:r>
              <a:rPr lang="en-US" dirty="0" smtClean="0">
                <a:solidFill>
                  <a:schemeClr val="tx1"/>
                </a:solidFill>
              </a:rPr>
              <a:t>division </a:t>
            </a:r>
            <a:r>
              <a:rPr lang="en-US" dirty="0" smtClean="0">
                <a:solidFill>
                  <a:schemeClr val="tx1"/>
                </a:solidFill>
              </a:rPr>
              <a:t>the result is an integer. </a:t>
            </a:r>
            <a:r>
              <a:rPr lang="en-US" dirty="0" smtClean="0">
                <a:solidFill>
                  <a:srgbClr val="FF0000"/>
                </a:solidFill>
              </a:rPr>
              <a:t>7/2 is 3.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% (remainder or modulo) is the special operator just for integer. It yields an integer as the result. </a:t>
            </a:r>
            <a:r>
              <a:rPr lang="en-US" dirty="0" smtClean="0">
                <a:solidFill>
                  <a:srgbClr val="FF0000"/>
                </a:solidFill>
              </a:rPr>
              <a:t>7%2 is 1.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Both / and % can only be used for positive integers.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Precedence rule is similar to Math.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Arithmetic Operators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814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Operator Precedence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04388"/>
            <a:ext cx="6938974" cy="465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4972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Evaluating an Expression and Operator Precedence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324100"/>
            <a:ext cx="8839200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94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the order of evaluation of the operators in each of the following C++ statements and show the value of x after each statement is performed</a:t>
            </a:r>
            <a:r>
              <a:rPr lang="en-US" dirty="0" smtClean="0"/>
              <a:t>.</a:t>
            </a:r>
            <a:endParaRPr lang="en-US" dirty="0"/>
          </a:p>
          <a:p>
            <a:pPr marL="1005840" indent="-457200">
              <a:buFont typeface="+mj-lt"/>
              <a:buAutoNum type="alphaLcParenR"/>
            </a:pPr>
            <a:r>
              <a:rPr lang="en-US" dirty="0" smtClean="0"/>
              <a:t>x </a:t>
            </a:r>
            <a:r>
              <a:rPr lang="en-US" dirty="0"/>
              <a:t>= 7 + 3 * 6 / 2 - </a:t>
            </a:r>
            <a:r>
              <a:rPr lang="en-US" dirty="0" smtClean="0"/>
              <a:t>1;</a:t>
            </a:r>
          </a:p>
          <a:p>
            <a:pPr marL="1005840" indent="-457200">
              <a:buFont typeface="+mj-lt"/>
              <a:buAutoNum type="alphaLcParenR"/>
            </a:pPr>
            <a:r>
              <a:rPr lang="en-US" dirty="0" smtClean="0"/>
              <a:t>x </a:t>
            </a:r>
            <a:r>
              <a:rPr lang="en-US" dirty="0"/>
              <a:t>= 2 % 2 + 2 * 2 - 2 / </a:t>
            </a:r>
            <a:r>
              <a:rPr lang="en-US" dirty="0" smtClean="0"/>
              <a:t>2;</a:t>
            </a:r>
            <a:endParaRPr lang="en-US" dirty="0"/>
          </a:p>
          <a:p>
            <a:pPr marL="1005840" indent="-457200">
              <a:buFont typeface="+mj-lt"/>
              <a:buAutoNum type="alphaLcParenR"/>
            </a:pPr>
            <a:r>
              <a:rPr lang="en-US" dirty="0" smtClean="0"/>
              <a:t>x </a:t>
            </a:r>
            <a:r>
              <a:rPr lang="en-US" dirty="0"/>
              <a:t>= ( 3 * 9 * ( 3 + ( 9 * 3 / ( 3 ) ) ) );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67600" y="3352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x = 15 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467600" y="3733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x = 3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467600" y="4278868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x = 324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7059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Write a program that converts a Fahrenheit degree to Celsius using the formula </a:t>
            </a:r>
            <a:br>
              <a:rPr lang="en-US" dirty="0" smtClean="0"/>
            </a:br>
            <a:r>
              <a:rPr lang="en-US" dirty="0" err="1" smtClean="0"/>
              <a:t>celsius</a:t>
            </a:r>
            <a:r>
              <a:rPr lang="en-US" dirty="0" smtClean="0"/>
              <a:t> = (5/9)(</a:t>
            </a:r>
            <a:r>
              <a:rPr lang="en-US" dirty="0" err="1" smtClean="0"/>
              <a:t>fahrenheit</a:t>
            </a:r>
            <a:r>
              <a:rPr lang="en-US" dirty="0" smtClean="0"/>
              <a:t> – 32)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55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6200"/>
            <a:ext cx="781493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194" y="5486400"/>
            <a:ext cx="5381006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038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buFont typeface="Arial" pitchFamily="34" charset="0"/>
                  <a:buChar char="•"/>
                </a:pPr>
                <a:r>
                  <a:rPr lang="en-US" dirty="0"/>
                  <a:t>Be careful when applying division. Division of two integers yields an integer in C++. 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US" i="1" dirty="0">
                            <a:latin typeface="Cambria Math"/>
                          </a:rPr>
                          <m:t>9</m:t>
                        </m:r>
                      </m:den>
                    </m:f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translated to 5.0 / 9 instead of 5 / 9 in line 12 because 5 / 9 yields 0 in C++. 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02" t="-1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698350"/>
            <a:ext cx="7756263" cy="1054250"/>
          </a:xfrm>
        </p:spPr>
        <p:txBody>
          <a:bodyPr/>
          <a:lstStyle/>
          <a:p>
            <a:r>
              <a:rPr lang="en-US" sz="4800" b="1" dirty="0"/>
              <a:t>Integer versus decimal division</a:t>
            </a:r>
            <a:br>
              <a:rPr lang="en-US" sz="4800" b="1" dirty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068232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Floating-point numbers can be converted into integers using explicit casting.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545950"/>
            <a:ext cx="7756263" cy="1054250"/>
          </a:xfrm>
        </p:spPr>
        <p:txBody>
          <a:bodyPr>
            <a:normAutofit/>
          </a:bodyPr>
          <a:lstStyle/>
          <a:p>
            <a:r>
              <a:rPr lang="en-US" sz="4800" dirty="0" smtClean="0"/>
              <a:t>Numeric Type Conversions</a:t>
            </a:r>
            <a:endParaRPr lang="en-US" sz="4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213" y="3257550"/>
            <a:ext cx="4219575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895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802</TotalTime>
  <Words>532</Words>
  <Application>Microsoft Office PowerPoint</Application>
  <PresentationFormat>On-screen Show (4:3)</PresentationFormat>
  <Paragraphs>65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Hardcover</vt:lpstr>
      <vt:lpstr>Programming Fundamentals</vt:lpstr>
      <vt:lpstr>Today’s Lecture</vt:lpstr>
      <vt:lpstr>Reading Input from the Keyboard</vt:lpstr>
      <vt:lpstr>Activity</vt:lpstr>
      <vt:lpstr>Reading Multiple Input in One Statement</vt:lpstr>
      <vt:lpstr>Activity</vt:lpstr>
      <vt:lpstr>What is an Expression in C++?</vt:lpstr>
      <vt:lpstr>Assignment Operator</vt:lpstr>
      <vt:lpstr>Assignment Operator Syntax</vt:lpstr>
      <vt:lpstr>Assignment Operator Mechanism</vt:lpstr>
      <vt:lpstr>Arithmetic Operators</vt:lpstr>
      <vt:lpstr>Operator Precedence</vt:lpstr>
      <vt:lpstr>Evaluating an Expression and Operator Precedence</vt:lpstr>
      <vt:lpstr>Activity</vt:lpstr>
      <vt:lpstr>Activity</vt:lpstr>
      <vt:lpstr>PowerPoint Presentation</vt:lpstr>
      <vt:lpstr>Integer versus decimal division </vt:lpstr>
      <vt:lpstr>Numeric Type Conversions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87</cp:revision>
  <dcterms:created xsi:type="dcterms:W3CDTF">2023-01-21T17:06:48Z</dcterms:created>
  <dcterms:modified xsi:type="dcterms:W3CDTF">2025-09-30T19:30:07Z</dcterms:modified>
</cp:coreProperties>
</file>