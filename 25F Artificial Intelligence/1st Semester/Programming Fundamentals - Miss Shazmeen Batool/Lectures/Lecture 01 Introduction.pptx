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76" r:id="rId3"/>
    <p:sldId id="277" r:id="rId4"/>
    <p:sldId id="259" r:id="rId5"/>
    <p:sldId id="263" r:id="rId6"/>
    <p:sldId id="260" r:id="rId7"/>
    <p:sldId id="267" r:id="rId8"/>
    <p:sldId id="278" r:id="rId9"/>
    <p:sldId id="279" r:id="rId10"/>
    <p:sldId id="281" r:id="rId11"/>
    <p:sldId id="282" r:id="rId12"/>
    <p:sldId id="283" r:id="rId13"/>
    <p:sldId id="284" r:id="rId14"/>
    <p:sldId id="272" r:id="rId15"/>
    <p:sldId id="273" r:id="rId16"/>
    <p:sldId id="274" r:id="rId17"/>
    <p:sldId id="317" r:id="rId18"/>
    <p:sldId id="288" r:id="rId19"/>
    <p:sldId id="289" r:id="rId20"/>
    <p:sldId id="290" r:id="rId21"/>
    <p:sldId id="291" r:id="rId22"/>
    <p:sldId id="292" r:id="rId23"/>
    <p:sldId id="293" r:id="rId24"/>
    <p:sldId id="294" r:id="rId25"/>
    <p:sldId id="31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9F9C8B-D6CC-4C94-BEC5-C156B4E34196}"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US"/>
        </a:p>
      </dgm:t>
    </dgm:pt>
    <dgm:pt modelId="{D90F68F1-002C-42B2-9FF8-867F21B18600}">
      <dgm:prSet phldrT="[Text]"/>
      <dgm:spPr/>
      <dgm:t>
        <a:bodyPr/>
        <a:lstStyle/>
        <a:p>
          <a:r>
            <a:rPr lang="en-US" dirty="0" smtClean="0"/>
            <a:t>Hardware</a:t>
          </a:r>
          <a:endParaRPr lang="en-US" dirty="0"/>
        </a:p>
      </dgm:t>
    </dgm:pt>
    <dgm:pt modelId="{F1E780F2-6A8F-4A0D-9206-574D0AB5226B}" type="parTrans" cxnId="{26FBF0CC-3CEC-4DA7-AE10-C5DDD22C96A6}">
      <dgm:prSet/>
      <dgm:spPr/>
      <dgm:t>
        <a:bodyPr/>
        <a:lstStyle/>
        <a:p>
          <a:endParaRPr lang="en-US"/>
        </a:p>
      </dgm:t>
    </dgm:pt>
    <dgm:pt modelId="{92C00D02-6EDD-40E0-B14F-E9410254AD89}" type="sibTrans" cxnId="{26FBF0CC-3CEC-4DA7-AE10-C5DDD22C96A6}">
      <dgm:prSet/>
      <dgm:spPr/>
      <dgm:t>
        <a:bodyPr/>
        <a:lstStyle/>
        <a:p>
          <a:endParaRPr lang="en-US"/>
        </a:p>
      </dgm:t>
    </dgm:pt>
    <dgm:pt modelId="{A537A5A8-6258-41E1-85C2-A9AF1725D0D3}">
      <dgm:prSet phldrT="[Text]"/>
      <dgm:spPr/>
      <dgm:t>
        <a:bodyPr/>
        <a:lstStyle/>
        <a:p>
          <a:r>
            <a:rPr lang="en-US" dirty="0" smtClean="0"/>
            <a:t>Software</a:t>
          </a:r>
          <a:endParaRPr lang="en-US" dirty="0"/>
        </a:p>
      </dgm:t>
    </dgm:pt>
    <dgm:pt modelId="{8B490EBE-C71F-433A-99A6-8BDE63A8F66F}" type="parTrans" cxnId="{60C30A01-43CB-429C-BC4A-BDC9F40921B1}">
      <dgm:prSet/>
      <dgm:spPr/>
      <dgm:t>
        <a:bodyPr/>
        <a:lstStyle/>
        <a:p>
          <a:endParaRPr lang="en-US"/>
        </a:p>
      </dgm:t>
    </dgm:pt>
    <dgm:pt modelId="{9690B6BD-7F6B-4B5C-8BDC-37E1CCF01E9C}" type="sibTrans" cxnId="{60C30A01-43CB-429C-BC4A-BDC9F40921B1}">
      <dgm:prSet/>
      <dgm:spPr/>
      <dgm:t>
        <a:bodyPr/>
        <a:lstStyle/>
        <a:p>
          <a:endParaRPr lang="en-US"/>
        </a:p>
      </dgm:t>
    </dgm:pt>
    <dgm:pt modelId="{863FD4C3-0742-454F-9246-242182526231}" type="pres">
      <dgm:prSet presAssocID="{059F9C8B-D6CC-4C94-BEC5-C156B4E34196}" presName="Name0" presStyleCnt="0">
        <dgm:presLayoutVars>
          <dgm:dir/>
          <dgm:resizeHandles val="exact"/>
        </dgm:presLayoutVars>
      </dgm:prSet>
      <dgm:spPr/>
      <dgm:t>
        <a:bodyPr/>
        <a:lstStyle/>
        <a:p>
          <a:endParaRPr lang="en-US"/>
        </a:p>
      </dgm:t>
    </dgm:pt>
    <dgm:pt modelId="{44AF86E4-C83E-4AE0-AC2B-EF327C0DABF9}" type="pres">
      <dgm:prSet presAssocID="{D90F68F1-002C-42B2-9FF8-867F21B18600}" presName="Name5" presStyleLbl="vennNode1" presStyleIdx="0" presStyleCnt="2">
        <dgm:presLayoutVars>
          <dgm:bulletEnabled val="1"/>
        </dgm:presLayoutVars>
      </dgm:prSet>
      <dgm:spPr/>
      <dgm:t>
        <a:bodyPr/>
        <a:lstStyle/>
        <a:p>
          <a:endParaRPr lang="en-US"/>
        </a:p>
      </dgm:t>
    </dgm:pt>
    <dgm:pt modelId="{8CB57846-0418-4F78-A10B-37715B57954E}" type="pres">
      <dgm:prSet presAssocID="{92C00D02-6EDD-40E0-B14F-E9410254AD89}" presName="space" presStyleCnt="0"/>
      <dgm:spPr/>
    </dgm:pt>
    <dgm:pt modelId="{57B6B5D9-2C53-41CF-B5CD-EB2827131D36}" type="pres">
      <dgm:prSet presAssocID="{A537A5A8-6258-41E1-85C2-A9AF1725D0D3}" presName="Name5" presStyleLbl="vennNode1" presStyleIdx="1" presStyleCnt="2">
        <dgm:presLayoutVars>
          <dgm:bulletEnabled val="1"/>
        </dgm:presLayoutVars>
      </dgm:prSet>
      <dgm:spPr/>
      <dgm:t>
        <a:bodyPr/>
        <a:lstStyle/>
        <a:p>
          <a:endParaRPr lang="en-US"/>
        </a:p>
      </dgm:t>
    </dgm:pt>
  </dgm:ptLst>
  <dgm:cxnLst>
    <dgm:cxn modelId="{60C30A01-43CB-429C-BC4A-BDC9F40921B1}" srcId="{059F9C8B-D6CC-4C94-BEC5-C156B4E34196}" destId="{A537A5A8-6258-41E1-85C2-A9AF1725D0D3}" srcOrd="1" destOrd="0" parTransId="{8B490EBE-C71F-433A-99A6-8BDE63A8F66F}" sibTransId="{9690B6BD-7F6B-4B5C-8BDC-37E1CCF01E9C}"/>
    <dgm:cxn modelId="{26FBF0CC-3CEC-4DA7-AE10-C5DDD22C96A6}" srcId="{059F9C8B-D6CC-4C94-BEC5-C156B4E34196}" destId="{D90F68F1-002C-42B2-9FF8-867F21B18600}" srcOrd="0" destOrd="0" parTransId="{F1E780F2-6A8F-4A0D-9206-574D0AB5226B}" sibTransId="{92C00D02-6EDD-40E0-B14F-E9410254AD89}"/>
    <dgm:cxn modelId="{2F1A2333-B4D5-4C40-B277-B4E91DE5FD88}" type="presOf" srcId="{059F9C8B-D6CC-4C94-BEC5-C156B4E34196}" destId="{863FD4C3-0742-454F-9246-242182526231}" srcOrd="0" destOrd="0" presId="urn:microsoft.com/office/officeart/2005/8/layout/venn3"/>
    <dgm:cxn modelId="{424E4BCC-E266-435E-82CE-FB9641A30A27}" type="presOf" srcId="{D90F68F1-002C-42B2-9FF8-867F21B18600}" destId="{44AF86E4-C83E-4AE0-AC2B-EF327C0DABF9}" srcOrd="0" destOrd="0" presId="urn:microsoft.com/office/officeart/2005/8/layout/venn3"/>
    <dgm:cxn modelId="{683C863A-890E-4C20-9AB0-6272593B094C}" type="presOf" srcId="{A537A5A8-6258-41E1-85C2-A9AF1725D0D3}" destId="{57B6B5D9-2C53-41CF-B5CD-EB2827131D36}" srcOrd="0" destOrd="0" presId="urn:microsoft.com/office/officeart/2005/8/layout/venn3"/>
    <dgm:cxn modelId="{ABA187E7-25EC-41D2-856E-A8415A33F764}" type="presParOf" srcId="{863FD4C3-0742-454F-9246-242182526231}" destId="{44AF86E4-C83E-4AE0-AC2B-EF327C0DABF9}" srcOrd="0" destOrd="0" presId="urn:microsoft.com/office/officeart/2005/8/layout/venn3"/>
    <dgm:cxn modelId="{7F15BC7C-14A9-4B71-BD01-E7A712F787A0}" type="presParOf" srcId="{863FD4C3-0742-454F-9246-242182526231}" destId="{8CB57846-0418-4F78-A10B-37715B57954E}" srcOrd="1" destOrd="0" presId="urn:microsoft.com/office/officeart/2005/8/layout/venn3"/>
    <dgm:cxn modelId="{42E74826-5797-4D60-A723-1FD950F7A891}" type="presParOf" srcId="{863FD4C3-0742-454F-9246-242182526231}" destId="{57B6B5D9-2C53-41CF-B5CD-EB2827131D36}" srcOrd="2"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F86E4-C83E-4AE0-AC2B-EF327C0DABF9}">
      <dsp:nvSpPr>
        <dsp:cNvPr id="0" name=""/>
        <dsp:cNvSpPr/>
      </dsp:nvSpPr>
      <dsp:spPr>
        <a:xfrm>
          <a:off x="4762" y="341312"/>
          <a:ext cx="3381374" cy="3381374"/>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86088" tIns="43180" rIns="186088" bIns="43180" numCol="1" spcCol="1270" anchor="ctr" anchorCtr="0">
          <a:noAutofit/>
        </a:bodyPr>
        <a:lstStyle/>
        <a:p>
          <a:pPr lvl="0" algn="ctr" defTabSz="1511300">
            <a:lnSpc>
              <a:spcPct val="90000"/>
            </a:lnSpc>
            <a:spcBef>
              <a:spcPct val="0"/>
            </a:spcBef>
            <a:spcAft>
              <a:spcPct val="35000"/>
            </a:spcAft>
          </a:pPr>
          <a:r>
            <a:rPr lang="en-US" sz="3400" kern="1200" dirty="0" smtClean="0"/>
            <a:t>Hardware</a:t>
          </a:r>
          <a:endParaRPr lang="en-US" sz="3400" kern="1200" dirty="0"/>
        </a:p>
      </dsp:txBody>
      <dsp:txXfrm>
        <a:off x="499953" y="836503"/>
        <a:ext cx="2390992" cy="2390992"/>
      </dsp:txXfrm>
    </dsp:sp>
    <dsp:sp modelId="{57B6B5D9-2C53-41CF-B5CD-EB2827131D36}">
      <dsp:nvSpPr>
        <dsp:cNvPr id="0" name=""/>
        <dsp:cNvSpPr/>
      </dsp:nvSpPr>
      <dsp:spPr>
        <a:xfrm>
          <a:off x="2709862" y="341312"/>
          <a:ext cx="3381374" cy="3381374"/>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86088" tIns="43180" rIns="186088" bIns="43180" numCol="1" spcCol="1270" anchor="ctr" anchorCtr="0">
          <a:noAutofit/>
        </a:bodyPr>
        <a:lstStyle/>
        <a:p>
          <a:pPr lvl="0" algn="ctr" defTabSz="1511300">
            <a:lnSpc>
              <a:spcPct val="90000"/>
            </a:lnSpc>
            <a:spcBef>
              <a:spcPct val="0"/>
            </a:spcBef>
            <a:spcAft>
              <a:spcPct val="35000"/>
            </a:spcAft>
          </a:pPr>
          <a:r>
            <a:rPr lang="en-US" sz="3400" kern="1200" dirty="0" smtClean="0"/>
            <a:t>Software</a:t>
          </a:r>
          <a:endParaRPr lang="en-US" sz="3400" kern="1200" dirty="0"/>
        </a:p>
      </dsp:txBody>
      <dsp:txXfrm>
        <a:off x="3205053" y="836503"/>
        <a:ext cx="2390992" cy="2390992"/>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EB471EA8-50A0-4F42-87FA-A253E295BA57}" type="datetimeFigureOut">
              <a:rPr lang="en-US" smtClean="0"/>
              <a:t>9/24/2025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3FCA79C-F632-4E7D-91C3-8853C53A049C}"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471EA8-50A0-4F42-87FA-A253E295BA57}"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CA79C-F632-4E7D-91C3-8853C53A049C}"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B471EA8-50A0-4F42-87FA-A253E295BA57}"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CA79C-F632-4E7D-91C3-8853C53A049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B471EA8-50A0-4F42-87FA-A253E295BA57}"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CA79C-F632-4E7D-91C3-8853C53A049C}"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B471EA8-50A0-4F42-87FA-A253E295BA57}" type="datetimeFigureOut">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CA79C-F632-4E7D-91C3-8853C53A049C}"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B471EA8-50A0-4F42-87FA-A253E295BA57}" type="datetimeFigureOut">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CA79C-F632-4E7D-91C3-8853C53A049C}"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471EA8-50A0-4F42-87FA-A253E295BA57}" type="datetimeFigureOut">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CA79C-F632-4E7D-91C3-8853C53A049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471EA8-50A0-4F42-87FA-A253E295BA57}"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CA79C-F632-4E7D-91C3-8853C53A049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471EA8-50A0-4F42-87FA-A253E295BA57}"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CA79C-F632-4E7D-91C3-8853C53A049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471EA8-50A0-4F42-87FA-A253E295BA57}"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CA79C-F632-4E7D-91C3-8853C53A049C}"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471EA8-50A0-4F42-87FA-A253E295BA57}"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CA79C-F632-4E7D-91C3-8853C53A049C}"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EB471EA8-50A0-4F42-87FA-A253E295BA57}" type="datetimeFigureOut">
              <a:rPr lang="en-US" smtClean="0"/>
              <a:t>9/24/2025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43FCA79C-F632-4E7D-91C3-8853C53A049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19733160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Computers</a:t>
            </a:r>
          </a:p>
          <a:p>
            <a:r>
              <a:rPr lang="en-US" dirty="0" smtClean="0"/>
              <a:t>Components of Computer</a:t>
            </a:r>
          </a:p>
          <a:p>
            <a:r>
              <a:rPr lang="en-US" dirty="0"/>
              <a:t>Computer </a:t>
            </a:r>
            <a:r>
              <a:rPr lang="en-US"/>
              <a:t>Programming </a:t>
            </a:r>
            <a:endParaRPr lang="en-US" dirty="0"/>
          </a:p>
        </p:txBody>
      </p:sp>
      <p:sp>
        <p:nvSpPr>
          <p:cNvPr id="3"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41282168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Computer is an electronic machine which is used for data processing. </a:t>
            </a:r>
            <a:endParaRPr lang="en-US" dirty="0" smtClean="0"/>
          </a:p>
          <a:p>
            <a:pPr marL="0" indent="0">
              <a:buNone/>
            </a:pPr>
            <a:endParaRPr lang="en-US" dirty="0"/>
          </a:p>
          <a:p>
            <a:r>
              <a:rPr lang="en-US" dirty="0" smtClean="0"/>
              <a:t>A </a:t>
            </a:r>
            <a:r>
              <a:rPr lang="en-US" dirty="0"/>
              <a:t>computer is a programmable machine, i.e., A machine </a:t>
            </a:r>
            <a:r>
              <a:rPr lang="en-US" dirty="0" smtClean="0"/>
              <a:t>that </a:t>
            </a:r>
            <a:r>
              <a:rPr lang="en-US" dirty="0"/>
              <a:t>can receive, store, and process data</a:t>
            </a:r>
            <a:r>
              <a:rPr lang="en-US" dirty="0" smtClean="0"/>
              <a:t>.</a:t>
            </a:r>
          </a:p>
          <a:p>
            <a:pPr marL="0" indent="0">
              <a:buNone/>
            </a:pPr>
            <a:endParaRPr lang="en-US" dirty="0"/>
          </a:p>
        </p:txBody>
      </p:sp>
      <p:sp>
        <p:nvSpPr>
          <p:cNvPr id="3" name="Title 2"/>
          <p:cNvSpPr>
            <a:spLocks noGrp="1"/>
          </p:cNvSpPr>
          <p:nvPr>
            <p:ph type="title"/>
          </p:nvPr>
        </p:nvSpPr>
        <p:spPr/>
        <p:txBody>
          <a:bodyPr/>
          <a:lstStyle/>
          <a:p>
            <a:r>
              <a:rPr lang="en-US" dirty="0"/>
              <a:t>Computer</a:t>
            </a:r>
          </a:p>
        </p:txBody>
      </p:sp>
      <p:sp>
        <p:nvSpPr>
          <p:cNvPr id="5" name="AutoShape 2" descr="Inputs and outputs - Computer Science Wik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nputs and outputs - Computer Science Wik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Inputs and outputs - Computer Science Wik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Inputs and outputs - Computer Science Wik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descr="Inputs and outputs - Computer Science Wiki"/>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572000"/>
            <a:ext cx="548885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58202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Takes data as input</a:t>
            </a:r>
          </a:p>
          <a:p>
            <a:r>
              <a:rPr lang="en-US" dirty="0" smtClean="0"/>
              <a:t>Stores the data/instructions in its memory and use them when required</a:t>
            </a:r>
          </a:p>
          <a:p>
            <a:r>
              <a:rPr lang="en-US" dirty="0" smtClean="0"/>
              <a:t>Process the data and converts it into useful information.</a:t>
            </a:r>
          </a:p>
          <a:p>
            <a:r>
              <a:rPr lang="en-US" dirty="0" smtClean="0"/>
              <a:t>Generates the output</a:t>
            </a:r>
          </a:p>
          <a:p>
            <a:r>
              <a:rPr lang="en-US" dirty="0" smtClean="0"/>
              <a:t>Controls all the above four steps</a:t>
            </a:r>
            <a:endParaRPr lang="en-US" dirty="0"/>
          </a:p>
        </p:txBody>
      </p:sp>
      <p:sp>
        <p:nvSpPr>
          <p:cNvPr id="2" name="Title 1"/>
          <p:cNvSpPr>
            <a:spLocks noGrp="1"/>
          </p:cNvSpPr>
          <p:nvPr>
            <p:ph type="title"/>
          </p:nvPr>
        </p:nvSpPr>
        <p:spPr>
          <a:xfrm>
            <a:off x="838200" y="381000"/>
            <a:ext cx="7388710" cy="877644"/>
          </a:xfrm>
        </p:spPr>
        <p:txBody>
          <a:bodyPr/>
          <a:lstStyle/>
          <a:p>
            <a:r>
              <a:rPr lang="en-US" dirty="0" smtClean="0"/>
              <a:t>Functionality of Computer</a:t>
            </a:r>
            <a:endParaRPr lang="en-US" dirty="0"/>
          </a:p>
        </p:txBody>
      </p:sp>
    </p:spTree>
    <p:extLst>
      <p:ext uri="{BB962C8B-B14F-4D97-AF65-F5344CB8AC3E}">
        <p14:creationId xmlns:p14="http://schemas.microsoft.com/office/powerpoint/2010/main" val="31484337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56263" cy="1054250"/>
          </a:xfrm>
        </p:spPr>
        <p:txBody>
          <a:bodyPr/>
          <a:lstStyle/>
          <a:p>
            <a:r>
              <a:rPr lang="en-US" dirty="0" smtClean="0"/>
              <a:t>Components of Computer</a:t>
            </a:r>
            <a:endParaRPr lang="en-US" dirty="0"/>
          </a:p>
        </p:txBody>
      </p:sp>
      <p:graphicFrame>
        <p:nvGraphicFramePr>
          <p:cNvPr id="6" name="Diagram 5"/>
          <p:cNvGraphicFramePr/>
          <p:nvPr>
            <p:extLst>
              <p:ext uri="{D42A27DB-BD31-4B8C-83A1-F6EECF244321}">
                <p14:modId xmlns:p14="http://schemas.microsoft.com/office/powerpoint/2010/main" val="936444805"/>
              </p:ext>
            </p:extLst>
          </p:nvPr>
        </p:nvGraphicFramePr>
        <p:xfrm>
          <a:off x="1600200" y="1828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6385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Hardware</a:t>
            </a:r>
          </a:p>
          <a:p>
            <a:pPr marL="914400" indent="-457200"/>
            <a:r>
              <a:rPr lang="en-US" dirty="0"/>
              <a:t>The physical equipment required to create, use, manipulate and store electronic </a:t>
            </a:r>
            <a:r>
              <a:rPr lang="en-US" dirty="0" smtClean="0"/>
              <a:t>data.</a:t>
            </a:r>
          </a:p>
          <a:p>
            <a:pPr marL="457200" indent="0">
              <a:buNone/>
            </a:pPr>
            <a:endParaRPr lang="en-US" dirty="0" smtClean="0"/>
          </a:p>
          <a:p>
            <a:pPr marL="914400" indent="-457200"/>
            <a:r>
              <a:rPr lang="en-US" dirty="0"/>
              <a:t>C</a:t>
            </a:r>
            <a:r>
              <a:rPr lang="en-US" dirty="0" smtClean="0"/>
              <a:t>omputer hardware refers to the physical parts or components of a computer that </a:t>
            </a:r>
            <a:r>
              <a:rPr lang="en-US" dirty="0"/>
              <a:t>we can </a:t>
            </a:r>
            <a:r>
              <a:rPr lang="en-US" dirty="0" smtClean="0"/>
              <a:t>touch.</a:t>
            </a:r>
          </a:p>
        </p:txBody>
      </p:sp>
      <p:sp>
        <p:nvSpPr>
          <p:cNvPr id="2" name="Title 1"/>
          <p:cNvSpPr>
            <a:spLocks noGrp="1"/>
          </p:cNvSpPr>
          <p:nvPr>
            <p:ph type="title"/>
          </p:nvPr>
        </p:nvSpPr>
        <p:spPr>
          <a:xfrm>
            <a:off x="685800" y="304800"/>
            <a:ext cx="7756263" cy="1054250"/>
          </a:xfrm>
        </p:spPr>
        <p:txBody>
          <a:bodyPr/>
          <a:lstStyle/>
          <a:p>
            <a:r>
              <a:rPr lang="en-US" dirty="0" smtClean="0"/>
              <a:t>Components of Computer</a:t>
            </a:r>
            <a:endParaRPr lang="en-US" dirty="0"/>
          </a:p>
        </p:txBody>
      </p:sp>
    </p:spTree>
    <p:extLst>
      <p:ext uri="{BB962C8B-B14F-4D97-AF65-F5344CB8AC3E}">
        <p14:creationId xmlns:p14="http://schemas.microsoft.com/office/powerpoint/2010/main" val="201437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Input Devices</a:t>
            </a:r>
          </a:p>
          <a:p>
            <a:r>
              <a:rPr lang="en-US" dirty="0" smtClean="0"/>
              <a:t>Central Processing Unit (CPU)</a:t>
            </a:r>
          </a:p>
          <a:p>
            <a:pPr marL="914400" indent="-457200"/>
            <a:r>
              <a:rPr lang="en-US" dirty="0" smtClean="0"/>
              <a:t>Arithmetic and Logic Unit (ALU)</a:t>
            </a:r>
          </a:p>
          <a:p>
            <a:pPr marL="914400" indent="-457200"/>
            <a:r>
              <a:rPr lang="en-US" dirty="0" smtClean="0"/>
              <a:t>Control Unit (CU)</a:t>
            </a:r>
          </a:p>
          <a:p>
            <a:r>
              <a:rPr lang="en-US" dirty="0" smtClean="0"/>
              <a:t>Memory (Primary and Secondary)</a:t>
            </a:r>
          </a:p>
          <a:p>
            <a:r>
              <a:rPr lang="en-US" dirty="0" smtClean="0"/>
              <a:t>Output Devices</a:t>
            </a:r>
          </a:p>
          <a:p>
            <a:r>
              <a:rPr lang="en-US" dirty="0" smtClean="0"/>
              <a:t>Peripheral Devices</a:t>
            </a:r>
            <a:endParaRPr lang="en-US" dirty="0"/>
          </a:p>
          <a:p>
            <a:pPr marL="0" indent="0">
              <a:buNone/>
            </a:pPr>
            <a:endParaRPr lang="en-US" dirty="0"/>
          </a:p>
        </p:txBody>
      </p:sp>
      <p:sp>
        <p:nvSpPr>
          <p:cNvPr id="2" name="Title 1"/>
          <p:cNvSpPr>
            <a:spLocks noGrp="1"/>
          </p:cNvSpPr>
          <p:nvPr>
            <p:ph type="title"/>
          </p:nvPr>
        </p:nvSpPr>
        <p:spPr/>
        <p:txBody>
          <a:bodyPr/>
          <a:lstStyle/>
          <a:p>
            <a:r>
              <a:rPr lang="en-US" dirty="0" smtClean="0"/>
              <a:t>Hardware</a:t>
            </a:r>
            <a:endParaRPr lang="en-US" dirty="0"/>
          </a:p>
        </p:txBody>
      </p:sp>
    </p:spTree>
    <p:extLst>
      <p:ext uri="{BB962C8B-B14F-4D97-AF65-F5344CB8AC3E}">
        <p14:creationId xmlns:p14="http://schemas.microsoft.com/office/powerpoint/2010/main" val="2391001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fontScale="92500" lnSpcReduction="10000"/>
          </a:bodyPr>
          <a:lstStyle/>
          <a:p>
            <a:pPr algn="just"/>
            <a:r>
              <a:rPr lang="en-US" b="1" dirty="0" smtClean="0"/>
              <a:t>Central </a:t>
            </a:r>
            <a:r>
              <a:rPr lang="en-US" b="1" dirty="0"/>
              <a:t>processing unit (CPU): </a:t>
            </a:r>
          </a:p>
          <a:p>
            <a:pPr marL="800100" indent="-342900" algn="just"/>
            <a:r>
              <a:rPr lang="en-US" dirty="0" smtClean="0"/>
              <a:t>The </a:t>
            </a:r>
            <a:r>
              <a:rPr lang="en-US" dirty="0"/>
              <a:t>chip or chips at the heart of a computer that enable it to process data. </a:t>
            </a:r>
            <a:r>
              <a:rPr lang="en-US" dirty="0" smtClean="0"/>
              <a:t>Also </a:t>
            </a:r>
            <a:r>
              <a:rPr lang="en-US" dirty="0"/>
              <a:t>known as a </a:t>
            </a:r>
            <a:r>
              <a:rPr lang="en-US" dirty="0" smtClean="0"/>
              <a:t>processor</a:t>
            </a:r>
          </a:p>
          <a:p>
            <a:pPr marL="800100" indent="-342900" algn="just"/>
            <a:r>
              <a:rPr lang="en-US" dirty="0"/>
              <a:t>The CPU’s job is to fetch instructions, follow the instructions, and produce some result.</a:t>
            </a:r>
            <a:endParaRPr lang="en-US" dirty="0" smtClean="0"/>
          </a:p>
          <a:p>
            <a:pPr marL="457200" algn="just"/>
            <a:r>
              <a:rPr lang="en-US" b="1" dirty="0" smtClean="0"/>
              <a:t>Memory</a:t>
            </a:r>
            <a:r>
              <a:rPr lang="en-US" b="1" dirty="0"/>
              <a:t>: </a:t>
            </a:r>
            <a:endParaRPr lang="en-US" b="1" dirty="0" smtClean="0"/>
          </a:p>
          <a:p>
            <a:pPr marL="800100" indent="-342900" algn="just"/>
            <a:r>
              <a:rPr lang="en-US" dirty="0" smtClean="0"/>
              <a:t>An </a:t>
            </a:r>
            <a:r>
              <a:rPr lang="en-US" dirty="0"/>
              <a:t>area within a computer system that holds data waiting to be processed. </a:t>
            </a:r>
          </a:p>
          <a:p>
            <a:pPr marL="457200" algn="just"/>
            <a:r>
              <a:rPr lang="en-US" b="1" dirty="0" smtClean="0"/>
              <a:t>Storage </a:t>
            </a:r>
            <a:r>
              <a:rPr lang="en-US" b="1" dirty="0"/>
              <a:t>device: </a:t>
            </a:r>
            <a:endParaRPr lang="en-US" b="1" dirty="0" smtClean="0"/>
          </a:p>
          <a:p>
            <a:pPr marL="800100" indent="-342900" algn="just"/>
            <a:r>
              <a:rPr lang="en-US" dirty="0"/>
              <a:t>Secondary storage is a type of memory that can hold data for long periods of time, even when there is no power to the computer. </a:t>
            </a:r>
          </a:p>
        </p:txBody>
      </p:sp>
      <p:sp>
        <p:nvSpPr>
          <p:cNvPr id="3" name="Title 2"/>
          <p:cNvSpPr>
            <a:spLocks noGrp="1"/>
          </p:cNvSpPr>
          <p:nvPr>
            <p:ph type="title"/>
          </p:nvPr>
        </p:nvSpPr>
        <p:spPr/>
        <p:txBody>
          <a:bodyPr/>
          <a:lstStyle/>
          <a:p>
            <a:r>
              <a:rPr lang="en-US" dirty="0" smtClean="0"/>
              <a:t>Hardware</a:t>
            </a:r>
            <a:endParaRPr lang="en-US" dirty="0"/>
          </a:p>
        </p:txBody>
      </p:sp>
    </p:spTree>
    <p:extLst>
      <p:ext uri="{BB962C8B-B14F-4D97-AF65-F5344CB8AC3E}">
        <p14:creationId xmlns:p14="http://schemas.microsoft.com/office/powerpoint/2010/main" val="25669917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dirty="0" smtClean="0"/>
              <a:t>Input devices:</a:t>
            </a:r>
          </a:p>
          <a:p>
            <a:pPr marL="800100" indent="-342900"/>
            <a:r>
              <a:rPr lang="en-US" dirty="0" smtClean="0"/>
              <a:t>The </a:t>
            </a:r>
            <a:r>
              <a:rPr lang="en-US" dirty="0"/>
              <a:t>devices that allow data and instructions to enter a computer (such as a keyboard, mouse, </a:t>
            </a:r>
            <a:r>
              <a:rPr lang="en-US" dirty="0" smtClean="0"/>
              <a:t>scanner)</a:t>
            </a:r>
          </a:p>
          <a:p>
            <a:r>
              <a:rPr lang="en-US" b="1" dirty="0" smtClean="0"/>
              <a:t>Output devices:</a:t>
            </a:r>
          </a:p>
          <a:p>
            <a:pPr marL="800100" indent="-342900"/>
            <a:r>
              <a:rPr lang="en-US" dirty="0" smtClean="0"/>
              <a:t>The </a:t>
            </a:r>
            <a:r>
              <a:rPr lang="en-US" dirty="0"/>
              <a:t>devices that allow information to be represented (that is, given out) to the user, such as a display screen or </a:t>
            </a:r>
            <a:r>
              <a:rPr lang="en-US" dirty="0" smtClean="0"/>
              <a:t>printer) </a:t>
            </a:r>
            <a:endParaRPr lang="en-US" dirty="0"/>
          </a:p>
          <a:p>
            <a:r>
              <a:rPr lang="en-US" b="1" dirty="0" smtClean="0"/>
              <a:t>Peripheral device:</a:t>
            </a:r>
          </a:p>
          <a:p>
            <a:pPr marL="800100" indent="-342900"/>
            <a:r>
              <a:rPr lang="en-US" dirty="0" smtClean="0"/>
              <a:t>Any </a:t>
            </a:r>
            <a:r>
              <a:rPr lang="en-US" dirty="0"/>
              <a:t>piece of equipment in a computer system that is not actually inside the computer itself. </a:t>
            </a:r>
            <a:endParaRPr lang="en-US" dirty="0" smtClean="0"/>
          </a:p>
          <a:p>
            <a:pPr marL="800100" indent="-342900"/>
            <a:r>
              <a:rPr lang="en-US" dirty="0" smtClean="0"/>
              <a:t>Printers</a:t>
            </a:r>
            <a:r>
              <a:rPr lang="en-US" dirty="0"/>
              <a:t>, scanners and external disk drives</a:t>
            </a:r>
          </a:p>
        </p:txBody>
      </p:sp>
      <p:sp>
        <p:nvSpPr>
          <p:cNvPr id="3" name="Title 2"/>
          <p:cNvSpPr>
            <a:spLocks noGrp="1"/>
          </p:cNvSpPr>
          <p:nvPr>
            <p:ph type="title"/>
          </p:nvPr>
        </p:nvSpPr>
        <p:spPr/>
        <p:txBody>
          <a:bodyPr/>
          <a:lstStyle/>
          <a:p>
            <a:r>
              <a:rPr lang="en-US" dirty="0" smtClean="0"/>
              <a:t>Hardware</a:t>
            </a:r>
            <a:endParaRPr lang="en-US" dirty="0"/>
          </a:p>
        </p:txBody>
      </p:sp>
    </p:spTree>
    <p:extLst>
      <p:ext uri="{BB962C8B-B14F-4D97-AF65-F5344CB8AC3E}">
        <p14:creationId xmlns:p14="http://schemas.microsoft.com/office/powerpoint/2010/main" val="34018069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most common type of memory that most users are familiar with is ‘main memory’ or ‘RAM’ </a:t>
            </a:r>
            <a:r>
              <a:rPr lang="en-US" dirty="0" smtClean="0"/>
              <a:t>(Random-Access Memory</a:t>
            </a:r>
            <a:r>
              <a:rPr lang="en-US" dirty="0"/>
              <a:t>). </a:t>
            </a:r>
          </a:p>
          <a:p>
            <a:r>
              <a:rPr lang="en-US" dirty="0" smtClean="0"/>
              <a:t>RAM </a:t>
            </a:r>
            <a:r>
              <a:rPr lang="en-US" dirty="0"/>
              <a:t>holds an area in the computer system unit that temporarily holds a user’s data, operating system instructions and program instructions. </a:t>
            </a:r>
          </a:p>
          <a:p>
            <a:r>
              <a:rPr lang="en-US" dirty="0" smtClean="0"/>
              <a:t>The </a:t>
            </a:r>
            <a:r>
              <a:rPr lang="en-US" dirty="0"/>
              <a:t>word ‘main’ is used to distinguish it from external mass storage devices such as the hard drive or disk drives</a:t>
            </a:r>
            <a:r>
              <a:rPr lang="en-US" dirty="0" smtClean="0"/>
              <a:t>.</a:t>
            </a:r>
          </a:p>
          <a:p>
            <a:pPr marL="0" indent="0">
              <a:buNone/>
            </a:pPr>
            <a:endParaRPr lang="en-US" dirty="0"/>
          </a:p>
        </p:txBody>
      </p:sp>
      <p:sp>
        <p:nvSpPr>
          <p:cNvPr id="3" name="Title 2"/>
          <p:cNvSpPr>
            <a:spLocks noGrp="1"/>
          </p:cNvSpPr>
          <p:nvPr>
            <p:ph type="title"/>
          </p:nvPr>
        </p:nvSpPr>
        <p:spPr/>
        <p:txBody>
          <a:bodyPr/>
          <a:lstStyle/>
          <a:p>
            <a:r>
              <a:rPr lang="en-US" dirty="0" smtClean="0"/>
              <a:t>RAM</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5410200"/>
            <a:ext cx="2469874"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27613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09801"/>
            <a:ext cx="8839200" cy="3916362"/>
          </a:xfrm>
        </p:spPr>
        <p:txBody>
          <a:bodyPr>
            <a:noAutofit/>
          </a:bodyPr>
          <a:lstStyle/>
          <a:p>
            <a:pPr algn="just"/>
            <a:r>
              <a:rPr lang="en-US" sz="1700" dirty="0"/>
              <a:t>A computer’s memory consists of an ordered sequence of bytes for storing programs as well as data that the program is working </a:t>
            </a:r>
            <a:r>
              <a:rPr lang="en-US" sz="1700" dirty="0" smtClean="0"/>
              <a:t>with.</a:t>
            </a:r>
          </a:p>
          <a:p>
            <a:pPr algn="just"/>
            <a:r>
              <a:rPr lang="en-US" sz="1700" dirty="0" smtClean="0"/>
              <a:t>You </a:t>
            </a:r>
            <a:r>
              <a:rPr lang="en-US" sz="1700" dirty="0"/>
              <a:t>can think of memory as the computer’s work area for executing a program. A program and its data must be moved into the computer’s memory before they can be executed by the </a:t>
            </a:r>
            <a:r>
              <a:rPr lang="en-US" sz="1700" dirty="0" smtClean="0"/>
              <a:t>CPU.</a:t>
            </a:r>
          </a:p>
          <a:p>
            <a:pPr algn="just"/>
            <a:r>
              <a:rPr lang="en-US" sz="1700" dirty="0" smtClean="0"/>
              <a:t>Every </a:t>
            </a:r>
            <a:r>
              <a:rPr lang="en-US" sz="1700" dirty="0"/>
              <a:t>byte in the memory has a unique address, as shown in </a:t>
            </a:r>
            <a:r>
              <a:rPr lang="en-US" sz="1700" dirty="0" smtClean="0"/>
              <a:t>Figure.</a:t>
            </a:r>
          </a:p>
          <a:p>
            <a:pPr algn="just"/>
            <a:r>
              <a:rPr lang="en-US" sz="1700" dirty="0" smtClean="0"/>
              <a:t>The </a:t>
            </a:r>
            <a:r>
              <a:rPr lang="en-US" sz="1700" dirty="0"/>
              <a:t>address is used to locate the byte for storing and retrieving the data. Since the bytes in the memory can be accessed in any order, the memory is also referred to as random-access memory (RAM).</a:t>
            </a:r>
          </a:p>
        </p:txBody>
      </p:sp>
      <p:sp>
        <p:nvSpPr>
          <p:cNvPr id="3" name="Title 2"/>
          <p:cNvSpPr>
            <a:spLocks noGrp="1"/>
          </p:cNvSpPr>
          <p:nvPr>
            <p:ph type="title"/>
          </p:nvPr>
        </p:nvSpPr>
        <p:spPr/>
        <p:txBody>
          <a:bodyPr/>
          <a:lstStyle/>
          <a:p>
            <a:r>
              <a:rPr lang="en-US" dirty="0" smtClean="0"/>
              <a:t>Memory</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4495800"/>
            <a:ext cx="4437561"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83275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Read Only </a:t>
            </a:r>
            <a:r>
              <a:rPr lang="en-US" dirty="0" smtClean="0"/>
              <a:t>Memory</a:t>
            </a:r>
          </a:p>
          <a:p>
            <a:r>
              <a:rPr lang="en-US" dirty="0" smtClean="0"/>
              <a:t>Memory </a:t>
            </a:r>
            <a:r>
              <a:rPr lang="en-US" dirty="0"/>
              <a:t>on which data has been </a:t>
            </a:r>
            <a:r>
              <a:rPr lang="en-US" dirty="0" smtClean="0"/>
              <a:t>prerecorded.</a:t>
            </a:r>
          </a:p>
          <a:p>
            <a:r>
              <a:rPr lang="en-US" dirty="0" smtClean="0"/>
              <a:t>Once </a:t>
            </a:r>
            <a:r>
              <a:rPr lang="en-US" dirty="0"/>
              <a:t>data has been written onto a ROM chip, it cannot be removed and can only be </a:t>
            </a:r>
            <a:r>
              <a:rPr lang="en-US" dirty="0" smtClean="0"/>
              <a:t>read.</a:t>
            </a:r>
          </a:p>
          <a:p>
            <a:r>
              <a:rPr lang="en-US" dirty="0" smtClean="0"/>
              <a:t>Unlike </a:t>
            </a:r>
            <a:r>
              <a:rPr lang="en-US" dirty="0"/>
              <a:t>main memory (RAM), ROM retains its contents even when the computer is turned </a:t>
            </a:r>
            <a:r>
              <a:rPr lang="en-US" dirty="0" smtClean="0"/>
              <a:t>off.</a:t>
            </a:r>
          </a:p>
          <a:p>
            <a:r>
              <a:rPr lang="en-US" dirty="0" smtClean="0"/>
              <a:t>ROM </a:t>
            </a:r>
            <a:r>
              <a:rPr lang="en-US" dirty="0"/>
              <a:t>is referred to as being nonvolatile, whereas RAM is </a:t>
            </a:r>
            <a:r>
              <a:rPr lang="en-US" dirty="0" smtClean="0"/>
              <a:t>volatile.</a:t>
            </a:r>
          </a:p>
          <a:p>
            <a:r>
              <a:rPr lang="en-US" dirty="0" smtClean="0"/>
              <a:t>Most </a:t>
            </a:r>
            <a:r>
              <a:rPr lang="en-US" dirty="0"/>
              <a:t>PCs contain a small amount of ROM that stores critical programs such as the program that boots the </a:t>
            </a:r>
            <a:r>
              <a:rPr lang="en-US" dirty="0" smtClean="0"/>
              <a:t>computer.</a:t>
            </a:r>
          </a:p>
        </p:txBody>
      </p:sp>
      <p:sp>
        <p:nvSpPr>
          <p:cNvPr id="3" name="Title 2"/>
          <p:cNvSpPr>
            <a:spLocks noGrp="1"/>
          </p:cNvSpPr>
          <p:nvPr>
            <p:ph type="title"/>
          </p:nvPr>
        </p:nvSpPr>
        <p:spPr/>
        <p:txBody>
          <a:bodyPr/>
          <a:lstStyle/>
          <a:p>
            <a:r>
              <a:rPr lang="en-US" dirty="0" smtClean="0"/>
              <a:t>ROM</a:t>
            </a:r>
            <a:endParaRPr lang="en-US" dirty="0"/>
          </a:p>
        </p:txBody>
      </p:sp>
    </p:spTree>
    <p:extLst>
      <p:ext uri="{BB962C8B-B14F-4D97-AF65-F5344CB8AC3E}">
        <p14:creationId xmlns:p14="http://schemas.microsoft.com/office/powerpoint/2010/main" val="12049752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Set of instructions written in some programing </a:t>
            </a:r>
            <a:r>
              <a:rPr lang="en-US" dirty="0" smtClean="0"/>
              <a:t>language.</a:t>
            </a:r>
          </a:p>
          <a:p>
            <a:r>
              <a:rPr lang="en-US" dirty="0"/>
              <a:t>A program is a sequence of instructions written to solve a particular problem</a:t>
            </a:r>
            <a:r>
              <a:rPr lang="en-US" dirty="0" smtClean="0"/>
              <a:t>.</a:t>
            </a:r>
          </a:p>
          <a:p>
            <a:r>
              <a:rPr lang="en-US" dirty="0" smtClean="0"/>
              <a:t>Set </a:t>
            </a:r>
            <a:r>
              <a:rPr lang="en-US" dirty="0"/>
              <a:t>of instructions that tells a computer component (hardware) how to perform a </a:t>
            </a:r>
            <a:r>
              <a:rPr lang="en-US" dirty="0" smtClean="0"/>
              <a:t>task.</a:t>
            </a:r>
          </a:p>
          <a:p>
            <a:r>
              <a:rPr lang="en-US" dirty="0" smtClean="0"/>
              <a:t>Set </a:t>
            </a:r>
            <a:r>
              <a:rPr lang="en-US" dirty="0"/>
              <a:t>of instruction =</a:t>
            </a:r>
            <a:r>
              <a:rPr lang="en-US" dirty="0" smtClean="0"/>
              <a:t>Program</a:t>
            </a:r>
          </a:p>
          <a:p>
            <a:r>
              <a:rPr lang="en-US" dirty="0" smtClean="0"/>
              <a:t>Program </a:t>
            </a:r>
            <a:r>
              <a:rPr lang="en-US" dirty="0"/>
              <a:t>is a set of instructions in any computer programming language which directs computer to do specific tasks</a:t>
            </a:r>
            <a:r>
              <a:rPr lang="en-US" dirty="0" smtClean="0"/>
              <a:t>.</a:t>
            </a:r>
          </a:p>
          <a:p>
            <a:pPr marL="0" indent="0">
              <a:buNone/>
            </a:pPr>
            <a:endParaRPr lang="en-US" dirty="0"/>
          </a:p>
        </p:txBody>
      </p:sp>
      <p:sp>
        <p:nvSpPr>
          <p:cNvPr id="3" name="Title 2"/>
          <p:cNvSpPr>
            <a:spLocks noGrp="1"/>
          </p:cNvSpPr>
          <p:nvPr>
            <p:ph type="title"/>
          </p:nvPr>
        </p:nvSpPr>
        <p:spPr/>
        <p:txBody>
          <a:bodyPr/>
          <a:lstStyle/>
          <a:p>
            <a:r>
              <a:rPr lang="en-US" dirty="0" smtClean="0"/>
              <a:t>Software</a:t>
            </a:r>
            <a:endParaRPr lang="en-US" dirty="0"/>
          </a:p>
        </p:txBody>
      </p:sp>
    </p:spTree>
    <p:extLst>
      <p:ext uri="{BB962C8B-B14F-4D97-AF65-F5344CB8AC3E}">
        <p14:creationId xmlns:p14="http://schemas.microsoft.com/office/powerpoint/2010/main" val="947914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Types of software</a:t>
            </a:r>
          </a:p>
          <a:p>
            <a:pPr marL="0" indent="0">
              <a:buNone/>
            </a:pPr>
            <a:endParaRPr lang="en-US" dirty="0" smtClean="0"/>
          </a:p>
          <a:p>
            <a:pPr marL="914400" indent="-457200"/>
            <a:r>
              <a:rPr lang="en-US" dirty="0" smtClean="0"/>
              <a:t>System Software</a:t>
            </a:r>
          </a:p>
          <a:p>
            <a:pPr marL="457200" indent="0">
              <a:buNone/>
            </a:pPr>
            <a:endParaRPr lang="en-US" dirty="0" smtClean="0"/>
          </a:p>
          <a:p>
            <a:pPr marL="914400" indent="-457200"/>
            <a:r>
              <a:rPr lang="en-US" dirty="0" smtClean="0"/>
              <a:t>Application Software</a:t>
            </a:r>
            <a:endParaRPr lang="en-US" dirty="0"/>
          </a:p>
        </p:txBody>
      </p:sp>
      <p:sp>
        <p:nvSpPr>
          <p:cNvPr id="2" name="Title 1"/>
          <p:cNvSpPr>
            <a:spLocks noGrp="1"/>
          </p:cNvSpPr>
          <p:nvPr>
            <p:ph type="title"/>
          </p:nvPr>
        </p:nvSpPr>
        <p:spPr/>
        <p:txBody>
          <a:bodyPr/>
          <a:lstStyle/>
          <a:p>
            <a:r>
              <a:rPr lang="en-US" dirty="0" smtClean="0"/>
              <a:t>Software</a:t>
            </a:r>
            <a:endParaRPr lang="en-US" dirty="0"/>
          </a:p>
        </p:txBody>
      </p:sp>
    </p:spTree>
    <p:extLst>
      <p:ext uri="{BB962C8B-B14F-4D97-AF65-F5344CB8AC3E}">
        <p14:creationId xmlns:p14="http://schemas.microsoft.com/office/powerpoint/2010/main" val="23451223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dirty="0"/>
              <a:t>P</a:t>
            </a:r>
            <a:r>
              <a:rPr lang="en-US" dirty="0" smtClean="0"/>
              <a:t>rograms to control the operations of computer equipment.</a:t>
            </a:r>
          </a:p>
          <a:p>
            <a:pPr marL="1280160" indent="-457200" algn="just"/>
            <a:r>
              <a:rPr lang="en-US" dirty="0" smtClean="0"/>
              <a:t>Operating system</a:t>
            </a:r>
          </a:p>
          <a:p>
            <a:pPr marL="1280160" indent="-457200" algn="just"/>
            <a:r>
              <a:rPr lang="en-US" dirty="0"/>
              <a:t>Utility Programs </a:t>
            </a:r>
            <a:r>
              <a:rPr lang="en-US" sz="2600" dirty="0"/>
              <a:t>(virus scanners, file-compression programs, and data-backup </a:t>
            </a:r>
            <a:r>
              <a:rPr lang="en-US" sz="2600" dirty="0" smtClean="0"/>
              <a:t>programs)</a:t>
            </a:r>
          </a:p>
          <a:p>
            <a:pPr marL="1280160" indent="-457200" algn="just"/>
            <a:r>
              <a:rPr lang="en-US" dirty="0"/>
              <a:t>Software Development </a:t>
            </a:r>
            <a:r>
              <a:rPr lang="en-US" dirty="0" smtClean="0"/>
              <a:t>Tools </a:t>
            </a:r>
            <a:r>
              <a:rPr lang="en-US" sz="2600" dirty="0" smtClean="0"/>
              <a:t>(compiler, interpreter etc.)</a:t>
            </a:r>
          </a:p>
          <a:p>
            <a:pPr algn="just"/>
            <a:r>
              <a:rPr lang="en-US" dirty="0" smtClean="0"/>
              <a:t>System software is a term referring to any computer software which manages and controls the hardware so that application software can perform a task.</a:t>
            </a:r>
            <a:endParaRPr lang="en-US" dirty="0"/>
          </a:p>
        </p:txBody>
      </p:sp>
      <p:sp>
        <p:nvSpPr>
          <p:cNvPr id="2" name="Title 1"/>
          <p:cNvSpPr>
            <a:spLocks noGrp="1"/>
          </p:cNvSpPr>
          <p:nvPr>
            <p:ph type="title"/>
          </p:nvPr>
        </p:nvSpPr>
        <p:spPr/>
        <p:txBody>
          <a:bodyPr/>
          <a:lstStyle/>
          <a:p>
            <a:r>
              <a:rPr lang="en-US" dirty="0" smtClean="0"/>
              <a:t>System Software</a:t>
            </a:r>
            <a:endParaRPr lang="en-US" dirty="0"/>
          </a:p>
        </p:txBody>
      </p:sp>
    </p:spTree>
    <p:extLst>
      <p:ext uri="{BB962C8B-B14F-4D97-AF65-F5344CB8AC3E}">
        <p14:creationId xmlns:p14="http://schemas.microsoft.com/office/powerpoint/2010/main" val="28027246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Application Software includes programs that do real work for user.</a:t>
            </a:r>
          </a:p>
          <a:p>
            <a:pPr marL="914400" indent="-457200"/>
            <a:r>
              <a:rPr lang="en-US" dirty="0" smtClean="0"/>
              <a:t>Opera (Web Browser) </a:t>
            </a:r>
          </a:p>
          <a:p>
            <a:pPr marL="914400" indent="-457200"/>
            <a:r>
              <a:rPr lang="en-US" dirty="0" smtClean="0"/>
              <a:t>Microsoft Word (Word Processing)</a:t>
            </a:r>
          </a:p>
          <a:p>
            <a:pPr marL="914400" indent="-457200"/>
            <a:r>
              <a:rPr lang="en-US" dirty="0" smtClean="0"/>
              <a:t>Microsoft Excel (Spreadsheet software)</a:t>
            </a:r>
          </a:p>
          <a:p>
            <a:pPr marL="914400" indent="-457200"/>
            <a:r>
              <a:rPr lang="en-US" dirty="0" smtClean="0"/>
              <a:t>MySQL (Database Software)</a:t>
            </a:r>
          </a:p>
          <a:p>
            <a:pPr marL="914400" indent="-457200"/>
            <a:r>
              <a:rPr lang="en-US" dirty="0" smtClean="0"/>
              <a:t>Microsoft PowerPoint (Presentation Software)</a:t>
            </a:r>
          </a:p>
          <a:p>
            <a:pPr marL="914400" indent="-457200"/>
            <a:r>
              <a:rPr lang="en-US" dirty="0" smtClean="0"/>
              <a:t>Adobe Photoshop (Graphics Software)</a:t>
            </a:r>
            <a:endParaRPr lang="en-US" dirty="0"/>
          </a:p>
          <a:p>
            <a:r>
              <a:rPr lang="en-US" dirty="0"/>
              <a:t>P</a:t>
            </a:r>
            <a:r>
              <a:rPr lang="en-US" dirty="0" smtClean="0"/>
              <a:t>rograms </a:t>
            </a:r>
            <a:r>
              <a:rPr lang="en-US" dirty="0"/>
              <a:t>that tell a computer how to produce </a:t>
            </a:r>
            <a:r>
              <a:rPr lang="en-US" dirty="0" smtClean="0"/>
              <a:t>information.</a:t>
            </a:r>
          </a:p>
        </p:txBody>
      </p:sp>
      <p:sp>
        <p:nvSpPr>
          <p:cNvPr id="2" name="Title 1"/>
          <p:cNvSpPr>
            <a:spLocks noGrp="1"/>
          </p:cNvSpPr>
          <p:nvPr>
            <p:ph type="title"/>
          </p:nvPr>
        </p:nvSpPr>
        <p:spPr/>
        <p:txBody>
          <a:bodyPr/>
          <a:lstStyle/>
          <a:p>
            <a:r>
              <a:rPr lang="en-US" dirty="0" smtClean="0"/>
              <a:t>Application Software</a:t>
            </a:r>
            <a:endParaRPr lang="en-US" dirty="0"/>
          </a:p>
        </p:txBody>
      </p:sp>
    </p:spTree>
    <p:extLst>
      <p:ext uri="{BB962C8B-B14F-4D97-AF65-F5344CB8AC3E}">
        <p14:creationId xmlns:p14="http://schemas.microsoft.com/office/powerpoint/2010/main" val="41016054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To learn how the computer works</a:t>
            </a:r>
          </a:p>
          <a:p>
            <a:r>
              <a:rPr lang="en-US" dirty="0" smtClean="0"/>
              <a:t>To develop problem solving skills</a:t>
            </a:r>
          </a:p>
          <a:p>
            <a:r>
              <a:rPr lang="en-US" dirty="0" smtClean="0">
                <a:solidFill>
                  <a:schemeClr val="tx1"/>
                </a:solidFill>
              </a:rPr>
              <a:t>To understand computer applications</a:t>
            </a:r>
          </a:p>
          <a:p>
            <a:r>
              <a:rPr lang="en-US" dirty="0" smtClean="0">
                <a:solidFill>
                  <a:schemeClr val="tx1"/>
                </a:solidFill>
              </a:rPr>
              <a:t>To build foundation for understanding specific areas of </a:t>
            </a:r>
            <a:r>
              <a:rPr lang="en-US" dirty="0" smtClean="0">
                <a:solidFill>
                  <a:schemeClr val="tx1"/>
                </a:solidFill>
              </a:rPr>
              <a:t>CS/AI </a:t>
            </a:r>
            <a:r>
              <a:rPr lang="en-US" dirty="0" smtClean="0">
                <a:solidFill>
                  <a:schemeClr val="tx1"/>
                </a:solidFill>
              </a:rPr>
              <a:t>curricula</a:t>
            </a:r>
          </a:p>
        </p:txBody>
      </p:sp>
      <p:sp>
        <p:nvSpPr>
          <p:cNvPr id="3" name="Title 2"/>
          <p:cNvSpPr>
            <a:spLocks noGrp="1"/>
          </p:cNvSpPr>
          <p:nvPr>
            <p:ph type="title"/>
          </p:nvPr>
        </p:nvSpPr>
        <p:spPr/>
        <p:txBody>
          <a:bodyPr/>
          <a:lstStyle/>
          <a:p>
            <a:r>
              <a:rPr lang="en-US" dirty="0" smtClean="0"/>
              <a:t>Why Programming?</a:t>
            </a:r>
            <a:endParaRPr lang="en-US" dirty="0"/>
          </a:p>
        </p:txBody>
      </p:sp>
    </p:spTree>
    <p:extLst>
      <p:ext uri="{BB962C8B-B14F-4D97-AF65-F5344CB8AC3E}">
        <p14:creationId xmlns:p14="http://schemas.microsoft.com/office/powerpoint/2010/main" val="27738280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smtClean="0"/>
              <a:t>Computer programming is the process of developing and implementing various sets of instructions to enable computer to do a certain task.</a:t>
            </a:r>
          </a:p>
          <a:p>
            <a:r>
              <a:rPr lang="en-US" dirty="0" smtClean="0"/>
              <a:t>Programs are written to solve problems or perform tasks on a computer.</a:t>
            </a:r>
          </a:p>
          <a:p>
            <a:r>
              <a:rPr lang="en-US" dirty="0" smtClean="0"/>
              <a:t>Programmers translate the solutions or tasks into a language that computer can understand.</a:t>
            </a:r>
          </a:p>
          <a:p>
            <a:r>
              <a:rPr lang="en-US" dirty="0" smtClean="0"/>
              <a:t>As we write programs, we must keep in mind that the computer will only do what we instruct it to do.</a:t>
            </a:r>
          </a:p>
          <a:p>
            <a:r>
              <a:rPr lang="en-US" dirty="0" smtClean="0"/>
              <a:t>Because of this we must be very careful and thorough with out instructions.</a:t>
            </a:r>
            <a:endParaRPr lang="en-US" dirty="0"/>
          </a:p>
        </p:txBody>
      </p:sp>
      <p:sp>
        <p:nvSpPr>
          <p:cNvPr id="3" name="Title 2"/>
          <p:cNvSpPr>
            <a:spLocks noGrp="1"/>
          </p:cNvSpPr>
          <p:nvPr>
            <p:ph type="title"/>
          </p:nvPr>
        </p:nvSpPr>
        <p:spPr/>
        <p:txBody>
          <a:bodyPr/>
          <a:lstStyle/>
          <a:p>
            <a:r>
              <a:rPr lang="en-US" dirty="0" smtClean="0"/>
              <a:t>Computer Programming</a:t>
            </a:r>
            <a:endParaRPr lang="en-US" dirty="0"/>
          </a:p>
        </p:txBody>
      </p:sp>
    </p:spTree>
    <p:extLst>
      <p:ext uri="{BB962C8B-B14F-4D97-AF65-F5344CB8AC3E}">
        <p14:creationId xmlns:p14="http://schemas.microsoft.com/office/powerpoint/2010/main" val="22474737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304800"/>
            <a:ext cx="7756263" cy="1054250"/>
          </a:xfrm>
        </p:spPr>
        <p:txBody>
          <a:bodyPr/>
          <a:lstStyle/>
          <a:p>
            <a:r>
              <a:rPr lang="en-US" dirty="0" smtClean="0"/>
              <a:t>First Computer Programmer</a:t>
            </a:r>
            <a:endParaRPr lang="en-US" dirty="0"/>
          </a:p>
        </p:txBody>
      </p:sp>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016" y="2057400"/>
            <a:ext cx="248953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114800" y="2540168"/>
            <a:ext cx="3886200" cy="1015663"/>
          </a:xfrm>
          <a:prstGeom prst="rect">
            <a:avLst/>
          </a:prstGeom>
          <a:noFill/>
        </p:spPr>
        <p:txBody>
          <a:bodyPr wrap="square" rtlCol="0">
            <a:spAutoFit/>
          </a:bodyPr>
          <a:lstStyle/>
          <a:p>
            <a:r>
              <a:rPr lang="en-US" sz="2000" dirty="0" smtClean="0"/>
              <a:t>Ada Lovelace is the first person to develop an algorithm for a machine</a:t>
            </a:r>
            <a:endParaRPr lang="en-US" sz="2000" dirty="0"/>
          </a:p>
        </p:txBody>
      </p:sp>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267200"/>
            <a:ext cx="6434104"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3357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An algorithm is a list of instructions, procedures, or formulas used to solve a problem</a:t>
            </a:r>
            <a:r>
              <a:rPr lang="en-US" dirty="0" smtClean="0"/>
              <a:t>.</a:t>
            </a:r>
          </a:p>
          <a:p>
            <a:r>
              <a:rPr lang="en-US" dirty="0" smtClean="0"/>
              <a:t>An algorithm is a step-by-step procedure to solve a problem.</a:t>
            </a:r>
          </a:p>
          <a:p>
            <a:r>
              <a:rPr lang="en-US" dirty="0" smtClean="0"/>
              <a:t>The process of solving a problem becomes simpler  and easier with the help of algorithm.</a:t>
            </a:r>
          </a:p>
          <a:p>
            <a:r>
              <a:rPr lang="en-US" dirty="0" smtClean="0"/>
              <a:t>It is better to write algorithm before writing the actual computer program.</a:t>
            </a:r>
          </a:p>
        </p:txBody>
      </p:sp>
      <p:sp>
        <p:nvSpPr>
          <p:cNvPr id="3" name="Title 2"/>
          <p:cNvSpPr>
            <a:spLocks noGrp="1"/>
          </p:cNvSpPr>
          <p:nvPr>
            <p:ph type="title"/>
          </p:nvPr>
        </p:nvSpPr>
        <p:spPr/>
        <p:txBody>
          <a:bodyPr/>
          <a:lstStyle/>
          <a:p>
            <a:r>
              <a:rPr lang="en-US" dirty="0" smtClean="0"/>
              <a:t>Algorithm</a:t>
            </a:r>
            <a:endParaRPr lang="en-US" dirty="0"/>
          </a:p>
        </p:txBody>
      </p:sp>
    </p:spTree>
    <p:extLst>
      <p:ext uri="{BB962C8B-B14F-4D97-AF65-F5344CB8AC3E}">
        <p14:creationId xmlns:p14="http://schemas.microsoft.com/office/powerpoint/2010/main" val="40218011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It’s simply an implementation of an algorithm in the form of annotations and informative text written in plain English.</a:t>
            </a:r>
          </a:p>
          <a:p>
            <a:r>
              <a:rPr lang="en-US" dirty="0" smtClean="0"/>
              <a:t>It has no syntax like any of the programming language and thus can’t be compiled or executed.</a:t>
            </a:r>
          </a:p>
          <a:p>
            <a:r>
              <a:rPr lang="en-US" dirty="0"/>
              <a:t>Also works as a rough documentation, so the program of one developer can be understood easily when a pseudo code is written out</a:t>
            </a:r>
            <a:r>
              <a:rPr lang="en-US" dirty="0" smtClean="0"/>
              <a:t>.</a:t>
            </a:r>
          </a:p>
          <a:p>
            <a:r>
              <a:rPr lang="en-US" dirty="0"/>
              <a:t>The main goal of a pseudo code is to explain what exactly each line of a program should </a:t>
            </a:r>
            <a:r>
              <a:rPr lang="en-US" dirty="0" smtClean="0"/>
              <a:t>do.</a:t>
            </a:r>
          </a:p>
        </p:txBody>
      </p:sp>
      <p:sp>
        <p:nvSpPr>
          <p:cNvPr id="3" name="Title 2"/>
          <p:cNvSpPr>
            <a:spLocks noGrp="1"/>
          </p:cNvSpPr>
          <p:nvPr>
            <p:ph type="title"/>
          </p:nvPr>
        </p:nvSpPr>
        <p:spPr/>
        <p:txBody>
          <a:bodyPr/>
          <a:lstStyle/>
          <a:p>
            <a:r>
              <a:rPr lang="en-US" dirty="0" smtClean="0"/>
              <a:t>Pseudo code</a:t>
            </a:r>
            <a:endParaRPr lang="en-US" dirty="0"/>
          </a:p>
        </p:txBody>
      </p:sp>
    </p:spTree>
    <p:extLst>
      <p:ext uri="{BB962C8B-B14F-4D97-AF65-F5344CB8AC3E}">
        <p14:creationId xmlns:p14="http://schemas.microsoft.com/office/powerpoint/2010/main" val="23923257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Flowchart is a graphical representation of an algorithm</a:t>
            </a:r>
            <a:r>
              <a:rPr lang="en-US" dirty="0" smtClean="0"/>
              <a:t>.</a:t>
            </a:r>
          </a:p>
          <a:p>
            <a:r>
              <a:rPr lang="en-US" dirty="0" smtClean="0"/>
              <a:t>It is a way of visually presenting the flow of data, operations performed on data and sequence of these operations.</a:t>
            </a:r>
          </a:p>
          <a:p>
            <a:r>
              <a:rPr lang="en-US" dirty="0" smtClean="0"/>
              <a:t>Flowchart use simple geometric symbols and arrows to define relationships.</a:t>
            </a:r>
            <a:endParaRPr lang="en-US" dirty="0"/>
          </a:p>
        </p:txBody>
      </p:sp>
      <p:sp>
        <p:nvSpPr>
          <p:cNvPr id="3" name="Title 2"/>
          <p:cNvSpPr>
            <a:spLocks noGrp="1"/>
          </p:cNvSpPr>
          <p:nvPr>
            <p:ph type="title"/>
          </p:nvPr>
        </p:nvSpPr>
        <p:spPr/>
        <p:txBody>
          <a:bodyPr/>
          <a:lstStyle/>
          <a:p>
            <a:r>
              <a:rPr lang="en-US" dirty="0" smtClean="0"/>
              <a:t>Flowchart</a:t>
            </a:r>
            <a:endParaRPr lang="en-US" dirty="0"/>
          </a:p>
        </p:txBody>
      </p:sp>
    </p:spTree>
    <p:extLst>
      <p:ext uri="{BB962C8B-B14F-4D97-AF65-F5344CB8AC3E}">
        <p14:creationId xmlns:p14="http://schemas.microsoft.com/office/powerpoint/2010/main" val="38861461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Example</a:t>
            </a:r>
            <a:endParaRPr lang="en-US" dirty="0"/>
          </a:p>
        </p:txBody>
      </p:sp>
      <p:sp>
        <p:nvSpPr>
          <p:cNvPr id="2" name="Content Placeholder 1"/>
          <p:cNvSpPr>
            <a:spLocks noGrp="1"/>
          </p:cNvSpPr>
          <p:nvPr>
            <p:ph sz="quarter" idx="13"/>
          </p:nvPr>
        </p:nvSpPr>
        <p:spPr/>
        <p:txBody>
          <a:bodyPr/>
          <a:lstStyle/>
          <a:p>
            <a:r>
              <a:rPr lang="en-US" dirty="0"/>
              <a:t>Pseudo </a:t>
            </a:r>
            <a:r>
              <a:rPr lang="en-US" dirty="0" smtClean="0"/>
              <a:t>code</a:t>
            </a:r>
          </a:p>
          <a:p>
            <a:pPr marL="0" indent="0">
              <a:buNone/>
            </a:pPr>
            <a:r>
              <a:rPr lang="en-US" dirty="0" smtClean="0"/>
              <a:t>Begin</a:t>
            </a:r>
          </a:p>
          <a:p>
            <a:pPr marL="0" indent="0">
              <a:buNone/>
            </a:pPr>
            <a:r>
              <a:rPr lang="en-US" dirty="0" smtClean="0"/>
              <a:t>Input A and B</a:t>
            </a:r>
          </a:p>
          <a:p>
            <a:pPr marL="0" indent="0">
              <a:buNone/>
            </a:pPr>
            <a:r>
              <a:rPr lang="en-US" dirty="0" smtClean="0"/>
              <a:t>Calculate A+B</a:t>
            </a:r>
          </a:p>
          <a:p>
            <a:pPr marL="0" indent="0">
              <a:buNone/>
            </a:pPr>
            <a:r>
              <a:rPr lang="en-US" dirty="0" smtClean="0"/>
              <a:t>Print result of Sum</a:t>
            </a:r>
          </a:p>
          <a:p>
            <a:pPr marL="0" indent="0">
              <a:buNone/>
            </a:pPr>
            <a:r>
              <a:rPr lang="en-US" dirty="0" smtClean="0"/>
              <a:t>End</a:t>
            </a:r>
            <a:endParaRPr lang="en-US" dirty="0"/>
          </a:p>
          <a:p>
            <a:endParaRPr lang="en-US" dirty="0"/>
          </a:p>
        </p:txBody>
      </p:sp>
      <p:sp>
        <p:nvSpPr>
          <p:cNvPr id="4" name="Content Placeholder 3"/>
          <p:cNvSpPr>
            <a:spLocks noGrp="1"/>
          </p:cNvSpPr>
          <p:nvPr>
            <p:ph sz="quarter" idx="14"/>
          </p:nvPr>
        </p:nvSpPr>
        <p:spPr/>
        <p:txBody>
          <a:bodyPr/>
          <a:lstStyle/>
          <a:p>
            <a:r>
              <a:rPr lang="en-US" dirty="0" smtClean="0"/>
              <a:t>Algorithm</a:t>
            </a:r>
          </a:p>
          <a:p>
            <a:pPr marL="0" indent="0">
              <a:buNone/>
            </a:pPr>
            <a:r>
              <a:rPr lang="en-US" dirty="0"/>
              <a:t>Step 1 : Start.</a:t>
            </a:r>
          </a:p>
          <a:p>
            <a:pPr marL="0" indent="0">
              <a:buNone/>
            </a:pPr>
            <a:r>
              <a:rPr lang="en-US" dirty="0"/>
              <a:t>Step 2 : Read A,B.</a:t>
            </a:r>
          </a:p>
          <a:p>
            <a:pPr marL="0" indent="0">
              <a:buNone/>
            </a:pPr>
            <a:r>
              <a:rPr lang="en-US" dirty="0"/>
              <a:t>Step 3 : Sum = A + B.</a:t>
            </a:r>
          </a:p>
          <a:p>
            <a:pPr marL="0" indent="0">
              <a:buNone/>
            </a:pPr>
            <a:r>
              <a:rPr lang="en-US" dirty="0"/>
              <a:t>Step 4 : Print Sum.</a:t>
            </a:r>
          </a:p>
          <a:p>
            <a:pPr marL="0" indent="0">
              <a:buNone/>
            </a:pPr>
            <a:r>
              <a:rPr lang="en-US" dirty="0"/>
              <a:t>Step 5 : Stop.</a:t>
            </a:r>
          </a:p>
          <a:p>
            <a:pPr marL="0" indent="0">
              <a:buNone/>
            </a:pPr>
            <a:endParaRPr lang="en-US" dirty="0"/>
          </a:p>
        </p:txBody>
      </p:sp>
    </p:spTree>
    <p:extLst>
      <p:ext uri="{BB962C8B-B14F-4D97-AF65-F5344CB8AC3E}">
        <p14:creationId xmlns:p14="http://schemas.microsoft.com/office/powerpoint/2010/main" val="293304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smtClean="0"/>
              <a:t>Flowchart</a:t>
            </a:r>
          </a:p>
          <a:p>
            <a:pPr marL="0" indent="0">
              <a:buNone/>
            </a:pPr>
            <a:endParaRPr lang="en-US" dirty="0"/>
          </a:p>
        </p:txBody>
      </p:sp>
      <p:sp>
        <p:nvSpPr>
          <p:cNvPr id="5" name="Title 4"/>
          <p:cNvSpPr>
            <a:spLocks noGrp="1"/>
          </p:cNvSpPr>
          <p:nvPr>
            <p:ph type="title"/>
          </p:nvPr>
        </p:nvSpPr>
        <p:spPr/>
        <p:txBody>
          <a:bodyPr/>
          <a:lstStyle/>
          <a:p>
            <a:r>
              <a:rPr lang="en-US" dirty="0" smtClean="0"/>
              <a:t>Example</a:t>
            </a:r>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362200"/>
            <a:ext cx="29337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84862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The source code consists of the programming statements that are created by a programmer with a text editor or a visual programming tool and then saved in a file.</a:t>
            </a:r>
          </a:p>
          <a:p>
            <a:r>
              <a:rPr lang="en-US" dirty="0"/>
              <a:t>It is written in a high-level language like C, C++, Java, Python, etc., or assembly language</a:t>
            </a:r>
            <a:r>
              <a:rPr lang="en-US" dirty="0" smtClean="0"/>
              <a:t>.</a:t>
            </a:r>
          </a:p>
          <a:p>
            <a:r>
              <a:rPr lang="en-US" dirty="0"/>
              <a:t>Source code is not directly understandable by machine</a:t>
            </a:r>
            <a:r>
              <a:rPr lang="en-US" dirty="0" smtClean="0"/>
              <a:t>. </a:t>
            </a:r>
          </a:p>
          <a:p>
            <a:r>
              <a:rPr lang="en-US" dirty="0" smtClean="0"/>
              <a:t>Language </a:t>
            </a:r>
            <a:r>
              <a:rPr lang="en-US" dirty="0"/>
              <a:t>translators like compiler, assembler, interpreter are used to translate source code to object code.</a:t>
            </a:r>
          </a:p>
        </p:txBody>
      </p:sp>
      <p:sp>
        <p:nvSpPr>
          <p:cNvPr id="3" name="Title 2"/>
          <p:cNvSpPr>
            <a:spLocks noGrp="1"/>
          </p:cNvSpPr>
          <p:nvPr>
            <p:ph type="title"/>
          </p:nvPr>
        </p:nvSpPr>
        <p:spPr>
          <a:xfrm>
            <a:off x="685800" y="533400"/>
            <a:ext cx="7756263" cy="1054250"/>
          </a:xfrm>
        </p:spPr>
        <p:txBody>
          <a:bodyPr/>
          <a:lstStyle/>
          <a:p>
            <a:r>
              <a:rPr lang="en-US" dirty="0" smtClean="0"/>
              <a:t>Source Code</a:t>
            </a:r>
            <a:endParaRPr lang="en-US" dirty="0"/>
          </a:p>
        </p:txBody>
      </p:sp>
    </p:spTree>
    <p:extLst>
      <p:ext uri="{BB962C8B-B14F-4D97-AF65-F5344CB8AC3E}">
        <p14:creationId xmlns:p14="http://schemas.microsoft.com/office/powerpoint/2010/main" val="364574737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653</TotalTime>
  <Words>1243</Words>
  <Application>Microsoft Office PowerPoint</Application>
  <PresentationFormat>On-screen Show (4:3)</PresentationFormat>
  <Paragraphs>139</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Hardcover</vt:lpstr>
      <vt:lpstr>Programming Fundamentals</vt:lpstr>
      <vt:lpstr>Today’s Lecture</vt:lpstr>
      <vt:lpstr>Computer</vt:lpstr>
      <vt:lpstr>Functionality of Computer</vt:lpstr>
      <vt:lpstr>Components of Computer</vt:lpstr>
      <vt:lpstr>Components of Computer</vt:lpstr>
      <vt:lpstr>Hardware</vt:lpstr>
      <vt:lpstr>Hardware</vt:lpstr>
      <vt:lpstr>Hardware</vt:lpstr>
      <vt:lpstr>RAM</vt:lpstr>
      <vt:lpstr>Memory</vt:lpstr>
      <vt:lpstr>ROM</vt:lpstr>
      <vt:lpstr>Software</vt:lpstr>
      <vt:lpstr>Software</vt:lpstr>
      <vt:lpstr>System Software</vt:lpstr>
      <vt:lpstr>Application Software</vt:lpstr>
      <vt:lpstr>Why Programming?</vt:lpstr>
      <vt:lpstr>Computer Programming</vt:lpstr>
      <vt:lpstr>First Computer Programmer</vt:lpstr>
      <vt:lpstr>Algorithm</vt:lpstr>
      <vt:lpstr>Pseudo code</vt:lpstr>
      <vt:lpstr>Flowchart</vt:lpstr>
      <vt:lpstr>Example</vt:lpstr>
      <vt:lpstr>Example</vt:lpstr>
      <vt:lpstr>Source Code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problem solving</dc:title>
  <dc:creator>p06</dc:creator>
  <cp:lastModifiedBy>p06</cp:lastModifiedBy>
  <cp:revision>57</cp:revision>
  <dcterms:created xsi:type="dcterms:W3CDTF">2023-01-14T12:48:14Z</dcterms:created>
  <dcterms:modified xsi:type="dcterms:W3CDTF">2025-09-23T20:48:17Z</dcterms:modified>
</cp:coreProperties>
</file>