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sldIdLst>
    <p:sldId id="275" r:id="rId2"/>
    <p:sldId id="276" r:id="rId3"/>
    <p:sldId id="277" r:id="rId4"/>
    <p:sldId id="319" r:id="rId5"/>
    <p:sldId id="320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90" r:id="rId14"/>
    <p:sldId id="286" r:id="rId15"/>
    <p:sldId id="318" r:id="rId16"/>
    <p:sldId id="296" r:id="rId17"/>
    <p:sldId id="321" r:id="rId18"/>
    <p:sldId id="287" r:id="rId19"/>
    <p:sldId id="291" r:id="rId20"/>
    <p:sldId id="299" r:id="rId21"/>
    <p:sldId id="300" r:id="rId22"/>
    <p:sldId id="303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7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Increment </a:t>
            </a:r>
            <a:r>
              <a:rPr lang="en-US" dirty="0"/>
              <a:t>Decrement Operators</a:t>
            </a:r>
          </a:p>
          <a:p>
            <a:r>
              <a:rPr lang="en-US" dirty="0"/>
              <a:t>Augmented Assignment Operators</a:t>
            </a:r>
          </a:p>
          <a:p>
            <a:r>
              <a:rPr lang="en-US" dirty="0"/>
              <a:t>Numeric Type Conversion and Named Constants</a:t>
            </a:r>
          </a:p>
          <a:p>
            <a:r>
              <a:rPr lang="en-US" dirty="0"/>
              <a:t>Escape </a:t>
            </a:r>
            <a:r>
              <a:rPr lang="en-US" dirty="0" smtClean="0"/>
              <a:t>Sequences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Lecture</a:t>
            </a:r>
          </a:p>
        </p:txBody>
      </p:sp>
    </p:spTree>
    <p:extLst>
      <p:ext uri="{BB962C8B-B14F-4D97-AF65-F5344CB8AC3E}">
        <p14:creationId xmlns:p14="http://schemas.microsoft.com/office/powerpoint/2010/main" val="211142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</a:t>
            </a:r>
            <a:r>
              <a:rPr lang="en-US" dirty="0" smtClean="0"/>
              <a:t>Conditional </a:t>
            </a:r>
            <a:r>
              <a:rPr lang="en-US" dirty="0" smtClean="0"/>
              <a:t>Statements </a:t>
            </a:r>
          </a:p>
          <a:p>
            <a:r>
              <a:rPr lang="en-US" dirty="0" smtClean="0"/>
              <a:t>Boolean </a:t>
            </a:r>
            <a:r>
              <a:rPr lang="en-US" dirty="0"/>
              <a:t>Data Type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Statement </a:t>
            </a: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524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199" y="2248347"/>
            <a:ext cx="8153401" cy="3877815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Conditional </a:t>
            </a:r>
            <a:r>
              <a:rPr lang="en-US" dirty="0"/>
              <a:t>statements are instructions in a program that let the computer </a:t>
            </a:r>
            <a:r>
              <a:rPr lang="en-US" b="1" dirty="0"/>
              <a:t>make decisions</a:t>
            </a:r>
            <a:r>
              <a:rPr lang="en-US" dirty="0"/>
              <a:t>. They check if something is true or false, and then do different things based on that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Why do we need them</a:t>
            </a:r>
            <a:r>
              <a:rPr lang="en-US" b="1" dirty="0" smtClean="0"/>
              <a:t>?</a:t>
            </a:r>
            <a:endParaRPr lang="en-US" b="1" dirty="0"/>
          </a:p>
          <a:p>
            <a:pPr marL="457200" indent="0" algn="just">
              <a:buNone/>
            </a:pPr>
            <a:r>
              <a:rPr lang="en-US" dirty="0" smtClean="0"/>
              <a:t>Sometimes</a:t>
            </a:r>
            <a:r>
              <a:rPr lang="en-US" dirty="0"/>
              <a:t>, you want your program to do one thing if a condition is true, and something else if it’s false. Conditional statements help you do that.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304800"/>
            <a:ext cx="8534400" cy="1054250"/>
          </a:xfrm>
        </p:spPr>
        <p:txBody>
          <a:bodyPr/>
          <a:lstStyle/>
          <a:p>
            <a:r>
              <a:rPr lang="en-US" dirty="0"/>
              <a:t>Introduction to Conditional Statements </a:t>
            </a:r>
          </a:p>
        </p:txBody>
      </p:sp>
    </p:spTree>
    <p:extLst>
      <p:ext uri="{BB962C8B-B14F-4D97-AF65-F5344CB8AC3E}">
        <p14:creationId xmlns:p14="http://schemas.microsoft.com/office/powerpoint/2010/main" val="2830873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199" y="2248347"/>
            <a:ext cx="8153401" cy="3877815"/>
          </a:xfrm>
        </p:spPr>
        <p:txBody>
          <a:bodyPr>
            <a:normAutofit/>
          </a:bodyPr>
          <a:lstStyle/>
          <a:p>
            <a:pPr algn="just"/>
            <a:r>
              <a:rPr lang="en-US" b="1" dirty="0" smtClean="0"/>
              <a:t>For Example:</a:t>
            </a:r>
          </a:p>
          <a:p>
            <a:pPr marL="457200" indent="0" algn="just">
              <a:buNone/>
            </a:pPr>
            <a:r>
              <a:rPr lang="en-US" dirty="0" smtClean="0"/>
              <a:t>Imagine </a:t>
            </a:r>
            <a:r>
              <a:rPr lang="en-US" dirty="0"/>
              <a:t>you want to check if you are old enough to vote:</a:t>
            </a:r>
          </a:p>
          <a:p>
            <a:pPr marL="800100" indent="-342900" algn="just">
              <a:buFont typeface="Arial" pitchFamily="34" charset="0"/>
              <a:buChar char="•"/>
            </a:pPr>
            <a:r>
              <a:rPr lang="en-US" dirty="0"/>
              <a:t>If your age is 18 or more, print “You can vote</a:t>
            </a:r>
            <a:r>
              <a:rPr lang="en-US" dirty="0" smtClean="0"/>
              <a:t>.”</a:t>
            </a:r>
          </a:p>
          <a:p>
            <a:pPr marL="800100" indent="-342900" algn="just">
              <a:buFont typeface="Arial" pitchFamily="34" charset="0"/>
              <a:buChar char="•"/>
            </a:pPr>
            <a:r>
              <a:rPr lang="en-US" dirty="0" smtClean="0"/>
              <a:t>Otherwise</a:t>
            </a:r>
            <a:r>
              <a:rPr lang="en-US" dirty="0"/>
              <a:t>, print “You are too young to vote.”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304800"/>
            <a:ext cx="8534400" cy="1054250"/>
          </a:xfrm>
        </p:spPr>
        <p:txBody>
          <a:bodyPr/>
          <a:lstStyle/>
          <a:p>
            <a:r>
              <a:rPr lang="en-US" dirty="0"/>
              <a:t>Introduction to Conditional Statements </a:t>
            </a:r>
          </a:p>
        </p:txBody>
      </p:sp>
    </p:spTree>
    <p:extLst>
      <p:ext uri="{BB962C8B-B14F-4D97-AF65-F5344CB8AC3E}">
        <p14:creationId xmlns:p14="http://schemas.microsoft.com/office/powerpoint/2010/main" val="1283335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381053"/>
          </a:xfrm>
        </p:spPr>
        <p:txBody>
          <a:bodyPr/>
          <a:lstStyle/>
          <a:p>
            <a:pPr algn="just"/>
            <a:r>
              <a:rPr lang="en-US" dirty="0"/>
              <a:t>The bool data type declares a variable with the value either true or </a:t>
            </a:r>
            <a:r>
              <a:rPr lang="en-US" dirty="0" smtClean="0"/>
              <a:t>false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How </a:t>
            </a:r>
            <a:r>
              <a:rPr lang="en-US" dirty="0"/>
              <a:t>do you compare two values, such as whether a radius is greater than 0, equal to 0, or less than 0? 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C</a:t>
            </a:r>
            <a:r>
              <a:rPr lang="en-US" dirty="0"/>
              <a:t>++ provides six relational operators, shown in Table </a:t>
            </a:r>
            <a:r>
              <a:rPr lang="en-US" dirty="0" smtClean="0"/>
              <a:t>on next slide, </a:t>
            </a:r>
            <a:r>
              <a:rPr lang="en-US" dirty="0"/>
              <a:t>which can be used </a:t>
            </a:r>
            <a:r>
              <a:rPr lang="en-US" dirty="0" smtClean="0"/>
              <a:t>to compare </a:t>
            </a:r>
            <a:r>
              <a:rPr lang="en-US" dirty="0"/>
              <a:t>two values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bool </a:t>
            </a:r>
            <a:r>
              <a:rPr lang="en-US" dirty="0" smtClean="0"/>
              <a:t>Data Type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91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bool </a:t>
            </a:r>
            <a:r>
              <a:rPr lang="en-US" dirty="0" smtClean="0"/>
              <a:t>Data Type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362199"/>
            <a:ext cx="9143999" cy="3843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7222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Internally, C++ uses 1 to represent true and 0 for false. If you display a bool value to the console, 1 is displayed if the value is true and 0 if it is false. </a:t>
            </a:r>
            <a:endParaRPr lang="en-US" dirty="0" smtClean="0"/>
          </a:p>
          <a:p>
            <a:pPr algn="just"/>
            <a:r>
              <a:rPr lang="en-US" dirty="0" smtClean="0"/>
              <a:t>For example</a:t>
            </a:r>
            <a:r>
              <a:rPr lang="en-US" dirty="0"/>
              <a:t>:</a:t>
            </a:r>
            <a:endParaRPr lang="en-US" dirty="0" smtClean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bool </a:t>
            </a:r>
            <a:r>
              <a:rPr lang="en-US" dirty="0" smtClean="0"/>
              <a:t>Data Type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543" y="3886199"/>
            <a:ext cx="3211657" cy="2789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00" y="6128438"/>
            <a:ext cx="781915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1075" y="3422617"/>
            <a:ext cx="3113325" cy="2705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4620" y="6168847"/>
            <a:ext cx="699559" cy="582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607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 C++, you can assign a numeric value to a bool variable. </a:t>
            </a:r>
            <a:endParaRPr lang="en-US" dirty="0" smtClean="0"/>
          </a:p>
          <a:p>
            <a:pPr algn="just"/>
            <a:r>
              <a:rPr lang="en-US" dirty="0" smtClean="0"/>
              <a:t>Any </a:t>
            </a:r>
            <a:r>
              <a:rPr lang="en-US" dirty="0"/>
              <a:t>nonzero value evaluates to true and zero value evaluates to false. </a:t>
            </a:r>
            <a:endParaRPr lang="en-US" dirty="0" smtClean="0"/>
          </a:p>
          <a:p>
            <a:pPr algn="just"/>
            <a:r>
              <a:rPr lang="en-US" dirty="0" smtClean="0"/>
              <a:t>For </a:t>
            </a:r>
            <a:r>
              <a:rPr lang="en-US" dirty="0"/>
              <a:t>example, after the following assignment statements, b1 and b3 become true, and b2 becomes false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bool </a:t>
            </a:r>
            <a:r>
              <a:rPr lang="en-US" dirty="0" smtClean="0"/>
              <a:t>Data Type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204" y="5124450"/>
            <a:ext cx="7131996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1424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bool </a:t>
            </a:r>
            <a:r>
              <a:rPr lang="en-US" dirty="0" smtClean="0"/>
              <a:t>Data Type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67067"/>
            <a:ext cx="5181600" cy="3376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932" y="5872163"/>
            <a:ext cx="3531468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2371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the printout of </a:t>
            </a:r>
            <a:r>
              <a:rPr lang="en-US" dirty="0" smtClean="0"/>
              <a:t>the </a:t>
            </a:r>
            <a:r>
              <a:rPr lang="en-US" dirty="0"/>
              <a:t>following code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Activity1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730563"/>
            <a:ext cx="3276600" cy="4066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5288579"/>
            <a:ext cx="1309687" cy="1036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553200" y="4810035"/>
            <a:ext cx="1198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Output: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38683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An if statement is a construct that enables a program to specify alternative path of </a:t>
            </a:r>
            <a:r>
              <a:rPr lang="en-US" dirty="0" smtClean="0"/>
              <a:t>execution.</a:t>
            </a:r>
          </a:p>
          <a:p>
            <a:pPr algn="just"/>
            <a:r>
              <a:rPr lang="en-US" dirty="0" smtClean="0"/>
              <a:t>A </a:t>
            </a:r>
            <a:r>
              <a:rPr lang="en-US" dirty="0"/>
              <a:t>one-way if statement executes an action if and only if the condition is </a:t>
            </a:r>
            <a:r>
              <a:rPr lang="en-US" dirty="0" smtClean="0"/>
              <a:t>true.</a:t>
            </a:r>
          </a:p>
          <a:p>
            <a:pPr algn="just"/>
            <a:r>
              <a:rPr lang="en-US" dirty="0" smtClean="0"/>
              <a:t>The </a:t>
            </a:r>
            <a:r>
              <a:rPr lang="en-US" dirty="0"/>
              <a:t>syntax for a one-way if statement is shown </a:t>
            </a:r>
            <a:r>
              <a:rPr lang="en-US" dirty="0" smtClean="0"/>
              <a:t>here:</a:t>
            </a:r>
          </a:p>
          <a:p>
            <a:pPr marL="914400" indent="0" algn="just">
              <a:buNone/>
            </a:pPr>
            <a:r>
              <a:rPr lang="en-US" dirty="0" smtClean="0"/>
              <a:t>if </a:t>
            </a:r>
            <a:r>
              <a:rPr lang="en-US" dirty="0"/>
              <a:t>(</a:t>
            </a:r>
            <a:r>
              <a:rPr lang="en-US" dirty="0" err="1"/>
              <a:t>boolean</a:t>
            </a:r>
            <a:r>
              <a:rPr lang="en-US" dirty="0"/>
              <a:t>-expression) </a:t>
            </a:r>
            <a:endParaRPr lang="en-US" dirty="0" smtClean="0"/>
          </a:p>
          <a:p>
            <a:pPr marL="914400" indent="0" algn="just">
              <a:buNone/>
            </a:pPr>
            <a:r>
              <a:rPr lang="en-US" dirty="0" smtClean="0"/>
              <a:t>{ </a:t>
            </a:r>
          </a:p>
          <a:p>
            <a:pPr marL="914400" indent="0" algn="just">
              <a:buNone/>
            </a:pPr>
            <a:r>
              <a:rPr lang="en-US" dirty="0" smtClean="0"/>
              <a:t>statement(s</a:t>
            </a:r>
            <a:r>
              <a:rPr lang="en-US" dirty="0"/>
              <a:t>); </a:t>
            </a:r>
            <a:endParaRPr lang="en-US" dirty="0" smtClean="0"/>
          </a:p>
          <a:p>
            <a:pPr marL="914400" indent="0" algn="just">
              <a:buNone/>
            </a:pPr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f Statements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47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If </a:t>
            </a:r>
            <a:r>
              <a:rPr lang="en-US" dirty="0"/>
              <a:t>the </a:t>
            </a:r>
            <a:r>
              <a:rPr lang="en-US" dirty="0" err="1"/>
              <a:t>boolean</a:t>
            </a:r>
            <a:r>
              <a:rPr lang="en-US" dirty="0"/>
              <a:t>-expression evaluates to true, the statements in the block are </a:t>
            </a:r>
            <a:r>
              <a:rPr lang="en-US" dirty="0" smtClean="0"/>
              <a:t>executed.</a:t>
            </a:r>
            <a:endParaRPr lang="en-US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f Statements </a:t>
            </a:r>
            <a:endParaRPr lang="en-US" dirty="0"/>
          </a:p>
        </p:txBody>
      </p:sp>
      <p:sp>
        <p:nvSpPr>
          <p:cNvPr id="17" name="Flowchart: Connector 16"/>
          <p:cNvSpPr/>
          <p:nvPr/>
        </p:nvSpPr>
        <p:spPr>
          <a:xfrm>
            <a:off x="4191000" y="3276600"/>
            <a:ext cx="228600" cy="3048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stCxn id="17" idx="4"/>
          </p:cNvCxnSpPr>
          <p:nvPr/>
        </p:nvCxnSpPr>
        <p:spPr>
          <a:xfrm>
            <a:off x="4305300" y="3581400"/>
            <a:ext cx="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Decision 19"/>
          <p:cNvSpPr/>
          <p:nvPr/>
        </p:nvSpPr>
        <p:spPr>
          <a:xfrm>
            <a:off x="3095625" y="3897923"/>
            <a:ext cx="2419350" cy="9144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boolean</a:t>
            </a:r>
            <a:r>
              <a:rPr lang="en-US" sz="1600" dirty="0" smtClean="0"/>
              <a:t>-expression</a:t>
            </a:r>
            <a:endParaRPr lang="en-US" sz="1600" dirty="0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4305300" y="4812323"/>
            <a:ext cx="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lowchart: Process 20"/>
          <p:cNvSpPr/>
          <p:nvPr/>
        </p:nvSpPr>
        <p:spPr>
          <a:xfrm>
            <a:off x="3095626" y="5117123"/>
            <a:ext cx="2419350" cy="38100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statement(s)</a:t>
            </a:r>
            <a:endParaRPr lang="en-US" sz="1600" dirty="0"/>
          </a:p>
        </p:txBody>
      </p:sp>
      <p:cxnSp>
        <p:nvCxnSpPr>
          <p:cNvPr id="24" name="Straight Arrow Connector 23"/>
          <p:cNvCxnSpPr>
            <a:endCxn id="25" idx="0"/>
          </p:cNvCxnSpPr>
          <p:nvPr/>
        </p:nvCxnSpPr>
        <p:spPr>
          <a:xfrm>
            <a:off x="4304128" y="5498123"/>
            <a:ext cx="1173" cy="445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lowchart: Connector 24"/>
          <p:cNvSpPr/>
          <p:nvPr/>
        </p:nvSpPr>
        <p:spPr>
          <a:xfrm>
            <a:off x="4191001" y="5943600"/>
            <a:ext cx="228600" cy="3048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>
            <a:stCxn id="20" idx="3"/>
          </p:cNvCxnSpPr>
          <p:nvPr/>
        </p:nvCxnSpPr>
        <p:spPr>
          <a:xfrm>
            <a:off x="5514975" y="4355123"/>
            <a:ext cx="8096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324600" y="4355123"/>
            <a:ext cx="0" cy="1295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4305301" y="5650523"/>
            <a:ext cx="201929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0" name="TextBox 5119"/>
          <p:cNvSpPr txBox="1"/>
          <p:nvPr/>
        </p:nvSpPr>
        <p:spPr>
          <a:xfrm>
            <a:off x="5638800" y="397406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f</a:t>
            </a:r>
            <a:r>
              <a:rPr lang="en-US" dirty="0" smtClean="0">
                <a:solidFill>
                  <a:schemeClr val="accent1"/>
                </a:solidFill>
              </a:rPr>
              <a:t>alse</a:t>
            </a:r>
            <a:endParaRPr 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576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</a:t>
            </a:r>
            <a:r>
              <a:rPr lang="en-US" b="1" dirty="0" err="1"/>
              <a:t>pseudocode</a:t>
            </a:r>
            <a:r>
              <a:rPr lang="en-US" b="1" dirty="0"/>
              <a:t> </a:t>
            </a:r>
            <a:r>
              <a:rPr lang="en-US" b="1" dirty="0" smtClean="0"/>
              <a:t>statement:</a:t>
            </a:r>
          </a:p>
          <a:p>
            <a:pPr marL="457200" indent="0">
              <a:buNone/>
            </a:pPr>
            <a:r>
              <a:rPr lang="en-US" dirty="0"/>
              <a:t>If student’s grade is greater than or equal to 60 Print “Passed</a:t>
            </a:r>
            <a:r>
              <a:rPr lang="en-US" dirty="0" smtClean="0"/>
              <a:t>”</a:t>
            </a:r>
          </a:p>
          <a:p>
            <a:r>
              <a:rPr lang="en-US" b="1" dirty="0" smtClean="0"/>
              <a:t>Flowchart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f Statement Example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068" y="4050142"/>
            <a:ext cx="4316932" cy="2350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373054" y="3505200"/>
            <a:ext cx="35208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If statement may be written in </a:t>
            </a:r>
            <a:r>
              <a:rPr lang="en-US" sz="2400" b="1" dirty="0" smtClean="0"/>
              <a:t>C++ </a:t>
            </a:r>
            <a:r>
              <a:rPr lang="en-US" sz="2400" b="1" dirty="0" smtClean="0"/>
              <a:t>as:</a:t>
            </a:r>
            <a:endParaRPr lang="en-US" sz="2400" b="1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0021" y="4514352"/>
            <a:ext cx="3168454" cy="1429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8714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688490" y="622150"/>
            <a:ext cx="7756263" cy="1054250"/>
          </a:xfrm>
        </p:spPr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f Statement Example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41583"/>
            <a:ext cx="4650205" cy="4487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299" y="3769518"/>
            <a:ext cx="3826501" cy="615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60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r>
              <a:rPr lang="en-US" b="1" dirty="0" smtClean="0"/>
              <a:t>Write </a:t>
            </a:r>
            <a:r>
              <a:rPr lang="en-US" b="1" dirty="0" smtClean="0"/>
              <a:t>a C</a:t>
            </a:r>
            <a:r>
              <a:rPr lang="en-US" b="1" dirty="0"/>
              <a:t>++ program to calculate the area of the circle if the radius is greater than 0</a:t>
            </a:r>
            <a:r>
              <a:rPr lang="en-US" b="1" dirty="0" smtClean="0"/>
              <a:t>. (Note</a:t>
            </a:r>
            <a:r>
              <a:rPr lang="en-US" b="1" dirty="0"/>
              <a:t>: if radius is less than 0 no need to print any </a:t>
            </a:r>
            <a:r>
              <a:rPr lang="en-US" b="1" dirty="0" smtClean="0"/>
              <a:t>area)</a:t>
            </a:r>
            <a:endParaRPr lang="en-US" b="1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f Statement 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716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 idx="4294967295"/>
          </p:nvPr>
        </p:nvSpPr>
        <p:spPr>
          <a:xfrm rot="16200000">
            <a:off x="-2740172" y="2892572"/>
            <a:ext cx="6839243" cy="1054100"/>
          </a:xfrm>
        </p:spPr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f Statement Example</a:t>
            </a:r>
            <a:endParaRPr lang="en-US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8" y="152400"/>
            <a:ext cx="5342861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115" y="5819775"/>
            <a:ext cx="3598333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375115" y="5365145"/>
            <a:ext cx="129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Output 1:</a:t>
            </a:r>
            <a:endParaRPr lang="en-US" sz="2000" b="1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783" y="5976938"/>
            <a:ext cx="3887217" cy="557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256783" y="5435980"/>
            <a:ext cx="129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Output 2: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048267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</a:t>
            </a:r>
            <a:r>
              <a:rPr lang="en-US" dirty="0" err="1"/>
              <a:t>boolean</a:t>
            </a:r>
            <a:r>
              <a:rPr lang="en-US" dirty="0"/>
              <a:t>-expression is enclosed in parentheses. For example, the code in (a) below is wrong. The corrected version is shown in (b).</a:t>
            </a:r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f Statements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657600"/>
            <a:ext cx="4223488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657600"/>
            <a:ext cx="4572000" cy="1799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6855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braces can be omitted if they enclose a single statement. For example, the following statements are equivalent.</a:t>
            </a:r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f Statements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44" y="3657600"/>
            <a:ext cx="879348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20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Common Error 1: Forgetting Necessary Braces</a:t>
            </a:r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Errors</a:t>
            </a:r>
            <a:endParaRPr 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743200"/>
            <a:ext cx="7040065" cy="171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541248" y="4419600"/>
            <a:ext cx="80693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 (a), the console output statement is not part of the if statement. It is the same as the following code: </a:t>
            </a: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4078" y="4876800"/>
            <a:ext cx="4792981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685799" y="6135469"/>
            <a:ext cx="74210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Regardless of the condition in the if statement, the console output statement is always executed.</a:t>
            </a:r>
          </a:p>
        </p:txBody>
      </p:sp>
    </p:spTree>
    <p:extLst>
      <p:ext uri="{BB962C8B-B14F-4D97-AF65-F5344CB8AC3E}">
        <p14:creationId xmlns:p14="http://schemas.microsoft.com/office/powerpoint/2010/main" val="2390905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Common Error 2: Wrong Semicolon at the if Line</a:t>
            </a:r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Errors</a:t>
            </a:r>
            <a:endParaRPr 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7" y="2743200"/>
            <a:ext cx="8869892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57200" y="5029200"/>
            <a:ext cx="8001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mistake is hard to find, because it is neither a compile error nor a runtime error; it is a logic error. The code in (a) is equivalent to that in (b) with an empty body.</a:t>
            </a:r>
          </a:p>
        </p:txBody>
      </p:sp>
    </p:spTree>
    <p:extLst>
      <p:ext uri="{BB962C8B-B14F-4D97-AF65-F5344CB8AC3E}">
        <p14:creationId xmlns:p14="http://schemas.microsoft.com/office/powerpoint/2010/main" val="157706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Identify and correct the errors in each of the following </a:t>
            </a:r>
            <a:r>
              <a:rPr lang="en-US" dirty="0" smtClean="0"/>
              <a:t>statements.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381000"/>
            <a:ext cx="7756263" cy="1054250"/>
          </a:xfrm>
        </p:spPr>
        <p:txBody>
          <a:bodyPr/>
          <a:lstStyle/>
          <a:p>
            <a:r>
              <a:rPr lang="en-US" dirty="0" smtClean="0"/>
              <a:t>Activity 2: Identify Errors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75" y="3267074"/>
            <a:ext cx="7865099" cy="1762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6589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920</TotalTime>
  <Words>611</Words>
  <Application>Microsoft Office PowerPoint</Application>
  <PresentationFormat>On-screen Show (4:3)</PresentationFormat>
  <Paragraphs>79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Hardcover</vt:lpstr>
      <vt:lpstr>Programming Fundamentals</vt:lpstr>
      <vt:lpstr>Previous Lecture</vt:lpstr>
      <vt:lpstr>Today’s Lecture</vt:lpstr>
      <vt:lpstr>Introduction to Conditional Statements </vt:lpstr>
      <vt:lpstr>Introduction to Conditional Statements </vt:lpstr>
      <vt:lpstr>The bool Data Type</vt:lpstr>
      <vt:lpstr>The bool Data Type</vt:lpstr>
      <vt:lpstr>The bool Data Type</vt:lpstr>
      <vt:lpstr>The bool Data Type</vt:lpstr>
      <vt:lpstr>The bool Data Type</vt:lpstr>
      <vt:lpstr>Activity1</vt:lpstr>
      <vt:lpstr>if Statements </vt:lpstr>
      <vt:lpstr>if Statements </vt:lpstr>
      <vt:lpstr>if Statement Example</vt:lpstr>
      <vt:lpstr>if Statement Example</vt:lpstr>
      <vt:lpstr>if Statement Example</vt:lpstr>
      <vt:lpstr>if Statement Example</vt:lpstr>
      <vt:lpstr>if Statements</vt:lpstr>
      <vt:lpstr>if Statements</vt:lpstr>
      <vt:lpstr>Common Errors</vt:lpstr>
      <vt:lpstr>Common Errors</vt:lpstr>
      <vt:lpstr>Activity 2: Identify Errors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113</cp:revision>
  <dcterms:created xsi:type="dcterms:W3CDTF">2023-02-13T17:33:34Z</dcterms:created>
  <dcterms:modified xsi:type="dcterms:W3CDTF">2025-09-29T18:03:32Z</dcterms:modified>
</cp:coreProperties>
</file>