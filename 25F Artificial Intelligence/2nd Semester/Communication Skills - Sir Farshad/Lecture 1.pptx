
<file path=[Content_Types].xml><?xml version="1.0" encoding="utf-8"?>
<Types xmlns="http://schemas.openxmlformats.org/package/2006/content-types">
  <Default Extension="xml" ContentType="application/xml"/>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1"/>
  </p:sldMasterIdLst>
  <p:notesMasterIdLst>
    <p:notesMasterId r:id="rId4"/>
  </p:notesMasterIdLst>
  <p:handoutMasterIdLst>
    <p:handoutMasterId r:id="rId52"/>
  </p:handoutMasterIdLst>
  <p:sldIdLst>
    <p:sldId id="290" r:id="rId3"/>
    <p:sldId id="329" r:id="rId5"/>
    <p:sldId id="273" r:id="rId6"/>
    <p:sldId id="331" r:id="rId7"/>
    <p:sldId id="297" r:id="rId8"/>
    <p:sldId id="332" r:id="rId9"/>
    <p:sldId id="333" r:id="rId10"/>
    <p:sldId id="334" r:id="rId11"/>
    <p:sldId id="335" r:id="rId12"/>
    <p:sldId id="298" r:id="rId13"/>
    <p:sldId id="299" r:id="rId14"/>
    <p:sldId id="300" r:id="rId15"/>
    <p:sldId id="301" r:id="rId16"/>
    <p:sldId id="302" r:id="rId17"/>
    <p:sldId id="303" r:id="rId18"/>
    <p:sldId id="304" r:id="rId19"/>
    <p:sldId id="305" r:id="rId20"/>
    <p:sldId id="306" r:id="rId21"/>
    <p:sldId id="307" r:id="rId22"/>
    <p:sldId id="308" r:id="rId23"/>
    <p:sldId id="309" r:id="rId24"/>
    <p:sldId id="292" r:id="rId25"/>
    <p:sldId id="278" r:id="rId26"/>
    <p:sldId id="310" r:id="rId27"/>
    <p:sldId id="258" r:id="rId28"/>
    <p:sldId id="268" r:id="rId29"/>
    <p:sldId id="296" r:id="rId30"/>
    <p:sldId id="311" r:id="rId31"/>
    <p:sldId id="312" r:id="rId32"/>
    <p:sldId id="313" r:id="rId33"/>
    <p:sldId id="314" r:id="rId34"/>
    <p:sldId id="315" r:id="rId35"/>
    <p:sldId id="316" r:id="rId36"/>
    <p:sldId id="317" r:id="rId37"/>
    <p:sldId id="318" r:id="rId38"/>
    <p:sldId id="319" r:id="rId39"/>
    <p:sldId id="320" r:id="rId40"/>
    <p:sldId id="322" r:id="rId41"/>
    <p:sldId id="321" r:id="rId42"/>
    <p:sldId id="323" r:id="rId43"/>
    <p:sldId id="324" r:id="rId44"/>
    <p:sldId id="325" r:id="rId45"/>
    <p:sldId id="326" r:id="rId46"/>
    <p:sldId id="327" r:id="rId47"/>
    <p:sldId id="328" r:id="rId48"/>
    <p:sldId id="330" r:id="rId49"/>
    <p:sldId id="294" r:id="rId50"/>
    <p:sldId id="289" r:id="rId5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5602" autoAdjust="0"/>
  </p:normalViewPr>
  <p:slideViewPr>
    <p:cSldViewPr snapToGrid="0">
      <p:cViewPr varScale="1">
        <p:scale>
          <a:sx n="90" d="100"/>
          <a:sy n="90" d="100"/>
        </p:scale>
        <p:origin x="576" y="78"/>
      </p:cViewPr>
      <p:guideLst/>
    </p:cSldViewPr>
  </p:slideViewPr>
  <p:notesTextViewPr>
    <p:cViewPr>
      <p:scale>
        <a:sx n="1" d="1"/>
        <a:sy n="1" d="1"/>
      </p:scale>
      <p:origin x="0" y="0"/>
    </p:cViewPr>
  </p:notesTextViewPr>
  <p:notesViewPr>
    <p:cSldViewPr snapToGrid="0" showGuides="1">
      <p:cViewPr varScale="1">
        <p:scale>
          <a:sx n="60" d="100"/>
          <a:sy n="60" d="100"/>
        </p:scale>
        <p:origin x="3187" y="3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customXml" Target="../customXml/item3.xml"/><Relationship Id="rId58" Type="http://schemas.openxmlformats.org/officeDocument/2006/relationships/customXml" Target="../customXml/item2.xml"/><Relationship Id="rId57" Type="http://schemas.openxmlformats.org/officeDocument/2006/relationships/customXml" Target="../customXml/item1.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8DDD054-1DDB-4385-9715-7280E4A1C17C}" type="doc">
      <dgm:prSet loTypeId="urn:microsoft.com/office/officeart/2005/8/layout/chart3" loCatId="cycle" qsTypeId="urn:microsoft.com/office/officeart/2005/8/quickstyle/simple1" qsCatId="simple" csTypeId="urn:microsoft.com/office/officeart/2005/8/colors/accent1_2" csCatId="accent1" phldr="1"/>
      <dgm:spPr/>
    </dgm:pt>
    <dgm:pt modelId="{517E435D-FDCA-4039-A9CA-0EBAE11361D0}">
      <dgm:prSet phldrT="[Text]" custT="1">
        <dgm:style>
          <a:lnRef idx="2">
            <a:schemeClr val="dk1"/>
          </a:lnRef>
          <a:fillRef idx="1">
            <a:schemeClr val="lt1"/>
          </a:fillRef>
          <a:effectRef idx="0">
            <a:schemeClr val="dk1"/>
          </a:effectRef>
          <a:fontRef idx="minor">
            <a:schemeClr val="dk1"/>
          </a:fontRef>
        </dgm:style>
      </dgm:prSet>
      <dgm:spPr/>
      <dgm:t>
        <a:bodyPr/>
        <a:lstStyle/>
        <a:p>
          <a:r>
            <a:rPr lang="en-US" sz="2000" dirty="0"/>
            <a:t>What do you want from your audience?</a:t>
          </a:r>
        </a:p>
      </dgm:t>
    </dgm:pt>
    <dgm:pt modelId="{FDFC2722-5295-4590-A61D-ADD8426B7577}" cxnId="{E3E600D6-5EEE-4311-B108-2CB7584C46CC}" type="parTrans">
      <dgm:prSet/>
      <dgm:spPr/>
      <dgm:t>
        <a:bodyPr/>
        <a:lstStyle/>
        <a:p>
          <a:endParaRPr lang="en-US"/>
        </a:p>
      </dgm:t>
    </dgm:pt>
    <dgm:pt modelId="{62EDEBB4-E5FC-43EC-99D8-DCC3EEB1CF8A}" cxnId="{E3E600D6-5EEE-4311-B108-2CB7584C46CC}" type="sibTrans">
      <dgm:prSet/>
      <dgm:spPr/>
      <dgm:t>
        <a:bodyPr/>
        <a:lstStyle/>
        <a:p>
          <a:endParaRPr lang="en-US"/>
        </a:p>
      </dgm:t>
    </dgm:pt>
    <dgm:pt modelId="{267FA19E-A8FA-44BA-B2C7-A6DF1DECE0F5}">
      <dgm:prSet phldrT="[Text]" custT="1">
        <dgm:style>
          <a:lnRef idx="2">
            <a:schemeClr val="dk1"/>
          </a:lnRef>
          <a:fillRef idx="1">
            <a:schemeClr val="lt1"/>
          </a:fillRef>
          <a:effectRef idx="0">
            <a:schemeClr val="dk1"/>
          </a:effectRef>
          <a:fontRef idx="minor">
            <a:schemeClr val="dk1"/>
          </a:fontRef>
        </dgm:style>
      </dgm:prSet>
      <dgm:spPr/>
      <dgm:t>
        <a:bodyPr/>
        <a:lstStyle/>
        <a:p>
          <a:r>
            <a:rPr lang="en-US" sz="2000" dirty="0"/>
            <a:t>What key thought do you want your audience to  remember?</a:t>
          </a:r>
        </a:p>
      </dgm:t>
    </dgm:pt>
    <dgm:pt modelId="{974FE7C3-E6A5-4C6A-BC2D-B642B4435712}" cxnId="{0BD99777-6460-4849-BDFF-B506F7FFFDBC}" type="parTrans">
      <dgm:prSet/>
      <dgm:spPr/>
      <dgm:t>
        <a:bodyPr/>
        <a:lstStyle/>
        <a:p>
          <a:endParaRPr lang="en-US"/>
        </a:p>
      </dgm:t>
    </dgm:pt>
    <dgm:pt modelId="{4D6D7EDB-7180-480F-9F36-2AE114493246}" cxnId="{0BD99777-6460-4849-BDFF-B506F7FFFDBC}" type="sibTrans">
      <dgm:prSet/>
      <dgm:spPr/>
      <dgm:t>
        <a:bodyPr/>
        <a:lstStyle/>
        <a:p>
          <a:endParaRPr lang="en-US"/>
        </a:p>
      </dgm:t>
    </dgm:pt>
    <dgm:pt modelId="{FA9DC3FC-5D89-4B9C-AFFC-1C821C916342}">
      <dgm:prSet phldrT="[Text]" custT="1">
        <dgm:style>
          <a:lnRef idx="2">
            <a:schemeClr val="dk1"/>
          </a:lnRef>
          <a:fillRef idx="1">
            <a:schemeClr val="lt1"/>
          </a:fillRef>
          <a:effectRef idx="0">
            <a:schemeClr val="dk1"/>
          </a:effectRef>
          <a:fontRef idx="minor">
            <a:schemeClr val="dk1"/>
          </a:fontRef>
        </dgm:style>
      </dgm:prSet>
      <dgm:spPr/>
      <dgm:t>
        <a:bodyPr/>
        <a:lstStyle/>
        <a:p>
          <a:r>
            <a:rPr lang="en-US" sz="2000" dirty="0"/>
            <a:t>Who is your Audience?</a:t>
          </a:r>
          <a:endParaRPr lang="en-US" sz="3200" dirty="0"/>
        </a:p>
      </dgm:t>
    </dgm:pt>
    <dgm:pt modelId="{87592DE0-421D-4956-B435-BE503797CE5D}" cxnId="{964CAC89-5309-451E-A05C-93D17EA3E3AF}" type="parTrans">
      <dgm:prSet/>
      <dgm:spPr/>
      <dgm:t>
        <a:bodyPr/>
        <a:lstStyle/>
        <a:p>
          <a:endParaRPr lang="en-US"/>
        </a:p>
      </dgm:t>
    </dgm:pt>
    <dgm:pt modelId="{12423B1E-EAE9-44E2-9500-BB672416F7B9}" cxnId="{964CAC89-5309-451E-A05C-93D17EA3E3AF}" type="sibTrans">
      <dgm:prSet/>
      <dgm:spPr/>
      <dgm:t>
        <a:bodyPr/>
        <a:lstStyle/>
        <a:p>
          <a:endParaRPr lang="en-US"/>
        </a:p>
      </dgm:t>
    </dgm:pt>
    <dgm:pt modelId="{104FB19A-8A28-47B9-9C0E-CD57BA3816EE}">
      <dgm:prSet custT="1">
        <dgm:style>
          <a:lnRef idx="2">
            <a:schemeClr val="dk1"/>
          </a:lnRef>
          <a:fillRef idx="1">
            <a:schemeClr val="lt1"/>
          </a:fillRef>
          <a:effectRef idx="0">
            <a:schemeClr val="dk1"/>
          </a:effectRef>
          <a:fontRef idx="minor">
            <a:schemeClr val="dk1"/>
          </a:fontRef>
        </dgm:style>
      </dgm:prSet>
      <dgm:spPr/>
      <dgm:t>
        <a:bodyPr/>
        <a:lstStyle/>
        <a:p>
          <a:r>
            <a:rPr lang="en-US" sz="2000" dirty="0"/>
            <a:t>How you will communicate your thoughts to your audience?</a:t>
          </a:r>
        </a:p>
      </dgm:t>
    </dgm:pt>
    <dgm:pt modelId="{6E1EBCD4-FAC7-4BBC-9725-523F86872A5D}" cxnId="{1524CB82-46A3-4903-8A1F-3D63D2AF2CAE}" type="parTrans">
      <dgm:prSet/>
      <dgm:spPr/>
      <dgm:t>
        <a:bodyPr/>
        <a:lstStyle/>
        <a:p>
          <a:endParaRPr lang="en-US"/>
        </a:p>
      </dgm:t>
    </dgm:pt>
    <dgm:pt modelId="{7894B7DF-2642-4787-8D73-9608BA10C8A7}" cxnId="{1524CB82-46A3-4903-8A1F-3D63D2AF2CAE}" type="sibTrans">
      <dgm:prSet/>
      <dgm:spPr/>
      <dgm:t>
        <a:bodyPr/>
        <a:lstStyle/>
        <a:p>
          <a:endParaRPr lang="en-US"/>
        </a:p>
      </dgm:t>
    </dgm:pt>
    <dgm:pt modelId="{E8B65C39-116A-4717-BADE-22FC825020B8}" type="pres">
      <dgm:prSet presAssocID="{C8DDD054-1DDB-4385-9715-7280E4A1C17C}" presName="compositeShape" presStyleCnt="0">
        <dgm:presLayoutVars>
          <dgm:chMax val="7"/>
          <dgm:dir/>
          <dgm:resizeHandles val="exact"/>
        </dgm:presLayoutVars>
      </dgm:prSet>
      <dgm:spPr/>
    </dgm:pt>
    <dgm:pt modelId="{E8AF5208-ABF1-4481-88B9-E58EA8E151AB}" type="pres">
      <dgm:prSet presAssocID="{C8DDD054-1DDB-4385-9715-7280E4A1C17C}" presName="wedge1" presStyleLbl="node1" presStyleIdx="0" presStyleCnt="4" custScaleX="116789" custScaleY="102158" custLinFactNeighborX="-10968" custLinFactNeighborY="3993"/>
      <dgm:spPr/>
    </dgm:pt>
    <dgm:pt modelId="{EB6CDF04-90D3-48C2-87EE-BDCABF80674D}" type="pres">
      <dgm:prSet presAssocID="{C8DDD054-1DDB-4385-9715-7280E4A1C17C}" presName="wedge1Tx" presStyleLbl="node1" presStyleIdx="0" presStyleCnt="4">
        <dgm:presLayoutVars>
          <dgm:chMax val="0"/>
          <dgm:chPref val="0"/>
          <dgm:bulletEnabled val="1"/>
        </dgm:presLayoutVars>
      </dgm:prSet>
      <dgm:spPr/>
    </dgm:pt>
    <dgm:pt modelId="{ED0C99CA-DB5E-4DCA-B79D-BD81A9D4327C}" type="pres">
      <dgm:prSet presAssocID="{C8DDD054-1DDB-4385-9715-7280E4A1C17C}" presName="wedge2" presStyleLbl="node1" presStyleIdx="1" presStyleCnt="4" custScaleX="118580" custScaleY="100908" custLinFactNeighborX="-6782" custLinFactNeighborY="-444"/>
      <dgm:spPr/>
    </dgm:pt>
    <dgm:pt modelId="{BB4D4E33-94C0-4E93-A1CD-E70F9F9032E2}" type="pres">
      <dgm:prSet presAssocID="{C8DDD054-1DDB-4385-9715-7280E4A1C17C}" presName="wedge2Tx" presStyleLbl="node1" presStyleIdx="1" presStyleCnt="4">
        <dgm:presLayoutVars>
          <dgm:chMax val="0"/>
          <dgm:chPref val="0"/>
          <dgm:bulletEnabled val="1"/>
        </dgm:presLayoutVars>
      </dgm:prSet>
      <dgm:spPr/>
    </dgm:pt>
    <dgm:pt modelId="{E5DF4A75-71E9-43BA-8AEE-C9B449660A5E}" type="pres">
      <dgm:prSet presAssocID="{C8DDD054-1DDB-4385-9715-7280E4A1C17C}" presName="wedge3" presStyleLbl="node1" presStyleIdx="2" presStyleCnt="4" custScaleX="119133" custScaleY="101093" custLinFactNeighborX="-3805" custLinFactNeighborY="9"/>
      <dgm:spPr/>
    </dgm:pt>
    <dgm:pt modelId="{DC2E64A9-3CD7-458B-B3E6-D690EEEF6693}" type="pres">
      <dgm:prSet presAssocID="{C8DDD054-1DDB-4385-9715-7280E4A1C17C}" presName="wedge3Tx" presStyleLbl="node1" presStyleIdx="2" presStyleCnt="4">
        <dgm:presLayoutVars>
          <dgm:chMax val="0"/>
          <dgm:chPref val="0"/>
          <dgm:bulletEnabled val="1"/>
        </dgm:presLayoutVars>
      </dgm:prSet>
      <dgm:spPr/>
    </dgm:pt>
    <dgm:pt modelId="{FAE523ED-ED4D-47B6-B591-7C1F64B20B83}" type="pres">
      <dgm:prSet presAssocID="{C8DDD054-1DDB-4385-9715-7280E4A1C17C}" presName="wedge4" presStyleLbl="node1" presStyleIdx="3" presStyleCnt="4" custScaleX="111636" custScaleY="101504" custLinFactNeighborX="-6877" custLinFactNeighborY="-265"/>
      <dgm:spPr/>
    </dgm:pt>
    <dgm:pt modelId="{6F6AB673-14AA-4CB8-A4E2-BBCF81238F73}" type="pres">
      <dgm:prSet presAssocID="{C8DDD054-1DDB-4385-9715-7280E4A1C17C}" presName="wedge4Tx" presStyleLbl="node1" presStyleIdx="3" presStyleCnt="4">
        <dgm:presLayoutVars>
          <dgm:chMax val="0"/>
          <dgm:chPref val="0"/>
          <dgm:bulletEnabled val="1"/>
        </dgm:presLayoutVars>
      </dgm:prSet>
      <dgm:spPr/>
    </dgm:pt>
  </dgm:ptLst>
  <dgm:cxnLst>
    <dgm:cxn modelId="{B8548906-1998-413B-BE8C-2901D807737C}" type="presOf" srcId="{267FA19E-A8FA-44BA-B2C7-A6DF1DECE0F5}" destId="{E5DF4A75-71E9-43BA-8AEE-C9B449660A5E}" srcOrd="0" destOrd="0" presId="urn:microsoft.com/office/officeart/2005/8/layout/chart3"/>
    <dgm:cxn modelId="{3514FB18-0CBB-4786-8AAB-C5742FCB3E97}" type="presOf" srcId="{104FB19A-8A28-47B9-9C0E-CD57BA3816EE}" destId="{ED0C99CA-DB5E-4DCA-B79D-BD81A9D4327C}" srcOrd="0" destOrd="0" presId="urn:microsoft.com/office/officeart/2005/8/layout/chart3"/>
    <dgm:cxn modelId="{98D4E446-10CA-4CC2-B539-160CDE716104}" type="presOf" srcId="{C8DDD054-1DDB-4385-9715-7280E4A1C17C}" destId="{E8B65C39-116A-4717-BADE-22FC825020B8}" srcOrd="0" destOrd="0" presId="urn:microsoft.com/office/officeart/2005/8/layout/chart3"/>
    <dgm:cxn modelId="{CB8B9C68-D1A2-4651-B6CD-9C632C873F55}" type="presOf" srcId="{267FA19E-A8FA-44BA-B2C7-A6DF1DECE0F5}" destId="{DC2E64A9-3CD7-458B-B3E6-D690EEEF6693}" srcOrd="1" destOrd="0" presId="urn:microsoft.com/office/officeart/2005/8/layout/chart3"/>
    <dgm:cxn modelId="{0BD99777-6460-4849-BDFF-B506F7FFFDBC}" srcId="{C8DDD054-1DDB-4385-9715-7280E4A1C17C}" destId="{267FA19E-A8FA-44BA-B2C7-A6DF1DECE0F5}" srcOrd="2" destOrd="0" parTransId="{974FE7C3-E6A5-4C6A-BC2D-B642B4435712}" sibTransId="{4D6D7EDB-7180-480F-9F36-2AE114493246}"/>
    <dgm:cxn modelId="{651BED79-9B43-41BC-949E-1A25EBCC5651}" type="presOf" srcId="{517E435D-FDCA-4039-A9CA-0EBAE11361D0}" destId="{E8AF5208-ABF1-4481-88B9-E58EA8E151AB}" srcOrd="0" destOrd="0" presId="urn:microsoft.com/office/officeart/2005/8/layout/chart3"/>
    <dgm:cxn modelId="{1524CB82-46A3-4903-8A1F-3D63D2AF2CAE}" srcId="{C8DDD054-1DDB-4385-9715-7280E4A1C17C}" destId="{104FB19A-8A28-47B9-9C0E-CD57BA3816EE}" srcOrd="1" destOrd="0" parTransId="{6E1EBCD4-FAC7-4BBC-9725-523F86872A5D}" sibTransId="{7894B7DF-2642-4787-8D73-9608BA10C8A7}"/>
    <dgm:cxn modelId="{964CAC89-5309-451E-A05C-93D17EA3E3AF}" srcId="{C8DDD054-1DDB-4385-9715-7280E4A1C17C}" destId="{FA9DC3FC-5D89-4B9C-AFFC-1C821C916342}" srcOrd="3" destOrd="0" parTransId="{87592DE0-421D-4956-B435-BE503797CE5D}" sibTransId="{12423B1E-EAE9-44E2-9500-BB672416F7B9}"/>
    <dgm:cxn modelId="{565327BA-BA20-4516-A52B-392C3FB0E64D}" type="presOf" srcId="{517E435D-FDCA-4039-A9CA-0EBAE11361D0}" destId="{EB6CDF04-90D3-48C2-87EE-BDCABF80674D}" srcOrd="1" destOrd="0" presId="urn:microsoft.com/office/officeart/2005/8/layout/chart3"/>
    <dgm:cxn modelId="{C64934BE-44A8-4C29-9BBE-A94668EEEC84}" type="presOf" srcId="{FA9DC3FC-5D89-4B9C-AFFC-1C821C916342}" destId="{FAE523ED-ED4D-47B6-B591-7C1F64B20B83}" srcOrd="0" destOrd="0" presId="urn:microsoft.com/office/officeart/2005/8/layout/chart3"/>
    <dgm:cxn modelId="{E3E600D6-5EEE-4311-B108-2CB7584C46CC}" srcId="{C8DDD054-1DDB-4385-9715-7280E4A1C17C}" destId="{517E435D-FDCA-4039-A9CA-0EBAE11361D0}" srcOrd="0" destOrd="0" parTransId="{FDFC2722-5295-4590-A61D-ADD8426B7577}" sibTransId="{62EDEBB4-E5FC-43EC-99D8-DCC3EEB1CF8A}"/>
    <dgm:cxn modelId="{3900AEFA-A4F6-4A42-BA32-B7B6B230AB61}" type="presOf" srcId="{104FB19A-8A28-47B9-9C0E-CD57BA3816EE}" destId="{BB4D4E33-94C0-4E93-A1CD-E70F9F9032E2}" srcOrd="1" destOrd="0" presId="urn:microsoft.com/office/officeart/2005/8/layout/chart3"/>
    <dgm:cxn modelId="{597F16FC-0CCA-4DD6-95C3-6B5A12814C3A}" type="presOf" srcId="{FA9DC3FC-5D89-4B9C-AFFC-1C821C916342}" destId="{6F6AB673-14AA-4CB8-A4E2-BBCF81238F73}" srcOrd="1" destOrd="0" presId="urn:microsoft.com/office/officeart/2005/8/layout/chart3"/>
    <dgm:cxn modelId="{FCC846CE-D23C-43AE-8B52-8796C2466147}" type="presParOf" srcId="{E8B65C39-116A-4717-BADE-22FC825020B8}" destId="{E8AF5208-ABF1-4481-88B9-E58EA8E151AB}" srcOrd="0" destOrd="0" presId="urn:microsoft.com/office/officeart/2005/8/layout/chart3"/>
    <dgm:cxn modelId="{8EC8D402-23F7-4B31-8338-A7EB66F2519D}" type="presParOf" srcId="{E8B65C39-116A-4717-BADE-22FC825020B8}" destId="{EB6CDF04-90D3-48C2-87EE-BDCABF80674D}" srcOrd="1" destOrd="0" presId="urn:microsoft.com/office/officeart/2005/8/layout/chart3"/>
    <dgm:cxn modelId="{6D9AF02A-C3CB-4119-B1F0-5315361A6EE4}" type="presParOf" srcId="{E8B65C39-116A-4717-BADE-22FC825020B8}" destId="{ED0C99CA-DB5E-4DCA-B79D-BD81A9D4327C}" srcOrd="2" destOrd="0" presId="urn:microsoft.com/office/officeart/2005/8/layout/chart3"/>
    <dgm:cxn modelId="{977BE065-25BB-4965-9E9A-60C2E3EB742D}" type="presParOf" srcId="{E8B65C39-116A-4717-BADE-22FC825020B8}" destId="{BB4D4E33-94C0-4E93-A1CD-E70F9F9032E2}" srcOrd="3" destOrd="0" presId="urn:microsoft.com/office/officeart/2005/8/layout/chart3"/>
    <dgm:cxn modelId="{03E7DBC3-D435-4B4C-BB77-B8C190BCA795}" type="presParOf" srcId="{E8B65C39-116A-4717-BADE-22FC825020B8}" destId="{E5DF4A75-71E9-43BA-8AEE-C9B449660A5E}" srcOrd="4" destOrd="0" presId="urn:microsoft.com/office/officeart/2005/8/layout/chart3"/>
    <dgm:cxn modelId="{494A0861-99D0-49E5-9FD4-A60DBCE529C0}" type="presParOf" srcId="{E8B65C39-116A-4717-BADE-22FC825020B8}" destId="{DC2E64A9-3CD7-458B-B3E6-D690EEEF6693}" srcOrd="5" destOrd="0" presId="urn:microsoft.com/office/officeart/2005/8/layout/chart3"/>
    <dgm:cxn modelId="{940C8B15-E93F-4E17-9381-1CCFB67F8755}" type="presParOf" srcId="{E8B65C39-116A-4717-BADE-22FC825020B8}" destId="{FAE523ED-ED4D-47B6-B591-7C1F64B20B83}" srcOrd="6" destOrd="0" presId="urn:microsoft.com/office/officeart/2005/8/layout/chart3"/>
    <dgm:cxn modelId="{7525774C-1CAD-4AB3-99F9-904E98B4963D}" type="presParOf" srcId="{E8B65C39-116A-4717-BADE-22FC825020B8}" destId="{6F6AB673-14AA-4CB8-A4E2-BBCF81238F73}" srcOrd="7" destOrd="0" presId="urn:microsoft.com/office/officeart/2005/8/layout/char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4642193" cy="4642193"/>
        <a:chOff x="0" y="0"/>
        <a:chExt cx="4642193" cy="4642193"/>
      </a:xfrm>
    </dsp:grpSpPr>
    <dsp:sp modelId="{E8AF5208-ABF1-4481-88B9-E58EA8E151AB}">
      <dsp:nvSpPr>
        <dsp:cNvPr id="3" name="Pie 2"/>
        <dsp:cNvSpPr/>
      </dsp:nvSpPr>
      <dsp:spPr bwMode="white">
        <a:xfrm>
          <a:off x="2869372" y="402838"/>
          <a:ext cx="4554119" cy="3983592"/>
        </a:xfrm>
        <a:prstGeom prst="pie">
          <a:avLst>
            <a:gd name="adj1" fmla="val 16200000"/>
            <a:gd name="adj2" fmla="val 0"/>
          </a:avLst>
        </a:prstGeom>
      </dsp:spPr>
      <dsp:style>
        <a:lnRef idx="2">
          <a:schemeClr val="dk1"/>
        </a:lnRef>
        <a:fillRef idx="1">
          <a:schemeClr val="lt1"/>
        </a:fillRef>
        <a:effectRef idx="0">
          <a:schemeClr val="dk1"/>
        </a:effectRef>
        <a:fontRef idx="minor">
          <a:schemeClr val="dk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a:t>What do you want from your audience?</a:t>
          </a:r>
        </a:p>
      </dsp:txBody>
      <dsp:txXfrm>
        <a:off x="2869372" y="402838"/>
        <a:ext cx="4554119" cy="3983592"/>
      </dsp:txXfrm>
    </dsp:sp>
    <dsp:sp modelId="{ED0C99CA-DB5E-4DCA-B79D-BD81A9D4327C}">
      <dsp:nvSpPr>
        <dsp:cNvPr id="4" name="Pie 3"/>
        <dsp:cNvSpPr/>
      </dsp:nvSpPr>
      <dsp:spPr bwMode="white">
        <a:xfrm>
          <a:off x="2833350" y="418525"/>
          <a:ext cx="4623958" cy="3934849"/>
        </a:xfrm>
        <a:prstGeom prst="pie">
          <a:avLst>
            <a:gd name="adj1" fmla="val 0"/>
            <a:gd name="adj2" fmla="val 5400000"/>
          </a:avLst>
        </a:prstGeom>
      </dsp:spPr>
      <dsp:style>
        <a:lnRef idx="2">
          <a:schemeClr val="dk1"/>
        </a:lnRef>
        <a:fillRef idx="1">
          <a:schemeClr val="lt1"/>
        </a:fillRef>
        <a:effectRef idx="0">
          <a:schemeClr val="dk1"/>
        </a:effectRef>
        <a:fontRef idx="minor">
          <a:schemeClr val="dk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a:t>How you will communicate your thoughts to your audience?</a:t>
          </a:r>
        </a:p>
      </dsp:txBody>
      <dsp:txXfrm>
        <a:off x="2833350" y="418525"/>
        <a:ext cx="4623958" cy="3934849"/>
      </dsp:txXfrm>
    </dsp:sp>
    <dsp:sp modelId="{E5DF4A75-71E9-43BA-8AEE-C9B449660A5E}">
      <dsp:nvSpPr>
        <dsp:cNvPr id="5" name="Pie 4"/>
        <dsp:cNvSpPr/>
      </dsp:nvSpPr>
      <dsp:spPr bwMode="white">
        <a:xfrm>
          <a:off x="2938654" y="432583"/>
          <a:ext cx="4645522" cy="3942063"/>
        </a:xfrm>
        <a:prstGeom prst="pie">
          <a:avLst>
            <a:gd name="adj1" fmla="val 5400000"/>
            <a:gd name="adj2" fmla="val 10800000"/>
          </a:avLst>
        </a:prstGeom>
      </dsp:spPr>
      <dsp:style>
        <a:lnRef idx="2">
          <a:schemeClr val="dk1"/>
        </a:lnRef>
        <a:fillRef idx="1">
          <a:schemeClr val="lt1"/>
        </a:fillRef>
        <a:effectRef idx="0">
          <a:schemeClr val="dk1"/>
        </a:effectRef>
        <a:fontRef idx="minor">
          <a:schemeClr val="dk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a:t>What key thought do you want your audience to  remember?</a:t>
          </a:r>
        </a:p>
      </dsp:txBody>
      <dsp:txXfrm>
        <a:off x="2938654" y="432583"/>
        <a:ext cx="4645522" cy="3942063"/>
      </dsp:txXfrm>
    </dsp:sp>
    <dsp:sp modelId="{FAE523ED-ED4D-47B6-B591-7C1F64B20B83}">
      <dsp:nvSpPr>
        <dsp:cNvPr id="6" name="Pie 5"/>
        <dsp:cNvSpPr/>
      </dsp:nvSpPr>
      <dsp:spPr bwMode="white">
        <a:xfrm>
          <a:off x="2965034" y="413885"/>
          <a:ext cx="4353181" cy="3958090"/>
        </a:xfrm>
        <a:prstGeom prst="pie">
          <a:avLst>
            <a:gd name="adj1" fmla="val 10800000"/>
            <a:gd name="adj2" fmla="val 16200000"/>
          </a:avLst>
        </a:prstGeom>
      </dsp:spPr>
      <dsp:style>
        <a:lnRef idx="2">
          <a:schemeClr val="dk1"/>
        </a:lnRef>
        <a:fillRef idx="1">
          <a:schemeClr val="lt1"/>
        </a:fillRef>
        <a:effectRef idx="0">
          <a:schemeClr val="dk1"/>
        </a:effectRef>
        <a:fontRef idx="minor">
          <a:schemeClr val="dk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a:t>Who is your Audience?</a:t>
          </a:r>
          <a:endParaRPr lang="en-US" sz="3200" dirty="0"/>
        </a:p>
      </dsp:txBody>
      <dsp:txXfrm>
        <a:off x="2965034" y="413885"/>
        <a:ext cx="4353181" cy="3958090"/>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ar" val="1"/>
      <dgm:param type="vertAlign" val="mid"/>
      <dgm:param type="horzAlign" val="ctr"/>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5764CF-3664-45D0-9B27-4222DB1A6BA7}"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8CD4AB-B9A2-4248-B31F-8EBC71546D8D}"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F7E720-7243-402E-A0D4-CE3189C951A5}"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BE9C73-6CDE-45E2-97F8-E3C5308FA232}"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BE9C73-6CDE-45E2-97F8-E3C5308FA232}"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BE9C73-6CDE-45E2-97F8-E3C5308FA232}" type="slidenum">
              <a:rPr lang="en-US" smtClean="0"/>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BE9C73-6CDE-45E2-97F8-E3C5308FA232}" type="slidenum">
              <a:rPr lang="en-US" smtClean="0"/>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BE9C73-6CDE-45E2-97F8-E3C5308FA232}" type="slidenum">
              <a:rPr lang="en-US" smtClean="0"/>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BE9C73-6CDE-45E2-97F8-E3C5308FA232}" type="slidenum">
              <a:rPr lang="en-US" smtClean="0"/>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BE9C73-6CDE-45E2-97F8-E3C5308FA232}" type="slidenum">
              <a:rPr lang="en-US" smtClean="0"/>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BE9C73-6CDE-45E2-97F8-E3C5308FA232}" type="slidenum">
              <a:rPr lang="en-US" smtClean="0"/>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BE9C73-6CDE-45E2-97F8-E3C5308FA232}" type="slidenum">
              <a:rPr lang="en-US" smtClean="0"/>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BE9C73-6CDE-45E2-97F8-E3C5308FA232}"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345"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2" name="Picture Placeholder 11"/>
          <p:cNvSpPr>
            <a:spLocks noGrp="1"/>
          </p:cNvSpPr>
          <p:nvPr>
            <p:ph type="pic" sz="quarter" idx="14"/>
          </p:nvPr>
        </p:nvSpPr>
        <p:spPr>
          <a:xfrm>
            <a:off x="233400" y="246600"/>
            <a:ext cx="11725200" cy="6364800"/>
          </a:xfrm>
        </p:spPr>
        <p:txBody>
          <a:bodyPr anchor="ctr" anchorCtr="0"/>
          <a:lstStyle>
            <a:lvl1pPr marL="0" indent="0" algn="ctr">
              <a:buNone/>
              <a:defRPr/>
            </a:lvl1pPr>
          </a:lstStyle>
          <a:p>
            <a:r>
              <a:rPr lang="en-US"/>
              <a:t>Click icon to add picture</a:t>
            </a:r>
            <a:endParaRPr lang="ru-RU"/>
          </a:p>
        </p:txBody>
      </p:sp>
      <p:sp>
        <p:nvSpPr>
          <p:cNvPr id="10" name="Picture Placeholder 9"/>
          <p:cNvSpPr>
            <a:spLocks noGrp="1"/>
          </p:cNvSpPr>
          <p:nvPr>
            <p:ph type="pic" sz="quarter" idx="13"/>
          </p:nvPr>
        </p:nvSpPr>
        <p:spPr>
          <a:xfrm>
            <a:off x="852488" y="2103438"/>
            <a:ext cx="5243512" cy="3748087"/>
          </a:xfrm>
        </p:spPr>
        <p:txBody>
          <a:bodyPr anchor="ctr" anchorCtr="0"/>
          <a:lstStyle>
            <a:lvl1pPr marL="0" indent="0" algn="ctr">
              <a:buNone/>
              <a:defRPr/>
            </a:lvl1pPr>
          </a:lstStyle>
          <a:p>
            <a:r>
              <a:rPr lang="en-US"/>
              <a:t>Click icon to add picture</a:t>
            </a:r>
            <a:endParaRPr lang="ru-RU" dirty="0"/>
          </a:p>
        </p:txBody>
      </p:sp>
      <p:sp>
        <p:nvSpPr>
          <p:cNvPr id="8" name="Title 7"/>
          <p:cNvSpPr>
            <a:spLocks noGrp="1"/>
          </p:cNvSpPr>
          <p:nvPr>
            <p:ph type="title"/>
          </p:nvPr>
        </p:nvSpPr>
        <p:spPr/>
        <p:txBody>
          <a:bodyPr/>
          <a:lstStyle>
            <a:lvl1pPr>
              <a:defRPr>
                <a:solidFill>
                  <a:schemeClr val="bg2">
                    <a:lumMod val="50000"/>
                  </a:schemeClr>
                </a:solidFill>
              </a:defRPr>
            </a:lvl1pPr>
          </a:lstStyle>
          <a:p>
            <a:r>
              <a:rPr lang="en-US"/>
              <a:t>Click to edit Master title style</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0" name="Rectangle 9"/>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showMasterSp="0">
  <p:cSld name="1_Content with Caption">
    <p:spTree>
      <p:nvGrpSpPr>
        <p:cNvPr id="1" name=""/>
        <p:cNvGrpSpPr/>
        <p:nvPr/>
      </p:nvGrpSpPr>
      <p:grpSpPr>
        <a:xfrm>
          <a:off x="0" y="0"/>
          <a:ext cx="0" cy="0"/>
          <a:chOff x="0" y="0"/>
          <a:chExt cx="0" cy="0"/>
        </a:xfrm>
      </p:grpSpPr>
      <p:sp>
        <p:nvSpPr>
          <p:cNvPr id="10" name="Rectangle 9"/>
          <p:cNvSpPr/>
          <p:nvPr/>
        </p:nvSpPr>
        <p:spPr>
          <a:xfrm>
            <a:off x="8119870" y="237744"/>
            <a:ext cx="3826596" cy="6382512"/>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8254660" y="374904"/>
            <a:ext cx="3557016" cy="6108192"/>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Autofit/>
          </a:bodyPr>
          <a:lstStyle>
            <a:lvl1pPr algn="l" defTabSz="914400" rtl="0" eaLnBrk="1" latinLnBrk="0" hangingPunct="1">
              <a:lnSpc>
                <a:spcPct val="100000"/>
              </a:lnSpc>
              <a:spcBef>
                <a:spcPct val="0"/>
              </a:spcBef>
              <a:buNone/>
              <a:defRPr lang="en-US" sz="4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bg1">
                    <a:lumMod val="9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1_Picture with Caption">
    <p:spTree>
      <p:nvGrpSpPr>
        <p:cNvPr id="1" name=""/>
        <p:cNvGrpSpPr/>
        <p:nvPr/>
      </p:nvGrpSpPr>
      <p:grpSpPr>
        <a:xfrm>
          <a:off x="0" y="0"/>
          <a:ext cx="0" cy="0"/>
          <a:chOff x="0" y="0"/>
          <a:chExt cx="0" cy="0"/>
        </a:xfrm>
      </p:grpSpPr>
      <p:sp>
        <p:nvSpPr>
          <p:cNvPr id="25" name="Rectangle 24"/>
          <p:cNvSpPr/>
          <p:nvPr userDrawn="1"/>
        </p:nvSpPr>
        <p:spPr>
          <a:xfrm>
            <a:off x="948394" y="941695"/>
            <a:ext cx="5452526" cy="497461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23"/>
          <p:cNvSpPr>
            <a:spLocks noGrp="1"/>
          </p:cNvSpPr>
          <p:nvPr>
            <p:ph type="pic" sz="quarter" idx="14"/>
          </p:nvPr>
        </p:nvSpPr>
        <p:spPr>
          <a:xfrm>
            <a:off x="0" y="0"/>
            <a:ext cx="12192000" cy="6858000"/>
          </a:xfrm>
          <a:custGeom>
            <a:avLst/>
            <a:gdLst>
              <a:gd name="connsiteX0" fmla="*/ 948394 w 12192000"/>
              <a:gd name="connsiteY0" fmla="*/ 941695 h 6858000"/>
              <a:gd name="connsiteX1" fmla="*/ 948394 w 12192000"/>
              <a:gd name="connsiteY1" fmla="*/ 5916305 h 6858000"/>
              <a:gd name="connsiteX2" fmla="*/ 6400920 w 12192000"/>
              <a:gd name="connsiteY2" fmla="*/ 5916305 h 6858000"/>
              <a:gd name="connsiteX3" fmla="*/ 6400920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48394" y="941695"/>
                </a:moveTo>
                <a:lnTo>
                  <a:pt x="948394" y="5916305"/>
                </a:lnTo>
                <a:lnTo>
                  <a:pt x="6400920" y="5916305"/>
                </a:lnTo>
                <a:lnTo>
                  <a:pt x="6400920" y="941695"/>
                </a:lnTo>
                <a:close/>
                <a:moveTo>
                  <a:pt x="0" y="0"/>
                </a:moveTo>
                <a:lnTo>
                  <a:pt x="12192000" y="0"/>
                </a:lnTo>
                <a:lnTo>
                  <a:pt x="12192000" y="6858000"/>
                </a:lnTo>
                <a:lnTo>
                  <a:pt x="0" y="6858000"/>
                </a:lnTo>
                <a:close/>
              </a:path>
            </a:pathLst>
          </a:custGeom>
          <a:solidFill>
            <a:schemeClr val="accent1">
              <a:lumMod val="60000"/>
              <a:lumOff val="40000"/>
            </a:schemeClr>
          </a:solidFill>
        </p:spPr>
        <p:txBody>
          <a:bodyPr wrap="square">
            <a:noAutofit/>
          </a:bodyPr>
          <a:lstStyle>
            <a:lvl1pPr marL="0" indent="0" algn="ctr">
              <a:buNone/>
              <a:defRPr/>
            </a:lvl1pPr>
          </a:lstStyle>
          <a:p>
            <a:r>
              <a:rPr lang="en-US" noProof="0"/>
              <a:t>Click icon to add picture</a:t>
            </a:r>
            <a:endParaRPr lang="en-US" noProof="0" dirty="0"/>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noProof="0" smtClean="0"/>
            </a:fld>
            <a:endParaRPr lang="en-US" noProof="0"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noProof="0"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noProof="0" smtClean="0"/>
            </a:fld>
            <a:endParaRPr lang="en-US" noProof="0" dirty="0"/>
          </a:p>
        </p:txBody>
      </p:sp>
      <p:sp>
        <p:nvSpPr>
          <p:cNvPr id="22" name="Content Placeholder 3"/>
          <p:cNvSpPr>
            <a:spLocks noGrp="1"/>
          </p:cNvSpPr>
          <p:nvPr>
            <p:ph sz="half" idx="13"/>
          </p:nvPr>
        </p:nvSpPr>
        <p:spPr>
          <a:xfrm>
            <a:off x="1357950" y="2852792"/>
            <a:ext cx="4633415" cy="2572193"/>
          </a:xfrm>
        </p:spPr>
        <p:txBody>
          <a:bodyPr vert="horz" lIns="91440" tIns="45720" rIns="91440" bIns="45720" rtlCol="0">
            <a:normAutofit/>
          </a:bodyPr>
          <a:lstStyle>
            <a:lvl1pPr marL="0" indent="0">
              <a:buNone/>
              <a:defRPr>
                <a:solidFill>
                  <a:schemeClr val="bg1"/>
                </a:solidFill>
              </a:defRPr>
            </a:lvl1pPr>
          </a:lstStyle>
          <a:p>
            <a:pPr lvl="0"/>
            <a:r>
              <a:rPr lang="en-US" noProof="0"/>
              <a:t>Click to edit Master text styles</a:t>
            </a:r>
            <a:endParaRPr lang="en-US" noProof="0"/>
          </a:p>
        </p:txBody>
      </p:sp>
      <p:sp>
        <p:nvSpPr>
          <p:cNvPr id="23" name="Rectangle 22"/>
          <p:cNvSpPr/>
          <p:nvPr userDrawn="1"/>
        </p:nvSpPr>
        <p:spPr>
          <a:xfrm>
            <a:off x="1101715" y="1106424"/>
            <a:ext cx="5120640" cy="46451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1357950" y="1352804"/>
            <a:ext cx="4633415" cy="1333641"/>
          </a:xfrm>
        </p:spPr>
        <p:txBody>
          <a:bodyPr anchor="b">
            <a:normAutofit/>
          </a:bodyPr>
          <a:lstStyle>
            <a:lvl1pPr algn="l" defTabSz="914400" rtl="0" eaLnBrk="1" latinLnBrk="0" hangingPunct="1">
              <a:lnSpc>
                <a:spcPct val="100000"/>
              </a:lnSpc>
              <a:spcBef>
                <a:spcPct val="0"/>
              </a:spcBef>
              <a:buNone/>
              <a:defRPr lang="en-US" sz="4800" b="0" kern="1200" cap="none" spc="0" baseline="0" dirty="0">
                <a:solidFill>
                  <a:schemeClr val="bg1"/>
                </a:solidFill>
                <a:effectLst/>
                <a:latin typeface="+mj-lt"/>
                <a:ea typeface="+mn-ea"/>
                <a:cs typeface="+mn-cs"/>
              </a:defRPr>
            </a:lvl1pPr>
          </a:lstStyle>
          <a:p>
            <a:r>
              <a:rPr lang="en-US" noProof="0"/>
              <a:t>Click to edit Master title style</a:t>
            </a:r>
            <a:endParaRPr lang="en-US"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1" name="Rectangle 10"/>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fld>
            <a:endParaRPr lang="en-US" dirty="0"/>
          </a:p>
        </p:txBody>
      </p:sp>
      <p:sp>
        <p:nvSpPr>
          <p:cNvPr id="12" name="Rectangle 11"/>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anose="02020404030301010803"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5pPr>
      <a:lvl6pPr marL="1600200"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6pPr>
      <a:lvl7pPr marL="1899920"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7pPr>
      <a:lvl8pPr marL="2200275"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8pPr>
      <a:lvl9pPr marL="2499995"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hyperlink" Target="https://www.aeseducation.com/blog/what-are-21st-century-skills" TargetMode="External"/><Relationship Id="rId4" Type="http://schemas.openxmlformats.org/officeDocument/2006/relationships/hyperlink" Target="https://educircles.org/21st-century-learning-6cs/" TargetMode="External"/><Relationship Id="rId3" Type="http://schemas.openxmlformats.org/officeDocument/2006/relationships/hyperlink" Target="https://www.dol.gov/odep/topics/youth/softskills/SoftSkills-videos.htm" TargetMode="External"/><Relationship Id="rId2" Type="http://schemas.openxmlformats.org/officeDocument/2006/relationships/hyperlink" Target="https://www.aeseducation.com/career-readiness/employability-skills-lesson-plans/" TargetMode="External"/><Relationship Id="rId1" Type="http://schemas.openxmlformats.org/officeDocument/2006/relationships/hyperlink" Target="https://www.dol.gov/odep/topics/youth/softskills/"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Man in headphones with a laptop"/>
          <p:cNvPicPr>
            <a:picLocks noChangeAspect="1"/>
          </p:cNvPicPr>
          <p:nvPr/>
        </p:nvPicPr>
        <p:blipFill>
          <a:blip r:embed="rId1">
            <a:duotone>
              <a:prstClr val="black"/>
              <a:schemeClr val="accent1">
                <a:tint val="45000"/>
                <a:satMod val="400000"/>
              </a:schemeClr>
            </a:duotone>
          </a:blip>
          <a:srcRect/>
          <a:stretch>
            <a:fillRect/>
          </a:stretch>
        </p:blipFill>
        <p:spPr>
          <a:xfrm>
            <a:off x="11" y="11"/>
            <a:ext cx="12191978" cy="6857988"/>
          </a:xfrm>
          <a:prstGeom prst="rect">
            <a:avLst/>
          </a:prstGeom>
        </p:spPr>
      </p:pic>
      <p:sp>
        <p:nvSpPr>
          <p:cNvPr id="11" name="Rectangle 10"/>
          <p:cNvSpPr>
            <a:spLocks noGrp="1" noRot="1" noChangeAspect="1" noMove="1" noResize="1" noEditPoints="1" noAdjustHandles="1" noChangeArrowheads="1" noChangeShapeType="1" noTextEdit="1"/>
          </p:cNvSpPr>
          <p:nvPr/>
        </p:nvSpPr>
        <p:spPr>
          <a:xfrm>
            <a:off x="1307870" y="1267730"/>
            <a:ext cx="9576262" cy="4307950"/>
          </a:xfrm>
          <a:prstGeom prst="rect">
            <a:avLst/>
          </a:prstGeom>
          <a:noFill/>
          <a:ln w="9525" cap="sq" cmpd="sng" algn="ctr">
            <a:solidFill>
              <a:schemeClr val="tx1">
                <a:lumMod val="75000"/>
                <a:lumOff val="25000"/>
              </a:schemeClr>
            </a:solidFill>
            <a:prstDash val="solid"/>
            <a:miter lim="800000"/>
          </a:ln>
          <a:effectLst>
            <a:softEdge rad="0"/>
          </a:effectLst>
        </p:spPr>
      </p:sp>
      <p:sp>
        <p:nvSpPr>
          <p:cNvPr id="2" name="Title 1"/>
          <p:cNvSpPr>
            <a:spLocks noGrp="1"/>
          </p:cNvSpPr>
          <p:nvPr>
            <p:ph type="ctrTitle"/>
          </p:nvPr>
        </p:nvSpPr>
        <p:spPr>
          <a:xfrm>
            <a:off x="1769532" y="2091263"/>
            <a:ext cx="8652938" cy="2461504"/>
          </a:xfrm>
        </p:spPr>
        <p:txBody>
          <a:bodyPr>
            <a:normAutofit/>
          </a:bodyPr>
          <a:lstStyle/>
          <a:p>
            <a:r>
              <a:rPr lang="en-US" dirty="0"/>
              <a:t>COMMUNICATION SKILLS</a:t>
            </a:r>
            <a:endParaRPr lang="ru-RU" dirty="0"/>
          </a:p>
        </p:txBody>
      </p:sp>
      <p:sp>
        <p:nvSpPr>
          <p:cNvPr id="3" name="Subtitle 2"/>
          <p:cNvSpPr>
            <a:spLocks noGrp="1"/>
          </p:cNvSpPr>
          <p:nvPr>
            <p:ph type="subTitle" idx="1"/>
          </p:nvPr>
        </p:nvSpPr>
        <p:spPr>
          <a:xfrm>
            <a:off x="1769532" y="4623127"/>
            <a:ext cx="8655200" cy="457201"/>
          </a:xfrm>
        </p:spPr>
        <p:txBody>
          <a:bodyPr>
            <a:normAutofit/>
          </a:bodyPr>
          <a:lstStyle/>
          <a:p>
            <a:pPr>
              <a:spcAft>
                <a:spcPts val="600"/>
              </a:spcAft>
            </a:pPr>
            <a:r>
              <a:rPr lang="en-US" sz="2400" dirty="0">
                <a:solidFill>
                  <a:schemeClr val="accent2">
                    <a:lumMod val="20000"/>
                    <a:lumOff val="80000"/>
                  </a:schemeClr>
                </a:solidFill>
              </a:rPr>
              <a:t>LECTURE 1 –Introduction to Communication Skills</a:t>
            </a:r>
            <a:endParaRPr lang="ru-RU" sz="2400" dirty="0">
              <a:solidFill>
                <a:schemeClr val="accent2">
                  <a:lumMod val="20000"/>
                  <a:lumOff val="80000"/>
                </a:schemeClr>
              </a:solidFill>
            </a:endParaRPr>
          </a:p>
        </p:txBody>
      </p:sp>
      <p:sp>
        <p:nvSpPr>
          <p:cNvPr id="13" name="Rectangle 12"/>
          <p:cNvSpPr>
            <a:spLocks noGrp="1" noRot="1" noChangeAspect="1" noMove="1" noResize="1" noEditPoints="1" noAdjustHandles="1" noChangeArrowheads="1" noChangeShapeType="1" noTextEdit="1"/>
          </p:cNvSpPr>
          <p:nvPr/>
        </p:nvSpPr>
        <p:spPr>
          <a:xfrm>
            <a:off x="1447801" y="1411615"/>
            <a:ext cx="9296400" cy="4034770"/>
          </a:xfrm>
          <a:prstGeom prst="rect">
            <a:avLst/>
          </a:prstGeom>
          <a:noFill/>
          <a:ln w="9525" cap="sq" cmpd="sng" algn="ctr">
            <a:solidFill>
              <a:schemeClr val="tx1">
                <a:lumMod val="75000"/>
                <a:lumOff val="25000"/>
                <a:alpha val="80000"/>
              </a:schemeClr>
            </a:solidFill>
            <a:prstDash val="solid"/>
            <a:miter lim="800000"/>
          </a:ln>
          <a:effectLst/>
        </p:spPr>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622680"/>
          </a:xfrm>
        </p:spPr>
        <p:txBody>
          <a:bodyPr>
            <a:normAutofit fontScale="90000"/>
          </a:bodyPr>
          <a:lstStyle/>
          <a:p>
            <a:pPr algn="ctr"/>
            <a:br>
              <a:rPr lang="en-US" b="1" dirty="0"/>
            </a:br>
            <a:r>
              <a:rPr lang="en-US" b="1" dirty="0"/>
              <a:t>Fair Use Notice</a:t>
            </a:r>
            <a:br>
              <a:rPr lang="en-US" b="1" dirty="0"/>
            </a:br>
            <a:endParaRPr lang="en-US" b="1" dirty="0"/>
          </a:p>
        </p:txBody>
      </p:sp>
      <p:sp>
        <p:nvSpPr>
          <p:cNvPr id="3" name="Content Placeholder 2"/>
          <p:cNvSpPr>
            <a:spLocks noGrp="1"/>
          </p:cNvSpPr>
          <p:nvPr>
            <p:ph idx="1"/>
          </p:nvPr>
        </p:nvSpPr>
        <p:spPr>
          <a:xfrm>
            <a:off x="659219" y="1414130"/>
            <a:ext cx="10940902" cy="4954772"/>
          </a:xfrm>
        </p:spPr>
        <p:txBody>
          <a:bodyPr>
            <a:normAutofit lnSpcReduction="10000"/>
          </a:bodyPr>
          <a:lstStyle/>
          <a:p>
            <a:r>
              <a:rPr lang="en-US" sz="3200" dirty="0"/>
              <a:t>The material used in this presentation i.e., pictures/graphs/text, etc. is solely intended for educational/teaching purpose, offered free of cost to the students for use under special circumstances of Online Education due to COVID-19 Lockdown situation and may include copyrighted material - the use of which may not have been specifically authorized by Copyright Owners. It’s application constitutes Fair Use of any such copyrighted material as provided in globally accepted law of many countries. The contents of presentations are intended only for the attendees of the class being conducted by the presenter.</a:t>
            </a:r>
            <a:endParaRPr lang="en-US" sz="3200"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p:cNvSpPr>
            <a:spLocks noGrp="1" noRot="1" noChangeAspect="1" noMove="1" noResize="1" noEditPoints="1" noAdjustHandles="1" noChangeArrowheads="1" noChangeShapeType="1" noTextEdit="1"/>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30" name="Rectangle 29"/>
          <p:cNvSpPr>
            <a:spLocks noGrp="1" noRot="1" noChangeAspect="1" noMove="1" noResize="1" noEditPoints="1" noAdjustHandles="1" noChangeArrowheads="1" noChangeShapeType="1" noTextEdit="1"/>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32" name="Rectangle 31"/>
          <p:cNvSpPr>
            <a:spLocks noGrp="1" noRot="1" noChangeAspect="1" noMove="1" noResize="1" noEditPoints="1" noAdjustHandles="1" noChangeArrowheads="1" noChangeShapeType="1" noTextEdit="1"/>
          </p:cNvSpPr>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Placeholder 5" descr="Young man is writing"/>
          <p:cNvPicPr>
            <a:picLocks noGrp="1" noChangeAspect="1"/>
          </p:cNvPicPr>
          <p:nvPr>
            <p:ph type="pic" idx="1"/>
          </p:nvPr>
        </p:nvPicPr>
        <p:blipFill>
          <a:blip r:embed="rId1">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a:xfrm>
            <a:off x="1" y="1"/>
            <a:ext cx="12191998" cy="6857999"/>
          </a:xfrm>
          <a:prstGeom prst="rect">
            <a:avLst/>
          </a:prstGeom>
        </p:spPr>
      </p:pic>
      <p:sp>
        <p:nvSpPr>
          <p:cNvPr id="34" name="Rectangle 33"/>
          <p:cNvSpPr>
            <a:spLocks noGrp="1" noRot="1" noChangeAspect="1" noMove="1" noResize="1" noEditPoints="1" noAdjustHandles="1" noChangeArrowheads="1" noChangeShapeType="1" noTextEdit="1"/>
          </p:cNvSpPr>
          <p:nvPr/>
        </p:nvSpPr>
        <p:spPr>
          <a:xfrm>
            <a:off x="267615" y="253548"/>
            <a:ext cx="5612193" cy="6361598"/>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a:spLocks noGrp="1" noRot="1" noChangeAspect="1" noMove="1" noResize="1" noEditPoints="1" noAdjustHandles="1" noChangeArrowheads="1" noChangeShapeType="1" noTextEdit="1"/>
          </p:cNvSpPr>
          <p:nvPr/>
        </p:nvSpPr>
        <p:spPr>
          <a:xfrm>
            <a:off x="415448"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p:cNvSpPr>
            <a:spLocks noGrp="1"/>
          </p:cNvSpPr>
          <p:nvPr>
            <p:ph type="title"/>
          </p:nvPr>
        </p:nvSpPr>
        <p:spPr>
          <a:xfrm>
            <a:off x="774043" y="584791"/>
            <a:ext cx="4602152" cy="2250273"/>
          </a:xfrm>
        </p:spPr>
        <p:txBody>
          <a:bodyPr vert="horz" lIns="91440" tIns="45720" rIns="91440" bIns="45720" rtlCol="0" anchor="ctr">
            <a:normAutofit fontScale="90000"/>
          </a:bodyPr>
          <a:lstStyle/>
          <a:p>
            <a:pPr>
              <a:lnSpc>
                <a:spcPct val="90000"/>
              </a:lnSpc>
            </a:pPr>
            <a:r>
              <a:rPr lang="en-US" sz="4800" dirty="0">
                <a:solidFill>
                  <a:schemeClr val="bg2">
                    <a:lumMod val="50000"/>
                  </a:schemeClr>
                </a:solidFill>
              </a:rPr>
              <a:t>First Lesson-Introduction to Communication Skills</a:t>
            </a:r>
            <a:endParaRPr lang="en-US" sz="4800" dirty="0">
              <a:solidFill>
                <a:schemeClr val="bg2">
                  <a:lumMod val="50000"/>
                </a:schemeClr>
              </a:solidFill>
            </a:endParaRPr>
          </a:p>
        </p:txBody>
      </p:sp>
      <p:sp>
        <p:nvSpPr>
          <p:cNvPr id="4" name="Text Placeholder 3"/>
          <p:cNvSpPr>
            <a:spLocks noGrp="1"/>
          </p:cNvSpPr>
          <p:nvPr>
            <p:ph type="body" sz="half" idx="2"/>
          </p:nvPr>
        </p:nvSpPr>
        <p:spPr>
          <a:xfrm>
            <a:off x="774043" y="3072808"/>
            <a:ext cx="4602152" cy="2946177"/>
          </a:xfrm>
        </p:spPr>
        <p:txBody>
          <a:bodyPr vert="horz" lIns="91440" tIns="45720" rIns="91440" bIns="45720" rtlCol="0">
            <a:normAutofit lnSpcReduction="10000"/>
          </a:bodyPr>
          <a:lstStyle/>
          <a:p>
            <a:pPr>
              <a:lnSpc>
                <a:spcPct val="100000"/>
              </a:lnSpc>
            </a:pPr>
            <a:endParaRPr lang="en-US" b="1" dirty="0">
              <a:solidFill>
                <a:schemeClr val="bg2">
                  <a:lumMod val="50000"/>
                </a:schemeClr>
              </a:solidFill>
            </a:endParaRPr>
          </a:p>
          <a:p>
            <a:pPr>
              <a:lnSpc>
                <a:spcPct val="100000"/>
              </a:lnSpc>
            </a:pPr>
            <a:r>
              <a:rPr lang="en-US" sz="2400" b="1" dirty="0">
                <a:solidFill>
                  <a:schemeClr val="bg2">
                    <a:lumMod val="50000"/>
                  </a:schemeClr>
                </a:solidFill>
              </a:rPr>
              <a:t>We will cover the following:</a:t>
            </a:r>
            <a:endParaRPr lang="en-US" sz="2400" b="1" dirty="0">
              <a:solidFill>
                <a:schemeClr val="bg2">
                  <a:lumMod val="50000"/>
                </a:schemeClr>
              </a:solidFill>
            </a:endParaRPr>
          </a:p>
          <a:p>
            <a:pPr marL="342900" indent="-342900">
              <a:lnSpc>
                <a:spcPct val="100000"/>
              </a:lnSpc>
              <a:buAutoNum type="arabicPeriod"/>
            </a:pPr>
            <a:r>
              <a:rPr lang="en-US" sz="2400" b="1" dirty="0">
                <a:solidFill>
                  <a:schemeClr val="bg2">
                    <a:lumMod val="50000"/>
                  </a:schemeClr>
                </a:solidFill>
              </a:rPr>
              <a:t>What is Communication?</a:t>
            </a:r>
            <a:endParaRPr lang="en-US" sz="2400" b="1" dirty="0">
              <a:solidFill>
                <a:schemeClr val="bg2">
                  <a:lumMod val="50000"/>
                </a:schemeClr>
              </a:solidFill>
            </a:endParaRPr>
          </a:p>
          <a:p>
            <a:pPr marL="342900" indent="-342900">
              <a:lnSpc>
                <a:spcPct val="100000"/>
              </a:lnSpc>
              <a:buAutoNum type="arabicPeriod"/>
            </a:pPr>
            <a:r>
              <a:rPr lang="en-US" sz="2400" b="1" dirty="0">
                <a:solidFill>
                  <a:schemeClr val="bg2">
                    <a:lumMod val="50000"/>
                  </a:schemeClr>
                </a:solidFill>
              </a:rPr>
              <a:t>Rationale and utility purpose of the course?</a:t>
            </a:r>
            <a:endParaRPr lang="en-US" sz="2400" b="1" dirty="0">
              <a:solidFill>
                <a:schemeClr val="bg2">
                  <a:lumMod val="50000"/>
                </a:schemeClr>
              </a:solidFill>
            </a:endParaRPr>
          </a:p>
          <a:p>
            <a:pPr marL="342900" indent="-342900">
              <a:lnSpc>
                <a:spcPct val="100000"/>
              </a:lnSpc>
              <a:buAutoNum type="arabicPeriod"/>
            </a:pPr>
            <a:r>
              <a:rPr lang="en-US" sz="2400" b="1" dirty="0">
                <a:solidFill>
                  <a:schemeClr val="bg2">
                    <a:lumMod val="50000"/>
                  </a:schemeClr>
                </a:solidFill>
              </a:rPr>
              <a:t>What is strategic communication process? </a:t>
            </a:r>
            <a:endParaRPr lang="en-US" sz="2400" b="1" dirty="0">
              <a:solidFill>
                <a:schemeClr val="bg2">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16688" y="642594"/>
            <a:ext cx="10508512" cy="686476"/>
          </a:xfrm>
        </p:spPr>
        <p:txBody>
          <a:bodyPr>
            <a:normAutofit fontScale="90000"/>
          </a:bodyPr>
          <a:lstStyle/>
          <a:p>
            <a:r>
              <a:rPr lang="en-US" b="1" dirty="0"/>
              <a:t>Lecture 1 Essentials: </a:t>
            </a:r>
            <a:endParaRPr lang="en-US" b="1" dirty="0"/>
          </a:p>
        </p:txBody>
      </p:sp>
      <p:sp>
        <p:nvSpPr>
          <p:cNvPr id="6" name="Content Placeholder 5"/>
          <p:cNvSpPr>
            <a:spLocks noGrp="1"/>
          </p:cNvSpPr>
          <p:nvPr>
            <p:ph idx="1"/>
          </p:nvPr>
        </p:nvSpPr>
        <p:spPr>
          <a:xfrm>
            <a:off x="499730" y="1414130"/>
            <a:ext cx="11142922" cy="4901609"/>
          </a:xfrm>
        </p:spPr>
        <p:txBody>
          <a:bodyPr/>
          <a:lstStyle/>
          <a:p>
            <a:r>
              <a:rPr lang="en-US" sz="3200" b="1" dirty="0"/>
              <a:t>Aim</a:t>
            </a:r>
            <a:r>
              <a:rPr lang="en-US" sz="3200" dirty="0"/>
              <a:t> : </a:t>
            </a:r>
            <a:r>
              <a:rPr lang="en-US" sz="3200"/>
              <a:t>To introduce the </a:t>
            </a:r>
            <a:r>
              <a:rPr lang="en-US" sz="3200" dirty="0"/>
              <a:t>basic concept of </a:t>
            </a:r>
            <a:r>
              <a:rPr lang="en-US" sz="3200" u="sng" dirty="0"/>
              <a:t>Communication Skills </a:t>
            </a:r>
            <a:endParaRPr lang="en-US" sz="3200" u="sng" dirty="0"/>
          </a:p>
          <a:p>
            <a:r>
              <a:rPr lang="en-US" sz="3200" b="1" dirty="0"/>
              <a:t>Objectives</a:t>
            </a:r>
            <a:r>
              <a:rPr lang="en-US" sz="3200" dirty="0"/>
              <a:t>: After this class students will be able to:</a:t>
            </a:r>
            <a:endParaRPr lang="en-US" sz="3200" dirty="0"/>
          </a:p>
          <a:p>
            <a:r>
              <a:rPr lang="en-US" sz="3200" dirty="0"/>
              <a:t> Define communication skills, </a:t>
            </a:r>
            <a:endParaRPr lang="en-US" sz="3200" dirty="0"/>
          </a:p>
          <a:p>
            <a:r>
              <a:rPr lang="en-US" sz="3200" dirty="0"/>
              <a:t> Understand purpose of the course </a:t>
            </a:r>
            <a:endParaRPr lang="en-US" sz="3200" dirty="0"/>
          </a:p>
          <a:p>
            <a:r>
              <a:rPr lang="en-US" sz="3200" dirty="0"/>
              <a:t>and will learn basic steps for strategic communication</a:t>
            </a:r>
            <a:endParaRPr lang="en-US" sz="3200" dirty="0"/>
          </a:p>
          <a:p>
            <a:r>
              <a:rPr lang="en-US" sz="3200" b="1" dirty="0"/>
              <a:t>Assessment (how learning will be recognized): </a:t>
            </a:r>
            <a:r>
              <a:rPr lang="en-US" sz="3200" dirty="0"/>
              <a:t>Discussion Prompts incorporated between the lecture, debrief session at the end of the class and mini task assigned for home.</a:t>
            </a:r>
            <a:endParaRPr lang="en-US" sz="3200" dirty="0"/>
          </a:p>
          <a:p>
            <a:endParaRPr lang="en-US" sz="3200"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97442" y="642594"/>
            <a:ext cx="10327758" cy="495090"/>
          </a:xfrm>
        </p:spPr>
        <p:txBody>
          <a:bodyPr>
            <a:normAutofit fontScale="90000"/>
          </a:bodyPr>
          <a:lstStyle/>
          <a:p>
            <a:r>
              <a:rPr lang="en-US" b="1"/>
              <a:t>General Introduction (10:am-10:10am)</a:t>
            </a:r>
            <a:endParaRPr lang="en-US" b="1" dirty="0"/>
          </a:p>
        </p:txBody>
      </p:sp>
      <p:sp>
        <p:nvSpPr>
          <p:cNvPr id="6" name="Content Placeholder 5"/>
          <p:cNvSpPr>
            <a:spLocks noGrp="1"/>
          </p:cNvSpPr>
          <p:nvPr>
            <p:ph idx="1"/>
          </p:nvPr>
        </p:nvSpPr>
        <p:spPr>
          <a:xfrm>
            <a:off x="669851" y="1244009"/>
            <a:ext cx="11025963" cy="5146157"/>
          </a:xfrm>
        </p:spPr>
        <p:txBody>
          <a:bodyPr/>
          <a:lstStyle/>
          <a:p>
            <a:r>
              <a:rPr lang="en-US" dirty="0"/>
              <a:t>1. </a:t>
            </a:r>
            <a:r>
              <a:rPr lang="en-US" sz="2800" dirty="0"/>
              <a:t>Welcome note by the teacher and a brief introduction about virtual platform-Microsoft teams</a:t>
            </a:r>
            <a:endParaRPr lang="en-US" sz="2800" dirty="0"/>
          </a:p>
          <a:p>
            <a:r>
              <a:rPr lang="en-US" sz="2800" dirty="0"/>
              <a:t>2. Virtual Classes- need of the hour (its benefits, doubts and possible challenges )</a:t>
            </a:r>
            <a:endParaRPr lang="en-US" sz="2800" dirty="0"/>
          </a:p>
          <a:p>
            <a:r>
              <a:rPr lang="en-US" sz="2800" dirty="0"/>
              <a:t>3. Essential steps to follow during virtual classes to avoid any disturbance</a:t>
            </a:r>
            <a:endParaRPr lang="en-US" sz="2800" dirty="0"/>
          </a:p>
          <a:p>
            <a:r>
              <a:rPr lang="en-US" sz="2800" dirty="0"/>
              <a:t>4. Counselling hours and medium to contact the subject teacher.</a:t>
            </a:r>
            <a:endParaRPr lang="en-US" sz="2800" dirty="0"/>
          </a:p>
          <a:p>
            <a:r>
              <a:rPr lang="en-US" sz="2800" dirty="0"/>
              <a:t>5. Discussion of different assessment methods for the subject</a:t>
            </a:r>
            <a:endParaRPr lang="en-US" sz="2800" dirty="0"/>
          </a:p>
          <a:p>
            <a:r>
              <a:rPr lang="en-US" sz="2800" dirty="0"/>
              <a:t>6. Course content information (availability of TTP, and material sharing by the teacher)</a:t>
            </a:r>
            <a:endParaRPr lang="en-US" sz="2800"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381" y="663859"/>
            <a:ext cx="10412819" cy="654578"/>
          </a:xfrm>
        </p:spPr>
        <p:txBody>
          <a:bodyPr>
            <a:normAutofit fontScale="90000"/>
          </a:bodyPr>
          <a:lstStyle/>
          <a:p>
            <a:r>
              <a:rPr lang="en-US" dirty="0"/>
              <a:t>Few Important points to understand</a:t>
            </a:r>
            <a:endParaRPr lang="en-US" dirty="0"/>
          </a:p>
        </p:txBody>
      </p:sp>
      <p:sp>
        <p:nvSpPr>
          <p:cNvPr id="3" name="Content Placeholder 2"/>
          <p:cNvSpPr>
            <a:spLocks noGrp="1"/>
          </p:cNvSpPr>
          <p:nvPr>
            <p:ph idx="1"/>
          </p:nvPr>
        </p:nvSpPr>
        <p:spPr>
          <a:xfrm>
            <a:off x="627321" y="1456660"/>
            <a:ext cx="11057860" cy="4890977"/>
          </a:xfrm>
        </p:spPr>
        <p:txBody>
          <a:bodyPr/>
          <a:lstStyle/>
          <a:p>
            <a:pPr marL="228600" lvl="0" indent="-228600">
              <a:lnSpc>
                <a:spcPct val="90000"/>
              </a:lnSpc>
              <a:spcBef>
                <a:spcPts val="1000"/>
              </a:spcBef>
              <a:buClrTx/>
              <a:buFont typeface="Arial" panose="020B0604020202020204" pitchFamily="34" charset="0"/>
              <a:buChar char="•"/>
            </a:pPr>
            <a:r>
              <a:rPr lang="en-US" sz="2800" dirty="0">
                <a:solidFill>
                  <a:prstClr val="black"/>
                </a:solidFill>
                <a:latin typeface="Garamond" panose="02020404030301010803" pitchFamily="18" charset="0"/>
              </a:rPr>
              <a:t>1. Incorporation of “</a:t>
            </a:r>
            <a:r>
              <a:rPr lang="en-US" sz="2800" b="1" dirty="0">
                <a:solidFill>
                  <a:prstClr val="black"/>
                </a:solidFill>
                <a:latin typeface="Garamond" panose="02020404030301010803" pitchFamily="18" charset="0"/>
              </a:rPr>
              <a:t>Can we talk about it?</a:t>
            </a:r>
            <a:r>
              <a:rPr lang="en-US" sz="2800" dirty="0">
                <a:solidFill>
                  <a:prstClr val="black"/>
                </a:solidFill>
                <a:latin typeface="Garamond" panose="02020404030301010803" pitchFamily="18" charset="0"/>
              </a:rPr>
              <a:t>” - Questioning, Responding, Clarification, Verification</a:t>
            </a:r>
            <a:endParaRPr lang="en-US" sz="2800" dirty="0">
              <a:solidFill>
                <a:prstClr val="black"/>
              </a:solidFill>
              <a:latin typeface="Garamond" panose="02020404030301010803" pitchFamily="18" charset="0"/>
            </a:endParaRPr>
          </a:p>
          <a:p>
            <a:pPr marL="0" lvl="0" indent="0">
              <a:lnSpc>
                <a:spcPct val="90000"/>
              </a:lnSpc>
              <a:spcBef>
                <a:spcPts val="1000"/>
              </a:spcBef>
              <a:buClrTx/>
              <a:buNone/>
            </a:pP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r>
              <a:rPr lang="en-US" sz="2800" dirty="0">
                <a:solidFill>
                  <a:prstClr val="black"/>
                </a:solidFill>
                <a:latin typeface="Garamond" panose="02020404030301010803" pitchFamily="18" charset="0"/>
              </a:rPr>
              <a:t>Any student can ask at any time if they feel they do not understand something by unmuting their mic preferably at the end of the class  and saying, “</a:t>
            </a:r>
            <a:r>
              <a:rPr lang="en-US" sz="2800" b="1" dirty="0">
                <a:solidFill>
                  <a:prstClr val="black"/>
                </a:solidFill>
                <a:latin typeface="Garamond" panose="02020404030301010803" pitchFamily="18" charset="0"/>
              </a:rPr>
              <a:t>Can We Talk About It?”. </a:t>
            </a:r>
            <a:endParaRPr lang="en-US" sz="2800" b="1"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endParaRPr lang="en-US" sz="2800" b="1"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r>
              <a:rPr lang="en-US" sz="2800" dirty="0">
                <a:solidFill>
                  <a:prstClr val="black"/>
                </a:solidFill>
                <a:latin typeface="Garamond" panose="02020404030301010803" pitchFamily="18" charset="0"/>
              </a:rPr>
              <a:t>The class will then explain to clarify for student(s) and then proceed following the procedure below.</a:t>
            </a:r>
            <a:endParaRPr lang="en-US" sz="2800" dirty="0">
              <a:solidFill>
                <a:prstClr val="black"/>
              </a:solidFill>
              <a:latin typeface="Garamond" panose="02020404030301010803" pitchFamily="18" charset="0"/>
            </a:endParaRP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1116" y="642594"/>
            <a:ext cx="10434084" cy="580150"/>
          </a:xfrm>
        </p:spPr>
        <p:txBody>
          <a:bodyPr>
            <a:normAutofit fontScale="90000"/>
          </a:bodyPr>
          <a:lstStyle/>
          <a:p>
            <a:br>
              <a:rPr lang="en-US" dirty="0"/>
            </a:br>
            <a:r>
              <a:rPr lang="en-US" dirty="0"/>
              <a:t>Procedure:</a:t>
            </a:r>
            <a:br>
              <a:rPr lang="en-US" dirty="0"/>
            </a:br>
            <a:endParaRPr lang="en-US" dirty="0"/>
          </a:p>
        </p:txBody>
      </p:sp>
      <p:sp>
        <p:nvSpPr>
          <p:cNvPr id="3" name="Content Placeholder 2"/>
          <p:cNvSpPr>
            <a:spLocks noGrp="1"/>
          </p:cNvSpPr>
          <p:nvPr>
            <p:ph idx="1"/>
          </p:nvPr>
        </p:nvSpPr>
        <p:spPr>
          <a:xfrm>
            <a:off x="691116" y="1467293"/>
            <a:ext cx="10855842" cy="4827181"/>
          </a:xfrm>
        </p:spPr>
        <p:txBody>
          <a:bodyPr/>
          <a:lstStyle/>
          <a:p>
            <a:pPr marL="228600" lvl="0" indent="-228600">
              <a:lnSpc>
                <a:spcPct val="90000"/>
              </a:lnSpc>
              <a:spcBef>
                <a:spcPts val="1000"/>
              </a:spcBef>
              <a:buClrTx/>
              <a:buFont typeface="Arial" panose="020B0604020202020204" pitchFamily="34" charset="0"/>
              <a:buChar char="•"/>
            </a:pPr>
            <a:r>
              <a:rPr lang="en-US" sz="2800" dirty="0">
                <a:solidFill>
                  <a:prstClr val="black"/>
                </a:solidFill>
                <a:latin typeface="Garamond" panose="02020404030301010803" pitchFamily="18" charset="0"/>
              </a:rPr>
              <a:t>1.	One person asks a question or request clarification.</a:t>
            </a: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r>
              <a:rPr lang="en-US" sz="2800" dirty="0">
                <a:solidFill>
                  <a:prstClr val="black"/>
                </a:solidFill>
                <a:latin typeface="Garamond" panose="02020404030301010803" pitchFamily="18" charset="0"/>
              </a:rPr>
              <a:t>2.	One person, preferably a student, responds and explains the word, concept, or key point.</a:t>
            </a: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r>
              <a:rPr lang="en-US" sz="2800" dirty="0">
                <a:solidFill>
                  <a:prstClr val="black"/>
                </a:solidFill>
                <a:latin typeface="Garamond" panose="02020404030301010803" pitchFamily="18" charset="0"/>
              </a:rPr>
              <a:t>3.	Other students/teacher add comments and examples.</a:t>
            </a: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r>
              <a:rPr lang="en-US" sz="2800" dirty="0">
                <a:solidFill>
                  <a:prstClr val="black"/>
                </a:solidFill>
                <a:latin typeface="Garamond" panose="02020404030301010803" pitchFamily="18" charset="0"/>
              </a:rPr>
              <a:t>4.	Student that asked, “Can we talk about It?” then summarizes in his/her own words the word, concept, or key point.</a:t>
            </a: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r>
              <a:rPr lang="en-US" sz="2800" dirty="0">
                <a:solidFill>
                  <a:prstClr val="black"/>
                </a:solidFill>
                <a:latin typeface="Garamond" panose="02020404030301010803" pitchFamily="18" charset="0"/>
              </a:rPr>
              <a:t>5.	Student receives confirmation or further clarification, if needed, from classmates/teacher.</a:t>
            </a: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r>
              <a:rPr lang="en-US" sz="2800" dirty="0">
                <a:solidFill>
                  <a:prstClr val="black"/>
                </a:solidFill>
                <a:latin typeface="Garamond" panose="02020404030301010803" pitchFamily="18" charset="0"/>
              </a:rPr>
              <a:t>6.	Class continues.</a:t>
            </a:r>
            <a:endParaRPr lang="en-US" sz="2800" dirty="0">
              <a:solidFill>
                <a:prstClr val="black"/>
              </a:solidFill>
              <a:latin typeface="Garamond" panose="02020404030301010803" pitchFamily="18" charset="0"/>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098" y="489098"/>
            <a:ext cx="10717618" cy="967562"/>
          </a:xfrm>
        </p:spPr>
        <p:txBody>
          <a:bodyPr>
            <a:normAutofit fontScale="90000"/>
          </a:bodyPr>
          <a:lstStyle/>
          <a:p>
            <a:r>
              <a:rPr lang="en-US" b="1" dirty="0">
                <a:solidFill>
                  <a:prstClr val="black"/>
                </a:solidFill>
                <a:latin typeface="Garamond" panose="02020404030301010803" pitchFamily="18" charset="0"/>
                <a:ea typeface="+mj-ea"/>
                <a:cs typeface="+mj-cs"/>
              </a:rPr>
              <a:t>Pluses and Deltas - Formative Assessment – Peer Feedback</a:t>
            </a:r>
            <a:endParaRPr lang="en-US" dirty="0"/>
          </a:p>
        </p:txBody>
      </p:sp>
      <p:sp>
        <p:nvSpPr>
          <p:cNvPr id="3" name="Content Placeholder 2"/>
          <p:cNvSpPr>
            <a:spLocks noGrp="1"/>
          </p:cNvSpPr>
          <p:nvPr>
            <p:ph idx="1"/>
          </p:nvPr>
        </p:nvSpPr>
        <p:spPr>
          <a:xfrm>
            <a:off x="595423" y="1616149"/>
            <a:ext cx="11121656" cy="4752753"/>
          </a:xfrm>
        </p:spPr>
        <p:txBody>
          <a:bodyPr/>
          <a:lstStyle/>
          <a:p>
            <a:r>
              <a:rPr lang="en-US" sz="2800" dirty="0"/>
              <a:t>Procedure:</a:t>
            </a:r>
            <a:endParaRPr lang="en-US" sz="2800" dirty="0"/>
          </a:p>
          <a:p>
            <a:r>
              <a:rPr lang="en-US" sz="2800" dirty="0"/>
              <a:t>1. Audience will listen to any student during online class.</a:t>
            </a:r>
            <a:endParaRPr lang="en-US" sz="2800" dirty="0"/>
          </a:p>
          <a:p>
            <a:endParaRPr lang="en-US" sz="2800" dirty="0"/>
          </a:p>
          <a:p>
            <a:r>
              <a:rPr lang="en-US" sz="2800" dirty="0"/>
              <a:t>2. Afterwards, audience will give specific feedback to presenters according tot heir presentations. </a:t>
            </a:r>
            <a:endParaRPr lang="en-US" sz="2800" dirty="0"/>
          </a:p>
          <a:p>
            <a:endParaRPr lang="en-US" sz="2800" dirty="0"/>
          </a:p>
          <a:p>
            <a:r>
              <a:rPr lang="en-US" sz="2800" dirty="0"/>
              <a:t>3. Positive feedback will be given first and then corrective feedback. </a:t>
            </a:r>
            <a:endParaRPr lang="en-US" sz="2800" dirty="0"/>
          </a:p>
          <a:p>
            <a:endParaRPr lang="en-US" sz="2800" dirty="0"/>
          </a:p>
          <a:p>
            <a:endParaRPr lang="en-US" sz="2800" dirty="0"/>
          </a:p>
          <a:p>
            <a:endParaRPr lang="en-US" sz="2800"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760904"/>
          </a:xfrm>
        </p:spPr>
        <p:txBody>
          <a:bodyPr/>
          <a:lstStyle/>
          <a:p>
            <a:r>
              <a:rPr lang="en-US" sz="4400" b="1" dirty="0">
                <a:solidFill>
                  <a:prstClr val="black"/>
                </a:solidFill>
                <a:latin typeface="Garamond" panose="02020404030301010803" pitchFamily="18" charset="0"/>
                <a:ea typeface="+mj-ea"/>
                <a:cs typeface="+mj-cs"/>
              </a:rPr>
              <a:t>Pluses and Deltas Continued</a:t>
            </a:r>
            <a:endParaRPr lang="en-US" dirty="0"/>
          </a:p>
        </p:txBody>
      </p:sp>
      <p:sp>
        <p:nvSpPr>
          <p:cNvPr id="3" name="Content Placeholder 2"/>
          <p:cNvSpPr>
            <a:spLocks noGrp="1"/>
          </p:cNvSpPr>
          <p:nvPr>
            <p:ph idx="1"/>
          </p:nvPr>
        </p:nvSpPr>
        <p:spPr>
          <a:xfrm>
            <a:off x="637953" y="1573619"/>
            <a:ext cx="10962168" cy="4763386"/>
          </a:xfrm>
        </p:spPr>
        <p:txBody>
          <a:bodyPr/>
          <a:lstStyle/>
          <a:p>
            <a:pPr marL="228600" lvl="0" indent="-228600">
              <a:lnSpc>
                <a:spcPct val="90000"/>
              </a:lnSpc>
              <a:spcBef>
                <a:spcPts val="1000"/>
              </a:spcBef>
              <a:buClrTx/>
              <a:buFont typeface="Arial" panose="020B0604020202020204" pitchFamily="34" charset="0"/>
              <a:buChar char="•"/>
            </a:pPr>
            <a:r>
              <a:rPr lang="en-US" sz="2800" b="1" dirty="0">
                <a:solidFill>
                  <a:prstClr val="black"/>
                </a:solidFill>
                <a:latin typeface="Garamond" panose="02020404030301010803" pitchFamily="18" charset="0"/>
              </a:rPr>
              <a:t>Pluses feedback </a:t>
            </a:r>
            <a:r>
              <a:rPr lang="en-US" sz="2800" dirty="0">
                <a:solidFill>
                  <a:prstClr val="black"/>
                </a:solidFill>
                <a:latin typeface="Garamond" panose="02020404030301010803" pitchFamily="18" charset="0"/>
              </a:rPr>
              <a:t>(e.g., I really liked the photos, they helped me understand better.</a:t>
            </a: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r>
              <a:rPr lang="en-US" sz="2800" b="1" dirty="0">
                <a:solidFill>
                  <a:prstClr val="black"/>
                </a:solidFill>
                <a:latin typeface="Garamond" panose="02020404030301010803" pitchFamily="18" charset="0"/>
              </a:rPr>
              <a:t>Delta feedback </a:t>
            </a:r>
            <a:r>
              <a:rPr lang="en-US" sz="2800" dirty="0">
                <a:solidFill>
                  <a:prstClr val="black"/>
                </a:solidFill>
                <a:latin typeface="Garamond" panose="02020404030301010803" pitchFamily="18" charset="0"/>
              </a:rPr>
              <a:t>(e.g., It would have helped me understand your presentation better if you had more images, maybe next time you can add more charts, graphs and photos.)</a:t>
            </a: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r>
              <a:rPr lang="en-US" sz="2800" dirty="0">
                <a:solidFill>
                  <a:prstClr val="black"/>
                </a:solidFill>
                <a:latin typeface="Garamond" panose="02020404030301010803" pitchFamily="18" charset="0"/>
              </a:rPr>
              <a:t>3. Students analyzes feedback for improvements.</a:t>
            </a: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endParaRPr lang="en-US" sz="2800" dirty="0">
              <a:solidFill>
                <a:prstClr val="black"/>
              </a:solidFill>
              <a:latin typeface="Garamond" panose="02020404030301010803" pitchFamily="18" charset="0"/>
            </a:endParaRPr>
          </a:p>
          <a:p>
            <a:pPr marL="228600" lvl="0" indent="-228600">
              <a:lnSpc>
                <a:spcPct val="90000"/>
              </a:lnSpc>
              <a:spcBef>
                <a:spcPts val="1000"/>
              </a:spcBef>
              <a:buClrTx/>
              <a:buFont typeface="Arial" panose="020B0604020202020204" pitchFamily="34" charset="0"/>
              <a:buChar char="•"/>
            </a:pPr>
            <a:r>
              <a:rPr lang="en-US" sz="2800" b="1" dirty="0">
                <a:solidFill>
                  <a:prstClr val="black"/>
                </a:solidFill>
                <a:latin typeface="Garamond" panose="02020404030301010803" pitchFamily="18" charset="0"/>
              </a:rPr>
              <a:t>Note</a:t>
            </a:r>
            <a:r>
              <a:rPr lang="en-US" sz="2800" dirty="0">
                <a:solidFill>
                  <a:prstClr val="black"/>
                </a:solidFill>
                <a:latin typeface="Garamond" panose="02020404030301010803" pitchFamily="18" charset="0"/>
              </a:rPr>
              <a:t>: Corrective feedback must be presented with some type of solution or suggestion for improvement in mind.</a:t>
            </a:r>
            <a:endParaRPr lang="en-US" sz="2800" dirty="0">
              <a:solidFill>
                <a:prstClr val="black"/>
              </a:solidFill>
              <a:latin typeface="Garamond" panose="02020404030301010803" pitchFamily="18" charset="0"/>
            </a:endParaRP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279" y="642594"/>
            <a:ext cx="10770781" cy="590783"/>
          </a:xfrm>
        </p:spPr>
        <p:txBody>
          <a:bodyPr>
            <a:normAutofit fontScale="90000"/>
          </a:bodyPr>
          <a:lstStyle/>
          <a:p>
            <a:r>
              <a:rPr lang="en-US" b="1" dirty="0"/>
              <a:t>Warm Up Prompts</a:t>
            </a:r>
            <a:endParaRPr lang="en-US" b="1" dirty="0"/>
          </a:p>
        </p:txBody>
      </p:sp>
      <p:sp>
        <p:nvSpPr>
          <p:cNvPr id="3" name="Content Placeholder 2"/>
          <p:cNvSpPr>
            <a:spLocks noGrp="1"/>
          </p:cNvSpPr>
          <p:nvPr>
            <p:ph idx="1"/>
          </p:nvPr>
        </p:nvSpPr>
        <p:spPr>
          <a:xfrm>
            <a:off x="606055" y="1371600"/>
            <a:ext cx="11079125" cy="5018567"/>
          </a:xfrm>
        </p:spPr>
        <p:txBody>
          <a:bodyPr>
            <a:normAutofit/>
          </a:bodyPr>
          <a:lstStyle/>
          <a:p>
            <a:pPr marL="0" indent="0">
              <a:buNone/>
            </a:pPr>
            <a:r>
              <a:rPr lang="en-US" sz="4000" dirty="0"/>
              <a:t>*Are you as students , ready for 21</a:t>
            </a:r>
            <a:r>
              <a:rPr lang="en-US" sz="4000" baseline="30000" dirty="0"/>
              <a:t>st</a:t>
            </a:r>
            <a:r>
              <a:rPr lang="en-US" sz="4000" dirty="0"/>
              <a:t> Century?</a:t>
            </a:r>
            <a:endParaRPr lang="en-US" sz="4000" dirty="0"/>
          </a:p>
          <a:p>
            <a:pPr marL="0" indent="0">
              <a:buNone/>
            </a:pPr>
            <a:r>
              <a:rPr lang="en-US" sz="4000" dirty="0"/>
              <a:t>* As a student, what do you expect from this course?</a:t>
            </a:r>
            <a:endParaRPr lang="en-US" sz="4000" dirty="0"/>
          </a:p>
          <a:p>
            <a:endParaRPr lang="en-US" sz="4000" dirty="0"/>
          </a:p>
          <a:p>
            <a:pPr marL="0" indent="0">
              <a:buNone/>
            </a:pPr>
            <a:endParaRPr lang="en-US" sz="4000" dirty="0"/>
          </a:p>
          <a:p>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647" y="642594"/>
            <a:ext cx="10391553" cy="526987"/>
          </a:xfrm>
        </p:spPr>
        <p:txBody>
          <a:bodyPr>
            <a:normAutofit fontScale="90000"/>
          </a:bodyPr>
          <a:lstStyle/>
          <a:p>
            <a:r>
              <a:rPr lang="en-US" dirty="0"/>
              <a:t>Warm Up Prompts (Continued)</a:t>
            </a:r>
            <a:endParaRPr lang="en-US" dirty="0"/>
          </a:p>
        </p:txBody>
      </p:sp>
      <p:pic>
        <p:nvPicPr>
          <p:cNvPr id="4" name="Content Placeholder 3"/>
          <p:cNvPicPr>
            <a:picLocks noGrp="1" noChangeAspect="1"/>
          </p:cNvPicPr>
          <p:nvPr>
            <p:ph idx="1"/>
          </p:nvPr>
        </p:nvPicPr>
        <p:blipFill>
          <a:blip r:embed="rId1"/>
          <a:stretch>
            <a:fillRect/>
          </a:stretch>
        </p:blipFill>
        <p:spPr>
          <a:xfrm>
            <a:off x="636270" y="3429026"/>
            <a:ext cx="11079163" cy="94875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675843"/>
          </a:xfrm>
        </p:spPr>
        <p:txBody>
          <a:bodyPr>
            <a:normAutofit fontScale="90000"/>
          </a:bodyPr>
          <a:lstStyle/>
          <a:p>
            <a:r>
              <a:rPr lang="en-US" dirty="0"/>
              <a:t>Warm Up Prompts(Continued)</a:t>
            </a:r>
            <a:endParaRPr lang="en-US" dirty="0"/>
          </a:p>
        </p:txBody>
      </p:sp>
      <p:sp>
        <p:nvSpPr>
          <p:cNvPr id="3" name="Content Placeholder 2"/>
          <p:cNvSpPr>
            <a:spLocks noGrp="1"/>
          </p:cNvSpPr>
          <p:nvPr>
            <p:ph idx="1"/>
          </p:nvPr>
        </p:nvSpPr>
        <p:spPr>
          <a:xfrm>
            <a:off x="595423" y="1424763"/>
            <a:ext cx="11036595" cy="4790643"/>
          </a:xfrm>
        </p:spPr>
        <p:txBody>
          <a:bodyPr/>
          <a:lstStyle/>
          <a:p>
            <a:pPr algn="ctr"/>
            <a:endParaRPr lang="en-US" sz="6000" b="1" dirty="0"/>
          </a:p>
          <a:p>
            <a:pPr marL="0" indent="0" algn="ctr">
              <a:buNone/>
            </a:pPr>
            <a:r>
              <a:rPr lang="en-US" sz="6000" b="1" dirty="0"/>
              <a:t>What are 21st Century Global Competencies?</a:t>
            </a:r>
            <a:endParaRPr lang="en-US" sz="6000" b="1" dirty="0"/>
          </a:p>
          <a:p>
            <a:br>
              <a:rPr lang="en-US" dirty="0"/>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442" y="642594"/>
            <a:ext cx="10327758" cy="495090"/>
          </a:xfrm>
        </p:spPr>
        <p:txBody>
          <a:bodyPr>
            <a:normAutofit fontScale="90000"/>
          </a:bodyPr>
          <a:lstStyle/>
          <a:p>
            <a:r>
              <a:rPr lang="en-US" b="1" dirty="0"/>
              <a:t>21</a:t>
            </a:r>
            <a:r>
              <a:rPr lang="en-US" b="1" baseline="30000" dirty="0"/>
              <a:t>st</a:t>
            </a:r>
            <a:r>
              <a:rPr lang="en-US" b="1" dirty="0"/>
              <a:t> Century Global Skills:</a:t>
            </a:r>
            <a:endParaRPr lang="en-US" b="1" dirty="0"/>
          </a:p>
        </p:txBody>
      </p:sp>
      <p:sp>
        <p:nvSpPr>
          <p:cNvPr id="3" name="Content Placeholder 2"/>
          <p:cNvSpPr>
            <a:spLocks noGrp="1"/>
          </p:cNvSpPr>
          <p:nvPr>
            <p:ph idx="1"/>
          </p:nvPr>
        </p:nvSpPr>
        <p:spPr>
          <a:xfrm>
            <a:off x="680483" y="1265274"/>
            <a:ext cx="10994065" cy="5050466"/>
          </a:xfrm>
        </p:spPr>
        <p:txBody>
          <a:bodyPr/>
          <a:lstStyle/>
          <a:p>
            <a:r>
              <a:rPr lang="en-US" sz="2800" dirty="0"/>
              <a:t>Based on the answers given by students of three warm up questions, teacher will define global competencies as follows:</a:t>
            </a:r>
            <a:endParaRPr lang="en-US" sz="2800" dirty="0"/>
          </a:p>
          <a:p>
            <a:endParaRPr lang="en-US" sz="2800" dirty="0"/>
          </a:p>
          <a:p>
            <a:r>
              <a:rPr lang="en-US" sz="2800" dirty="0"/>
              <a:t>21st Century Global Competencies and 21st Century Global Skills all revolve around a similar concept about preparing our students to not just survive, but thrive in life.</a:t>
            </a:r>
            <a:endParaRPr lang="en-US" sz="2800" dirty="0"/>
          </a:p>
          <a:p>
            <a:endParaRPr lang="en-US" dirty="0"/>
          </a:p>
          <a:p>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014" y="642594"/>
            <a:ext cx="10402186" cy="612048"/>
          </a:xfrm>
        </p:spPr>
        <p:txBody>
          <a:bodyPr>
            <a:normAutofit fontScale="90000"/>
          </a:bodyPr>
          <a:lstStyle/>
          <a:p>
            <a:r>
              <a:rPr lang="en-US" b="1" dirty="0"/>
              <a:t>21st Century Global Skills(Continued):</a:t>
            </a:r>
            <a:endParaRPr lang="en-US" b="1" dirty="0"/>
          </a:p>
        </p:txBody>
      </p:sp>
      <p:sp>
        <p:nvSpPr>
          <p:cNvPr id="3" name="Content Placeholder 2"/>
          <p:cNvSpPr>
            <a:spLocks noGrp="1"/>
          </p:cNvSpPr>
          <p:nvPr>
            <p:ph idx="1"/>
          </p:nvPr>
        </p:nvSpPr>
        <p:spPr>
          <a:xfrm>
            <a:off x="606056" y="1254642"/>
            <a:ext cx="11089758" cy="5103628"/>
          </a:xfrm>
        </p:spPr>
        <p:txBody>
          <a:bodyPr>
            <a:normAutofit/>
          </a:bodyPr>
          <a:lstStyle/>
          <a:p>
            <a:r>
              <a:rPr lang="en-US" sz="2800" dirty="0"/>
              <a:t>The Organization for Economic Co-operation and Development (OECD) is an international organization that works to build policies that result in better lives. They define global competencies in the following way:</a:t>
            </a:r>
            <a:endParaRPr lang="en-US" sz="2800" dirty="0"/>
          </a:p>
          <a:p>
            <a:r>
              <a:rPr lang="en-US" sz="2800" b="1" i="1" dirty="0">
                <a:solidFill>
                  <a:srgbClr val="333333"/>
                </a:solidFill>
                <a:latin typeface="source sans pro" panose="020B0503030403020204" pitchFamily="34" charset="0"/>
              </a:rPr>
              <a:t>“</a:t>
            </a:r>
            <a:r>
              <a:rPr lang="en-US" sz="2800" b="1" i="1" u="sng" dirty="0">
                <a:solidFill>
                  <a:srgbClr val="333333"/>
                </a:solidFill>
                <a:latin typeface="source sans pro" panose="020B0503030403020204" pitchFamily="34" charset="0"/>
              </a:rPr>
              <a:t>A competency is more than just knowledge and skills.</a:t>
            </a:r>
            <a:r>
              <a:rPr lang="en-US" sz="2800" i="1" u="sng" dirty="0">
                <a:solidFill>
                  <a:srgbClr val="333333"/>
                </a:solidFill>
                <a:latin typeface="source sans pro" panose="020B0503030403020204" pitchFamily="34" charset="0"/>
              </a:rPr>
              <a:t> It involves the ability to meet complex demands, by drawing on and mobilizing psychosocial resources (including skills and attitudes) in a particular context. For example, the ability to communicate effectively is a competency that may draw on an individual’s knowledge of language, practical IT skills and attitudes towards those with whom he or she is communicating</a:t>
            </a:r>
            <a:r>
              <a:rPr lang="en-US" sz="2800" i="1" dirty="0">
                <a:solidFill>
                  <a:srgbClr val="333333"/>
                </a:solidFill>
                <a:latin typeface="source sans pro" panose="020B0503030403020204" pitchFamily="34" charset="0"/>
              </a:rPr>
              <a:t>”. </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633313"/>
          </a:xfrm>
        </p:spPr>
        <p:txBody>
          <a:bodyPr>
            <a:normAutofit fontScale="90000"/>
          </a:bodyPr>
          <a:lstStyle/>
          <a:p>
            <a:endParaRPr lang="en-US" dirty="0"/>
          </a:p>
        </p:txBody>
      </p:sp>
      <p:sp>
        <p:nvSpPr>
          <p:cNvPr id="3" name="Content Placeholder 2"/>
          <p:cNvSpPr>
            <a:spLocks noGrp="1"/>
          </p:cNvSpPr>
          <p:nvPr>
            <p:ph idx="1"/>
          </p:nvPr>
        </p:nvSpPr>
        <p:spPr>
          <a:xfrm>
            <a:off x="659219" y="1414131"/>
            <a:ext cx="11015330" cy="4922874"/>
          </a:xfrm>
        </p:spPr>
        <p:txBody>
          <a:bodyPr>
            <a:normAutofit/>
          </a:bodyPr>
          <a:lstStyle/>
          <a:p>
            <a:pPr marL="0" indent="0" algn="ctr">
              <a:buNone/>
            </a:pPr>
            <a:endParaRPr lang="en-US" sz="5400" dirty="0"/>
          </a:p>
          <a:p>
            <a:pPr marL="0" indent="0" algn="ctr">
              <a:buNone/>
            </a:pPr>
            <a:r>
              <a:rPr lang="en-US" sz="5400" dirty="0"/>
              <a:t>What do you understand from this definition?</a:t>
            </a:r>
            <a:endParaRPr lang="en-US" sz="5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441927"/>
          </a:xfrm>
        </p:spPr>
        <p:txBody>
          <a:bodyPr>
            <a:normAutofit fontScale="90000"/>
          </a:bodyPr>
          <a:lstStyle/>
          <a:p>
            <a:r>
              <a:rPr lang="en-US" b="1" dirty="0"/>
              <a:t>Global Skills </a:t>
            </a:r>
            <a:endParaRPr lang="en-US" b="1" dirty="0"/>
          </a:p>
        </p:txBody>
      </p:sp>
      <p:sp>
        <p:nvSpPr>
          <p:cNvPr id="3" name="Content Placeholder 2"/>
          <p:cNvSpPr>
            <a:spLocks noGrp="1"/>
          </p:cNvSpPr>
          <p:nvPr>
            <p:ph idx="1"/>
          </p:nvPr>
        </p:nvSpPr>
        <p:spPr>
          <a:xfrm>
            <a:off x="616687" y="1201479"/>
            <a:ext cx="11174819" cy="5156791"/>
          </a:xfrm>
        </p:spPr>
        <p:txBody>
          <a:bodyPr/>
          <a:lstStyle/>
          <a:p>
            <a:r>
              <a:rPr lang="en-US" sz="3200" dirty="0"/>
              <a:t>Global competencies are a set of transferrable skills that are essential for  students to help them be successful in life (academically, professionally and personally) – whether that’s in a competitive global reality, or in their local communities.</a:t>
            </a:r>
            <a:endParaRPr lang="en-US" sz="3200" dirty="0"/>
          </a:p>
          <a:p>
            <a:endParaRPr lang="en-US" sz="3200" dirty="0"/>
          </a:p>
          <a:p>
            <a:r>
              <a:rPr lang="en-US" sz="3200" dirty="0"/>
              <a:t>They are also called as 21</a:t>
            </a:r>
            <a:r>
              <a:rPr lang="en-US" sz="3200" baseline="30000" dirty="0"/>
              <a:t>st</a:t>
            </a:r>
            <a:r>
              <a:rPr lang="en-US" sz="3200" dirty="0"/>
              <a:t> century skills or 6 C’s of education. </a:t>
            </a:r>
            <a:endParaRPr lang="en-US" sz="3200" dirty="0"/>
          </a:p>
          <a:p>
            <a:endParaRPr lang="en-US" sz="3200" dirty="0"/>
          </a:p>
          <a:p>
            <a:r>
              <a:rPr lang="en-US" sz="3200" dirty="0"/>
              <a:t>Graphically they look like: </a:t>
            </a:r>
            <a:endParaRPr lang="en-US" sz="3200" dirty="0"/>
          </a:p>
          <a:p>
            <a:endParaRPr lang="en-US" sz="3200" dirty="0"/>
          </a:p>
          <a:p>
            <a:endParaRPr lang="en-US" sz="3200" dirty="0"/>
          </a:p>
          <a:p>
            <a:endParaRPr lang="en-US" sz="3200" dirty="0"/>
          </a:p>
          <a:p>
            <a:endParaRPr lang="en-US" sz="3200" dirty="0"/>
          </a:p>
          <a:p>
            <a:pPr marL="0" indent="0">
              <a:buNone/>
            </a:pPr>
            <a:endParaRPr lang="en-US" sz="3200"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544" y="642594"/>
            <a:ext cx="10359656" cy="590783"/>
          </a:xfrm>
        </p:spPr>
        <p:txBody>
          <a:bodyPr>
            <a:normAutofit fontScale="90000"/>
          </a:bodyPr>
          <a:lstStyle/>
          <a:p>
            <a:r>
              <a:rPr lang="en-US" dirty="0"/>
              <a:t>Your understanding about this image?</a:t>
            </a:r>
            <a:endParaRPr lang="en-US" dirty="0"/>
          </a:p>
        </p:txBody>
      </p:sp>
      <p:pic>
        <p:nvPicPr>
          <p:cNvPr id="4" name="Content Placeholder 3"/>
          <p:cNvPicPr>
            <a:picLocks noGrp="1" noChangeAspect="1"/>
          </p:cNvPicPr>
          <p:nvPr>
            <p:ph idx="1"/>
          </p:nvPr>
        </p:nvPicPr>
        <p:blipFill>
          <a:blip r:embed="rId1"/>
          <a:stretch>
            <a:fillRect/>
          </a:stretch>
        </p:blipFill>
        <p:spPr>
          <a:xfrm>
            <a:off x="2928664" y="1233377"/>
            <a:ext cx="6840638" cy="52715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014" y="642594"/>
            <a:ext cx="10781414" cy="675843"/>
          </a:xfrm>
        </p:spPr>
        <p:txBody>
          <a:bodyPr>
            <a:normAutofit fontScale="90000"/>
          </a:bodyPr>
          <a:lstStyle/>
          <a:p>
            <a:r>
              <a:rPr lang="en-US" b="1" dirty="0"/>
              <a:t>Communication Skills </a:t>
            </a:r>
            <a:endParaRPr lang="en-US" b="1" dirty="0"/>
          </a:p>
        </p:txBody>
      </p:sp>
      <p:sp>
        <p:nvSpPr>
          <p:cNvPr id="3" name="Content Placeholder 2"/>
          <p:cNvSpPr>
            <a:spLocks noGrp="1"/>
          </p:cNvSpPr>
          <p:nvPr>
            <p:ph idx="1"/>
          </p:nvPr>
        </p:nvSpPr>
        <p:spPr>
          <a:xfrm>
            <a:off x="520995" y="1435395"/>
            <a:ext cx="11111024" cy="4944141"/>
          </a:xfrm>
        </p:spPr>
        <p:txBody>
          <a:bodyPr>
            <a:normAutofit/>
          </a:bodyPr>
          <a:lstStyle/>
          <a:p>
            <a:r>
              <a:rPr lang="en-US" sz="3200" dirty="0"/>
              <a:t> By nature for social beings,  communication plays a significant part in our daily personal and professional lives. </a:t>
            </a:r>
            <a:endParaRPr lang="en-US" sz="3200" dirty="0"/>
          </a:p>
          <a:p>
            <a:endParaRPr lang="en-US" sz="3200" dirty="0"/>
          </a:p>
          <a:p>
            <a:r>
              <a:rPr lang="en-US" sz="3200" dirty="0"/>
              <a:t>What comes to mind as you think about the word “communication?” Perhaps you are thinking about the words “talking” or “speaking.” Listening? Understanding? Body language?</a:t>
            </a:r>
            <a:endParaRPr lang="en-US" sz="3200" dirty="0"/>
          </a:p>
          <a:p>
            <a:endParaRPr 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749" y="642594"/>
            <a:ext cx="10423451" cy="665211"/>
          </a:xfrm>
        </p:spPr>
        <p:txBody>
          <a:bodyPr>
            <a:normAutofit fontScale="90000"/>
          </a:bodyPr>
          <a:lstStyle/>
          <a:p>
            <a:r>
              <a:rPr lang="en-US" b="1" dirty="0"/>
              <a:t>What are Communication Skills</a:t>
            </a:r>
            <a:endParaRPr lang="en-US" b="1" dirty="0"/>
          </a:p>
        </p:txBody>
      </p:sp>
      <p:sp>
        <p:nvSpPr>
          <p:cNvPr id="3" name="Content Placeholder 2"/>
          <p:cNvSpPr>
            <a:spLocks noGrp="1"/>
          </p:cNvSpPr>
          <p:nvPr>
            <p:ph idx="1"/>
          </p:nvPr>
        </p:nvSpPr>
        <p:spPr>
          <a:xfrm>
            <a:off x="606055" y="1456660"/>
            <a:ext cx="11068493" cy="4890977"/>
          </a:xfrm>
        </p:spPr>
        <p:txBody>
          <a:bodyPr>
            <a:normAutofit/>
          </a:bodyPr>
          <a:lstStyle/>
          <a:p>
            <a:r>
              <a:rPr lang="en-US" sz="3200" dirty="0"/>
              <a:t>Communication skills are important to everyone - they are how we give and receive information and convey our ideas and opinions with those around us. Communication comes in many forms:</a:t>
            </a:r>
            <a:endParaRPr lang="en-US" sz="3200" dirty="0"/>
          </a:p>
          <a:p>
            <a:r>
              <a:rPr lang="en-US" sz="3200" dirty="0"/>
              <a:t>verbal (sounds, language, and tone of voice)</a:t>
            </a:r>
            <a:endParaRPr lang="en-US" sz="3200" dirty="0"/>
          </a:p>
          <a:p>
            <a:r>
              <a:rPr lang="en-US" sz="3200" dirty="0"/>
              <a:t>• aural (listening and hearing)</a:t>
            </a:r>
            <a:endParaRPr lang="en-US" sz="3200" dirty="0"/>
          </a:p>
          <a:p>
            <a:r>
              <a:rPr lang="en-US" sz="3200" dirty="0"/>
              <a:t>• non-verbal (facial expressions, body language, and posture)</a:t>
            </a:r>
            <a:endParaRPr lang="en-US" sz="3200" dirty="0"/>
          </a:p>
          <a:p>
            <a:r>
              <a:rPr lang="en-US" sz="3200" dirty="0"/>
              <a:t>• written (journals, emails, blogs, and text messages)</a:t>
            </a:r>
            <a:endParaRPr lang="en-US" sz="3200" dirty="0"/>
          </a:p>
          <a:p>
            <a:r>
              <a:rPr lang="en-US" sz="3200" dirty="0"/>
              <a:t>• visual (signs, symbols, colors, and pictures)</a:t>
            </a:r>
            <a:endParaRPr 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688" y="642594"/>
            <a:ext cx="10508512" cy="654578"/>
          </a:xfrm>
        </p:spPr>
        <p:txBody>
          <a:bodyPr>
            <a:normAutofit fontScale="90000"/>
          </a:bodyPr>
          <a:lstStyle/>
          <a:p>
            <a:r>
              <a:rPr lang="en-US" b="1" dirty="0"/>
              <a:t>Why and how to Communicate?</a:t>
            </a:r>
            <a:endParaRPr lang="en-US" b="1" dirty="0"/>
          </a:p>
        </p:txBody>
      </p:sp>
      <p:sp>
        <p:nvSpPr>
          <p:cNvPr id="3" name="Content Placeholder 2"/>
          <p:cNvSpPr>
            <a:spLocks noGrp="1"/>
          </p:cNvSpPr>
          <p:nvPr>
            <p:ph idx="1"/>
          </p:nvPr>
        </p:nvSpPr>
        <p:spPr>
          <a:xfrm>
            <a:off x="616688" y="1414130"/>
            <a:ext cx="11047228" cy="4954772"/>
          </a:xfrm>
        </p:spPr>
        <p:txBody>
          <a:bodyPr/>
          <a:lstStyle/>
          <a:p>
            <a:r>
              <a:rPr lang="en-US" sz="3200" dirty="0"/>
              <a:t>Being able to </a:t>
            </a:r>
            <a:r>
              <a:rPr lang="en-US" sz="3200" dirty="0">
                <a:solidFill>
                  <a:srgbClr val="FF0000"/>
                </a:solidFill>
              </a:rPr>
              <a:t>effectively communicate</a:t>
            </a:r>
            <a:r>
              <a:rPr lang="en-US" sz="3200" dirty="0"/>
              <a:t> one’s needs, feelings and emotions is critical to </a:t>
            </a:r>
            <a:r>
              <a:rPr lang="en-US" sz="3200" dirty="0">
                <a:solidFill>
                  <a:srgbClr val="FF0000"/>
                </a:solidFill>
              </a:rPr>
              <a:t>lifelong success</a:t>
            </a:r>
            <a:r>
              <a:rPr lang="en-US" sz="3200" dirty="0"/>
              <a:t>.</a:t>
            </a:r>
            <a:endParaRPr lang="en-US" sz="3200" dirty="0"/>
          </a:p>
          <a:p>
            <a:endParaRPr lang="en-US" sz="3200" dirty="0"/>
          </a:p>
          <a:p>
            <a:r>
              <a:rPr lang="en-US" sz="3200" dirty="0"/>
              <a:t> Effective communication helps us better understand people or situations and enables us to build trusting and respectful relationships, resolve conflicts, and create environments where ideas, problem solving, and empathy can flourish.</a:t>
            </a:r>
            <a:endParaRPr lang="en-US" sz="3200" dirty="0"/>
          </a:p>
          <a:p>
            <a:endParaRPr lang="en-US" sz="3200"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585" y="642594"/>
            <a:ext cx="10476615" cy="718373"/>
          </a:xfrm>
        </p:spPr>
        <p:txBody>
          <a:bodyPr>
            <a:normAutofit fontScale="90000"/>
          </a:bodyPr>
          <a:lstStyle/>
          <a:p>
            <a:r>
              <a:rPr lang="en-US" b="1" dirty="0"/>
              <a:t>For Example: </a:t>
            </a:r>
            <a:endParaRPr lang="en-US" b="1" dirty="0"/>
          </a:p>
        </p:txBody>
      </p:sp>
      <p:sp>
        <p:nvSpPr>
          <p:cNvPr id="3" name="Content Placeholder 2"/>
          <p:cNvSpPr>
            <a:spLocks noGrp="1"/>
          </p:cNvSpPr>
          <p:nvPr>
            <p:ph idx="1"/>
          </p:nvPr>
        </p:nvSpPr>
        <p:spPr>
          <a:xfrm>
            <a:off x="648585" y="1541721"/>
            <a:ext cx="10909005" cy="4795283"/>
          </a:xfrm>
        </p:spPr>
        <p:txBody>
          <a:bodyPr/>
          <a:lstStyle/>
          <a:p>
            <a:r>
              <a:rPr lang="en-US" sz="3200" dirty="0"/>
              <a:t>Sana met </a:t>
            </a:r>
            <a:r>
              <a:rPr lang="en-US" sz="3200" dirty="0" err="1"/>
              <a:t>Lareb</a:t>
            </a:r>
            <a:r>
              <a:rPr lang="en-US" sz="3200" dirty="0"/>
              <a:t> at a party. Both women engaged in a conversation about their studies and university life. Sana left the conversation with a great impression of </a:t>
            </a:r>
            <a:r>
              <a:rPr lang="en-US" sz="3200" dirty="0" err="1"/>
              <a:t>Lareb</a:t>
            </a:r>
            <a:r>
              <a:rPr lang="en-US" sz="3200" dirty="0"/>
              <a:t>. 'What was it about </a:t>
            </a:r>
            <a:r>
              <a:rPr lang="en-US" sz="3200" dirty="0" err="1"/>
              <a:t>Lareb</a:t>
            </a:r>
            <a:r>
              <a:rPr lang="en-US" sz="3200" dirty="0"/>
              <a:t> that made her such an attractive person?’ Sana wondered. After all, </a:t>
            </a:r>
            <a:r>
              <a:rPr lang="en-US" sz="3200" dirty="0" err="1"/>
              <a:t>Lareb</a:t>
            </a:r>
            <a:r>
              <a:rPr lang="en-US" sz="3200" dirty="0"/>
              <a:t> didn't say anything particularly extraordinary during the exchange. </a:t>
            </a:r>
            <a:endParaRPr lang="en-US" sz="3200" dirty="0"/>
          </a:p>
          <a:p>
            <a:r>
              <a:rPr lang="en-US" sz="3200" dirty="0"/>
              <a:t> </a:t>
            </a:r>
            <a:r>
              <a:rPr lang="en-US" sz="3200" dirty="0">
                <a:solidFill>
                  <a:srgbClr val="FF0000"/>
                </a:solidFill>
              </a:rPr>
              <a:t>It was </a:t>
            </a:r>
            <a:r>
              <a:rPr lang="en-US" sz="3200" dirty="0" err="1">
                <a:solidFill>
                  <a:srgbClr val="FF0000"/>
                </a:solidFill>
              </a:rPr>
              <a:t>Lareb’s</a:t>
            </a:r>
            <a:r>
              <a:rPr lang="en-US" sz="3200" dirty="0">
                <a:solidFill>
                  <a:srgbClr val="FF0000"/>
                </a:solidFill>
              </a:rPr>
              <a:t> wonderful communication skills that made her such a charming and likable person.</a:t>
            </a:r>
            <a:endParaRPr lang="en-US" sz="3200" dirty="0">
              <a:solidFill>
                <a:srgbClr val="FF0000"/>
              </a:solidFill>
            </a:endParaRPr>
          </a:p>
          <a:p>
            <a:endParaRPr lang="en-US" sz="3200"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Placeholder 5" descr="People discuss some documents"/>
          <p:cNvPicPr>
            <a:picLocks noGrp="1" noChangeAspect="1"/>
          </p:cNvPicPr>
          <p:nvPr>
            <p:ph type="pic" sz="quarter" idx="14"/>
          </p:nvPr>
        </p:nvPicPr>
        <p:blipFill>
          <a:blip r:embed="rId1">
            <a:alphaModFix amt="10000"/>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a:xfrm>
            <a:off x="233400" y="247670"/>
            <a:ext cx="11725200" cy="6362659"/>
          </a:xfrm>
        </p:spPr>
      </p:pic>
      <p:sp>
        <p:nvSpPr>
          <p:cNvPr id="3" name="Title 2"/>
          <p:cNvSpPr>
            <a:spLocks noGrp="1"/>
          </p:cNvSpPr>
          <p:nvPr>
            <p:ph type="title"/>
          </p:nvPr>
        </p:nvSpPr>
        <p:spPr>
          <a:xfrm>
            <a:off x="584791" y="642594"/>
            <a:ext cx="10540409" cy="643946"/>
          </a:xfrm>
        </p:spPr>
        <p:txBody>
          <a:bodyPr>
            <a:normAutofit fontScale="90000"/>
          </a:bodyPr>
          <a:lstStyle/>
          <a:p>
            <a:br>
              <a:rPr lang="en-US" b="1" dirty="0">
                <a:solidFill>
                  <a:schemeClr val="tx1"/>
                </a:solidFill>
              </a:rPr>
            </a:br>
            <a:r>
              <a:rPr lang="en-US" b="1" dirty="0">
                <a:solidFill>
                  <a:schemeClr val="tx1"/>
                </a:solidFill>
              </a:rPr>
              <a:t>General Communication Skills</a:t>
            </a:r>
            <a:br>
              <a:rPr lang="en-US" b="1" dirty="0">
                <a:solidFill>
                  <a:schemeClr val="tx1"/>
                </a:solidFill>
              </a:rPr>
            </a:br>
            <a:endParaRPr lang="en-US" b="1" dirty="0">
              <a:solidFill>
                <a:schemeClr val="tx1"/>
              </a:solidFill>
            </a:endParaRPr>
          </a:p>
        </p:txBody>
      </p:sp>
      <p:sp>
        <p:nvSpPr>
          <p:cNvPr id="5" name="Content Placeholder 4"/>
          <p:cNvSpPr>
            <a:spLocks noGrp="1"/>
          </p:cNvSpPr>
          <p:nvPr>
            <p:ph sz="half" idx="2"/>
          </p:nvPr>
        </p:nvSpPr>
        <p:spPr>
          <a:xfrm>
            <a:off x="584791" y="1403498"/>
            <a:ext cx="10994065" cy="4954772"/>
          </a:xfrm>
        </p:spPr>
        <p:txBody>
          <a:bodyPr/>
          <a:lstStyle/>
          <a:p>
            <a:pPr marL="0" indent="0">
              <a:buNone/>
            </a:pPr>
            <a:r>
              <a:rPr lang="en-US" sz="3200" dirty="0"/>
              <a:t>Basic communication skills involve building of a rapport. </a:t>
            </a:r>
            <a:endParaRPr lang="en-US" sz="3200" dirty="0"/>
          </a:p>
          <a:p>
            <a:pPr marL="0" indent="0">
              <a:buNone/>
            </a:pPr>
            <a:r>
              <a:rPr lang="en-US" sz="3200" dirty="0"/>
              <a:t>How do you go about Establishing Rapport?</a:t>
            </a:r>
            <a:endParaRPr lang="en-US" sz="3200" dirty="0"/>
          </a:p>
          <a:p>
            <a:pPr marL="0" indent="0">
              <a:buNone/>
            </a:pPr>
            <a:r>
              <a:rPr lang="en-US" sz="3200" dirty="0"/>
              <a:t>* You need Self-Confidence</a:t>
            </a:r>
            <a:endParaRPr lang="en-US" sz="3200" dirty="0"/>
          </a:p>
          <a:p>
            <a:pPr marL="0" indent="0">
              <a:buNone/>
            </a:pPr>
            <a:r>
              <a:rPr lang="en-US" sz="3200" dirty="0"/>
              <a:t>* You must Understand People</a:t>
            </a:r>
            <a:endParaRPr lang="en-US" sz="3200" dirty="0"/>
          </a:p>
          <a:p>
            <a:pPr marL="0" indent="0">
              <a:buNone/>
            </a:pPr>
            <a:r>
              <a:rPr lang="en-US" sz="3200" dirty="0"/>
              <a:t>* You must be Enthusiastic</a:t>
            </a:r>
            <a:endParaRPr lang="en-US" sz="3200" dirty="0"/>
          </a:p>
          <a:p>
            <a:pPr marL="0" indent="0">
              <a:buNone/>
            </a:pPr>
            <a:r>
              <a:rPr lang="en-US" sz="3200" dirty="0"/>
              <a:t>* You must make Eye Contact</a:t>
            </a:r>
            <a:endParaRPr lang="en-US" sz="3200" dirty="0"/>
          </a:p>
          <a:p>
            <a:pPr marL="0" indent="0">
              <a:buNone/>
            </a:pPr>
            <a:r>
              <a:rPr lang="en-US" sz="3200" dirty="0"/>
              <a:t>* You must be Interested in them</a:t>
            </a:r>
            <a:endParaRPr lang="en-US" sz="3200"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4279" y="642594"/>
            <a:ext cx="10380921" cy="622680"/>
          </a:xfrm>
          <a:prstGeom prst="rect">
            <a:avLst/>
          </a:prstGeom>
        </p:spPr>
        <p:txBody>
          <a:bodyPr vert="horz" lIns="91440" tIns="45720" rIns="91440" bIns="45720" rtlCol="0" anchor="ctr">
            <a:normAutofit fontScale="90000"/>
          </a:bodyPr>
          <a:lstStyle/>
          <a:p>
            <a:pPr>
              <a:lnSpc>
                <a:spcPct val="90000"/>
              </a:lnSpc>
            </a:pPr>
            <a:r>
              <a:rPr lang="en-US" sz="4800" b="1" dirty="0">
                <a:solidFill>
                  <a:schemeClr val="tx1"/>
                </a:solidFill>
              </a:rPr>
              <a:t>You also need to: </a:t>
            </a:r>
            <a:endParaRPr lang="en-US" sz="4800" b="1" dirty="0">
              <a:solidFill>
                <a:schemeClr val="tx1"/>
              </a:solidFill>
            </a:endParaRPr>
          </a:p>
        </p:txBody>
      </p:sp>
      <p:sp>
        <p:nvSpPr>
          <p:cNvPr id="11" name="Text Placeholder 3"/>
          <p:cNvSpPr>
            <a:spLocks noGrp="1"/>
          </p:cNvSpPr>
          <p:nvPr>
            <p:ph idx="1"/>
          </p:nvPr>
        </p:nvSpPr>
        <p:spPr>
          <a:xfrm>
            <a:off x="627321" y="1456661"/>
            <a:ext cx="11036595" cy="4890976"/>
          </a:xfrm>
        </p:spPr>
        <p:txBody>
          <a:bodyPr vert="horz" lIns="91440" tIns="45720" rIns="91440" bIns="45720" rtlCol="0">
            <a:normAutofit/>
          </a:bodyPr>
          <a:lstStyle/>
          <a:p>
            <a:pPr marL="215900" indent="-215900">
              <a:buClr>
                <a:schemeClr val="accent1"/>
              </a:buClr>
              <a:buFont typeface="Arial" panose="020B0604020202020204" pitchFamily="34" charset="0"/>
              <a:buChar char="•"/>
            </a:pPr>
            <a:r>
              <a:rPr lang="en-US" sz="3200" b="1" dirty="0">
                <a:solidFill>
                  <a:srgbClr val="FF0000"/>
                </a:solidFill>
              </a:rPr>
              <a:t>Remember names</a:t>
            </a:r>
            <a:r>
              <a:rPr lang="en-US" sz="3200" dirty="0">
                <a:solidFill>
                  <a:srgbClr val="FF0000"/>
                </a:solidFill>
              </a:rPr>
              <a:t>:</a:t>
            </a:r>
            <a:r>
              <a:rPr lang="en-US" sz="3200" dirty="0">
                <a:solidFill>
                  <a:schemeClr val="tx2"/>
                </a:solidFill>
              </a:rPr>
              <a:t> Pay attention when someone introduces themselves. Use their name at least twice in your conversation with them, but be careful </a:t>
            </a:r>
            <a:r>
              <a:rPr lang="en-US" sz="3200" dirty="0">
                <a:solidFill>
                  <a:srgbClr val="FF0000"/>
                </a:solidFill>
              </a:rPr>
              <a:t>not to overdo it</a:t>
            </a:r>
            <a:r>
              <a:rPr lang="en-US" sz="3200" dirty="0">
                <a:solidFill>
                  <a:schemeClr val="tx2"/>
                </a:solidFill>
              </a:rPr>
              <a:t>.</a:t>
            </a:r>
            <a:endParaRPr lang="en-US" sz="3200" dirty="0">
              <a:solidFill>
                <a:schemeClr val="tx2"/>
              </a:solidFill>
            </a:endParaRPr>
          </a:p>
          <a:p>
            <a:pPr marL="215900" indent="-215900">
              <a:buClr>
                <a:schemeClr val="accent1"/>
              </a:buClr>
              <a:buFont typeface="Arial" panose="020B0604020202020204" pitchFamily="34" charset="0"/>
              <a:buChar char="•"/>
            </a:pPr>
            <a:endParaRPr lang="en-US" sz="3200" dirty="0">
              <a:solidFill>
                <a:schemeClr val="tx2"/>
              </a:solidFill>
            </a:endParaRPr>
          </a:p>
          <a:p>
            <a:pPr marL="215900" indent="-215900">
              <a:buClr>
                <a:schemeClr val="accent1"/>
              </a:buClr>
              <a:buFont typeface="Arial" panose="020B0604020202020204" pitchFamily="34" charset="0"/>
              <a:buChar char="•"/>
            </a:pPr>
            <a:r>
              <a:rPr lang="en-US" sz="3200" b="1" dirty="0">
                <a:solidFill>
                  <a:srgbClr val="FF0000"/>
                </a:solidFill>
              </a:rPr>
              <a:t>Use eye contact</a:t>
            </a:r>
            <a:r>
              <a:rPr lang="en-US" sz="3200" dirty="0">
                <a:solidFill>
                  <a:schemeClr val="tx2"/>
                </a:solidFill>
              </a:rPr>
              <a:t>: When speaking with someone, look at them in the eyes so that they know you are both trustworthy and engrossed in the conversation, but avert your eyes at times to ensure the eye contact is</a:t>
            </a:r>
            <a:r>
              <a:rPr lang="en-US" sz="3200" dirty="0">
                <a:solidFill>
                  <a:srgbClr val="FF0000"/>
                </a:solidFill>
              </a:rPr>
              <a:t> not overwhelming.</a:t>
            </a:r>
            <a:endParaRPr lang="en-US" sz="3200" dirty="0">
              <a:solidFill>
                <a:srgbClr val="FF0000"/>
              </a:solidFill>
            </a:endParaRPr>
          </a:p>
          <a:p>
            <a:pPr marL="215900" indent="-215900">
              <a:buClr>
                <a:schemeClr val="accent1"/>
              </a:buClr>
              <a:buFont typeface="Arial" panose="020B0604020202020204" pitchFamily="34" charset="0"/>
              <a:buChar char="•"/>
            </a:pPr>
            <a:endParaRPr lang="en-US" sz="3200"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9219" y="642594"/>
            <a:ext cx="10465981" cy="580150"/>
          </a:xfrm>
        </p:spPr>
        <p:txBody>
          <a:bodyPr>
            <a:normAutofit fontScale="90000"/>
          </a:bodyPr>
          <a:lstStyle/>
          <a:p>
            <a:r>
              <a:rPr lang="en-US" b="1" dirty="0"/>
              <a:t>General Communication Skills (Continued)</a:t>
            </a:r>
            <a:endParaRPr lang="en-US" b="1" dirty="0"/>
          </a:p>
        </p:txBody>
      </p:sp>
      <p:sp>
        <p:nvSpPr>
          <p:cNvPr id="3" name="Content Placeholder 2"/>
          <p:cNvSpPr>
            <a:spLocks noGrp="1"/>
          </p:cNvSpPr>
          <p:nvPr>
            <p:ph idx="1"/>
          </p:nvPr>
        </p:nvSpPr>
        <p:spPr>
          <a:xfrm>
            <a:off x="584791" y="1360967"/>
            <a:ext cx="11057860" cy="4965405"/>
          </a:xfrm>
        </p:spPr>
        <p:txBody>
          <a:bodyPr>
            <a:normAutofit/>
          </a:bodyPr>
          <a:lstStyle/>
          <a:p>
            <a:r>
              <a:rPr lang="en-US" sz="3200" b="1" dirty="0"/>
              <a:t>Ask open-ended questions</a:t>
            </a:r>
            <a:r>
              <a:rPr lang="en-US" sz="3200" dirty="0"/>
              <a:t>: People love to talk about themselves and have a tendency to rattle off their opinions, experiences and stories to others. In your next conversation, ask open-ended questions (questions that don't yield a simple 'yes' or 'no' response) to allow the other person to talk about themselves. </a:t>
            </a:r>
            <a:endParaRPr lang="en-US" sz="3200" dirty="0"/>
          </a:p>
          <a:p>
            <a:endParaRPr lang="en-US" sz="3200" dirty="0"/>
          </a:p>
          <a:p>
            <a:r>
              <a:rPr lang="en-US" sz="3200" dirty="0"/>
              <a:t>Remember to share just enough about yourself to keep the person to whom you are speaking interested. </a:t>
            </a:r>
            <a:endParaRPr lang="en-US" sz="3200" dirty="0"/>
          </a:p>
          <a:p>
            <a:endParaRPr lang="en-US"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a:xfrm>
            <a:off x="723014" y="642594"/>
            <a:ext cx="10402186" cy="537620"/>
          </a:xfrm>
        </p:spPr>
        <p:txBody>
          <a:bodyPr vert="horz" lIns="91440" tIns="45720" rIns="91440" bIns="45720" rtlCol="0" anchor="ctr">
            <a:normAutofit fontScale="90000"/>
          </a:bodyPr>
          <a:lstStyle/>
          <a:p>
            <a:r>
              <a:rPr lang="en-US" b="1" dirty="0">
                <a:solidFill>
                  <a:schemeClr val="tx1"/>
                </a:solidFill>
              </a:rPr>
              <a:t>General Communication Skills (Continued)</a:t>
            </a:r>
            <a:endParaRPr lang="en-US" b="1" dirty="0">
              <a:solidFill>
                <a:schemeClr val="tx1"/>
              </a:solidFill>
            </a:endParaRPr>
          </a:p>
        </p:txBody>
      </p:sp>
      <p:sp>
        <p:nvSpPr>
          <p:cNvPr id="9" name="Content Placeholder 8"/>
          <p:cNvSpPr>
            <a:spLocks noGrp="1"/>
          </p:cNvSpPr>
          <p:nvPr>
            <p:ph idx="1"/>
          </p:nvPr>
        </p:nvSpPr>
        <p:spPr>
          <a:xfrm>
            <a:off x="648586" y="1318437"/>
            <a:ext cx="11047228" cy="5050465"/>
          </a:xfrm>
        </p:spPr>
        <p:txBody>
          <a:bodyPr vert="horz" lIns="91440" tIns="45720" rIns="91440" bIns="45720" rtlCol="0">
            <a:normAutofit/>
          </a:bodyPr>
          <a:lstStyle/>
          <a:p>
            <a:pPr marL="215900" indent="-215900">
              <a:buClr>
                <a:schemeClr val="accent1"/>
              </a:buClr>
              <a:buFont typeface="Arial" panose="020B0604020202020204" pitchFamily="34" charset="0"/>
              <a:buChar char="•"/>
            </a:pPr>
            <a:r>
              <a:rPr lang="en-US" sz="3200" b="1" dirty="0">
                <a:solidFill>
                  <a:schemeClr val="tx2"/>
                </a:solidFill>
              </a:rPr>
              <a:t>Match mood, body language, and voice tone</a:t>
            </a:r>
            <a:r>
              <a:rPr lang="en-US" sz="3200" dirty="0">
                <a:solidFill>
                  <a:schemeClr val="tx2"/>
                </a:solidFill>
              </a:rPr>
              <a:t>: Try to adapt your mood, body language, and voice tone to match the person with whom you are speaking. </a:t>
            </a:r>
            <a:endParaRPr lang="en-US" sz="3200" dirty="0">
              <a:solidFill>
                <a:schemeClr val="tx2"/>
              </a:solidFill>
            </a:endParaRPr>
          </a:p>
          <a:p>
            <a:pPr marL="215900" indent="-215900">
              <a:buClr>
                <a:schemeClr val="accent1"/>
              </a:buClr>
              <a:buFont typeface="Arial" panose="020B0604020202020204" pitchFamily="34" charset="0"/>
              <a:buChar char="•"/>
            </a:pPr>
            <a:endParaRPr lang="en-US" sz="3200" dirty="0">
              <a:solidFill>
                <a:schemeClr val="tx2"/>
              </a:solidFill>
            </a:endParaRPr>
          </a:p>
          <a:p>
            <a:pPr marL="0" indent="0">
              <a:buClr>
                <a:schemeClr val="accent1"/>
              </a:buClr>
              <a:buNone/>
            </a:pPr>
            <a:endParaRPr lang="en-US" sz="3200" dirty="0">
              <a:solidFill>
                <a:schemeClr val="tx2"/>
              </a:solidFill>
            </a:endParaRPr>
          </a:p>
          <a:p>
            <a:pPr marL="215900" indent="-215900">
              <a:buClr>
                <a:schemeClr val="accent1"/>
              </a:buClr>
              <a:buFont typeface="Arial" panose="020B0604020202020204" pitchFamily="34" charset="0"/>
              <a:buChar char="•"/>
            </a:pPr>
            <a:r>
              <a:rPr lang="en-US" sz="3200" b="1" dirty="0">
                <a:solidFill>
                  <a:schemeClr val="tx2"/>
                </a:solidFill>
              </a:rPr>
              <a:t>Attentively listen</a:t>
            </a:r>
            <a:r>
              <a:rPr lang="en-US" sz="3200" dirty="0">
                <a:solidFill>
                  <a:schemeClr val="tx2"/>
                </a:solidFill>
              </a:rPr>
              <a:t>: Avoid looking at your phone or watch, and don't interrupt the speaker. Additionally, refrain from thinking about what you want to say next. Follow-up questions and comments will flow naturally if you truly listen. </a:t>
            </a:r>
            <a:endParaRPr lang="en-US" sz="3200" dirty="0">
              <a:solidFill>
                <a:schemeClr val="tx2"/>
              </a:solidFill>
            </a:endParaRPr>
          </a:p>
          <a:p>
            <a:pPr marL="215900" indent="-215900">
              <a:buClr>
                <a:schemeClr val="accent1"/>
              </a:buClr>
              <a:buFont typeface="Arial" panose="020B0604020202020204" pitchFamily="34" charset="0"/>
              <a:buChar char="•"/>
            </a:pPr>
            <a:endParaRPr lang="en-US" dirty="0">
              <a:solidFill>
                <a:schemeClr val="bg2">
                  <a:lumMod val="50000"/>
                </a:schemeClr>
              </a:solidFill>
            </a:endParaRPr>
          </a:p>
          <a:p>
            <a:pPr marL="215900" indent="-215900">
              <a:buClr>
                <a:schemeClr val="accent1"/>
              </a:buClr>
              <a:buFont typeface="Arial" panose="020B0604020202020204" pitchFamily="34" charset="0"/>
              <a:buChar char="•"/>
            </a:pPr>
            <a:endParaRPr lang="en-US" dirty="0">
              <a:solidFill>
                <a:schemeClr val="bg2">
                  <a:lumMod val="5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647" y="642594"/>
            <a:ext cx="10391553" cy="526987"/>
          </a:xfrm>
        </p:spPr>
        <p:txBody>
          <a:bodyPr vert="horz" lIns="91440" tIns="45720" rIns="91440" bIns="45720" rtlCol="0" anchor="ctr">
            <a:normAutofit fontScale="90000"/>
          </a:bodyPr>
          <a:lstStyle/>
          <a:p>
            <a:r>
              <a:rPr lang="en-US" b="1" dirty="0">
                <a:solidFill>
                  <a:schemeClr val="tx1"/>
                </a:solidFill>
              </a:rPr>
              <a:t>General Communication Skills (Continued)</a:t>
            </a:r>
            <a:endParaRPr lang="en-US" b="1" dirty="0">
              <a:solidFill>
                <a:schemeClr val="tx1"/>
              </a:solidFill>
            </a:endParaRPr>
          </a:p>
        </p:txBody>
      </p:sp>
      <p:sp>
        <p:nvSpPr>
          <p:cNvPr id="4" name="Content Placeholder 3"/>
          <p:cNvSpPr>
            <a:spLocks noGrp="1"/>
          </p:cNvSpPr>
          <p:nvPr>
            <p:ph idx="1"/>
          </p:nvPr>
        </p:nvSpPr>
        <p:spPr>
          <a:xfrm>
            <a:off x="584791" y="1350335"/>
            <a:ext cx="11068493" cy="5007935"/>
          </a:xfrm>
        </p:spPr>
        <p:txBody>
          <a:bodyPr>
            <a:normAutofit/>
          </a:bodyPr>
          <a:lstStyle/>
          <a:p>
            <a:r>
              <a:rPr lang="en-US" sz="3200" dirty="0"/>
              <a:t>Individuals in the digital age must know how to effectively convey and receive messages in person as well as via phone, email and social media.</a:t>
            </a:r>
            <a:endParaRPr lang="en-US" sz="3200" dirty="0"/>
          </a:p>
          <a:p>
            <a:endParaRPr lang="en-US" sz="3200" dirty="0"/>
          </a:p>
          <a:p>
            <a:endParaRPr lang="en-US" sz="3200" dirty="0"/>
          </a:p>
          <a:p>
            <a:pPr marL="0" indent="0">
              <a:buNone/>
            </a:pPr>
            <a:r>
              <a:rPr lang="en-US" sz="3200" dirty="0"/>
              <a:t>Communication is the act of transferring information from one place to another using voice, printed or digital media, body language and gestures.</a:t>
            </a:r>
            <a:endParaRPr lang="en-US" sz="3200" dirty="0"/>
          </a:p>
          <a:p>
            <a:endParaRPr lang="en-US" sz="3200" dirty="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66800" y="642594"/>
            <a:ext cx="10058400" cy="601415"/>
          </a:xfrm>
        </p:spPr>
        <p:txBody>
          <a:bodyPr>
            <a:normAutofit fontScale="90000"/>
          </a:bodyPr>
          <a:lstStyle/>
          <a:p>
            <a:r>
              <a:rPr lang="en-US" dirty="0"/>
              <a:t>How this image is related to previous slides?</a:t>
            </a:r>
            <a:endParaRPr lang="en-US" dirty="0"/>
          </a:p>
        </p:txBody>
      </p:sp>
      <p:pic>
        <p:nvPicPr>
          <p:cNvPr id="6" name="Content Placeholder 5" descr="A close up of text on a black background&#10;&#10;Description automatically generated"/>
          <p:cNvPicPr>
            <a:picLocks noGrp="1" noChangeAspect="1"/>
          </p:cNvPicPr>
          <p:nvPr>
            <p:ph idx="1"/>
          </p:nvPr>
        </p:nvPicPr>
        <p:blipFill>
          <a:blip r:embed="rId1"/>
          <a:stretch>
            <a:fillRect/>
          </a:stretch>
        </p:blipFill>
        <p:spPr>
          <a:xfrm>
            <a:off x="1796902" y="1360967"/>
            <a:ext cx="8176438" cy="4854439"/>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688" y="642594"/>
            <a:ext cx="10508512" cy="590783"/>
          </a:xfrm>
        </p:spPr>
        <p:txBody>
          <a:bodyPr>
            <a:normAutofit fontScale="90000"/>
          </a:bodyPr>
          <a:lstStyle/>
          <a:p>
            <a:r>
              <a:rPr lang="en-US" b="1" dirty="0"/>
              <a:t>The image shown can be defined as :</a:t>
            </a:r>
            <a:endParaRPr lang="en-US" b="1" dirty="0"/>
          </a:p>
        </p:txBody>
      </p:sp>
      <p:sp>
        <p:nvSpPr>
          <p:cNvPr id="3" name="Content Placeholder 2"/>
          <p:cNvSpPr>
            <a:spLocks noGrp="1"/>
          </p:cNvSpPr>
          <p:nvPr>
            <p:ph idx="1"/>
          </p:nvPr>
        </p:nvSpPr>
        <p:spPr>
          <a:xfrm>
            <a:off x="489099" y="1360967"/>
            <a:ext cx="11281144" cy="5039833"/>
          </a:xfrm>
        </p:spPr>
        <p:txBody>
          <a:bodyPr/>
          <a:lstStyle/>
          <a:p>
            <a:r>
              <a:rPr lang="en-US" sz="3600" dirty="0"/>
              <a:t>Communication is a dynamic process.</a:t>
            </a:r>
            <a:endParaRPr lang="en-US" sz="3600" dirty="0"/>
          </a:p>
          <a:p>
            <a:r>
              <a:rPr lang="en-US" sz="3600" dirty="0"/>
              <a:t>Through this process we convey a thought or feeling to someone else.</a:t>
            </a:r>
            <a:endParaRPr lang="en-US" sz="3600" dirty="0"/>
          </a:p>
          <a:p>
            <a:r>
              <a:rPr lang="en-US" sz="3600" dirty="0"/>
              <a:t>How it is received depends on a set of events, stimuli, that person is exposed to.</a:t>
            </a:r>
            <a:endParaRPr lang="en-US" sz="3600" dirty="0"/>
          </a:p>
          <a:p>
            <a:r>
              <a:rPr lang="en-US" sz="3600" dirty="0"/>
              <a:t>How you say what you say plays an important role in communication.</a:t>
            </a:r>
            <a:endParaRPr lang="en-US" sz="3600"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791" y="642594"/>
            <a:ext cx="10540409" cy="601415"/>
          </a:xfrm>
        </p:spPr>
        <p:txBody>
          <a:bodyPr>
            <a:normAutofit fontScale="90000"/>
          </a:bodyPr>
          <a:lstStyle/>
          <a:p>
            <a:r>
              <a:rPr lang="en-US" b="1" dirty="0"/>
              <a:t>TOTAL COMMUNICATION PROCESS</a:t>
            </a:r>
            <a:endParaRPr lang="en-US" b="1" dirty="0"/>
          </a:p>
        </p:txBody>
      </p:sp>
      <p:graphicFrame>
        <p:nvGraphicFramePr>
          <p:cNvPr id="4" name="Object 0"/>
          <p:cNvGraphicFramePr>
            <a:graphicFrameLocks noGrp="1" noChangeAspect="1"/>
          </p:cNvGraphicFramePr>
          <p:nvPr>
            <p:ph idx="1"/>
          </p:nvPr>
        </p:nvGraphicFramePr>
        <p:xfrm>
          <a:off x="2660738" y="1328738"/>
          <a:ext cx="6980062" cy="5060950"/>
        </p:xfrm>
        <a:graphic>
          <a:graphicData uri="http://schemas.openxmlformats.org/presentationml/2006/ole">
            <mc:AlternateContent xmlns:mc="http://schemas.openxmlformats.org/markup-compatibility/2006">
              <mc:Choice xmlns:v="urn:schemas-microsoft-com:vml" Requires="v">
                <p:oleObj spid="_x0000_s1031" name="Chart" r:id="rId1" imgW="8220075" imgH="5962650" progId="MSGraph.Chart.8">
                  <p:embed followColorScheme="full"/>
                </p:oleObj>
              </mc:Choice>
              <mc:Fallback>
                <p:oleObj name="Chart" r:id="rId1" imgW="8220075" imgH="5962650" progId="MSGraph.Chart.8">
                  <p:embed followColorScheme="full"/>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0738" y="1328738"/>
                        <a:ext cx="6980062" cy="506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056" y="642594"/>
            <a:ext cx="10519144" cy="707741"/>
          </a:xfrm>
        </p:spPr>
        <p:txBody>
          <a:bodyPr>
            <a:normAutofit fontScale="90000"/>
          </a:bodyPr>
          <a:lstStyle/>
          <a:p>
            <a:r>
              <a:rPr lang="en-US" b="1" dirty="0"/>
              <a:t>LEVELS OF COMMUNICATION</a:t>
            </a:r>
            <a:endParaRPr lang="en-US" b="1" dirty="0"/>
          </a:p>
        </p:txBody>
      </p:sp>
      <p:sp>
        <p:nvSpPr>
          <p:cNvPr id="3" name="Content Placeholder 2"/>
          <p:cNvSpPr>
            <a:spLocks noGrp="1"/>
          </p:cNvSpPr>
          <p:nvPr>
            <p:ph idx="1"/>
          </p:nvPr>
        </p:nvSpPr>
        <p:spPr>
          <a:xfrm>
            <a:off x="606056" y="1446028"/>
            <a:ext cx="11047228" cy="4901609"/>
          </a:xfrm>
        </p:spPr>
        <p:txBody>
          <a:bodyPr/>
          <a:lstStyle/>
          <a:p>
            <a:r>
              <a:rPr lang="en-US" sz="3200" dirty="0">
                <a:solidFill>
                  <a:srgbClr val="FF0000"/>
                </a:solidFill>
              </a:rPr>
              <a:t>VERBAL</a:t>
            </a:r>
            <a:endParaRPr lang="en-US" sz="3200" dirty="0">
              <a:solidFill>
                <a:srgbClr val="FF0000"/>
              </a:solidFill>
            </a:endParaRPr>
          </a:p>
          <a:p>
            <a:r>
              <a:rPr lang="en-US" sz="3200" dirty="0"/>
              <a:t>Intra verbal: intonation of word and sound</a:t>
            </a:r>
            <a:endParaRPr lang="en-US" sz="3200" dirty="0"/>
          </a:p>
          <a:p>
            <a:r>
              <a:rPr lang="en-US" sz="3200" dirty="0"/>
              <a:t>Extra verbal: implication of words and phrases, semantics</a:t>
            </a:r>
            <a:endParaRPr lang="en-US" sz="3200" dirty="0"/>
          </a:p>
          <a:p>
            <a:r>
              <a:rPr lang="en-US" sz="3200" dirty="0">
                <a:solidFill>
                  <a:srgbClr val="FF0000"/>
                </a:solidFill>
              </a:rPr>
              <a:t>NON-VERBAL</a:t>
            </a:r>
            <a:endParaRPr lang="en-US" sz="3200" dirty="0">
              <a:solidFill>
                <a:srgbClr val="FF0000"/>
              </a:solidFill>
            </a:endParaRPr>
          </a:p>
          <a:p>
            <a:r>
              <a:rPr lang="en-US" sz="3200" dirty="0"/>
              <a:t>Gestures</a:t>
            </a:r>
            <a:endParaRPr lang="en-US" sz="3200" dirty="0"/>
          </a:p>
          <a:p>
            <a:r>
              <a:rPr lang="en-US" sz="3200" dirty="0"/>
              <a:t>Postures</a:t>
            </a:r>
            <a:endParaRPr lang="en-US" sz="3200" dirty="0"/>
          </a:p>
          <a:p>
            <a:r>
              <a:rPr lang="en-US" sz="3200" dirty="0"/>
              <a:t>Movements</a:t>
            </a:r>
            <a:endParaRPr lang="en-US" sz="3200" dirty="0"/>
          </a:p>
          <a:p>
            <a:r>
              <a:rPr lang="en-US" sz="3200" dirty="0"/>
              <a:t>SYMBOLIC</a:t>
            </a:r>
            <a:endParaRPr lang="en-US" sz="3200" dirty="0"/>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381" y="642594"/>
            <a:ext cx="10866475" cy="718373"/>
          </a:xfrm>
        </p:spPr>
        <p:txBody>
          <a:bodyPr>
            <a:normAutofit fontScale="90000"/>
          </a:bodyPr>
          <a:lstStyle/>
          <a:p>
            <a:endParaRPr lang="en-US" dirty="0"/>
          </a:p>
        </p:txBody>
      </p:sp>
      <p:sp>
        <p:nvSpPr>
          <p:cNvPr id="3" name="Content Placeholder 2"/>
          <p:cNvSpPr>
            <a:spLocks noGrp="1"/>
          </p:cNvSpPr>
          <p:nvPr>
            <p:ph idx="1"/>
          </p:nvPr>
        </p:nvSpPr>
        <p:spPr>
          <a:xfrm>
            <a:off x="616687" y="1499192"/>
            <a:ext cx="11068493" cy="4890976"/>
          </a:xfrm>
        </p:spPr>
        <p:txBody>
          <a:bodyPr>
            <a:normAutofit/>
          </a:bodyPr>
          <a:lstStyle/>
          <a:p>
            <a:pPr algn="ctr"/>
            <a:endParaRPr lang="en-US" sz="3600" dirty="0"/>
          </a:p>
          <a:p>
            <a:pPr algn="ctr"/>
            <a:endParaRPr lang="en-US" sz="3600" dirty="0"/>
          </a:p>
          <a:p>
            <a:pPr algn="ctr"/>
            <a:r>
              <a:rPr lang="en-US" sz="3600" dirty="0"/>
              <a:t>Why study Communication Skills?</a:t>
            </a:r>
            <a:endParaRPr lang="en-US" sz="3600" dirty="0"/>
          </a:p>
          <a:p>
            <a:pPr algn="ctr"/>
            <a:r>
              <a:rPr lang="en-US" sz="3600" dirty="0"/>
              <a:t>What is its relevance in your field?</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569518"/>
          </a:xfrm>
        </p:spPr>
        <p:txBody>
          <a:bodyPr>
            <a:normAutofit fontScale="90000"/>
          </a:bodyPr>
          <a:lstStyle/>
          <a:p>
            <a:r>
              <a:rPr lang="en-US" dirty="0"/>
              <a:t>Relevance of the Course:</a:t>
            </a:r>
            <a:endParaRPr lang="en-US" dirty="0"/>
          </a:p>
        </p:txBody>
      </p:sp>
      <p:sp>
        <p:nvSpPr>
          <p:cNvPr id="3" name="Content Placeholder 2"/>
          <p:cNvSpPr>
            <a:spLocks noGrp="1"/>
          </p:cNvSpPr>
          <p:nvPr>
            <p:ph idx="1"/>
          </p:nvPr>
        </p:nvSpPr>
        <p:spPr>
          <a:xfrm>
            <a:off x="595423" y="1339703"/>
            <a:ext cx="11057861" cy="5018568"/>
          </a:xfrm>
        </p:spPr>
        <p:txBody>
          <a:bodyPr>
            <a:normAutofit/>
          </a:bodyPr>
          <a:lstStyle/>
          <a:p>
            <a:r>
              <a:rPr lang="en-US" sz="3200" dirty="0"/>
              <a:t>People mostly understand you.  But as most of you know, once you get into a work place, and work as a professional/engineer, the game changes. </a:t>
            </a:r>
            <a:endParaRPr lang="en-US" sz="3200" dirty="0"/>
          </a:p>
          <a:p>
            <a:endParaRPr lang="en-US" sz="3200" dirty="0"/>
          </a:p>
          <a:p>
            <a:r>
              <a:rPr lang="en-US" sz="3200" dirty="0"/>
              <a:t>The stakes get higher. Now, you are expected to solve problems, lead projects, to be an employee who contributes to the bottom line of their organization.</a:t>
            </a:r>
            <a:endParaRPr lang="en-US" sz="3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9851" y="642594"/>
            <a:ext cx="10455349" cy="612048"/>
          </a:xfrm>
        </p:spPr>
        <p:txBody>
          <a:bodyPr>
            <a:normAutofit fontScale="90000"/>
          </a:bodyPr>
          <a:lstStyle/>
          <a:p>
            <a:r>
              <a:rPr lang="en-US" b="1" dirty="0"/>
              <a:t>Relevance of the Course (Continued):</a:t>
            </a:r>
            <a:endParaRPr lang="en-US" b="1" dirty="0"/>
          </a:p>
        </p:txBody>
      </p:sp>
      <p:sp>
        <p:nvSpPr>
          <p:cNvPr id="3" name="Content Placeholder 2"/>
          <p:cNvSpPr>
            <a:spLocks noGrp="1"/>
          </p:cNvSpPr>
          <p:nvPr>
            <p:ph idx="1"/>
          </p:nvPr>
        </p:nvSpPr>
        <p:spPr>
          <a:xfrm>
            <a:off x="574157" y="1382233"/>
            <a:ext cx="11132289" cy="4965403"/>
          </a:xfrm>
        </p:spPr>
        <p:txBody>
          <a:bodyPr>
            <a:normAutofit/>
          </a:bodyPr>
          <a:lstStyle/>
          <a:p>
            <a:r>
              <a:rPr lang="en-US" sz="3200" dirty="0"/>
              <a:t>You'll find out very quickly that everybody, your management chain, your team, your peers, everybody will scrutinize the way you communicate. </a:t>
            </a:r>
            <a:endParaRPr lang="en-US" sz="3200" dirty="0"/>
          </a:p>
          <a:p>
            <a:endParaRPr lang="en-US" sz="3200" dirty="0"/>
          </a:p>
          <a:p>
            <a:r>
              <a:rPr lang="en-US" sz="3200" dirty="0"/>
              <a:t>They will judge you, what you say. Is it relevant to the point? Something your audience needs to know, and how you say it. Are you confident, clear, articulate</a:t>
            </a:r>
            <a:endParaRPr lang="en-US" sz="3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442" y="642594"/>
            <a:ext cx="10327759" cy="590783"/>
          </a:xfrm>
        </p:spPr>
        <p:txBody>
          <a:bodyPr>
            <a:normAutofit fontScale="90000"/>
          </a:bodyPr>
          <a:lstStyle/>
          <a:p>
            <a:r>
              <a:rPr lang="en-US" b="1" dirty="0"/>
              <a:t>Relevance of the Course (Continued):</a:t>
            </a:r>
            <a:endParaRPr lang="en-US" b="1" dirty="0"/>
          </a:p>
        </p:txBody>
      </p:sp>
      <p:sp>
        <p:nvSpPr>
          <p:cNvPr id="3" name="Content Placeholder 2"/>
          <p:cNvSpPr>
            <a:spLocks noGrp="1"/>
          </p:cNvSpPr>
          <p:nvPr>
            <p:ph idx="1"/>
          </p:nvPr>
        </p:nvSpPr>
        <p:spPr>
          <a:xfrm>
            <a:off x="584791" y="1329071"/>
            <a:ext cx="11100390" cy="5039832"/>
          </a:xfrm>
        </p:spPr>
        <p:txBody>
          <a:bodyPr/>
          <a:lstStyle/>
          <a:p>
            <a:r>
              <a:rPr lang="en-US" sz="3200" dirty="0"/>
              <a:t>Engineers/Professionals  face particularly difficult challenges when speaking in public. You have to explain complex ideas. </a:t>
            </a:r>
            <a:endParaRPr lang="en-US" sz="3200" dirty="0"/>
          </a:p>
          <a:p>
            <a:endParaRPr lang="en-US" sz="3200" dirty="0"/>
          </a:p>
          <a:p>
            <a:r>
              <a:rPr lang="en-US" sz="3200" dirty="0"/>
              <a:t>Translate technical language into simpler concepts, and persuade others to implement your recommendations.</a:t>
            </a:r>
            <a:endParaRPr lang="en-US" sz="3200" dirty="0"/>
          </a:p>
          <a:p>
            <a:endParaRPr lang="en-US" sz="2800" dirty="0"/>
          </a:p>
          <a:p>
            <a:endParaRPr lang="en-US" sz="2800" dirty="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381" y="642594"/>
            <a:ext cx="10412819" cy="675843"/>
          </a:xfrm>
        </p:spPr>
        <p:txBody>
          <a:bodyPr>
            <a:normAutofit fontScale="90000"/>
          </a:bodyPr>
          <a:lstStyle/>
          <a:p>
            <a:r>
              <a:rPr lang="en-US" b="1" dirty="0"/>
              <a:t>Strategic Communication?</a:t>
            </a:r>
            <a:endParaRPr lang="en-US" b="1" dirty="0"/>
          </a:p>
        </p:txBody>
      </p:sp>
      <p:sp>
        <p:nvSpPr>
          <p:cNvPr id="3" name="Content Placeholder 2"/>
          <p:cNvSpPr>
            <a:spLocks noGrp="1"/>
          </p:cNvSpPr>
          <p:nvPr>
            <p:ph idx="1"/>
          </p:nvPr>
        </p:nvSpPr>
        <p:spPr>
          <a:xfrm>
            <a:off x="598967" y="1456661"/>
            <a:ext cx="10994065" cy="4848448"/>
          </a:xfrm>
        </p:spPr>
        <p:txBody>
          <a:bodyPr>
            <a:normAutofit/>
          </a:bodyPr>
          <a:lstStyle/>
          <a:p>
            <a:pPr algn="ctr"/>
            <a:r>
              <a:rPr lang="en-US" sz="3200" b="1" dirty="0"/>
              <a:t>Think about it</a:t>
            </a:r>
            <a:endParaRPr lang="en-US" sz="3200" b="1" dirty="0"/>
          </a:p>
          <a:p>
            <a:pPr marL="0" indent="0">
              <a:buNone/>
            </a:pPr>
            <a:r>
              <a:rPr lang="en-US" sz="3200" dirty="0"/>
              <a:t>Think about areas in your student life(specifically about studies) where you are required to think strategically. What does that involve? </a:t>
            </a:r>
            <a:endParaRPr lang="en-US" sz="3200" dirty="0"/>
          </a:p>
          <a:p>
            <a:pPr marL="0" indent="0">
              <a:buNone/>
            </a:pPr>
            <a:endParaRPr lang="en-US" sz="3200" dirty="0"/>
          </a:p>
          <a:p>
            <a:pPr marL="0" indent="0">
              <a:buNone/>
            </a:pPr>
            <a:r>
              <a:rPr lang="en-US" sz="3200" dirty="0"/>
              <a:t>What does it mean to think strategically?</a:t>
            </a:r>
            <a:endParaRPr lang="en-US" sz="3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749" y="642594"/>
            <a:ext cx="10423451" cy="601415"/>
          </a:xfrm>
        </p:spPr>
        <p:txBody>
          <a:bodyPr>
            <a:normAutofit fontScale="90000"/>
          </a:bodyPr>
          <a:lstStyle/>
          <a:p>
            <a:r>
              <a:rPr lang="en-US" b="1" dirty="0"/>
              <a:t>Strategic Communication (Continued):</a:t>
            </a:r>
            <a:endParaRPr lang="en-US" b="1" dirty="0"/>
          </a:p>
        </p:txBody>
      </p:sp>
      <p:sp>
        <p:nvSpPr>
          <p:cNvPr id="3" name="Content Placeholder 2"/>
          <p:cNvSpPr>
            <a:spLocks noGrp="1"/>
          </p:cNvSpPr>
          <p:nvPr>
            <p:ph idx="1"/>
          </p:nvPr>
        </p:nvSpPr>
        <p:spPr>
          <a:xfrm>
            <a:off x="574157" y="1350335"/>
            <a:ext cx="11057861" cy="4997301"/>
          </a:xfrm>
        </p:spPr>
        <p:txBody>
          <a:bodyPr/>
          <a:lstStyle/>
          <a:p>
            <a:endParaRPr lang="en-US" dirty="0"/>
          </a:p>
          <a:p>
            <a:r>
              <a:rPr lang="en-US" sz="3200" dirty="0"/>
              <a:t>You probably know the word strategy, but have you ever heard it in relation to communication? </a:t>
            </a:r>
            <a:endParaRPr lang="en-US" sz="3200" dirty="0"/>
          </a:p>
          <a:p>
            <a:endParaRPr lang="en-US" sz="3200" dirty="0"/>
          </a:p>
          <a:p>
            <a:r>
              <a:rPr lang="en-US" sz="3200" dirty="0"/>
              <a:t>In today's fast-paced world, many people think of communication as instantaneous. You shoot off an email, you react to a challenging question, you throw together an assignment update for today’s  morning class. </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953" y="642594"/>
            <a:ext cx="10487247" cy="580150"/>
          </a:xfrm>
        </p:spPr>
        <p:txBody>
          <a:bodyPr>
            <a:normAutofit fontScale="90000"/>
          </a:bodyPr>
          <a:lstStyle/>
          <a:p>
            <a:r>
              <a:rPr lang="en-US" b="1" dirty="0"/>
              <a:t>Strategic Communication (Continued):</a:t>
            </a:r>
            <a:endParaRPr lang="en-US" b="1" dirty="0"/>
          </a:p>
        </p:txBody>
      </p:sp>
      <p:sp>
        <p:nvSpPr>
          <p:cNvPr id="3" name="Content Placeholder 2"/>
          <p:cNvSpPr>
            <a:spLocks noGrp="1"/>
          </p:cNvSpPr>
          <p:nvPr>
            <p:ph idx="1"/>
          </p:nvPr>
        </p:nvSpPr>
        <p:spPr>
          <a:xfrm>
            <a:off x="552893" y="1392865"/>
            <a:ext cx="11068493" cy="4965405"/>
          </a:xfrm>
        </p:spPr>
        <p:txBody>
          <a:bodyPr>
            <a:normAutofit/>
          </a:bodyPr>
          <a:lstStyle/>
          <a:p>
            <a:r>
              <a:rPr lang="en-US" sz="3200" dirty="0"/>
              <a:t>We're used to communicating without thinking, but that style of communication will take you only so far. </a:t>
            </a:r>
            <a:endParaRPr lang="en-US" sz="3200" dirty="0"/>
          </a:p>
          <a:p>
            <a:pPr marL="0" indent="0">
              <a:buNone/>
            </a:pPr>
            <a:endParaRPr lang="en-US" sz="3200" dirty="0"/>
          </a:p>
          <a:p>
            <a:r>
              <a:rPr lang="en-US" sz="3200" dirty="0"/>
              <a:t>If you want to be a leader in any aspect of life, you need to think about what and how you are communicating. You need to communicate strategically.</a:t>
            </a:r>
            <a:endParaRPr lang="en-US" sz="3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321" y="642594"/>
            <a:ext cx="10497879" cy="824699"/>
          </a:xfrm>
        </p:spPr>
        <p:txBody>
          <a:bodyPr/>
          <a:lstStyle/>
          <a:p>
            <a:r>
              <a:rPr lang="en-US" dirty="0"/>
              <a:t>Strategic Communication in a Nut Shell </a:t>
            </a:r>
            <a:endParaRPr lang="en-US" dirty="0"/>
          </a:p>
        </p:txBody>
      </p:sp>
      <p:graphicFrame>
        <p:nvGraphicFramePr>
          <p:cNvPr id="6" name="Content Placeholder 5"/>
          <p:cNvGraphicFramePr>
            <a:graphicFrameLocks noGrp="1"/>
          </p:cNvGraphicFramePr>
          <p:nvPr>
            <p:ph idx="1"/>
          </p:nvPr>
        </p:nvGraphicFramePr>
        <p:xfrm>
          <a:off x="627063" y="1573213"/>
          <a:ext cx="10983912" cy="464219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633313"/>
          </a:xfrm>
        </p:spPr>
        <p:txBody>
          <a:bodyPr>
            <a:normAutofit fontScale="90000"/>
          </a:bodyPr>
          <a:lstStyle/>
          <a:p>
            <a:r>
              <a:rPr lang="en-US" b="1" dirty="0"/>
              <a:t>Communication Strategy</a:t>
            </a:r>
            <a:endParaRPr lang="en-US" b="1" dirty="0"/>
          </a:p>
        </p:txBody>
      </p:sp>
      <p:sp>
        <p:nvSpPr>
          <p:cNvPr id="3" name="Content Placeholder 2"/>
          <p:cNvSpPr>
            <a:spLocks noGrp="1"/>
          </p:cNvSpPr>
          <p:nvPr>
            <p:ph idx="1"/>
          </p:nvPr>
        </p:nvSpPr>
        <p:spPr>
          <a:xfrm>
            <a:off x="616687" y="1541721"/>
            <a:ext cx="10994065" cy="4816549"/>
          </a:xfrm>
        </p:spPr>
        <p:txBody>
          <a:bodyPr>
            <a:normAutofit/>
          </a:bodyPr>
          <a:lstStyle/>
          <a:p>
            <a:r>
              <a:rPr lang="en-US" sz="3200" dirty="0"/>
              <a:t>There are four basic questions you need to answer when you develop a communication strategy. First, who is your audience? Second, what do you want from your audience?</a:t>
            </a:r>
            <a:endParaRPr lang="en-US" sz="3200" dirty="0"/>
          </a:p>
          <a:p>
            <a:endParaRPr lang="en-US" sz="3200" dirty="0"/>
          </a:p>
          <a:p>
            <a:r>
              <a:rPr lang="en-US" sz="3200" dirty="0"/>
              <a:t>Third, what do you want your audience to know and remember? And last, how will you communicate your thoughts to your audience?</a:t>
            </a:r>
            <a:endParaRPr lang="en-US" sz="3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590783"/>
          </a:xfrm>
        </p:spPr>
        <p:txBody>
          <a:bodyPr>
            <a:normAutofit fontScale="90000"/>
          </a:bodyPr>
          <a:lstStyle/>
          <a:p>
            <a:r>
              <a:rPr lang="en-US" b="1" dirty="0"/>
              <a:t>Who is Your Audience?</a:t>
            </a:r>
            <a:endParaRPr lang="en-US" b="1" dirty="0"/>
          </a:p>
        </p:txBody>
      </p:sp>
      <p:sp>
        <p:nvSpPr>
          <p:cNvPr id="3" name="Content Placeholder 2"/>
          <p:cNvSpPr>
            <a:spLocks noGrp="1"/>
          </p:cNvSpPr>
          <p:nvPr>
            <p:ph idx="1"/>
          </p:nvPr>
        </p:nvSpPr>
        <p:spPr>
          <a:xfrm>
            <a:off x="574158" y="1371600"/>
            <a:ext cx="11153554" cy="4965405"/>
          </a:xfrm>
        </p:spPr>
        <p:txBody>
          <a:bodyPr>
            <a:normAutofit/>
          </a:bodyPr>
          <a:lstStyle/>
          <a:p>
            <a:r>
              <a:rPr lang="en-US" sz="3200" dirty="0"/>
              <a:t>Your audience is everything. You need to keep them in mind at every step along the way, as you plan, create, and deliver your communication. Never forget your audience.</a:t>
            </a:r>
            <a:endParaRPr lang="en-US" sz="3200" dirty="0"/>
          </a:p>
          <a:p>
            <a:endParaRPr lang="en-US" sz="3200" dirty="0"/>
          </a:p>
          <a:p>
            <a:r>
              <a:rPr lang="en-US" sz="3200" dirty="0"/>
              <a:t> Get into their heads. Think like they do. If you were in their place, what questions would you have about your topic?</a:t>
            </a:r>
            <a:endParaRPr lang="en-US" sz="3200" dirty="0"/>
          </a:p>
          <a:p>
            <a:endParaRPr lang="en-US" sz="3200" dirty="0"/>
          </a:p>
          <a:p>
            <a:r>
              <a:rPr lang="en-US" sz="3200" b="1" dirty="0"/>
              <a:t>Example</a:t>
            </a:r>
            <a:r>
              <a:rPr lang="en-US" sz="3200" dirty="0"/>
              <a:t>: Discuss successful/ popular tv advertisements and reason of their popularity?</a:t>
            </a:r>
            <a:endParaRPr lang="en-US" sz="3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046" y="642595"/>
            <a:ext cx="10458893" cy="558884"/>
          </a:xfrm>
        </p:spPr>
        <p:txBody>
          <a:bodyPr>
            <a:normAutofit fontScale="90000"/>
          </a:bodyPr>
          <a:lstStyle/>
          <a:p>
            <a:r>
              <a:rPr lang="en-US" b="1" dirty="0"/>
              <a:t>What do you want from your Audience?</a:t>
            </a:r>
            <a:endParaRPr lang="en-US" b="1" dirty="0"/>
          </a:p>
        </p:txBody>
      </p:sp>
      <p:sp>
        <p:nvSpPr>
          <p:cNvPr id="3" name="Content Placeholder 2"/>
          <p:cNvSpPr>
            <a:spLocks noGrp="1"/>
          </p:cNvSpPr>
          <p:nvPr>
            <p:ph idx="1"/>
          </p:nvPr>
        </p:nvSpPr>
        <p:spPr>
          <a:xfrm>
            <a:off x="552893" y="1297173"/>
            <a:ext cx="11089757" cy="5082362"/>
          </a:xfrm>
        </p:spPr>
        <p:txBody>
          <a:bodyPr>
            <a:normAutofit/>
          </a:bodyPr>
          <a:lstStyle/>
          <a:p>
            <a:r>
              <a:rPr lang="en-US" sz="3200" dirty="0"/>
              <a:t>Your simpler goal can be that your audience understands your message .</a:t>
            </a:r>
            <a:endParaRPr lang="en-US" sz="3200" dirty="0"/>
          </a:p>
          <a:p>
            <a:endParaRPr lang="en-US" sz="3200" dirty="0"/>
          </a:p>
          <a:p>
            <a:r>
              <a:rPr lang="en-US" sz="3200" dirty="0"/>
              <a:t>For this, speak clearly and easily as per level of the target audience.</a:t>
            </a:r>
            <a:endParaRPr lang="en-US" sz="3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586" y="642593"/>
            <a:ext cx="10476614" cy="867229"/>
          </a:xfrm>
        </p:spPr>
        <p:txBody>
          <a:bodyPr>
            <a:normAutofit fontScale="90000"/>
          </a:bodyPr>
          <a:lstStyle/>
          <a:p>
            <a:r>
              <a:rPr lang="en-US" b="1" dirty="0"/>
              <a:t>What you want your audience to remember</a:t>
            </a:r>
            <a:endParaRPr lang="en-US" b="1" dirty="0"/>
          </a:p>
        </p:txBody>
      </p:sp>
      <p:sp>
        <p:nvSpPr>
          <p:cNvPr id="3" name="Content Placeholder 2"/>
          <p:cNvSpPr>
            <a:spLocks noGrp="1"/>
          </p:cNvSpPr>
          <p:nvPr>
            <p:ph idx="1"/>
          </p:nvPr>
        </p:nvSpPr>
        <p:spPr>
          <a:xfrm>
            <a:off x="520995" y="1509823"/>
            <a:ext cx="11111024" cy="4816549"/>
          </a:xfrm>
        </p:spPr>
        <p:txBody>
          <a:bodyPr>
            <a:normAutofit/>
          </a:bodyPr>
          <a:lstStyle/>
          <a:p>
            <a:r>
              <a:rPr lang="en-US" sz="3200" dirty="0"/>
              <a:t>It's important then to decide what one clear point you want your audience to remember. When they walk out of the room, the main point of the message they should remember.</a:t>
            </a:r>
            <a:endParaRPr lang="en-US" sz="3200" dirty="0"/>
          </a:p>
          <a:p>
            <a:endParaRPr lang="en-US" sz="3200" dirty="0"/>
          </a:p>
          <a:p>
            <a:r>
              <a:rPr lang="en-US" sz="3200" b="1" dirty="0"/>
              <a:t>Example</a:t>
            </a:r>
            <a:r>
              <a:rPr lang="en-US" sz="3200" dirty="0"/>
              <a:t>: Popular advertisement make audience believe in the goodness of the product and creates a desire to purchase a particular product. </a:t>
            </a:r>
            <a:endParaRPr lang="en-US" sz="3200" dirty="0"/>
          </a:p>
          <a:p>
            <a:endParaRPr lang="en-US" sz="3200" dirty="0"/>
          </a:p>
          <a:p>
            <a:endParaRPr lang="en-US" sz="3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5423" y="642594"/>
            <a:ext cx="10529777" cy="643946"/>
          </a:xfrm>
        </p:spPr>
        <p:txBody>
          <a:bodyPr>
            <a:normAutofit fontScale="90000"/>
          </a:bodyPr>
          <a:lstStyle/>
          <a:p>
            <a:r>
              <a:rPr lang="en-US" b="1" dirty="0"/>
              <a:t>Discussion Prompt:</a:t>
            </a:r>
            <a:endParaRPr lang="en-US" b="1" dirty="0"/>
          </a:p>
        </p:txBody>
      </p:sp>
      <p:sp>
        <p:nvSpPr>
          <p:cNvPr id="3" name="Content Placeholder 2"/>
          <p:cNvSpPr>
            <a:spLocks noGrp="1"/>
          </p:cNvSpPr>
          <p:nvPr>
            <p:ph idx="1"/>
          </p:nvPr>
        </p:nvSpPr>
        <p:spPr>
          <a:xfrm>
            <a:off x="595423" y="1435395"/>
            <a:ext cx="11068493" cy="4890977"/>
          </a:xfrm>
        </p:spPr>
        <p:txBody>
          <a:bodyPr/>
          <a:lstStyle/>
          <a:p>
            <a:r>
              <a:rPr lang="en-US" sz="3200" dirty="0"/>
              <a:t>Describe one example where you have tried to persuade someone to think, believe, or do something. </a:t>
            </a:r>
            <a:endParaRPr lang="en-US" sz="3200" dirty="0"/>
          </a:p>
          <a:p>
            <a:pPr marL="0" indent="0">
              <a:buNone/>
            </a:pPr>
            <a:endParaRPr lang="en-US" sz="3200" dirty="0"/>
          </a:p>
          <a:p>
            <a:r>
              <a:rPr lang="en-US" sz="3200" dirty="0"/>
              <a:t>What arguments did you use? Was your attempt successful? </a:t>
            </a:r>
            <a:endParaRPr lang="en-US" sz="3200" dirty="0"/>
          </a:p>
          <a:p>
            <a:pPr marL="0" indent="0">
              <a:buNone/>
            </a:pPr>
            <a:endParaRPr lang="en-US" sz="3200" dirty="0"/>
          </a:p>
          <a:p>
            <a:r>
              <a:rPr lang="en-US" sz="3200" dirty="0"/>
              <a:t>Share your persuasion example, listen to your class fellows’ and advise them  about what they should have done.</a:t>
            </a:r>
            <a:endParaRPr lang="en-US" sz="3200" dirty="0"/>
          </a:p>
          <a:p>
            <a:endParaRPr lang="en-US" dirty="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3135" y="642594"/>
            <a:ext cx="10232065" cy="750271"/>
          </a:xfrm>
        </p:spPr>
        <p:txBody>
          <a:bodyPr>
            <a:normAutofit fontScale="90000"/>
          </a:bodyPr>
          <a:lstStyle/>
          <a:p>
            <a:r>
              <a:rPr lang="en-US" b="1" dirty="0"/>
              <a:t>How you will communicate your thoughts?</a:t>
            </a:r>
            <a:endParaRPr lang="en-US" b="1" dirty="0"/>
          </a:p>
        </p:txBody>
      </p:sp>
      <p:sp>
        <p:nvSpPr>
          <p:cNvPr id="3" name="Content Placeholder 2"/>
          <p:cNvSpPr>
            <a:spLocks noGrp="1"/>
          </p:cNvSpPr>
          <p:nvPr>
            <p:ph idx="1"/>
          </p:nvPr>
        </p:nvSpPr>
        <p:spPr>
          <a:xfrm>
            <a:off x="606056" y="1509823"/>
            <a:ext cx="11089758" cy="4848447"/>
          </a:xfrm>
        </p:spPr>
        <p:txBody>
          <a:bodyPr>
            <a:normAutofit/>
          </a:bodyPr>
          <a:lstStyle/>
          <a:p>
            <a:r>
              <a:rPr lang="en-US" sz="3200" dirty="0"/>
              <a:t>You need to think of the best media to use. </a:t>
            </a:r>
            <a:endParaRPr lang="en-US" sz="3200" dirty="0"/>
          </a:p>
          <a:p>
            <a:r>
              <a:rPr lang="en-US" sz="3200" dirty="0"/>
              <a:t>Consider the strengths of each choice. For example, email is great for quick communication. It's easy for people to respond to. But email is not the best medium for delivering a long and detailed or complex and confidential matter.</a:t>
            </a:r>
            <a:endParaRPr lang="en-US" sz="3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484" y="642594"/>
            <a:ext cx="10444716" cy="771536"/>
          </a:xfrm>
        </p:spPr>
        <p:txBody>
          <a:bodyPr/>
          <a:lstStyle/>
          <a:p>
            <a:r>
              <a:rPr lang="en-US" b="1" dirty="0"/>
              <a:t>Conclusion/Debrief by Students </a:t>
            </a:r>
            <a:endParaRPr lang="en-US" b="1" dirty="0"/>
          </a:p>
        </p:txBody>
      </p:sp>
      <p:sp>
        <p:nvSpPr>
          <p:cNvPr id="3" name="Content Placeholder 2"/>
          <p:cNvSpPr>
            <a:spLocks noGrp="1"/>
          </p:cNvSpPr>
          <p:nvPr>
            <p:ph idx="1"/>
          </p:nvPr>
        </p:nvSpPr>
        <p:spPr>
          <a:xfrm>
            <a:off x="584791" y="1541721"/>
            <a:ext cx="11068493" cy="4816549"/>
          </a:xfrm>
        </p:spPr>
        <p:txBody>
          <a:bodyPr>
            <a:normAutofit/>
          </a:bodyPr>
          <a:lstStyle/>
          <a:p>
            <a:r>
              <a:rPr lang="en-US" sz="3200" dirty="0"/>
              <a:t>After today’s class, how would you define </a:t>
            </a:r>
            <a:r>
              <a:rPr lang="en-US" sz="3200" b="1" dirty="0"/>
              <a:t>“Communication Skills”? </a:t>
            </a:r>
            <a:endParaRPr lang="en-US" sz="3200" b="1" dirty="0"/>
          </a:p>
          <a:p>
            <a:endParaRPr lang="en-US" sz="3200" dirty="0"/>
          </a:p>
          <a:p>
            <a:r>
              <a:rPr lang="en-US" sz="3200" dirty="0"/>
              <a:t>Compose your own definition of “</a:t>
            </a:r>
            <a:r>
              <a:rPr lang="en-US" sz="3200" b="1" dirty="0"/>
              <a:t>Communication Skills</a:t>
            </a:r>
            <a:r>
              <a:rPr lang="en-US" sz="3200" dirty="0"/>
              <a:t>” in the chat box and share it with class by unmuting your mic one after another. </a:t>
            </a:r>
            <a:endParaRPr lang="en-US" sz="3200" dirty="0"/>
          </a:p>
          <a:p>
            <a:endParaRPr lang="en-US" sz="3200" dirty="0"/>
          </a:p>
          <a:p>
            <a:r>
              <a:rPr lang="en-US" sz="3200" dirty="0"/>
              <a:t>Questions from students and instructions for next class.</a:t>
            </a:r>
            <a:endParaRPr lang="en-US" sz="3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791" y="467833"/>
            <a:ext cx="10898372" cy="988827"/>
          </a:xfrm>
        </p:spPr>
        <p:txBody>
          <a:bodyPr>
            <a:noAutofit/>
          </a:bodyPr>
          <a:lstStyle/>
          <a:p>
            <a:r>
              <a:rPr lang="en-US" sz="4000" b="1" dirty="0"/>
              <a:t>Debrief activity for home and prompt for next sub topic  </a:t>
            </a:r>
            <a:endParaRPr lang="en-US" sz="4000" b="1" dirty="0"/>
          </a:p>
        </p:txBody>
      </p:sp>
      <p:sp>
        <p:nvSpPr>
          <p:cNvPr id="3" name="Content Placeholder 2"/>
          <p:cNvSpPr>
            <a:spLocks noGrp="1"/>
          </p:cNvSpPr>
          <p:nvPr>
            <p:ph idx="1"/>
          </p:nvPr>
        </p:nvSpPr>
        <p:spPr>
          <a:xfrm>
            <a:off x="584791" y="1456660"/>
            <a:ext cx="11068493" cy="4933507"/>
          </a:xfrm>
        </p:spPr>
        <p:txBody>
          <a:bodyPr vert="horz" lIns="91440" tIns="45720" rIns="91440" bIns="45720" rtlCol="0" anchor="t">
            <a:normAutofit/>
          </a:bodyPr>
          <a:lstStyle/>
          <a:p>
            <a:r>
              <a:rPr lang="en-US" dirty="0"/>
              <a:t>1. </a:t>
            </a:r>
            <a:r>
              <a:rPr lang="en-US" sz="2400" dirty="0"/>
              <a:t>Based on today’s discussion and lecture, consider </a:t>
            </a:r>
            <a:r>
              <a:rPr lang="en-US" sz="2400" b="1" dirty="0"/>
              <a:t>as a student you have identified that your laptop has been broken due to certain reason and you have an assignment deadline pending i.e. day after tomorrow. You want to convey this message to your course instructor, however you fear that you will not get an extra time to submit your assignment</a:t>
            </a:r>
            <a:r>
              <a:rPr lang="en-US" sz="2400" dirty="0"/>
              <a:t>. </a:t>
            </a:r>
            <a:endParaRPr lang="en-US" sz="2400" dirty="0"/>
          </a:p>
          <a:p>
            <a:r>
              <a:rPr lang="en-US" sz="2400" dirty="0"/>
              <a:t>Should you convey this message to your course instructor? Why? </a:t>
            </a:r>
            <a:endParaRPr lang="en-US" sz="2400" dirty="0"/>
          </a:p>
          <a:p>
            <a:r>
              <a:rPr lang="en-US" sz="2400" dirty="0"/>
              <a:t>How you will break this news? What medium you will select to convey the news ? </a:t>
            </a:r>
            <a:endParaRPr lang="en-US" sz="2400" dirty="0"/>
          </a:p>
          <a:p>
            <a:r>
              <a:rPr lang="en-US" sz="2400" dirty="0"/>
              <a:t>How you will persuade your instructor that you are willing to submit the assignment , just need a little extra time.</a:t>
            </a:r>
            <a:endParaRPr lang="en-US" sz="2400" dirty="0"/>
          </a:p>
          <a:p>
            <a:r>
              <a:rPr lang="en-US" sz="2400" dirty="0"/>
              <a:t>What barriers you might face during this communication?</a:t>
            </a:r>
            <a:endParaRPr lang="en-US" sz="2400" dirty="0"/>
          </a:p>
          <a:p>
            <a:endParaRPr lang="en-US" sz="2400"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Title 1"/>
          <p:cNvSpPr>
            <a:spLocks noGrp="1"/>
          </p:cNvSpPr>
          <p:nvPr>
            <p:ph type="title"/>
          </p:nvPr>
        </p:nvSpPr>
        <p:spPr>
          <a:xfrm>
            <a:off x="616687" y="642594"/>
            <a:ext cx="10508513" cy="612048"/>
          </a:xfrm>
        </p:spPr>
        <p:txBody>
          <a:bodyPr>
            <a:normAutofit fontScale="90000"/>
          </a:bodyPr>
          <a:lstStyle/>
          <a:p>
            <a:r>
              <a:rPr lang="en-US" dirty="0"/>
              <a:t>References</a:t>
            </a:r>
            <a:endParaRPr lang="en-US" dirty="0"/>
          </a:p>
        </p:txBody>
      </p:sp>
      <p:sp>
        <p:nvSpPr>
          <p:cNvPr id="13" name="Text Placeholder 3"/>
          <p:cNvSpPr>
            <a:spLocks noGrp="1"/>
          </p:cNvSpPr>
          <p:nvPr>
            <p:ph idx="1"/>
          </p:nvPr>
        </p:nvSpPr>
        <p:spPr>
          <a:xfrm>
            <a:off x="616687" y="1392865"/>
            <a:ext cx="11089759" cy="4986670"/>
          </a:xfrm>
        </p:spPr>
        <p:txBody>
          <a:bodyPr/>
          <a:lstStyle/>
          <a:p>
            <a:pPr>
              <a:buClr>
                <a:schemeClr val="accent1"/>
              </a:buClr>
            </a:pPr>
            <a:r>
              <a:rPr lang="en-US" dirty="0">
                <a:hlinkClick r:id="rId1"/>
              </a:rPr>
              <a:t>tthps://www.dol.gov/odep/topics/youth/softskills/</a:t>
            </a:r>
            <a:r>
              <a:rPr lang="en-US" dirty="0"/>
              <a:t> </a:t>
            </a:r>
            <a:endParaRPr lang="en-US" dirty="0"/>
          </a:p>
          <a:p>
            <a:pPr>
              <a:buClr>
                <a:schemeClr val="accent1"/>
              </a:buClr>
            </a:pPr>
            <a:r>
              <a:rPr lang="en-US" dirty="0">
                <a:hlinkClick r:id="rId2"/>
              </a:rPr>
              <a:t>https://www.aeseducation.com/career-readiness/employability-skills-lesson-plans/</a:t>
            </a:r>
            <a:r>
              <a:rPr lang="en-US" dirty="0"/>
              <a:t> </a:t>
            </a:r>
            <a:endParaRPr lang="en-US" dirty="0"/>
          </a:p>
          <a:p>
            <a:pPr>
              <a:buClr>
                <a:schemeClr val="accent1"/>
              </a:buClr>
            </a:pPr>
            <a:r>
              <a:rPr lang="en-US" dirty="0">
                <a:hlinkClick r:id="rId3"/>
              </a:rPr>
              <a:t>https://www.dol.gov/odep/topics/youth/softskills/SoftSkills-videos.htm</a:t>
            </a:r>
            <a:r>
              <a:rPr lang="en-US" dirty="0"/>
              <a:t> </a:t>
            </a:r>
            <a:endParaRPr lang="en-US" dirty="0"/>
          </a:p>
          <a:p>
            <a:pPr>
              <a:buClr>
                <a:schemeClr val="accent1"/>
              </a:buClr>
            </a:pPr>
            <a:endParaRPr lang="en-US" dirty="0"/>
          </a:p>
          <a:p>
            <a:pPr>
              <a:buClr>
                <a:schemeClr val="accent1"/>
              </a:buClr>
            </a:pPr>
            <a:r>
              <a:rPr lang="en-US" dirty="0">
                <a:hlinkClick r:id="rId4"/>
              </a:rPr>
              <a:t>https://educircles.org/21st-century-learning-6cs/</a:t>
            </a:r>
            <a:r>
              <a:rPr lang="en-US" dirty="0"/>
              <a:t>  </a:t>
            </a:r>
            <a:endParaRPr lang="en-US" dirty="0"/>
          </a:p>
          <a:p>
            <a:pPr marL="0" indent="0">
              <a:buClr>
                <a:schemeClr val="accent1"/>
              </a:buClr>
              <a:buNone/>
            </a:pPr>
            <a:endParaRPr lang="en-US" dirty="0"/>
          </a:p>
          <a:p>
            <a:pPr>
              <a:buClr>
                <a:schemeClr val="accent1"/>
              </a:buClr>
            </a:pPr>
            <a:r>
              <a:rPr lang="en-US" dirty="0">
                <a:hlinkClick r:id="rId5"/>
              </a:rPr>
              <a:t>https://www.aeseducation.com/blog/what-are-21st-century-skills</a:t>
            </a:r>
            <a:r>
              <a:rPr lang="en-US" dirty="0"/>
              <a:t> </a:t>
            </a:r>
            <a:endParaRPr lang="en-US" dirty="0"/>
          </a:p>
          <a:p>
            <a:pPr>
              <a:buClr>
                <a:schemeClr val="accent1"/>
              </a:buClr>
            </a:pPr>
            <a:endParaRPr lang="en-US" dirty="0"/>
          </a:p>
          <a:p>
            <a:pPr>
              <a:buClr>
                <a:schemeClr val="accent1"/>
              </a:buClr>
            </a:pPr>
            <a:r>
              <a:rPr lang="en-US" dirty="0"/>
              <a:t>Coursera.com (Oral Communication for Engineering Leaders)</a:t>
            </a:r>
            <a:endParaRPr lang="en-US" dirty="0"/>
          </a:p>
          <a:p>
            <a:pPr>
              <a:buClr>
                <a:schemeClr val="accent1"/>
              </a:buClr>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66800" y="642594"/>
            <a:ext cx="10058400" cy="2786406"/>
          </a:xfrm>
        </p:spPr>
        <p:txBody>
          <a:bodyPr vert="horz" lIns="91440" tIns="45720" rIns="91440" bIns="45720" rtlCol="0" anchor="ctr">
            <a:normAutofit fontScale="90000"/>
          </a:bodyPr>
          <a:lstStyle/>
          <a:p>
            <a:pPr algn="ctr"/>
            <a:br>
              <a:rPr lang="en-US" cap="all" spc="-100" dirty="0"/>
            </a:br>
            <a:br>
              <a:rPr lang="en-US" cap="all" spc="-100" dirty="0"/>
            </a:br>
            <a:br>
              <a:rPr lang="en-US" cap="all" spc="-100" dirty="0"/>
            </a:br>
            <a:br>
              <a:rPr lang="en-US" cap="all" spc="-100" dirty="0"/>
            </a:br>
            <a:br>
              <a:rPr lang="en-US" cap="all" spc="-100" dirty="0"/>
            </a:br>
            <a:br>
              <a:rPr lang="en-US" cap="all" spc="-100" dirty="0"/>
            </a:br>
            <a:r>
              <a:rPr lang="en-US" cap="all" spc="-100" dirty="0"/>
              <a:t>Thank You!</a:t>
            </a:r>
            <a:endParaRPr lang="en-US" cap="all" spc="-1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
      <a:dk1>
        <a:srgbClr val="000000"/>
      </a:dk1>
      <a:lt1>
        <a:srgbClr val="FFFFFF"/>
      </a:lt1>
      <a:dk2>
        <a:srgbClr val="41242D"/>
      </a:dk2>
      <a:lt2>
        <a:srgbClr val="E2E2E8"/>
      </a:lt2>
      <a:accent1>
        <a:srgbClr val="A5A27D"/>
      </a:accent1>
      <a:accent2>
        <a:srgbClr val="B79A7A"/>
      </a:accent2>
      <a:accent3>
        <a:srgbClr val="C2948F"/>
      </a:accent3>
      <a:accent4>
        <a:srgbClr val="BA7F91"/>
      </a:accent4>
      <a:accent5>
        <a:srgbClr val="C390B5"/>
      </a:accent5>
      <a:accent6>
        <a:srgbClr val="B17FBA"/>
      </a:accent6>
      <a:hlink>
        <a:srgbClr val="6D71B0"/>
      </a:hlink>
      <a:folHlink>
        <a:srgbClr val="7F7F7F"/>
      </a:folHlink>
    </a:clrScheme>
    <a:fontScheme name="Savon">
      <a:majorFont>
        <a:latin typeface="Garamond"/>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02E381379F1484E8B49CEE83C42946A" ma:contentTypeVersion="5" ma:contentTypeDescription="Create a new document." ma:contentTypeScope="" ma:versionID="1fee4d42aa73a7934e5bf4d4cfb23ff0">
  <xsd:schema xmlns:xsd="http://www.w3.org/2001/XMLSchema" xmlns:xs="http://www.w3.org/2001/XMLSchema" xmlns:p="http://schemas.microsoft.com/office/2006/metadata/properties" xmlns:ns2="45d88890-e702-4d29-9309-6b0ee7bb63ce" targetNamespace="http://schemas.microsoft.com/office/2006/metadata/properties" ma:root="true" ma:fieldsID="c9312361a629b88dafb54d7e843cc169" ns2:_="">
    <xsd:import namespace="45d88890-e702-4d29-9309-6b0ee7bb63c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d88890-e702-4d29-9309-6b0ee7bb63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243E30-12F4-4BE3-B27D-23AB115E9D1F}">
  <ds:schemaRefs/>
</ds:datastoreItem>
</file>

<file path=customXml/itemProps2.xml><?xml version="1.0" encoding="utf-8"?>
<ds:datastoreItem xmlns:ds="http://schemas.openxmlformats.org/officeDocument/2006/customXml" ds:itemID="{2F5E4A76-0180-4CD0-B081-82F74A336136}">
  <ds:schemaRefs/>
</ds:datastoreItem>
</file>

<file path=customXml/itemProps3.xml><?xml version="1.0" encoding="utf-8"?>
<ds:datastoreItem xmlns:ds="http://schemas.openxmlformats.org/officeDocument/2006/customXml" ds:itemID="{57E4EE33-3A40-4106-B2D4-A90B1A84DA9C}">
  <ds:schemaRefs/>
</ds:datastoreItem>
</file>

<file path=docProps/app.xml><?xml version="1.0" encoding="utf-8"?>
<Properties xmlns="http://schemas.openxmlformats.org/officeDocument/2006/extended-properties" xmlns:vt="http://schemas.openxmlformats.org/officeDocument/2006/docPropsVTypes">
  <TotalTime>0</TotalTime>
  <Words>14094</Words>
  <Application>WPS Presentation</Application>
  <PresentationFormat>Widescreen</PresentationFormat>
  <Paragraphs>344</Paragraphs>
  <Slides>48</Slides>
  <Notes>9</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59" baseType="lpstr">
      <vt:lpstr>Arial</vt:lpstr>
      <vt:lpstr>SimSun</vt:lpstr>
      <vt:lpstr>Wingdings</vt:lpstr>
      <vt:lpstr>Garamond</vt:lpstr>
      <vt:lpstr>Microsoft YaHei</vt:lpstr>
      <vt:lpstr>Arial Unicode MS</vt:lpstr>
      <vt:lpstr>Calibri</vt:lpstr>
      <vt:lpstr>source sans pro</vt:lpstr>
      <vt:lpstr>Yu Gothic UI</vt:lpstr>
      <vt:lpstr>SavonVTI</vt:lpstr>
      <vt:lpstr>MSGraph.Chart.8</vt:lpstr>
      <vt:lpstr>COMMUNICATION SKILLS</vt:lpstr>
      <vt:lpstr> Fair Use Notice </vt:lpstr>
      <vt:lpstr>First Lesson-Introduction to Communication Skills</vt:lpstr>
      <vt:lpstr>Lecture 1 Essentials: </vt:lpstr>
      <vt:lpstr>General Introduction (10:am-10:10am)</vt:lpstr>
      <vt:lpstr>Few Important points to understand</vt:lpstr>
      <vt:lpstr> Procedure: </vt:lpstr>
      <vt:lpstr>Pluses and Deltas - Formative Assessment – Peer Feedback</vt:lpstr>
      <vt:lpstr>Pluses and Deltas Continued</vt:lpstr>
      <vt:lpstr>Warm Up Prompts</vt:lpstr>
      <vt:lpstr>Warm Up Prompts (Continued)</vt:lpstr>
      <vt:lpstr>Warm Up Prompts(Continued)</vt:lpstr>
      <vt:lpstr>21st Century Global Skills:</vt:lpstr>
      <vt:lpstr>21st Century Global Skills(Continued):</vt:lpstr>
      <vt:lpstr>PowerPoint 演示文稿</vt:lpstr>
      <vt:lpstr>Global Skills </vt:lpstr>
      <vt:lpstr>Your understanding about this image?</vt:lpstr>
      <vt:lpstr>Communication Skills </vt:lpstr>
      <vt:lpstr>What are Communication Skills</vt:lpstr>
      <vt:lpstr>Why and how to Communicate?</vt:lpstr>
      <vt:lpstr>For Example: </vt:lpstr>
      <vt:lpstr> General Communication Skills </vt:lpstr>
      <vt:lpstr>You also need to: </vt:lpstr>
      <vt:lpstr>General Communication Skills (Continued)</vt:lpstr>
      <vt:lpstr>General Communication Skills (Continued)</vt:lpstr>
      <vt:lpstr>General Communication Skills (Continued)</vt:lpstr>
      <vt:lpstr>How this image is related to previous slides?</vt:lpstr>
      <vt:lpstr>The image shown can be defined as :</vt:lpstr>
      <vt:lpstr>TOTAL COMMUNICATION PROCESS</vt:lpstr>
      <vt:lpstr>LEVELS OF COMMUNICATION</vt:lpstr>
      <vt:lpstr>PowerPoint 演示文稿</vt:lpstr>
      <vt:lpstr>Relevance of the Course:</vt:lpstr>
      <vt:lpstr>Relevance of the Course (Continued):</vt:lpstr>
      <vt:lpstr>Relevance of the Course (Continued):</vt:lpstr>
      <vt:lpstr>Strategic Communication?</vt:lpstr>
      <vt:lpstr>Strategic Communication (Continued):</vt:lpstr>
      <vt:lpstr>Strategic Communication (Continued):</vt:lpstr>
      <vt:lpstr>Strategic Communication in a Nut Shell </vt:lpstr>
      <vt:lpstr>Communication Strategy</vt:lpstr>
      <vt:lpstr>Who is Your Audience?</vt:lpstr>
      <vt:lpstr>What do you want from your Audience?</vt:lpstr>
      <vt:lpstr>What you want your audience to remember</vt:lpstr>
      <vt:lpstr>Discussion Prompt:</vt:lpstr>
      <vt:lpstr>How you will communicate your thoughts?</vt:lpstr>
      <vt:lpstr>Conclusion/Debrief by Students </vt:lpstr>
      <vt:lpstr>Debrief activity for home and prompt for next sub topic  </vt:lpstr>
      <vt:lpstr>References</vt:lpstr>
      <vt:lpstr>      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SKILLS</dc:title>
  <dc:creator/>
  <cp:lastModifiedBy>farshad panhwar</cp:lastModifiedBy>
  <cp:revision>7</cp:revision>
  <dcterms:created xsi:type="dcterms:W3CDTF">2020-05-30T16:49:00Z</dcterms:created>
  <dcterms:modified xsi:type="dcterms:W3CDTF">2025-03-12T05:27:44Z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0x010100702E381379F1484E8B49CEE83C42946A</vt:lpwstr>
  </property>
  <property fmtid="{D5CDD505-2E9C-101B-9397-08002B2CF9AE}" pid="3" name="ICV">
    <vt:lpwstr>73C41716497043D980029437432009EE_12</vt:lpwstr>
  </property>
  <property fmtid="{D5CDD505-2E9C-101B-9397-08002B2CF9AE}" pid="4" name="KSOProductBuildVer">
    <vt:lpwstr>1033-12.2.0.20326</vt:lpwstr>
  </property>
</Properties>
</file>