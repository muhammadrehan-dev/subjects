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7" r:id="rId3"/>
    <p:sldId id="291" r:id="rId4"/>
    <p:sldId id="259" r:id="rId5"/>
    <p:sldId id="292" r:id="rId7"/>
    <p:sldId id="260" r:id="rId8"/>
    <p:sldId id="261" r:id="rId9"/>
    <p:sldId id="264" r:id="rId10"/>
    <p:sldId id="258" r:id="rId11"/>
    <p:sldId id="266" r:id="rId12"/>
    <p:sldId id="262" r:id="rId13"/>
    <p:sldId id="330" r:id="rId14"/>
    <p:sldId id="265" r:id="rId15"/>
    <p:sldId id="295" r:id="rId16"/>
    <p:sldId id="268" r:id="rId17"/>
    <p:sldId id="305" r:id="rId18"/>
    <p:sldId id="271" r:id="rId19"/>
    <p:sldId id="270" r:id="rId20"/>
    <p:sldId id="267" r:id="rId21"/>
    <p:sldId id="296" r:id="rId22"/>
    <p:sldId id="272" r:id="rId23"/>
    <p:sldId id="289" r:id="rId24"/>
    <p:sldId id="328" r:id="rId25"/>
    <p:sldId id="280" r:id="rId26"/>
    <p:sldId id="273" r:id="rId27"/>
    <p:sldId id="308" r:id="rId28"/>
    <p:sldId id="288" r:id="rId29"/>
    <p:sldId id="329" r:id="rId30"/>
  </p:sldIdLst>
  <p:sldSz cx="9144000" cy="5143500" type="screen16x9"/>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43"/>
    <a:srgbClr val="006633"/>
    <a:srgbClr val="001409"/>
    <a:srgbClr val="FAA523"/>
    <a:srgbClr val="FFC830"/>
    <a:srgbClr val="FFCF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883" autoAdjust="0"/>
    <p:restoredTop sz="85056" autoAdjust="0"/>
  </p:normalViewPr>
  <p:slideViewPr>
    <p:cSldViewPr snapToGrid="0" snapToObjects="1">
      <p:cViewPr varScale="1">
        <p:scale>
          <a:sx n="78" d="100"/>
          <a:sy n="78" d="100"/>
        </p:scale>
        <p:origin x="-928"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0" b="1" i="0" u="none" strike="noStrike" kern="1200" spc="0" baseline="0">
                <a:solidFill>
                  <a:srgbClr val="005643"/>
                </a:solidFill>
                <a:latin typeface="+mn-lt"/>
                <a:ea typeface="+mn-ea"/>
                <a:cs typeface="+mn-cs"/>
              </a:defRPr>
            </a:pPr>
            <a:r>
              <a:rPr lang="en-US" sz="2200" b="1" dirty="0">
                <a:solidFill>
                  <a:srgbClr val="005643"/>
                </a:solidFill>
              </a:rPr>
              <a:t>Dr. Albert Mehrabian</a:t>
            </a:r>
            <a:endParaRPr lang="en-US" sz="2200" b="1" dirty="0">
              <a:solidFill>
                <a:srgbClr val="005643"/>
              </a:solidFill>
            </a:endParaRPr>
          </a:p>
        </c:rich>
      </c:tx>
      <c:layout>
        <c:manualLayout>
          <c:xMode val="edge"/>
          <c:yMode val="edge"/>
          <c:x val="0.598932828832829"/>
          <c:y val="0.891728943265871"/>
        </c:manualLayout>
      </c:layout>
      <c:overlay val="0"/>
      <c:spPr>
        <a:noFill/>
        <a:ln>
          <a:noFill/>
        </a:ln>
        <a:effectLst/>
      </c:spPr>
    </c:title>
    <c:autoTitleDeleted val="0"/>
    <c:plotArea>
      <c:layout/>
      <c:pieChart>
        <c:varyColors val="1"/>
        <c:ser>
          <c:idx val="0"/>
          <c:order val="0"/>
          <c:tx>
            <c:strRef>
              <c:f>Sheet1!$B$1</c:f>
              <c:strCache>
                <c:ptCount val="1"/>
                <c:pt idx="0">
                  <c:v>Sales</c:v>
                </c:pt>
              </c:strCache>
            </c:strRef>
          </c:tx>
          <c:spPr>
            <a:solidFill>
              <a:srgbClr val="006633"/>
            </a:solidFill>
          </c:spPr>
          <c:explosion val="0"/>
          <c:dPt>
            <c:idx val="0"/>
            <c:bubble3D val="0"/>
            <c:spPr>
              <a:solidFill>
                <a:srgbClr val="001409"/>
              </a:solidFill>
              <a:ln w="19050">
                <a:solidFill>
                  <a:schemeClr val="lt1"/>
                </a:solidFill>
              </a:ln>
              <a:effectLst/>
            </c:spPr>
          </c:dPt>
          <c:dPt>
            <c:idx val="1"/>
            <c:bubble3D val="0"/>
            <c:spPr>
              <a:solidFill>
                <a:srgbClr val="006633"/>
              </a:solidFill>
              <a:ln w="19050">
                <a:solidFill>
                  <a:schemeClr val="lt1"/>
                </a:solidFill>
              </a:ln>
              <a:effectLst/>
            </c:spPr>
          </c:dPt>
          <c:dPt>
            <c:idx val="2"/>
            <c:bubble3D val="0"/>
            <c:spPr>
              <a:solidFill>
                <a:srgbClr val="FFCC00"/>
              </a:solidFill>
              <a:ln w="19050">
                <a:solidFill>
                  <a:schemeClr val="lt1"/>
                </a:solidFill>
              </a:ln>
              <a:effectLst/>
            </c:spPr>
          </c:dPt>
          <c:dPt>
            <c:idx val="3"/>
            <c:bubble3D val="0"/>
            <c:spPr>
              <a:solidFill>
                <a:srgbClr val="006633"/>
              </a:solidFill>
              <a:ln w="19050">
                <a:solidFill>
                  <a:schemeClr val="lt1"/>
                </a:solidFill>
              </a:ln>
              <a:effectLst/>
            </c:spPr>
          </c:dPt>
          <c:dLbls>
            <c:dLbl>
              <c:idx val="0"/>
              <c:layout>
                <c:manualLayout>
                  <c:x val="-0.0323015261255058"/>
                  <c:y val="0.129784544186226"/>
                </c:manualLayout>
              </c:layout>
              <c:tx>
                <c:rich>
                  <a:bodyPr rot="0" spcFirstLastPara="0" vertOverflow="ellipsis" vert="horz" wrap="square" lIns="38100" tIns="19050" rIns="38100" bIns="19050" anchor="ctr" anchorCtr="1"/>
                  <a:lstStyle/>
                  <a:p>
                    <a:fld id="{57959ac0-dc2e-4491-8e6d-8c54bc80e10e}" type="VALUE">
                      <a:t>[VALUE]</a:t>
                    </a:fld>
                    <a:endParaRPr lang="en-US" sz="2400" b="1" i="0" u="none" strike="noStrike" baseline="0">
                      <a:solidFill>
                        <a:schemeClr val="bg1"/>
                      </a:solidFill>
                      <a:latin typeface="Arial" panose="020B0604020202020204" pitchFamily="34" charset="0"/>
                      <a:ea typeface="Arial" panose="020B0604020202020204" pitchFamily="34" charset="0"/>
                      <a:cs typeface="+mn-ea"/>
                    </a:endParaRPr>
                  </a:p>
                </c:rich>
              </c:tx>
              <c:dLblPos val="bestFit"/>
              <c:showLegendKey val="0"/>
              <c:showVal val="1"/>
              <c:showCatName val="0"/>
              <c:showSerName val="0"/>
              <c:showPercent val="0"/>
              <c:showBubbleSize val="0"/>
              <c:extLst>
                <c:ext xmlns:c15="http://schemas.microsoft.com/office/drawing/2012/chart" uri="{CE6537A1-D6FC-4f65-9D91-7224C49458BB}">
                  <c15:layout/>
                </c:ext>
              </c:extLst>
            </c:dLbl>
            <c:dLbl>
              <c:idx val="1"/>
              <c:layout/>
              <c:tx>
                <c:rich>
                  <a:bodyPr rot="0" spcFirstLastPara="1" vertOverflow="ellipsis" vert="horz" wrap="square" lIns="38100" tIns="19050" rIns="38100" bIns="19050" anchor="ctr" anchorCtr="1">
                    <a:spAutoFit/>
                  </a:bodyPr>
                  <a:lstStyle/>
                  <a:p>
                    <a:fld id="{2f8bde8c-56cc-427b-b93f-79bec7aaba27}" type="VALUE">
                      <a:t>[VALUE]</a:t>
                    </a:fld>
                    <a:endParaRPr lang="en-US" sz="2800" b="1" i="0" u="none" strike="noStrike" baseline="0">
                      <a:solidFill>
                        <a:schemeClr val="bg1"/>
                      </a:solidFill>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28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2"/>
              <c:layout/>
              <c:tx>
                <c:rich>
                  <a:bodyPr rot="0" spcFirstLastPara="1" vertOverflow="ellipsis" vert="horz" wrap="square" lIns="38100" tIns="19050" rIns="38100" bIns="19050" anchor="ctr" anchorCtr="1">
                    <a:spAutoFit/>
                  </a:bodyPr>
                  <a:lstStyle/>
                  <a:p>
                    <a:fld id="{b5cbfc66-84e5-491c-8d22-89134e5683ea}" type="VALUE">
                      <a:t>[VALUE]</a:t>
                    </a:fld>
                    <a:endParaRPr lang="en-US" sz="2800" b="1" i="0" u="none" strike="noStrike" baseline="0">
                      <a:solidFill>
                        <a:schemeClr val="bg1"/>
                      </a:solidFill>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bg1"/>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3"/>
              <c:delete val="1"/>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p>
            </c:txPr>
            <c:dLblPos val="bestFit"/>
            <c:showLegendKey val="0"/>
            <c:showVal val="0"/>
            <c:showCatName val="0"/>
            <c:showSerName val="0"/>
            <c:showPercent val="0"/>
            <c:showBubbleSize val="0"/>
            <c:showLeaderLines val="1"/>
            <c:extLst>
              <c:ext xmlns:c15="http://schemas.microsoft.com/office/drawing/2012/chart" uri="{CE6537A1-D6FC-4f65-9D91-7224C49458BB}">
                <c15:layout/>
                <c15:showLeaderLines val="1"/>
                <c15:leaderLines/>
              </c:ext>
            </c:extLst>
          </c:dLbls>
          <c:cat>
            <c:strRef>
              <c:f>Sheet1!$A$2:$A$5</c:f>
              <c:strCache>
                <c:ptCount val="3"/>
                <c:pt idx="0">
                  <c:v>Words/Verbal</c:v>
                </c:pt>
                <c:pt idx="1">
                  <c:v>Body Language</c:v>
                </c:pt>
                <c:pt idx="2">
                  <c:v>Tone</c:v>
                </c:pt>
              </c:strCache>
            </c:strRef>
          </c:cat>
          <c:val>
            <c:numRef>
              <c:f>Sheet1!$B$2:$B$5</c:f>
              <c:numCache>
                <c:formatCode>0%</c:formatCode>
                <c:ptCount val="4"/>
                <c:pt idx="0">
                  <c:v>0.07</c:v>
                </c:pt>
                <c:pt idx="1">
                  <c:v>0.55</c:v>
                </c:pt>
                <c:pt idx="2">
                  <c:v>0.38</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egendEntry>
        <c:idx val="0"/>
        <c:txPr>
          <a:bodyPr rot="0" spcFirstLastPara="1" vertOverflow="ellipsis" vert="horz" wrap="square" anchor="ctr" anchorCtr="1"/>
          <a:lstStyle/>
          <a:p>
            <a:pPr>
              <a:defRPr lang="en-US" sz="28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en-US" sz="28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1" vertOverflow="ellipsis" vert="horz" wrap="square" anchor="ctr" anchorCtr="1"/>
          <a:lstStyle/>
          <a:p>
            <a:pPr>
              <a:defRPr lang="en-US" sz="2800" b="0" i="0" u="none" strike="noStrike" kern="1200" baseline="0">
                <a:solidFill>
                  <a:schemeClr val="tx1">
                    <a:lumMod val="65000"/>
                    <a:lumOff val="35000"/>
                  </a:schemeClr>
                </a:solidFill>
                <a:latin typeface="+mn-lt"/>
                <a:ea typeface="+mn-ea"/>
                <a:cs typeface="+mn-cs"/>
              </a:defRPr>
            </a:pPr>
          </a:p>
        </c:txPr>
      </c:legendEntry>
      <c:legendEntry>
        <c:idx val="3"/>
        <c:delete val="1"/>
      </c:legendEntry>
      <c:layout>
        <c:manualLayout>
          <c:xMode val="edge"/>
          <c:yMode val="edge"/>
          <c:x val="0.564471811747143"/>
          <c:y val="0.270974817955869"/>
          <c:w val="0.390775075508633"/>
          <c:h val="0.571961370431"/>
        </c:manualLayout>
      </c:layout>
      <c:overlay val="0"/>
      <c:spPr>
        <a:noFill/>
        <a:ln>
          <a:noFill/>
        </a:ln>
        <a:effectLst/>
      </c:spPr>
      <c:txPr>
        <a:bodyPr rot="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legend>
    <c:plotVisOnly val="1"/>
    <c:dispBlanksAs val="zero"/>
    <c:showDLblsOverMax val="0"/>
    <c:extLst>
      <c:ext uri="{0b15fc19-7d7d-44ad-8c2d-2c3a37ce22c3}">
        <chartProps xmlns="https://web.wps.cn/et/2018/main" chartId="{a3c5531c-a787-424f-9371-9f1104d8da0e}"/>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D243BA-2870-4C17-BFEF-5FCBAD6D69B7}"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6BE8A0-7BE1-468D-A1B3-3087F3DBC0AA}"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2800" dirty="0">
              <a:solidFill>
                <a:srgbClr val="005643"/>
              </a:solidFill>
            </a:endParaRPr>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dirty="0">
                <a:solidFill>
                  <a:srgbClr val="005643"/>
                </a:solidFill>
              </a:rPr>
              <a:t>Dr. Albert Mehrabian’s 7-38-55% Rule</a:t>
            </a:r>
            <a:endParaRPr lang="en-US" sz="1200" b="1" dirty="0">
              <a:solidFill>
                <a:srgbClr val="005643"/>
              </a:solidFill>
            </a:endParaRPr>
          </a:p>
          <a:p>
            <a:r>
              <a:rPr lang="en-US" dirty="0"/>
              <a:t>7% of the message is conveyed through word choices.  38% of the message is conveyed through voice tone.  55% of the message is conveyed through body language.  Only 7% of your message is through words!  Think about how much your tone and body language is communicating.  Think about talking on the phone – main communication is through your tone.  Your tone is going to make or break the conversation.  </a:t>
            </a:r>
            <a:endParaRPr lang="en-US" dirty="0"/>
          </a:p>
          <a:p>
            <a:endParaRPr lang="en-US" dirty="0"/>
          </a:p>
          <a:p>
            <a:r>
              <a:rPr lang="en-US" dirty="0"/>
              <a:t>Please remember that this formula is not intended to be applied across all communication.  Different scenarios cause different results but it’s a good reminder on how important tone and body language is during a conversation/communication. </a:t>
            </a:r>
            <a:endParaRPr lang="en-US" dirty="0"/>
          </a:p>
          <a:p>
            <a:endParaRPr lang="en-US" dirty="0"/>
          </a:p>
          <a:p>
            <a:r>
              <a:rPr lang="en-US" dirty="0"/>
              <a:t>Do you smile when you talk on the phone?  What is your tone in emails?  </a:t>
            </a:r>
            <a:endParaRPr lang="en-US" dirty="0"/>
          </a:p>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communication combines a set of skills including attentive listening, nonverbal communication, the ability to manage stress in the moment, and the capacity to recognize and understand your own emotions and those of the person you are communicating with.  </a:t>
            </a:r>
            <a:endParaRPr lang="en-US" dirty="0"/>
          </a:p>
          <a:p>
            <a:endParaRPr lang="en-US" dirty="0"/>
          </a:p>
          <a:p>
            <a:r>
              <a:rPr lang="en-US" dirty="0"/>
              <a:t>Remember – effective communication is a learned skill and it is more effective when it’s spontaneous.  For example – a speech that is read rarely has the same impact as a speech that’s delivered spontaneously.  It takes time and effort to develop these skills.  </a:t>
            </a:r>
            <a:endParaRPr lang="en-US" dirty="0"/>
          </a:p>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a:p>
            <a:endParaRPr lang="en-US" b="0" u="none" dirty="0"/>
          </a:p>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(10 Minutes): Have printout of story too</a:t>
            </a:r>
            <a:endParaRPr lang="en-US" dirty="0"/>
          </a:p>
          <a:p>
            <a:endParaRPr lang="en-US" dirty="0"/>
          </a:p>
          <a:p>
            <a:r>
              <a:rPr lang="en-US" dirty="0"/>
              <a:t>Pretend that you are a bus driver. It is your job to drive the MAT Bus. One day you get on the bus and you start to count. At the first stop 5 people get on your bus. At the next stop 3 people get on and 2 people get off the bus. At the next stop 2 people get off the bus. At the next stop 3 people get on and 1 person gets off the bus. Here is the question. What color are the eyes of the bus driver?</a:t>
            </a:r>
            <a:endParaRPr lang="en-US" dirty="0"/>
          </a:p>
          <a:p>
            <a:endParaRPr lang="en-US" dirty="0"/>
          </a:p>
          <a:p>
            <a:r>
              <a:rPr lang="en-US" dirty="0"/>
              <a:t>Interesting stats:</a:t>
            </a:r>
            <a:endParaRPr lang="en-US" dirty="0"/>
          </a:p>
          <a:p>
            <a:r>
              <a:rPr lang="en-US" dirty="0"/>
              <a:t>When you first ask the question - Usually at this point less than 25 % of the group will know the answer. </a:t>
            </a:r>
            <a:endParaRPr lang="en-US" dirty="0"/>
          </a:p>
          <a:p>
            <a:endParaRPr lang="en-US" dirty="0"/>
          </a:p>
          <a:p>
            <a:r>
              <a:rPr lang="en-US" dirty="0"/>
              <a:t>Repeat the question. According to research by the authors</a:t>
            </a:r>
            <a:r>
              <a:rPr lang="en-US" b="1" dirty="0"/>
              <a:t>: 87% of the people taking the test for the first time will not be able to correctly answer the question</a:t>
            </a:r>
            <a:r>
              <a:rPr lang="en-US" dirty="0"/>
              <a:t>. </a:t>
            </a:r>
            <a:r>
              <a:rPr lang="en-US" b="1" dirty="0"/>
              <a:t>The second time people are given the test immediately following the first test 50% will still not be able to answer correctly. The third time people are given the test on the same day immediately following the preceding test 20% will still not be able to answer correctly.)</a:t>
            </a:r>
            <a:endParaRPr lang="en-US" b="1" dirty="0"/>
          </a:p>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0" u="none" dirty="0"/>
              <a:t>Second skill in effective communication is recognizing and using nonverbal correctly – yourself and being able to read others.</a:t>
            </a:r>
            <a:endParaRPr lang="en-US" b="0" u="none" dirty="0"/>
          </a:p>
          <a:p>
            <a:pPr marL="0" marR="0" lvl="0" indent="0" algn="l" defTabSz="914400" rtl="0" eaLnBrk="1" fontAlgn="auto" latinLnBrk="0" hangingPunct="1">
              <a:lnSpc>
                <a:spcPct val="100000"/>
              </a:lnSpc>
              <a:spcBef>
                <a:spcPts val="0"/>
              </a:spcBef>
              <a:spcAft>
                <a:spcPts val="0"/>
              </a:spcAft>
              <a:buClrTx/>
              <a:buSzTx/>
              <a:buFontTx/>
              <a:buNone/>
              <a:defRPr/>
            </a:pPr>
            <a:endParaRPr lang="en-US" b="0" u="none" dirty="0"/>
          </a:p>
          <a:p>
            <a:pPr marL="0" marR="0" lvl="0" indent="0" algn="l" defTabSz="914400" rtl="0" eaLnBrk="1" fontAlgn="auto" latinLnBrk="0" hangingPunct="1">
              <a:lnSpc>
                <a:spcPct val="100000"/>
              </a:lnSpc>
              <a:spcBef>
                <a:spcPts val="0"/>
              </a:spcBef>
              <a:spcAft>
                <a:spcPts val="0"/>
              </a:spcAft>
              <a:buClrTx/>
              <a:buSzTx/>
              <a:buFontTx/>
              <a:buNone/>
              <a:defRPr/>
            </a:pPr>
            <a:r>
              <a:rPr lang="en-US" b="0" u="none" dirty="0"/>
              <a:t>Developing the ability to understand and use nonverbal communication can help you connect with others, express what you really mean, navigate challenging situations and build better relationships. If you are the receiver of a negative or stressful message, what is your face and body saying? What have you witnessed from others in that situation?  Eye rolling, foot tapping, heavy sighing, eyebrow raising, crossing arms, hands on hips, shaking of a finger, etc. </a:t>
            </a:r>
            <a:endParaRPr lang="en-US" b="0" u="none" dirty="0"/>
          </a:p>
          <a:p>
            <a:endParaRPr lang="en-US" dirty="0"/>
          </a:p>
          <a:p>
            <a:r>
              <a:rPr lang="en-US" dirty="0"/>
              <a:t>Studies suggest that over 90% of the meaning we derive comes from nonverbal cues that one person gives to another.  </a:t>
            </a:r>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7D5DE0-582E-4851-88F8-7FC4A0C0C231}" type="slidenum">
              <a:rPr lang="en-US" smtClean="0"/>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BD6BE8A0-7BE1-468D-A1B3-3087F3DBC0AA}"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9525" y="-2381"/>
            <a:ext cx="9153525" cy="5145881"/>
          </a:xfrm>
          <a:prstGeom prst="rect">
            <a:avLst/>
          </a:prstGeom>
          <a:noFill/>
          <a:ln w="9525">
            <a:noFill/>
          </a:ln>
        </p:spPr>
      </p:pic>
      <p:sp>
        <p:nvSpPr>
          <p:cNvPr id="2051" name="Rectangle 3"/>
          <p:cNvSpPr>
            <a:spLocks noGrp="1" noChangeArrowheads="1"/>
          </p:cNvSpPr>
          <p:nvPr>
            <p:ph type="ctrTitle"/>
          </p:nvPr>
        </p:nvSpPr>
        <p:spPr>
          <a:xfrm>
            <a:off x="1547813" y="844154"/>
            <a:ext cx="6908800" cy="812006"/>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1547813" y="1763316"/>
            <a:ext cx="6913562" cy="131445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4683919"/>
            <a:ext cx="2133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a:defRPr/>
            </a:pPr>
            <a:fld id="{7ACAEBF2-16AB-4C47-A911-FB9ACC672ECD}" type="datetime1">
              <a:rPr lang="en-US"/>
            </a:fld>
            <a:endParaRPr lang="en-US" dirty="0"/>
          </a:p>
        </p:txBody>
      </p:sp>
      <p:sp>
        <p:nvSpPr>
          <p:cNvPr id="10" name="Rectangle 6"/>
          <p:cNvSpPr>
            <a:spLocks noGrp="1" noChangeArrowheads="1"/>
          </p:cNvSpPr>
          <p:nvPr>
            <p:ph type="ftr" sz="quarter" idx="3"/>
          </p:nvPr>
        </p:nvSpPr>
        <p:spPr bwMode="auto">
          <a:xfrm>
            <a:off x="3124200" y="4683919"/>
            <a:ext cx="2895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a:defRPr/>
            </a:pPr>
            <a:endParaRPr lang="en-US" dirty="0"/>
          </a:p>
        </p:txBody>
      </p:sp>
      <p:sp>
        <p:nvSpPr>
          <p:cNvPr id="11" name="Rectangle 7"/>
          <p:cNvSpPr>
            <a:spLocks noGrp="1" noChangeArrowheads="1"/>
          </p:cNvSpPr>
          <p:nvPr>
            <p:ph type="sldNum" sz="quarter" idx="4"/>
          </p:nvPr>
        </p:nvSpPr>
        <p:spPr bwMode="auto">
          <a:xfrm>
            <a:off x="6553200" y="4683919"/>
            <a:ext cx="2133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a:defRPr/>
            </a:pPr>
            <a:fld id="{BBAA8493-FF37-48D9-B38C-F4D8F9CFB202}" type="slidenum">
              <a:rPr lang="en-US"/>
            </a:fld>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a:defRPr/>
            </a:pPr>
            <a:fld id="{5E3B0763-EB49-4A37-86B4-FFFD61D36C29}" type="datetime1">
              <a:rPr lang="en-US"/>
            </a:fld>
            <a:endParaRPr lang="en-US" dirty="0"/>
          </a:p>
        </p:txBody>
      </p:sp>
      <p:sp>
        <p:nvSpPr>
          <p:cNvPr id="5" name="Footer Placeholder 4"/>
          <p:cNvSpPr>
            <a:spLocks noGrp="1"/>
          </p:cNvSpPr>
          <p:nvPr>
            <p:ph type="ftr" sz="quarter" idx="11"/>
          </p:nvPr>
        </p:nvSpPr>
        <p:spPr/>
        <p:txBody>
          <a:bodyPr/>
          <a:p>
            <a:pPr>
              <a:defRPr/>
            </a:pPr>
            <a:endParaRPr lang="en-US" dirty="0"/>
          </a:p>
        </p:txBody>
      </p:sp>
      <p:sp>
        <p:nvSpPr>
          <p:cNvPr id="6" name="Slide Number Placeholder 5"/>
          <p:cNvSpPr>
            <a:spLocks noGrp="1"/>
          </p:cNvSpPr>
          <p:nvPr>
            <p:ph type="sldNum" sz="quarter" idx="12"/>
          </p:nvPr>
        </p:nvSpPr>
        <p:spPr/>
        <p:txBody>
          <a:bodyPr/>
          <a:p>
            <a:pPr>
              <a:defRPr/>
            </a:pPr>
            <a:fld id="{3CBF5F7D-E3FF-4D42-BB5C-668F12F53B96}" type="slidenum">
              <a:rPr lang="en-US"/>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7"/>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a:defRPr/>
            </a:pPr>
            <a:fld id="{0E061333-213C-4A2E-9372-50FF9878067B}" type="datetime1">
              <a:rPr lang="en-US"/>
            </a:fld>
            <a:endParaRPr lang="en-US" dirty="0"/>
          </a:p>
        </p:txBody>
      </p:sp>
      <p:sp>
        <p:nvSpPr>
          <p:cNvPr id="5" name="Footer Placeholder 4"/>
          <p:cNvSpPr>
            <a:spLocks noGrp="1"/>
          </p:cNvSpPr>
          <p:nvPr>
            <p:ph type="ftr" sz="quarter" idx="11"/>
          </p:nvPr>
        </p:nvSpPr>
        <p:spPr/>
        <p:txBody>
          <a:bodyPr/>
          <a:p>
            <a:pPr>
              <a:defRPr/>
            </a:pPr>
            <a:endParaRPr lang="en-US" dirty="0"/>
          </a:p>
        </p:txBody>
      </p:sp>
      <p:sp>
        <p:nvSpPr>
          <p:cNvPr id="6" name="Slide Number Placeholder 5"/>
          <p:cNvSpPr>
            <a:spLocks noGrp="1"/>
          </p:cNvSpPr>
          <p:nvPr>
            <p:ph type="sldNum" sz="quarter" idx="12"/>
          </p:nvPr>
        </p:nvSpPr>
        <p:spPr/>
        <p:txBody>
          <a:bodyPr/>
          <a:p>
            <a:pPr>
              <a:defRPr/>
            </a:pPr>
            <a:fld id="{ECD39E1F-C3BF-4793-95E6-9068029FB910}" type="slidenum">
              <a:rPr lang="en-US"/>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881063"/>
            <a:ext cx="4038600" cy="3714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881063"/>
            <a:ext cx="4038600" cy="3714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a:defRPr/>
            </a:pPr>
            <a:fld id="{52B355DE-7B41-41F1-BC2C-E638F8F30DE6}" type="datetime1">
              <a:rPr lang="en-US"/>
            </a:fld>
            <a:endParaRPr lang="en-US" dirty="0"/>
          </a:p>
        </p:txBody>
      </p:sp>
      <p:sp>
        <p:nvSpPr>
          <p:cNvPr id="6" name="Footer Placeholder 5"/>
          <p:cNvSpPr>
            <a:spLocks noGrp="1"/>
          </p:cNvSpPr>
          <p:nvPr>
            <p:ph type="ftr" sz="quarter" idx="11"/>
          </p:nvPr>
        </p:nvSpPr>
        <p:spPr/>
        <p:txBody>
          <a:bodyPr/>
          <a:p>
            <a:pPr>
              <a:defRPr/>
            </a:pPr>
            <a:endParaRPr lang="en-US" dirty="0"/>
          </a:p>
        </p:txBody>
      </p:sp>
      <p:sp>
        <p:nvSpPr>
          <p:cNvPr id="7" name="Slide Number Placeholder 6"/>
          <p:cNvSpPr>
            <a:spLocks noGrp="1"/>
          </p:cNvSpPr>
          <p:nvPr>
            <p:ph type="sldNum" sz="quarter" idx="12"/>
          </p:nvPr>
        </p:nvSpPr>
        <p:spPr/>
        <p:txBody>
          <a:bodyPr/>
          <a:p>
            <a:pPr>
              <a:defRPr/>
            </a:pPr>
            <a:fld id="{98D3B61C-4DA6-406E-BE57-687398998244}" type="slidenum">
              <a:rPr lang="en-US"/>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1878806"/>
            <a:ext cx="3868737"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1878806"/>
            <a:ext cx="3887788"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a:defRPr/>
            </a:pPr>
            <a:fld id="{4BE2EA70-A452-4732-A528-2DB814BC01A8}" type="datetime1">
              <a:rPr lang="en-US"/>
            </a:fld>
            <a:endParaRPr lang="en-US" dirty="0"/>
          </a:p>
        </p:txBody>
      </p:sp>
      <p:sp>
        <p:nvSpPr>
          <p:cNvPr id="8" name="Footer Placeholder 7"/>
          <p:cNvSpPr>
            <a:spLocks noGrp="1"/>
          </p:cNvSpPr>
          <p:nvPr>
            <p:ph type="ftr" sz="quarter" idx="11"/>
          </p:nvPr>
        </p:nvSpPr>
        <p:spPr/>
        <p:txBody>
          <a:bodyPr/>
          <a:p>
            <a:pPr>
              <a:defRPr/>
            </a:pPr>
            <a:endParaRPr lang="en-US" dirty="0"/>
          </a:p>
        </p:txBody>
      </p:sp>
      <p:sp>
        <p:nvSpPr>
          <p:cNvPr id="9" name="Slide Number Placeholder 8"/>
          <p:cNvSpPr>
            <a:spLocks noGrp="1"/>
          </p:cNvSpPr>
          <p:nvPr>
            <p:ph type="sldNum" sz="quarter" idx="12"/>
          </p:nvPr>
        </p:nvSpPr>
        <p:spPr/>
        <p:txBody>
          <a:bodyPr/>
          <a:p>
            <a:pPr>
              <a:defRPr/>
            </a:pPr>
            <a:fld id="{FCC9D7EA-7A51-469F-98B4-E4D837A8D579}" type="slidenum">
              <a:rPr lang="en-US"/>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a:defRPr/>
            </a:pPr>
            <a:fld id="{DB1FE807-8742-4472-B7B7-1BFADB852A99}" type="datetime1">
              <a:rPr lang="en-US"/>
            </a:fld>
            <a:endParaRPr lang="en-US" dirty="0"/>
          </a:p>
        </p:txBody>
      </p:sp>
      <p:sp>
        <p:nvSpPr>
          <p:cNvPr id="4" name="Footer Placeholder 3"/>
          <p:cNvSpPr>
            <a:spLocks noGrp="1"/>
          </p:cNvSpPr>
          <p:nvPr>
            <p:ph type="ftr" sz="quarter" idx="11"/>
          </p:nvPr>
        </p:nvSpPr>
        <p:spPr/>
        <p:txBody>
          <a:bodyPr/>
          <a:p>
            <a:pPr>
              <a:defRPr/>
            </a:pPr>
            <a:endParaRPr lang="en-US" dirty="0"/>
          </a:p>
        </p:txBody>
      </p:sp>
      <p:sp>
        <p:nvSpPr>
          <p:cNvPr id="5" name="Slide Number Placeholder 4"/>
          <p:cNvSpPr>
            <a:spLocks noGrp="1"/>
          </p:cNvSpPr>
          <p:nvPr>
            <p:ph type="sldNum" sz="quarter" idx="12"/>
          </p:nvPr>
        </p:nvSpPr>
        <p:spPr/>
        <p:txBody>
          <a:bodyPr/>
          <a:p>
            <a:pPr>
              <a:defRPr/>
            </a:pPr>
            <a:fld id="{94D2EAF4-A938-4D81-A729-3EC41AC5FA21}" type="slidenum">
              <a:rPr lang="en-US"/>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a:defRPr/>
            </a:pPr>
            <a:fld id="{13AE111A-0E59-40E9-9ECD-1B5823D26922}" type="datetime1">
              <a:rPr lang="en-US"/>
            </a:fld>
            <a:endParaRPr lang="en-US" dirty="0"/>
          </a:p>
        </p:txBody>
      </p:sp>
      <p:sp>
        <p:nvSpPr>
          <p:cNvPr id="3" name="Footer Placeholder 2"/>
          <p:cNvSpPr>
            <a:spLocks noGrp="1"/>
          </p:cNvSpPr>
          <p:nvPr>
            <p:ph type="ftr" sz="quarter" idx="11"/>
          </p:nvPr>
        </p:nvSpPr>
        <p:spPr/>
        <p:txBody>
          <a:bodyPr/>
          <a:p>
            <a:pPr>
              <a:defRPr/>
            </a:pPr>
            <a:endParaRPr lang="en-US" dirty="0"/>
          </a:p>
        </p:txBody>
      </p:sp>
      <p:sp>
        <p:nvSpPr>
          <p:cNvPr id="4" name="Slide Number Placeholder 3"/>
          <p:cNvSpPr>
            <a:spLocks noGrp="1"/>
          </p:cNvSpPr>
          <p:nvPr>
            <p:ph type="sldNum" sz="quarter" idx="12"/>
          </p:nvPr>
        </p:nvSpPr>
        <p:spPr/>
        <p:txBody>
          <a:bodyPr/>
          <a:p>
            <a:pPr>
              <a:defRPr/>
            </a:pPr>
            <a:fld id="{4474DEE3-0C25-4A84-9E79-BA05E5B08DDD}" type="slidenum">
              <a:rPr lang="en-US"/>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a:defRPr/>
            </a:pPr>
            <a:fld id="{3BF4A675-1BBF-458A-BAF5-2213B5490965}" type="datetime1">
              <a:rPr lang="en-US"/>
            </a:fld>
            <a:endParaRPr lang="en-US" dirty="0"/>
          </a:p>
        </p:txBody>
      </p:sp>
      <p:sp>
        <p:nvSpPr>
          <p:cNvPr id="6" name="Footer Placeholder 5"/>
          <p:cNvSpPr>
            <a:spLocks noGrp="1"/>
          </p:cNvSpPr>
          <p:nvPr>
            <p:ph type="ftr" sz="quarter" idx="11"/>
          </p:nvPr>
        </p:nvSpPr>
        <p:spPr/>
        <p:txBody>
          <a:bodyPr/>
          <a:p>
            <a:pPr>
              <a:defRPr/>
            </a:pPr>
            <a:endParaRPr lang="en-US" dirty="0"/>
          </a:p>
        </p:txBody>
      </p:sp>
      <p:sp>
        <p:nvSpPr>
          <p:cNvPr id="7" name="Slide Number Placeholder 6"/>
          <p:cNvSpPr>
            <a:spLocks noGrp="1"/>
          </p:cNvSpPr>
          <p:nvPr>
            <p:ph type="sldNum" sz="quarter" idx="12"/>
          </p:nvPr>
        </p:nvSpPr>
        <p:spPr/>
        <p:txBody>
          <a:bodyPr/>
          <a:p>
            <a:pPr>
              <a:defRPr/>
            </a:pPr>
            <a:fld id="{6E1EDBF5-B48F-45FB-B876-88E10A0A29FB}" type="slidenum">
              <a:rPr lang="en-US"/>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788" y="740569"/>
            <a:ext cx="4629150" cy="3655219"/>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a:defRPr/>
            </a:pPr>
            <a:fld id="{F2BA9E87-F8F4-4407-97A0-917EB527CD44}" type="datetime1">
              <a:rPr lang="en-US"/>
            </a:fld>
            <a:endParaRPr lang="en-US" dirty="0"/>
          </a:p>
        </p:txBody>
      </p:sp>
      <p:sp>
        <p:nvSpPr>
          <p:cNvPr id="6" name="Footer Placeholder 5"/>
          <p:cNvSpPr>
            <a:spLocks noGrp="1"/>
          </p:cNvSpPr>
          <p:nvPr>
            <p:ph type="ftr" sz="quarter" idx="11"/>
          </p:nvPr>
        </p:nvSpPr>
        <p:spPr/>
        <p:txBody>
          <a:bodyPr/>
          <a:p>
            <a:pPr>
              <a:defRPr/>
            </a:pPr>
            <a:endParaRPr lang="en-US" dirty="0"/>
          </a:p>
        </p:txBody>
      </p:sp>
      <p:sp>
        <p:nvSpPr>
          <p:cNvPr id="7" name="Slide Number Placeholder 6"/>
          <p:cNvSpPr>
            <a:spLocks noGrp="1"/>
          </p:cNvSpPr>
          <p:nvPr>
            <p:ph type="sldNum" sz="quarter" idx="12"/>
          </p:nvPr>
        </p:nvSpPr>
        <p:spPr/>
        <p:txBody>
          <a:bodyPr/>
          <a:p>
            <a:pPr>
              <a:defRPr/>
            </a:pPr>
            <a:fld id="{57D5C410-0FDC-4B49-8A72-598C6EC1C50C}" type="slidenum">
              <a:rPr lang="en-US"/>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a:defRPr/>
            </a:pPr>
            <a:fld id="{C26294B0-E53B-435C-9613-0F711F00FCDC}" type="datetime1">
              <a:rPr lang="en-US"/>
            </a:fld>
            <a:endParaRPr lang="en-US" dirty="0"/>
          </a:p>
        </p:txBody>
      </p:sp>
      <p:sp>
        <p:nvSpPr>
          <p:cNvPr id="5" name="Footer Placeholder 4"/>
          <p:cNvSpPr>
            <a:spLocks noGrp="1"/>
          </p:cNvSpPr>
          <p:nvPr>
            <p:ph type="ftr" sz="quarter" idx="11"/>
          </p:nvPr>
        </p:nvSpPr>
        <p:spPr/>
        <p:txBody>
          <a:bodyPr/>
          <a:p>
            <a:pPr>
              <a:defRPr/>
            </a:pPr>
            <a:endParaRPr lang="en-US" dirty="0"/>
          </a:p>
        </p:txBody>
      </p:sp>
      <p:sp>
        <p:nvSpPr>
          <p:cNvPr id="6" name="Slide Number Placeholder 5"/>
          <p:cNvSpPr>
            <a:spLocks noGrp="1"/>
          </p:cNvSpPr>
          <p:nvPr>
            <p:ph type="sldNum" sz="quarter" idx="12"/>
          </p:nvPr>
        </p:nvSpPr>
        <p:spPr/>
        <p:txBody>
          <a:bodyPr/>
          <a:p>
            <a:pPr>
              <a:defRPr/>
            </a:pPr>
            <a:fld id="{FCBFE4F1-26AE-4570-9E98-89E4022BB91F}" type="slidenum">
              <a:rPr lang="en-US"/>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2875"/>
            <a:ext cx="2057400" cy="4452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2875"/>
            <a:ext cx="6019800" cy="44529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a:defRPr/>
            </a:pPr>
            <a:fld id="{F7B910A0-DFBD-4FF1-9994-F6FF5E72CBE4}" type="datetime1">
              <a:rPr lang="en-US"/>
            </a:fld>
            <a:endParaRPr lang="en-US" dirty="0"/>
          </a:p>
        </p:txBody>
      </p:sp>
      <p:sp>
        <p:nvSpPr>
          <p:cNvPr id="5" name="Footer Placeholder 4"/>
          <p:cNvSpPr>
            <a:spLocks noGrp="1"/>
          </p:cNvSpPr>
          <p:nvPr>
            <p:ph type="ftr" sz="quarter" idx="11"/>
          </p:nvPr>
        </p:nvSpPr>
        <p:spPr/>
        <p:txBody>
          <a:bodyPr/>
          <a:p>
            <a:pPr>
              <a:defRPr/>
            </a:pPr>
            <a:endParaRPr lang="en-US" dirty="0"/>
          </a:p>
        </p:txBody>
      </p:sp>
      <p:sp>
        <p:nvSpPr>
          <p:cNvPr id="6" name="Slide Number Placeholder 5"/>
          <p:cNvSpPr>
            <a:spLocks noGrp="1"/>
          </p:cNvSpPr>
          <p:nvPr>
            <p:ph type="sldNum" sz="quarter" idx="12"/>
          </p:nvPr>
        </p:nvSpPr>
        <p:spPr/>
        <p:txBody>
          <a:bodyPr/>
          <a:p>
            <a:pPr>
              <a:defRPr/>
            </a:pPr>
            <a:fld id="{7A9692F4-BF5D-42FB-9D18-1CCF00A4C3A0}" type="slidenum">
              <a:rPr lang="en-US"/>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6"/>
          <p:cNvPicPr>
            <a:picLocks noChangeAspect="1"/>
          </p:cNvPicPr>
          <p:nvPr/>
        </p:nvPicPr>
        <p:blipFill>
          <a:blip r:embed="rId12"/>
          <a:stretch>
            <a:fillRect/>
          </a:stretch>
        </p:blipFill>
        <p:spPr>
          <a:xfrm>
            <a:off x="0" y="0"/>
            <a:ext cx="9148763" cy="5145881"/>
          </a:xfrm>
          <a:prstGeom prst="rect">
            <a:avLst/>
          </a:prstGeom>
          <a:noFill/>
          <a:ln w="9525">
            <a:noFill/>
          </a:ln>
        </p:spPr>
      </p:pic>
      <p:sp>
        <p:nvSpPr>
          <p:cNvPr id="1027" name="Rectangle 3"/>
          <p:cNvSpPr>
            <a:spLocks noGrp="1"/>
          </p:cNvSpPr>
          <p:nvPr>
            <p:ph type="title"/>
          </p:nvPr>
        </p:nvSpPr>
        <p:spPr>
          <a:xfrm>
            <a:off x="457200" y="142875"/>
            <a:ext cx="8229600" cy="43696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881063"/>
            <a:ext cx="8229600" cy="371475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50"/>
            </a:lvl1pPr>
          </a:lstStyle>
          <a:p>
            <a:pPr>
              <a:defRPr/>
            </a:pPr>
            <a:fld id="{3145EC07-1CF1-4CB0-A7D0-8DA771A31C20}" type="datetime1">
              <a:rPr lang="en-US"/>
            </a:fld>
            <a:endParaRPr lang="en-US" dirty="0"/>
          </a:p>
        </p:txBody>
      </p:sp>
      <p:sp>
        <p:nvSpPr>
          <p:cNvPr id="1030" name="Rectangle 6"/>
          <p:cNvSpPr>
            <a:spLocks noGrp="1" noChangeArrowheads="1"/>
          </p:cNvSpPr>
          <p:nvPr>
            <p:ph type="ftr" sz="quarter" idx="3"/>
          </p:nvPr>
        </p:nvSpPr>
        <p:spPr bwMode="auto">
          <a:xfrm>
            <a:off x="3124200" y="4683919"/>
            <a:ext cx="2895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50"/>
            </a:lvl1pPr>
          </a:lstStyle>
          <a:p>
            <a:pPr>
              <a:defRPr/>
            </a:pPr>
            <a:endParaRPr lang="en-US" dirty="0"/>
          </a:p>
        </p:txBody>
      </p:sp>
      <p:sp>
        <p:nvSpPr>
          <p:cNvPr id="1031" name="Rectangle 7"/>
          <p:cNvSpPr>
            <a:spLocks noGrp="1" noChangeArrowheads="1"/>
          </p:cNvSpPr>
          <p:nvPr>
            <p:ph type="sldNum" sz="quarter" idx="4"/>
          </p:nvPr>
        </p:nvSpPr>
        <p:spPr bwMode="auto">
          <a:xfrm>
            <a:off x="6553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50"/>
            </a:lvl1pPr>
          </a:lstStyle>
          <a:p>
            <a:pPr>
              <a:defRPr/>
            </a:pPr>
            <a:fld id="{370FA2F6-33CE-4258-ACC6-F4F9E82D76BF}" type="slidenum">
              <a:rPr lang="en-US"/>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27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indent="-213995" algn="l" rtl="0" fontAlgn="base">
        <a:spcBef>
          <a:spcPct val="15000"/>
        </a:spcBef>
        <a:spcAft>
          <a:spcPct val="0"/>
        </a:spcAft>
        <a:buChar char="–"/>
        <a:defRPr sz="2100" kern="1200">
          <a:solidFill>
            <a:schemeClr val="tx1"/>
          </a:solidFill>
          <a:latin typeface="+mn-lt"/>
          <a:ea typeface="+mn-ea"/>
          <a:cs typeface="+mn-cs"/>
        </a:defRPr>
      </a:lvl2pPr>
      <a:lvl3pPr marL="857250" indent="-171450" algn="l" rtl="0" fontAlgn="base">
        <a:spcBef>
          <a:spcPct val="15000"/>
        </a:spcBef>
        <a:spcAft>
          <a:spcPct val="0"/>
        </a:spcAft>
        <a:buChar char="•"/>
        <a:defRPr sz="1800" kern="1200">
          <a:solidFill>
            <a:schemeClr val="tx1"/>
          </a:solidFill>
          <a:latin typeface="+mn-lt"/>
          <a:ea typeface="+mn-ea"/>
          <a:cs typeface="+mn-cs"/>
        </a:defRPr>
      </a:lvl3pPr>
      <a:lvl4pPr marL="1200150" indent="-171450" algn="l" rtl="0" fontAlgn="base">
        <a:spcBef>
          <a:spcPct val="15000"/>
        </a:spcBef>
        <a:spcAft>
          <a:spcPct val="0"/>
        </a:spcAft>
        <a:buChar char="–"/>
        <a:defRPr sz="1500" kern="1200">
          <a:solidFill>
            <a:schemeClr val="tx1"/>
          </a:solidFill>
          <a:latin typeface="+mn-lt"/>
          <a:ea typeface="+mn-ea"/>
          <a:cs typeface="+mn-cs"/>
        </a:defRPr>
      </a:lvl4pPr>
      <a:lvl5pPr marL="1543050" indent="-171450" algn="l" rtl="0" fontAlgn="base">
        <a:spcBef>
          <a:spcPct val="15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Effective Communication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2275135" y="422909"/>
            <a:ext cx="4593730" cy="3657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4123" y="359350"/>
            <a:ext cx="7100595" cy="3394075"/>
          </a:xfrm>
        </p:spPr>
        <p:txBody>
          <a:bodyPr/>
          <a:lstStyle/>
          <a:p>
            <a:pPr marL="0" indent="0" algn="ctr">
              <a:buNone/>
            </a:pPr>
            <a:r>
              <a:rPr lang="en-US" sz="3600" b="1" dirty="0">
                <a:solidFill>
                  <a:srgbClr val="005643"/>
                </a:solidFill>
                <a:latin typeface="Calibri" panose="020F0502020204030204" charset="0"/>
                <a:cs typeface="Calibri" panose="020F0502020204030204" charset="0"/>
              </a:rPr>
              <a:t>com·mu·ni·ca·tion</a:t>
            </a:r>
            <a:br>
              <a:rPr lang="en-US" sz="3600" dirty="0">
                <a:solidFill>
                  <a:srgbClr val="005643"/>
                </a:solidFill>
                <a:latin typeface="Calibri" panose="020F0502020204030204" charset="0"/>
                <a:cs typeface="Calibri" panose="020F0502020204030204" charset="0"/>
              </a:rPr>
            </a:br>
            <a:r>
              <a:rPr lang="en-US" sz="3600" dirty="0">
                <a:solidFill>
                  <a:srgbClr val="005643"/>
                </a:solidFill>
                <a:latin typeface="Calibri" panose="020F0502020204030204" charset="0"/>
                <a:cs typeface="Calibri" panose="020F0502020204030204" charset="0"/>
              </a:rPr>
              <a:t>\ kə-ˌmyü-nə-ˈkā-shən \</a:t>
            </a:r>
            <a:br>
              <a:rPr lang="en-US" sz="3600" dirty="0">
                <a:solidFill>
                  <a:srgbClr val="005643"/>
                </a:solidFill>
                <a:latin typeface="Calibri" panose="020F0502020204030204" charset="0"/>
                <a:cs typeface="Calibri" panose="020F0502020204030204" charset="0"/>
              </a:rPr>
            </a:br>
            <a:br>
              <a:rPr lang="en-US" sz="3600" dirty="0">
                <a:latin typeface="Calibri" panose="020F0502020204030204" charset="0"/>
                <a:cs typeface="Calibri" panose="020F0502020204030204" charset="0"/>
              </a:rPr>
            </a:br>
            <a:r>
              <a:rPr lang="en-US" sz="3600" dirty="0">
                <a:solidFill>
                  <a:srgbClr val="005643"/>
                </a:solidFill>
                <a:latin typeface="Calibri" panose="020F0502020204030204" charset="0"/>
                <a:cs typeface="Calibri" panose="020F0502020204030204" charset="0"/>
              </a:rPr>
              <a:t>: a process by which information is exchanged between individuals through a common system of symbols, signs, or behavior.</a:t>
            </a:r>
            <a:br>
              <a:rPr lang="en-US" sz="3600" dirty="0">
                <a:solidFill>
                  <a:srgbClr val="006633"/>
                </a:solidFill>
                <a:latin typeface="Calibri" panose="020F0502020204030204" charset="0"/>
                <a:cs typeface="Calibri" panose="020F0502020204030204" charset="0"/>
              </a:rPr>
            </a:br>
            <a:endParaRPr lang="en-US" sz="3600" dirty="0">
              <a:solidFill>
                <a:srgbClr val="006633"/>
              </a:solidFill>
              <a:latin typeface="Calibri" panose="020F0502020204030204" charset="0"/>
              <a:cs typeface="Calibri" panose="020F0502020204030204" charset="0"/>
            </a:endParaRPr>
          </a:p>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059180" y="121920"/>
            <a:ext cx="6812280" cy="44348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0650"/>
            <a:ext cx="8229600" cy="857250"/>
          </a:xfrm>
        </p:spPr>
        <p:txBody>
          <a:bodyPr/>
          <a:lstStyle/>
          <a:p>
            <a:r>
              <a:rPr lang="en-US" sz="4000" dirty="0"/>
              <a:t>Why?</a:t>
            </a:r>
            <a:endParaRPr lang="en-US" sz="4000" dirty="0"/>
          </a:p>
        </p:txBody>
      </p:sp>
      <p:sp>
        <p:nvSpPr>
          <p:cNvPr id="3" name="Content Placeholder 2"/>
          <p:cNvSpPr>
            <a:spLocks noGrp="1"/>
          </p:cNvSpPr>
          <p:nvPr>
            <p:ph idx="1"/>
          </p:nvPr>
        </p:nvSpPr>
        <p:spPr>
          <a:xfrm>
            <a:off x="457199" y="1002393"/>
            <a:ext cx="8406063" cy="3394075"/>
          </a:xfrm>
        </p:spPr>
        <p:txBody>
          <a:bodyPr/>
          <a:lstStyle/>
          <a:p>
            <a:pPr marL="0" indent="0" algn="ctr">
              <a:buNone/>
            </a:pPr>
            <a:r>
              <a:rPr lang="en-US" dirty="0">
                <a:solidFill>
                  <a:srgbClr val="005643"/>
                </a:solidFill>
                <a:latin typeface="Calibri" panose="020F0502020204030204" charset="0"/>
                <a:cs typeface="Calibri" panose="020F0502020204030204" charset="0"/>
              </a:rPr>
              <a:t>Effective communication helps us better understand a person or situation and enables us to resolve differences and build trust and respect.</a:t>
            </a:r>
            <a:endParaRPr lang="en-US" dirty="0">
              <a:solidFill>
                <a:srgbClr val="005643"/>
              </a:solidFill>
              <a:latin typeface="Calibri" panose="020F0502020204030204" charset="0"/>
              <a:cs typeface="Calibri" panose="020F0502020204030204" charset="0"/>
            </a:endParaRPr>
          </a:p>
          <a:p>
            <a:pPr marL="0" indent="0">
              <a:buNone/>
            </a:pPr>
            <a:endParaRPr lang="en-US" sz="1400" dirty="0">
              <a:solidFill>
                <a:srgbClr val="005643"/>
              </a:solidFill>
            </a:endParaRPr>
          </a:p>
        </p:txBody>
      </p:sp>
      <p:pic>
        <p:nvPicPr>
          <p:cNvPr id="5" name="Picture 4"/>
          <p:cNvPicPr>
            <a:picLocks noChangeAspect="1"/>
          </p:cNvPicPr>
          <p:nvPr/>
        </p:nvPicPr>
        <p:blipFill>
          <a:blip r:embed="rId1"/>
          <a:stretch>
            <a:fillRect/>
          </a:stretch>
        </p:blipFill>
        <p:spPr>
          <a:xfrm>
            <a:off x="2399997" y="2699430"/>
            <a:ext cx="4344006" cy="18195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idx="1"/>
          </p:nvPr>
        </p:nvPicPr>
        <p:blipFill>
          <a:blip r:embed="rId1"/>
          <a:stretch>
            <a:fillRect/>
          </a:stretch>
        </p:blipFill>
        <p:spPr>
          <a:xfrm>
            <a:off x="1623237" y="453656"/>
            <a:ext cx="6060558" cy="3912464"/>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Effective Communication?</a:t>
            </a:r>
            <a:endParaRPr lang="en-US" dirty="0"/>
          </a:p>
        </p:txBody>
      </p:sp>
      <p:sp>
        <p:nvSpPr>
          <p:cNvPr id="3" name="Content Placeholder 2"/>
          <p:cNvSpPr>
            <a:spLocks noGrp="1"/>
          </p:cNvSpPr>
          <p:nvPr>
            <p:ph idx="1"/>
          </p:nvPr>
        </p:nvSpPr>
        <p:spPr>
          <a:xfrm>
            <a:off x="192505" y="1213184"/>
            <a:ext cx="8758989" cy="3394075"/>
          </a:xfrm>
        </p:spPr>
        <p:txBody>
          <a:bodyPr/>
          <a:lstStyle/>
          <a:p>
            <a:pPr marL="514350" indent="-514350">
              <a:buFont typeface="+mj-lt"/>
              <a:buAutoNum type="arabicParenR"/>
            </a:pPr>
            <a:r>
              <a:rPr lang="en-US" sz="2800" dirty="0">
                <a:solidFill>
                  <a:srgbClr val="005643"/>
                </a:solidFill>
                <a:latin typeface="Calibri" panose="020F0502020204030204" charset="0"/>
                <a:cs typeface="Calibri" panose="020F0502020204030204" charset="0"/>
              </a:rPr>
              <a:t>The ability to effectively communicate with others is one of the most important tools for professional and personal success.</a:t>
            </a:r>
            <a:endParaRPr lang="en-US" sz="2800" dirty="0">
              <a:solidFill>
                <a:srgbClr val="005643"/>
              </a:solidFill>
              <a:latin typeface="Calibri" panose="020F0502020204030204" charset="0"/>
              <a:cs typeface="Calibri" panose="020F0502020204030204" charset="0"/>
            </a:endParaRPr>
          </a:p>
          <a:p>
            <a:pPr marL="514350" indent="-514350">
              <a:buFont typeface="+mj-lt"/>
              <a:buAutoNum type="arabicParenR"/>
            </a:pPr>
            <a:endParaRPr lang="en-US" sz="500" dirty="0">
              <a:solidFill>
                <a:srgbClr val="005643"/>
              </a:solidFill>
              <a:latin typeface="Calibri" panose="020F0502020204030204" charset="0"/>
              <a:cs typeface="Calibri" panose="020F0502020204030204" charset="0"/>
            </a:endParaRPr>
          </a:p>
          <a:p>
            <a:pPr marL="514350" indent="-514350">
              <a:buFont typeface="+mj-lt"/>
              <a:buAutoNum type="arabicParenR"/>
            </a:pPr>
            <a:r>
              <a:rPr lang="en-US" sz="2800" dirty="0">
                <a:solidFill>
                  <a:srgbClr val="005643"/>
                </a:solidFill>
                <a:latin typeface="Calibri" panose="020F0502020204030204" charset="0"/>
                <a:cs typeface="Calibri" panose="020F0502020204030204" charset="0"/>
              </a:rPr>
              <a:t>Effective communication can help you influence others.</a:t>
            </a:r>
            <a:endParaRPr lang="en-US" sz="2800" dirty="0">
              <a:solidFill>
                <a:srgbClr val="005643"/>
              </a:solidFill>
              <a:latin typeface="Calibri" panose="020F0502020204030204" charset="0"/>
              <a:cs typeface="Calibri" panose="020F0502020204030204" charset="0"/>
            </a:endParaRPr>
          </a:p>
          <a:p>
            <a:pPr marL="514350" indent="-514350">
              <a:buFont typeface="+mj-lt"/>
              <a:buAutoNum type="arabicParenR"/>
            </a:pPr>
            <a:endParaRPr lang="en-US" sz="500" dirty="0">
              <a:solidFill>
                <a:srgbClr val="005643"/>
              </a:solidFill>
              <a:latin typeface="Calibri" panose="020F0502020204030204" charset="0"/>
              <a:cs typeface="Calibri" panose="020F0502020204030204" charset="0"/>
            </a:endParaRPr>
          </a:p>
          <a:p>
            <a:pPr marL="514350" indent="-514350">
              <a:buFont typeface="+mj-lt"/>
              <a:buAutoNum type="arabicParenR"/>
            </a:pPr>
            <a:r>
              <a:rPr lang="en-US" sz="2800" dirty="0">
                <a:solidFill>
                  <a:srgbClr val="005643"/>
                </a:solidFill>
                <a:latin typeface="Calibri" panose="020F0502020204030204" charset="0"/>
                <a:cs typeface="Calibri" panose="020F0502020204030204" charset="0"/>
              </a:rPr>
              <a:t>Your capacity to communicate is often seen as an indicator of your ability and intelligence.</a:t>
            </a:r>
            <a:endParaRPr lang="en-US" sz="2800" dirty="0">
              <a:solidFill>
                <a:srgbClr val="005643"/>
              </a:solidFill>
              <a:latin typeface="Calibri" panose="020F0502020204030204" charset="0"/>
              <a:cs typeface="Calibri" panose="020F0502020204030204" charset="0"/>
            </a:endParaRPr>
          </a:p>
          <a:p>
            <a:pPr marL="0" indent="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1"/>
          <a:stretch>
            <a:fillRect/>
          </a:stretch>
        </p:blipFill>
        <p:spPr>
          <a:xfrm>
            <a:off x="2694979" y="411125"/>
            <a:ext cx="4043206" cy="3863163"/>
          </a:xfrm>
          <a:solidFill>
            <a:srgbClr val="006633"/>
          </a:solid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1360"/>
            <a:ext cx="8229600" cy="857250"/>
          </a:xfrm>
        </p:spPr>
        <p:txBody>
          <a:bodyPr/>
          <a:lstStyle/>
          <a:p>
            <a:r>
              <a:rPr lang="en-US" dirty="0">
                <a:latin typeface="Calibri" panose="020F0502020204030204" charset="0"/>
                <a:cs typeface="Calibri" panose="020F0502020204030204" charset="0"/>
              </a:rPr>
              <a:t>80% of workplace issues are communication related.</a:t>
            </a:r>
            <a:endParaRPr lang="en-US" dirty="0">
              <a:latin typeface="Calibri" panose="020F0502020204030204" charset="0"/>
              <a:cs typeface="Calibri" panose="020F0502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700" dirty="0"/>
              <a:t>Elements of Personal Communication</a:t>
            </a:r>
            <a:endParaRPr lang="en-US" sz="3700" dirty="0"/>
          </a:p>
        </p:txBody>
      </p:sp>
      <p:graphicFrame>
        <p:nvGraphicFramePr>
          <p:cNvPr id="5" name="Content Placeholder 9"/>
          <p:cNvGraphicFramePr/>
          <p:nvPr/>
        </p:nvGraphicFramePr>
        <p:xfrm>
          <a:off x="797441" y="335077"/>
          <a:ext cx="7549117" cy="4178402"/>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en-US" sz="3500" dirty="0">
                <a:solidFill>
                  <a:srgbClr val="005643"/>
                </a:solidFill>
                <a:latin typeface="Calibri" panose="020F0502020204030204" charset="0"/>
                <a:cs typeface="Calibri" panose="020F0502020204030204" charset="0"/>
              </a:rPr>
              <a:t>If words disagree with the tone of voice and nonverbal behavior, people tend to believe the tonality and nonverbal behavior. </a:t>
            </a:r>
            <a:endParaRPr lang="en-US" sz="3500" dirty="0">
              <a:solidFill>
                <a:srgbClr val="005643"/>
              </a:solidFill>
              <a:latin typeface="Calibri" panose="020F0502020204030204" charset="0"/>
              <a:cs typeface="Calibri" panose="020F0502020204030204" charset="0"/>
            </a:endParaRPr>
          </a:p>
          <a:p>
            <a:pPr marL="0" indent="0">
              <a:buNone/>
            </a:pPr>
            <a:endParaRPr lang="en-US" sz="1700" dirty="0">
              <a:latin typeface="Calibri" panose="020F0502020204030204" charset="0"/>
              <a:cs typeface="Calibri" panose="020F0502020204030204" charset="0"/>
            </a:endParaRPr>
          </a:p>
          <a:p>
            <a:pPr marL="0" indent="0" algn="ctr">
              <a:buNone/>
            </a:pPr>
            <a:r>
              <a:rPr lang="en-US" b="1" dirty="0">
                <a:solidFill>
                  <a:srgbClr val="005643"/>
                </a:solidFill>
                <a:latin typeface="Calibri" panose="020F0502020204030204" charset="0"/>
                <a:cs typeface="Calibri" panose="020F0502020204030204" charset="0"/>
              </a:rPr>
              <a:t>Dr. Albert Mehrabian</a:t>
            </a:r>
            <a:endParaRPr lang="en-US" b="1" dirty="0">
              <a:solidFill>
                <a:srgbClr val="005643"/>
              </a:solidFill>
              <a:latin typeface="Calibri" panose="020F0502020204030204" charset="0"/>
              <a:cs typeface="Calibri" panose="020F0502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3034396" y="366216"/>
            <a:ext cx="4097924" cy="438912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Listening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Listening</a:t>
            </a:r>
            <a:endParaRPr lang="en-US" dirty="0"/>
          </a:p>
        </p:txBody>
      </p:sp>
      <p:sp>
        <p:nvSpPr>
          <p:cNvPr id="3" name="Content Placeholder 2"/>
          <p:cNvSpPr>
            <a:spLocks noGrp="1"/>
          </p:cNvSpPr>
          <p:nvPr>
            <p:ph idx="1"/>
          </p:nvPr>
        </p:nvSpPr>
        <p:spPr>
          <a:xfrm>
            <a:off x="457200" y="1384447"/>
            <a:ext cx="8445795" cy="3394075"/>
          </a:xfrm>
        </p:spPr>
        <p:txBody>
          <a:bodyPr/>
          <a:lstStyle/>
          <a:p>
            <a:r>
              <a:rPr lang="en-US" sz="3000" dirty="0">
                <a:solidFill>
                  <a:srgbClr val="005643"/>
                </a:solidFill>
                <a:latin typeface="Calibri" panose="020F0502020204030204" charset="0"/>
                <a:cs typeface="Calibri" panose="020F0502020204030204" charset="0"/>
              </a:rPr>
              <a:t>More than just hearing someone speak.</a:t>
            </a:r>
            <a:endParaRPr lang="en-US" sz="3000" dirty="0">
              <a:solidFill>
                <a:srgbClr val="005643"/>
              </a:solidFill>
              <a:latin typeface="Calibri" panose="020F0502020204030204" charset="0"/>
              <a:cs typeface="Calibri" panose="020F0502020204030204" charset="0"/>
            </a:endParaRPr>
          </a:p>
          <a:p>
            <a:pPr marL="0" indent="0">
              <a:buNone/>
            </a:pPr>
            <a:endParaRPr lang="en-US" sz="1500" dirty="0">
              <a:solidFill>
                <a:srgbClr val="005643"/>
              </a:solidFill>
              <a:latin typeface="Calibri" panose="020F0502020204030204" charset="0"/>
              <a:cs typeface="Calibri" panose="020F0502020204030204" charset="0"/>
            </a:endParaRPr>
          </a:p>
          <a:p>
            <a:r>
              <a:rPr lang="en-US" sz="3000" dirty="0">
                <a:solidFill>
                  <a:srgbClr val="005643"/>
                </a:solidFill>
                <a:latin typeface="Calibri" panose="020F0502020204030204" charset="0"/>
                <a:cs typeface="Calibri" panose="020F0502020204030204" charset="0"/>
              </a:rPr>
              <a:t>You fully concentrate on what is being said.</a:t>
            </a:r>
            <a:endParaRPr lang="en-US" sz="3000" dirty="0">
              <a:solidFill>
                <a:srgbClr val="005643"/>
              </a:solidFill>
              <a:latin typeface="Calibri" panose="020F0502020204030204" charset="0"/>
              <a:cs typeface="Calibri" panose="020F0502020204030204" charset="0"/>
            </a:endParaRPr>
          </a:p>
          <a:p>
            <a:pPr marL="0" indent="0">
              <a:buNone/>
            </a:pPr>
            <a:endParaRPr lang="en-US" sz="1500" dirty="0">
              <a:solidFill>
                <a:srgbClr val="005643"/>
              </a:solidFill>
              <a:latin typeface="Calibri" panose="020F0502020204030204" charset="0"/>
              <a:cs typeface="Calibri" panose="020F0502020204030204" charset="0"/>
            </a:endParaRPr>
          </a:p>
          <a:p>
            <a:r>
              <a:rPr lang="en-US" sz="3000" dirty="0">
                <a:solidFill>
                  <a:srgbClr val="005643"/>
                </a:solidFill>
                <a:latin typeface="Calibri" panose="020F0502020204030204" charset="0"/>
                <a:cs typeface="Calibri" panose="020F0502020204030204" charset="0"/>
              </a:rPr>
              <a:t>You listen with all your senses and give your full attention to the person speaking.</a:t>
            </a:r>
            <a:endParaRPr lang="en-US" sz="3000" dirty="0">
              <a:solidFill>
                <a:srgbClr val="005643"/>
              </a:solidFill>
              <a:latin typeface="Calibri" panose="020F0502020204030204" charset="0"/>
              <a:cs typeface="Calibri" panose="020F0502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817719" y="205539"/>
            <a:ext cx="5832654" cy="4206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Are you an active listener?</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899162" y="78696"/>
            <a:ext cx="7613175" cy="4500924"/>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424889" y="336498"/>
            <a:ext cx="4294222" cy="3896099"/>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Nonverbal Communication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86690" y="435407"/>
            <a:ext cx="8770619" cy="3735635"/>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7379"/>
            <a:ext cx="8229600" cy="857250"/>
          </a:xfrm>
        </p:spPr>
        <p:txBody>
          <a:bodyPr/>
          <a:lstStyle/>
          <a:p>
            <a:r>
              <a:rPr lang="en-US" sz="3700" dirty="0"/>
              <a:t>Improve how you read nonverbals!</a:t>
            </a:r>
            <a:br>
              <a:rPr lang="en-US" sz="3700" dirty="0"/>
            </a:br>
            <a:endParaRPr lang="en-US" sz="3700" dirty="0"/>
          </a:p>
        </p:txBody>
      </p:sp>
      <p:sp>
        <p:nvSpPr>
          <p:cNvPr id="4" name="Content Placeholder 3"/>
          <p:cNvSpPr txBox="1">
            <a:spLocks noGrp="1"/>
          </p:cNvSpPr>
          <p:nvPr>
            <p:ph idx="1"/>
          </p:nvPr>
        </p:nvSpPr>
        <p:spPr>
          <a:xfrm>
            <a:off x="914400" y="1432760"/>
            <a:ext cx="7551420" cy="2357568"/>
          </a:xfrm>
          <a:prstGeom prst="rect">
            <a:avLst/>
          </a:prstGeom>
          <a:noFill/>
        </p:spPr>
        <p:txBody>
          <a:bodyPr wrap="square" rtlCol="0">
            <a:spAutoFit/>
          </a:bodyPr>
          <a:lstStyle/>
          <a:p>
            <a:pPr marL="514350" indent="-514350">
              <a:buFont typeface="+mj-lt"/>
              <a:buAutoNum type="arabicPeriod"/>
            </a:pPr>
            <a:r>
              <a:rPr lang="en-US" dirty="0">
                <a:solidFill>
                  <a:srgbClr val="005643"/>
                </a:solidFill>
                <a:latin typeface="Calibri" panose="020F0502020204030204" charset="0"/>
                <a:cs typeface="Calibri" panose="020F0502020204030204" charset="0"/>
              </a:rPr>
              <a:t>People watching</a:t>
            </a:r>
            <a:endParaRPr lang="en-US" dirty="0">
              <a:solidFill>
                <a:srgbClr val="005643"/>
              </a:solidFill>
              <a:latin typeface="Calibri" panose="020F0502020204030204" charset="0"/>
              <a:cs typeface="Calibri" panose="020F0502020204030204" charset="0"/>
            </a:endParaRPr>
          </a:p>
          <a:p>
            <a:pPr marL="514350" indent="-514350">
              <a:buFont typeface="+mj-lt"/>
              <a:buAutoNum type="arabicPeriod"/>
            </a:pPr>
            <a:endParaRPr lang="en-US" sz="1600" dirty="0">
              <a:solidFill>
                <a:srgbClr val="005643"/>
              </a:solidFill>
              <a:latin typeface="Calibri" panose="020F0502020204030204" charset="0"/>
              <a:cs typeface="Calibri" panose="020F0502020204030204" charset="0"/>
            </a:endParaRPr>
          </a:p>
          <a:p>
            <a:pPr marL="514350" indent="-514350">
              <a:buFont typeface="+mj-lt"/>
              <a:buAutoNum type="arabicPeriod"/>
            </a:pPr>
            <a:r>
              <a:rPr lang="en-US" dirty="0">
                <a:solidFill>
                  <a:srgbClr val="005643"/>
                </a:solidFill>
                <a:latin typeface="Calibri" panose="020F0502020204030204" charset="0"/>
                <a:cs typeface="Calibri" panose="020F0502020204030204" charset="0"/>
              </a:rPr>
              <a:t>Be aware of individual differences</a:t>
            </a:r>
            <a:endParaRPr lang="en-US" dirty="0">
              <a:solidFill>
                <a:srgbClr val="005643"/>
              </a:solidFill>
              <a:latin typeface="Calibri" panose="020F0502020204030204" charset="0"/>
              <a:cs typeface="Calibri" panose="020F0502020204030204" charset="0"/>
            </a:endParaRPr>
          </a:p>
          <a:p>
            <a:pPr marL="514350" indent="-514350">
              <a:buFont typeface="+mj-lt"/>
              <a:buAutoNum type="arabicPeriod"/>
            </a:pPr>
            <a:endParaRPr lang="en-US" sz="1600" dirty="0">
              <a:solidFill>
                <a:srgbClr val="005643"/>
              </a:solidFill>
              <a:latin typeface="Calibri" panose="020F0502020204030204" charset="0"/>
              <a:cs typeface="Calibri" panose="020F0502020204030204" charset="0"/>
            </a:endParaRPr>
          </a:p>
          <a:p>
            <a:pPr marL="514350" indent="-514350">
              <a:buFont typeface="+mj-lt"/>
              <a:buAutoNum type="arabicPeriod"/>
            </a:pPr>
            <a:r>
              <a:rPr lang="en-US" dirty="0">
                <a:solidFill>
                  <a:srgbClr val="005643"/>
                </a:solidFill>
                <a:latin typeface="Calibri" panose="020F0502020204030204" charset="0"/>
                <a:cs typeface="Calibri" panose="020F0502020204030204" charset="0"/>
              </a:rPr>
              <a:t>Look at nonverbal signals as a whole </a:t>
            </a:r>
            <a:endParaRPr lang="en-US" dirty="0">
              <a:solidFill>
                <a:srgbClr val="005643"/>
              </a:solidFill>
              <a:latin typeface="Calibri" panose="020F0502020204030204" charset="0"/>
              <a:cs typeface="Calibri" panose="020F050202020403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750741" y="141186"/>
            <a:ext cx="5883150" cy="4267570"/>
          </a:xfrm>
          <a:prstGeom prst="rect">
            <a:avLst/>
          </a:prstGeom>
          <a:ln>
            <a:solidFill>
              <a:srgbClr val="006633"/>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1268730" y="0"/>
            <a:ext cx="6606540" cy="4410659"/>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pic>
        <p:nvPicPr>
          <p:cNvPr id="6" name="Picture 5" descr="A close up of a sign&#10;&#10;Description automatically generated"/>
          <p:cNvPicPr>
            <a:picLocks noChangeAspect="1"/>
          </p:cNvPicPr>
          <p:nvPr/>
        </p:nvPicPr>
        <p:blipFill>
          <a:blip r:embed="rId1"/>
          <a:stretch>
            <a:fillRect/>
          </a:stretch>
        </p:blipFill>
        <p:spPr>
          <a:xfrm>
            <a:off x="0" y="564479"/>
            <a:ext cx="9144000" cy="352388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2186993" y="501813"/>
            <a:ext cx="5269883" cy="37490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320901" y="432054"/>
            <a:ext cx="4502197" cy="384048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endParaRPr lang="en-US" dirty="0"/>
          </a:p>
        </p:txBody>
      </p:sp>
      <p:sp>
        <p:nvSpPr>
          <p:cNvPr id="3" name="Content Placeholder 2"/>
          <p:cNvSpPr>
            <a:spLocks noGrp="1"/>
          </p:cNvSpPr>
          <p:nvPr>
            <p:ph idx="1"/>
          </p:nvPr>
        </p:nvSpPr>
        <p:spPr>
          <a:xfrm>
            <a:off x="144379" y="1063625"/>
            <a:ext cx="8686800" cy="3394075"/>
          </a:xfrm>
        </p:spPr>
        <p:txBody>
          <a:bodyPr/>
          <a:lstStyle/>
          <a:p>
            <a:r>
              <a:rPr lang="en-US" sz="2400" i="1" dirty="0">
                <a:solidFill>
                  <a:srgbClr val="005643"/>
                </a:solidFill>
                <a:latin typeface="Calibri" panose="020F0502020204030204" charset="0"/>
                <a:cs typeface="Calibri" panose="020F0502020204030204" charset="0"/>
              </a:rPr>
              <a:t>Behavioral Communication Style Evaluation</a:t>
            </a:r>
            <a:endParaRPr lang="en-US" sz="2400" i="1" dirty="0">
              <a:solidFill>
                <a:srgbClr val="005643"/>
              </a:solidFill>
              <a:latin typeface="Calibri" panose="020F0502020204030204" charset="0"/>
              <a:cs typeface="Calibri" panose="020F0502020204030204" charset="0"/>
            </a:endParaRPr>
          </a:p>
          <a:p>
            <a:pPr marL="457200" lvl="1" indent="0">
              <a:buNone/>
            </a:pPr>
            <a:r>
              <a:rPr lang="en-US" sz="2400" dirty="0">
                <a:solidFill>
                  <a:srgbClr val="005643"/>
                </a:solidFill>
                <a:latin typeface="Calibri" panose="020F0502020204030204" charset="0"/>
                <a:cs typeface="Calibri" panose="020F0502020204030204" charset="0"/>
              </a:rPr>
              <a:t>Based on the work of Tony Alessandra </a:t>
            </a:r>
            <a:endParaRPr lang="en-US" sz="2400" dirty="0">
              <a:solidFill>
                <a:srgbClr val="005643"/>
              </a:solidFill>
              <a:latin typeface="Calibri" panose="020F0502020204030204" charset="0"/>
              <a:cs typeface="Calibri" panose="020F0502020204030204" charset="0"/>
            </a:endParaRPr>
          </a:p>
          <a:p>
            <a:pPr marL="457200" lvl="1" indent="0">
              <a:buNone/>
            </a:pPr>
            <a:endParaRPr lang="en-US" sz="2400" dirty="0">
              <a:solidFill>
                <a:srgbClr val="005643"/>
              </a:solidFill>
              <a:latin typeface="Calibri" panose="020F0502020204030204" charset="0"/>
              <a:cs typeface="Calibri" panose="020F0502020204030204" charset="0"/>
            </a:endParaRPr>
          </a:p>
          <a:p>
            <a:r>
              <a:rPr lang="en-US" sz="2400" i="1" dirty="0">
                <a:solidFill>
                  <a:srgbClr val="005643"/>
                </a:solidFill>
                <a:latin typeface="Calibri" panose="020F0502020204030204" charset="0"/>
                <a:cs typeface="Calibri" panose="020F0502020204030204" charset="0"/>
              </a:rPr>
              <a:t>8 Great Tricks For Reading People’s Body Language</a:t>
            </a:r>
            <a:endParaRPr lang="en-US" sz="2400" i="1" dirty="0">
              <a:solidFill>
                <a:srgbClr val="005643"/>
              </a:solidFill>
              <a:latin typeface="Calibri" panose="020F0502020204030204" charset="0"/>
              <a:cs typeface="Calibri" panose="020F0502020204030204" charset="0"/>
            </a:endParaRPr>
          </a:p>
          <a:p>
            <a:pPr marL="0" indent="0">
              <a:buNone/>
            </a:pPr>
            <a:r>
              <a:rPr lang="en-US" sz="2400" i="1" dirty="0">
                <a:solidFill>
                  <a:srgbClr val="005643"/>
                </a:solidFill>
                <a:latin typeface="Calibri" panose="020F0502020204030204" charset="0"/>
                <a:cs typeface="Calibri" panose="020F0502020204030204" charset="0"/>
              </a:rPr>
              <a:t>	</a:t>
            </a:r>
            <a:r>
              <a:rPr lang="en-US" sz="2400" dirty="0">
                <a:solidFill>
                  <a:srgbClr val="005643"/>
                </a:solidFill>
                <a:latin typeface="Calibri" panose="020F0502020204030204" charset="0"/>
                <a:cs typeface="Calibri" panose="020F0502020204030204" charset="0"/>
              </a:rPr>
              <a:t>Travis Bradberry, Ph.D., TALENTSMART</a:t>
            </a:r>
            <a:br>
              <a:rPr lang="en-US" sz="2400" dirty="0">
                <a:solidFill>
                  <a:srgbClr val="005643"/>
                </a:solidFill>
                <a:latin typeface="Calibri" panose="020F0502020204030204" charset="0"/>
                <a:cs typeface="Calibri" panose="020F0502020204030204" charset="0"/>
              </a:rPr>
            </a:br>
            <a:endParaRPr lang="en-US" sz="2400" dirty="0">
              <a:solidFill>
                <a:srgbClr val="005643"/>
              </a:solidFill>
              <a:latin typeface="Calibri" panose="020F0502020204030204" charset="0"/>
              <a:cs typeface="Calibri" panose="020F0502020204030204" charset="0"/>
            </a:endParaRPr>
          </a:p>
          <a:p>
            <a:endParaRPr lang="en-US" dirty="0"/>
          </a:p>
        </p:txBody>
      </p:sp>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ndsu-template2_wide (1)</Template>
  <TotalTime>0</TotalTime>
  <Words>1391</Words>
  <Application>WPS Presentation</Application>
  <PresentationFormat>On-screen Show (16:9)</PresentationFormat>
  <Paragraphs>58</Paragraphs>
  <Slides>27</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Arial</vt:lpstr>
      <vt:lpstr>SimSun</vt:lpstr>
      <vt:lpstr>Wingdings</vt:lpstr>
      <vt:lpstr>MS PGothic</vt:lpstr>
      <vt:lpstr>Calibri</vt:lpstr>
      <vt:lpstr>Arial</vt:lpstr>
      <vt:lpstr>Microsoft YaHei</vt:lpstr>
      <vt:lpstr>Arial Unicode MS</vt:lpstr>
      <vt:lpstr>Data Pie Charts</vt:lpstr>
      <vt:lpstr>Effective Communication</vt:lpstr>
      <vt:lpstr>PowerPoint 演示文稿</vt:lpstr>
      <vt:lpstr>PowerPoint 演示文稿</vt:lpstr>
      <vt:lpstr>PowerPoint 演示文稿</vt:lpstr>
      <vt:lpstr>Why?</vt:lpstr>
      <vt:lpstr>PowerPoint 演示文稿</vt:lpstr>
      <vt:lpstr>Why Effective Communication?</vt:lpstr>
      <vt:lpstr>PowerPoint 演示文稿</vt:lpstr>
      <vt:lpstr>80% of workplace issues are communication related.</vt:lpstr>
      <vt:lpstr>Elements of Personal Communication</vt:lpstr>
      <vt:lpstr>PowerPoint 演示文稿</vt:lpstr>
      <vt:lpstr>PowerPoint 演示文稿</vt:lpstr>
      <vt:lpstr>Listening</vt:lpstr>
      <vt:lpstr>Active Listening</vt:lpstr>
      <vt:lpstr>PowerPoint 演示文稿</vt:lpstr>
      <vt:lpstr>Are you an active listener?</vt:lpstr>
      <vt:lpstr>PowerPoint 演示文稿</vt:lpstr>
      <vt:lpstr>PowerPoint 演示文稿</vt:lpstr>
      <vt:lpstr>Nonverbal Communication</vt:lpstr>
      <vt:lpstr>PowerPoint 演示文稿</vt:lpstr>
      <vt:lpstr>Improve how you read nonverbals! </vt:lpstr>
      <vt:lpstr>PowerPoint 演示文稿</vt:lpstr>
      <vt:lpstr>PowerPoint 演示文稿</vt:lpstr>
      <vt:lpstr>PowerPoint 演示文稿</vt:lpstr>
      <vt:lpstr>PowerPoint 演示文稿</vt:lpstr>
      <vt:lpstr>PowerPoint 演示文稿</vt:lpstr>
      <vt:lpstr>Resources</vt:lpstr>
    </vt:vector>
  </TitlesOfParts>
  <Company>North Dakota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Kristina Astrup</dc:creator>
  <cp:lastModifiedBy>farshad panhwar</cp:lastModifiedBy>
  <cp:revision>74</cp:revision>
  <dcterms:created xsi:type="dcterms:W3CDTF">2020-01-22T19:16:00Z</dcterms:created>
  <dcterms:modified xsi:type="dcterms:W3CDTF">2025-03-19T20:52:58Z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50EDF21A48994AA7A6AE863F56AACAC9_12</vt:lpwstr>
  </property>
  <property fmtid="{D5CDD505-2E9C-101B-9397-08002B2CF9AE}" pid="3" name="KSOProductBuildVer">
    <vt:lpwstr>1033-12.2.0.20326</vt:lpwstr>
  </property>
</Properties>
</file>