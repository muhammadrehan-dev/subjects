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revisionInfo.xml" ContentType="application/vnd.ms-powerpoint.revisioninfo+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2" r:id="rId4"/>
  </p:sldMasterIdLst>
  <p:sldIdLst>
    <p:sldId id="256" r:id="rId5"/>
    <p:sldId id="258" r:id="rId6"/>
    <p:sldId id="259" r:id="rId7"/>
    <p:sldId id="263" r:id="rId8"/>
    <p:sldId id="265" r:id="rId9"/>
    <p:sldId id="266" r:id="rId10"/>
    <p:sldId id="267" r:id="rId11"/>
    <p:sldId id="268" r:id="rId12"/>
    <p:sldId id="269" r:id="rId13"/>
    <p:sldId id="270" r:id="rId14"/>
    <p:sldId id="271" r:id="rId15"/>
    <p:sldId id="272" r:id="rId16"/>
    <p:sldId id="288" r:id="rId17"/>
    <p:sldId id="273" r:id="rId18"/>
    <p:sldId id="290" r:id="rId19"/>
    <p:sldId id="291" r:id="rId20"/>
    <p:sldId id="292" r:id="rId21"/>
    <p:sldId id="274" r:id="rId22"/>
    <p:sldId id="275" r:id="rId23"/>
    <p:sldId id="281" r:id="rId24"/>
    <p:sldId id="276" r:id="rId25"/>
    <p:sldId id="293" r:id="rId26"/>
    <p:sldId id="294" r:id="rId27"/>
    <p:sldId id="280" r:id="rId28"/>
    <p:sldId id="282" r:id="rId29"/>
    <p:sldId id="283" r:id="rId30"/>
    <p:sldId id="284" r:id="rId31"/>
    <p:sldId id="277" r:id="rId32"/>
    <p:sldId id="278" r:id="rId33"/>
    <p:sldId id="279" r:id="rId34"/>
    <p:sldId id="285" r:id="rId35"/>
    <p:sldId id="286" r:id="rId36"/>
    <p:sldId id="287" r:id="rId37"/>
    <p:sldId id="298" r:id="rId38"/>
    <p:sldId id="299" r:id="rId39"/>
    <p:sldId id="300" r:id="rId40"/>
    <p:sldId id="301" r:id="rId41"/>
    <p:sldId id="302" r:id="rId42"/>
    <p:sldId id="303" r:id="rId43"/>
    <p:sldId id="304" r:id="rId44"/>
    <p:sldId id="305" r:id="rId45"/>
    <p:sldId id="306" r:id="rId46"/>
    <p:sldId id="307" r:id="rId47"/>
    <p:sldId id="308" r:id="rId48"/>
    <p:sldId id="309" r:id="rId49"/>
    <p:sldId id="310" r:id="rId50"/>
    <p:sldId id="311" r:id="rId51"/>
    <p:sldId id="312" r:id="rId52"/>
    <p:sldId id="313" r:id="rId53"/>
    <p:sldId id="314" r:id="rId54"/>
    <p:sldId id="315" r:id="rId55"/>
    <p:sldId id="295" r:id="rId56"/>
    <p:sldId id="317" r:id="rId57"/>
    <p:sldId id="264"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5BDCA6-F73B-46EC-AC23-D97107086522}" v="12" dt="2020-05-31T20:47:28.274"/>
    <p1510:client id="{B473F367-F98C-4599-BCEE-156A4B4416D9}" v="13" dt="2020-06-08T05:35:22.691"/>
    <p1510:client id="{B53134E6-9DAD-4496-9E2D-F32A6CF4C2B3}" v="2" dt="2020-06-09T03:01:13.554"/>
    <p1510:client id="{C70B4E23-82C9-4C0C-A52C-8FCDD803320A}" v="74" dt="2020-06-04T05:54:05.578"/>
    <p1510:client id="{E43138C0-0B56-46E9-8DB3-9F688547D110}" v="1" dt="2020-06-04T05:48:18.5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p:cViewPr>
        <p:scale>
          <a:sx n="1" d="2"/>
          <a:sy n="1" d="2"/>
        </p:scale>
        <p:origin x="-1256" y="-392"/>
      </p:cViewPr>
      <p:guideLst>
        <p:guide orient="horz" pos="2160"/>
        <p:guide pos="384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ia Memon" userId="S::sania.sachal@teacher.muet.edu.pk::78a0faaa-7f13-498b-9730-630e7f5e08c1" providerId="AD" clId="Web-{C70B4E23-82C9-4C0C-A52C-8FCDD803320A}"/>
    <pc:docChg chg="modSld">
      <pc:chgData name="Sania Memon" userId="S::sania.sachal@teacher.muet.edu.pk::78a0faaa-7f13-498b-9730-630e7f5e08c1" providerId="AD" clId="Web-{C70B4E23-82C9-4C0C-A52C-8FCDD803320A}" dt="2020-06-04T05:54:05.578" v="72" actId="20577"/>
      <pc:docMkLst>
        <pc:docMk/>
      </pc:docMkLst>
      <pc:sldChg chg="modSp">
        <pc:chgData name="Sania Memon" userId="S::sania.sachal@teacher.muet.edu.pk::78a0faaa-7f13-498b-9730-630e7f5e08c1" providerId="AD" clId="Web-{C70B4E23-82C9-4C0C-A52C-8FCDD803320A}" dt="2020-06-04T05:53:22.670" v="15" actId="20577"/>
        <pc:sldMkLst>
          <pc:docMk/>
          <pc:sldMk cId="2288537466" sldId="295"/>
        </pc:sldMkLst>
        <pc:spChg chg="mod">
          <ac:chgData name="Sania Memon" userId="S::sania.sachal@teacher.muet.edu.pk::78a0faaa-7f13-498b-9730-630e7f5e08c1" providerId="AD" clId="Web-{C70B4E23-82C9-4C0C-A52C-8FCDD803320A}" dt="2020-06-04T05:53:22.670" v="15" actId="20577"/>
          <ac:spMkLst>
            <pc:docMk/>
            <pc:sldMk cId="2288537466" sldId="295"/>
            <ac:spMk id="4" creationId="{99318D13-1B8D-4AE4-9E4E-BBBDEB2A4840}"/>
          </ac:spMkLst>
        </pc:spChg>
      </pc:sldChg>
      <pc:sldChg chg="modSp">
        <pc:chgData name="Sania Memon" userId="S::sania.sachal@teacher.muet.edu.pk::78a0faaa-7f13-498b-9730-630e7f5e08c1" providerId="AD" clId="Web-{C70B4E23-82C9-4C0C-A52C-8FCDD803320A}" dt="2020-06-04T05:54:05.578" v="71" actId="20577"/>
        <pc:sldMkLst>
          <pc:docMk/>
          <pc:sldMk cId="1493024641" sldId="296"/>
        </pc:sldMkLst>
        <pc:spChg chg="mod">
          <ac:chgData name="Sania Memon" userId="S::sania.sachal@teacher.muet.edu.pk::78a0faaa-7f13-498b-9730-630e7f5e08c1" providerId="AD" clId="Web-{C70B4E23-82C9-4C0C-A52C-8FCDD803320A}" dt="2020-06-04T05:54:05.578" v="71" actId="20577"/>
          <ac:spMkLst>
            <pc:docMk/>
            <pc:sldMk cId="1493024641" sldId="296"/>
            <ac:spMk id="3" creationId="{7DBBCF53-1EAB-41CC-BED7-3E518AE36421}"/>
          </ac:spMkLst>
        </pc:spChg>
      </pc:sldChg>
    </pc:docChg>
  </pc:docChgLst>
  <pc:docChgLst>
    <pc:chgData name="Sania Memon" userId="S::sania.sachal@teacher.muet.edu.pk::78a0faaa-7f13-498b-9730-630e7f5e08c1" providerId="AD" clId="Web-{B53134E6-9DAD-4496-9E2D-F32A6CF4C2B3}"/>
    <pc:docChg chg="modSld">
      <pc:chgData name="Sania Memon" userId="S::sania.sachal@teacher.muet.edu.pk::78a0faaa-7f13-498b-9730-630e7f5e08c1" providerId="AD" clId="Web-{B53134E6-9DAD-4496-9E2D-F32A6CF4C2B3}" dt="2020-06-09T03:01:13.554" v="1" actId="20577"/>
      <pc:docMkLst>
        <pc:docMk/>
      </pc:docMkLst>
      <pc:sldChg chg="modSp">
        <pc:chgData name="Sania Memon" userId="S::sania.sachal@teacher.muet.edu.pk::78a0faaa-7f13-498b-9730-630e7f5e08c1" providerId="AD" clId="Web-{B53134E6-9DAD-4496-9E2D-F32A6CF4C2B3}" dt="2020-06-09T03:01:13.554" v="0" actId="20577"/>
        <pc:sldMkLst>
          <pc:docMk/>
          <pc:sldMk cId="4275345700" sldId="283"/>
        </pc:sldMkLst>
        <pc:spChg chg="mod">
          <ac:chgData name="Sania Memon" userId="S::sania.sachal@teacher.muet.edu.pk::78a0faaa-7f13-498b-9730-630e7f5e08c1" providerId="AD" clId="Web-{B53134E6-9DAD-4496-9E2D-F32A6CF4C2B3}" dt="2020-06-09T03:01:13.554" v="0" actId="20577"/>
          <ac:spMkLst>
            <pc:docMk/>
            <pc:sldMk cId="4275345700" sldId="283"/>
            <ac:spMk id="4" creationId="{18544408-8F35-4F97-9BDB-2FEE05A8CFFE}"/>
          </ac:spMkLst>
        </pc:spChg>
      </pc:sldChg>
    </pc:docChg>
  </pc:docChgLst>
  <pc:docChgLst>
    <pc:chgData name="Sania Memon" userId="78a0faaa-7f13-498b-9730-630e7f5e08c1" providerId="ADAL" clId="{6E5BDCA6-F73B-46EC-AC23-D97107086522}"/>
    <pc:docChg chg="undo custSel addSld modSld sldOrd">
      <pc:chgData name="Sania Memon" userId="78a0faaa-7f13-498b-9730-630e7f5e08c1" providerId="ADAL" clId="{6E5BDCA6-F73B-46EC-AC23-D97107086522}" dt="2020-05-31T20:49:24.322" v="832" actId="20577"/>
      <pc:docMkLst>
        <pc:docMk/>
      </pc:docMkLst>
      <pc:sldChg chg="modSp add ord">
        <pc:chgData name="Sania Memon" userId="78a0faaa-7f13-498b-9730-630e7f5e08c1" providerId="ADAL" clId="{6E5BDCA6-F73B-46EC-AC23-D97107086522}" dt="2020-05-31T20:49:24.322" v="832" actId="20577"/>
        <pc:sldMkLst>
          <pc:docMk/>
          <pc:sldMk cId="1493024641" sldId="296"/>
        </pc:sldMkLst>
        <pc:spChg chg="mod">
          <ac:chgData name="Sania Memon" userId="78a0faaa-7f13-498b-9730-630e7f5e08c1" providerId="ADAL" clId="{6E5BDCA6-F73B-46EC-AC23-D97107086522}" dt="2020-05-31T20:44:49.211" v="505" actId="113"/>
          <ac:spMkLst>
            <pc:docMk/>
            <pc:sldMk cId="1493024641" sldId="296"/>
            <ac:spMk id="2" creationId="{426C63F3-4FAF-4E9C-A003-5775BB331240}"/>
          </ac:spMkLst>
        </pc:spChg>
        <pc:spChg chg="mod">
          <ac:chgData name="Sania Memon" userId="78a0faaa-7f13-498b-9730-630e7f5e08c1" providerId="ADAL" clId="{6E5BDCA6-F73B-46EC-AC23-D97107086522}" dt="2020-05-31T20:49:24.322" v="832" actId="20577"/>
          <ac:spMkLst>
            <pc:docMk/>
            <pc:sldMk cId="1493024641" sldId="296"/>
            <ac:spMk id="3" creationId="{7DBBCF53-1EAB-41CC-BED7-3E518AE36421}"/>
          </ac:spMkLst>
        </pc:spChg>
      </pc:sldChg>
    </pc:docChg>
  </pc:docChgLst>
  <pc:docChgLst>
    <pc:chgData name="Sania Memon" userId="S::sania.sachal@teacher.muet.edu.pk::78a0faaa-7f13-498b-9730-630e7f5e08c1" providerId="AD" clId="Web-{B473F367-F98C-4599-BCEE-156A4B4416D9}"/>
    <pc:docChg chg="modSld">
      <pc:chgData name="Sania Memon" userId="S::sania.sachal@teacher.muet.edu.pk::78a0faaa-7f13-498b-9730-630e7f5e08c1" providerId="AD" clId="Web-{B473F367-F98C-4599-BCEE-156A4B4416D9}" dt="2020-06-08T05:35:22.691" v="11" actId="20577"/>
      <pc:docMkLst>
        <pc:docMk/>
      </pc:docMkLst>
      <pc:sldChg chg="modSp">
        <pc:chgData name="Sania Memon" userId="S::sania.sachal@teacher.muet.edu.pk::78a0faaa-7f13-498b-9730-630e7f5e08c1" providerId="AD" clId="Web-{B473F367-F98C-4599-BCEE-156A4B4416D9}" dt="2020-06-08T05:10:20.632" v="0" actId="20577"/>
        <pc:sldMkLst>
          <pc:docMk/>
          <pc:sldMk cId="918913443" sldId="263"/>
        </pc:sldMkLst>
        <pc:spChg chg="mod">
          <ac:chgData name="Sania Memon" userId="S::sania.sachal@teacher.muet.edu.pk::78a0faaa-7f13-498b-9730-630e7f5e08c1" providerId="AD" clId="Web-{B473F367-F98C-4599-BCEE-156A4B4416D9}" dt="2020-06-08T05:10:20.632" v="0" actId="20577"/>
          <ac:spMkLst>
            <pc:docMk/>
            <pc:sldMk cId="918913443" sldId="263"/>
            <ac:spMk id="3" creationId="{710C4941-FFD6-4F53-8C55-274DAE90DEA6}"/>
          </ac:spMkLst>
        </pc:spChg>
      </pc:sldChg>
      <pc:sldChg chg="modSp">
        <pc:chgData name="Sania Memon" userId="S::sania.sachal@teacher.muet.edu.pk::78a0faaa-7f13-498b-9730-630e7f5e08c1" providerId="AD" clId="Web-{B473F367-F98C-4599-BCEE-156A4B4416D9}" dt="2020-06-08T05:22:08.908" v="6" actId="20577"/>
        <pc:sldMkLst>
          <pc:docMk/>
          <pc:sldMk cId="2935955211" sldId="268"/>
        </pc:sldMkLst>
        <pc:spChg chg="mod">
          <ac:chgData name="Sania Memon" userId="S::sania.sachal@teacher.muet.edu.pk::78a0faaa-7f13-498b-9730-630e7f5e08c1" providerId="AD" clId="Web-{B473F367-F98C-4599-BCEE-156A4B4416D9}" dt="2020-06-08T05:22:08.908" v="6" actId="20577"/>
          <ac:spMkLst>
            <pc:docMk/>
            <pc:sldMk cId="2935955211" sldId="268"/>
            <ac:spMk id="3" creationId="{A2B8A7FF-F647-44F0-95D1-EDAADA0BD3D0}"/>
          </ac:spMkLst>
        </pc:spChg>
      </pc:sldChg>
      <pc:sldChg chg="modSp">
        <pc:chgData name="Sania Memon" userId="S::sania.sachal@teacher.muet.edu.pk::78a0faaa-7f13-498b-9730-630e7f5e08c1" providerId="AD" clId="Web-{B473F367-F98C-4599-BCEE-156A4B4416D9}" dt="2020-06-08T05:35:22.691" v="10" actId="20577"/>
        <pc:sldMkLst>
          <pc:docMk/>
          <pc:sldMk cId="443485440" sldId="271"/>
        </pc:sldMkLst>
        <pc:spChg chg="mod">
          <ac:chgData name="Sania Memon" userId="S::sania.sachal@teacher.muet.edu.pk::78a0faaa-7f13-498b-9730-630e7f5e08c1" providerId="AD" clId="Web-{B473F367-F98C-4599-BCEE-156A4B4416D9}" dt="2020-06-08T05:35:22.691" v="10" actId="20577"/>
          <ac:spMkLst>
            <pc:docMk/>
            <pc:sldMk cId="443485440" sldId="271"/>
            <ac:spMk id="3" creationId="{1A61E467-8183-43B7-98CD-504588ECEF28}"/>
          </ac:spMkLst>
        </pc:spChg>
      </pc:sldChg>
    </pc:docChg>
  </pc:docChgLst>
  <pc:docChgLst>
    <pc:chgData name="Sania Memon" userId="S::sania.sachal@teacher.muet.edu.pk::78a0faaa-7f13-498b-9730-630e7f5e08c1" providerId="AD" clId="Web-{E43138C0-0B56-46E9-8DB3-9F688547D110}"/>
    <pc:docChg chg="modSld">
      <pc:chgData name="Sania Memon" userId="S::sania.sachal@teacher.muet.edu.pk::78a0faaa-7f13-498b-9730-630e7f5e08c1" providerId="AD" clId="Web-{E43138C0-0B56-46E9-8DB3-9F688547D110}" dt="2020-06-04T05:48:18.540" v="0" actId="14100"/>
      <pc:docMkLst>
        <pc:docMk/>
      </pc:docMkLst>
      <pc:sldChg chg="modSp">
        <pc:chgData name="Sania Memon" userId="S::sania.sachal@teacher.muet.edu.pk::78a0faaa-7f13-498b-9730-630e7f5e08c1" providerId="AD" clId="Web-{E43138C0-0B56-46E9-8DB3-9F688547D110}" dt="2020-06-04T05:48:18.540" v="0" actId="14100"/>
        <pc:sldMkLst>
          <pc:docMk/>
          <pc:sldMk cId="2668910166" sldId="261"/>
        </pc:sldMkLst>
        <pc:picChg chg="mod">
          <ac:chgData name="Sania Memon" userId="S::sania.sachal@teacher.muet.edu.pk::78a0faaa-7f13-498b-9730-630e7f5e08c1" providerId="AD" clId="Web-{E43138C0-0B56-46E9-8DB3-9F688547D110}" dt="2020-06-04T05:48:18.540" v="0" actId="14100"/>
          <ac:picMkLst>
            <pc:docMk/>
            <pc:sldMk cId="2668910166" sldId="261"/>
            <ac:picMk id="4" creationId="{B832CE3F-8529-4EC8-B776-BC69FE3CD70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5CCA94D5-9D94-4A9A-A6CD-481E8FDD23D6}" type="datetimeFigureOut">
              <a:rPr lang="en-US" smtClean="0"/>
              <a:pPr/>
              <a:t>4/13/2023</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18B59F67-2F76-499E-8F49-1E7F0652BF82}" type="slidenum">
              <a:rPr lang="en-US" smtClean="0"/>
              <a:pPr/>
              <a:t>‹#›</a:t>
            </a:fld>
            <a:endParaRPr lang="en-US"/>
          </a:p>
        </p:txBody>
      </p:sp>
      <p:sp>
        <p:nvSpPr>
          <p:cNvPr id="7" name="Rectangle 6"/>
          <p:cNvSpPr/>
          <p:nvPr/>
        </p:nvSpPr>
        <p:spPr>
          <a:xfrm>
            <a:off x="83909" y="1449304"/>
            <a:ext cx="12028716"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83909" y="1396720"/>
            <a:ext cx="12028716"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83909" y="2976649"/>
            <a:ext cx="12028716"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5CCA94D5-9D94-4A9A-A6CD-481E8FDD23D6}" type="datetimeFigureOut">
              <a:rPr lang="en-US" smtClean="0"/>
              <a:pPr/>
              <a:t>4/13/2023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B59F67-2F76-499E-8F49-1E7F0652BF82}" type="slidenum">
              <a:rPr lang="en-US" smtClean="0"/>
              <a:pPr/>
              <a:t>‹#›</a:t>
            </a:fld>
            <a:endParaRPr lang="en-US"/>
          </a:p>
        </p:txBody>
      </p:sp>
      <p:sp>
        <p:nvSpPr>
          <p:cNvPr id="8" name="Content Placeholder 7"/>
          <p:cNvSpPr>
            <a:spLocks noGrp="1"/>
          </p:cNvSpPr>
          <p:nvPr>
            <p:ph sz="quarter" idx="1"/>
          </p:nvPr>
        </p:nvSpPr>
        <p:spPr>
          <a:xfrm>
            <a:off x="1219200" y="1447800"/>
            <a:ext cx="103632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63084" y="952501"/>
            <a:ext cx="103632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63084" y="2547938"/>
            <a:ext cx="103632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5CCA94D5-9D94-4A9A-A6CD-481E8FDD23D6}" type="datetimeFigureOut">
              <a:rPr lang="en-US" smtClean="0"/>
              <a:pPr/>
              <a:t>4/13/2023</a:t>
            </a:fld>
            <a:endParaRPr lang="en-US"/>
          </a:p>
        </p:txBody>
      </p:sp>
      <p:sp>
        <p:nvSpPr>
          <p:cNvPr id="5" name="Footer Placeholder 4"/>
          <p:cNvSpPr>
            <a:spLocks noGrp="1"/>
          </p:cNvSpPr>
          <p:nvPr>
            <p:ph type="ftr" sz="quarter" idx="11"/>
          </p:nvPr>
        </p:nvSpPr>
        <p:spPr>
          <a:xfrm>
            <a:off x="1066800" y="6172200"/>
            <a:ext cx="5334000" cy="457200"/>
          </a:xfrm>
        </p:spPr>
        <p:txBody>
          <a:bodyPr/>
          <a:lstStyle/>
          <a:p>
            <a:endParaRPr lang="en-US"/>
          </a:p>
        </p:txBody>
      </p:sp>
      <p:sp>
        <p:nvSpPr>
          <p:cNvPr id="7" name="Rectangle 6"/>
          <p:cNvSpPr/>
          <p:nvPr/>
        </p:nvSpPr>
        <p:spPr>
          <a:xfrm flipV="1">
            <a:off x="92550" y="2376830"/>
            <a:ext cx="120180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2195" y="2341476"/>
            <a:ext cx="12018375"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075" y="2468880"/>
            <a:ext cx="12019495"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95072" y="6208776"/>
            <a:ext cx="609600" cy="457200"/>
          </a:xfrm>
        </p:spPr>
        <p:txBody>
          <a:bodyPr/>
          <a:lstStyle/>
          <a:p>
            <a:fld id="{18B59F67-2F76-499E-8F49-1E7F0652BF82}"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5CCA94D5-9D94-4A9A-A6CD-481E8FDD23D6}" type="datetimeFigureOut">
              <a:rPr lang="en-US" smtClean="0"/>
              <a:pPr/>
              <a:t>4/13/2023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B59F67-2F76-499E-8F49-1E7F0652BF82}" type="slidenum">
              <a:rPr lang="en-US" smtClean="0"/>
              <a:pPr/>
              <a:t>‹#›</a:t>
            </a:fld>
            <a:endParaRPr lang="en-US"/>
          </a:p>
        </p:txBody>
      </p:sp>
      <p:sp>
        <p:nvSpPr>
          <p:cNvPr id="9" name="Content Placeholder 8"/>
          <p:cNvSpPr>
            <a:spLocks noGrp="1"/>
          </p:cNvSpPr>
          <p:nvPr>
            <p:ph sz="quarter" idx="1"/>
          </p:nvPr>
        </p:nvSpPr>
        <p:spPr>
          <a:xfrm>
            <a:off x="1219200" y="1447800"/>
            <a:ext cx="499872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6578600" y="1447800"/>
            <a:ext cx="499872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5CCA94D5-9D94-4A9A-A6CD-481E8FDD23D6}" type="datetimeFigureOut">
              <a:rPr lang="en-US" smtClean="0"/>
              <a:pPr/>
              <a:t>4/13/2023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8B59F67-2F76-499E-8F49-1E7F0652BF82}" type="slidenum">
              <a:rPr lang="en-US" smtClean="0"/>
              <a:pPr/>
              <a:t>‹#›</a:t>
            </a:fld>
            <a:endParaRPr lang="en-US"/>
          </a:p>
        </p:txBody>
      </p:sp>
      <p:sp>
        <p:nvSpPr>
          <p:cNvPr id="11" name="Content Placeholder 10"/>
          <p:cNvSpPr>
            <a:spLocks noGrp="1"/>
          </p:cNvSpPr>
          <p:nvPr>
            <p:ph sz="half" idx="2"/>
          </p:nvPr>
        </p:nvSpPr>
        <p:spPr>
          <a:xfrm>
            <a:off x="1219200" y="2247900"/>
            <a:ext cx="49784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6604000" y="2247900"/>
            <a:ext cx="49784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CCA94D5-9D94-4A9A-A6CD-481E8FDD23D6}" type="datetimeFigureOut">
              <a:rPr lang="en-US" smtClean="0"/>
              <a:pPr/>
              <a:t>4/13/2023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8B59F67-2F76-499E-8F49-1E7F0652BF8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CA94D5-9D94-4A9A-A6CD-481E8FDD23D6}" type="datetimeFigureOut">
              <a:rPr lang="en-US" smtClean="0"/>
              <a:pPr/>
              <a:t>4/13/2023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8B59F67-2F76-499E-8F49-1E7F0652BF8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219200" y="273050"/>
            <a:ext cx="103632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CCA94D5-9D94-4A9A-A6CD-481E8FDD23D6}" type="datetimeFigureOut">
              <a:rPr lang="en-US" smtClean="0"/>
              <a:pPr/>
              <a:t>4/13/2023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B59F67-2F76-499E-8F49-1E7F0652BF82}" type="slidenum">
              <a:rPr lang="en-US" smtClean="0"/>
              <a:pPr/>
              <a:t>‹#›</a:t>
            </a:fld>
            <a:endParaRPr lang="en-US"/>
          </a:p>
        </p:txBody>
      </p:sp>
      <p:sp>
        <p:nvSpPr>
          <p:cNvPr id="11" name="Content Placeholder 10"/>
          <p:cNvSpPr>
            <a:spLocks noGrp="1"/>
          </p:cNvSpPr>
          <p:nvPr>
            <p:ph sz="quarter" idx="1"/>
          </p:nvPr>
        </p:nvSpPr>
        <p:spPr>
          <a:xfrm>
            <a:off x="3962400" y="1600200"/>
            <a:ext cx="7620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4900550"/>
            <a:ext cx="97536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CCA94D5-9D94-4A9A-A6CD-481E8FDD23D6}" type="datetimeFigureOut">
              <a:rPr lang="en-US" smtClean="0"/>
              <a:pPr/>
              <a:t>4/13/2023</a:t>
            </a:fld>
            <a:endParaRPr lang="en-US"/>
          </a:p>
        </p:txBody>
      </p:sp>
      <p:sp>
        <p:nvSpPr>
          <p:cNvPr id="6" name="Footer Placeholder 5"/>
          <p:cNvSpPr>
            <a:spLocks noGrp="1"/>
          </p:cNvSpPr>
          <p:nvPr>
            <p:ph type="ftr" sz="quarter" idx="11"/>
          </p:nvPr>
        </p:nvSpPr>
        <p:spPr>
          <a:xfrm>
            <a:off x="1219200" y="6172200"/>
            <a:ext cx="5181600" cy="457200"/>
          </a:xfrm>
        </p:spPr>
        <p:txBody>
          <a:bodyPr/>
          <a:lstStyle/>
          <a:p>
            <a:endParaRPr lang="en-US"/>
          </a:p>
        </p:txBody>
      </p:sp>
      <p:sp>
        <p:nvSpPr>
          <p:cNvPr id="7" name="Slide Number Placeholder 6"/>
          <p:cNvSpPr>
            <a:spLocks noGrp="1"/>
          </p:cNvSpPr>
          <p:nvPr>
            <p:ph type="sldNum" sz="quarter" idx="12"/>
          </p:nvPr>
        </p:nvSpPr>
        <p:spPr>
          <a:xfrm>
            <a:off x="195072" y="6208776"/>
            <a:ext cx="609600" cy="457200"/>
          </a:xfrm>
        </p:spPr>
        <p:txBody>
          <a:bodyPr/>
          <a:lstStyle/>
          <a:p>
            <a:fld id="{18B59F67-2F76-499E-8F49-1E7F0652BF82}" type="slidenum">
              <a:rPr lang="en-US" smtClean="0"/>
              <a:pPr/>
              <a:t>‹#›</a:t>
            </a:fld>
            <a:endParaRPr lang="en-US"/>
          </a:p>
        </p:txBody>
      </p:sp>
      <p:sp>
        <p:nvSpPr>
          <p:cNvPr id="11" name="Rectangle 10"/>
          <p:cNvSpPr/>
          <p:nvPr/>
        </p:nvSpPr>
        <p:spPr>
          <a:xfrm flipV="1">
            <a:off x="91076" y="4683555"/>
            <a:ext cx="120091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91345" y="4650475"/>
            <a:ext cx="12008852"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91348" y="4773225"/>
            <a:ext cx="12008849"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CCA94D5-9D94-4A9A-A6CD-481E8FDD23D6}" type="datetimeFigureOut">
              <a:rPr lang="en-US" smtClean="0"/>
              <a:pPr/>
              <a:t>4/13/2023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B59F67-2F76-499E-8F49-1E7F0652BF8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68224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219200" y="274641"/>
            <a:ext cx="7416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CCA94D5-9D94-4A9A-A6CD-481E8FDD23D6}" type="datetimeFigureOut">
              <a:rPr lang="en-US" smtClean="0"/>
              <a:pPr/>
              <a:t>4/13/2023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B59F67-2F76-499E-8F49-1E7F0652BF8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1219200" y="274638"/>
            <a:ext cx="103632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1219200" y="1447800"/>
            <a:ext cx="103632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400">
                <a:solidFill>
                  <a:schemeClr val="tx2"/>
                </a:solidFill>
              </a:defRPr>
            </a:lvl1pPr>
          </a:lstStyle>
          <a:p>
            <a:fld id="{5CCA94D5-9D94-4A9A-A6CD-481E8FDD23D6}" type="datetimeFigureOut">
              <a:rPr lang="en-US" smtClean="0"/>
              <a:pPr/>
              <a:t>4/13/2023</a:t>
            </a:fld>
            <a:endParaRPr lang="en-US"/>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95072" y="6210300"/>
            <a:ext cx="6096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18B59F67-2F76-499E-8F49-1E7F0652BF8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hyperlink" Target="https://www.skillsyouneed.com/ips/barriers-communication.html" TargetMode="External"/><Relationship Id="rId2" Type="http://schemas.openxmlformats.org/officeDocument/2006/relationships/hyperlink" Target="https://www.toppr.com/guides/business-correspondence-and-reporting/communication/barriers-in-communication/" TargetMode="External"/><Relationship Id="rId1" Type="http://schemas.openxmlformats.org/officeDocument/2006/relationships/slideLayout" Target="../slideLayouts/slideLayout2.xml"/><Relationship Id="rId6" Type="http://schemas.openxmlformats.org/officeDocument/2006/relationships/hyperlink" Target="https://trainingindustry.com/magazine/issue/gender-barriers-and-solutions-to-leadership/" TargetMode="External"/><Relationship Id="rId5" Type="http://schemas.openxmlformats.org/officeDocument/2006/relationships/hyperlink" Target="https://www.typetalk.com/blog/overcoming-emotional-barriers-to-communication/" TargetMode="External"/><Relationship Id="rId4" Type="http://schemas.openxmlformats.org/officeDocument/2006/relationships/hyperlink" Target="https://study.com/academy/lesson/what-are-cultural-barriers-to-communication-in-the-workplace-definition-examples-quiz.html" TargetMode="External"/></Relationships>
</file>

<file path=ppt/slides/_rels/slide54.xml.rels><?xml version="1.0" encoding="UTF-8" standalone="yes"?>
<Relationships xmlns="http://schemas.openxmlformats.org/package/2006/relationships"><Relationship Id="rId8" Type="http://schemas.openxmlformats.org/officeDocument/2006/relationships/hyperlink" Target="https://bizfluent.com/how-8483270-eliminate-perceptual-barriers.html" TargetMode="External"/><Relationship Id="rId3" Type="http://schemas.openxmlformats.org/officeDocument/2006/relationships/hyperlink" Target="https://www.managementstudyguide.com/communication_barriers.htm" TargetMode="External"/><Relationship Id="rId7" Type="http://schemas.openxmlformats.org/officeDocument/2006/relationships/hyperlink" Target="https://guides.co/g/the-seven-barriers-of-communication/37756" TargetMode="External"/><Relationship Id="rId2" Type="http://schemas.openxmlformats.org/officeDocument/2006/relationships/hyperlink" Target="http://www.txcte.org/" TargetMode="External"/><Relationship Id="rId1" Type="http://schemas.openxmlformats.org/officeDocument/2006/relationships/slideLayout" Target="../slideLayouts/slideLayout2.xml"/><Relationship Id="rId6" Type="http://schemas.openxmlformats.org/officeDocument/2006/relationships/hyperlink" Target="https://www.uj.edu.sa/Files/1001210/Subjects/Chapter%204%20Barriers%20to%20Communication%20.pdf" TargetMode="External"/><Relationship Id="rId5" Type="http://schemas.openxmlformats.org/officeDocument/2006/relationships/hyperlink" Target="https://www.slideshare.net/burhanAhmed14/communication-its-barrier" TargetMode="External"/><Relationship Id="rId4" Type="http://schemas.openxmlformats.org/officeDocument/2006/relationships/hyperlink" Target="https://www.slideshare.net/sundaredu/barriers-of-communication-5354568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xmlns="" id="{DE4A5183-BA21-43E1-A5C8-713983114676}"/>
              </a:ext>
            </a:extLst>
          </p:cNvPr>
          <p:cNvSpPr>
            <a:spLocks noGrp="1"/>
          </p:cNvSpPr>
          <p:nvPr>
            <p:ph type="subTitle" idx="1"/>
          </p:nvPr>
        </p:nvSpPr>
        <p:spPr/>
        <p:txBody>
          <a:bodyPr/>
          <a:lstStyle/>
          <a:p>
            <a:r>
              <a:rPr lang="en-US" dirty="0"/>
              <a:t>Topic 1 –Lecture 2 </a:t>
            </a:r>
          </a:p>
        </p:txBody>
      </p:sp>
      <p:sp>
        <p:nvSpPr>
          <p:cNvPr id="2" name="Title 1">
            <a:extLst>
              <a:ext uri="{FF2B5EF4-FFF2-40B4-BE49-F238E27FC236}">
                <a16:creationId xmlns:a16="http://schemas.microsoft.com/office/drawing/2014/main" xmlns="" id="{08DF1A04-4B36-4C59-B456-A01CB27A1FD7}"/>
              </a:ext>
            </a:extLst>
          </p:cNvPr>
          <p:cNvSpPr>
            <a:spLocks noGrp="1"/>
          </p:cNvSpPr>
          <p:nvPr>
            <p:ph type="ctrTitle"/>
          </p:nvPr>
        </p:nvSpPr>
        <p:spPr/>
        <p:txBody>
          <a:bodyPr/>
          <a:lstStyle/>
          <a:p>
            <a:r>
              <a:rPr lang="en-US" dirty="0"/>
              <a:t>Barriers </a:t>
            </a:r>
            <a:r>
              <a:rPr lang="en-US" dirty="0" smtClean="0"/>
              <a:t>in</a:t>
            </a:r>
            <a:br>
              <a:rPr lang="en-US" dirty="0" smtClean="0"/>
            </a:br>
            <a:r>
              <a:rPr lang="en-US" dirty="0" smtClean="0"/>
              <a:t>Communication </a:t>
            </a:r>
            <a:endParaRPr lang="en-US" dirty="0"/>
          </a:p>
        </p:txBody>
      </p:sp>
    </p:spTree>
    <p:extLst>
      <p:ext uri="{BB962C8B-B14F-4D97-AF65-F5344CB8AC3E}">
        <p14:creationId xmlns:p14="http://schemas.microsoft.com/office/powerpoint/2010/main" xmlns="" val="24970165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00C92D-A470-4484-8CB5-CB1259F16827}"/>
              </a:ext>
            </a:extLst>
          </p:cNvPr>
          <p:cNvSpPr>
            <a:spLocks noGrp="1"/>
          </p:cNvSpPr>
          <p:nvPr>
            <p:ph type="title"/>
          </p:nvPr>
        </p:nvSpPr>
        <p:spPr>
          <a:xfrm>
            <a:off x="838200" y="365126"/>
            <a:ext cx="10515600" cy="1240390"/>
          </a:xfrm>
        </p:spPr>
        <p:txBody>
          <a:bodyPr>
            <a:normAutofit fontScale="90000"/>
          </a:bodyPr>
          <a:lstStyle/>
          <a:p>
            <a:r>
              <a:rPr lang="en-US" b="1"/>
              <a:t>Second Lesson-Introduction to Communication Barriers</a:t>
            </a:r>
          </a:p>
        </p:txBody>
      </p:sp>
      <p:sp>
        <p:nvSpPr>
          <p:cNvPr id="3" name="Content Placeholder 2">
            <a:extLst>
              <a:ext uri="{FF2B5EF4-FFF2-40B4-BE49-F238E27FC236}">
                <a16:creationId xmlns:a16="http://schemas.microsoft.com/office/drawing/2014/main" xmlns="" id="{B5F78331-4156-4DE7-9916-F3F6F5BA24EA}"/>
              </a:ext>
            </a:extLst>
          </p:cNvPr>
          <p:cNvSpPr>
            <a:spLocks noGrp="1"/>
          </p:cNvSpPr>
          <p:nvPr>
            <p:ph sz="quarter" idx="1"/>
          </p:nvPr>
        </p:nvSpPr>
        <p:spPr>
          <a:xfrm>
            <a:off x="223286" y="1605517"/>
            <a:ext cx="11812772" cy="5103628"/>
          </a:xfrm>
        </p:spPr>
        <p:txBody>
          <a:bodyPr>
            <a:normAutofit/>
          </a:bodyPr>
          <a:lstStyle/>
          <a:p>
            <a:r>
              <a:rPr lang="en-US"/>
              <a:t>We will cover the following:</a:t>
            </a:r>
          </a:p>
          <a:p>
            <a:endParaRPr lang="en-US"/>
          </a:p>
          <a:p>
            <a:pPr marL="514350" indent="-514350">
              <a:buAutoNum type="arabicPeriod"/>
            </a:pPr>
            <a:r>
              <a:rPr lang="en-US"/>
              <a:t>Introduction to the concept of “Barriers” in communication process.</a:t>
            </a:r>
          </a:p>
          <a:p>
            <a:pPr marL="514350" indent="-514350">
              <a:buAutoNum type="arabicPeriod"/>
            </a:pPr>
            <a:endParaRPr lang="en-US"/>
          </a:p>
          <a:p>
            <a:pPr marL="514350" indent="-514350">
              <a:buAutoNum type="arabicPeriod"/>
            </a:pPr>
            <a:r>
              <a:rPr lang="en-US"/>
              <a:t>Different types of barriers.</a:t>
            </a:r>
          </a:p>
          <a:p>
            <a:pPr marL="514350" indent="-514350">
              <a:buAutoNum type="arabicPeriod"/>
            </a:pPr>
            <a:endParaRPr lang="en-US"/>
          </a:p>
          <a:p>
            <a:pPr marL="514350" indent="-514350">
              <a:buAutoNum type="arabicPeriod"/>
            </a:pPr>
            <a:r>
              <a:rPr lang="en-US"/>
              <a:t>1. Understanding first three barriers i.e. Physical, physiological and</a:t>
            </a:r>
          </a:p>
          <a:p>
            <a:pPr marL="0" indent="0">
              <a:buNone/>
            </a:pPr>
            <a:r>
              <a:rPr lang="en-US"/>
              <a:t>Psychological barriers. </a:t>
            </a:r>
          </a:p>
          <a:p>
            <a:pPr marL="0" indent="0">
              <a:buNone/>
            </a:pPr>
            <a:r>
              <a:rPr lang="en-US"/>
              <a:t>2. Ways to overcome these barriers.</a:t>
            </a:r>
          </a:p>
        </p:txBody>
      </p:sp>
    </p:spTree>
    <p:extLst>
      <p:ext uri="{BB962C8B-B14F-4D97-AF65-F5344CB8AC3E}">
        <p14:creationId xmlns:p14="http://schemas.microsoft.com/office/powerpoint/2010/main" xmlns="" val="8257648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FC0A09-608B-4537-8ED4-A584F822BE06}"/>
              </a:ext>
            </a:extLst>
          </p:cNvPr>
          <p:cNvSpPr>
            <a:spLocks noGrp="1"/>
          </p:cNvSpPr>
          <p:nvPr>
            <p:ph type="title"/>
          </p:nvPr>
        </p:nvSpPr>
        <p:spPr>
          <a:xfrm>
            <a:off x="457200" y="365126"/>
            <a:ext cx="10896600" cy="613070"/>
          </a:xfrm>
        </p:spPr>
        <p:txBody>
          <a:bodyPr>
            <a:normAutofit fontScale="90000"/>
          </a:bodyPr>
          <a:lstStyle/>
          <a:p>
            <a:r>
              <a:rPr lang="en-US" b="1">
                <a:latin typeface="Garamond" panose="02020404030301010803" pitchFamily="18" charset="0"/>
              </a:rPr>
              <a:t>Lecture 2 Essentials: </a:t>
            </a:r>
          </a:p>
        </p:txBody>
      </p:sp>
      <p:sp>
        <p:nvSpPr>
          <p:cNvPr id="3" name="Content Placeholder 2">
            <a:extLst>
              <a:ext uri="{FF2B5EF4-FFF2-40B4-BE49-F238E27FC236}">
                <a16:creationId xmlns:a16="http://schemas.microsoft.com/office/drawing/2014/main" xmlns="" id="{8E266294-BCFE-4E3F-9A70-F1B8069547C2}"/>
              </a:ext>
            </a:extLst>
          </p:cNvPr>
          <p:cNvSpPr>
            <a:spLocks noGrp="1"/>
          </p:cNvSpPr>
          <p:nvPr>
            <p:ph sz="quarter" idx="1"/>
          </p:nvPr>
        </p:nvSpPr>
        <p:spPr>
          <a:xfrm>
            <a:off x="285308" y="1190851"/>
            <a:ext cx="11621387" cy="5443869"/>
          </a:xfrm>
        </p:spPr>
        <p:txBody>
          <a:bodyPr/>
          <a:lstStyle/>
          <a:p>
            <a:pPr marL="182880" lvl="0" indent="-182880">
              <a:lnSpc>
                <a:spcPct val="100000"/>
              </a:lnSpc>
              <a:spcBef>
                <a:spcPts val="900"/>
              </a:spcBef>
              <a:buClr>
                <a:srgbClr val="000000">
                  <a:lumMod val="85000"/>
                  <a:lumOff val="15000"/>
                </a:srgbClr>
              </a:buClr>
              <a:buFont typeface="Garamond" pitchFamily="18" charset="0"/>
              <a:buChar char="◦"/>
            </a:pPr>
            <a:r>
              <a:rPr lang="en-US" sz="3200" b="1">
                <a:solidFill>
                  <a:srgbClr val="000000"/>
                </a:solidFill>
                <a:latin typeface="Garamond" panose="02020404030301010803"/>
              </a:rPr>
              <a:t>Aim</a:t>
            </a:r>
            <a:r>
              <a:rPr lang="en-US" sz="3200">
                <a:solidFill>
                  <a:srgbClr val="000000"/>
                </a:solidFill>
                <a:latin typeface="Garamond" panose="02020404030301010803"/>
              </a:rPr>
              <a:t> : To introduce the basic concept of  </a:t>
            </a:r>
            <a:r>
              <a:rPr lang="en-US" sz="3200" u="sng">
                <a:solidFill>
                  <a:srgbClr val="000000"/>
                </a:solidFill>
                <a:latin typeface="Garamond" panose="02020404030301010803"/>
              </a:rPr>
              <a:t>Barriers in Communication Process  </a:t>
            </a:r>
          </a:p>
          <a:p>
            <a:pPr marL="182880" lvl="0" indent="-182880">
              <a:lnSpc>
                <a:spcPct val="100000"/>
              </a:lnSpc>
              <a:spcBef>
                <a:spcPts val="900"/>
              </a:spcBef>
              <a:buClr>
                <a:srgbClr val="000000">
                  <a:lumMod val="85000"/>
                  <a:lumOff val="15000"/>
                </a:srgbClr>
              </a:buClr>
              <a:buFont typeface="Garamond" pitchFamily="18" charset="0"/>
              <a:buChar char="◦"/>
            </a:pPr>
            <a:r>
              <a:rPr lang="en-US" sz="3200" b="1">
                <a:solidFill>
                  <a:srgbClr val="000000"/>
                </a:solidFill>
                <a:latin typeface="Garamond" panose="02020404030301010803"/>
              </a:rPr>
              <a:t>Objectives</a:t>
            </a:r>
            <a:r>
              <a:rPr lang="en-US" sz="3200">
                <a:solidFill>
                  <a:srgbClr val="000000"/>
                </a:solidFill>
                <a:latin typeface="Garamond" panose="02020404030301010803"/>
              </a:rPr>
              <a:t>: After this class students will be able to:</a:t>
            </a:r>
          </a:p>
          <a:p>
            <a:pPr marL="182880" lvl="0" indent="-182880">
              <a:lnSpc>
                <a:spcPct val="100000"/>
              </a:lnSpc>
              <a:spcBef>
                <a:spcPts val="900"/>
              </a:spcBef>
              <a:buClr>
                <a:srgbClr val="000000">
                  <a:lumMod val="85000"/>
                  <a:lumOff val="15000"/>
                </a:srgbClr>
              </a:buClr>
              <a:buFont typeface="Garamond" pitchFamily="18" charset="0"/>
              <a:buChar char="◦"/>
            </a:pPr>
            <a:r>
              <a:rPr lang="en-US" sz="3200">
                <a:solidFill>
                  <a:srgbClr val="000000"/>
                </a:solidFill>
                <a:latin typeface="Garamond" panose="02020404030301010803"/>
              </a:rPr>
              <a:t> Define what are barriers in communication process</a:t>
            </a:r>
          </a:p>
          <a:p>
            <a:pPr marL="182880" lvl="0" indent="-182880">
              <a:lnSpc>
                <a:spcPct val="100000"/>
              </a:lnSpc>
              <a:spcBef>
                <a:spcPts val="900"/>
              </a:spcBef>
              <a:buClr>
                <a:srgbClr val="000000">
                  <a:lumMod val="85000"/>
                  <a:lumOff val="15000"/>
                </a:srgbClr>
              </a:buClr>
              <a:buFont typeface="Garamond" pitchFamily="18" charset="0"/>
              <a:buChar char="◦"/>
            </a:pPr>
            <a:r>
              <a:rPr lang="en-US" sz="3200">
                <a:solidFill>
                  <a:srgbClr val="000000"/>
                </a:solidFill>
                <a:latin typeface="Garamond" panose="02020404030301010803"/>
              </a:rPr>
              <a:t> Effect of barriers on communication process</a:t>
            </a:r>
          </a:p>
          <a:p>
            <a:pPr marL="182880" lvl="0" indent="-182880">
              <a:lnSpc>
                <a:spcPct val="100000"/>
              </a:lnSpc>
              <a:spcBef>
                <a:spcPts val="900"/>
              </a:spcBef>
              <a:buClr>
                <a:srgbClr val="000000">
                  <a:lumMod val="85000"/>
                  <a:lumOff val="15000"/>
                </a:srgbClr>
              </a:buClr>
              <a:buFont typeface="Garamond" pitchFamily="18" charset="0"/>
              <a:buChar char="◦"/>
            </a:pPr>
            <a:r>
              <a:rPr lang="en-US" sz="3200">
                <a:solidFill>
                  <a:srgbClr val="000000"/>
                </a:solidFill>
                <a:latin typeface="Garamond" panose="02020404030301010803"/>
              </a:rPr>
              <a:t> Different types of communication barriers (explanation of 3 in detail)</a:t>
            </a:r>
          </a:p>
          <a:p>
            <a:pPr marL="182880" lvl="0" indent="-182880">
              <a:lnSpc>
                <a:spcPct val="100000"/>
              </a:lnSpc>
              <a:spcBef>
                <a:spcPts val="900"/>
              </a:spcBef>
              <a:buClr>
                <a:srgbClr val="000000">
                  <a:lumMod val="85000"/>
                  <a:lumOff val="15000"/>
                </a:srgbClr>
              </a:buClr>
              <a:buFont typeface="Garamond" pitchFamily="18" charset="0"/>
              <a:buChar char="◦"/>
            </a:pPr>
            <a:r>
              <a:rPr lang="en-US" sz="3200" b="1">
                <a:solidFill>
                  <a:srgbClr val="000000"/>
                </a:solidFill>
                <a:latin typeface="Garamond" panose="02020404030301010803"/>
              </a:rPr>
              <a:t>Assessment (how learning will be recognized): </a:t>
            </a:r>
            <a:r>
              <a:rPr lang="en-US" sz="3200">
                <a:solidFill>
                  <a:srgbClr val="000000"/>
                </a:solidFill>
                <a:latin typeface="Garamond" panose="02020404030301010803"/>
              </a:rPr>
              <a:t>Discussion Prompts, mini video clip incorporated between the lecture, debrief session at the end of the class and mini task assigned for home.</a:t>
            </a:r>
            <a:endParaRPr lang="en-US"/>
          </a:p>
        </p:txBody>
      </p:sp>
    </p:spTree>
    <p:extLst>
      <p:ext uri="{BB962C8B-B14F-4D97-AF65-F5344CB8AC3E}">
        <p14:creationId xmlns:p14="http://schemas.microsoft.com/office/powerpoint/2010/main" xmlns="" val="1024036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8AD647-8F44-4493-A081-BDA7DED0C9FF}"/>
              </a:ext>
            </a:extLst>
          </p:cNvPr>
          <p:cNvSpPr>
            <a:spLocks noGrp="1"/>
          </p:cNvSpPr>
          <p:nvPr>
            <p:ph type="title"/>
          </p:nvPr>
        </p:nvSpPr>
        <p:spPr>
          <a:xfrm>
            <a:off x="466061" y="365129"/>
            <a:ext cx="10515600" cy="698131"/>
          </a:xfrm>
        </p:spPr>
        <p:txBody>
          <a:bodyPr>
            <a:normAutofit fontScale="90000"/>
          </a:bodyPr>
          <a:lstStyle/>
          <a:p>
            <a:r>
              <a:rPr lang="en-US" b="1"/>
              <a:t>Barriers-Introduction</a:t>
            </a:r>
          </a:p>
        </p:txBody>
      </p:sp>
      <p:sp>
        <p:nvSpPr>
          <p:cNvPr id="3" name="Content Placeholder 2">
            <a:extLst>
              <a:ext uri="{FF2B5EF4-FFF2-40B4-BE49-F238E27FC236}">
                <a16:creationId xmlns:a16="http://schemas.microsoft.com/office/drawing/2014/main" xmlns="" id="{710C4941-FFD6-4F53-8C55-274DAE90DEA6}"/>
              </a:ext>
            </a:extLst>
          </p:cNvPr>
          <p:cNvSpPr>
            <a:spLocks noGrp="1"/>
          </p:cNvSpPr>
          <p:nvPr>
            <p:ph sz="quarter" idx="1"/>
          </p:nvPr>
        </p:nvSpPr>
        <p:spPr>
          <a:xfrm>
            <a:off x="233917" y="1201480"/>
            <a:ext cx="11791507" cy="5539562"/>
          </a:xfrm>
        </p:spPr>
        <p:txBody>
          <a:bodyPr vert="horz" lIns="91440" tIns="45720" rIns="91440" bIns="45720" rtlCol="0" anchor="t">
            <a:normAutofit/>
          </a:bodyPr>
          <a:lstStyle/>
          <a:p>
            <a:r>
              <a:rPr lang="en-US"/>
              <a:t>Communication is fruitful if and only if the messages sent by the sender is interpreted with same meaning by the receiver. </a:t>
            </a:r>
          </a:p>
          <a:p>
            <a:endParaRPr lang="en-US"/>
          </a:p>
          <a:p>
            <a:r>
              <a:rPr lang="en-US"/>
              <a:t>If any kind of disturbance blocks process of communication, the message will be destroyed. </a:t>
            </a:r>
            <a:endParaRPr lang="en-US">
              <a:cs typeface="Calibri"/>
            </a:endParaRPr>
          </a:p>
          <a:p>
            <a:endParaRPr lang="en-US"/>
          </a:p>
          <a:p>
            <a:r>
              <a:rPr lang="en-US"/>
              <a:t>Barrier: A disturbance that stops us from completing certain tasks.</a:t>
            </a:r>
            <a:endParaRPr lang="en-US">
              <a:cs typeface="Calibri"/>
            </a:endParaRPr>
          </a:p>
          <a:p>
            <a:pPr marL="0" indent="0">
              <a:buNone/>
            </a:pPr>
            <a:endParaRPr lang="en-US"/>
          </a:p>
          <a:p>
            <a:r>
              <a:rPr lang="en-US"/>
              <a:t>Due to such disturbances, senders and receivers  face severe problems in sending and receiving messages. </a:t>
            </a:r>
            <a:endParaRPr lang="en-US">
              <a:cs typeface="Calibri"/>
            </a:endParaRPr>
          </a:p>
        </p:txBody>
      </p:sp>
    </p:spTree>
    <p:extLst>
      <p:ext uri="{BB962C8B-B14F-4D97-AF65-F5344CB8AC3E}">
        <p14:creationId xmlns:p14="http://schemas.microsoft.com/office/powerpoint/2010/main" xmlns="" val="9189134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5DAC44-C6F7-4667-A45E-13632E6C68ED}"/>
              </a:ext>
            </a:extLst>
          </p:cNvPr>
          <p:cNvSpPr>
            <a:spLocks noGrp="1"/>
          </p:cNvSpPr>
          <p:nvPr>
            <p:ph type="title"/>
          </p:nvPr>
        </p:nvSpPr>
        <p:spPr>
          <a:xfrm>
            <a:off x="308346" y="148856"/>
            <a:ext cx="11045457" cy="712382"/>
          </a:xfrm>
        </p:spPr>
        <p:txBody>
          <a:bodyPr>
            <a:normAutofit fontScale="90000"/>
          </a:bodyPr>
          <a:lstStyle/>
          <a:p>
            <a:r>
              <a:rPr lang="en-US" b="1"/>
              <a:t>Barriers-Introduction (Continued):</a:t>
            </a:r>
          </a:p>
        </p:txBody>
      </p:sp>
      <p:sp>
        <p:nvSpPr>
          <p:cNvPr id="3" name="Content Placeholder 2">
            <a:extLst>
              <a:ext uri="{FF2B5EF4-FFF2-40B4-BE49-F238E27FC236}">
                <a16:creationId xmlns:a16="http://schemas.microsoft.com/office/drawing/2014/main" xmlns="" id="{2831BCC8-B895-40DD-A084-0A9BE18FD34E}"/>
              </a:ext>
            </a:extLst>
          </p:cNvPr>
          <p:cNvSpPr>
            <a:spLocks noGrp="1"/>
          </p:cNvSpPr>
          <p:nvPr>
            <p:ph sz="quarter" idx="1"/>
          </p:nvPr>
        </p:nvSpPr>
        <p:spPr>
          <a:xfrm>
            <a:off x="308346" y="1073888"/>
            <a:ext cx="11717079" cy="5635256"/>
          </a:xfrm>
        </p:spPr>
        <p:txBody>
          <a:bodyPr/>
          <a:lstStyle/>
          <a:p>
            <a:r>
              <a:rPr lang="en-US"/>
              <a:t>There are several barriers that affects the flow of communication between individuals in different situations (Work place, home, </a:t>
            </a:r>
            <a:r>
              <a:rPr lang="en-US" err="1"/>
              <a:t>etc</a:t>
            </a:r>
            <a:r>
              <a:rPr lang="en-US"/>
              <a:t>)</a:t>
            </a:r>
          </a:p>
          <a:p>
            <a:r>
              <a:rPr lang="en-US"/>
              <a:t>These barriers interrupt the flow of communication from the sender to the receiver, thus making communication ineffective. </a:t>
            </a:r>
          </a:p>
          <a:p>
            <a:r>
              <a:rPr lang="en-US"/>
              <a:t>Thus communication barrier : </a:t>
            </a:r>
          </a:p>
          <a:p>
            <a:pPr marL="0" indent="0" algn="ctr">
              <a:buNone/>
            </a:pPr>
            <a:r>
              <a:rPr lang="en-US" sz="4000" i="1"/>
              <a:t>“Communication Barriers can be defined as the aspects or conditions that interfere with effective exchange of ideas or thoughts”. </a:t>
            </a:r>
          </a:p>
          <a:p>
            <a:pPr marL="0" indent="0" algn="ctr">
              <a:buNone/>
            </a:pPr>
            <a:endParaRPr lang="en-US" sz="4000"/>
          </a:p>
          <a:p>
            <a:endParaRPr lang="en-US"/>
          </a:p>
          <a:p>
            <a:endParaRPr lang="en-US"/>
          </a:p>
        </p:txBody>
      </p:sp>
    </p:spTree>
    <p:extLst>
      <p:ext uri="{BB962C8B-B14F-4D97-AF65-F5344CB8AC3E}">
        <p14:creationId xmlns:p14="http://schemas.microsoft.com/office/powerpoint/2010/main" xmlns="" val="36850676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79AEC4-3EC8-4061-B49E-ED6A87B60232}"/>
              </a:ext>
            </a:extLst>
          </p:cNvPr>
          <p:cNvSpPr>
            <a:spLocks noGrp="1"/>
          </p:cNvSpPr>
          <p:nvPr>
            <p:ph type="title"/>
          </p:nvPr>
        </p:nvSpPr>
        <p:spPr>
          <a:xfrm>
            <a:off x="646815" y="67303"/>
            <a:ext cx="10515600" cy="762038"/>
          </a:xfrm>
        </p:spPr>
        <p:txBody>
          <a:bodyPr>
            <a:normAutofit/>
          </a:bodyPr>
          <a:lstStyle/>
          <a:p>
            <a:r>
              <a:rPr lang="en-US" b="1"/>
              <a:t>Communication Barriers:</a:t>
            </a:r>
          </a:p>
        </p:txBody>
      </p:sp>
      <p:sp>
        <p:nvSpPr>
          <p:cNvPr id="3" name="Content Placeholder 2">
            <a:extLst>
              <a:ext uri="{FF2B5EF4-FFF2-40B4-BE49-F238E27FC236}">
                <a16:creationId xmlns:a16="http://schemas.microsoft.com/office/drawing/2014/main" xmlns="" id="{3A21206F-753D-4CE7-A6D8-7193AF63267E}"/>
              </a:ext>
            </a:extLst>
          </p:cNvPr>
          <p:cNvSpPr>
            <a:spLocks noGrp="1"/>
          </p:cNvSpPr>
          <p:nvPr>
            <p:ph sz="quarter" idx="1"/>
          </p:nvPr>
        </p:nvSpPr>
        <p:spPr>
          <a:xfrm>
            <a:off x="276449" y="935665"/>
            <a:ext cx="11706447" cy="5784112"/>
          </a:xfrm>
        </p:spPr>
        <p:txBody>
          <a:bodyPr>
            <a:normAutofit/>
          </a:bodyPr>
          <a:lstStyle/>
          <a:p>
            <a:r>
              <a:rPr lang="en-US" b="1"/>
              <a:t>What barriers do to communication process</a:t>
            </a:r>
            <a:r>
              <a:rPr lang="en-US"/>
              <a:t>: Barriers make the message </a:t>
            </a:r>
            <a:r>
              <a:rPr lang="en-US" u="sng"/>
              <a:t>doubtfu</a:t>
            </a:r>
            <a:r>
              <a:rPr lang="en-US"/>
              <a:t>l and </a:t>
            </a:r>
            <a:r>
              <a:rPr lang="en-US" u="sng"/>
              <a:t>unclear to understand</a:t>
            </a:r>
            <a:r>
              <a:rPr lang="en-US"/>
              <a:t>. </a:t>
            </a:r>
            <a:r>
              <a:rPr lang="en-US" u="sng"/>
              <a:t>Sender</a:t>
            </a:r>
            <a:r>
              <a:rPr lang="en-US"/>
              <a:t> gets </a:t>
            </a:r>
            <a:r>
              <a:rPr lang="en-US" u="sng"/>
              <a:t>confused</a:t>
            </a:r>
            <a:r>
              <a:rPr lang="en-US"/>
              <a:t> and it becomes </a:t>
            </a:r>
            <a:r>
              <a:rPr lang="en-US" u="sng"/>
              <a:t>unable for him/her to interpret the correct meaning</a:t>
            </a:r>
            <a:r>
              <a:rPr lang="en-US"/>
              <a:t> of the message. </a:t>
            </a:r>
          </a:p>
          <a:p>
            <a:pPr marL="0" indent="0">
              <a:buNone/>
            </a:pPr>
            <a:r>
              <a:rPr lang="en-US"/>
              <a:t>Following are few common barriers faced by individuals:</a:t>
            </a:r>
          </a:p>
          <a:p>
            <a:pPr marL="514350" indent="-514350">
              <a:buAutoNum type="arabicPeriod"/>
            </a:pPr>
            <a:r>
              <a:rPr lang="en-US"/>
              <a:t>Physical Barriers/Environment </a:t>
            </a:r>
          </a:p>
          <a:p>
            <a:pPr marL="514350" indent="-514350">
              <a:buAutoNum type="arabicPeriod"/>
            </a:pPr>
            <a:r>
              <a:rPr lang="en-US"/>
              <a:t>Physiological Barriers</a:t>
            </a:r>
          </a:p>
          <a:p>
            <a:pPr marL="0" indent="0">
              <a:buNone/>
            </a:pPr>
            <a:r>
              <a:rPr lang="en-US"/>
              <a:t>3. Psychological/Perceptual Barriers</a:t>
            </a:r>
          </a:p>
          <a:p>
            <a:pPr marL="0" indent="0">
              <a:buNone/>
            </a:pPr>
            <a:r>
              <a:rPr lang="en-US"/>
              <a:t>4. Cultural Barriers</a:t>
            </a:r>
          </a:p>
          <a:p>
            <a:pPr marL="0" indent="0">
              <a:buNone/>
            </a:pPr>
            <a:r>
              <a:rPr lang="en-US"/>
              <a:t>5.  Linguistic Barriers</a:t>
            </a:r>
          </a:p>
          <a:p>
            <a:pPr marL="0" indent="0">
              <a:buNone/>
            </a:pPr>
            <a:r>
              <a:rPr lang="en-US"/>
              <a:t>6.  Emotional Barriers</a:t>
            </a:r>
          </a:p>
          <a:p>
            <a:pPr marL="0" indent="0">
              <a:buNone/>
            </a:pPr>
            <a:r>
              <a:rPr lang="en-US"/>
              <a:t>7. Gender Barriers </a:t>
            </a:r>
          </a:p>
          <a:p>
            <a:endParaRPr lang="en-US"/>
          </a:p>
        </p:txBody>
      </p:sp>
    </p:spTree>
    <p:extLst>
      <p:ext uri="{BB962C8B-B14F-4D97-AF65-F5344CB8AC3E}">
        <p14:creationId xmlns:p14="http://schemas.microsoft.com/office/powerpoint/2010/main" xmlns="" val="31580910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C182B5-66F0-428C-81A0-2C0ACAFB29A7}"/>
              </a:ext>
            </a:extLst>
          </p:cNvPr>
          <p:cNvSpPr>
            <a:spLocks noGrp="1"/>
          </p:cNvSpPr>
          <p:nvPr>
            <p:ph type="title"/>
          </p:nvPr>
        </p:nvSpPr>
        <p:spPr>
          <a:xfrm>
            <a:off x="318979" y="365126"/>
            <a:ext cx="11034823" cy="676866"/>
          </a:xfrm>
        </p:spPr>
        <p:txBody>
          <a:bodyPr>
            <a:normAutofit fontScale="90000"/>
          </a:bodyPr>
          <a:lstStyle/>
          <a:p>
            <a:r>
              <a:rPr lang="en-US" b="1"/>
              <a:t>Physical Barriers : </a:t>
            </a:r>
          </a:p>
        </p:txBody>
      </p:sp>
      <p:sp>
        <p:nvSpPr>
          <p:cNvPr id="3" name="Content Placeholder 2">
            <a:extLst>
              <a:ext uri="{FF2B5EF4-FFF2-40B4-BE49-F238E27FC236}">
                <a16:creationId xmlns:a16="http://schemas.microsoft.com/office/drawing/2014/main" xmlns="" id="{94E18A41-8B56-4F6C-95B7-48BF7D006DFE}"/>
              </a:ext>
            </a:extLst>
          </p:cNvPr>
          <p:cNvSpPr>
            <a:spLocks noGrp="1"/>
          </p:cNvSpPr>
          <p:nvPr>
            <p:ph sz="quarter" idx="1"/>
          </p:nvPr>
        </p:nvSpPr>
        <p:spPr>
          <a:xfrm>
            <a:off x="318977" y="1180218"/>
            <a:ext cx="11653283" cy="5539563"/>
          </a:xfrm>
        </p:spPr>
        <p:txBody>
          <a:bodyPr>
            <a:normAutofit/>
          </a:bodyPr>
          <a:lstStyle/>
          <a:p>
            <a:r>
              <a:rPr lang="en-US"/>
              <a:t>Physical barriers occur due to unfavorable environment and surroundings.</a:t>
            </a:r>
          </a:p>
          <a:p>
            <a:r>
              <a:rPr lang="en-US"/>
              <a:t> Physical barrier is the environmental and natural condition that act as a barrier in communication in sending message from sender to receiver. Any environment or interior  design problems, technological problems and noise are the parts of physical barriers.</a:t>
            </a:r>
          </a:p>
          <a:p>
            <a:pPr marL="0" indent="0">
              <a:buNone/>
            </a:pPr>
            <a:endParaRPr lang="en-US"/>
          </a:p>
          <a:p>
            <a:r>
              <a:rPr lang="en-US" b="1"/>
              <a:t>Major physical barriers are</a:t>
            </a:r>
            <a:r>
              <a:rPr lang="en-US"/>
              <a:t>: </a:t>
            </a:r>
          </a:p>
          <a:p>
            <a:r>
              <a:rPr lang="en-US"/>
              <a:t>1. Time</a:t>
            </a:r>
          </a:p>
          <a:p>
            <a:r>
              <a:rPr lang="en-US"/>
              <a:t>2. Space </a:t>
            </a:r>
          </a:p>
          <a:p>
            <a:r>
              <a:rPr lang="en-US"/>
              <a:t>3. Noise </a:t>
            </a:r>
          </a:p>
          <a:p>
            <a:r>
              <a:rPr lang="en-US"/>
              <a:t>4. Place</a:t>
            </a:r>
          </a:p>
        </p:txBody>
      </p:sp>
    </p:spTree>
    <p:extLst>
      <p:ext uri="{BB962C8B-B14F-4D97-AF65-F5344CB8AC3E}">
        <p14:creationId xmlns:p14="http://schemas.microsoft.com/office/powerpoint/2010/main" xmlns="" val="21025417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8F857E-9AE2-4A9D-8741-7C8BF97C9B18}"/>
              </a:ext>
            </a:extLst>
          </p:cNvPr>
          <p:cNvSpPr>
            <a:spLocks noGrp="1"/>
          </p:cNvSpPr>
          <p:nvPr>
            <p:ph type="title"/>
          </p:nvPr>
        </p:nvSpPr>
        <p:spPr>
          <a:xfrm>
            <a:off x="265813" y="365126"/>
            <a:ext cx="11087987" cy="644968"/>
          </a:xfrm>
        </p:spPr>
        <p:txBody>
          <a:bodyPr>
            <a:normAutofit fontScale="90000"/>
          </a:bodyPr>
          <a:lstStyle/>
          <a:p>
            <a:r>
              <a:rPr lang="en-US" b="1"/>
              <a:t>Time </a:t>
            </a:r>
          </a:p>
        </p:txBody>
      </p:sp>
      <p:sp>
        <p:nvSpPr>
          <p:cNvPr id="3" name="Content Placeholder 2">
            <a:extLst>
              <a:ext uri="{FF2B5EF4-FFF2-40B4-BE49-F238E27FC236}">
                <a16:creationId xmlns:a16="http://schemas.microsoft.com/office/drawing/2014/main" xmlns="" id="{A2B8A7FF-F647-44F0-95D1-EDAADA0BD3D0}"/>
              </a:ext>
            </a:extLst>
          </p:cNvPr>
          <p:cNvSpPr>
            <a:spLocks noGrp="1"/>
          </p:cNvSpPr>
          <p:nvPr>
            <p:ph sz="quarter" idx="1"/>
          </p:nvPr>
        </p:nvSpPr>
        <p:spPr>
          <a:xfrm>
            <a:off x="265813" y="1190847"/>
            <a:ext cx="11780875" cy="5518298"/>
          </a:xfrm>
        </p:spPr>
        <p:txBody>
          <a:bodyPr vert="horz" lIns="91440" tIns="45720" rIns="91440" bIns="45720" rtlCol="0" anchor="t">
            <a:normAutofit/>
          </a:bodyPr>
          <a:lstStyle/>
          <a:p>
            <a:r>
              <a:rPr lang="en-US"/>
              <a:t>If a message is not sent in appropriate time, the message will not have the effect that it should have, as the intention will not be met. This causes barrier in communication. </a:t>
            </a:r>
          </a:p>
          <a:p>
            <a:r>
              <a:rPr lang="en-US"/>
              <a:t>So, the time of the message should be accurate.</a:t>
            </a:r>
            <a:endParaRPr lang="en-US">
              <a:cs typeface="Calibri"/>
            </a:endParaRPr>
          </a:p>
          <a:p>
            <a:r>
              <a:rPr lang="en-US" b="1"/>
              <a:t>Example</a:t>
            </a:r>
            <a:r>
              <a:rPr lang="en-US"/>
              <a:t>:</a:t>
            </a:r>
            <a:endParaRPr lang="en-US">
              <a:cs typeface="Calibri"/>
            </a:endParaRPr>
          </a:p>
          <a:p>
            <a:r>
              <a:rPr lang="en-US"/>
              <a:t> The person from Asia will not be able to Skype a person in U.S. if the time zone difference is wrong and the second person is sleeping.</a:t>
            </a:r>
            <a:endParaRPr lang="en-US">
              <a:cs typeface="Calibri"/>
            </a:endParaRPr>
          </a:p>
          <a:p>
            <a:endParaRPr lang="en-US"/>
          </a:p>
          <a:p>
            <a:pPr marL="0" indent="0" algn="ctr">
              <a:buNone/>
            </a:pPr>
            <a:r>
              <a:rPr lang="en-US"/>
              <a:t> </a:t>
            </a:r>
            <a:r>
              <a:rPr lang="en-US" sz="3600" i="1" u="sng"/>
              <a:t>Share any example of time as a barrier from your own experience?</a:t>
            </a:r>
            <a:endParaRPr lang="en-US" sz="3600" i="1" u="sng">
              <a:cs typeface="Calibri"/>
            </a:endParaRPr>
          </a:p>
          <a:p>
            <a:endParaRPr lang="en-US"/>
          </a:p>
        </p:txBody>
      </p:sp>
    </p:spTree>
    <p:extLst>
      <p:ext uri="{BB962C8B-B14F-4D97-AF65-F5344CB8AC3E}">
        <p14:creationId xmlns:p14="http://schemas.microsoft.com/office/powerpoint/2010/main" xmlns="" val="29359552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7091BC5-FE18-44FF-A5CD-FDC6398B5112}"/>
              </a:ext>
            </a:extLst>
          </p:cNvPr>
          <p:cNvSpPr>
            <a:spLocks noGrp="1"/>
          </p:cNvSpPr>
          <p:nvPr>
            <p:ph type="title"/>
          </p:nvPr>
        </p:nvSpPr>
        <p:spPr>
          <a:xfrm>
            <a:off x="191387" y="365129"/>
            <a:ext cx="11663916" cy="666233"/>
          </a:xfrm>
        </p:spPr>
        <p:txBody>
          <a:bodyPr>
            <a:normAutofit fontScale="90000"/>
          </a:bodyPr>
          <a:lstStyle/>
          <a:p>
            <a:r>
              <a:rPr lang="en-US" b="1"/>
              <a:t>Distance:</a:t>
            </a:r>
          </a:p>
        </p:txBody>
      </p:sp>
      <p:sp>
        <p:nvSpPr>
          <p:cNvPr id="3" name="Content Placeholder 2">
            <a:extLst>
              <a:ext uri="{FF2B5EF4-FFF2-40B4-BE49-F238E27FC236}">
                <a16:creationId xmlns:a16="http://schemas.microsoft.com/office/drawing/2014/main" xmlns="" id="{3C26F8F4-0130-40CF-A251-DAC0B255D09D}"/>
              </a:ext>
            </a:extLst>
          </p:cNvPr>
          <p:cNvSpPr>
            <a:spLocks noGrp="1"/>
          </p:cNvSpPr>
          <p:nvPr>
            <p:ph sz="quarter" idx="1"/>
          </p:nvPr>
        </p:nvSpPr>
        <p:spPr>
          <a:xfrm>
            <a:off x="191387" y="1127051"/>
            <a:ext cx="11844671" cy="5582094"/>
          </a:xfrm>
        </p:spPr>
        <p:txBody>
          <a:bodyPr>
            <a:normAutofit/>
          </a:bodyPr>
          <a:lstStyle/>
          <a:p>
            <a:r>
              <a:rPr lang="en-US"/>
              <a:t>Improper physical distance between sender and receiver can cause a difficulty in the process of communication.</a:t>
            </a:r>
          </a:p>
          <a:p>
            <a:endParaRPr lang="en-US"/>
          </a:p>
          <a:p>
            <a:r>
              <a:rPr lang="en-US" b="1"/>
              <a:t>For Example: </a:t>
            </a:r>
            <a:r>
              <a:rPr lang="en-US"/>
              <a:t>A speaker communicating to a larger audience from a distant position can cause hurdles in development of their communication.</a:t>
            </a:r>
          </a:p>
          <a:p>
            <a:endParaRPr lang="en-US"/>
          </a:p>
          <a:p>
            <a:r>
              <a:rPr lang="en-US"/>
              <a:t>A teacher provided with a narrow space in the classroom can cause problem for him/her to communicate effectively with the students.</a:t>
            </a:r>
          </a:p>
          <a:p>
            <a:endParaRPr lang="en-US"/>
          </a:p>
          <a:p>
            <a:r>
              <a:rPr lang="en-US"/>
              <a:t>In Asian context, lesser distance between two unknown people of opposite gender might change the meaning of the message and can create confusion.</a:t>
            </a:r>
          </a:p>
        </p:txBody>
      </p:sp>
    </p:spTree>
    <p:extLst>
      <p:ext uri="{BB962C8B-B14F-4D97-AF65-F5344CB8AC3E}">
        <p14:creationId xmlns:p14="http://schemas.microsoft.com/office/powerpoint/2010/main" xmlns="" val="108660117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A5724E-47CB-45E9-B805-912166DF7F7C}"/>
              </a:ext>
            </a:extLst>
          </p:cNvPr>
          <p:cNvSpPr>
            <a:spLocks noGrp="1"/>
          </p:cNvSpPr>
          <p:nvPr>
            <p:ph type="title"/>
          </p:nvPr>
        </p:nvSpPr>
        <p:spPr>
          <a:xfrm>
            <a:off x="329611" y="365129"/>
            <a:ext cx="11024191" cy="623703"/>
          </a:xfrm>
        </p:spPr>
        <p:txBody>
          <a:bodyPr>
            <a:normAutofit fontScale="90000"/>
          </a:bodyPr>
          <a:lstStyle/>
          <a:p>
            <a:r>
              <a:rPr lang="en-US" b="1"/>
              <a:t>Noise</a:t>
            </a:r>
            <a:r>
              <a:rPr lang="en-US"/>
              <a:t>:</a:t>
            </a:r>
          </a:p>
        </p:txBody>
      </p:sp>
      <p:sp>
        <p:nvSpPr>
          <p:cNvPr id="3" name="Content Placeholder 2">
            <a:extLst>
              <a:ext uri="{FF2B5EF4-FFF2-40B4-BE49-F238E27FC236}">
                <a16:creationId xmlns:a16="http://schemas.microsoft.com/office/drawing/2014/main" xmlns="" id="{1334910B-66FB-45FA-8C4A-A09D9BCAF9D2}"/>
              </a:ext>
            </a:extLst>
          </p:cNvPr>
          <p:cNvSpPr>
            <a:spLocks noGrp="1"/>
          </p:cNvSpPr>
          <p:nvPr>
            <p:ph sz="quarter" idx="1"/>
          </p:nvPr>
        </p:nvSpPr>
        <p:spPr>
          <a:xfrm>
            <a:off x="223285" y="1169583"/>
            <a:ext cx="11802139" cy="5571461"/>
          </a:xfrm>
        </p:spPr>
        <p:txBody>
          <a:bodyPr>
            <a:normAutofit/>
          </a:bodyPr>
          <a:lstStyle/>
          <a:p>
            <a:r>
              <a:rPr lang="en-US"/>
              <a:t>Noise is one of the major barriers to communication.</a:t>
            </a:r>
          </a:p>
          <a:p>
            <a:r>
              <a:rPr lang="en-US"/>
              <a:t> For example, the noise of the traffic around any academic institute  obstructs the smooth flow of information between the teacher and the students.</a:t>
            </a:r>
          </a:p>
          <a:p>
            <a:r>
              <a:rPr lang="en-US" b="1"/>
              <a:t>1. Physical noise (outside disturbance)</a:t>
            </a:r>
          </a:p>
          <a:p>
            <a:r>
              <a:rPr lang="en-US" b="1"/>
              <a:t>2. Psychological noise (inattentiveness</a:t>
            </a:r>
            <a:r>
              <a:rPr lang="en-US"/>
              <a:t>) Psychological noise occurs when the receiver of the message is thinking of something and not concentrating on the message itself.</a:t>
            </a:r>
          </a:p>
          <a:p>
            <a:r>
              <a:rPr lang="en-US"/>
              <a:t>3</a:t>
            </a:r>
            <a:r>
              <a:rPr lang="en-US" b="1"/>
              <a:t>. Written noise (bad handwriting/typing): </a:t>
            </a:r>
            <a:r>
              <a:rPr lang="en-US"/>
              <a:t>A written text is illegible to read and hence comprehend.</a:t>
            </a:r>
          </a:p>
          <a:p>
            <a:r>
              <a:rPr lang="en-US" b="1"/>
              <a:t>4.  Visual noise (late arrival of employees/ students):  </a:t>
            </a:r>
            <a:r>
              <a:rPr lang="en-US"/>
              <a:t>When an employee or a student does violates the rules and creates disturbance.</a:t>
            </a:r>
          </a:p>
        </p:txBody>
      </p:sp>
    </p:spTree>
    <p:extLst>
      <p:ext uri="{BB962C8B-B14F-4D97-AF65-F5344CB8AC3E}">
        <p14:creationId xmlns:p14="http://schemas.microsoft.com/office/powerpoint/2010/main" xmlns="" val="7763102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FCA838-2CC9-49EC-A755-811E78F08176}"/>
              </a:ext>
            </a:extLst>
          </p:cNvPr>
          <p:cNvSpPr>
            <a:spLocks noGrp="1"/>
          </p:cNvSpPr>
          <p:nvPr>
            <p:ph type="title"/>
          </p:nvPr>
        </p:nvSpPr>
        <p:spPr>
          <a:xfrm>
            <a:off x="202020" y="365126"/>
            <a:ext cx="11151781" cy="570540"/>
          </a:xfrm>
        </p:spPr>
        <p:txBody>
          <a:bodyPr>
            <a:normAutofit fontScale="90000"/>
          </a:bodyPr>
          <a:lstStyle/>
          <a:p>
            <a:r>
              <a:rPr lang="en-US" b="1"/>
              <a:t>Place (Structure)</a:t>
            </a:r>
          </a:p>
        </p:txBody>
      </p:sp>
      <p:sp>
        <p:nvSpPr>
          <p:cNvPr id="3" name="Content Placeholder 2">
            <a:extLst>
              <a:ext uri="{FF2B5EF4-FFF2-40B4-BE49-F238E27FC236}">
                <a16:creationId xmlns:a16="http://schemas.microsoft.com/office/drawing/2014/main" xmlns="" id="{1A61E467-8183-43B7-98CD-504588ECEF28}"/>
              </a:ext>
            </a:extLst>
          </p:cNvPr>
          <p:cNvSpPr>
            <a:spLocks noGrp="1"/>
          </p:cNvSpPr>
          <p:nvPr>
            <p:ph sz="quarter" idx="1"/>
          </p:nvPr>
        </p:nvSpPr>
        <p:spPr>
          <a:xfrm>
            <a:off x="202022" y="1084522"/>
            <a:ext cx="11727711" cy="5656520"/>
          </a:xfrm>
        </p:spPr>
        <p:txBody>
          <a:bodyPr vert="horz" lIns="91440" tIns="45720" rIns="91440" bIns="45720" rtlCol="0" anchor="t">
            <a:normAutofit/>
          </a:bodyPr>
          <a:lstStyle/>
          <a:p>
            <a:r>
              <a:rPr lang="en-US"/>
              <a:t>Large working areas (Unsuitable Size)</a:t>
            </a:r>
          </a:p>
          <a:p>
            <a:r>
              <a:rPr lang="en-US"/>
              <a:t> Closed office doors</a:t>
            </a:r>
            <a:endParaRPr lang="en-US">
              <a:cs typeface="Calibri"/>
            </a:endParaRPr>
          </a:p>
          <a:p>
            <a:r>
              <a:rPr lang="en-US"/>
              <a:t>Separate areas for people of </a:t>
            </a:r>
            <a:r>
              <a:rPr lang="en-US" b="1"/>
              <a:t>different status</a:t>
            </a:r>
            <a:endParaRPr lang="en-US" b="1">
              <a:cs typeface="Calibri"/>
            </a:endParaRPr>
          </a:p>
          <a:p>
            <a:r>
              <a:rPr lang="en-US"/>
              <a:t>Unsuitable furniture</a:t>
            </a:r>
            <a:endParaRPr lang="en-US">
              <a:cs typeface="Calibri"/>
            </a:endParaRPr>
          </a:p>
          <a:p>
            <a:r>
              <a:rPr lang="en-US"/>
              <a:t>Unsuitable temperature</a:t>
            </a:r>
            <a:endParaRPr lang="en-US">
              <a:cs typeface="Calibri"/>
            </a:endParaRPr>
          </a:p>
          <a:p>
            <a:r>
              <a:rPr lang="en-US"/>
              <a:t>Inadequate lightning</a:t>
            </a:r>
            <a:endParaRPr lang="en-US">
              <a:cs typeface="Calibri"/>
            </a:endParaRPr>
          </a:p>
          <a:p>
            <a:pPr marL="0" indent="0">
              <a:buNone/>
            </a:pPr>
            <a:endParaRPr lang="en-US"/>
          </a:p>
          <a:p>
            <a:pPr marL="0" indent="0">
              <a:buNone/>
            </a:pPr>
            <a:r>
              <a:rPr lang="en-US"/>
              <a:t>The above mentioned structure at any official place forbids team members or individuals from effective interaction with each other.</a:t>
            </a:r>
            <a:endParaRPr lang="en-US">
              <a:cs typeface="Calibri"/>
            </a:endParaRPr>
          </a:p>
        </p:txBody>
      </p:sp>
    </p:spTree>
    <p:extLst>
      <p:ext uri="{BB962C8B-B14F-4D97-AF65-F5344CB8AC3E}">
        <p14:creationId xmlns:p14="http://schemas.microsoft.com/office/powerpoint/2010/main" xmlns="" val="44348544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6F5926C-4DEB-40E3-B046-F7A63E192A1E}"/>
              </a:ext>
            </a:extLst>
          </p:cNvPr>
          <p:cNvSpPr>
            <a:spLocks noGrp="1"/>
          </p:cNvSpPr>
          <p:nvPr>
            <p:ph type="title"/>
          </p:nvPr>
        </p:nvSpPr>
        <p:spPr>
          <a:xfrm>
            <a:off x="233918" y="365129"/>
            <a:ext cx="11119884" cy="581173"/>
          </a:xfrm>
        </p:spPr>
        <p:txBody>
          <a:bodyPr>
            <a:normAutofit fontScale="90000"/>
          </a:bodyPr>
          <a:lstStyle/>
          <a:p>
            <a:r>
              <a:rPr lang="en-US" b="1"/>
              <a:t>Environment/Surroundings</a:t>
            </a:r>
          </a:p>
        </p:txBody>
      </p:sp>
      <p:sp>
        <p:nvSpPr>
          <p:cNvPr id="3" name="Content Placeholder 2">
            <a:extLst>
              <a:ext uri="{FF2B5EF4-FFF2-40B4-BE49-F238E27FC236}">
                <a16:creationId xmlns:a16="http://schemas.microsoft.com/office/drawing/2014/main" xmlns="" id="{D5A07AA7-C2DE-4A0D-A1BF-7D582200C817}"/>
              </a:ext>
            </a:extLst>
          </p:cNvPr>
          <p:cNvSpPr>
            <a:spLocks noGrp="1"/>
          </p:cNvSpPr>
          <p:nvPr>
            <p:ph sz="quarter" idx="1"/>
          </p:nvPr>
        </p:nvSpPr>
        <p:spPr>
          <a:xfrm>
            <a:off x="233917" y="1105788"/>
            <a:ext cx="11759611" cy="5592727"/>
          </a:xfrm>
        </p:spPr>
        <p:txBody>
          <a:bodyPr/>
          <a:lstStyle/>
          <a:p>
            <a:r>
              <a:rPr lang="en-US"/>
              <a:t>Adverse weather conditions affect not only the means of communication, but also have an impact on the sender and the receiver of the message.</a:t>
            </a:r>
          </a:p>
          <a:p>
            <a:r>
              <a:rPr lang="en-US" b="1"/>
              <a:t>For example</a:t>
            </a:r>
            <a:r>
              <a:rPr lang="en-US"/>
              <a:t>: When two people have to communicate with each other under extreme weather conditions, intended message may not be sent and thus received in an appropriate way. </a:t>
            </a:r>
          </a:p>
          <a:p>
            <a:endParaRPr lang="en-US"/>
          </a:p>
          <a:p>
            <a:r>
              <a:rPr lang="en-US" b="1"/>
              <a:t>Example</a:t>
            </a:r>
            <a:r>
              <a:rPr lang="en-US"/>
              <a:t>: Teaching language subjects in an extreme hot weather without availability of sufficient electricity arrangements may result in exhausting communication both by the teacher and students. </a:t>
            </a:r>
          </a:p>
          <a:p>
            <a:endParaRPr lang="en-US"/>
          </a:p>
        </p:txBody>
      </p:sp>
    </p:spTree>
    <p:extLst>
      <p:ext uri="{BB962C8B-B14F-4D97-AF65-F5344CB8AC3E}">
        <p14:creationId xmlns:p14="http://schemas.microsoft.com/office/powerpoint/2010/main" xmlns="" val="371400487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687988A-846F-4D39-99EC-1CE19C41AF6F}"/>
              </a:ext>
            </a:extLst>
          </p:cNvPr>
          <p:cNvSpPr>
            <a:spLocks noGrp="1"/>
          </p:cNvSpPr>
          <p:nvPr>
            <p:ph type="title"/>
          </p:nvPr>
        </p:nvSpPr>
        <p:spPr>
          <a:xfrm>
            <a:off x="457200" y="365129"/>
            <a:ext cx="10896600" cy="655601"/>
          </a:xfrm>
        </p:spPr>
        <p:txBody>
          <a:bodyPr>
            <a:normAutofit fontScale="90000"/>
          </a:bodyPr>
          <a:lstStyle/>
          <a:p>
            <a:r>
              <a:rPr lang="en-US" b="1"/>
              <a:t>Ways to overcome physical barriers:</a:t>
            </a:r>
          </a:p>
        </p:txBody>
      </p:sp>
      <p:sp>
        <p:nvSpPr>
          <p:cNvPr id="3" name="Content Placeholder 2">
            <a:extLst>
              <a:ext uri="{FF2B5EF4-FFF2-40B4-BE49-F238E27FC236}">
                <a16:creationId xmlns:a16="http://schemas.microsoft.com/office/drawing/2014/main" xmlns="" id="{35439BE0-2228-446E-88B7-E49BF3035E04}"/>
              </a:ext>
            </a:extLst>
          </p:cNvPr>
          <p:cNvSpPr>
            <a:spLocks noGrp="1"/>
          </p:cNvSpPr>
          <p:nvPr>
            <p:ph sz="quarter" idx="1"/>
          </p:nvPr>
        </p:nvSpPr>
        <p:spPr>
          <a:xfrm>
            <a:off x="361507" y="1307807"/>
            <a:ext cx="11685181" cy="5401339"/>
          </a:xfrm>
        </p:spPr>
        <p:txBody>
          <a:bodyPr>
            <a:normAutofit/>
          </a:bodyPr>
          <a:lstStyle/>
          <a:p>
            <a:r>
              <a:rPr lang="en-US"/>
              <a:t>To overcome physical barriers, here are some helpful hints:</a:t>
            </a:r>
          </a:p>
          <a:p>
            <a:pPr marL="0" indent="0">
              <a:buNone/>
            </a:pPr>
            <a:r>
              <a:rPr lang="en-US"/>
              <a:t>a. If you send a lot of email or digital messages, make sure you are very careful in your word choice.</a:t>
            </a:r>
          </a:p>
          <a:p>
            <a:pPr marL="0" indent="0">
              <a:buNone/>
            </a:pPr>
            <a:r>
              <a:rPr lang="en-US"/>
              <a:t>b. Choosing the correct words and stamping out ambiguity is the only step to making communication more effective.</a:t>
            </a:r>
          </a:p>
          <a:p>
            <a:pPr marL="0" indent="0">
              <a:buNone/>
            </a:pPr>
            <a:r>
              <a:rPr lang="en-US"/>
              <a:t>c. Select a mutual time which is feasible for both sender and receiver to avoid any miscommunication.</a:t>
            </a:r>
          </a:p>
          <a:p>
            <a:pPr marL="0" indent="0">
              <a:buNone/>
            </a:pPr>
            <a:r>
              <a:rPr lang="en-US"/>
              <a:t> Face-to-face communication is far superior for most people, especially once the connection has already been made.</a:t>
            </a:r>
          </a:p>
          <a:p>
            <a:endParaRPr lang="en-US"/>
          </a:p>
          <a:p>
            <a:endParaRPr lang="en-US"/>
          </a:p>
        </p:txBody>
      </p:sp>
    </p:spTree>
    <p:extLst>
      <p:ext uri="{BB962C8B-B14F-4D97-AF65-F5344CB8AC3E}">
        <p14:creationId xmlns:p14="http://schemas.microsoft.com/office/powerpoint/2010/main" xmlns="" val="401035438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5D5383-F79F-48F6-8C2E-39D22940A00D}"/>
              </a:ext>
            </a:extLst>
          </p:cNvPr>
          <p:cNvSpPr>
            <a:spLocks noGrp="1"/>
          </p:cNvSpPr>
          <p:nvPr>
            <p:ph type="title"/>
          </p:nvPr>
        </p:nvSpPr>
        <p:spPr>
          <a:xfrm>
            <a:off x="265813" y="365126"/>
            <a:ext cx="11087987" cy="602438"/>
          </a:xfrm>
        </p:spPr>
        <p:txBody>
          <a:bodyPr>
            <a:normAutofit fontScale="90000"/>
          </a:bodyPr>
          <a:lstStyle/>
          <a:p>
            <a:r>
              <a:rPr lang="en-US" b="1"/>
              <a:t/>
            </a:r>
            <a:br>
              <a:rPr lang="en-US" b="1"/>
            </a:br>
            <a:r>
              <a:rPr lang="en-US" b="1"/>
              <a:t>2. Physiological or Biological Barriers</a:t>
            </a:r>
            <a:br>
              <a:rPr lang="en-US" b="1"/>
            </a:br>
            <a:endParaRPr lang="en-US" b="1"/>
          </a:p>
        </p:txBody>
      </p:sp>
      <p:sp>
        <p:nvSpPr>
          <p:cNvPr id="3" name="Content Placeholder 2">
            <a:extLst>
              <a:ext uri="{FF2B5EF4-FFF2-40B4-BE49-F238E27FC236}">
                <a16:creationId xmlns:a16="http://schemas.microsoft.com/office/drawing/2014/main" xmlns="" id="{6EBA9739-7F02-46A7-8E5E-3736794583AA}"/>
              </a:ext>
            </a:extLst>
          </p:cNvPr>
          <p:cNvSpPr>
            <a:spLocks noGrp="1"/>
          </p:cNvSpPr>
          <p:nvPr>
            <p:ph sz="quarter" idx="1"/>
          </p:nvPr>
        </p:nvSpPr>
        <p:spPr>
          <a:xfrm>
            <a:off x="170121" y="1105790"/>
            <a:ext cx="11802139" cy="5613991"/>
          </a:xfrm>
        </p:spPr>
        <p:txBody>
          <a:bodyPr/>
          <a:lstStyle/>
          <a:p>
            <a:r>
              <a:rPr lang="en-US"/>
              <a:t>Physiological barriers are related to a person’s health and fitness. This may arise due to disabilities of the sender or the receiver.</a:t>
            </a:r>
          </a:p>
          <a:p>
            <a:pPr marL="0" indent="0">
              <a:buNone/>
            </a:pPr>
            <a:endParaRPr lang="en-US"/>
          </a:p>
          <a:p>
            <a:r>
              <a:rPr lang="en-US" b="1"/>
              <a:t>For example: </a:t>
            </a:r>
            <a:r>
              <a:rPr lang="en-US"/>
              <a:t>Poor eyesight, deafness and uncontrolled body movement, aphasia or speech disabilities. </a:t>
            </a:r>
          </a:p>
          <a:p>
            <a:endParaRPr lang="en-US"/>
          </a:p>
          <a:p>
            <a:pPr marL="0" indent="0">
              <a:buNone/>
            </a:pPr>
            <a:endParaRPr lang="en-US"/>
          </a:p>
          <a:p>
            <a:r>
              <a:rPr lang="en-US"/>
              <a:t> Physical defects in one’s body may also disrupt communication.</a:t>
            </a:r>
          </a:p>
        </p:txBody>
      </p:sp>
    </p:spTree>
    <p:extLst>
      <p:ext uri="{BB962C8B-B14F-4D97-AF65-F5344CB8AC3E}">
        <p14:creationId xmlns:p14="http://schemas.microsoft.com/office/powerpoint/2010/main" xmlns="" val="13861077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BADAB01-FEA6-4498-9C67-80E7835EB3A1}"/>
              </a:ext>
            </a:extLst>
          </p:cNvPr>
          <p:cNvSpPr>
            <a:spLocks noGrp="1"/>
          </p:cNvSpPr>
          <p:nvPr>
            <p:ph type="title"/>
          </p:nvPr>
        </p:nvSpPr>
        <p:spPr>
          <a:xfrm>
            <a:off x="381000" y="311966"/>
            <a:ext cx="11293549" cy="719395"/>
          </a:xfrm>
        </p:spPr>
        <p:txBody>
          <a:bodyPr>
            <a:normAutofit fontScale="90000"/>
          </a:bodyPr>
          <a:lstStyle/>
          <a:p>
            <a:r>
              <a:rPr lang="en-US" b="1"/>
              <a:t>Solutions:</a:t>
            </a:r>
          </a:p>
        </p:txBody>
      </p:sp>
      <p:sp>
        <p:nvSpPr>
          <p:cNvPr id="3" name="Content Placeholder 2">
            <a:extLst>
              <a:ext uri="{FF2B5EF4-FFF2-40B4-BE49-F238E27FC236}">
                <a16:creationId xmlns:a16="http://schemas.microsoft.com/office/drawing/2014/main" xmlns="" id="{A678837E-6B45-4A37-8E27-6B617EC5AC08}"/>
              </a:ext>
            </a:extLst>
          </p:cNvPr>
          <p:cNvSpPr>
            <a:spLocks noGrp="1"/>
          </p:cNvSpPr>
          <p:nvPr>
            <p:ph sz="quarter" idx="1"/>
          </p:nvPr>
        </p:nvSpPr>
        <p:spPr>
          <a:xfrm>
            <a:off x="276449" y="1137685"/>
            <a:ext cx="11706447" cy="5560828"/>
          </a:xfrm>
        </p:spPr>
        <p:txBody>
          <a:bodyPr/>
          <a:lstStyle/>
          <a:p>
            <a:r>
              <a:rPr lang="en-US" b="1"/>
              <a:t>To improve communication with the hearing impaired:</a:t>
            </a:r>
          </a:p>
          <a:p>
            <a:r>
              <a:rPr lang="en-US"/>
              <a:t>Use body language such as gestures and signs.</a:t>
            </a:r>
          </a:p>
          <a:p>
            <a:pPr marL="0" indent="0">
              <a:buNone/>
            </a:pPr>
            <a:endParaRPr lang="en-US"/>
          </a:p>
          <a:p>
            <a:r>
              <a:rPr lang="en-US"/>
              <a:t>Speak clearly in short sentences.</a:t>
            </a:r>
          </a:p>
          <a:p>
            <a:pPr marL="0" indent="0">
              <a:buNone/>
            </a:pPr>
            <a:endParaRPr lang="en-US"/>
          </a:p>
          <a:p>
            <a:r>
              <a:rPr lang="en-US"/>
              <a:t>Face the individual to facilitate lip reading.</a:t>
            </a:r>
          </a:p>
          <a:p>
            <a:pPr marL="0" indent="0">
              <a:buNone/>
            </a:pPr>
            <a:endParaRPr lang="en-US"/>
          </a:p>
          <a:p>
            <a:r>
              <a:rPr lang="en-US"/>
              <a:t>Write messages if necessary.</a:t>
            </a:r>
          </a:p>
          <a:p>
            <a:pPr marL="0" indent="0">
              <a:buNone/>
            </a:pPr>
            <a:endParaRPr lang="en-US"/>
          </a:p>
          <a:p>
            <a:r>
              <a:rPr lang="en-US"/>
              <a:t>Make sure hearing aids are working properly.</a:t>
            </a:r>
          </a:p>
          <a:p>
            <a:endParaRPr lang="en-US"/>
          </a:p>
        </p:txBody>
      </p:sp>
    </p:spTree>
    <p:extLst>
      <p:ext uri="{BB962C8B-B14F-4D97-AF65-F5344CB8AC3E}">
        <p14:creationId xmlns:p14="http://schemas.microsoft.com/office/powerpoint/2010/main" xmlns="" val="205258173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86C353-A493-4D20-9310-AD0ACFA5AE4B}"/>
              </a:ext>
            </a:extLst>
          </p:cNvPr>
          <p:cNvSpPr>
            <a:spLocks noGrp="1"/>
          </p:cNvSpPr>
          <p:nvPr>
            <p:ph type="title"/>
          </p:nvPr>
        </p:nvSpPr>
        <p:spPr>
          <a:xfrm>
            <a:off x="223284" y="301334"/>
            <a:ext cx="11525693" cy="772559"/>
          </a:xfrm>
        </p:spPr>
        <p:txBody>
          <a:bodyPr/>
          <a:lstStyle/>
          <a:p>
            <a:r>
              <a:rPr lang="en-US" b="1"/>
              <a:t>Solutions(Continued):</a:t>
            </a:r>
          </a:p>
        </p:txBody>
      </p:sp>
      <p:sp>
        <p:nvSpPr>
          <p:cNvPr id="3" name="Content Placeholder 2">
            <a:extLst>
              <a:ext uri="{FF2B5EF4-FFF2-40B4-BE49-F238E27FC236}">
                <a16:creationId xmlns:a16="http://schemas.microsoft.com/office/drawing/2014/main" xmlns="" id="{FD3247D0-4D87-4B5C-9C93-9ABD7EA459E8}"/>
              </a:ext>
            </a:extLst>
          </p:cNvPr>
          <p:cNvSpPr>
            <a:spLocks noGrp="1"/>
          </p:cNvSpPr>
          <p:nvPr>
            <p:ph sz="quarter" idx="1"/>
          </p:nvPr>
        </p:nvSpPr>
        <p:spPr>
          <a:xfrm>
            <a:off x="223285" y="1169581"/>
            <a:ext cx="11780875" cy="5560828"/>
          </a:xfrm>
        </p:spPr>
        <p:txBody>
          <a:bodyPr/>
          <a:lstStyle/>
          <a:p>
            <a:r>
              <a:rPr lang="en-US" b="1"/>
              <a:t>To improve communication with the visually impaired:</a:t>
            </a:r>
          </a:p>
          <a:p>
            <a:r>
              <a:rPr lang="en-US"/>
              <a:t>Use a soft tone of voice.</a:t>
            </a:r>
          </a:p>
          <a:p>
            <a:pPr marL="0" indent="0">
              <a:buNone/>
            </a:pPr>
            <a:endParaRPr lang="en-US"/>
          </a:p>
          <a:p>
            <a:r>
              <a:rPr lang="en-US"/>
              <a:t>Describe events that are occurring.</a:t>
            </a:r>
          </a:p>
          <a:p>
            <a:pPr marL="0" indent="0">
              <a:buNone/>
            </a:pPr>
            <a:endParaRPr lang="en-US"/>
          </a:p>
          <a:p>
            <a:r>
              <a:rPr lang="en-US"/>
              <a:t>Announce your presence as you enter a room.</a:t>
            </a:r>
          </a:p>
          <a:p>
            <a:pPr marL="0" indent="0">
              <a:buNone/>
            </a:pPr>
            <a:endParaRPr lang="en-US"/>
          </a:p>
          <a:p>
            <a:r>
              <a:rPr lang="en-US"/>
              <a:t>Explain sounds or noises.</a:t>
            </a:r>
          </a:p>
          <a:p>
            <a:pPr marL="0" indent="0">
              <a:buNone/>
            </a:pPr>
            <a:endParaRPr lang="en-US"/>
          </a:p>
          <a:p>
            <a:r>
              <a:rPr lang="en-US"/>
              <a:t>Use touch when appropriate</a:t>
            </a:r>
          </a:p>
        </p:txBody>
      </p:sp>
    </p:spTree>
    <p:extLst>
      <p:ext uri="{BB962C8B-B14F-4D97-AF65-F5344CB8AC3E}">
        <p14:creationId xmlns:p14="http://schemas.microsoft.com/office/powerpoint/2010/main" xmlns="" val="10264064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9ACABE-B1FC-49F3-9297-6EF9F0A22B4C}"/>
              </a:ext>
            </a:extLst>
          </p:cNvPr>
          <p:cNvSpPr>
            <a:spLocks noGrp="1"/>
          </p:cNvSpPr>
          <p:nvPr>
            <p:ph type="title"/>
          </p:nvPr>
        </p:nvSpPr>
        <p:spPr>
          <a:xfrm>
            <a:off x="255183" y="244553"/>
            <a:ext cx="11557591" cy="776177"/>
          </a:xfrm>
        </p:spPr>
        <p:txBody>
          <a:bodyPr>
            <a:normAutofit/>
          </a:bodyPr>
          <a:lstStyle/>
          <a:p>
            <a:r>
              <a:rPr lang="en-US" b="1"/>
              <a:t>Solutions(Continued):</a:t>
            </a:r>
          </a:p>
        </p:txBody>
      </p:sp>
      <p:sp>
        <p:nvSpPr>
          <p:cNvPr id="3" name="Content Placeholder 2">
            <a:extLst>
              <a:ext uri="{FF2B5EF4-FFF2-40B4-BE49-F238E27FC236}">
                <a16:creationId xmlns:a16="http://schemas.microsoft.com/office/drawing/2014/main" xmlns="" id="{B4BA66D8-83AD-4334-98D8-AFFC0B065799}"/>
              </a:ext>
            </a:extLst>
          </p:cNvPr>
          <p:cNvSpPr>
            <a:spLocks noGrp="1"/>
          </p:cNvSpPr>
          <p:nvPr>
            <p:ph sz="quarter" idx="1"/>
          </p:nvPr>
        </p:nvSpPr>
        <p:spPr>
          <a:xfrm>
            <a:off x="255181" y="1190847"/>
            <a:ext cx="11770243" cy="5539562"/>
          </a:xfrm>
        </p:spPr>
        <p:txBody>
          <a:bodyPr/>
          <a:lstStyle/>
          <a:p>
            <a:r>
              <a:rPr lang="en-US" b="1"/>
              <a:t>What about someone with aphasia or speech impairments?</a:t>
            </a:r>
          </a:p>
          <a:p>
            <a:r>
              <a:rPr lang="en-US"/>
              <a:t>They have difficulty remembering the correct words, may not be able to pronounce certain words, and may have unclear speech.</a:t>
            </a:r>
          </a:p>
          <a:p>
            <a:r>
              <a:rPr lang="en-US"/>
              <a:t>The health care worker must be patient.</a:t>
            </a:r>
          </a:p>
          <a:p>
            <a:r>
              <a:rPr lang="en-US"/>
              <a:t>Allow them to try and speak.</a:t>
            </a:r>
          </a:p>
          <a:p>
            <a:r>
              <a:rPr lang="en-US"/>
              <a:t>Encourage them to take their time.</a:t>
            </a:r>
          </a:p>
          <a:p>
            <a:r>
              <a:rPr lang="en-US"/>
              <a:t>Repeat message to assure accuracy.</a:t>
            </a:r>
          </a:p>
          <a:p>
            <a:r>
              <a:rPr lang="en-US"/>
              <a:t>Encourage them to use gestures or point to objects.</a:t>
            </a:r>
          </a:p>
          <a:p>
            <a:r>
              <a:rPr lang="en-US"/>
              <a:t>Provide pen and paper if they can write.</a:t>
            </a:r>
          </a:p>
          <a:p>
            <a:r>
              <a:rPr lang="en-US"/>
              <a:t>Use pictures with key messages to communicate</a:t>
            </a:r>
          </a:p>
        </p:txBody>
      </p:sp>
    </p:spTree>
    <p:extLst>
      <p:ext uri="{BB962C8B-B14F-4D97-AF65-F5344CB8AC3E}">
        <p14:creationId xmlns:p14="http://schemas.microsoft.com/office/powerpoint/2010/main" xmlns="" val="11119957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39AA23-929B-4161-9D3D-25DFF3A84E07}"/>
              </a:ext>
            </a:extLst>
          </p:cNvPr>
          <p:cNvSpPr>
            <a:spLocks noGrp="1"/>
          </p:cNvSpPr>
          <p:nvPr>
            <p:ph type="title"/>
          </p:nvPr>
        </p:nvSpPr>
        <p:spPr>
          <a:xfrm>
            <a:off x="308346" y="226906"/>
            <a:ext cx="11603665" cy="963945"/>
          </a:xfrm>
        </p:spPr>
        <p:txBody>
          <a:bodyPr>
            <a:normAutofit fontScale="90000"/>
          </a:bodyPr>
          <a:lstStyle/>
          <a:p>
            <a:r>
              <a:rPr lang="en-US" b="1"/>
              <a:t>Can different perceptions of people affect Communication? Share your thoughts.</a:t>
            </a:r>
          </a:p>
        </p:txBody>
      </p:sp>
      <p:pic>
        <p:nvPicPr>
          <p:cNvPr id="5" name="Content Placeholder 4" descr="A close up of a logo&#10;&#10;Description automatically generated">
            <a:extLst>
              <a:ext uri="{FF2B5EF4-FFF2-40B4-BE49-F238E27FC236}">
                <a16:creationId xmlns:a16="http://schemas.microsoft.com/office/drawing/2014/main" xmlns="" id="{F563A536-9780-4B93-B9E5-7709A73F589C}"/>
              </a:ext>
            </a:extLst>
          </p:cNvPr>
          <p:cNvPicPr>
            <a:picLocks noGrp="1" noChangeAspect="1"/>
          </p:cNvPicPr>
          <p:nvPr>
            <p:ph sz="quarter" idx="1"/>
          </p:nvPr>
        </p:nvPicPr>
        <p:blipFill>
          <a:blip r:embed="rId2">
            <a:extLst>
              <a:ext uri="{28A0092B-C50C-407E-A947-70E740481C1C}">
                <a14:useLocalDpi xmlns:a14="http://schemas.microsoft.com/office/drawing/2010/main" xmlns="" val="0"/>
              </a:ext>
            </a:extLst>
          </a:blip>
          <a:stretch>
            <a:fillRect/>
          </a:stretch>
        </p:blipFill>
        <p:spPr>
          <a:xfrm>
            <a:off x="3962400" y="2362200"/>
            <a:ext cx="4876800" cy="2743200"/>
          </a:xfrm>
        </p:spPr>
      </p:pic>
    </p:spTree>
    <p:extLst>
      <p:ext uri="{BB962C8B-B14F-4D97-AF65-F5344CB8AC3E}">
        <p14:creationId xmlns:p14="http://schemas.microsoft.com/office/powerpoint/2010/main" xmlns="" val="234406967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876F605-5900-4DAC-99B8-6363E307F90C}"/>
              </a:ext>
            </a:extLst>
          </p:cNvPr>
          <p:cNvSpPr>
            <a:spLocks noGrp="1"/>
          </p:cNvSpPr>
          <p:nvPr>
            <p:ph type="title"/>
          </p:nvPr>
        </p:nvSpPr>
        <p:spPr>
          <a:xfrm>
            <a:off x="223284" y="365126"/>
            <a:ext cx="11130517" cy="602438"/>
          </a:xfrm>
        </p:spPr>
        <p:txBody>
          <a:bodyPr>
            <a:normAutofit fontScale="90000"/>
          </a:bodyPr>
          <a:lstStyle/>
          <a:p>
            <a:r>
              <a:rPr lang="en-US" b="1"/>
              <a:t>3. Perceptual Barriers/Psychological Barriers</a:t>
            </a:r>
          </a:p>
        </p:txBody>
      </p:sp>
      <p:sp>
        <p:nvSpPr>
          <p:cNvPr id="3" name="Content Placeholder 2">
            <a:extLst>
              <a:ext uri="{FF2B5EF4-FFF2-40B4-BE49-F238E27FC236}">
                <a16:creationId xmlns:a16="http://schemas.microsoft.com/office/drawing/2014/main" xmlns="" id="{69605825-A368-4F13-A92F-6A1B90F9ED24}"/>
              </a:ext>
            </a:extLst>
          </p:cNvPr>
          <p:cNvSpPr>
            <a:spLocks noGrp="1"/>
          </p:cNvSpPr>
          <p:nvPr>
            <p:ph sz="quarter" idx="1"/>
          </p:nvPr>
        </p:nvSpPr>
        <p:spPr>
          <a:xfrm>
            <a:off x="223284" y="1084522"/>
            <a:ext cx="11759611" cy="5592726"/>
          </a:xfrm>
        </p:spPr>
        <p:txBody>
          <a:bodyPr>
            <a:normAutofit/>
          </a:bodyPr>
          <a:lstStyle/>
          <a:p>
            <a:r>
              <a:rPr lang="en-US"/>
              <a:t>We all see the world differently, we all have different perceptions, own preferences values, attitudes, origins, different life experiences. </a:t>
            </a:r>
          </a:p>
          <a:p>
            <a:endParaRPr lang="en-US"/>
          </a:p>
          <a:p>
            <a:r>
              <a:rPr lang="en-US"/>
              <a:t>Perception is generally how each individual interprets the world around him. All generally want to receive messages which are significant to them. But any message which is against their values is not accepted. A same event may be taken differently by different individuals.</a:t>
            </a:r>
          </a:p>
          <a:p>
            <a:pPr marL="0" indent="0">
              <a:buNone/>
            </a:pPr>
            <a:r>
              <a:rPr lang="en-US"/>
              <a:t>  </a:t>
            </a:r>
          </a:p>
          <a:p>
            <a:r>
              <a:rPr lang="en-US"/>
              <a:t> However, different perceptions and difference in understanding of certain concepts   might make communication problem hindered if the different opinions are not put forward effectively</a:t>
            </a:r>
          </a:p>
          <a:p>
            <a:endParaRPr lang="en-US"/>
          </a:p>
          <a:p>
            <a:endParaRPr lang="en-US"/>
          </a:p>
          <a:p>
            <a:endParaRPr lang="en-US"/>
          </a:p>
          <a:p>
            <a:pPr marL="0" indent="0">
              <a:buNone/>
            </a:pPr>
            <a:endParaRPr lang="en-US"/>
          </a:p>
          <a:p>
            <a:endParaRPr lang="en-US"/>
          </a:p>
          <a:p>
            <a:endParaRPr lang="en-US"/>
          </a:p>
          <a:p>
            <a:endParaRPr lang="en-US"/>
          </a:p>
        </p:txBody>
      </p:sp>
    </p:spTree>
    <p:extLst>
      <p:ext uri="{BB962C8B-B14F-4D97-AF65-F5344CB8AC3E}">
        <p14:creationId xmlns:p14="http://schemas.microsoft.com/office/powerpoint/2010/main" xmlns="" val="123459653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C5EA39-CFDA-4C64-8563-C5081DAE9FF4}"/>
              </a:ext>
            </a:extLst>
          </p:cNvPr>
          <p:cNvSpPr>
            <a:spLocks noGrp="1"/>
          </p:cNvSpPr>
          <p:nvPr>
            <p:ph type="title"/>
          </p:nvPr>
        </p:nvSpPr>
        <p:spPr>
          <a:xfrm>
            <a:off x="573272" y="191388"/>
            <a:ext cx="10515600" cy="808072"/>
          </a:xfrm>
        </p:spPr>
        <p:txBody>
          <a:bodyPr>
            <a:normAutofit/>
          </a:bodyPr>
          <a:lstStyle/>
          <a:p>
            <a:r>
              <a:rPr lang="en-US" b="1"/>
              <a:t>3. Perceptual Barriers/Psychological Barriers</a:t>
            </a:r>
          </a:p>
        </p:txBody>
      </p:sp>
      <p:sp>
        <p:nvSpPr>
          <p:cNvPr id="3" name="Content Placeholder 2">
            <a:extLst>
              <a:ext uri="{FF2B5EF4-FFF2-40B4-BE49-F238E27FC236}">
                <a16:creationId xmlns:a16="http://schemas.microsoft.com/office/drawing/2014/main" xmlns="" id="{3D68DB0C-52D6-4F30-AD43-9BB76981716F}"/>
              </a:ext>
            </a:extLst>
          </p:cNvPr>
          <p:cNvSpPr>
            <a:spLocks noGrp="1"/>
          </p:cNvSpPr>
          <p:nvPr>
            <p:ph sz="quarter" idx="1"/>
          </p:nvPr>
        </p:nvSpPr>
        <p:spPr>
          <a:xfrm>
            <a:off x="308344" y="1116420"/>
            <a:ext cx="11045456" cy="5550194"/>
          </a:xfrm>
        </p:spPr>
        <p:txBody>
          <a:bodyPr/>
          <a:lstStyle/>
          <a:p>
            <a:r>
              <a:rPr lang="en-US"/>
              <a:t>Perceptual barriers are often the hardest to detect; they reflect how and what a person perceives internally about what is going on externally. They affect how we communicate with others and how we receive messages communicated by others. </a:t>
            </a:r>
          </a:p>
          <a:p>
            <a:endParaRPr lang="en-US"/>
          </a:p>
          <a:p>
            <a:r>
              <a:rPr lang="en-US"/>
              <a:t>Like most other barriers to communication, perceptual barriers act like filters to how we interpret messages we receive and what messages we send to others.</a:t>
            </a:r>
          </a:p>
          <a:p>
            <a:endParaRPr lang="en-US"/>
          </a:p>
          <a:p>
            <a:r>
              <a:rPr lang="en-US" b="1"/>
              <a:t>Reason of perceptual Barriers</a:t>
            </a:r>
            <a:r>
              <a:rPr lang="en-US"/>
              <a:t>: Prejudice, Attitudes, Personality</a:t>
            </a:r>
          </a:p>
          <a:p>
            <a:endParaRPr lang="en-US"/>
          </a:p>
          <a:p>
            <a:endParaRPr lang="en-US"/>
          </a:p>
          <a:p>
            <a:endParaRPr lang="en-US"/>
          </a:p>
        </p:txBody>
      </p:sp>
    </p:spTree>
    <p:extLst>
      <p:ext uri="{BB962C8B-B14F-4D97-AF65-F5344CB8AC3E}">
        <p14:creationId xmlns:p14="http://schemas.microsoft.com/office/powerpoint/2010/main" xmlns="" val="300352854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F24055-EC9B-41C4-9BF3-07C937F8B135}"/>
              </a:ext>
            </a:extLst>
          </p:cNvPr>
          <p:cNvSpPr>
            <a:spLocks noGrp="1"/>
          </p:cNvSpPr>
          <p:nvPr>
            <p:ph type="title"/>
          </p:nvPr>
        </p:nvSpPr>
        <p:spPr>
          <a:xfrm>
            <a:off x="329608" y="365129"/>
            <a:ext cx="11525693" cy="666233"/>
          </a:xfrm>
        </p:spPr>
        <p:txBody>
          <a:bodyPr>
            <a:normAutofit fontScale="90000"/>
          </a:bodyPr>
          <a:lstStyle/>
          <a:p>
            <a:r>
              <a:rPr lang="en-US" b="1"/>
              <a:t>3. Perceptual Barriers/Psychological Barriers(Continued)</a:t>
            </a:r>
          </a:p>
        </p:txBody>
      </p:sp>
      <p:sp>
        <p:nvSpPr>
          <p:cNvPr id="3" name="Content Placeholder 2">
            <a:extLst>
              <a:ext uri="{FF2B5EF4-FFF2-40B4-BE49-F238E27FC236}">
                <a16:creationId xmlns:a16="http://schemas.microsoft.com/office/drawing/2014/main" xmlns="" id="{B89AF4B7-CF01-4338-A040-5158965CD578}"/>
              </a:ext>
            </a:extLst>
          </p:cNvPr>
          <p:cNvSpPr>
            <a:spLocks noGrp="1"/>
          </p:cNvSpPr>
          <p:nvPr>
            <p:ph sz="quarter" idx="1"/>
          </p:nvPr>
        </p:nvSpPr>
        <p:spPr>
          <a:xfrm>
            <a:off x="244549" y="1169582"/>
            <a:ext cx="11770243" cy="5550196"/>
          </a:xfrm>
        </p:spPr>
        <p:txBody>
          <a:bodyPr>
            <a:normAutofit/>
          </a:bodyPr>
          <a:lstStyle/>
          <a:p>
            <a:r>
              <a:rPr lang="en-US"/>
              <a:t>Seeing things through the lens of our own unique life experiences or "conditioning" may lead to assumptions, stereotyping and misunderstandings of others whose experiences differ from our own.</a:t>
            </a:r>
          </a:p>
          <a:p>
            <a:pPr marL="0" indent="0">
              <a:buNone/>
            </a:pPr>
            <a:endParaRPr lang="en-US" b="1"/>
          </a:p>
          <a:p>
            <a:r>
              <a:rPr lang="en-US" b="1"/>
              <a:t>For example </a:t>
            </a:r>
            <a:r>
              <a:rPr lang="en-US"/>
              <a:t>: A person is on leave for a month due to personal reasons (family member being critical). </a:t>
            </a:r>
          </a:p>
          <a:p>
            <a:r>
              <a:rPr lang="en-US"/>
              <a:t>The HR Manager might be in confusion whether to retain that employee or not, the immediate manager might think of replacement because his teams productivity is being hampered, the family members might take him as an emotional support.</a:t>
            </a:r>
          </a:p>
          <a:p>
            <a:endParaRPr lang="en-US"/>
          </a:p>
          <a:p>
            <a:endParaRPr lang="en-US"/>
          </a:p>
          <a:p>
            <a:endParaRPr lang="en-US"/>
          </a:p>
          <a:p>
            <a:endParaRPr lang="en-US"/>
          </a:p>
          <a:p>
            <a:endParaRPr lang="en-US"/>
          </a:p>
          <a:p>
            <a:endParaRPr lang="en-US"/>
          </a:p>
          <a:p>
            <a:pPr marL="0" indent="0">
              <a:buNone/>
            </a:pPr>
            <a:endParaRPr lang="en-US"/>
          </a:p>
          <a:p>
            <a:pPr marL="0" indent="0">
              <a:buNone/>
            </a:pPr>
            <a:endParaRPr lang="en-US"/>
          </a:p>
          <a:p>
            <a:endParaRPr lang="en-US"/>
          </a:p>
        </p:txBody>
      </p:sp>
    </p:spTree>
    <p:extLst>
      <p:ext uri="{BB962C8B-B14F-4D97-AF65-F5344CB8AC3E}">
        <p14:creationId xmlns:p14="http://schemas.microsoft.com/office/powerpoint/2010/main" xmlns="" val="37385028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FF86B6C-A8D3-4DF2-95FF-3DA0196FF4A0}"/>
              </a:ext>
            </a:extLst>
          </p:cNvPr>
          <p:cNvSpPr>
            <a:spLocks noGrp="1"/>
          </p:cNvSpPr>
          <p:nvPr>
            <p:ph type="title"/>
          </p:nvPr>
        </p:nvSpPr>
        <p:spPr>
          <a:xfrm>
            <a:off x="276450" y="191391"/>
            <a:ext cx="11077353" cy="839971"/>
          </a:xfrm>
        </p:spPr>
        <p:txBody>
          <a:bodyPr>
            <a:normAutofit/>
          </a:bodyPr>
          <a:lstStyle/>
          <a:p>
            <a:r>
              <a:rPr lang="en-US" b="1"/>
              <a:t>Common Types of Perceptual Barriers:</a:t>
            </a:r>
          </a:p>
        </p:txBody>
      </p:sp>
      <p:sp>
        <p:nvSpPr>
          <p:cNvPr id="3" name="Content Placeholder 2">
            <a:extLst>
              <a:ext uri="{FF2B5EF4-FFF2-40B4-BE49-F238E27FC236}">
                <a16:creationId xmlns:a16="http://schemas.microsoft.com/office/drawing/2014/main" xmlns="" id="{48A45BAA-5234-4A0D-9200-7F59320B6D21}"/>
              </a:ext>
            </a:extLst>
          </p:cNvPr>
          <p:cNvSpPr>
            <a:spLocks noGrp="1"/>
          </p:cNvSpPr>
          <p:nvPr>
            <p:ph sz="quarter" idx="1"/>
          </p:nvPr>
        </p:nvSpPr>
        <p:spPr>
          <a:xfrm>
            <a:off x="276448" y="1148316"/>
            <a:ext cx="11695813" cy="5518297"/>
          </a:xfrm>
        </p:spPr>
        <p:txBody>
          <a:bodyPr>
            <a:normAutofit/>
          </a:bodyPr>
          <a:lstStyle/>
          <a:p>
            <a:pPr marL="0" indent="0">
              <a:buNone/>
            </a:pPr>
            <a:r>
              <a:rPr lang="en-US" b="1"/>
              <a:t>1. Selective Perception:</a:t>
            </a:r>
          </a:p>
          <a:p>
            <a:r>
              <a:rPr lang="en-US"/>
              <a:t>In any context, selective perception means paying attention to information that supports your ideas and ignoring the rest. For instance, if you dislike any person, you would tend to focus on their negative personality characteristics and ignore any positive qualities that would be inconsistent with your opinion of them. </a:t>
            </a:r>
          </a:p>
          <a:p>
            <a:endParaRPr lang="en-US"/>
          </a:p>
          <a:p>
            <a:r>
              <a:rPr lang="en-US"/>
              <a:t>Another type of selective perception is </a:t>
            </a:r>
            <a:r>
              <a:rPr lang="en-US" b="1"/>
              <a:t>perceptual defense</a:t>
            </a:r>
            <a:r>
              <a:rPr lang="en-US"/>
              <a:t>. This is the tendency for people to protect themselves from ideas, objects, or situations that are threatening. </a:t>
            </a:r>
            <a:r>
              <a:rPr lang="en-US" b="1"/>
              <a:t>For instance</a:t>
            </a:r>
            <a:r>
              <a:rPr lang="en-US"/>
              <a:t>, you may ignore a person who has ideas that threaten your deeply held convictions.</a:t>
            </a:r>
          </a:p>
          <a:p>
            <a:endParaRPr lang="en-US"/>
          </a:p>
          <a:p>
            <a:endParaRPr lang="en-US"/>
          </a:p>
        </p:txBody>
      </p:sp>
    </p:spTree>
    <p:extLst>
      <p:ext uri="{BB962C8B-B14F-4D97-AF65-F5344CB8AC3E}">
        <p14:creationId xmlns:p14="http://schemas.microsoft.com/office/powerpoint/2010/main" xmlns="" val="37486849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0AE487-2104-46BD-B5A3-3063862187DD}"/>
              </a:ext>
            </a:extLst>
          </p:cNvPr>
          <p:cNvSpPr>
            <a:spLocks noGrp="1"/>
          </p:cNvSpPr>
          <p:nvPr>
            <p:ph type="title"/>
          </p:nvPr>
        </p:nvSpPr>
        <p:spPr>
          <a:xfrm>
            <a:off x="329611" y="365126"/>
            <a:ext cx="11024191" cy="698130"/>
          </a:xfrm>
        </p:spPr>
        <p:txBody>
          <a:bodyPr>
            <a:normAutofit fontScale="90000"/>
          </a:bodyPr>
          <a:lstStyle/>
          <a:p>
            <a:r>
              <a:rPr lang="en-US" b="1"/>
              <a:t>Common Types of Perceptual Barriers(Continued):</a:t>
            </a:r>
          </a:p>
        </p:txBody>
      </p:sp>
      <p:sp>
        <p:nvSpPr>
          <p:cNvPr id="3" name="Content Placeholder 2">
            <a:extLst>
              <a:ext uri="{FF2B5EF4-FFF2-40B4-BE49-F238E27FC236}">
                <a16:creationId xmlns:a16="http://schemas.microsoft.com/office/drawing/2014/main" xmlns="" id="{D6534BC3-CD85-46F3-83C8-E668B5C0CEAD}"/>
              </a:ext>
            </a:extLst>
          </p:cNvPr>
          <p:cNvSpPr>
            <a:spLocks noGrp="1"/>
          </p:cNvSpPr>
          <p:nvPr>
            <p:ph sz="quarter" idx="1"/>
          </p:nvPr>
        </p:nvSpPr>
        <p:spPr>
          <a:xfrm>
            <a:off x="148859" y="1158949"/>
            <a:ext cx="11865935" cy="5560828"/>
          </a:xfrm>
        </p:spPr>
        <p:txBody>
          <a:bodyPr>
            <a:normAutofit/>
          </a:bodyPr>
          <a:lstStyle/>
          <a:p>
            <a:pPr marL="0" indent="0">
              <a:buNone/>
            </a:pPr>
            <a:r>
              <a:rPr lang="en-US" b="1"/>
              <a:t>2. Expectations</a:t>
            </a:r>
          </a:p>
          <a:p>
            <a:r>
              <a:rPr lang="en-US"/>
              <a:t>An expectation is the tendency to find in a situation or a person what one expects to find. </a:t>
            </a:r>
          </a:p>
          <a:p>
            <a:r>
              <a:rPr lang="en-US"/>
              <a:t>Our expectations have a big impact on how we perceive the world around us. </a:t>
            </a:r>
            <a:r>
              <a:rPr lang="en-US" b="1"/>
              <a:t>For instance</a:t>
            </a:r>
            <a:r>
              <a:rPr lang="en-US"/>
              <a:t>, when we ask people how they are doing, we expect them to answer, "Fine, thank you." If their response is accompanied by negative body language, we may choose to ignore the nonverbal information because it is not consistent with our expectations.</a:t>
            </a:r>
          </a:p>
          <a:p>
            <a:endParaRPr lang="en-US"/>
          </a:p>
          <a:p>
            <a:pPr algn="ctr"/>
            <a:r>
              <a:rPr lang="en-US" sz="3600"/>
              <a:t>Share how “Expectations” has proved to be a big roadblock in your communication with others </a:t>
            </a:r>
          </a:p>
          <a:p>
            <a:endParaRPr lang="en-US"/>
          </a:p>
          <a:p>
            <a:endParaRPr lang="en-US"/>
          </a:p>
        </p:txBody>
      </p:sp>
    </p:spTree>
    <p:extLst>
      <p:ext uri="{BB962C8B-B14F-4D97-AF65-F5344CB8AC3E}">
        <p14:creationId xmlns:p14="http://schemas.microsoft.com/office/powerpoint/2010/main" xmlns="" val="42544624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ACDAF04-6E26-4ECE-9FCD-C11EA9462628}"/>
              </a:ext>
            </a:extLst>
          </p:cNvPr>
          <p:cNvSpPr>
            <a:spLocks noGrp="1"/>
          </p:cNvSpPr>
          <p:nvPr>
            <p:ph type="title"/>
          </p:nvPr>
        </p:nvSpPr>
        <p:spPr>
          <a:xfrm>
            <a:off x="308344" y="159493"/>
            <a:ext cx="11045456" cy="797441"/>
          </a:xfrm>
        </p:spPr>
        <p:txBody>
          <a:bodyPr>
            <a:normAutofit/>
          </a:bodyPr>
          <a:lstStyle/>
          <a:p>
            <a:r>
              <a:rPr lang="en-US" b="1"/>
              <a:t>Common Types of Perceptual Barriers(Continued):</a:t>
            </a:r>
          </a:p>
        </p:txBody>
      </p:sp>
      <p:sp>
        <p:nvSpPr>
          <p:cNvPr id="3" name="Content Placeholder 2">
            <a:extLst>
              <a:ext uri="{FF2B5EF4-FFF2-40B4-BE49-F238E27FC236}">
                <a16:creationId xmlns:a16="http://schemas.microsoft.com/office/drawing/2014/main" xmlns="" id="{202EA082-2DC5-400E-9AAD-682A8BFD077D}"/>
              </a:ext>
            </a:extLst>
          </p:cNvPr>
          <p:cNvSpPr>
            <a:spLocks noGrp="1"/>
          </p:cNvSpPr>
          <p:nvPr>
            <p:ph sz="quarter" idx="1"/>
          </p:nvPr>
        </p:nvSpPr>
        <p:spPr>
          <a:xfrm>
            <a:off x="233916" y="1073890"/>
            <a:ext cx="11738344" cy="5624623"/>
          </a:xfrm>
        </p:spPr>
        <p:txBody>
          <a:bodyPr>
            <a:normAutofit/>
          </a:bodyPr>
          <a:lstStyle/>
          <a:p>
            <a:pPr marL="0" indent="0">
              <a:buNone/>
            </a:pPr>
            <a:r>
              <a:rPr lang="en-US" b="1"/>
              <a:t>3. Personal Experiences</a:t>
            </a:r>
            <a:r>
              <a:rPr lang="en-US"/>
              <a:t>: Our experience around things like money, relationships and so on can sour or sweeten our perceptions toward them and anything related to them. </a:t>
            </a:r>
          </a:p>
          <a:p>
            <a:r>
              <a:rPr lang="en-US"/>
              <a:t>If we are in debt, for instance, we may look at a business loan proposal with more apprehension than someone who is asset-neutral or solvent.</a:t>
            </a:r>
          </a:p>
          <a:p>
            <a:endParaRPr lang="en-US"/>
          </a:p>
          <a:p>
            <a:pPr marL="0" indent="0">
              <a:buNone/>
            </a:pPr>
            <a:r>
              <a:rPr lang="en-US" b="1"/>
              <a:t>4. Beliefs: </a:t>
            </a:r>
            <a:r>
              <a:rPr lang="en-US"/>
              <a:t>the ways we look at the world and often think can color how we tend to perceive things. If someone usually thinks or believe that meetings are unproductive, they may perceive any request to join a meeting to be at the least unimportant, bothersome or even threatening at the worst.</a:t>
            </a:r>
          </a:p>
        </p:txBody>
      </p:sp>
    </p:spTree>
    <p:extLst>
      <p:ext uri="{BB962C8B-B14F-4D97-AF65-F5344CB8AC3E}">
        <p14:creationId xmlns:p14="http://schemas.microsoft.com/office/powerpoint/2010/main" xmlns="" val="15982459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C2C7B0-3B4B-4041-8146-2F91567FCD62}"/>
              </a:ext>
            </a:extLst>
          </p:cNvPr>
          <p:cNvSpPr>
            <a:spLocks noGrp="1"/>
          </p:cNvSpPr>
          <p:nvPr>
            <p:ph type="title"/>
          </p:nvPr>
        </p:nvSpPr>
        <p:spPr>
          <a:xfrm>
            <a:off x="233918" y="244553"/>
            <a:ext cx="11119884" cy="797443"/>
          </a:xfrm>
        </p:spPr>
        <p:txBody>
          <a:bodyPr>
            <a:normAutofit/>
          </a:bodyPr>
          <a:lstStyle/>
          <a:p>
            <a:r>
              <a:rPr lang="en-US" b="1"/>
              <a:t>Common Types of Perceptual Barriers(Continued):</a:t>
            </a:r>
          </a:p>
        </p:txBody>
      </p:sp>
      <p:sp>
        <p:nvSpPr>
          <p:cNvPr id="3" name="Content Placeholder 2">
            <a:extLst>
              <a:ext uri="{FF2B5EF4-FFF2-40B4-BE49-F238E27FC236}">
                <a16:creationId xmlns:a16="http://schemas.microsoft.com/office/drawing/2014/main" xmlns="" id="{6750EAE0-0A84-4EEA-9658-86948B695D5F}"/>
              </a:ext>
            </a:extLst>
          </p:cNvPr>
          <p:cNvSpPr>
            <a:spLocks noGrp="1"/>
          </p:cNvSpPr>
          <p:nvPr>
            <p:ph sz="quarter" idx="1"/>
          </p:nvPr>
        </p:nvSpPr>
        <p:spPr>
          <a:xfrm>
            <a:off x="148858" y="1190848"/>
            <a:ext cx="11919097" cy="5539562"/>
          </a:xfrm>
        </p:spPr>
        <p:txBody>
          <a:bodyPr>
            <a:normAutofit/>
          </a:bodyPr>
          <a:lstStyle/>
          <a:p>
            <a:pPr marL="0" indent="0">
              <a:buNone/>
            </a:pPr>
            <a:r>
              <a:rPr lang="en-US" b="1"/>
              <a:t>5.Preferences</a:t>
            </a:r>
            <a:r>
              <a:rPr lang="en-US"/>
              <a:t>: People may communicate, knowingly or unknowingly, according to what they prefer. In some cases, we may communicate with our preferences in mind, expecting one thing, but not communicating clearly enough, assuming the other person may know what we prefer or expect. In this case, in not seeing how our perception influences our lack of communication, we can create a confusing situation.</a:t>
            </a:r>
          </a:p>
          <a:p>
            <a:endParaRPr lang="en-US"/>
          </a:p>
          <a:p>
            <a:pPr marL="0" indent="0">
              <a:buNone/>
            </a:pPr>
            <a:r>
              <a:rPr lang="en-US" b="1"/>
              <a:t>6. Triggers and cues</a:t>
            </a:r>
            <a:r>
              <a:rPr lang="en-US"/>
              <a:t>: Nonverbal cues such as body language and tone of voice affect how messages are perceived. For instance, crossing one’s arms may signal to a potential client a lack of confidence in the salesman’s pitch and may thereby produce no sale.</a:t>
            </a:r>
          </a:p>
        </p:txBody>
      </p:sp>
    </p:spTree>
    <p:extLst>
      <p:ext uri="{BB962C8B-B14F-4D97-AF65-F5344CB8AC3E}">
        <p14:creationId xmlns:p14="http://schemas.microsoft.com/office/powerpoint/2010/main" xmlns="" val="21048809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18544408-8F35-4F97-9BDB-2FEE05A8CFFE}"/>
              </a:ext>
            </a:extLst>
          </p:cNvPr>
          <p:cNvSpPr>
            <a:spLocks noGrp="1"/>
          </p:cNvSpPr>
          <p:nvPr>
            <p:ph type="title"/>
          </p:nvPr>
        </p:nvSpPr>
        <p:spPr>
          <a:xfrm>
            <a:off x="838200" y="1823535"/>
            <a:ext cx="10515600" cy="2389650"/>
          </a:xfrm>
        </p:spPr>
        <p:txBody>
          <a:bodyPr>
            <a:normAutofit/>
          </a:bodyPr>
          <a:lstStyle/>
          <a:p>
            <a:pPr algn="ctr"/>
            <a:r>
              <a:rPr lang="en-US" dirty="0"/>
              <a:t>Share your </a:t>
            </a:r>
            <a:r>
              <a:rPr lang="en-US"/>
              <a:t>real-life</a:t>
            </a:r>
            <a:r>
              <a:rPr lang="en-US" dirty="0"/>
              <a:t> example where you had a different perception that led into a distorted communication process?</a:t>
            </a:r>
          </a:p>
        </p:txBody>
      </p:sp>
    </p:spTree>
    <p:extLst>
      <p:ext uri="{BB962C8B-B14F-4D97-AF65-F5344CB8AC3E}">
        <p14:creationId xmlns:p14="http://schemas.microsoft.com/office/powerpoint/2010/main" xmlns="" val="42753457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310DA4-9A5C-42BC-97E8-1F172995726B}"/>
              </a:ext>
            </a:extLst>
          </p:cNvPr>
          <p:cNvSpPr>
            <a:spLocks noGrp="1"/>
          </p:cNvSpPr>
          <p:nvPr>
            <p:ph type="title"/>
          </p:nvPr>
        </p:nvSpPr>
        <p:spPr>
          <a:xfrm>
            <a:off x="933893" y="1534710"/>
            <a:ext cx="10515600" cy="3590187"/>
          </a:xfrm>
        </p:spPr>
        <p:txBody>
          <a:bodyPr/>
          <a:lstStyle/>
          <a:p>
            <a:pPr algn="ctr"/>
            <a:r>
              <a:rPr lang="en-US"/>
              <a:t/>
            </a:r>
            <a:br>
              <a:rPr lang="en-US"/>
            </a:br>
            <a:r>
              <a:rPr lang="en-US"/>
              <a:t>Share your ideas to minimize such perceptual barriers during Communication</a:t>
            </a:r>
          </a:p>
        </p:txBody>
      </p:sp>
    </p:spTree>
    <p:extLst>
      <p:ext uri="{BB962C8B-B14F-4D97-AF65-F5344CB8AC3E}">
        <p14:creationId xmlns:p14="http://schemas.microsoft.com/office/powerpoint/2010/main" xmlns="" val="22192030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18A35C-7967-47D4-AAD9-89B7E0012827}"/>
              </a:ext>
            </a:extLst>
          </p:cNvPr>
          <p:cNvSpPr>
            <a:spLocks noGrp="1"/>
          </p:cNvSpPr>
          <p:nvPr>
            <p:ph type="title"/>
          </p:nvPr>
        </p:nvSpPr>
        <p:spPr>
          <a:xfrm>
            <a:off x="202020" y="365129"/>
            <a:ext cx="11151781" cy="708763"/>
          </a:xfrm>
        </p:spPr>
        <p:txBody>
          <a:bodyPr>
            <a:normAutofit fontScale="90000"/>
          </a:bodyPr>
          <a:lstStyle/>
          <a:p>
            <a:r>
              <a:rPr lang="en-US" b="1"/>
              <a:t/>
            </a:r>
            <a:br>
              <a:rPr lang="en-US" b="1"/>
            </a:br>
            <a:r>
              <a:rPr lang="en-US" b="1"/>
              <a:t>Overcoming Perceptual Barriers</a:t>
            </a:r>
            <a:br>
              <a:rPr lang="en-US" b="1"/>
            </a:br>
            <a:endParaRPr lang="en-US" b="1"/>
          </a:p>
        </p:txBody>
      </p:sp>
      <p:sp>
        <p:nvSpPr>
          <p:cNvPr id="3" name="Content Placeholder 2">
            <a:extLst>
              <a:ext uri="{FF2B5EF4-FFF2-40B4-BE49-F238E27FC236}">
                <a16:creationId xmlns:a16="http://schemas.microsoft.com/office/drawing/2014/main" xmlns="" id="{F352E9D9-C68C-43A9-B03D-E68751824F45}"/>
              </a:ext>
            </a:extLst>
          </p:cNvPr>
          <p:cNvSpPr>
            <a:spLocks noGrp="1"/>
          </p:cNvSpPr>
          <p:nvPr>
            <p:ph sz="quarter" idx="1"/>
          </p:nvPr>
        </p:nvSpPr>
        <p:spPr>
          <a:xfrm>
            <a:off x="202020" y="1222744"/>
            <a:ext cx="11844669" cy="5507665"/>
          </a:xfrm>
        </p:spPr>
        <p:txBody>
          <a:bodyPr/>
          <a:lstStyle/>
          <a:p>
            <a:r>
              <a:rPr lang="en-US">
                <a:solidFill>
                  <a:srgbClr val="333333"/>
                </a:solidFill>
                <a:latin typeface="Open Sans"/>
              </a:rPr>
              <a:t>To overcome perceptual barriers within the workplace, there are a few things you can do:</a:t>
            </a:r>
          </a:p>
          <a:p>
            <a:endParaRPr lang="en-US">
              <a:solidFill>
                <a:srgbClr val="333333"/>
              </a:solidFill>
              <a:latin typeface="Open Sans"/>
            </a:endParaRPr>
          </a:p>
          <a:p>
            <a:pPr marL="0" indent="0">
              <a:buNone/>
            </a:pPr>
            <a:endParaRPr lang="en-US">
              <a:solidFill>
                <a:srgbClr val="333333"/>
              </a:solidFill>
              <a:latin typeface="Open Sans"/>
            </a:endParaRPr>
          </a:p>
          <a:p>
            <a:r>
              <a:rPr lang="en-US">
                <a:solidFill>
                  <a:srgbClr val="333333"/>
                </a:solidFill>
                <a:latin typeface="Open Sans"/>
              </a:rPr>
              <a:t>The audience may make assumptions about you or the situation; perhaps you are new to the organization, or the situation is a challenging one. To get your message past these barriers, provide evidence to support your claims and enhance your credibility.</a:t>
            </a:r>
          </a:p>
          <a:p>
            <a:endParaRPr lang="en-US"/>
          </a:p>
        </p:txBody>
      </p:sp>
    </p:spTree>
    <p:extLst>
      <p:ext uri="{BB962C8B-B14F-4D97-AF65-F5344CB8AC3E}">
        <p14:creationId xmlns:p14="http://schemas.microsoft.com/office/powerpoint/2010/main" xmlns="" val="22864421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547AC2-0318-4C30-9453-231DC8E30032}"/>
              </a:ext>
            </a:extLst>
          </p:cNvPr>
          <p:cNvSpPr>
            <a:spLocks noGrp="1"/>
          </p:cNvSpPr>
          <p:nvPr>
            <p:ph type="title"/>
          </p:nvPr>
        </p:nvSpPr>
        <p:spPr>
          <a:xfrm>
            <a:off x="287080" y="237538"/>
            <a:ext cx="11461899" cy="857619"/>
          </a:xfrm>
        </p:spPr>
        <p:txBody>
          <a:bodyPr>
            <a:normAutofit fontScale="90000"/>
          </a:bodyPr>
          <a:lstStyle/>
          <a:p>
            <a:r>
              <a:rPr lang="en-US" b="1"/>
              <a:t/>
            </a:r>
            <a:br>
              <a:rPr lang="en-US" b="1"/>
            </a:br>
            <a:r>
              <a:rPr lang="en-US" b="1"/>
              <a:t>Overcoming Perceptual Barriers(Continued):</a:t>
            </a:r>
            <a:br>
              <a:rPr lang="en-US" b="1"/>
            </a:br>
            <a:endParaRPr lang="en-US" b="1"/>
          </a:p>
        </p:txBody>
      </p:sp>
      <p:sp>
        <p:nvSpPr>
          <p:cNvPr id="3" name="Content Placeholder 2">
            <a:extLst>
              <a:ext uri="{FF2B5EF4-FFF2-40B4-BE49-F238E27FC236}">
                <a16:creationId xmlns:a16="http://schemas.microsoft.com/office/drawing/2014/main" xmlns="" id="{173E3927-A11A-4B71-B0FF-6977E108B635}"/>
              </a:ext>
            </a:extLst>
          </p:cNvPr>
          <p:cNvSpPr>
            <a:spLocks noGrp="1"/>
          </p:cNvSpPr>
          <p:nvPr>
            <p:ph sz="quarter" idx="1"/>
          </p:nvPr>
        </p:nvSpPr>
        <p:spPr>
          <a:xfrm>
            <a:off x="287080" y="1297172"/>
            <a:ext cx="11823405" cy="5433237"/>
          </a:xfrm>
        </p:spPr>
        <p:txBody>
          <a:bodyPr/>
          <a:lstStyle/>
          <a:p>
            <a:r>
              <a:rPr lang="en-US"/>
              <a:t>Effective communication relies on being aware of nonverbal aspects of interactions with others.</a:t>
            </a:r>
          </a:p>
          <a:p>
            <a:r>
              <a:rPr lang="en-US"/>
              <a:t> It is equally important to be aware of one's own nonverbal behaviors and be sensitive to how they may be perceived.</a:t>
            </a:r>
          </a:p>
          <a:p>
            <a:endParaRPr lang="en-US"/>
          </a:p>
          <a:p>
            <a:r>
              <a:rPr lang="en-US"/>
              <a:t> For instance, maintaining eye contact when communicating indicates interest. Staring out the window or around the room is often perceived as boredom or disrespect.</a:t>
            </a:r>
          </a:p>
          <a:p>
            <a:endParaRPr lang="en-US"/>
          </a:p>
        </p:txBody>
      </p:sp>
    </p:spTree>
    <p:extLst>
      <p:ext uri="{BB962C8B-B14F-4D97-AF65-F5344CB8AC3E}">
        <p14:creationId xmlns:p14="http://schemas.microsoft.com/office/powerpoint/2010/main" xmlns="" val="26056087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365249-B4F0-4B83-88AC-D3E36D012D69}"/>
              </a:ext>
            </a:extLst>
          </p:cNvPr>
          <p:cNvSpPr>
            <a:spLocks noGrp="1"/>
          </p:cNvSpPr>
          <p:nvPr>
            <p:ph type="title"/>
          </p:nvPr>
        </p:nvSpPr>
        <p:spPr>
          <a:xfrm>
            <a:off x="212652" y="365126"/>
            <a:ext cx="11141149" cy="761926"/>
          </a:xfrm>
        </p:spPr>
        <p:txBody>
          <a:bodyPr>
            <a:normAutofit/>
          </a:bodyPr>
          <a:lstStyle/>
          <a:p>
            <a:r>
              <a:rPr lang="en-US" b="1"/>
              <a:t>Some more ways to overcome perception Barriers:</a:t>
            </a:r>
          </a:p>
        </p:txBody>
      </p:sp>
      <p:sp>
        <p:nvSpPr>
          <p:cNvPr id="3" name="Content Placeholder 2">
            <a:extLst>
              <a:ext uri="{FF2B5EF4-FFF2-40B4-BE49-F238E27FC236}">
                <a16:creationId xmlns:a16="http://schemas.microsoft.com/office/drawing/2014/main" xmlns="" id="{48E4FAE1-581B-4C98-A8A1-A70756E4E76C}"/>
              </a:ext>
            </a:extLst>
          </p:cNvPr>
          <p:cNvSpPr>
            <a:spLocks noGrp="1"/>
          </p:cNvSpPr>
          <p:nvPr>
            <p:ph sz="quarter" idx="1"/>
          </p:nvPr>
        </p:nvSpPr>
        <p:spPr>
          <a:xfrm>
            <a:off x="212654" y="1307805"/>
            <a:ext cx="11706447" cy="5380074"/>
          </a:xfrm>
        </p:spPr>
        <p:txBody>
          <a:bodyPr/>
          <a:lstStyle/>
          <a:p>
            <a:r>
              <a:rPr lang="en-US" b="1"/>
              <a:t>Examine and correct assumptions</a:t>
            </a:r>
            <a:r>
              <a:rPr lang="en-US"/>
              <a:t>: </a:t>
            </a:r>
          </a:p>
          <a:p>
            <a:pPr marL="0" indent="0">
              <a:buNone/>
            </a:pPr>
            <a:r>
              <a:rPr lang="en-US"/>
              <a:t>We must be willing to look at what we assume may happen, what we assume others expect in a situation, and/or what we may assume to be true in our communications at any place.</a:t>
            </a:r>
          </a:p>
          <a:p>
            <a:pPr marL="0" indent="0">
              <a:buNone/>
            </a:pPr>
            <a:r>
              <a:rPr lang="en-US"/>
              <a:t> </a:t>
            </a:r>
          </a:p>
          <a:p>
            <a:pPr marL="0" indent="0">
              <a:buNone/>
            </a:pPr>
            <a:r>
              <a:rPr lang="en-US"/>
              <a:t>In seeking to correct assumptions, we eliminate potential perceptual differences.</a:t>
            </a:r>
          </a:p>
          <a:p>
            <a:pPr marL="0" indent="0">
              <a:buNone/>
            </a:pPr>
            <a:endParaRPr lang="en-US"/>
          </a:p>
        </p:txBody>
      </p:sp>
    </p:spTree>
    <p:extLst>
      <p:ext uri="{BB962C8B-B14F-4D97-AF65-F5344CB8AC3E}">
        <p14:creationId xmlns:p14="http://schemas.microsoft.com/office/powerpoint/2010/main" xmlns="" val="15285643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0683359-E492-4ECB-B61D-FBCF8EFE6DC7}"/>
              </a:ext>
            </a:extLst>
          </p:cNvPr>
          <p:cNvSpPr>
            <a:spLocks noGrp="1"/>
          </p:cNvSpPr>
          <p:nvPr>
            <p:ph type="title"/>
          </p:nvPr>
        </p:nvSpPr>
        <p:spPr>
          <a:xfrm>
            <a:off x="255181" y="365129"/>
            <a:ext cx="11098619" cy="634335"/>
          </a:xfrm>
        </p:spPr>
        <p:txBody>
          <a:bodyPr>
            <a:normAutofit fontScale="90000"/>
          </a:bodyPr>
          <a:lstStyle/>
          <a:p>
            <a:r>
              <a:rPr lang="en-US" b="1"/>
              <a:t/>
            </a:r>
            <a:br>
              <a:rPr lang="en-US" b="1"/>
            </a:br>
            <a:r>
              <a:rPr lang="en-US" b="1"/>
              <a:t>Overcoming Perceptual Barriers(Continued):</a:t>
            </a:r>
            <a:br>
              <a:rPr lang="en-US" b="1"/>
            </a:br>
            <a:endParaRPr lang="en-US" b="1"/>
          </a:p>
        </p:txBody>
      </p:sp>
      <p:sp>
        <p:nvSpPr>
          <p:cNvPr id="3" name="Content Placeholder 2">
            <a:extLst>
              <a:ext uri="{FF2B5EF4-FFF2-40B4-BE49-F238E27FC236}">
                <a16:creationId xmlns:a16="http://schemas.microsoft.com/office/drawing/2014/main" xmlns="" id="{9795A8E8-96DD-400A-9340-941CADAB1B6D}"/>
              </a:ext>
            </a:extLst>
          </p:cNvPr>
          <p:cNvSpPr>
            <a:spLocks noGrp="1"/>
          </p:cNvSpPr>
          <p:nvPr>
            <p:ph sz="quarter" idx="1"/>
          </p:nvPr>
        </p:nvSpPr>
        <p:spPr>
          <a:xfrm>
            <a:off x="255181" y="1233378"/>
            <a:ext cx="11727712" cy="5486400"/>
          </a:xfrm>
        </p:spPr>
        <p:txBody>
          <a:bodyPr/>
          <a:lstStyle/>
          <a:p>
            <a:r>
              <a:rPr lang="en-US" b="1"/>
              <a:t>Seek clarity</a:t>
            </a:r>
            <a:r>
              <a:rPr lang="en-US"/>
              <a:t>: if we are unclear about expectations, assumptions, preferences or beliefs of another person in an interaction, confusion may arise.</a:t>
            </a:r>
          </a:p>
          <a:p>
            <a:pPr marL="0" indent="0">
              <a:buNone/>
            </a:pPr>
            <a:endParaRPr lang="en-US"/>
          </a:p>
          <a:p>
            <a:r>
              <a:rPr lang="en-US"/>
              <a:t> The key to overcoming perceptual barriers is </a:t>
            </a:r>
            <a:r>
              <a:rPr lang="en-US" i="1" u="sng"/>
              <a:t>asking questions </a:t>
            </a:r>
            <a:r>
              <a:rPr lang="en-US" b="1"/>
              <a:t>to gain a sense of clarity </a:t>
            </a:r>
            <a:r>
              <a:rPr lang="en-US"/>
              <a:t>and ensure that you and the other person are on the same page.</a:t>
            </a:r>
          </a:p>
          <a:p>
            <a:endParaRPr lang="en-US"/>
          </a:p>
          <a:p>
            <a:pPr marL="0" indent="0">
              <a:buNone/>
            </a:pPr>
            <a:endParaRPr lang="en-US"/>
          </a:p>
        </p:txBody>
      </p:sp>
    </p:spTree>
    <p:extLst>
      <p:ext uri="{BB962C8B-B14F-4D97-AF65-F5344CB8AC3E}">
        <p14:creationId xmlns:p14="http://schemas.microsoft.com/office/powerpoint/2010/main" xmlns="" val="15792868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FC99B97-73DC-4349-98FA-73A5E9B459BD}"/>
              </a:ext>
            </a:extLst>
          </p:cNvPr>
          <p:cNvSpPr>
            <a:spLocks noGrp="1"/>
          </p:cNvSpPr>
          <p:nvPr>
            <p:ph type="title"/>
          </p:nvPr>
        </p:nvSpPr>
        <p:spPr>
          <a:xfrm>
            <a:off x="276450" y="365126"/>
            <a:ext cx="11077353" cy="570540"/>
          </a:xfrm>
        </p:spPr>
        <p:txBody>
          <a:bodyPr>
            <a:normAutofit fontScale="90000"/>
          </a:bodyPr>
          <a:lstStyle/>
          <a:p>
            <a:r>
              <a:rPr lang="en-US" b="1"/>
              <a:t/>
            </a:r>
            <a:br>
              <a:rPr lang="en-US" b="1"/>
            </a:br>
            <a:r>
              <a:rPr lang="en-US" b="1"/>
              <a:t>Overcoming Perceptual Barriers(Continued):</a:t>
            </a:r>
            <a:br>
              <a:rPr lang="en-US" b="1"/>
            </a:br>
            <a:endParaRPr lang="en-US" b="1"/>
          </a:p>
        </p:txBody>
      </p:sp>
      <p:sp>
        <p:nvSpPr>
          <p:cNvPr id="3" name="Content Placeholder 2">
            <a:extLst>
              <a:ext uri="{FF2B5EF4-FFF2-40B4-BE49-F238E27FC236}">
                <a16:creationId xmlns:a16="http://schemas.microsoft.com/office/drawing/2014/main" xmlns="" id="{12DF70C0-0345-4BAF-9505-5C3C9B702A88}"/>
              </a:ext>
            </a:extLst>
          </p:cNvPr>
          <p:cNvSpPr>
            <a:spLocks noGrp="1"/>
          </p:cNvSpPr>
          <p:nvPr>
            <p:ph sz="quarter" idx="1"/>
          </p:nvPr>
        </p:nvSpPr>
        <p:spPr>
          <a:xfrm>
            <a:off x="180753" y="1137685"/>
            <a:ext cx="11791507" cy="5560828"/>
          </a:xfrm>
        </p:spPr>
        <p:txBody>
          <a:bodyPr/>
          <a:lstStyle/>
          <a:p>
            <a:r>
              <a:rPr lang="en-US" b="1"/>
              <a:t>Restate differently:</a:t>
            </a:r>
          </a:p>
          <a:p>
            <a:r>
              <a:rPr lang="en-US"/>
              <a:t> If your words may not provide the context necessary to clear a perceptual barrier, restate your intentions in different terms to provide more dimension to the statement. </a:t>
            </a:r>
          </a:p>
          <a:p>
            <a:endParaRPr lang="en-US"/>
          </a:p>
          <a:p>
            <a:r>
              <a:rPr lang="en-US"/>
              <a:t>You can say, “In other words,” to lead into a clarification statement, provide an example of what you mean or even use emphasis on specific words using bold, underline or italics in written communication or through specific intonation in verbal communication.</a:t>
            </a:r>
          </a:p>
        </p:txBody>
      </p:sp>
    </p:spTree>
    <p:extLst>
      <p:ext uri="{BB962C8B-B14F-4D97-AF65-F5344CB8AC3E}">
        <p14:creationId xmlns:p14="http://schemas.microsoft.com/office/powerpoint/2010/main" xmlns="" val="34354313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483FAFF-23DE-4A6D-8A93-8749DB302DDD}"/>
              </a:ext>
            </a:extLst>
          </p:cNvPr>
          <p:cNvSpPr>
            <a:spLocks noGrp="1"/>
          </p:cNvSpPr>
          <p:nvPr>
            <p:ph type="title"/>
          </p:nvPr>
        </p:nvSpPr>
        <p:spPr>
          <a:xfrm>
            <a:off x="350875" y="365126"/>
            <a:ext cx="11002927" cy="602438"/>
          </a:xfrm>
        </p:spPr>
        <p:txBody>
          <a:bodyPr>
            <a:normAutofit fontScale="90000"/>
          </a:bodyPr>
          <a:lstStyle/>
          <a:p>
            <a:r>
              <a:rPr lang="en-US" b="1"/>
              <a:t/>
            </a:r>
            <a:br>
              <a:rPr lang="en-US" b="1"/>
            </a:br>
            <a:r>
              <a:rPr lang="en-US" b="1"/>
              <a:t>Overcoming Perceptual Barriers(Continued):</a:t>
            </a:r>
            <a:br>
              <a:rPr lang="en-US" b="1"/>
            </a:br>
            <a:endParaRPr lang="en-US" b="1"/>
          </a:p>
        </p:txBody>
      </p:sp>
      <p:sp>
        <p:nvSpPr>
          <p:cNvPr id="3" name="Content Placeholder 2">
            <a:extLst>
              <a:ext uri="{FF2B5EF4-FFF2-40B4-BE49-F238E27FC236}">
                <a16:creationId xmlns:a16="http://schemas.microsoft.com/office/drawing/2014/main" xmlns="" id="{E7C7CFC3-47B9-41E8-A75E-D2E24608FA71}"/>
              </a:ext>
            </a:extLst>
          </p:cNvPr>
          <p:cNvSpPr>
            <a:spLocks noGrp="1"/>
          </p:cNvSpPr>
          <p:nvPr>
            <p:ph sz="quarter" idx="1"/>
          </p:nvPr>
        </p:nvSpPr>
        <p:spPr>
          <a:xfrm>
            <a:off x="255184" y="1148320"/>
            <a:ext cx="11738345" cy="5571461"/>
          </a:xfrm>
        </p:spPr>
        <p:txBody>
          <a:bodyPr>
            <a:normAutofit/>
          </a:bodyPr>
          <a:lstStyle/>
          <a:p>
            <a:r>
              <a:rPr lang="en-US" b="1"/>
              <a:t>Examine and improve body language:</a:t>
            </a:r>
          </a:p>
          <a:p>
            <a:r>
              <a:rPr lang="en-US"/>
              <a:t> In any interpersonal interaction, it’s important to examine yours and others’ body language.</a:t>
            </a:r>
          </a:p>
          <a:p>
            <a:r>
              <a:rPr lang="en-US"/>
              <a:t> If you feel your body is not underscoring your intent in a situation, find a way to subtly shift into a different posture.</a:t>
            </a:r>
          </a:p>
          <a:p>
            <a:pPr marL="0" indent="0">
              <a:buNone/>
            </a:pPr>
            <a:r>
              <a:rPr lang="en-US"/>
              <a:t> If you are unsure of how your body language may be perceived, check in with feelings and sensations that may be tied to how you are orienting your body.</a:t>
            </a:r>
          </a:p>
          <a:p>
            <a:pPr marL="0" indent="0">
              <a:buNone/>
            </a:pPr>
            <a:r>
              <a:rPr lang="en-US"/>
              <a:t> With practice, we come to learn when our perceptions and the perceptions of others influence communication, and we learn to better handle assumptions, seek clarity, offer context and read between the lines.</a:t>
            </a:r>
          </a:p>
        </p:txBody>
      </p:sp>
    </p:spTree>
    <p:extLst>
      <p:ext uri="{BB962C8B-B14F-4D97-AF65-F5344CB8AC3E}">
        <p14:creationId xmlns:p14="http://schemas.microsoft.com/office/powerpoint/2010/main" xmlns="" val="35482022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100C79-D899-4282-8FAA-624638FB4A51}"/>
              </a:ext>
            </a:extLst>
          </p:cNvPr>
          <p:cNvSpPr>
            <a:spLocks noGrp="1"/>
          </p:cNvSpPr>
          <p:nvPr>
            <p:ph type="title"/>
          </p:nvPr>
        </p:nvSpPr>
        <p:spPr>
          <a:xfrm>
            <a:off x="202019" y="333229"/>
            <a:ext cx="11398102" cy="602438"/>
          </a:xfrm>
        </p:spPr>
        <p:txBody>
          <a:bodyPr>
            <a:normAutofit fontScale="90000"/>
          </a:bodyPr>
          <a:lstStyle/>
          <a:p>
            <a:r>
              <a:rPr lang="en-US" b="1" dirty="0">
                <a:latin typeface="Garamond" panose="02020404030301010803" pitchFamily="18" charset="0"/>
              </a:rPr>
              <a:t>Barriers (Continued)</a:t>
            </a:r>
          </a:p>
        </p:txBody>
      </p:sp>
      <p:sp>
        <p:nvSpPr>
          <p:cNvPr id="3" name="Content Placeholder 2">
            <a:extLst>
              <a:ext uri="{FF2B5EF4-FFF2-40B4-BE49-F238E27FC236}">
                <a16:creationId xmlns:a16="http://schemas.microsoft.com/office/drawing/2014/main" xmlns="" id="{139D3093-E8CB-4492-A5C3-7A870147F6BB}"/>
              </a:ext>
            </a:extLst>
          </p:cNvPr>
          <p:cNvSpPr>
            <a:spLocks noGrp="1"/>
          </p:cNvSpPr>
          <p:nvPr>
            <p:ph sz="quarter" idx="1"/>
          </p:nvPr>
        </p:nvSpPr>
        <p:spPr>
          <a:xfrm>
            <a:off x="202019" y="1105786"/>
            <a:ext cx="11823404" cy="5624623"/>
          </a:xfrm>
        </p:spPr>
        <p:txBody>
          <a:bodyPr/>
          <a:lstStyle/>
          <a:p>
            <a:r>
              <a:rPr lang="en-US" sz="3200" b="1" dirty="0">
                <a:latin typeface="Garamond" panose="02020404030301010803" pitchFamily="18" charset="0"/>
              </a:rPr>
              <a:t>4. Cultural Barriers</a:t>
            </a:r>
          </a:p>
          <a:p>
            <a:pPr marL="0" indent="0">
              <a:buNone/>
            </a:pPr>
            <a:r>
              <a:rPr lang="en-US" sz="3200" dirty="0">
                <a:latin typeface="Garamond" panose="02020404030301010803" pitchFamily="18" charset="0"/>
              </a:rPr>
              <a:t>The norms of social interaction vary greatly in different cultures, as do the way in which emotions are expressed.</a:t>
            </a:r>
          </a:p>
          <a:p>
            <a:pPr marL="0" indent="0">
              <a:buNone/>
            </a:pPr>
            <a:endParaRPr lang="en-US" sz="3200" dirty="0">
              <a:latin typeface="Garamond" panose="02020404030301010803" pitchFamily="18" charset="0"/>
            </a:endParaRPr>
          </a:p>
          <a:p>
            <a:pPr marL="0" indent="0">
              <a:buNone/>
            </a:pPr>
            <a:r>
              <a:rPr lang="en-US" sz="3200" dirty="0">
                <a:latin typeface="Garamond" panose="02020404030301010803" pitchFamily="18" charset="0"/>
              </a:rPr>
              <a:t> </a:t>
            </a:r>
            <a:r>
              <a:rPr lang="en-US" sz="3200" b="1" dirty="0">
                <a:latin typeface="Garamond" panose="02020404030301010803" pitchFamily="18" charset="0"/>
              </a:rPr>
              <a:t>For example</a:t>
            </a:r>
            <a:r>
              <a:rPr lang="en-US" sz="3200" dirty="0">
                <a:latin typeface="Garamond" panose="02020404030301010803" pitchFamily="18" charset="0"/>
              </a:rPr>
              <a:t>, the concept of personal space varies between cultures and between different social settings. </a:t>
            </a:r>
          </a:p>
          <a:p>
            <a:pPr marL="0" indent="0">
              <a:buNone/>
            </a:pPr>
            <a:endParaRPr lang="en-US" sz="3200" dirty="0">
              <a:latin typeface="Garamond" panose="02020404030301010803" pitchFamily="18" charset="0"/>
            </a:endParaRPr>
          </a:p>
          <a:p>
            <a:pPr marL="0" indent="0">
              <a:buNone/>
            </a:pPr>
            <a:r>
              <a:rPr lang="en-US" sz="3200" b="1" dirty="0">
                <a:latin typeface="Garamond" panose="02020404030301010803" pitchFamily="18" charset="0"/>
              </a:rPr>
              <a:t>Q: Can you provide any example related to personal space in different cultural contexts</a:t>
            </a:r>
            <a:r>
              <a:rPr lang="en-US" b="1" dirty="0">
                <a:latin typeface="Garamond" panose="02020404030301010803" pitchFamily="18" charset="0"/>
              </a:rPr>
              <a:t>?</a:t>
            </a:r>
          </a:p>
        </p:txBody>
      </p:sp>
    </p:spTree>
    <p:extLst>
      <p:ext uri="{BB962C8B-B14F-4D97-AF65-F5344CB8AC3E}">
        <p14:creationId xmlns:p14="http://schemas.microsoft.com/office/powerpoint/2010/main" xmlns="" val="6809561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FB64984-36D1-4DD6-88D0-8EED418FA424}"/>
              </a:ext>
            </a:extLst>
          </p:cNvPr>
          <p:cNvSpPr>
            <a:spLocks noGrp="1"/>
          </p:cNvSpPr>
          <p:nvPr>
            <p:ph type="title"/>
          </p:nvPr>
        </p:nvSpPr>
        <p:spPr>
          <a:xfrm>
            <a:off x="318977" y="365125"/>
            <a:ext cx="11164186" cy="591805"/>
          </a:xfrm>
        </p:spPr>
        <p:txBody>
          <a:bodyPr>
            <a:normAutofit fontScale="90000"/>
          </a:bodyPr>
          <a:lstStyle/>
          <a:p>
            <a:r>
              <a:rPr lang="en-US" b="1" dirty="0">
                <a:latin typeface="Garamond" panose="02020404030301010803" pitchFamily="18" charset="0"/>
              </a:rPr>
              <a:t>Cultural Barriers (Continued)</a:t>
            </a:r>
          </a:p>
        </p:txBody>
      </p:sp>
      <p:sp>
        <p:nvSpPr>
          <p:cNvPr id="3" name="Content Placeholder 2">
            <a:extLst>
              <a:ext uri="{FF2B5EF4-FFF2-40B4-BE49-F238E27FC236}">
                <a16:creationId xmlns:a16="http://schemas.microsoft.com/office/drawing/2014/main" xmlns="" id="{D8EC7CCD-958F-4C63-9F9B-ED580361C66D}"/>
              </a:ext>
            </a:extLst>
          </p:cNvPr>
          <p:cNvSpPr>
            <a:spLocks noGrp="1"/>
          </p:cNvSpPr>
          <p:nvPr>
            <p:ph sz="quarter" idx="1"/>
          </p:nvPr>
        </p:nvSpPr>
        <p:spPr>
          <a:xfrm>
            <a:off x="170121" y="1041991"/>
            <a:ext cx="11876567" cy="5699051"/>
          </a:xfrm>
        </p:spPr>
        <p:txBody>
          <a:bodyPr>
            <a:normAutofit/>
          </a:bodyPr>
          <a:lstStyle/>
          <a:p>
            <a:r>
              <a:rPr lang="en-US" sz="2400" dirty="0">
                <a:latin typeface="Garamond" panose="02020404030301010803" pitchFamily="18" charset="0"/>
              </a:rPr>
              <a:t>Different cultures have a different meaning for several basic values of society.</a:t>
            </a:r>
          </a:p>
          <a:p>
            <a:endParaRPr lang="en-US" sz="2400" dirty="0">
              <a:latin typeface="Garamond" panose="02020404030301010803" pitchFamily="18" charset="0"/>
            </a:endParaRPr>
          </a:p>
          <a:p>
            <a:r>
              <a:rPr lang="en-US" sz="2400" dirty="0">
                <a:latin typeface="Garamond" panose="02020404030301010803" pitchFamily="18" charset="0"/>
              </a:rPr>
              <a:t> Dressing, Religions or lack of them, food, drinks, pets, and the general behavior will change drastically from one culture to another.</a:t>
            </a:r>
          </a:p>
          <a:p>
            <a:endParaRPr lang="en-US" sz="2400" dirty="0">
              <a:latin typeface="Garamond" panose="02020404030301010803" pitchFamily="18" charset="0"/>
            </a:endParaRPr>
          </a:p>
          <a:p>
            <a:r>
              <a:rPr lang="en-US" sz="2400" b="1" dirty="0">
                <a:latin typeface="Garamond" panose="02020404030301010803" pitchFamily="18" charset="0"/>
              </a:rPr>
              <a:t>Factors Causing Cultural Behavior</a:t>
            </a:r>
            <a:r>
              <a:rPr lang="en-US" sz="2400" dirty="0">
                <a:latin typeface="Garamond" panose="02020404030301010803" pitchFamily="18" charset="0"/>
              </a:rPr>
              <a:t>:</a:t>
            </a:r>
          </a:p>
          <a:p>
            <a:r>
              <a:rPr lang="en-US" sz="2400" dirty="0">
                <a:latin typeface="Garamond" panose="02020404030301010803" pitchFamily="18" charset="0"/>
              </a:rPr>
              <a:t>1. Diversified Cultural Background     6. Concept of Time</a:t>
            </a:r>
          </a:p>
          <a:p>
            <a:r>
              <a:rPr lang="en-US" sz="2400" dirty="0">
                <a:latin typeface="Garamond" panose="02020404030301010803" pitchFamily="18" charset="0"/>
              </a:rPr>
              <a:t>2. Language and Accent                       7. Space</a:t>
            </a:r>
          </a:p>
          <a:p>
            <a:r>
              <a:rPr lang="en-US" sz="2400" dirty="0">
                <a:latin typeface="Garamond" panose="02020404030301010803" pitchFamily="18" charset="0"/>
              </a:rPr>
              <a:t>3. Behavior and nature                         8. Gestures</a:t>
            </a:r>
          </a:p>
          <a:p>
            <a:r>
              <a:rPr lang="en-US" sz="2400" dirty="0">
                <a:latin typeface="Garamond" panose="02020404030301010803" pitchFamily="18" charset="0"/>
              </a:rPr>
              <a:t>4. Religion</a:t>
            </a:r>
          </a:p>
          <a:p>
            <a:r>
              <a:rPr lang="en-US" sz="2400" dirty="0">
                <a:latin typeface="Garamond" panose="02020404030301010803" pitchFamily="18" charset="0"/>
              </a:rPr>
              <a:t>5. Social Relation</a:t>
            </a:r>
          </a:p>
        </p:txBody>
      </p:sp>
    </p:spTree>
    <p:extLst>
      <p:ext uri="{BB962C8B-B14F-4D97-AF65-F5344CB8AC3E}">
        <p14:creationId xmlns:p14="http://schemas.microsoft.com/office/powerpoint/2010/main" xmlns="" val="26919365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BFA5755-CDF6-41C0-86D3-79979B93D9BE}"/>
              </a:ext>
            </a:extLst>
          </p:cNvPr>
          <p:cNvSpPr>
            <a:spLocks noGrp="1"/>
          </p:cNvSpPr>
          <p:nvPr>
            <p:ph type="title"/>
          </p:nvPr>
        </p:nvSpPr>
        <p:spPr>
          <a:xfrm>
            <a:off x="372140" y="365126"/>
            <a:ext cx="10981660" cy="538642"/>
          </a:xfrm>
        </p:spPr>
        <p:txBody>
          <a:bodyPr>
            <a:normAutofit fontScale="90000"/>
          </a:bodyPr>
          <a:lstStyle/>
          <a:p>
            <a:r>
              <a:rPr lang="en-US" b="1" dirty="0">
                <a:latin typeface="Garamond" panose="02020404030301010803" pitchFamily="18" charset="0"/>
              </a:rPr>
              <a:t>Examples (Cultural Barriers)</a:t>
            </a:r>
          </a:p>
        </p:txBody>
      </p:sp>
      <p:sp>
        <p:nvSpPr>
          <p:cNvPr id="3" name="Content Placeholder 2">
            <a:extLst>
              <a:ext uri="{FF2B5EF4-FFF2-40B4-BE49-F238E27FC236}">
                <a16:creationId xmlns:a16="http://schemas.microsoft.com/office/drawing/2014/main" xmlns="" id="{2D6B8F73-05F2-46EB-9DC0-EF9DBCECB8B6}"/>
              </a:ext>
            </a:extLst>
          </p:cNvPr>
          <p:cNvSpPr>
            <a:spLocks noGrp="1"/>
          </p:cNvSpPr>
          <p:nvPr>
            <p:ph sz="quarter" idx="1"/>
          </p:nvPr>
        </p:nvSpPr>
        <p:spPr>
          <a:xfrm>
            <a:off x="297712" y="1041992"/>
            <a:ext cx="11674548" cy="5656520"/>
          </a:xfrm>
        </p:spPr>
        <p:txBody>
          <a:bodyPr/>
          <a:lstStyle/>
          <a:p>
            <a:r>
              <a:rPr lang="en-US" sz="3200" dirty="0">
                <a:latin typeface="Garamond" panose="02020404030301010803" pitchFamily="18" charset="0"/>
              </a:rPr>
              <a:t>Following are Examples of cultural barriers that prevent individuals from effective communication include:</a:t>
            </a:r>
          </a:p>
          <a:p>
            <a:endParaRPr lang="en-US" sz="3200" dirty="0">
              <a:latin typeface="Garamond" panose="02020404030301010803" pitchFamily="18" charset="0"/>
            </a:endParaRPr>
          </a:p>
          <a:p>
            <a:r>
              <a:rPr lang="en-US" sz="3200" dirty="0">
                <a:latin typeface="Garamond" panose="02020404030301010803" pitchFamily="18" charset="0"/>
              </a:rPr>
              <a:t>1. </a:t>
            </a:r>
            <a:r>
              <a:rPr lang="en-US" sz="3200" b="1" dirty="0">
                <a:latin typeface="Garamond" panose="02020404030301010803" pitchFamily="18" charset="0"/>
              </a:rPr>
              <a:t>Generational</a:t>
            </a:r>
            <a:r>
              <a:rPr lang="en-US" sz="3200" dirty="0">
                <a:latin typeface="Garamond" panose="02020404030301010803" pitchFamily="18" charset="0"/>
              </a:rPr>
              <a:t> - Each age group has a different general approach to work, which often leads to conflicts with older workers describing younger workers as "slackers," and younger workers criticizing older workers as being "out of touch."</a:t>
            </a:r>
          </a:p>
          <a:p>
            <a:endParaRPr lang="en-US" sz="3200" dirty="0">
              <a:latin typeface="Garamond" panose="02020404030301010803" pitchFamily="18" charset="0"/>
            </a:endParaRPr>
          </a:p>
          <a:p>
            <a:r>
              <a:rPr lang="en-US" sz="3200" dirty="0">
                <a:latin typeface="Garamond" panose="02020404030301010803" pitchFamily="18" charset="0"/>
              </a:rPr>
              <a:t>2</a:t>
            </a:r>
            <a:r>
              <a:rPr lang="en-US" sz="3200" b="1" dirty="0">
                <a:latin typeface="Garamond" panose="02020404030301010803" pitchFamily="18" charset="0"/>
              </a:rPr>
              <a:t>. Behavior.- </a:t>
            </a:r>
            <a:r>
              <a:rPr lang="en-US" sz="3200" dirty="0">
                <a:latin typeface="Garamond" panose="02020404030301010803" pitchFamily="18" charset="0"/>
              </a:rPr>
              <a:t>Cultural difference in body language and other behaviors can be the biggest cause of miscommunication.</a:t>
            </a:r>
          </a:p>
          <a:p>
            <a:endParaRPr lang="en-US" dirty="0">
              <a:latin typeface="Garamond" panose="02020404030301010803" pitchFamily="18" charset="0"/>
            </a:endParaRPr>
          </a:p>
          <a:p>
            <a:endParaRPr lang="en-US" dirty="0">
              <a:latin typeface="Garamond" panose="02020404030301010803" pitchFamily="18" charset="0"/>
            </a:endParaRPr>
          </a:p>
          <a:p>
            <a:endParaRPr lang="en-US" dirty="0">
              <a:latin typeface="Garamond" panose="02020404030301010803" pitchFamily="18" charset="0"/>
            </a:endParaRPr>
          </a:p>
          <a:p>
            <a:endParaRPr lang="en-US" dirty="0">
              <a:latin typeface="Garamond" panose="02020404030301010803" pitchFamily="18" charset="0"/>
            </a:endParaRPr>
          </a:p>
        </p:txBody>
      </p:sp>
    </p:spTree>
    <p:extLst>
      <p:ext uri="{BB962C8B-B14F-4D97-AF65-F5344CB8AC3E}">
        <p14:creationId xmlns:p14="http://schemas.microsoft.com/office/powerpoint/2010/main" xmlns="" val="7450325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966ECE-4E23-4E5F-AC05-96EB1739887C}"/>
              </a:ext>
            </a:extLst>
          </p:cNvPr>
          <p:cNvSpPr>
            <a:spLocks noGrp="1"/>
          </p:cNvSpPr>
          <p:nvPr>
            <p:ph type="title"/>
          </p:nvPr>
        </p:nvSpPr>
        <p:spPr>
          <a:xfrm>
            <a:off x="318977" y="365125"/>
            <a:ext cx="11034823" cy="549275"/>
          </a:xfrm>
        </p:spPr>
        <p:txBody>
          <a:bodyPr>
            <a:normAutofit fontScale="90000"/>
          </a:bodyPr>
          <a:lstStyle/>
          <a:p>
            <a:r>
              <a:rPr lang="en-US" b="1" dirty="0">
                <a:latin typeface="Garamond" panose="02020404030301010803" pitchFamily="18" charset="0"/>
              </a:rPr>
              <a:t>Cultural Barriers (Continued)</a:t>
            </a:r>
          </a:p>
        </p:txBody>
      </p:sp>
      <p:sp>
        <p:nvSpPr>
          <p:cNvPr id="3" name="Content Placeholder 2">
            <a:extLst>
              <a:ext uri="{FF2B5EF4-FFF2-40B4-BE49-F238E27FC236}">
                <a16:creationId xmlns:a16="http://schemas.microsoft.com/office/drawing/2014/main" xmlns="" id="{EB037A6B-F007-4E8F-8C25-CCA93FBEED62}"/>
              </a:ext>
            </a:extLst>
          </p:cNvPr>
          <p:cNvSpPr>
            <a:spLocks noGrp="1"/>
          </p:cNvSpPr>
          <p:nvPr>
            <p:ph sz="quarter" idx="1"/>
          </p:nvPr>
        </p:nvSpPr>
        <p:spPr>
          <a:xfrm>
            <a:off x="244549" y="1095154"/>
            <a:ext cx="11759609" cy="5677786"/>
          </a:xfrm>
        </p:spPr>
        <p:txBody>
          <a:bodyPr>
            <a:normAutofit/>
          </a:bodyPr>
          <a:lstStyle/>
          <a:p>
            <a:r>
              <a:rPr lang="en-US" sz="3200" dirty="0">
                <a:latin typeface="Garamond" panose="02020404030301010803" pitchFamily="18" charset="0"/>
              </a:rPr>
              <a:t>For example , in the U.S it is important to make eye contact with someone who is speaking to you or the other may think that you are distracted or uninterested. </a:t>
            </a:r>
          </a:p>
          <a:p>
            <a:r>
              <a:rPr lang="en-US" sz="3200" dirty="0">
                <a:latin typeface="Garamond" panose="02020404030301010803" pitchFamily="18" charset="0"/>
              </a:rPr>
              <a:t>However, in many Asian countries a continuous eye contact can be a sign of disrespect or challenge to authority.</a:t>
            </a:r>
          </a:p>
          <a:p>
            <a:pPr marL="0" indent="0">
              <a:buNone/>
            </a:pPr>
            <a:endParaRPr lang="en-US" sz="3200" dirty="0">
              <a:latin typeface="Garamond" panose="02020404030301010803" pitchFamily="18" charset="0"/>
            </a:endParaRPr>
          </a:p>
          <a:p>
            <a:r>
              <a:rPr lang="en-US" sz="3200" b="1" dirty="0">
                <a:latin typeface="Garamond" panose="02020404030301010803" pitchFamily="18" charset="0"/>
              </a:rPr>
              <a:t>Q: Can you quote an example of cultural barrier faced by you during process of communication (can be formal or informal communication)</a:t>
            </a:r>
          </a:p>
          <a:p>
            <a:endParaRPr lang="en-US" sz="3200" dirty="0">
              <a:latin typeface="Garamond" panose="02020404030301010803" pitchFamily="18" charset="0"/>
            </a:endParaRPr>
          </a:p>
        </p:txBody>
      </p:sp>
    </p:spTree>
    <p:extLst>
      <p:ext uri="{BB962C8B-B14F-4D97-AF65-F5344CB8AC3E}">
        <p14:creationId xmlns:p14="http://schemas.microsoft.com/office/powerpoint/2010/main" xmlns="" val="39973106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16D3B2-3C8F-4C1B-A111-9645E6A7EDD9}"/>
              </a:ext>
            </a:extLst>
          </p:cNvPr>
          <p:cNvSpPr>
            <a:spLocks noGrp="1"/>
          </p:cNvSpPr>
          <p:nvPr>
            <p:ph type="title"/>
          </p:nvPr>
        </p:nvSpPr>
        <p:spPr>
          <a:xfrm>
            <a:off x="287079" y="365126"/>
            <a:ext cx="11066721" cy="730028"/>
          </a:xfrm>
        </p:spPr>
        <p:txBody>
          <a:bodyPr>
            <a:normAutofit fontScale="90000"/>
          </a:bodyPr>
          <a:lstStyle/>
          <a:p>
            <a:r>
              <a:rPr lang="en-US" b="1" dirty="0">
                <a:latin typeface="Garamond" panose="02020404030301010803" pitchFamily="18" charset="0"/>
              </a:rPr>
              <a:t>Linguistic barriers</a:t>
            </a:r>
          </a:p>
        </p:txBody>
      </p:sp>
      <p:sp>
        <p:nvSpPr>
          <p:cNvPr id="3" name="Content Placeholder 2">
            <a:extLst>
              <a:ext uri="{FF2B5EF4-FFF2-40B4-BE49-F238E27FC236}">
                <a16:creationId xmlns:a16="http://schemas.microsoft.com/office/drawing/2014/main" xmlns="" id="{AC782662-7A60-4963-A487-590EB30E8646}"/>
              </a:ext>
            </a:extLst>
          </p:cNvPr>
          <p:cNvSpPr>
            <a:spLocks noGrp="1"/>
          </p:cNvSpPr>
          <p:nvPr>
            <p:ph sz="quarter" idx="1"/>
          </p:nvPr>
        </p:nvSpPr>
        <p:spPr>
          <a:xfrm>
            <a:off x="287079" y="1244010"/>
            <a:ext cx="11621386" cy="5411972"/>
          </a:xfrm>
        </p:spPr>
        <p:txBody>
          <a:bodyPr>
            <a:normAutofit/>
          </a:bodyPr>
          <a:lstStyle/>
          <a:p>
            <a:r>
              <a:rPr lang="en-US" sz="2800" dirty="0">
                <a:latin typeface="Garamond" panose="02020404030301010803" pitchFamily="18" charset="0"/>
              </a:rPr>
              <a:t>Linguistic barriers occur due to following reasons :</a:t>
            </a:r>
          </a:p>
          <a:p>
            <a:r>
              <a:rPr lang="en-US" sz="2800" dirty="0">
                <a:latin typeface="Garamond" panose="02020404030301010803" pitchFamily="18" charset="0"/>
              </a:rPr>
              <a:t>1. Different languages</a:t>
            </a:r>
          </a:p>
          <a:p>
            <a:r>
              <a:rPr lang="en-US" sz="2800" dirty="0">
                <a:latin typeface="Garamond" panose="02020404030301010803" pitchFamily="18" charset="0"/>
              </a:rPr>
              <a:t>No clarity in speech</a:t>
            </a:r>
          </a:p>
          <a:p>
            <a:r>
              <a:rPr lang="en-US" sz="2800" dirty="0">
                <a:latin typeface="Garamond" panose="02020404030301010803" pitchFamily="18" charset="0"/>
              </a:rPr>
              <a:t>Using jargons</a:t>
            </a:r>
          </a:p>
          <a:p>
            <a:r>
              <a:rPr lang="en-US" sz="2800" dirty="0">
                <a:latin typeface="Garamond" panose="02020404030301010803" pitchFamily="18" charset="0"/>
              </a:rPr>
              <a:t>Not being specific</a:t>
            </a:r>
          </a:p>
          <a:p>
            <a:r>
              <a:rPr lang="en-US" sz="2800" dirty="0">
                <a:latin typeface="Garamond" panose="02020404030301010803" pitchFamily="18" charset="0"/>
              </a:rPr>
              <a:t>Dialects - While two people may technically speak the same language, dialectal differences can make communication between them difficult. </a:t>
            </a:r>
          </a:p>
          <a:p>
            <a:endParaRPr lang="en-US" sz="2800" dirty="0">
              <a:latin typeface="Garamond" panose="02020404030301010803" pitchFamily="18" charset="0"/>
            </a:endParaRPr>
          </a:p>
          <a:p>
            <a:r>
              <a:rPr lang="en-US" sz="2800" dirty="0">
                <a:latin typeface="Garamond" panose="02020404030301010803" pitchFamily="18" charset="0"/>
              </a:rPr>
              <a:t>Metaphors of a specific language, vocabulary and accent of a particular region might cause difficulty in communication </a:t>
            </a:r>
          </a:p>
        </p:txBody>
      </p:sp>
    </p:spTree>
    <p:extLst>
      <p:ext uri="{BB962C8B-B14F-4D97-AF65-F5344CB8AC3E}">
        <p14:creationId xmlns:p14="http://schemas.microsoft.com/office/powerpoint/2010/main" xmlns="" val="16276787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9DA28C-A447-4CB1-B0D1-F4BA044C0AAA}"/>
              </a:ext>
            </a:extLst>
          </p:cNvPr>
          <p:cNvSpPr>
            <a:spLocks noGrp="1"/>
          </p:cNvSpPr>
          <p:nvPr>
            <p:ph type="title"/>
          </p:nvPr>
        </p:nvSpPr>
        <p:spPr>
          <a:xfrm>
            <a:off x="244549" y="180753"/>
            <a:ext cx="11109251" cy="850605"/>
          </a:xfrm>
        </p:spPr>
        <p:txBody>
          <a:bodyPr>
            <a:normAutofit/>
          </a:bodyPr>
          <a:lstStyle/>
          <a:p>
            <a:r>
              <a:rPr lang="en-US" b="1" dirty="0">
                <a:latin typeface="Garamond" panose="02020404030301010803" pitchFamily="18" charset="0"/>
              </a:rPr>
              <a:t>Emotional Barriers</a:t>
            </a:r>
          </a:p>
        </p:txBody>
      </p:sp>
      <p:sp>
        <p:nvSpPr>
          <p:cNvPr id="3" name="Content Placeholder 2">
            <a:extLst>
              <a:ext uri="{FF2B5EF4-FFF2-40B4-BE49-F238E27FC236}">
                <a16:creationId xmlns:a16="http://schemas.microsoft.com/office/drawing/2014/main" xmlns="" id="{963EB3BA-CDCC-42E1-8F63-97FCD37FD3EC}"/>
              </a:ext>
            </a:extLst>
          </p:cNvPr>
          <p:cNvSpPr>
            <a:spLocks noGrp="1"/>
          </p:cNvSpPr>
          <p:nvPr>
            <p:ph sz="quarter" idx="1"/>
          </p:nvPr>
        </p:nvSpPr>
        <p:spPr>
          <a:xfrm>
            <a:off x="244549" y="1169581"/>
            <a:ext cx="11759609" cy="5507666"/>
          </a:xfrm>
        </p:spPr>
        <p:txBody>
          <a:bodyPr vert="horz" lIns="91440" tIns="45720" rIns="91440" bIns="45720" rtlCol="0" anchor="t">
            <a:normAutofit/>
          </a:bodyPr>
          <a:lstStyle/>
          <a:p>
            <a:r>
              <a:rPr lang="en-US" sz="2800" dirty="0">
                <a:latin typeface="Garamond"/>
              </a:rPr>
              <a:t>Emotional barriers are the </a:t>
            </a:r>
            <a:r>
              <a:rPr lang="en-US" sz="2800" b="1" dirty="0">
                <a:latin typeface="Garamond"/>
              </a:rPr>
              <a:t>mental walls</a:t>
            </a:r>
            <a:r>
              <a:rPr lang="en-US" sz="2800" dirty="0">
                <a:latin typeface="Garamond"/>
              </a:rPr>
              <a:t> that keep you away from openly communicating your thoughts and feelings to others. </a:t>
            </a:r>
            <a:endParaRPr lang="en-US" sz="2800" dirty="0">
              <a:latin typeface="Garamond" panose="02020404030301010803" pitchFamily="18" charset="0"/>
            </a:endParaRPr>
          </a:p>
          <a:p>
            <a:endParaRPr lang="en-US" sz="2800" dirty="0">
              <a:latin typeface="Garamond" panose="02020404030301010803" pitchFamily="18" charset="0"/>
            </a:endParaRPr>
          </a:p>
          <a:p>
            <a:r>
              <a:rPr lang="en-US" sz="2800" b="1" dirty="0">
                <a:latin typeface="Garamond" panose="02020404030301010803" pitchFamily="18" charset="0"/>
              </a:rPr>
              <a:t>Examples: </a:t>
            </a:r>
          </a:p>
          <a:p>
            <a:r>
              <a:rPr lang="en-US" sz="2800" dirty="0">
                <a:latin typeface="Garamond" panose="02020404030301010803" pitchFamily="18" charset="0"/>
              </a:rPr>
              <a:t>1. </a:t>
            </a:r>
            <a:r>
              <a:rPr lang="en-US" sz="2800" b="1" dirty="0">
                <a:latin typeface="Garamond" panose="02020404030301010803" pitchFamily="18" charset="0"/>
              </a:rPr>
              <a:t>Anger </a:t>
            </a:r>
            <a:r>
              <a:rPr lang="en-US" sz="2800" dirty="0">
                <a:latin typeface="Garamond" panose="02020404030301010803" pitchFamily="18" charset="0"/>
              </a:rPr>
              <a:t>- Anger can affect the way your brain processes information given to you.</a:t>
            </a:r>
          </a:p>
          <a:p>
            <a:r>
              <a:rPr lang="en-US" sz="2800" dirty="0">
                <a:latin typeface="Garamond" panose="02020404030301010803" pitchFamily="18" charset="0"/>
              </a:rPr>
              <a:t> For example, angry people have difficulty processing logical statements, limiting their ability to accept explanations and solutions offered by others. </a:t>
            </a:r>
          </a:p>
          <a:p>
            <a:endParaRPr lang="en-US" sz="2800" dirty="0">
              <a:latin typeface="Garamond" panose="02020404030301010803" pitchFamily="18" charset="0"/>
            </a:endParaRPr>
          </a:p>
          <a:p>
            <a:r>
              <a:rPr lang="en-US" sz="2800" b="1" dirty="0">
                <a:latin typeface="Garamond" panose="02020404030301010803" pitchFamily="18" charset="0"/>
              </a:rPr>
              <a:t>Q: Can you remember any such moment where you surpassed logic due to anger? What was the consequence you faced?</a:t>
            </a:r>
          </a:p>
          <a:p>
            <a:endParaRPr lang="en-US" dirty="0">
              <a:latin typeface="Garamond" panose="02020404030301010803" pitchFamily="18" charset="0"/>
            </a:endParaRPr>
          </a:p>
        </p:txBody>
      </p:sp>
    </p:spTree>
    <p:extLst>
      <p:ext uri="{BB962C8B-B14F-4D97-AF65-F5344CB8AC3E}">
        <p14:creationId xmlns:p14="http://schemas.microsoft.com/office/powerpoint/2010/main" xmlns="" val="7661963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33A35-E549-46A7-AFAE-3441096D14AF}"/>
              </a:ext>
            </a:extLst>
          </p:cNvPr>
          <p:cNvSpPr>
            <a:spLocks noGrp="1"/>
          </p:cNvSpPr>
          <p:nvPr>
            <p:ph type="title"/>
          </p:nvPr>
        </p:nvSpPr>
        <p:spPr>
          <a:xfrm>
            <a:off x="276447" y="365126"/>
            <a:ext cx="11077353" cy="644968"/>
          </a:xfrm>
        </p:spPr>
        <p:txBody>
          <a:bodyPr>
            <a:normAutofit fontScale="90000"/>
          </a:bodyPr>
          <a:lstStyle/>
          <a:p>
            <a:r>
              <a:rPr lang="en-US" b="1" dirty="0">
                <a:latin typeface="Garamond" panose="02020404030301010803" pitchFamily="18" charset="0"/>
              </a:rPr>
              <a:t>Emotional Barriers (Continued)</a:t>
            </a:r>
          </a:p>
        </p:txBody>
      </p:sp>
      <p:sp>
        <p:nvSpPr>
          <p:cNvPr id="3" name="Content Placeholder 2">
            <a:extLst>
              <a:ext uri="{FF2B5EF4-FFF2-40B4-BE49-F238E27FC236}">
                <a16:creationId xmlns:a16="http://schemas.microsoft.com/office/drawing/2014/main" xmlns="" id="{A0077D59-6F79-4F27-A3D8-39000BA351CB}"/>
              </a:ext>
            </a:extLst>
          </p:cNvPr>
          <p:cNvSpPr>
            <a:spLocks noGrp="1"/>
          </p:cNvSpPr>
          <p:nvPr>
            <p:ph sz="quarter" idx="1"/>
          </p:nvPr>
        </p:nvSpPr>
        <p:spPr>
          <a:xfrm>
            <a:off x="276447" y="1212112"/>
            <a:ext cx="11717079" cy="5475767"/>
          </a:xfrm>
        </p:spPr>
        <p:txBody>
          <a:bodyPr>
            <a:normAutofit/>
          </a:bodyPr>
          <a:lstStyle/>
          <a:p>
            <a:r>
              <a:rPr lang="en-US" sz="2800" b="1" dirty="0">
                <a:latin typeface="Garamond" panose="02020404030301010803" pitchFamily="18" charset="0"/>
              </a:rPr>
              <a:t>Pride</a:t>
            </a:r>
            <a:r>
              <a:rPr lang="en-US" sz="2800" dirty="0">
                <a:latin typeface="Garamond" panose="02020404030301010803" pitchFamily="18" charset="0"/>
              </a:rPr>
              <a:t> - The need to be right all the time will not only annoy others, it can shut down effective communication. </a:t>
            </a:r>
          </a:p>
          <a:p>
            <a:r>
              <a:rPr lang="en-US" sz="2800" b="1" dirty="0">
                <a:latin typeface="Garamond" panose="02020404030301010803" pitchFamily="18" charset="0"/>
              </a:rPr>
              <a:t>For example</a:t>
            </a:r>
            <a:r>
              <a:rPr lang="en-US" sz="2800" dirty="0">
                <a:latin typeface="Garamond" panose="02020404030301010803" pitchFamily="18" charset="0"/>
              </a:rPr>
              <a:t>, you might focus only on your perspective, or you might come up with ways to shoot down other people before you even listen to their points.</a:t>
            </a:r>
          </a:p>
          <a:p>
            <a:endParaRPr lang="en-US" sz="2800" dirty="0">
              <a:latin typeface="Garamond" panose="02020404030301010803" pitchFamily="18" charset="0"/>
            </a:endParaRPr>
          </a:p>
          <a:p>
            <a:r>
              <a:rPr lang="en-US" sz="2800" b="1" u="sng" dirty="0">
                <a:latin typeface="Garamond" panose="02020404030301010803" pitchFamily="18" charset="0"/>
              </a:rPr>
              <a:t>Share the consequences of the above barrier with your class.</a:t>
            </a:r>
          </a:p>
          <a:p>
            <a:endParaRPr lang="en-US" sz="2800" dirty="0">
              <a:latin typeface="Garamond" panose="02020404030301010803" pitchFamily="18" charset="0"/>
            </a:endParaRPr>
          </a:p>
          <a:p>
            <a:r>
              <a:rPr lang="en-US" sz="2800" b="1" dirty="0">
                <a:latin typeface="Garamond" panose="02020404030301010803" pitchFamily="18" charset="0"/>
              </a:rPr>
              <a:t>Anxiousness</a:t>
            </a:r>
            <a:r>
              <a:rPr lang="en-US" sz="2800" dirty="0">
                <a:latin typeface="Garamond" panose="02020404030301010803" pitchFamily="18" charset="0"/>
              </a:rPr>
              <a:t> - Anxiety has a negative impact on the part of your brain that manages creativity and communication skills. For example, your constant worries can hinder your ability to concentrate on the information you are giving or receiving.</a:t>
            </a:r>
          </a:p>
          <a:p>
            <a:endParaRPr lang="en-US" sz="2800" dirty="0">
              <a:latin typeface="Garamond" panose="02020404030301010803" pitchFamily="18" charset="0"/>
            </a:endParaRPr>
          </a:p>
          <a:p>
            <a:endParaRPr lang="en-US" dirty="0">
              <a:latin typeface="Garamond" panose="02020404030301010803" pitchFamily="18" charset="0"/>
            </a:endParaRPr>
          </a:p>
        </p:txBody>
      </p:sp>
    </p:spTree>
    <p:extLst>
      <p:ext uri="{BB962C8B-B14F-4D97-AF65-F5344CB8AC3E}">
        <p14:creationId xmlns:p14="http://schemas.microsoft.com/office/powerpoint/2010/main" xmlns="" val="31372620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E6D223-FCDC-425F-8771-AA1D86883516}"/>
              </a:ext>
            </a:extLst>
          </p:cNvPr>
          <p:cNvSpPr>
            <a:spLocks noGrp="1"/>
          </p:cNvSpPr>
          <p:nvPr>
            <p:ph type="title"/>
          </p:nvPr>
        </p:nvSpPr>
        <p:spPr>
          <a:xfrm>
            <a:off x="244549" y="365125"/>
            <a:ext cx="11109251" cy="708763"/>
          </a:xfrm>
        </p:spPr>
        <p:txBody>
          <a:bodyPr>
            <a:normAutofit fontScale="90000"/>
          </a:bodyPr>
          <a:lstStyle/>
          <a:p>
            <a:r>
              <a:rPr lang="en-US" b="1" dirty="0">
                <a:latin typeface="Garamond" panose="02020404030301010803" pitchFamily="18" charset="0"/>
              </a:rPr>
              <a:t>Over Coming Emotional Barriers</a:t>
            </a:r>
          </a:p>
        </p:txBody>
      </p:sp>
      <p:sp>
        <p:nvSpPr>
          <p:cNvPr id="3" name="Content Placeholder 2">
            <a:extLst>
              <a:ext uri="{FF2B5EF4-FFF2-40B4-BE49-F238E27FC236}">
                <a16:creationId xmlns:a16="http://schemas.microsoft.com/office/drawing/2014/main" xmlns="" id="{04621EFD-8E3E-4FA7-8D72-822EE5672F19}"/>
              </a:ext>
            </a:extLst>
          </p:cNvPr>
          <p:cNvSpPr>
            <a:spLocks noGrp="1"/>
          </p:cNvSpPr>
          <p:nvPr>
            <p:ph sz="quarter" idx="1"/>
          </p:nvPr>
        </p:nvSpPr>
        <p:spPr>
          <a:xfrm>
            <a:off x="244549" y="1254642"/>
            <a:ext cx="11791507" cy="5401339"/>
          </a:xfrm>
        </p:spPr>
        <p:txBody>
          <a:bodyPr>
            <a:normAutofit/>
          </a:bodyPr>
          <a:lstStyle/>
          <a:p>
            <a:r>
              <a:rPr lang="en-US" sz="3200" b="1" dirty="0">
                <a:latin typeface="Garamond" panose="02020404030301010803" pitchFamily="18" charset="0"/>
              </a:rPr>
              <a:t>When you’re feeling angry</a:t>
            </a:r>
            <a:r>
              <a:rPr lang="en-US" sz="3200" dirty="0">
                <a:latin typeface="Garamond" panose="02020404030301010803" pitchFamily="18" charset="0"/>
              </a:rPr>
              <a:t>: </a:t>
            </a:r>
          </a:p>
          <a:p>
            <a:pPr marL="0" indent="0">
              <a:buNone/>
            </a:pPr>
            <a:r>
              <a:rPr lang="en-US" sz="3200" dirty="0">
                <a:latin typeface="Garamond" panose="02020404030301010803" pitchFamily="18" charset="0"/>
              </a:rPr>
              <a:t>Remove yourself from the situation for a bit to give yourself time to “cool off.” Remember, while you’re still angry, you’ll likely have trouble processing logical statements. </a:t>
            </a:r>
          </a:p>
          <a:p>
            <a:pPr marL="0" indent="0">
              <a:buNone/>
            </a:pPr>
            <a:endParaRPr lang="en-US" sz="3200" dirty="0">
              <a:latin typeface="Garamond" panose="02020404030301010803" pitchFamily="18" charset="0"/>
            </a:endParaRPr>
          </a:p>
          <a:p>
            <a:pPr marL="0" indent="0">
              <a:buNone/>
            </a:pPr>
            <a:r>
              <a:rPr lang="en-US" sz="3200" dirty="0">
                <a:latin typeface="Garamond" panose="02020404030301010803" pitchFamily="18" charset="0"/>
              </a:rPr>
              <a:t>If you remove yourself long enough to calm yourself down and reassess, you’ll get a much clearer picture of what’s going on.</a:t>
            </a:r>
          </a:p>
          <a:p>
            <a:pPr marL="0" indent="0">
              <a:buNone/>
            </a:pPr>
            <a:endParaRPr lang="en-US" sz="3200" dirty="0">
              <a:latin typeface="Garamond" panose="02020404030301010803" pitchFamily="18" charset="0"/>
            </a:endParaRPr>
          </a:p>
          <a:p>
            <a:pPr marL="0" indent="0">
              <a:buNone/>
            </a:pPr>
            <a:r>
              <a:rPr lang="en-US" sz="3200" dirty="0">
                <a:latin typeface="Garamond" panose="02020404030301010803" pitchFamily="18" charset="0"/>
              </a:rPr>
              <a:t> When you come back, you’ll be able to communicate more clearly and make better decisions.</a:t>
            </a:r>
          </a:p>
          <a:p>
            <a:endParaRPr lang="en-US" sz="3200" dirty="0">
              <a:latin typeface="Garamond" panose="02020404030301010803" pitchFamily="18" charset="0"/>
            </a:endParaRPr>
          </a:p>
          <a:p>
            <a:endParaRPr lang="en-US" sz="3200" dirty="0">
              <a:latin typeface="Garamond" panose="02020404030301010803" pitchFamily="18" charset="0"/>
            </a:endParaRPr>
          </a:p>
        </p:txBody>
      </p:sp>
    </p:spTree>
    <p:extLst>
      <p:ext uri="{BB962C8B-B14F-4D97-AF65-F5344CB8AC3E}">
        <p14:creationId xmlns:p14="http://schemas.microsoft.com/office/powerpoint/2010/main" xmlns="" val="18323829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91D781-954D-449C-BCD9-973A67FAB3B1}"/>
              </a:ext>
            </a:extLst>
          </p:cNvPr>
          <p:cNvSpPr>
            <a:spLocks noGrp="1"/>
          </p:cNvSpPr>
          <p:nvPr>
            <p:ph type="title"/>
          </p:nvPr>
        </p:nvSpPr>
        <p:spPr>
          <a:xfrm>
            <a:off x="191385" y="311962"/>
            <a:ext cx="11387471" cy="751294"/>
          </a:xfrm>
        </p:spPr>
        <p:txBody>
          <a:bodyPr>
            <a:normAutofit/>
          </a:bodyPr>
          <a:lstStyle/>
          <a:p>
            <a:r>
              <a:rPr lang="en-US" b="1" dirty="0">
                <a:latin typeface="Garamond" panose="02020404030301010803" pitchFamily="18" charset="0"/>
              </a:rPr>
              <a:t>Over Coming Emotional Barriers</a:t>
            </a:r>
          </a:p>
        </p:txBody>
      </p:sp>
      <p:sp>
        <p:nvSpPr>
          <p:cNvPr id="3" name="Content Placeholder 2">
            <a:extLst>
              <a:ext uri="{FF2B5EF4-FFF2-40B4-BE49-F238E27FC236}">
                <a16:creationId xmlns:a16="http://schemas.microsoft.com/office/drawing/2014/main" xmlns="" id="{869181F3-CA98-488D-9925-BC7167DD6868}"/>
              </a:ext>
            </a:extLst>
          </p:cNvPr>
          <p:cNvSpPr>
            <a:spLocks noGrp="1"/>
          </p:cNvSpPr>
          <p:nvPr>
            <p:ph sz="quarter" idx="1"/>
          </p:nvPr>
        </p:nvSpPr>
        <p:spPr>
          <a:xfrm>
            <a:off x="191385" y="1063256"/>
            <a:ext cx="11876567" cy="5624623"/>
          </a:xfrm>
        </p:spPr>
        <p:txBody>
          <a:bodyPr/>
          <a:lstStyle/>
          <a:p>
            <a:r>
              <a:rPr lang="en-US" sz="2800" b="1" dirty="0">
                <a:latin typeface="Garamond" panose="02020404030301010803" pitchFamily="18" charset="0"/>
              </a:rPr>
              <a:t>When your pride is getting in the way</a:t>
            </a:r>
            <a:r>
              <a:rPr lang="en-US" sz="2800" dirty="0">
                <a:latin typeface="Garamond" panose="02020404030301010803" pitchFamily="18" charset="0"/>
              </a:rPr>
              <a:t>:</a:t>
            </a:r>
          </a:p>
          <a:p>
            <a:r>
              <a:rPr lang="en-US" sz="2800" dirty="0">
                <a:latin typeface="Garamond" panose="02020404030301010803" pitchFamily="18" charset="0"/>
              </a:rPr>
              <a:t> Practice accepting imperfections, especially in yourself. While people who are prideful can come across as “cocky” or “full of themselves,” in truth, pride usually stems from insecurity. </a:t>
            </a:r>
          </a:p>
          <a:p>
            <a:pPr marL="0" indent="0">
              <a:buNone/>
            </a:pPr>
            <a:endParaRPr lang="en-US" sz="2800" dirty="0">
              <a:latin typeface="Garamond" panose="02020404030301010803" pitchFamily="18" charset="0"/>
            </a:endParaRPr>
          </a:p>
          <a:p>
            <a:r>
              <a:rPr lang="en-US" sz="2800" dirty="0">
                <a:latin typeface="Garamond" panose="02020404030301010803" pitchFamily="18" charset="0"/>
              </a:rPr>
              <a:t>People overcompensate to try to cover emotional insecurities with a sense of superiority. </a:t>
            </a:r>
          </a:p>
          <a:p>
            <a:endParaRPr lang="en-US" sz="2800" dirty="0">
              <a:latin typeface="Garamond" panose="02020404030301010803" pitchFamily="18" charset="0"/>
            </a:endParaRPr>
          </a:p>
          <a:p>
            <a:r>
              <a:rPr lang="en-US" sz="2800" dirty="0">
                <a:latin typeface="Garamond" panose="02020404030301010803" pitchFamily="18" charset="0"/>
              </a:rPr>
              <a:t>Next time you realize that someone else has a better idea or you’ve made a mistake: openly accept it. Other people will find it much easier to communicate with you if you’re able to demonstrate humility from time to time.</a:t>
            </a:r>
          </a:p>
          <a:p>
            <a:endParaRPr lang="en-US" sz="2800" dirty="0">
              <a:latin typeface="Garamond" panose="02020404030301010803" pitchFamily="18" charset="0"/>
            </a:endParaRPr>
          </a:p>
          <a:p>
            <a:endParaRPr lang="en-US" dirty="0">
              <a:latin typeface="Garamond" panose="02020404030301010803" pitchFamily="18" charset="0"/>
            </a:endParaRPr>
          </a:p>
        </p:txBody>
      </p:sp>
    </p:spTree>
    <p:extLst>
      <p:ext uri="{BB962C8B-B14F-4D97-AF65-F5344CB8AC3E}">
        <p14:creationId xmlns:p14="http://schemas.microsoft.com/office/powerpoint/2010/main" xmlns="" val="36485769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76A651-1E0F-40AE-A660-F7E0E9DAF2BB}"/>
              </a:ext>
            </a:extLst>
          </p:cNvPr>
          <p:cNvSpPr>
            <a:spLocks noGrp="1"/>
          </p:cNvSpPr>
          <p:nvPr>
            <p:ph type="title"/>
          </p:nvPr>
        </p:nvSpPr>
        <p:spPr>
          <a:xfrm>
            <a:off x="276447" y="159489"/>
            <a:ext cx="11077353" cy="914399"/>
          </a:xfrm>
        </p:spPr>
        <p:txBody>
          <a:bodyPr>
            <a:normAutofit/>
          </a:bodyPr>
          <a:lstStyle/>
          <a:p>
            <a:r>
              <a:rPr lang="en-US" b="1" dirty="0">
                <a:latin typeface="Garamond" panose="02020404030301010803" pitchFamily="18" charset="0"/>
              </a:rPr>
              <a:t>Over Coming Emotional Barriers (Continued)</a:t>
            </a:r>
          </a:p>
        </p:txBody>
      </p:sp>
      <p:sp>
        <p:nvSpPr>
          <p:cNvPr id="3" name="Content Placeholder 2">
            <a:extLst>
              <a:ext uri="{FF2B5EF4-FFF2-40B4-BE49-F238E27FC236}">
                <a16:creationId xmlns:a16="http://schemas.microsoft.com/office/drawing/2014/main" xmlns="" id="{F0CC8B31-BFE2-4015-B1A5-D39785FFD326}"/>
              </a:ext>
            </a:extLst>
          </p:cNvPr>
          <p:cNvSpPr>
            <a:spLocks noGrp="1"/>
          </p:cNvSpPr>
          <p:nvPr>
            <p:ph sz="quarter" idx="1"/>
          </p:nvPr>
        </p:nvSpPr>
        <p:spPr>
          <a:xfrm>
            <a:off x="202019" y="1073888"/>
            <a:ext cx="11812772" cy="5624623"/>
          </a:xfrm>
        </p:spPr>
        <p:txBody>
          <a:bodyPr/>
          <a:lstStyle/>
          <a:p>
            <a:r>
              <a:rPr lang="en-US" sz="2800" b="1" dirty="0">
                <a:latin typeface="Garamond" panose="02020404030301010803" pitchFamily="18" charset="0"/>
              </a:rPr>
              <a:t>When you’re feeling anxious</a:t>
            </a:r>
            <a:r>
              <a:rPr lang="en-US" sz="2800" dirty="0">
                <a:latin typeface="Garamond" panose="02020404030301010803" pitchFamily="18" charset="0"/>
              </a:rPr>
              <a:t>: </a:t>
            </a:r>
          </a:p>
          <a:p>
            <a:endParaRPr lang="en-US" sz="2800" dirty="0">
              <a:latin typeface="Garamond" panose="02020404030301010803" pitchFamily="18" charset="0"/>
            </a:endParaRPr>
          </a:p>
          <a:p>
            <a:r>
              <a:rPr lang="en-US" sz="2800" dirty="0">
                <a:latin typeface="Garamond" panose="02020404030301010803" pitchFamily="18" charset="0"/>
              </a:rPr>
              <a:t>Sometimes, anxiety is small, like the kind you feel right before a big presentation.</a:t>
            </a:r>
          </a:p>
          <a:p>
            <a:endParaRPr lang="en-US" sz="2800" dirty="0">
              <a:latin typeface="Garamond" panose="02020404030301010803" pitchFamily="18" charset="0"/>
            </a:endParaRPr>
          </a:p>
          <a:p>
            <a:r>
              <a:rPr lang="en-US" sz="2800" dirty="0">
                <a:latin typeface="Garamond" panose="02020404030301010803" pitchFamily="18" charset="0"/>
              </a:rPr>
              <a:t> Simple relaxation techniques are likely enough to override this anxiety and get you up on stage feeling confident.</a:t>
            </a:r>
          </a:p>
          <a:p>
            <a:endParaRPr lang="en-US" sz="2800" dirty="0">
              <a:latin typeface="Garamond" panose="02020404030301010803" pitchFamily="18" charset="0"/>
            </a:endParaRPr>
          </a:p>
          <a:p>
            <a:r>
              <a:rPr lang="en-US" sz="2800" dirty="0">
                <a:latin typeface="Garamond" panose="02020404030301010803" pitchFamily="18" charset="0"/>
              </a:rPr>
              <a:t> Relaxation exercises are the simplest way for anyone to start better managing their anxiety.</a:t>
            </a:r>
          </a:p>
          <a:p>
            <a:r>
              <a:rPr lang="en-US" sz="2800" b="1" dirty="0">
                <a:latin typeface="Garamond" panose="02020404030301010803" pitchFamily="18" charset="0"/>
              </a:rPr>
              <a:t> Share your easy-to go- relaxation tip for removing anxiety  with class.</a:t>
            </a:r>
          </a:p>
          <a:p>
            <a:endParaRPr lang="en-US" dirty="0">
              <a:latin typeface="Garamond" panose="02020404030301010803" pitchFamily="18" charset="0"/>
            </a:endParaRPr>
          </a:p>
        </p:txBody>
      </p:sp>
    </p:spTree>
    <p:extLst>
      <p:ext uri="{BB962C8B-B14F-4D97-AF65-F5344CB8AC3E}">
        <p14:creationId xmlns:p14="http://schemas.microsoft.com/office/powerpoint/2010/main" xmlns="" val="22522336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E8030F-84D4-4CC8-AF21-4E592BDEA5CA}"/>
              </a:ext>
            </a:extLst>
          </p:cNvPr>
          <p:cNvSpPr>
            <a:spLocks noGrp="1"/>
          </p:cNvSpPr>
          <p:nvPr>
            <p:ph type="title"/>
          </p:nvPr>
        </p:nvSpPr>
        <p:spPr>
          <a:xfrm>
            <a:off x="318977" y="202017"/>
            <a:ext cx="11034823" cy="839973"/>
          </a:xfrm>
        </p:spPr>
        <p:txBody>
          <a:bodyPr>
            <a:normAutofit/>
          </a:bodyPr>
          <a:lstStyle/>
          <a:p>
            <a:r>
              <a:rPr lang="en-US" b="1" dirty="0">
                <a:latin typeface="Garamond" panose="02020404030301010803" pitchFamily="18" charset="0"/>
              </a:rPr>
              <a:t>Gender Barriers</a:t>
            </a:r>
          </a:p>
        </p:txBody>
      </p:sp>
      <p:sp>
        <p:nvSpPr>
          <p:cNvPr id="3" name="Content Placeholder 2">
            <a:extLst>
              <a:ext uri="{FF2B5EF4-FFF2-40B4-BE49-F238E27FC236}">
                <a16:creationId xmlns:a16="http://schemas.microsoft.com/office/drawing/2014/main" xmlns="" id="{E235206E-C7C9-4BE8-A772-3C1D208D6FCA}"/>
              </a:ext>
            </a:extLst>
          </p:cNvPr>
          <p:cNvSpPr>
            <a:spLocks noGrp="1"/>
          </p:cNvSpPr>
          <p:nvPr>
            <p:ph sz="quarter" idx="1"/>
          </p:nvPr>
        </p:nvSpPr>
        <p:spPr>
          <a:xfrm>
            <a:off x="223283" y="1116420"/>
            <a:ext cx="11727711" cy="5539562"/>
          </a:xfrm>
        </p:spPr>
        <p:txBody>
          <a:bodyPr>
            <a:noAutofit/>
          </a:bodyPr>
          <a:lstStyle/>
          <a:p>
            <a:r>
              <a:rPr lang="en-US" sz="2800" dirty="0">
                <a:latin typeface="Garamond" panose="02020404030301010803" pitchFamily="18" charset="0"/>
              </a:rPr>
              <a:t>Gender barriers talks about stereotypical images individual carries about each gender .</a:t>
            </a:r>
          </a:p>
          <a:p>
            <a:pPr marL="0" indent="0">
              <a:buNone/>
            </a:pPr>
            <a:endParaRPr lang="en-US" sz="2800" dirty="0">
              <a:latin typeface="Garamond" panose="02020404030301010803" pitchFamily="18" charset="0"/>
            </a:endParaRPr>
          </a:p>
          <a:p>
            <a:r>
              <a:rPr lang="en-US" sz="2800" dirty="0">
                <a:latin typeface="Garamond" panose="02020404030301010803" pitchFamily="18" charset="0"/>
              </a:rPr>
              <a:t>Gender barriers are social constructions  related to gender stereotypes and the ways in which men and women are taught to behave as children.</a:t>
            </a:r>
          </a:p>
          <a:p>
            <a:endParaRPr lang="en-US" sz="2800" dirty="0">
              <a:latin typeface="Garamond" panose="02020404030301010803" pitchFamily="18" charset="0"/>
            </a:endParaRPr>
          </a:p>
          <a:p>
            <a:r>
              <a:rPr lang="en-US" sz="2800" dirty="0">
                <a:latin typeface="Garamond" panose="02020404030301010803" pitchFamily="18" charset="0"/>
              </a:rPr>
              <a:t>Although not all men or all women communicate the same way as the rest of their gender, several traits that tend to be more common in one gender or the other have been identified. Understanding these tendencies is key in creating an environment that fosters open communication among all people.</a:t>
            </a:r>
          </a:p>
        </p:txBody>
      </p:sp>
    </p:spTree>
    <p:extLst>
      <p:ext uri="{BB962C8B-B14F-4D97-AF65-F5344CB8AC3E}">
        <p14:creationId xmlns:p14="http://schemas.microsoft.com/office/powerpoint/2010/main" xmlns="" val="7743151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E4ED1F-56BC-49F6-A681-6BEBD6E20911}"/>
              </a:ext>
            </a:extLst>
          </p:cNvPr>
          <p:cNvSpPr>
            <a:spLocks noGrp="1"/>
          </p:cNvSpPr>
          <p:nvPr>
            <p:ph type="title"/>
          </p:nvPr>
        </p:nvSpPr>
        <p:spPr>
          <a:xfrm>
            <a:off x="350874" y="365126"/>
            <a:ext cx="11002926" cy="878884"/>
          </a:xfrm>
        </p:spPr>
        <p:txBody>
          <a:bodyPr/>
          <a:lstStyle/>
          <a:p>
            <a:r>
              <a:rPr lang="en-US" b="1" dirty="0">
                <a:latin typeface="Garamond" panose="02020404030301010803" pitchFamily="18" charset="0"/>
              </a:rPr>
              <a:t>What Causes Gender barriers to develop </a:t>
            </a:r>
          </a:p>
        </p:txBody>
      </p:sp>
      <p:sp>
        <p:nvSpPr>
          <p:cNvPr id="3" name="Content Placeholder 2">
            <a:extLst>
              <a:ext uri="{FF2B5EF4-FFF2-40B4-BE49-F238E27FC236}">
                <a16:creationId xmlns:a16="http://schemas.microsoft.com/office/drawing/2014/main" xmlns="" id="{D2D1A0A6-DA3C-4169-9617-C3DCC81603B1}"/>
              </a:ext>
            </a:extLst>
          </p:cNvPr>
          <p:cNvSpPr>
            <a:spLocks noGrp="1"/>
          </p:cNvSpPr>
          <p:nvPr>
            <p:ph sz="quarter" idx="1"/>
          </p:nvPr>
        </p:nvSpPr>
        <p:spPr>
          <a:xfrm>
            <a:off x="202019" y="1403498"/>
            <a:ext cx="11770241" cy="5273749"/>
          </a:xfrm>
        </p:spPr>
        <p:txBody>
          <a:bodyPr/>
          <a:lstStyle/>
          <a:p>
            <a:r>
              <a:rPr lang="en-US" sz="3200" b="1" dirty="0">
                <a:latin typeface="Garamond" panose="02020404030301010803" pitchFamily="18" charset="0"/>
              </a:rPr>
              <a:t>Structural barriers</a:t>
            </a:r>
          </a:p>
          <a:p>
            <a:pPr marL="0" indent="0">
              <a:buNone/>
            </a:pPr>
            <a:r>
              <a:rPr lang="en-US" sz="3200" b="1" dirty="0">
                <a:latin typeface="Garamond" panose="02020404030301010803" pitchFamily="18" charset="0"/>
              </a:rPr>
              <a:t> </a:t>
            </a:r>
            <a:r>
              <a:rPr lang="en-US" sz="3200" dirty="0">
                <a:latin typeface="Garamond" panose="02020404030301010803" pitchFamily="18" charset="0"/>
              </a:rPr>
              <a:t>Include lack of access to important informal networks, such as the golf course, sporting events or simple after-work meet-ups.(Varies as per context, culture and country)</a:t>
            </a:r>
          </a:p>
          <a:p>
            <a:pPr marL="0" indent="0">
              <a:buNone/>
            </a:pPr>
            <a:endParaRPr lang="en-US" sz="3200" dirty="0">
              <a:latin typeface="Garamond" panose="02020404030301010803" pitchFamily="18" charset="0"/>
            </a:endParaRPr>
          </a:p>
          <a:p>
            <a:pPr marL="0" indent="0">
              <a:buNone/>
            </a:pPr>
            <a:r>
              <a:rPr lang="en-US" sz="3200" dirty="0">
                <a:latin typeface="Garamond" panose="02020404030301010803" pitchFamily="18" charset="0"/>
              </a:rPr>
              <a:t> Often, men assume that women don’t want to take part in these types of events, so they don’t invite them.</a:t>
            </a:r>
          </a:p>
          <a:p>
            <a:endParaRPr lang="en-US" sz="3200" dirty="0">
              <a:latin typeface="Garamond" panose="02020404030301010803" pitchFamily="18" charset="0"/>
            </a:endParaRPr>
          </a:p>
          <a:p>
            <a:endParaRPr lang="en-US" dirty="0">
              <a:latin typeface="Garamond" panose="02020404030301010803" pitchFamily="18" charset="0"/>
            </a:endParaRPr>
          </a:p>
        </p:txBody>
      </p:sp>
    </p:spTree>
    <p:extLst>
      <p:ext uri="{BB962C8B-B14F-4D97-AF65-F5344CB8AC3E}">
        <p14:creationId xmlns:p14="http://schemas.microsoft.com/office/powerpoint/2010/main" xmlns="" val="35932413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93042A-1802-4E08-BB70-1154AF57D3C8}"/>
              </a:ext>
            </a:extLst>
          </p:cNvPr>
          <p:cNvSpPr>
            <a:spLocks noGrp="1"/>
          </p:cNvSpPr>
          <p:nvPr>
            <p:ph type="title"/>
          </p:nvPr>
        </p:nvSpPr>
        <p:spPr>
          <a:xfrm>
            <a:off x="255181" y="191385"/>
            <a:ext cx="11759610" cy="861237"/>
          </a:xfrm>
        </p:spPr>
        <p:txBody>
          <a:bodyPr>
            <a:normAutofit/>
          </a:bodyPr>
          <a:lstStyle/>
          <a:p>
            <a:r>
              <a:rPr lang="en-US" b="1" dirty="0">
                <a:solidFill>
                  <a:prstClr val="black"/>
                </a:solidFill>
                <a:latin typeface="Garamond" panose="02020404030301010803" pitchFamily="18" charset="0"/>
              </a:rPr>
              <a:t>What Causes Gender barriers to develop(Continued)</a:t>
            </a:r>
            <a:endParaRPr lang="en-US" b="1" dirty="0"/>
          </a:p>
        </p:txBody>
      </p:sp>
      <p:sp>
        <p:nvSpPr>
          <p:cNvPr id="3" name="Content Placeholder 2">
            <a:extLst>
              <a:ext uri="{FF2B5EF4-FFF2-40B4-BE49-F238E27FC236}">
                <a16:creationId xmlns:a16="http://schemas.microsoft.com/office/drawing/2014/main" xmlns="" id="{0D2C092A-E195-4F6E-980B-7535AA08C867}"/>
              </a:ext>
            </a:extLst>
          </p:cNvPr>
          <p:cNvSpPr>
            <a:spLocks noGrp="1"/>
          </p:cNvSpPr>
          <p:nvPr>
            <p:ph sz="quarter" idx="1"/>
          </p:nvPr>
        </p:nvSpPr>
        <p:spPr>
          <a:xfrm>
            <a:off x="170121" y="1052623"/>
            <a:ext cx="11844670" cy="5613992"/>
          </a:xfrm>
        </p:spPr>
        <p:txBody>
          <a:bodyPr>
            <a:normAutofit fontScale="92500" lnSpcReduction="20000"/>
          </a:bodyPr>
          <a:lstStyle/>
          <a:p>
            <a:r>
              <a:rPr lang="en-US" sz="3200" dirty="0">
                <a:latin typeface="Garamond" panose="02020404030301010803" pitchFamily="18" charset="0"/>
              </a:rPr>
              <a:t>Golf has been the standard means of building client relationships for decades and still is today in many industries.</a:t>
            </a:r>
          </a:p>
          <a:p>
            <a:endParaRPr lang="en-US" sz="3200" dirty="0">
              <a:latin typeface="Garamond" panose="02020404030301010803" pitchFamily="18" charset="0"/>
            </a:endParaRPr>
          </a:p>
          <a:p>
            <a:r>
              <a:rPr lang="en-US" sz="3200" dirty="0">
                <a:latin typeface="Garamond" panose="02020404030301010803" pitchFamily="18" charset="0"/>
              </a:rPr>
              <a:t> Even though many women now play golf, this practice is still a predominantly male bastion.</a:t>
            </a:r>
          </a:p>
          <a:p>
            <a:endParaRPr lang="en-US" sz="3200" dirty="0">
              <a:latin typeface="Garamond" panose="02020404030301010803" pitchFamily="18" charset="0"/>
            </a:endParaRPr>
          </a:p>
          <a:p>
            <a:pPr marL="0" indent="0">
              <a:buNone/>
            </a:pPr>
            <a:r>
              <a:rPr lang="en-US" sz="3200" dirty="0">
                <a:latin typeface="Garamond" panose="02020404030301010803" pitchFamily="18" charset="0"/>
              </a:rPr>
              <a:t>We must be more inclusive with our networks and social events. </a:t>
            </a:r>
          </a:p>
          <a:p>
            <a:pPr marL="0" indent="0">
              <a:buNone/>
            </a:pPr>
            <a:endParaRPr lang="en-US" sz="3200" dirty="0">
              <a:latin typeface="Garamond" panose="02020404030301010803" pitchFamily="18" charset="0"/>
            </a:endParaRPr>
          </a:p>
          <a:p>
            <a:pPr marL="0" indent="0">
              <a:buNone/>
            </a:pPr>
            <a:r>
              <a:rPr lang="en-US" sz="3200" dirty="0">
                <a:latin typeface="Garamond" panose="02020404030301010803" pitchFamily="18" charset="0"/>
              </a:rPr>
              <a:t>At work place both genders should have  diverse groups interact.</a:t>
            </a:r>
          </a:p>
          <a:p>
            <a:pPr marL="0" indent="0">
              <a:buNone/>
            </a:pPr>
            <a:endParaRPr lang="en-US" sz="3200" dirty="0">
              <a:latin typeface="Garamond" panose="02020404030301010803" pitchFamily="18" charset="0"/>
            </a:endParaRPr>
          </a:p>
          <a:p>
            <a:pPr marL="0" indent="0">
              <a:buNone/>
            </a:pPr>
            <a:r>
              <a:rPr lang="en-US" sz="3200" dirty="0">
                <a:latin typeface="Garamond" panose="02020404030301010803" pitchFamily="18" charset="0"/>
              </a:rPr>
              <a:t> It is the best way to fully leverage talent and remain competitive in your industry.</a:t>
            </a:r>
          </a:p>
          <a:p>
            <a:endParaRPr lang="en-US" dirty="0">
              <a:latin typeface="Garamond" panose="02020404030301010803" pitchFamily="18" charset="0"/>
            </a:endParaRPr>
          </a:p>
          <a:p>
            <a:endParaRPr lang="en-US" dirty="0">
              <a:latin typeface="Garamond" panose="02020404030301010803" pitchFamily="18" charset="0"/>
            </a:endParaRPr>
          </a:p>
        </p:txBody>
      </p:sp>
    </p:spTree>
    <p:extLst>
      <p:ext uri="{BB962C8B-B14F-4D97-AF65-F5344CB8AC3E}">
        <p14:creationId xmlns:p14="http://schemas.microsoft.com/office/powerpoint/2010/main" xmlns="" val="32723690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2E7EDD-3308-4B60-9B07-521BC41BB78D}"/>
              </a:ext>
            </a:extLst>
          </p:cNvPr>
          <p:cNvSpPr>
            <a:spLocks noGrp="1"/>
          </p:cNvSpPr>
          <p:nvPr>
            <p:ph type="title"/>
          </p:nvPr>
        </p:nvSpPr>
        <p:spPr>
          <a:xfrm>
            <a:off x="212651" y="191385"/>
            <a:ext cx="11738344" cy="946299"/>
          </a:xfrm>
        </p:spPr>
        <p:txBody>
          <a:bodyPr>
            <a:normAutofit/>
          </a:bodyPr>
          <a:lstStyle/>
          <a:p>
            <a:r>
              <a:rPr lang="en-US" b="1" dirty="0">
                <a:solidFill>
                  <a:prstClr val="black"/>
                </a:solidFill>
                <a:latin typeface="Garamond" panose="02020404030301010803" pitchFamily="18" charset="0"/>
              </a:rPr>
              <a:t>What Causes Gender barriers to develop(Continued)</a:t>
            </a:r>
            <a:endParaRPr lang="en-US" b="1" dirty="0"/>
          </a:p>
        </p:txBody>
      </p:sp>
      <p:sp>
        <p:nvSpPr>
          <p:cNvPr id="3" name="Content Placeholder 2">
            <a:extLst>
              <a:ext uri="{FF2B5EF4-FFF2-40B4-BE49-F238E27FC236}">
                <a16:creationId xmlns:a16="http://schemas.microsoft.com/office/drawing/2014/main" xmlns="" id="{EFA5B19A-2DF6-4E43-AEEC-1ACF6A7C69D8}"/>
              </a:ext>
            </a:extLst>
          </p:cNvPr>
          <p:cNvSpPr>
            <a:spLocks noGrp="1"/>
          </p:cNvSpPr>
          <p:nvPr>
            <p:ph sz="quarter" idx="1"/>
          </p:nvPr>
        </p:nvSpPr>
        <p:spPr>
          <a:xfrm>
            <a:off x="212651" y="1371600"/>
            <a:ext cx="11738344" cy="5295015"/>
          </a:xfrm>
        </p:spPr>
        <p:txBody>
          <a:bodyPr>
            <a:normAutofit/>
          </a:bodyPr>
          <a:lstStyle/>
          <a:p>
            <a:r>
              <a:rPr lang="en-US" sz="4000" dirty="0">
                <a:latin typeface="Garamond" panose="02020404030301010803" pitchFamily="18" charset="0"/>
              </a:rPr>
              <a:t>Institutional mindsets, work place policies, individual mindsets and life style choices also shape gender barriers.</a:t>
            </a:r>
          </a:p>
          <a:p>
            <a:endParaRPr lang="en-US" sz="4000" dirty="0">
              <a:latin typeface="Garamond" panose="02020404030301010803" pitchFamily="18" charset="0"/>
            </a:endParaRPr>
          </a:p>
          <a:p>
            <a:r>
              <a:rPr lang="en-US" sz="4000" dirty="0">
                <a:latin typeface="Garamond" panose="02020404030301010803" pitchFamily="18" charset="0"/>
              </a:rPr>
              <a:t>How would you justify the above statement by providing an example?</a:t>
            </a:r>
          </a:p>
        </p:txBody>
      </p:sp>
    </p:spTree>
    <p:extLst>
      <p:ext uri="{BB962C8B-B14F-4D97-AF65-F5344CB8AC3E}">
        <p14:creationId xmlns:p14="http://schemas.microsoft.com/office/powerpoint/2010/main" xmlns="" val="17141047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70181DB-BA5C-4835-818B-32E189D12654}"/>
              </a:ext>
            </a:extLst>
          </p:cNvPr>
          <p:cNvSpPr>
            <a:spLocks noGrp="1"/>
          </p:cNvSpPr>
          <p:nvPr>
            <p:ph type="title"/>
          </p:nvPr>
        </p:nvSpPr>
        <p:spPr>
          <a:xfrm>
            <a:off x="372140" y="365125"/>
            <a:ext cx="10981660" cy="708763"/>
          </a:xfrm>
        </p:spPr>
        <p:txBody>
          <a:bodyPr>
            <a:normAutofit fontScale="90000"/>
          </a:bodyPr>
          <a:lstStyle/>
          <a:p>
            <a:r>
              <a:rPr lang="en-US" b="1" dirty="0">
                <a:latin typeface="Garamond" panose="02020404030301010803" pitchFamily="18" charset="0"/>
              </a:rPr>
              <a:t>How to overcome Gender Barriers</a:t>
            </a:r>
          </a:p>
        </p:txBody>
      </p:sp>
      <p:sp>
        <p:nvSpPr>
          <p:cNvPr id="3" name="Content Placeholder 2">
            <a:extLst>
              <a:ext uri="{FF2B5EF4-FFF2-40B4-BE49-F238E27FC236}">
                <a16:creationId xmlns:a16="http://schemas.microsoft.com/office/drawing/2014/main" xmlns="" id="{37100586-7F45-46D3-8BC7-36B710936CEB}"/>
              </a:ext>
            </a:extLst>
          </p:cNvPr>
          <p:cNvSpPr>
            <a:spLocks noGrp="1"/>
          </p:cNvSpPr>
          <p:nvPr>
            <p:ph sz="quarter" idx="1"/>
          </p:nvPr>
        </p:nvSpPr>
        <p:spPr>
          <a:xfrm>
            <a:off x="233915" y="1286540"/>
            <a:ext cx="11791507" cy="5369441"/>
          </a:xfrm>
        </p:spPr>
        <p:txBody>
          <a:bodyPr/>
          <a:lstStyle/>
          <a:p>
            <a:r>
              <a:rPr lang="en-US" dirty="0"/>
              <a:t> </a:t>
            </a:r>
            <a:r>
              <a:rPr lang="en-US" sz="3200" dirty="0">
                <a:latin typeface="Garamond" panose="02020404030301010803" pitchFamily="18" charset="0"/>
              </a:rPr>
              <a:t>Teach people about what is NOT harassment. </a:t>
            </a:r>
          </a:p>
          <a:p>
            <a:pPr marL="0" indent="0">
              <a:buNone/>
            </a:pPr>
            <a:endParaRPr lang="en-US" sz="3200" dirty="0">
              <a:latin typeface="Garamond" panose="02020404030301010803" pitchFamily="18" charset="0"/>
            </a:endParaRPr>
          </a:p>
          <a:p>
            <a:r>
              <a:rPr lang="en-US" sz="3200" dirty="0">
                <a:latin typeface="Garamond" panose="02020404030301010803" pitchFamily="18" charset="0"/>
              </a:rPr>
              <a:t>Obviously, it’s critical to teach employees about what behaviors could be perceived as harassing, but it’s equally important that they understand what behaviors are not considered harassment.</a:t>
            </a:r>
          </a:p>
          <a:p>
            <a:endParaRPr lang="en-US" sz="3200" dirty="0">
              <a:latin typeface="Garamond" panose="02020404030301010803" pitchFamily="18" charset="0"/>
            </a:endParaRPr>
          </a:p>
          <a:p>
            <a:r>
              <a:rPr lang="en-US" sz="3200" dirty="0">
                <a:latin typeface="Garamond" panose="02020404030301010803" pitchFamily="18" charset="0"/>
              </a:rPr>
              <a:t>  </a:t>
            </a:r>
            <a:r>
              <a:rPr lang="en-US" sz="3200" b="1" dirty="0">
                <a:latin typeface="Garamond" panose="02020404030301010803" pitchFamily="18" charset="0"/>
              </a:rPr>
              <a:t>Emphasize inclusion of the opposite gender</a:t>
            </a:r>
            <a:r>
              <a:rPr lang="en-US" sz="3200" dirty="0">
                <a:latin typeface="Garamond" panose="02020404030301010803" pitchFamily="18" charset="0"/>
              </a:rPr>
              <a:t>, not exclusion. </a:t>
            </a:r>
          </a:p>
          <a:p>
            <a:endParaRPr lang="en-US" dirty="0"/>
          </a:p>
        </p:txBody>
      </p:sp>
    </p:spTree>
    <p:extLst>
      <p:ext uri="{BB962C8B-B14F-4D97-AF65-F5344CB8AC3E}">
        <p14:creationId xmlns:p14="http://schemas.microsoft.com/office/powerpoint/2010/main" xmlns="" val="17793896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2432BD-6AF3-48F5-878C-EC2AFFBDAF85}"/>
              </a:ext>
            </a:extLst>
          </p:cNvPr>
          <p:cNvSpPr>
            <a:spLocks noGrp="1"/>
          </p:cNvSpPr>
          <p:nvPr>
            <p:ph type="title"/>
          </p:nvPr>
        </p:nvSpPr>
        <p:spPr>
          <a:xfrm>
            <a:off x="202019" y="365126"/>
            <a:ext cx="11151781" cy="644968"/>
          </a:xfrm>
        </p:spPr>
        <p:txBody>
          <a:bodyPr>
            <a:normAutofit fontScale="90000"/>
          </a:bodyPr>
          <a:lstStyle/>
          <a:p>
            <a:r>
              <a:rPr lang="en-US" b="1" dirty="0">
                <a:latin typeface="Garamond" panose="02020404030301010803" pitchFamily="18" charset="0"/>
              </a:rPr>
              <a:t>At Work Place</a:t>
            </a:r>
          </a:p>
        </p:txBody>
      </p:sp>
      <p:sp>
        <p:nvSpPr>
          <p:cNvPr id="3" name="Content Placeholder 2">
            <a:extLst>
              <a:ext uri="{FF2B5EF4-FFF2-40B4-BE49-F238E27FC236}">
                <a16:creationId xmlns:a16="http://schemas.microsoft.com/office/drawing/2014/main" xmlns="" id="{04FA983B-9E1A-47A7-952C-950F314790DA}"/>
              </a:ext>
            </a:extLst>
          </p:cNvPr>
          <p:cNvSpPr>
            <a:spLocks noGrp="1"/>
          </p:cNvSpPr>
          <p:nvPr>
            <p:ph sz="quarter" idx="1"/>
          </p:nvPr>
        </p:nvSpPr>
        <p:spPr>
          <a:xfrm>
            <a:off x="202019" y="1233378"/>
            <a:ext cx="11791507" cy="5497032"/>
          </a:xfrm>
        </p:spPr>
        <p:txBody>
          <a:bodyPr/>
          <a:lstStyle/>
          <a:p>
            <a:r>
              <a:rPr lang="en-US" sz="3200" dirty="0">
                <a:latin typeface="Garamond" panose="02020404030301010803" pitchFamily="18" charset="0"/>
              </a:rPr>
              <a:t>Avoiding opposite-gender employees is not the solution to eradicating  harassment from our workplaces.</a:t>
            </a:r>
          </a:p>
          <a:p>
            <a:endParaRPr lang="en-US" sz="3200" dirty="0">
              <a:latin typeface="Garamond" panose="02020404030301010803" pitchFamily="18" charset="0"/>
            </a:endParaRPr>
          </a:p>
          <a:p>
            <a:r>
              <a:rPr lang="en-US" sz="3200" dirty="0">
                <a:latin typeface="Garamond" panose="02020404030301010803" pitchFamily="18" charset="0"/>
              </a:rPr>
              <a:t> We need to teach employees the importance of including all workers in their social circles.</a:t>
            </a:r>
          </a:p>
          <a:p>
            <a:r>
              <a:rPr lang="en-US" sz="3200" dirty="0">
                <a:latin typeface="Garamond" panose="02020404030301010803" pitchFamily="18" charset="0"/>
              </a:rPr>
              <a:t> If employees are encouraged to invite opposite gender employees to lunch, dinner or coffee, these outings won’t seem as suspicious or unusual. (Vary context to context)</a:t>
            </a:r>
          </a:p>
          <a:p>
            <a:endParaRPr lang="en-US" dirty="0"/>
          </a:p>
        </p:txBody>
      </p:sp>
    </p:spTree>
    <p:extLst>
      <p:ext uri="{BB962C8B-B14F-4D97-AF65-F5344CB8AC3E}">
        <p14:creationId xmlns:p14="http://schemas.microsoft.com/office/powerpoint/2010/main" xmlns="" val="39627935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1097B5-C2A7-4DA4-9B69-A4AB07227DC5}"/>
              </a:ext>
            </a:extLst>
          </p:cNvPr>
          <p:cNvSpPr>
            <a:spLocks noGrp="1"/>
          </p:cNvSpPr>
          <p:nvPr>
            <p:ph type="title"/>
          </p:nvPr>
        </p:nvSpPr>
        <p:spPr>
          <a:xfrm>
            <a:off x="329609" y="365125"/>
            <a:ext cx="11024191" cy="740661"/>
          </a:xfrm>
        </p:spPr>
        <p:txBody>
          <a:bodyPr>
            <a:normAutofit fontScale="90000"/>
          </a:bodyPr>
          <a:lstStyle/>
          <a:p>
            <a:r>
              <a:rPr lang="en-US" b="1" dirty="0">
                <a:latin typeface="Garamond" panose="02020404030301010803" pitchFamily="18" charset="0"/>
              </a:rPr>
              <a:t>Teach People around you to:</a:t>
            </a:r>
          </a:p>
        </p:txBody>
      </p:sp>
      <p:sp>
        <p:nvSpPr>
          <p:cNvPr id="3" name="Content Placeholder 2">
            <a:extLst>
              <a:ext uri="{FF2B5EF4-FFF2-40B4-BE49-F238E27FC236}">
                <a16:creationId xmlns:a16="http://schemas.microsoft.com/office/drawing/2014/main" xmlns="" id="{D6E5EBCD-27D0-4A68-90E2-9519F5632FE7}"/>
              </a:ext>
            </a:extLst>
          </p:cNvPr>
          <p:cNvSpPr>
            <a:spLocks noGrp="1"/>
          </p:cNvSpPr>
          <p:nvPr>
            <p:ph sz="quarter" idx="1"/>
          </p:nvPr>
        </p:nvSpPr>
        <p:spPr>
          <a:xfrm>
            <a:off x="223283" y="1307805"/>
            <a:ext cx="11727711" cy="5422604"/>
          </a:xfrm>
        </p:spPr>
        <p:txBody>
          <a:bodyPr/>
          <a:lstStyle/>
          <a:p>
            <a:r>
              <a:rPr lang="en-US" sz="3600" b="1" dirty="0">
                <a:latin typeface="Garamond" panose="02020404030301010803" pitchFamily="18" charset="0"/>
              </a:rPr>
              <a:t>Educate your kids, students about gender and gender bias.</a:t>
            </a:r>
          </a:p>
          <a:p>
            <a:r>
              <a:rPr lang="en-US" sz="3600" dirty="0">
                <a:latin typeface="Garamond" panose="02020404030301010803" pitchFamily="18" charset="0"/>
              </a:rPr>
              <a:t> People often struggle to identify their own biases and areas of ignorance, but when people are made aware of them, it creates the possibility for positive change. </a:t>
            </a:r>
          </a:p>
          <a:p>
            <a:endParaRPr lang="en-US" sz="3600" dirty="0">
              <a:latin typeface="Garamond" panose="02020404030301010803" pitchFamily="18" charset="0"/>
            </a:endParaRPr>
          </a:p>
          <a:p>
            <a:r>
              <a:rPr lang="en-US" sz="3600" dirty="0">
                <a:latin typeface="Garamond" panose="02020404030301010803" pitchFamily="18" charset="0"/>
              </a:rPr>
              <a:t>Most people, given information that shows how they’ve treated another person unfairly, will want to do what they can to correct their behavior.</a:t>
            </a:r>
          </a:p>
          <a:p>
            <a:endParaRPr lang="en-US" sz="3600" dirty="0">
              <a:latin typeface="Garamond" panose="02020404030301010803" pitchFamily="18" charset="0"/>
            </a:endParaRPr>
          </a:p>
          <a:p>
            <a:endParaRPr lang="en-US" dirty="0">
              <a:latin typeface="Garamond" panose="02020404030301010803" pitchFamily="18" charset="0"/>
            </a:endParaRPr>
          </a:p>
          <a:p>
            <a:endParaRPr lang="en-US" dirty="0">
              <a:latin typeface="Garamond" panose="02020404030301010803" pitchFamily="18" charset="0"/>
            </a:endParaRPr>
          </a:p>
        </p:txBody>
      </p:sp>
    </p:spTree>
    <p:extLst>
      <p:ext uri="{BB962C8B-B14F-4D97-AF65-F5344CB8AC3E}">
        <p14:creationId xmlns:p14="http://schemas.microsoft.com/office/powerpoint/2010/main" xmlns="" val="6505762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C912E6-CC2D-4DC6-B24C-1D4FF68F867A}"/>
              </a:ext>
            </a:extLst>
          </p:cNvPr>
          <p:cNvSpPr>
            <a:spLocks noGrp="1"/>
          </p:cNvSpPr>
          <p:nvPr>
            <p:ph type="title"/>
          </p:nvPr>
        </p:nvSpPr>
        <p:spPr>
          <a:xfrm>
            <a:off x="191386" y="365125"/>
            <a:ext cx="11162414" cy="623703"/>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C8D22AE4-1F88-4AA6-8173-945896DC0373}"/>
              </a:ext>
            </a:extLst>
          </p:cNvPr>
          <p:cNvSpPr>
            <a:spLocks noGrp="1"/>
          </p:cNvSpPr>
          <p:nvPr>
            <p:ph sz="quarter" idx="1"/>
          </p:nvPr>
        </p:nvSpPr>
        <p:spPr>
          <a:xfrm>
            <a:off x="191386" y="1158949"/>
            <a:ext cx="11887200" cy="5560828"/>
          </a:xfrm>
        </p:spPr>
        <p:txBody>
          <a:bodyPr/>
          <a:lstStyle/>
          <a:p>
            <a:r>
              <a:rPr lang="en-US" sz="3200" b="1" dirty="0">
                <a:latin typeface="Garamond" panose="02020404030301010803" pitchFamily="18" charset="0"/>
              </a:rPr>
              <a:t>Encourage diversity. </a:t>
            </a:r>
          </a:p>
          <a:p>
            <a:r>
              <a:rPr lang="en-US" sz="3200" dirty="0">
                <a:latin typeface="Garamond" panose="02020404030301010803" pitchFamily="18" charset="0"/>
              </a:rPr>
              <a:t>If you’re sitting in a conference room discussing how a new policy/process will affect your entire company and only men are present, chances are you could be missing out on ramifications that unfairly affect other genders. </a:t>
            </a:r>
          </a:p>
          <a:p>
            <a:endParaRPr lang="en-US" sz="3200" dirty="0">
              <a:latin typeface="Garamond" panose="02020404030301010803" pitchFamily="18" charset="0"/>
            </a:endParaRPr>
          </a:p>
          <a:p>
            <a:r>
              <a:rPr lang="en-US" sz="3200" dirty="0">
                <a:latin typeface="Garamond" panose="02020404030301010803" pitchFamily="18" charset="0"/>
              </a:rPr>
              <a:t>Include people of different genders, races, backgrounds, etc., so that decisions can be made in light of how they will affect everyone at your company, and not just one group or gender.</a:t>
            </a:r>
          </a:p>
          <a:p>
            <a:endParaRPr lang="en-US" dirty="0"/>
          </a:p>
          <a:p>
            <a:endParaRPr lang="en-US" dirty="0"/>
          </a:p>
        </p:txBody>
      </p:sp>
    </p:spTree>
    <p:extLst>
      <p:ext uri="{BB962C8B-B14F-4D97-AF65-F5344CB8AC3E}">
        <p14:creationId xmlns:p14="http://schemas.microsoft.com/office/powerpoint/2010/main" xmlns="" val="15015614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99318D13-1B8D-4AE4-9E4E-BBBDEB2A4840}"/>
              </a:ext>
            </a:extLst>
          </p:cNvPr>
          <p:cNvSpPr>
            <a:spLocks noGrp="1"/>
          </p:cNvSpPr>
          <p:nvPr>
            <p:ph type="title"/>
          </p:nvPr>
        </p:nvSpPr>
        <p:spPr>
          <a:xfrm>
            <a:off x="965791" y="2766222"/>
            <a:ext cx="10515600" cy="1325563"/>
          </a:xfrm>
        </p:spPr>
        <p:txBody>
          <a:bodyPr>
            <a:normAutofit/>
          </a:bodyPr>
          <a:lstStyle/>
          <a:p>
            <a:pPr algn="ctr"/>
            <a:r>
              <a:rPr lang="en-US" sz="4800" b="1"/>
              <a:t>Time for Questions and Queries!</a:t>
            </a:r>
          </a:p>
        </p:txBody>
      </p:sp>
    </p:spTree>
    <p:extLst>
      <p:ext uri="{BB962C8B-B14F-4D97-AF65-F5344CB8AC3E}">
        <p14:creationId xmlns:p14="http://schemas.microsoft.com/office/powerpoint/2010/main" xmlns="" val="22885374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18934F-7FA2-414E-B944-BB5E645BDAE1}"/>
              </a:ext>
            </a:extLst>
          </p:cNvPr>
          <p:cNvSpPr>
            <a:spLocks noGrp="1"/>
          </p:cNvSpPr>
          <p:nvPr>
            <p:ph type="title"/>
          </p:nvPr>
        </p:nvSpPr>
        <p:spPr>
          <a:xfrm>
            <a:off x="838200" y="365125"/>
            <a:ext cx="10515600" cy="698131"/>
          </a:xfrm>
        </p:spPr>
        <p:txBody>
          <a:bodyPr>
            <a:normAutofit fontScale="90000"/>
          </a:bodyPr>
          <a:lstStyle/>
          <a:p>
            <a:r>
              <a:rPr lang="en-US" dirty="0"/>
              <a:t>References</a:t>
            </a:r>
          </a:p>
        </p:txBody>
      </p:sp>
      <p:sp>
        <p:nvSpPr>
          <p:cNvPr id="3" name="Content Placeholder 2">
            <a:extLst>
              <a:ext uri="{FF2B5EF4-FFF2-40B4-BE49-F238E27FC236}">
                <a16:creationId xmlns:a16="http://schemas.microsoft.com/office/drawing/2014/main" xmlns="" id="{F410AE03-853F-45A6-A398-DA576239DD7D}"/>
              </a:ext>
            </a:extLst>
          </p:cNvPr>
          <p:cNvSpPr>
            <a:spLocks noGrp="1"/>
          </p:cNvSpPr>
          <p:nvPr>
            <p:ph sz="quarter" idx="1"/>
          </p:nvPr>
        </p:nvSpPr>
        <p:spPr>
          <a:xfrm>
            <a:off x="202019" y="1190846"/>
            <a:ext cx="11823404" cy="5465135"/>
          </a:xfrm>
        </p:spPr>
        <p:txBody>
          <a:bodyPr/>
          <a:lstStyle/>
          <a:p>
            <a:r>
              <a:rPr lang="en-US" dirty="0">
                <a:latin typeface="Garamond" panose="02020404030301010803" pitchFamily="18" charset="0"/>
                <a:hlinkClick r:id="rId2"/>
              </a:rPr>
              <a:t>https://www.toppr.com/guides/business-correspondence-and-reporting/communication/barriers-in-communication/</a:t>
            </a:r>
            <a:r>
              <a:rPr lang="en-US" dirty="0">
                <a:latin typeface="Garamond" panose="02020404030301010803" pitchFamily="18" charset="0"/>
              </a:rPr>
              <a:t> </a:t>
            </a:r>
          </a:p>
          <a:p>
            <a:endParaRPr lang="en-US" dirty="0">
              <a:latin typeface="Garamond" panose="02020404030301010803" pitchFamily="18" charset="0"/>
            </a:endParaRPr>
          </a:p>
          <a:p>
            <a:r>
              <a:rPr lang="en-US" dirty="0">
                <a:latin typeface="Garamond" panose="02020404030301010803" pitchFamily="18" charset="0"/>
                <a:hlinkClick r:id="rId3"/>
              </a:rPr>
              <a:t>https://www.skillsyouneed.com/ips/barriers-communication.html</a:t>
            </a:r>
            <a:endParaRPr lang="en-US" dirty="0">
              <a:latin typeface="Garamond" panose="02020404030301010803" pitchFamily="18" charset="0"/>
            </a:endParaRPr>
          </a:p>
          <a:p>
            <a:r>
              <a:rPr lang="en-US" dirty="0">
                <a:latin typeface="Garamond" panose="02020404030301010803" pitchFamily="18" charset="0"/>
                <a:hlinkClick r:id="rId4"/>
              </a:rPr>
              <a:t>https://study.com/academy/lesson/what-are-cultural-barriers-to-communication-in-the-workplace-definition-examples-quiz.html</a:t>
            </a:r>
            <a:endParaRPr lang="en-US" dirty="0">
              <a:latin typeface="Garamond" panose="02020404030301010803" pitchFamily="18" charset="0"/>
            </a:endParaRPr>
          </a:p>
          <a:p>
            <a:r>
              <a:rPr lang="en-US" dirty="0">
                <a:latin typeface="Garamond" panose="02020404030301010803" pitchFamily="18" charset="0"/>
              </a:rPr>
              <a:t> </a:t>
            </a:r>
          </a:p>
          <a:p>
            <a:r>
              <a:rPr lang="en-US" dirty="0">
                <a:latin typeface="Garamond" panose="02020404030301010803" pitchFamily="18" charset="0"/>
                <a:hlinkClick r:id="rId5"/>
              </a:rPr>
              <a:t>https://www.typetalk.com/blog/overcoming-emotional-barriers-to-communication/</a:t>
            </a:r>
            <a:r>
              <a:rPr lang="en-US" dirty="0">
                <a:latin typeface="Garamond" panose="02020404030301010803" pitchFamily="18" charset="0"/>
              </a:rPr>
              <a:t> </a:t>
            </a:r>
          </a:p>
          <a:p>
            <a:r>
              <a:rPr lang="en-US" dirty="0">
                <a:latin typeface="Garamond" panose="02020404030301010803" pitchFamily="18" charset="0"/>
                <a:hlinkClick r:id="rId6"/>
              </a:rPr>
              <a:t>https://trainingindustry.com/magazine/issue/gender-barriers-and-solutions-to-leadership/</a:t>
            </a:r>
            <a:r>
              <a:rPr lang="en-US" dirty="0">
                <a:latin typeface="Garamond" panose="02020404030301010803" pitchFamily="18" charset="0"/>
              </a:rPr>
              <a:t> </a:t>
            </a:r>
          </a:p>
        </p:txBody>
      </p:sp>
    </p:spTree>
    <p:extLst>
      <p:ext uri="{BB962C8B-B14F-4D97-AF65-F5344CB8AC3E}">
        <p14:creationId xmlns:p14="http://schemas.microsoft.com/office/powerpoint/2010/main" xmlns="" val="33354964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72D388-68EE-468D-8557-E91938FA423C}"/>
              </a:ext>
            </a:extLst>
          </p:cNvPr>
          <p:cNvSpPr>
            <a:spLocks noGrp="1"/>
          </p:cNvSpPr>
          <p:nvPr>
            <p:ph type="title"/>
          </p:nvPr>
        </p:nvSpPr>
        <p:spPr>
          <a:xfrm>
            <a:off x="838200" y="365126"/>
            <a:ext cx="10515600" cy="825722"/>
          </a:xfrm>
        </p:spPr>
        <p:txBody>
          <a:bodyPr/>
          <a:lstStyle/>
          <a:p>
            <a:r>
              <a:rPr lang="en-US"/>
              <a:t>References:</a:t>
            </a:r>
          </a:p>
        </p:txBody>
      </p:sp>
      <p:sp>
        <p:nvSpPr>
          <p:cNvPr id="3" name="Content Placeholder 2">
            <a:extLst>
              <a:ext uri="{FF2B5EF4-FFF2-40B4-BE49-F238E27FC236}">
                <a16:creationId xmlns:a16="http://schemas.microsoft.com/office/drawing/2014/main" xmlns="" id="{D9689CD0-95BA-4D4E-9C33-55D212E87C23}"/>
              </a:ext>
            </a:extLst>
          </p:cNvPr>
          <p:cNvSpPr>
            <a:spLocks noGrp="1"/>
          </p:cNvSpPr>
          <p:nvPr>
            <p:ph sz="quarter" idx="1"/>
          </p:nvPr>
        </p:nvSpPr>
        <p:spPr>
          <a:xfrm>
            <a:off x="287080" y="1605516"/>
            <a:ext cx="11685181" cy="5092996"/>
          </a:xfrm>
        </p:spPr>
        <p:txBody>
          <a:bodyPr/>
          <a:lstStyle/>
          <a:p>
            <a:r>
              <a:rPr lang="en-US" b="1"/>
              <a:t>TEXAS CTE LESSON PLAN </a:t>
            </a:r>
            <a:r>
              <a:rPr lang="en-US" u="sng">
                <a:hlinkClick r:id="rId2"/>
              </a:rPr>
              <a:t>www.txcte.org</a:t>
            </a:r>
            <a:endParaRPr lang="en-US" u="sng"/>
          </a:p>
          <a:p>
            <a:r>
              <a:rPr lang="en-US">
                <a:hlinkClick r:id="rId3"/>
              </a:rPr>
              <a:t>https://www.managementstudyguide.com/communication_barriers.htm</a:t>
            </a:r>
            <a:r>
              <a:rPr lang="en-US"/>
              <a:t> </a:t>
            </a:r>
          </a:p>
          <a:p>
            <a:r>
              <a:rPr lang="en-US">
                <a:hlinkClick r:id="rId4"/>
              </a:rPr>
              <a:t>https://www.slideshare.net/sundaredu/barriers-of-communication-53545680</a:t>
            </a:r>
            <a:r>
              <a:rPr lang="en-US"/>
              <a:t> </a:t>
            </a:r>
          </a:p>
          <a:p>
            <a:r>
              <a:rPr lang="en-US">
                <a:hlinkClick r:id="rId5"/>
              </a:rPr>
              <a:t>https://www.slideshare.net/burhanAhmed14/communication-its-barrier</a:t>
            </a:r>
            <a:r>
              <a:rPr lang="en-US"/>
              <a:t> </a:t>
            </a:r>
          </a:p>
          <a:p>
            <a:r>
              <a:rPr lang="en-US">
                <a:hlinkClick r:id="rId6"/>
              </a:rPr>
              <a:t>https://www.uj.edu.sa/Files/1001210/Subjects/Chapter%204%20Barriers%20to%20Communication%20.pdf</a:t>
            </a:r>
            <a:r>
              <a:rPr lang="en-US"/>
              <a:t> </a:t>
            </a:r>
          </a:p>
          <a:p>
            <a:r>
              <a:rPr lang="en-US">
                <a:hlinkClick r:id="rId7"/>
              </a:rPr>
              <a:t>https://guides.co/g/the-seven-barriers-of-communication/37756</a:t>
            </a:r>
            <a:r>
              <a:rPr lang="en-US"/>
              <a:t> </a:t>
            </a:r>
          </a:p>
          <a:p>
            <a:r>
              <a:rPr lang="en-US">
                <a:hlinkClick r:id="rId8"/>
              </a:rPr>
              <a:t>https://bizfluent.com/how-8483270-eliminate-perceptual-barriers.html</a:t>
            </a:r>
            <a:r>
              <a:rPr lang="en-US"/>
              <a:t> </a:t>
            </a:r>
          </a:p>
          <a:p>
            <a:endParaRPr lang="en-US"/>
          </a:p>
          <a:p>
            <a:endParaRPr lang="en-US"/>
          </a:p>
        </p:txBody>
      </p:sp>
    </p:spTree>
    <p:extLst>
      <p:ext uri="{BB962C8B-B14F-4D97-AF65-F5344CB8AC3E}">
        <p14:creationId xmlns:p14="http://schemas.microsoft.com/office/powerpoint/2010/main" xmlns="" val="58379937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7e769cb-343d-4d57-ad05-588d24edacdf" xsi:nil="true"/>
    <lcf76f155ced4ddcb4097134ff3c332f xmlns="585f6d5f-198d-466a-ab6c-76d797e5c8d0">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66E5FF94A48324F9E76824130F813A2" ma:contentTypeVersion="11" ma:contentTypeDescription="Create a new document." ma:contentTypeScope="" ma:versionID="6a2ff79b6728bc00a976ebcdb8345518">
  <xsd:schema xmlns:xsd="http://www.w3.org/2001/XMLSchema" xmlns:xs="http://www.w3.org/2001/XMLSchema" xmlns:p="http://schemas.microsoft.com/office/2006/metadata/properties" xmlns:ns2="585f6d5f-198d-466a-ab6c-76d797e5c8d0" xmlns:ns3="67e769cb-343d-4d57-ad05-588d24edacdf" targetNamespace="http://schemas.microsoft.com/office/2006/metadata/properties" ma:root="true" ma:fieldsID="7b48bd956d011fda30842abb501f1b3f" ns2:_="" ns3:_="">
    <xsd:import namespace="585f6d5f-198d-466a-ab6c-76d797e5c8d0"/>
    <xsd:import namespace="67e769cb-343d-4d57-ad05-588d24edacd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5f6d5f-198d-466a-ab6c-76d797e5c8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becb0771-d8d6-47f1-9aba-e502faf0f59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7e769cb-343d-4d57-ad05-588d24edacdf"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457cb550-44ab-4ed7-8790-e99640cf77af}" ma:internalName="TaxCatchAll" ma:showField="CatchAllData" ma:web="67e769cb-343d-4d57-ad05-588d24edacd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F253260-FABB-4F59-A7EB-505D680724B3}">
  <ds:schemaRefs>
    <ds:schemaRef ds:uri="8928bcce-8007-4cb6-86a0-07d214d51f96"/>
    <ds:schemaRef ds:uri="96067b5b-3831-4d13-8c6e-d6f7a548877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CEB12E4-C0E3-41D5-80C8-B4C0F946954A}"/>
</file>

<file path=customXml/itemProps3.xml><?xml version="1.0" encoding="utf-8"?>
<ds:datastoreItem xmlns:ds="http://schemas.openxmlformats.org/officeDocument/2006/customXml" ds:itemID="{DFC0A2B6-B743-4748-BEFF-4D664FA934E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Equity</Template>
  <TotalTime>9</TotalTime>
  <Words>3665</Words>
  <Application>Microsoft Office PowerPoint</Application>
  <PresentationFormat>Custom</PresentationFormat>
  <Paragraphs>357</Paragraphs>
  <Slides>54</Slides>
  <Notes>0</Notes>
  <HiddenSlides>0</HiddenSlides>
  <MMClips>0</MMClips>
  <ScaleCrop>false</ScaleCrop>
  <HeadingPairs>
    <vt:vector size="4" baseType="variant">
      <vt:variant>
        <vt:lpstr>Theme</vt:lpstr>
      </vt:variant>
      <vt:variant>
        <vt:i4>1</vt:i4>
      </vt:variant>
      <vt:variant>
        <vt:lpstr>Slide Titles</vt:lpstr>
      </vt:variant>
      <vt:variant>
        <vt:i4>54</vt:i4>
      </vt:variant>
    </vt:vector>
  </HeadingPairs>
  <TitlesOfParts>
    <vt:vector size="55" baseType="lpstr">
      <vt:lpstr>Equity</vt:lpstr>
      <vt:lpstr>Barriers in Communication </vt:lpstr>
      <vt:lpstr>Second Lesson-Introduction to Communication Barriers</vt:lpstr>
      <vt:lpstr>Lecture 2 Essentials: </vt:lpstr>
      <vt:lpstr>Barriers-Introduction</vt:lpstr>
      <vt:lpstr>Barriers-Introduction (Continued):</vt:lpstr>
      <vt:lpstr>Communication Barriers:</vt:lpstr>
      <vt:lpstr>Physical Barriers : </vt:lpstr>
      <vt:lpstr>Time </vt:lpstr>
      <vt:lpstr>Distance:</vt:lpstr>
      <vt:lpstr>Noise:</vt:lpstr>
      <vt:lpstr>Place (Structure)</vt:lpstr>
      <vt:lpstr>Environment/Surroundings</vt:lpstr>
      <vt:lpstr>Ways to overcome physical barriers:</vt:lpstr>
      <vt:lpstr> 2. Physiological or Biological Barriers </vt:lpstr>
      <vt:lpstr>Solutions:</vt:lpstr>
      <vt:lpstr>Solutions(Continued):</vt:lpstr>
      <vt:lpstr>Solutions(Continued):</vt:lpstr>
      <vt:lpstr>Can different perceptions of people affect Communication? Share your thoughts.</vt:lpstr>
      <vt:lpstr>3. Perceptual Barriers/Psychological Barriers</vt:lpstr>
      <vt:lpstr>3. Perceptual Barriers/Psychological Barriers</vt:lpstr>
      <vt:lpstr>3. Perceptual Barriers/Psychological Barriers(Continued)</vt:lpstr>
      <vt:lpstr>Common Types of Perceptual Barriers:</vt:lpstr>
      <vt:lpstr>Common Types of Perceptual Barriers(Continued):</vt:lpstr>
      <vt:lpstr>Common Types of Perceptual Barriers(Continued):</vt:lpstr>
      <vt:lpstr>Common Types of Perceptual Barriers(Continued):</vt:lpstr>
      <vt:lpstr>Share your real-life example where you had a different perception that led into a distorted communication process?</vt:lpstr>
      <vt:lpstr> Share your ideas to minimize such perceptual barriers during Communication</vt:lpstr>
      <vt:lpstr> Overcoming Perceptual Barriers </vt:lpstr>
      <vt:lpstr> Overcoming Perceptual Barriers(Continued): </vt:lpstr>
      <vt:lpstr>Some more ways to overcome perception Barriers:</vt:lpstr>
      <vt:lpstr> Overcoming Perceptual Barriers(Continued): </vt:lpstr>
      <vt:lpstr> Overcoming Perceptual Barriers(Continued): </vt:lpstr>
      <vt:lpstr> Overcoming Perceptual Barriers(Continued): </vt:lpstr>
      <vt:lpstr>Barriers (Continued)</vt:lpstr>
      <vt:lpstr>Cultural Barriers (Continued)</vt:lpstr>
      <vt:lpstr>Examples (Cultural Barriers)</vt:lpstr>
      <vt:lpstr>Cultural Barriers (Continued)</vt:lpstr>
      <vt:lpstr>Linguistic barriers</vt:lpstr>
      <vt:lpstr>Emotional Barriers</vt:lpstr>
      <vt:lpstr>Emotional Barriers (Continued)</vt:lpstr>
      <vt:lpstr>Over Coming Emotional Barriers</vt:lpstr>
      <vt:lpstr>Over Coming Emotional Barriers</vt:lpstr>
      <vt:lpstr>Over Coming Emotional Barriers (Continued)</vt:lpstr>
      <vt:lpstr>Gender Barriers</vt:lpstr>
      <vt:lpstr>What Causes Gender barriers to develop </vt:lpstr>
      <vt:lpstr>What Causes Gender barriers to develop(Continued)</vt:lpstr>
      <vt:lpstr>What Causes Gender barriers to develop(Continued)</vt:lpstr>
      <vt:lpstr>How to overcome Gender Barriers</vt:lpstr>
      <vt:lpstr>At Work Place</vt:lpstr>
      <vt:lpstr>Teach People around you to:</vt:lpstr>
      <vt:lpstr>Slide 51</vt:lpstr>
      <vt:lpstr>Time for Questions and Queries!</vt:lpstr>
      <vt:lpstr>References</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Barriers of Communication </dc:title>
  <dc:creator>Sania Memon</dc:creator>
  <cp:lastModifiedBy>Prof Muhammad Murad</cp:lastModifiedBy>
  <cp:revision>8</cp:revision>
  <dcterms:created xsi:type="dcterms:W3CDTF">2020-05-31T01:09:32Z</dcterms:created>
  <dcterms:modified xsi:type="dcterms:W3CDTF">2023-04-12T20:24:22Z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0x010100B66E5FF94A48324F9E76824130F813A2</vt:lpwstr>
  </property>
</Properties>
</file>