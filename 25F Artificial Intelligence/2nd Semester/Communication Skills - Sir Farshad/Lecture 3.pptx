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91" r:id="rId4"/>
    <p:sldId id="292" r:id="rId5"/>
    <p:sldId id="293" r:id="rId6"/>
    <p:sldId id="290" r:id="rId7"/>
    <p:sldId id="276" r:id="rId8"/>
    <p:sldId id="257" r:id="rId9"/>
    <p:sldId id="263" r:id="rId10"/>
    <p:sldId id="258" r:id="rId11"/>
    <p:sldId id="264" r:id="rId12"/>
    <p:sldId id="262" r:id="rId13"/>
    <p:sldId id="260" r:id="rId14"/>
    <p:sldId id="259" r:id="rId15"/>
    <p:sldId id="267" r:id="rId16"/>
    <p:sldId id="278" r:id="rId17"/>
    <p:sldId id="261" r:id="rId18"/>
    <p:sldId id="266" r:id="rId19"/>
    <p:sldId id="268" r:id="rId20"/>
    <p:sldId id="269" r:id="rId21"/>
    <p:sldId id="270" r:id="rId22"/>
    <p:sldId id="272" r:id="rId23"/>
    <p:sldId id="273" r:id="rId24"/>
    <p:sldId id="274" r:id="rId25"/>
    <p:sldId id="275" r:id="rId26"/>
    <p:sldId id="279" r:id="rId27"/>
    <p:sldId id="283" r:id="rId28"/>
    <p:sldId id="285" r:id="rId29"/>
    <p:sldId id="286" r:id="rId30"/>
    <p:sldId id="284" r:id="rId31"/>
    <p:sldId id="289" r:id="rId32"/>
    <p:sldId id="287" r:id="rId33"/>
    <p:sldId id="28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1256" y="-39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customXml" Target="../customXml/item3.xml"/><Relationship Id="rId4" Type="http://schemas.openxmlformats.org/officeDocument/2006/relationships/slide" Target="slides/slide2.xml"/><Relationship Id="rId39" Type="http://schemas.openxmlformats.org/officeDocument/2006/relationships/customXml" Target="../customXml/item2.xml"/><Relationship Id="rId38" Type="http://schemas.openxmlformats.org/officeDocument/2006/relationships/customXml" Target="../customXml/item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C51C329-F2AB-4F73-811C-7F9A5539A8F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C51C329-F2AB-4F73-811C-7F9A5539A8F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C51C329-F2AB-4F73-811C-7F9A5539A8F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C51C329-F2AB-4F73-811C-7F9A5539A8F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C51C329-F2AB-4F73-811C-7F9A5539A8F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C51C329-F2AB-4F73-811C-7F9A5539A8F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51C329-F2AB-4F73-811C-7F9A5539A8F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1C329-F2AB-4F73-811C-7F9A5539A8F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1C329-F2AB-4F73-811C-7F9A5539A8F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1C329-F2AB-4F73-811C-7F9A5539A8F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1C329-F2AB-4F73-811C-7F9A5539A8F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1C329-F2AB-4F73-811C-7F9A5539A8F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endParaRPr lang="en-US" sz="8000">
              <a:solidFill>
                <a:schemeClr val="tx1"/>
              </a:solidFill>
              <a:effectLst/>
            </a:endParaRP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endParaRPr lang="en-US" sz="8000">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1C329-F2AB-4F73-811C-7F9A5539A8F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Date Placeholder 2"/>
          <p:cNvSpPr>
            <a:spLocks noGrp="1"/>
          </p:cNvSpPr>
          <p:nvPr>
            <p:ph type="dt" sz="half" idx="10"/>
          </p:nvPr>
        </p:nvSpPr>
        <p:spPr/>
        <p:txBody>
          <a:bodyPr/>
          <a:lstStyle/>
          <a:p>
            <a:fld id="{6C51C329-F2AB-4F73-811C-7F9A5539A8F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Date Placeholder 2"/>
          <p:cNvSpPr>
            <a:spLocks noGrp="1"/>
          </p:cNvSpPr>
          <p:nvPr>
            <p:ph type="dt" sz="half" idx="10"/>
          </p:nvPr>
        </p:nvSpPr>
        <p:spPr/>
        <p:txBody>
          <a:bodyPr/>
          <a:lstStyle/>
          <a:p>
            <a:fld id="{6C51C329-F2AB-4F73-811C-7F9A5539A8F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C51C329-F2AB-4F73-811C-7F9A5539A8F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C51C329-F2AB-4F73-811C-7F9A5539A8F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C51C329-F2AB-4F73-811C-7F9A5539A8F0}" type="datetimeFigureOut">
              <a:rPr lang="en-US" smtClean="0"/>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CF57203-ABC3-4857-AB8C-A0474C07A87B}"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14964" y="1918952"/>
            <a:ext cx="9001462" cy="4085823"/>
          </a:xfrm>
        </p:spPr>
        <p:txBody>
          <a:bodyPr/>
          <a:lstStyle/>
          <a:p>
            <a:endParaRPr lang="en-US"/>
          </a:p>
          <a:p>
            <a:r>
              <a:rPr lang="en-US" sz="2800" b="1">
                <a:latin typeface="Times New Roman" panose="02020603050405020304" pitchFamily="18" charset="0"/>
                <a:cs typeface="Times New Roman" panose="02020603050405020304" pitchFamily="18" charset="0"/>
              </a:rPr>
              <a:t>Lecture: 03</a:t>
            </a:r>
            <a:endParaRPr lang="en-US" sz="2800" b="1">
              <a:latin typeface="Times New Roman" panose="02020603050405020304" pitchFamily="18" charset="0"/>
              <a:cs typeface="Times New Roman" panose="02020603050405020304" pitchFamily="18" charset="0"/>
            </a:endParaRPr>
          </a:p>
          <a:p>
            <a:r>
              <a:rPr lang="en-US" sz="2800" b="1">
                <a:latin typeface="Times New Roman" panose="02020603050405020304" pitchFamily="18" charset="0"/>
                <a:cs typeface="Times New Roman" panose="02020603050405020304" pitchFamily="18" charset="0"/>
              </a:rPr>
              <a:t>COMMUNICATION FUNDAMENTALS</a:t>
            </a:r>
            <a:endParaRPr lang="en-US" sz="2800" b="1">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(Empathy, conversational Skills, established listening, Respected vocabulary, turn taking)</a:t>
            </a:r>
            <a:endParaRPr lang="en-US" sz="2800">
              <a:latin typeface="Times New Roman" panose="02020603050405020304" pitchFamily="18" charset="0"/>
              <a:cs typeface="Times New Roman" panose="02020603050405020304" pitchFamily="18" charset="0"/>
            </a:endParaRPr>
          </a:p>
        </p:txBody>
      </p:sp>
      <p:pic>
        <p:nvPicPr>
          <p:cNvPr id="3080" name="Picture 8" descr="6 ESSENTIAL COMMUNICATION SKILLS YOU NEE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5123" y="336460"/>
            <a:ext cx="2845203" cy="2143125"/>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pic>
        <p:nvPicPr>
          <p:cNvPr id="3082" name="Picture 10" descr="Effective Communication Download | Seshiah Diabetes Book Pdf Fre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4445" y="336460"/>
            <a:ext cx="3232955" cy="2033253"/>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Aims &amp; objectives</a:t>
            </a:r>
            <a:endParaRPr lang="en-US"/>
          </a:p>
        </p:txBody>
      </p:sp>
      <p:sp>
        <p:nvSpPr>
          <p:cNvPr id="3" name="Content Placeholder 2"/>
          <p:cNvSpPr>
            <a:spLocks noGrp="1"/>
          </p:cNvSpPr>
          <p:nvPr>
            <p:ph idx="1"/>
          </p:nvPr>
        </p:nvSpPr>
        <p:spPr>
          <a:xfrm>
            <a:off x="913794" y="1841679"/>
            <a:ext cx="10353762" cy="4842456"/>
          </a:xfrm>
        </p:spPr>
        <p:txBody>
          <a:bodyPr vert="horz" lIns="91440" tIns="45720" rIns="91440" bIns="45720" rtlCol="0" anchor="t">
            <a:noAutofit/>
          </a:bodyPr>
          <a:lstStyle/>
          <a:p>
            <a:r>
              <a:rPr lang="en-GB" b="1">
                <a:solidFill>
                  <a:srgbClr val="FF0000"/>
                </a:solidFill>
                <a:latin typeface="Times New Roman" panose="02020603050405020304"/>
                <a:cs typeface="Times New Roman" panose="02020603050405020304"/>
              </a:rPr>
              <a:t>Aim</a:t>
            </a:r>
            <a:r>
              <a:rPr lang="en-GB">
                <a:latin typeface="Times New Roman" panose="02020603050405020304"/>
                <a:cs typeface="Times New Roman" panose="02020603050405020304"/>
              </a:rPr>
              <a:t>: To introduce fundamental concepts of Communication</a:t>
            </a:r>
            <a:endParaRPr lang="en-GB">
              <a:latin typeface="Times New Roman" panose="02020603050405020304"/>
              <a:cs typeface="Times New Roman" panose="02020603050405020304"/>
            </a:endParaRPr>
          </a:p>
          <a:p>
            <a:endParaRPr lang="en-GB">
              <a:latin typeface="Times New Roman" panose="02020603050405020304" pitchFamily="18" charset="0"/>
              <a:cs typeface="Times New Roman" panose="02020603050405020304" pitchFamily="18" charset="0"/>
            </a:endParaRPr>
          </a:p>
          <a:p>
            <a:r>
              <a:rPr lang="en-GB" b="1">
                <a:solidFill>
                  <a:srgbClr val="FF0000"/>
                </a:solidFill>
                <a:latin typeface="Times New Roman" panose="02020603050405020304"/>
                <a:cs typeface="Times New Roman" panose="02020603050405020304"/>
              </a:rPr>
              <a:t>Objectives</a:t>
            </a:r>
            <a:r>
              <a:rPr lang="en-GB">
                <a:solidFill>
                  <a:srgbClr val="FF0000"/>
                </a:solidFill>
                <a:latin typeface="Times New Roman" panose="02020603050405020304"/>
                <a:cs typeface="Times New Roman" panose="02020603050405020304"/>
              </a:rPr>
              <a:t>:</a:t>
            </a:r>
            <a:r>
              <a:rPr lang="en-GB">
                <a:latin typeface="Times New Roman" panose="02020603050405020304"/>
                <a:cs typeface="Times New Roman" panose="02020603050405020304"/>
              </a:rPr>
              <a:t>  After the session learners will be able to:</a:t>
            </a:r>
            <a:endParaRPr lang="en-GB">
              <a:latin typeface="Times New Roman" panose="02020603050405020304"/>
              <a:cs typeface="Times New Roman" panose="02020603050405020304"/>
            </a:endParaRPr>
          </a:p>
          <a:p>
            <a:pPr lvl="1"/>
            <a:r>
              <a:rPr lang="en-GB" sz="2000">
                <a:latin typeface="Times New Roman" panose="02020603050405020304" pitchFamily="18" charset="0"/>
                <a:cs typeface="Times New Roman" panose="02020603050405020304" pitchFamily="18" charset="0"/>
              </a:rPr>
              <a:t>Define the fundamental concepts of Communication</a:t>
            </a:r>
            <a:endParaRPr lang="en-GB" sz="2000">
              <a:latin typeface="Times New Roman" panose="02020603050405020304" pitchFamily="18" charset="0"/>
              <a:cs typeface="Times New Roman" panose="02020603050405020304" pitchFamily="18" charset="0"/>
            </a:endParaRPr>
          </a:p>
          <a:p>
            <a:pPr lvl="1"/>
            <a:r>
              <a:rPr lang="en-GB" sz="2000">
                <a:latin typeface="Times New Roman" panose="02020603050405020304" pitchFamily="18" charset="0"/>
                <a:cs typeface="Times New Roman" panose="02020603050405020304" pitchFamily="18" charset="0"/>
              </a:rPr>
              <a:t>Strategize &amp; employ the learned concepts in Communication </a:t>
            </a:r>
            <a:endParaRPr lang="en-GB" sz="2000">
              <a:latin typeface="Times New Roman" panose="02020603050405020304" pitchFamily="18" charset="0"/>
              <a:cs typeface="Times New Roman" panose="02020603050405020304" pitchFamily="18" charset="0"/>
            </a:endParaRPr>
          </a:p>
          <a:p>
            <a:pPr lvl="1"/>
            <a:r>
              <a:rPr lang="en-GB" sz="2000">
                <a:latin typeface="Times New Roman" panose="02020603050405020304" pitchFamily="18" charset="0"/>
                <a:cs typeface="Times New Roman" panose="02020603050405020304" pitchFamily="18" charset="0"/>
              </a:rPr>
              <a:t> Differentiate between accepted/respected Vocabulary and colloquial.</a:t>
            </a:r>
            <a:endParaRPr lang="en-GB" sz="2000">
              <a:latin typeface="Times New Roman" panose="02020603050405020304" pitchFamily="18" charset="0"/>
              <a:cs typeface="Times New Roman" panose="02020603050405020304" pitchFamily="18" charset="0"/>
            </a:endParaRPr>
          </a:p>
          <a:p>
            <a:pPr lvl="1"/>
            <a:r>
              <a:rPr lang="en-GB" sz="2000">
                <a:latin typeface="Times New Roman" panose="02020603050405020304" pitchFamily="18" charset="0"/>
                <a:cs typeface="Times New Roman" panose="02020603050405020304" pitchFamily="18" charset="0"/>
              </a:rPr>
              <a:t>Understand the importance of turn-taking and introspection.</a:t>
            </a:r>
            <a:endParaRPr lang="en-US" sz="2000">
              <a:latin typeface="Times New Roman" panose="02020603050405020304" pitchFamily="18" charset="0"/>
              <a:cs typeface="Times New Roman" panose="02020603050405020304" pitchFamily="18" charset="0"/>
            </a:endParaRPr>
          </a:p>
          <a:p>
            <a:pPr lvl="1"/>
            <a:endParaRPr lang="en-GB" sz="2000">
              <a:latin typeface="Times New Roman" panose="02020603050405020304" pitchFamily="18" charset="0"/>
              <a:cs typeface="Times New Roman" panose="02020603050405020304" pitchFamily="18" charset="0"/>
            </a:endParaRPr>
          </a:p>
          <a:p>
            <a:r>
              <a:rPr lang="en-GB" b="1">
                <a:solidFill>
                  <a:srgbClr val="FF0000"/>
                </a:solidFill>
                <a:latin typeface="Times New Roman" panose="02020603050405020304"/>
                <a:cs typeface="Times New Roman" panose="02020603050405020304"/>
              </a:rPr>
              <a:t>Assessment</a:t>
            </a:r>
            <a:r>
              <a:rPr lang="en-GB">
                <a:latin typeface="Times New Roman" panose="02020603050405020304"/>
                <a:cs typeface="Times New Roman" panose="02020603050405020304"/>
              </a:rPr>
              <a:t>:  Discussion Prompts incorporated between the lecture, debrief session at the end of the class and  mini task assigned for home.</a:t>
            </a:r>
            <a:endParaRPr lang="en-GB">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8037" y="1452121"/>
            <a:ext cx="10353762" cy="3695136"/>
          </a:xfrm>
        </p:spPr>
        <p:txBody>
          <a:bodyPr/>
          <a:lstStyle/>
          <a:p>
            <a:endParaRPr lang="en-US">
              <a:effectLst/>
            </a:endParaRPr>
          </a:p>
          <a:p>
            <a:endParaRPr lang="en-US">
              <a:effectLst/>
            </a:endParaRPr>
          </a:p>
          <a:p>
            <a:endParaRPr lang="en-US">
              <a:effectLst/>
            </a:endParaRPr>
          </a:p>
          <a:p>
            <a:pPr marL="0" indent="0" algn="ctr">
              <a:buNone/>
            </a:pPr>
            <a:r>
              <a:rPr lang="en-US" sz="3600">
                <a:effectLst/>
                <a:latin typeface="Times New Roman" panose="02020603050405020304" pitchFamily="18" charset="0"/>
                <a:cs typeface="Times New Roman" panose="02020603050405020304" pitchFamily="18" charset="0"/>
              </a:rPr>
              <a:t>What creates an impactful and meaningful communication? </a:t>
            </a:r>
            <a:endParaRPr lang="en-US" sz="3600">
              <a:effectLst/>
              <a:latin typeface="Times New Roman" panose="02020603050405020304" pitchFamily="18" charset="0"/>
              <a:cs typeface="Times New Roman" panose="02020603050405020304" pitchFamily="18" charset="0"/>
            </a:endParaRPr>
          </a:p>
          <a:p>
            <a:endParaRPr lang="en-US"/>
          </a:p>
        </p:txBody>
      </p:sp>
      <p:pic>
        <p:nvPicPr>
          <p:cNvPr id="1028" name="Picture 4" descr="Colegio Santa María del Camino | The importance of oral communica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67448" y="618186"/>
            <a:ext cx="4353059" cy="2113209"/>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a:effectLst/>
                <a:latin typeface="Times New Roman" panose="02020603050405020304" pitchFamily="18" charset="0"/>
                <a:cs typeface="Times New Roman" panose="02020603050405020304" pitchFamily="18" charset="0"/>
              </a:rPr>
              <a:t>It has to be </a:t>
            </a:r>
            <a:endParaRPr lang="en-US" sz="2400">
              <a:effectLst/>
              <a:latin typeface="Times New Roman" panose="02020603050405020304" pitchFamily="18" charset="0"/>
              <a:cs typeface="Times New Roman" panose="02020603050405020304" pitchFamily="18" charset="0"/>
            </a:endParaRPr>
          </a:p>
          <a:p>
            <a:pPr marL="0" indent="0">
              <a:buNone/>
            </a:pPr>
            <a:r>
              <a:rPr lang="en-US" sz="2400">
                <a:effectLst/>
                <a:latin typeface="Times New Roman" panose="02020603050405020304" pitchFamily="18" charset="0"/>
                <a:cs typeface="Times New Roman" panose="02020603050405020304" pitchFamily="18" charset="0"/>
              </a:rPr>
              <a:t>1. what you say.</a:t>
            </a:r>
            <a:endParaRPr lang="en-US" sz="2400">
              <a:effectLst/>
              <a:latin typeface="Times New Roman" panose="02020603050405020304" pitchFamily="18" charset="0"/>
              <a:cs typeface="Times New Roman" panose="02020603050405020304" pitchFamily="18" charset="0"/>
            </a:endParaRPr>
          </a:p>
          <a:p>
            <a:pPr marL="0" indent="0">
              <a:buNone/>
            </a:pPr>
            <a:r>
              <a:rPr lang="en-US" sz="2400">
                <a:effectLst/>
                <a:latin typeface="Times New Roman" panose="02020603050405020304" pitchFamily="18" charset="0"/>
                <a:cs typeface="Times New Roman" panose="02020603050405020304" pitchFamily="18" charset="0"/>
              </a:rPr>
              <a:t>2. How you say.</a:t>
            </a:r>
            <a:endParaRPr lang="en-US" sz="2400">
              <a:effectLst/>
              <a:latin typeface="Times New Roman" panose="02020603050405020304" pitchFamily="18" charset="0"/>
              <a:cs typeface="Times New Roman" panose="02020603050405020304" pitchFamily="18" charset="0"/>
            </a:endParaRPr>
          </a:p>
          <a:p>
            <a:pPr marL="0" indent="0">
              <a:buNone/>
            </a:pPr>
            <a:r>
              <a:rPr lang="en-US" sz="2400">
                <a:effectLst/>
                <a:latin typeface="Times New Roman" panose="02020603050405020304" pitchFamily="18" charset="0"/>
                <a:cs typeface="Times New Roman" panose="02020603050405020304" pitchFamily="18" charset="0"/>
              </a:rPr>
              <a:t>3. And when you say it</a:t>
            </a:r>
            <a:r>
              <a:rPr lang="en-US">
                <a:effectLst/>
              </a:rPr>
              <a:t>. </a:t>
            </a:r>
            <a:endParaRPr lang="en-US">
              <a:effectLst/>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a:cs typeface="Times New Roman" panose="02020603050405020304"/>
              </a:rPr>
              <a:t>Communication </a:t>
            </a:r>
            <a:r>
              <a:rPr lang="en-US" err="1">
                <a:latin typeface="Times New Roman" panose="02020603050405020304"/>
                <a:cs typeface="Times New Roman" panose="02020603050405020304"/>
              </a:rPr>
              <a:t>fundamentalS</a:t>
            </a:r>
            <a:endParaRPr lang="en-US" err="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a:latin typeface="Times New Roman" panose="02020603050405020304" pitchFamily="18" charset="0"/>
                <a:cs typeface="Times New Roman" panose="02020603050405020304" pitchFamily="18" charset="0"/>
              </a:rPr>
              <a:t>Empathy</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Conversational Skills</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Established listening</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Respected vocabulary</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Introspection and turn taking</a:t>
            </a: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does this picture show?</a:t>
            </a:r>
            <a:endParaRPr lang="en-US"/>
          </a:p>
        </p:txBody>
      </p:sp>
      <p:pic>
        <p:nvPicPr>
          <p:cNvPr id="1028" name="Picture 4" descr="Six Habits of Highly Empathic Peop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02561" y="2193446"/>
            <a:ext cx="6667500" cy="36004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869" y="565195"/>
            <a:ext cx="10515600" cy="1090187"/>
          </a:xfrm>
        </p:spPr>
        <p:txBody>
          <a:bodyPr>
            <a:normAutofit/>
          </a:bodyPr>
          <a:lstStyle/>
          <a:p>
            <a:pPr algn="l"/>
            <a:r>
              <a:rPr lang="en-US" sz="4000">
                <a:latin typeface="Times New Roman" panose="02020603050405020304" pitchFamily="18" charset="0"/>
                <a:cs typeface="Times New Roman" panose="02020603050405020304" pitchFamily="18" charset="0"/>
              </a:rPr>
              <a:t>EMPATHY</a:t>
            </a:r>
            <a:endParaRPr lang="en-US" sz="40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1197735"/>
            <a:ext cx="10515600" cy="5520140"/>
          </a:xfrm>
        </p:spPr>
        <p:txBody>
          <a:bodyPr>
            <a:normAutofit/>
          </a:bodyPr>
          <a:lstStyle/>
          <a:p>
            <a:endParaRPr lang="en-US">
              <a:latin typeface="Times New Roman" panose="02020603050405020304" pitchFamily="18" charset="0"/>
              <a:cs typeface="Times New Roman" panose="02020603050405020304" pitchFamily="18" charset="0"/>
            </a:endParaRPr>
          </a:p>
          <a:p>
            <a:r>
              <a:rPr lang="en-US">
                <a:effectLst/>
                <a:latin typeface="Times New Roman" panose="02020603050405020304" pitchFamily="18" charset="0"/>
                <a:cs typeface="Times New Roman" panose="02020603050405020304" pitchFamily="18" charset="0"/>
              </a:rPr>
              <a:t>The dictionary defines it as “the quality or process of entering fully, through imagination, into another’s feelings or motives.”</a:t>
            </a:r>
            <a:endParaRPr lang="en-US">
              <a:effectLst/>
              <a:latin typeface="Times New Roman" panose="02020603050405020304" pitchFamily="18" charset="0"/>
              <a:cs typeface="Times New Roman" panose="02020603050405020304" pitchFamily="18" charset="0"/>
            </a:endParaRPr>
          </a:p>
          <a:p>
            <a:r>
              <a:rPr lang="en-US">
                <a:effectLst/>
                <a:latin typeface="Times New Roman" panose="02020603050405020304" pitchFamily="18" charset="0"/>
                <a:cs typeface="Times New Roman" panose="02020603050405020304" pitchFamily="18" charset="0"/>
              </a:rPr>
              <a:t>In the fullest sense, it implies putting yourself into the other person’s shoes, or even getting into his or her skin, so that you really understand them.</a:t>
            </a:r>
            <a:endParaRPr lang="en-US">
              <a:effectLst/>
              <a:latin typeface="Times New Roman" panose="02020603050405020304" pitchFamily="18" charset="0"/>
              <a:cs typeface="Times New Roman" panose="02020603050405020304" pitchFamily="18" charset="0"/>
            </a:endParaRPr>
          </a:p>
          <a:p>
            <a:r>
              <a:rPr lang="en-US">
                <a:effectLst/>
                <a:latin typeface="Times New Roman" panose="02020603050405020304" pitchFamily="18" charset="0"/>
                <a:cs typeface="Times New Roman" panose="02020603050405020304" pitchFamily="18" charset="0"/>
              </a:rPr>
              <a:t>“You never really understand a person until you consider things from his point of view… until you climb into his skin and walk around in it.”</a:t>
            </a:r>
            <a:endParaRPr lang="en-US">
              <a:effectLst/>
              <a:latin typeface="Times New Roman" panose="02020603050405020304" pitchFamily="18" charset="0"/>
              <a:cs typeface="Times New Roman" panose="02020603050405020304" pitchFamily="18" charset="0"/>
            </a:endParaRPr>
          </a:p>
          <a:p>
            <a:pPr marL="0" indent="0">
              <a:buNone/>
            </a:pPr>
            <a:r>
              <a:rPr lang="en-US" i="1">
                <a:effectLst/>
                <a:latin typeface="Times New Roman" panose="02020603050405020304" pitchFamily="18" charset="0"/>
                <a:cs typeface="Times New Roman" panose="02020603050405020304" pitchFamily="18" charset="0"/>
              </a:rPr>
              <a:t>							To kill a mockingbird, Harper Lee</a:t>
            </a:r>
            <a:endParaRPr lang="en-US" i="1">
              <a:effectLst/>
              <a:latin typeface="Times New Roman" panose="02020603050405020304" pitchFamily="18" charset="0"/>
              <a:cs typeface="Times New Roman" panose="02020603050405020304" pitchFamily="18" charset="0"/>
            </a:endParaRPr>
          </a:p>
          <a:p>
            <a:r>
              <a:rPr lang="en-US">
                <a:effectLst/>
                <a:latin typeface="Times New Roman" panose="02020603050405020304" pitchFamily="18" charset="0"/>
                <a:cs typeface="Times New Roman" panose="02020603050405020304" pitchFamily="18" charset="0"/>
              </a:rPr>
              <a:t>It means identifying with and understanding the thoughts, feelings and experiences of someone else. It doesn’t mean you completely understand. It doesn’t mean you agree. </a:t>
            </a:r>
            <a:endParaRPr lang="en-US">
              <a:effectLst/>
              <a:latin typeface="Times New Roman" panose="02020603050405020304" pitchFamily="18" charset="0"/>
              <a:cs typeface="Times New Roman" panose="02020603050405020304" pitchFamily="18" charset="0"/>
            </a:endParaRPr>
          </a:p>
          <a:p>
            <a:r>
              <a:rPr lang="en-US">
                <a:effectLst/>
                <a:latin typeface="Times New Roman" panose="02020603050405020304" pitchFamily="18" charset="0"/>
                <a:cs typeface="Times New Roman" panose="02020603050405020304" pitchFamily="18" charset="0"/>
              </a:rPr>
              <a:t>Demonstrating empathy means you seek to understand and seek to help another person feel understood.</a:t>
            </a:r>
            <a:endParaRPr lang="en-US">
              <a:effectLst/>
              <a:latin typeface="Times New Roman" panose="02020603050405020304" pitchFamily="18" charset="0"/>
              <a:cs typeface="Times New Roman" panose="02020603050405020304" pitchFamily="18" charset="0"/>
            </a:endParaRPr>
          </a:p>
        </p:txBody>
      </p:sp>
      <p:pic>
        <p:nvPicPr>
          <p:cNvPr id="6" name="Picture 4" descr="Empathy: How It Can Help Us All Right Now - PsychAliv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67469" y="403762"/>
            <a:ext cx="3359194" cy="122134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4552"/>
            <a:ext cx="10515600" cy="5172411"/>
          </a:xfrm>
        </p:spPr>
        <p:txBody>
          <a:bodyPr/>
          <a:lstStyle/>
          <a:p>
            <a:pPr marL="0" indent="0">
              <a:buNone/>
            </a:pPr>
            <a:endParaRPr lang="en-US"/>
          </a:p>
          <a:p>
            <a:pPr marL="0" indent="0">
              <a:buNone/>
            </a:pPr>
            <a:endParaRPr lang="en-US"/>
          </a:p>
          <a:p>
            <a:pPr marL="0" indent="0">
              <a:buNone/>
            </a:pPr>
            <a:endParaRPr lang="en-US"/>
          </a:p>
          <a:p>
            <a:pPr marL="0" indent="0">
              <a:buNone/>
            </a:pPr>
            <a:endParaRPr lang="en-US"/>
          </a:p>
          <a:p>
            <a:pPr marL="0" indent="0" algn="ctr">
              <a:buNone/>
            </a:pPr>
            <a:r>
              <a:rPr lang="en-US" sz="3200">
                <a:effectLst/>
                <a:latin typeface="Times New Roman" panose="02020603050405020304" pitchFamily="18" charset="0"/>
                <a:cs typeface="Times New Roman" panose="02020603050405020304" pitchFamily="18" charset="0"/>
              </a:rPr>
              <a:t>Do you believe empathy is vital for effective communication? And why?</a:t>
            </a:r>
            <a:endParaRPr lang="en-US" sz="320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1399"/>
          </a:xfrm>
        </p:spPr>
        <p:txBody>
          <a:bodyPr>
            <a:normAutofit fontScale="90000"/>
          </a:bodyPr>
          <a:lstStyle/>
          <a:p>
            <a:r>
              <a:rPr lang="en-US" sz="4400" b="1">
                <a:effectLst/>
                <a:latin typeface="Times New Roman" panose="02020603050405020304" pitchFamily="18" charset="0"/>
                <a:cs typeface="Times New Roman" panose="02020603050405020304" pitchFamily="18" charset="0"/>
              </a:rPr>
              <a:t>Empathy and communication</a:t>
            </a:r>
            <a:br>
              <a:rPr lang="en-US" b="1"/>
            </a:br>
            <a:endParaRPr lang="en-US"/>
          </a:p>
        </p:txBody>
      </p:sp>
      <p:sp>
        <p:nvSpPr>
          <p:cNvPr id="3" name="Content Placeholder 2"/>
          <p:cNvSpPr>
            <a:spLocks noGrp="1"/>
          </p:cNvSpPr>
          <p:nvPr>
            <p:ph idx="1"/>
          </p:nvPr>
        </p:nvSpPr>
        <p:spPr>
          <a:xfrm>
            <a:off x="748048" y="1171977"/>
            <a:ext cx="10515600" cy="5576553"/>
          </a:xfrm>
        </p:spPr>
        <p:txBody>
          <a:bodyPr>
            <a:normAutofit/>
          </a:bodyPr>
          <a:lstStyle/>
          <a:p>
            <a:r>
              <a:rPr lang="en-US" sz="2400">
                <a:effectLst/>
                <a:latin typeface="Times New Roman" panose="02020603050405020304" pitchFamily="18" charset="0"/>
                <a:cs typeface="Times New Roman" panose="02020603050405020304" pitchFamily="18" charset="0"/>
              </a:rPr>
              <a:t>Empathy is vital for good communication.</a:t>
            </a:r>
            <a:endParaRPr lang="en-US" sz="2400">
              <a:effectLst/>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Empathy helps us to communicate our ideas in a way that makes sense to others, and it helps us understand others when they communicate with us. </a:t>
            </a:r>
            <a:endParaRPr lang="en-US" sz="2400">
              <a:effectLst/>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It is one of the foundational building blocks of great social interaction and, quite obviously, powerful stuff.</a:t>
            </a:r>
            <a:endParaRPr lang="en-US" sz="2400">
              <a:effectLst/>
              <a:latin typeface="Times New Roman" panose="02020603050405020304" pitchFamily="18" charset="0"/>
              <a:cs typeface="Times New Roman" panose="02020603050405020304" pitchFamily="18" charset="0"/>
            </a:endParaRPr>
          </a:p>
          <a:p>
            <a:pPr marL="0" indent="0" algn="ctr">
              <a:buNone/>
            </a:pPr>
            <a:r>
              <a:rPr lang="en-US" sz="2400" b="1" u="sng">
                <a:effectLst/>
                <a:latin typeface="Times New Roman" panose="02020603050405020304" pitchFamily="18" charset="0"/>
                <a:cs typeface="Times New Roman" panose="02020603050405020304" pitchFamily="18" charset="0"/>
              </a:rPr>
              <a:t>Consider these suggestions for being empathetic as you communicate your ideas</a:t>
            </a:r>
            <a:endParaRPr lang="en-US" sz="2400" b="1" u="sng">
              <a:effectLst/>
              <a:latin typeface="Times New Roman" panose="02020603050405020304" pitchFamily="18" charset="0"/>
              <a:cs typeface="Times New Roman" panose="02020603050405020304" pitchFamily="18" charset="0"/>
            </a:endParaRPr>
          </a:p>
          <a:p>
            <a:r>
              <a:rPr lang="en-US" sz="2400" b="1">
                <a:effectLst/>
                <a:latin typeface="Times New Roman" panose="02020603050405020304" pitchFamily="18" charset="0"/>
                <a:cs typeface="Times New Roman" panose="02020603050405020304" pitchFamily="18" charset="0"/>
              </a:rPr>
              <a:t>Successful communication is a two-way process</a:t>
            </a:r>
            <a:r>
              <a:rPr lang="en-US" sz="2400">
                <a:effectLst/>
                <a:latin typeface="Times New Roman" panose="02020603050405020304" pitchFamily="18" charset="0"/>
                <a:cs typeface="Times New Roman" panose="02020603050405020304" pitchFamily="18" charset="0"/>
              </a:rPr>
              <a:t>. People must present their ideas in a form others can understand, and they must, in turn, listen to others to understand how the message is received.</a:t>
            </a:r>
            <a:endParaRPr lang="en-US" sz="2400">
              <a:effectLst/>
              <a:latin typeface="Times New Roman" panose="02020603050405020304" pitchFamily="18" charset="0"/>
              <a:cs typeface="Times New Roman" panose="02020603050405020304" pitchFamily="18" charset="0"/>
            </a:endParaRPr>
          </a:p>
          <a:p>
            <a:endParaRPr lang="en-US"/>
          </a:p>
          <a:p>
            <a:endParaRPr lang="en-US"/>
          </a:p>
          <a:p>
            <a:pPr marL="0" indent="0" algn="ctr">
              <a:buNone/>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862885"/>
            <a:ext cx="10353762" cy="4928315"/>
          </a:xfrm>
        </p:spPr>
        <p:txBody>
          <a:bodyPr vert="horz" lIns="91440" tIns="45720" rIns="91440" bIns="45720" rtlCol="0" anchor="t">
            <a:noAutofit/>
          </a:bodyPr>
          <a:lstStyle/>
          <a:p>
            <a:r>
              <a:rPr lang="en-US" sz="2400" b="1">
                <a:solidFill>
                  <a:srgbClr val="FF0000"/>
                </a:solidFill>
                <a:effectLst/>
                <a:latin typeface="Times New Roman" panose="02020603050405020304"/>
                <a:cs typeface="Times New Roman" panose="02020603050405020304"/>
              </a:rPr>
              <a:t>Organize your ideas</a:t>
            </a:r>
            <a:r>
              <a:rPr lang="en-US" sz="2400" b="1">
                <a:effectLst/>
                <a:latin typeface="Times New Roman" panose="02020603050405020304"/>
                <a:cs typeface="Times New Roman" panose="02020603050405020304"/>
              </a:rPr>
              <a:t>. </a:t>
            </a:r>
            <a:r>
              <a:rPr lang="en-US" sz="2400">
                <a:effectLst/>
                <a:latin typeface="Times New Roman" panose="02020603050405020304"/>
                <a:cs typeface="Times New Roman" panose="02020603050405020304"/>
              </a:rPr>
              <a:t>Present your ideas in an </a:t>
            </a:r>
            <a:r>
              <a:rPr lang="en-US" sz="2400" err="1">
                <a:effectLst/>
                <a:latin typeface="Times New Roman" panose="02020603050405020304"/>
                <a:cs typeface="Times New Roman" panose="02020603050405020304"/>
              </a:rPr>
              <a:t>organised</a:t>
            </a:r>
            <a:r>
              <a:rPr lang="en-US" sz="2400">
                <a:effectLst/>
                <a:latin typeface="Times New Roman" panose="02020603050405020304"/>
                <a:cs typeface="Times New Roman" panose="02020603050405020304"/>
              </a:rPr>
              <a:t> way. Be sure your ideas and your thinking are crystal clear to you. Write them down. Arrange them in light of what you know about others.</a:t>
            </a:r>
            <a:endParaRPr lang="en-US" sz="2400">
              <a:effectLst/>
              <a:latin typeface="Times New Roman" panose="02020603050405020304"/>
              <a:cs typeface="Times New Roman" panose="02020603050405020304"/>
            </a:endParaRPr>
          </a:p>
          <a:p>
            <a:r>
              <a:rPr lang="en-US" sz="2400" b="1">
                <a:solidFill>
                  <a:srgbClr val="FF0000"/>
                </a:solidFill>
                <a:effectLst/>
                <a:latin typeface="Times New Roman" panose="02020603050405020304"/>
                <a:cs typeface="Times New Roman" panose="02020603050405020304"/>
              </a:rPr>
              <a:t>Tap into people’s interests</a:t>
            </a:r>
            <a:r>
              <a:rPr lang="en-US" sz="2400">
                <a:effectLst/>
                <a:latin typeface="Times New Roman" panose="02020603050405020304"/>
                <a:cs typeface="Times New Roman" panose="02020603050405020304"/>
              </a:rPr>
              <a:t>. Present your ideas to others in a form that highlights their benefits. Strive to understand people’s needs and expectations and phrase your ideas in those terms to communicate effectively.</a:t>
            </a:r>
            <a:endParaRPr lang="en-US" sz="2400">
              <a:effectLst/>
              <a:latin typeface="Times New Roman" panose="02020603050405020304"/>
              <a:cs typeface="Times New Roman" panose="02020603050405020304"/>
            </a:endParaRPr>
          </a:p>
          <a:p>
            <a:r>
              <a:rPr lang="en-US" sz="2400" b="1">
                <a:solidFill>
                  <a:srgbClr val="FF0000"/>
                </a:solidFill>
                <a:effectLst/>
                <a:latin typeface="Times New Roman" panose="02020603050405020304"/>
                <a:cs typeface="Times New Roman" panose="02020603050405020304"/>
              </a:rPr>
              <a:t>Vary your communication style</a:t>
            </a:r>
            <a:r>
              <a:rPr lang="en-US" sz="2400">
                <a:effectLst/>
                <a:latin typeface="Times New Roman" panose="02020603050405020304"/>
                <a:cs typeface="Times New Roman" panose="02020603050405020304"/>
              </a:rPr>
              <a:t>. Use the communication style most comfortable and familiar to your listener. Adjust your style to enable your listener to understand and accept your message without the need to “translate” it. </a:t>
            </a:r>
            <a:endParaRPr lang="en-US" sz="2400">
              <a:effectLst/>
              <a:latin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276" y="270457"/>
            <a:ext cx="11075831" cy="6291330"/>
          </a:xfrm>
        </p:spPr>
        <p:txBody>
          <a:bodyPr vert="horz" lIns="91440" tIns="45720" rIns="91440" bIns="45720" rtlCol="0" anchor="t">
            <a:noAutofit/>
          </a:bodyPr>
          <a:lstStyle/>
          <a:p>
            <a:pPr fontAlgn="base"/>
            <a:endParaRPr lang="en-US" sz="2400">
              <a:latin typeface="Times New Roman" panose="02020603050405020304" pitchFamily="18" charset="0"/>
              <a:cs typeface="Times New Roman" panose="02020603050405020304" pitchFamily="18" charset="0"/>
            </a:endParaRPr>
          </a:p>
          <a:p>
            <a:pPr fontAlgn="base"/>
            <a:r>
              <a:rPr lang="en-US">
                <a:latin typeface="Times New Roman" panose="02020603050405020304"/>
                <a:cs typeface="Times New Roman" panose="02020603050405020304"/>
              </a:rPr>
              <a:t>We’ve seen lack of empathy on the world stage U.S. Presidential and Brexit elections. Pollsters and political party leaders didn’t understand voters. Politicians spent more time criticizing than listening to each other. Citizens have taken sides and set up simplified caricatures of others without fully seeking to understand them.</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We need more empathy in the political realm, but we also need more empathy in communities, families, business and all aspects of life.</a:t>
            </a:r>
            <a:endParaRPr lang="en-US" b="1">
              <a:latin typeface="Times New Roman" panose="02020603050405020304"/>
              <a:cs typeface="Times New Roman" panose="02020603050405020304"/>
            </a:endParaRPr>
          </a:p>
          <a:p>
            <a:endParaRPr lang="en-US" b="1">
              <a:latin typeface="Times New Roman" panose="02020603050405020304" pitchFamily="18" charset="0"/>
              <a:cs typeface="Times New Roman" panose="02020603050405020304" pitchFamily="18" charset="0"/>
            </a:endParaRPr>
          </a:p>
          <a:p>
            <a:r>
              <a:rPr lang="en-US" b="1" u="sng">
                <a:solidFill>
                  <a:srgbClr val="FF0000"/>
                </a:solidFill>
                <a:latin typeface="Times New Roman" panose="02020603050405020304"/>
                <a:cs typeface="Times New Roman" panose="02020603050405020304"/>
              </a:rPr>
              <a:t>Benefits of Empathic Listening</a:t>
            </a:r>
            <a:endParaRPr lang="en-US" b="1" u="sng">
              <a:solidFill>
                <a:srgbClr val="FF0000"/>
              </a:solidFill>
              <a:latin typeface="Times New Roman" panose="02020603050405020304"/>
              <a:cs typeface="Times New Roman" panose="02020603050405020304"/>
            </a:endParaRPr>
          </a:p>
          <a:p>
            <a:r>
              <a:rPr lang="en-US">
                <a:latin typeface="Times New Roman" panose="02020603050405020304"/>
                <a:cs typeface="Times New Roman" panose="02020603050405020304"/>
              </a:rPr>
              <a:t>Builds teamwork </a:t>
            </a:r>
            <a:endParaRPr lang="en-US">
              <a:latin typeface="Times New Roman" panose="02020603050405020304"/>
              <a:cs typeface="Times New Roman" panose="02020603050405020304"/>
            </a:endParaRPr>
          </a:p>
          <a:p>
            <a:r>
              <a:rPr lang="en-US">
                <a:latin typeface="Times New Roman" panose="02020603050405020304"/>
                <a:cs typeface="Times New Roman" panose="02020603050405020304"/>
              </a:rPr>
              <a:t>Gain trust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a:cs typeface="Times New Roman" panose="02020603050405020304"/>
              </a:rPr>
              <a:t>Elicit openness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a:cs typeface="Times New Roman" panose="02020603050405020304"/>
              </a:rPr>
              <a:t>Gain a sharing of ideas and thoughts.</a:t>
            </a:r>
            <a:endParaRPr lang="en-US">
              <a:latin typeface="Times New Roman" panose="02020603050405020304"/>
              <a:cs typeface="Times New Roman" panose="02020603050405020304"/>
            </a:endParaRPr>
          </a:p>
          <a:p>
            <a:r>
              <a:rPr lang="en-US">
                <a:latin typeface="Times New Roman" panose="02020603050405020304"/>
                <a:cs typeface="Times New Roman" panose="02020603050405020304"/>
              </a:rPr>
              <a:t>Obtain more valid information about the speakers and the subject </a:t>
            </a:r>
            <a:endParaRPr lang="en-US">
              <a:latin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en-US" sz="2800">
                <a:latin typeface="Times New Roman" panose="02020603050405020304" pitchFamily="18" charset="0"/>
                <a:cs typeface="Times New Roman" panose="02020603050405020304" pitchFamily="18" charset="0"/>
              </a:rPr>
              <a:t>How do you get empathy?</a:t>
            </a:r>
            <a:endParaRPr lang="en-US" sz="2800">
              <a:latin typeface="Times New Roman" panose="02020603050405020304" pitchFamily="18" charset="0"/>
              <a:cs typeface="Times New Roman" panose="02020603050405020304" pitchFamily="18" charset="0"/>
            </a:endParaRPr>
          </a:p>
          <a:p>
            <a:pPr marL="0" indent="0" algn="ctr">
              <a:buNone/>
            </a:pPr>
            <a:endParaRPr lang="en-US" sz="2800">
              <a:latin typeface="Times New Roman" panose="02020603050405020304" pitchFamily="18" charset="0"/>
              <a:cs typeface="Times New Roman" panose="02020603050405020304" pitchFamily="18" charset="0"/>
            </a:endParaRPr>
          </a:p>
          <a:p>
            <a:pPr marL="0" indent="0" algn="ctr">
              <a:buNone/>
            </a:pPr>
            <a:r>
              <a:rPr lang="en-US" sz="2800">
                <a:latin typeface="Times New Roman" panose="02020603050405020304" pitchFamily="18" charset="0"/>
                <a:cs typeface="Times New Roman" panose="02020603050405020304" pitchFamily="18" charset="0"/>
              </a:rPr>
              <a:t>How do you understand what someone else is feeling, if that isn't happening automatically?</a:t>
            </a:r>
            <a:endParaRPr lang="en-US" sz="2800">
              <a:latin typeface="Times New Roman" panose="02020603050405020304" pitchFamily="18" charset="0"/>
              <a:cs typeface="Times New Roman" panose="02020603050405020304" pitchFamily="18" charset="0"/>
            </a:endParaRPr>
          </a:p>
          <a:p>
            <a:endParaRPr lang="en-US"/>
          </a:p>
          <a:p>
            <a:endParaRPr lang="en-US"/>
          </a:p>
        </p:txBody>
      </p:sp>
      <p:pic>
        <p:nvPicPr>
          <p:cNvPr id="4098" name="Picture 2" descr="Empathy &amp; Resilience in the Wake of the Coronavirus Pandemic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0176" y="192958"/>
            <a:ext cx="4417452" cy="1812953"/>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838200" y="476518"/>
            <a:ext cx="10515600" cy="5700445"/>
          </a:xfrm>
        </p:spPr>
        <p:txBody>
          <a:bodyPr vert="horz" lIns="91440" tIns="45720" rIns="91440" bIns="45720" rtlCol="0" anchor="t">
            <a:noAutofit/>
          </a:bodyPr>
          <a:lstStyle/>
          <a:p>
            <a:r>
              <a:rPr lang="en-US" sz="2400">
                <a:latin typeface="Times New Roman" panose="02020603050405020304"/>
                <a:cs typeface="Times New Roman" panose="02020603050405020304"/>
              </a:rPr>
              <a:t>Well, to a certain extent we are all designed to naturally empathize with others. Our brains are wired to experience the emotions that someone else is feeling. That's why we wince when someone hits their hand with a hammer, or why we're more likely to laugh if someone else is laughing too. </a:t>
            </a:r>
            <a:endParaRPr lang="en-US" sz="2400">
              <a:latin typeface="Times New Roman" panose="02020603050405020304"/>
              <a:cs typeface="Times New Roman" panose="02020603050405020304"/>
            </a:endParaRPr>
          </a:p>
          <a:p>
            <a:endParaRPr lang="en-US" sz="2400" b="1">
              <a:latin typeface="Times New Roman" panose="02020603050405020304" pitchFamily="18" charset="0"/>
              <a:cs typeface="Times New Roman" panose="02020603050405020304" pitchFamily="18" charset="0"/>
            </a:endParaRPr>
          </a:p>
          <a:p>
            <a:r>
              <a:rPr lang="en-US" sz="2400" b="1" u="sng">
                <a:solidFill>
                  <a:srgbClr val="FF0000"/>
                </a:solidFill>
                <a:latin typeface="Times New Roman" panose="02020603050405020304"/>
                <a:cs typeface="Times New Roman" panose="02020603050405020304"/>
              </a:rPr>
              <a:t>Demonstrating empathy takes effort and practice.</a:t>
            </a:r>
            <a:endParaRPr lang="en-US" sz="2400" b="1" u="sng">
              <a:solidFill>
                <a:srgbClr val="FF0000"/>
              </a:solidFill>
              <a:latin typeface="Times New Roman" panose="02020603050405020304"/>
              <a:cs typeface="Times New Roman" panose="02020603050405020304"/>
            </a:endParaRPr>
          </a:p>
          <a:p>
            <a:r>
              <a:rPr lang="en-US" sz="2400">
                <a:latin typeface="Times New Roman" panose="02020603050405020304" pitchFamily="18" charset="0"/>
                <a:cs typeface="Times New Roman" panose="02020603050405020304" pitchFamily="18" charset="0"/>
              </a:rPr>
              <a:t>To demonstrate empathy, most of us need to follow these tips:</a:t>
            </a:r>
            <a:endParaRPr lang="en-US" sz="2400" b="1">
              <a:latin typeface="Times New Roman" panose="02020603050405020304" pitchFamily="18" charset="0"/>
              <a:cs typeface="Times New Roman" panose="02020603050405020304" pitchFamily="18" charset="0"/>
            </a:endParaRPr>
          </a:p>
          <a:p>
            <a:r>
              <a:rPr lang="en-US" sz="2400" b="1">
                <a:effectLst/>
                <a:latin typeface="Times New Roman" panose="02020603050405020304" pitchFamily="18" charset="0"/>
                <a:cs typeface="Times New Roman" panose="02020603050405020304" pitchFamily="18" charset="0"/>
              </a:rPr>
              <a:t>Talk less, listen more.</a:t>
            </a: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cs typeface="Times New Roman" panose="02020603050405020304" pitchFamily="18" charset="0"/>
            </a:endParaRPr>
          </a:p>
          <a:p>
            <a:r>
              <a:rPr lang="en-US" sz="2400" b="1">
                <a:effectLst/>
                <a:latin typeface="Times New Roman" panose="02020603050405020304" pitchFamily="18" charset="0"/>
                <a:cs typeface="Times New Roman" panose="02020603050405020304" pitchFamily="18" charset="0"/>
              </a:rPr>
              <a:t>Listen to connect.</a:t>
            </a:r>
            <a:endParaRPr lang="en-US" sz="2400">
              <a:effectLst/>
              <a:latin typeface="Times New Roman" panose="02020603050405020304" pitchFamily="18" charset="0"/>
              <a:cs typeface="Times New Roman" panose="02020603050405020304" pitchFamily="18" charset="0"/>
            </a:endParaRPr>
          </a:p>
          <a:p>
            <a:r>
              <a:rPr lang="en-US" sz="2400" b="1">
                <a:effectLst/>
                <a:latin typeface="Times New Roman" panose="02020603050405020304" pitchFamily="18" charset="0"/>
                <a:cs typeface="Times New Roman" panose="02020603050405020304" pitchFamily="18" charset="0"/>
              </a:rPr>
              <a:t>Let the other person go first.</a:t>
            </a:r>
            <a:r>
              <a:rPr lang="en-US" sz="2400">
                <a:effectLst/>
                <a:latin typeface="Times New Roman" panose="02020603050405020304" pitchFamily="18" charset="0"/>
                <a:cs typeface="Times New Roman" panose="02020603050405020304" pitchFamily="18" charset="0"/>
              </a:rPr>
              <a:t> </a:t>
            </a:r>
            <a:endParaRPr lang="en-US" sz="2400">
              <a:effectLst/>
              <a:latin typeface="Times New Roman" panose="02020603050405020304" pitchFamily="18" charset="0"/>
              <a:cs typeface="Times New Roman" panose="02020603050405020304" pitchFamily="18" charset="0"/>
            </a:endParaRPr>
          </a:p>
          <a:p>
            <a:r>
              <a:rPr lang="en-US" sz="2400" b="1">
                <a:effectLst/>
                <a:latin typeface="Times New Roman" panose="02020603050405020304" pitchFamily="18" charset="0"/>
                <a:cs typeface="Times New Roman" panose="02020603050405020304" pitchFamily="18" charset="0"/>
              </a:rPr>
              <a:t>Let people know you understand before moving on.</a:t>
            </a:r>
            <a:endParaRPr lang="en-US" sz="240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412326"/>
            <a:ext cx="10353761" cy="1326321"/>
          </a:xfrm>
        </p:spPr>
        <p:txBody>
          <a:bodyPr>
            <a:normAutofit/>
          </a:bodyPr>
          <a:lstStyle/>
          <a:p>
            <a:r>
              <a:rPr lang="en-US" sz="3200" b="1" cap="all">
                <a:latin typeface="Times New Roman" panose="02020603050405020304" pitchFamily="18" charset="0"/>
                <a:cs typeface="Times New Roman" panose="02020603050405020304" pitchFamily="18" charset="0"/>
              </a:rPr>
              <a:t>CONVERSATIONAL SKILLS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5" y="1738647"/>
            <a:ext cx="10353762" cy="4559121"/>
          </a:xfrm>
        </p:spPr>
        <p:txBody>
          <a:bodyPr>
            <a:noAutofit/>
          </a:bodyPr>
          <a:lstStyle/>
          <a:p>
            <a:r>
              <a:rPr lang="en-US" sz="2400">
                <a:effectLst/>
                <a:latin typeface="Times New Roman" panose="02020603050405020304" pitchFamily="18" charset="0"/>
                <a:cs typeface="Times New Roman" panose="02020603050405020304" pitchFamily="18" charset="0"/>
              </a:rPr>
              <a:t>"Talking is creating confusion".</a:t>
            </a:r>
            <a:endParaRPr lang="en-US" sz="2400">
              <a:effectLst/>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 Nobody wants it, nevertheless the above proverb has often emerged. Leading a conversation that leads to a suitable conclusion often proves to be difficult. The effect of words can be different from what was foreseen, so confusion and misunderstanding may result.</a:t>
            </a:r>
            <a:endParaRPr lang="en-US" sz="2400">
              <a:effectLst/>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It is of importance, to avoid such situations as much as possible in a culture as ours, where conversations play a crucial role.</a:t>
            </a:r>
            <a:endParaRPr lang="en-US" sz="2400">
              <a:effectLst/>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With the help of certain skills a conversation can be carefully prepared and its guidance and evaluation enhanced.</a:t>
            </a:r>
            <a:endParaRPr lang="en-US" sz="240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2279" y="1310453"/>
            <a:ext cx="10353762" cy="3695136"/>
          </a:xfrm>
        </p:spPr>
        <p:txBody>
          <a:bodyPr/>
          <a:lstStyle/>
          <a:p>
            <a:endParaRPr lang="en-US"/>
          </a:p>
          <a:p>
            <a:pPr marL="0" indent="0">
              <a:buNone/>
            </a:pPr>
            <a:endParaRPr lang="en-US"/>
          </a:p>
          <a:p>
            <a:endParaRPr lang="en-US"/>
          </a:p>
          <a:p>
            <a:pPr marL="0" indent="0" algn="ctr">
              <a:buNone/>
            </a:pPr>
            <a:r>
              <a:rPr lang="en-US" sz="3600">
                <a:effectLst/>
                <a:latin typeface="Times New Roman" panose="02020603050405020304" pitchFamily="18" charset="0"/>
                <a:cs typeface="Times New Roman" panose="02020603050405020304" pitchFamily="18" charset="0"/>
              </a:rPr>
              <a:t>Why is it important to cultivate good conversational skills?</a:t>
            </a:r>
            <a:endParaRPr lang="en-US" sz="3600">
              <a:effectLst/>
              <a:latin typeface="Times New Roman" panose="02020603050405020304" pitchFamily="18" charset="0"/>
              <a:cs typeface="Times New Roman" panose="02020603050405020304" pitchFamily="18" charset="0"/>
            </a:endParaRPr>
          </a:p>
        </p:txBody>
      </p:sp>
      <p:pic>
        <p:nvPicPr>
          <p:cNvPr id="5126" name="Picture 6" descr="man men woman women queston mark - The Master Negotiator &amp; Body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6059" y="540912"/>
            <a:ext cx="2314575" cy="20863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718"/>
            <a:ext cx="10353761" cy="1326321"/>
          </a:xfrm>
        </p:spPr>
        <p:txBody>
          <a:bodyPr>
            <a:normAutofit/>
          </a:bodyPr>
          <a:lstStyle/>
          <a:p>
            <a:r>
              <a:rPr lang="en-US" sz="3600" b="1" cap="all">
                <a:latin typeface="Times New Roman" panose="02020603050405020304" pitchFamily="18" charset="0"/>
                <a:cs typeface="Times New Roman" panose="02020603050405020304" pitchFamily="18" charset="0"/>
              </a:rPr>
              <a:t>CONVERSATIONAL SKILLS</a:t>
            </a:r>
            <a:endParaRPr 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61984"/>
            <a:ext cx="10515600" cy="4781237"/>
          </a:xfrm>
        </p:spPr>
        <p:txBody>
          <a:bodyPr>
            <a:noAutofit/>
          </a:bodyPr>
          <a:lstStyle/>
          <a:p>
            <a:r>
              <a:rPr lang="en-US" sz="2400">
                <a:latin typeface="Times New Roman" panose="02020603050405020304" pitchFamily="18" charset="0"/>
                <a:cs typeface="Times New Roman" panose="02020603050405020304" pitchFamily="18" charset="0"/>
              </a:rPr>
              <a:t>Conversations are generally thought of as casual informal chats which are primarily used to build rapport. </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However, conversations can take place in a more formal context and can have a variety of purposes, including persuading, demonstrating expertise or negotiating a business deal.</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One misunderstanding of conversational skills is the belief that personality traits and language proficiency are solely responsible for sustaining a conversation. </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This view neglects other aspects, such as the participants’ perceptions of themselves and their conversation partners. For example, if someone believes that their conversation partner is unfriendly, it is unlikely that they are going to put in much effort into sustaining the interaction.</a:t>
            </a: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a:latin typeface="Times New Roman" panose="02020603050405020304" pitchFamily="18" charset="0"/>
                <a:cs typeface="Times New Roman" panose="02020603050405020304" pitchFamily="18" charset="0"/>
              </a:rPr>
              <a:t>Conversation skills include an ability to initiate, sustain and end a conversation.</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 A lack of any one of these skills may result in individuals initiating new topics inappropriately or ending a conversation abruptly. While it is important to know how to sustain a conversation, it is equally important to know how to begin it and when to end it.</a:t>
            </a: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885" y="94445"/>
            <a:ext cx="10353761" cy="1326321"/>
          </a:xfrm>
        </p:spPr>
        <p:txBody>
          <a:bodyPr/>
          <a:lstStyle/>
          <a:p>
            <a:r>
              <a:rPr lang="en-US">
                <a:latin typeface="Times New Roman" panose="02020603050405020304" pitchFamily="18" charset="0"/>
                <a:cs typeface="Times New Roman" panose="02020603050405020304" pitchFamily="18" charset="0"/>
              </a:rPr>
              <a:t>Components of a good conversationalist </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5" y="1420766"/>
            <a:ext cx="10353762" cy="5211854"/>
          </a:xfrm>
        </p:spPr>
        <p:txBody>
          <a:bodyPr>
            <a:normAutofit fontScale="55000" lnSpcReduction="20000"/>
          </a:bodyPr>
          <a:lstStyle/>
          <a:p>
            <a:r>
              <a:rPr lang="en-US" sz="3300">
                <a:latin typeface="Times New Roman" panose="02020603050405020304" pitchFamily="18" charset="0"/>
                <a:cs typeface="Times New Roman" panose="02020603050405020304" pitchFamily="18" charset="0"/>
              </a:rPr>
              <a:t>To know about any topic, culture, politics, sports, entertainment, others.</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Information means power to be a good observer.</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Eye contact/To smile/Create a good atmosphere.</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Initiative/tranquility.</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Presentation/ To find deals in common.</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To show interest respectfully.</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To hear the other person.</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to make them feel they the center of attention.</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 To use follow up questions.</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To give my opinion but respect other’s opinions.</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To ask for advice.</a:t>
            </a:r>
            <a:endParaRPr lang="en-US" sz="3300">
              <a:latin typeface="Times New Roman" panose="02020603050405020304" pitchFamily="18" charset="0"/>
              <a:cs typeface="Times New Roman" panose="02020603050405020304" pitchFamily="18" charset="0"/>
            </a:endParaRPr>
          </a:p>
          <a:p>
            <a:r>
              <a:rPr lang="en-US" sz="3300">
                <a:latin typeface="Times New Roman" panose="02020603050405020304" pitchFamily="18" charset="0"/>
                <a:cs typeface="Times New Roman" panose="02020603050405020304" pitchFamily="18" charset="0"/>
              </a:rPr>
              <a:t>Do not interrupt. Do not hog the conversation. Wait to give your opinion</a:t>
            </a:r>
            <a:r>
              <a:rPr lang="en-US"/>
              <a:t>.</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BASIC SKILLS FOR GOOD CONVERSATION</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5" y="1790163"/>
            <a:ext cx="10353762" cy="4829577"/>
          </a:xfrm>
        </p:spPr>
        <p:txBody>
          <a:bodyPr vert="horz" lIns="91440" tIns="45720" rIns="91440" bIns="45720" rtlCol="0" anchor="t">
            <a:normAutofit/>
          </a:bodyPr>
          <a:lstStyle/>
          <a:p>
            <a:r>
              <a:rPr lang="en-US">
                <a:latin typeface="Times New Roman" panose="02020603050405020304"/>
                <a:cs typeface="Times New Roman" panose="02020603050405020304"/>
              </a:rPr>
              <a:t>Conversation is a challenging activity, because during it you must do several things at the same time: listen (and mentally process the information so you can understand), think about what you'll want to say when you respond, and speak (so you can be understood).</a:t>
            </a:r>
            <a:endParaRPr lang="en-US">
              <a:latin typeface="Times New Roman" panose="02020603050405020304"/>
              <a:cs typeface="Times New Roman" panose="02020603050405020304"/>
            </a:endParaRPr>
          </a:p>
          <a:p>
            <a:r>
              <a:rPr lang="en-US" u="sng">
                <a:solidFill>
                  <a:srgbClr val="FF0000"/>
                </a:solidFill>
                <a:latin typeface="Times New Roman" panose="02020603050405020304"/>
                <a:cs typeface="Times New Roman" panose="02020603050405020304"/>
              </a:rPr>
              <a:t>GOOD IDEAS AND LANGUAGE SKILL</a:t>
            </a:r>
            <a:r>
              <a:rPr lang="en-US" u="sng">
                <a:latin typeface="Times New Roman" panose="02020603050405020304"/>
                <a:cs typeface="Times New Roman" panose="02020603050405020304"/>
              </a:rPr>
              <a:t> </a:t>
            </a:r>
            <a:r>
              <a:rPr lang="en-US">
                <a:latin typeface="Times New Roman" panose="02020603050405020304"/>
                <a:cs typeface="Times New Roman" panose="02020603050405020304"/>
              </a:rPr>
              <a:t>- pronunciation, grammar &amp; word order, pacing, appropriate (for audience &amp; message), is important for effective communication.</a:t>
            </a:r>
            <a:endParaRPr lang="en-US">
              <a:latin typeface="Times New Roman" panose="02020603050405020304"/>
              <a:cs typeface="Times New Roman" panose="02020603050405020304"/>
            </a:endParaRPr>
          </a:p>
          <a:p>
            <a:r>
              <a:rPr lang="en-US" u="sng">
                <a:solidFill>
                  <a:srgbClr val="FF0000"/>
                </a:solidFill>
                <a:latin typeface="Times New Roman" panose="02020603050405020304"/>
                <a:cs typeface="Times New Roman" panose="02020603050405020304"/>
              </a:rPr>
              <a:t>Develop a clear goal </a:t>
            </a:r>
            <a:r>
              <a:rPr lang="en-US">
                <a:solidFill>
                  <a:srgbClr val="FF0000"/>
                </a:solidFill>
                <a:latin typeface="Times New Roman" panose="02020603050405020304"/>
                <a:cs typeface="Times New Roman" panose="02020603050405020304"/>
              </a:rPr>
              <a:t>(what do you want to say?)</a:t>
            </a:r>
            <a:r>
              <a:rPr lang="en-US">
                <a:latin typeface="Times New Roman" panose="02020603050405020304"/>
                <a:cs typeface="Times New Roman" panose="02020603050405020304"/>
              </a:rPr>
              <a:t> with ideas (to say information, ask questions, persuade for argument or a sale) expressed in way listener/reader can understand (what do they know, what is their perspective? can you appeal to their interests?) and check for feedback from listeners (do they look interested? confused?) so you can adjust what you are saying, and how you say it.</a:t>
            </a:r>
            <a:endParaRPr lang="en-US">
              <a:latin typeface="Times New Roman" panose="02020603050405020304"/>
              <a:cs typeface="Times New Roman" panose="02020603050405020304"/>
            </a:endParaRPr>
          </a:p>
          <a:p>
            <a:pPr marL="0" indent="0">
              <a:buNone/>
            </a:pP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875763"/>
            <a:ext cx="10353762" cy="5705341"/>
          </a:xfrm>
        </p:spPr>
        <p:txBody>
          <a:bodyPr vert="horz" lIns="91440" tIns="45720" rIns="91440" bIns="45720" rtlCol="0" anchor="t">
            <a:normAutofit fontScale="92500" lnSpcReduction="20000"/>
          </a:bodyPr>
          <a:lstStyle/>
          <a:p>
            <a:r>
              <a:rPr lang="en-US" u="sng">
                <a:solidFill>
                  <a:srgbClr val="FF0000"/>
                </a:solidFill>
                <a:effectLst/>
                <a:latin typeface="Times New Roman" panose="02020603050405020304"/>
                <a:cs typeface="Times New Roman" panose="02020603050405020304"/>
              </a:rPr>
              <a:t>LISTENING SKILLS:</a:t>
            </a:r>
            <a:endParaRPr lang="en-US" u="sng">
              <a:solidFill>
                <a:srgbClr val="FF0000"/>
              </a:solidFill>
              <a:effectLst/>
              <a:latin typeface="Times New Roman" panose="02020603050405020304"/>
              <a:cs typeface="Times New Roman" panose="02020603050405020304"/>
            </a:endParaRPr>
          </a:p>
          <a:p>
            <a:r>
              <a:rPr lang="en-US">
                <a:effectLst/>
                <a:latin typeface="Times New Roman" panose="02020603050405020304"/>
                <a:cs typeface="Times New Roman" panose="02020603050405020304"/>
              </a:rPr>
              <a:t>listening is important, so listen to speaker with your full attention; minimize external distractions (or ignore them), and try to minimize internal distractions (when you're multi-tasking with your attention being split between listening and your own thinking).</a:t>
            </a:r>
            <a:endParaRPr lang="en-US">
              <a:effectLst/>
              <a:latin typeface="Times New Roman" panose="02020603050405020304"/>
              <a:cs typeface="Times New Roman" panose="02020603050405020304"/>
            </a:endParaRPr>
          </a:p>
          <a:p>
            <a:r>
              <a:rPr lang="en-US" u="sng">
                <a:solidFill>
                  <a:srgbClr val="FF0000"/>
                </a:solidFill>
                <a:latin typeface="Times New Roman" panose="02020603050405020304"/>
                <a:cs typeface="Times New Roman" panose="02020603050405020304"/>
              </a:rPr>
              <a:t>SPEAKING SKILLS:</a:t>
            </a:r>
            <a:endParaRPr lang="en-US" u="sng">
              <a:solidFill>
                <a:srgbClr val="FF0000"/>
              </a:solidFill>
              <a:latin typeface="Times New Roman" panose="02020603050405020304"/>
              <a:cs typeface="Times New Roman" panose="02020603050405020304"/>
            </a:endParaRPr>
          </a:p>
          <a:p>
            <a:r>
              <a:rPr lang="en-US">
                <a:solidFill>
                  <a:srgbClr val="FF0000"/>
                </a:solidFill>
                <a:latin typeface="Times New Roman" panose="02020603050405020304"/>
                <a:cs typeface="Times New Roman" panose="02020603050405020304"/>
              </a:rPr>
              <a:t>PACING</a:t>
            </a:r>
            <a:r>
              <a:rPr lang="en-US">
                <a:latin typeface="Times New Roman" panose="02020603050405020304"/>
                <a:cs typeface="Times New Roman" panose="02020603050405020304"/>
              </a:rPr>
              <a:t> — Speak more slowly. </a:t>
            </a:r>
            <a:endParaRPr lang="en-US">
              <a:latin typeface="Times New Roman" panose="02020603050405020304" pitchFamily="18" charset="0"/>
              <a:cs typeface="Times New Roman" panose="02020603050405020304" pitchFamily="18" charset="0"/>
            </a:endParaRPr>
          </a:p>
          <a:p>
            <a:r>
              <a:rPr lang="en-US">
                <a:solidFill>
                  <a:srgbClr val="FF0000"/>
                </a:solidFill>
                <a:latin typeface="Times New Roman" panose="02020603050405020304"/>
                <a:cs typeface="Times New Roman" panose="02020603050405020304"/>
              </a:rPr>
              <a:t>Why? </a:t>
            </a:r>
            <a:endParaRPr lang="en-US">
              <a:solidFill>
                <a:srgbClr val="FF0000"/>
              </a:solidFill>
              <a:latin typeface="Times New Roman" panose="02020603050405020304" pitchFamily="18" charset="0"/>
              <a:cs typeface="Times New Roman" panose="02020603050405020304" pitchFamily="18" charset="0"/>
            </a:endParaRPr>
          </a:p>
          <a:p>
            <a:r>
              <a:rPr lang="en-US">
                <a:latin typeface="Times New Roman" panose="02020603050405020304"/>
                <a:cs typeface="Times New Roman" panose="02020603050405020304"/>
              </a:rPr>
              <a:t>give LISTENER more time to hear &amp; mentally process your WORDS (more difficult to understand due to your accent) and IDEAS, and for you to provide logical "cues" about your ideas" by using brief pausing-stops to emphasize important words and to clarify the logical structure of your ideas; this also lets a listener "catch up with you" and think about what you are saying.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a:cs typeface="Times New Roman" panose="02020603050405020304"/>
              </a:rPr>
              <a:t>give YOU more time to plan your own IDEAS and word-order, and to self-monitor your own PRONUNCIATION.</a:t>
            </a:r>
            <a:endParaRPr lang="en-US">
              <a:latin typeface="Times New Roman" panose="02020603050405020304"/>
              <a:cs typeface="Times New Roman" panose="02020603050405020304"/>
            </a:endParaRPr>
          </a:p>
          <a:p>
            <a:r>
              <a:rPr lang="en-US" u="sng">
                <a:solidFill>
                  <a:srgbClr val="FF0000"/>
                </a:solidFill>
                <a:latin typeface="Times New Roman" panose="02020603050405020304"/>
                <a:cs typeface="Times New Roman" panose="02020603050405020304"/>
              </a:rPr>
              <a:t>LOUDNESS</a:t>
            </a:r>
            <a:r>
              <a:rPr lang="en-US">
                <a:latin typeface="Times New Roman" panose="02020603050405020304"/>
                <a:cs typeface="Times New Roman" panose="02020603050405020304"/>
              </a:rPr>
              <a:t> — Speak more loudly. (details are in handout, outline-summary is below) If you speak with enough loudness, it helps listeners understand your words and ideas even if you speak with some accent</a:t>
            </a:r>
            <a:endParaRPr lang="en-US">
              <a:effectLst/>
              <a:latin typeface="Times New Roman" panose="02020603050405020304"/>
              <a:cs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991673"/>
            <a:ext cx="10353762" cy="5177307"/>
          </a:xfrm>
        </p:spPr>
        <p:txBody>
          <a:bodyPr vert="horz" lIns="91440" tIns="45720" rIns="91440" bIns="45720" rtlCol="0" anchor="t">
            <a:normAutofit/>
          </a:bodyPr>
          <a:lstStyle/>
          <a:p>
            <a:r>
              <a:rPr lang="en-US" sz="2400">
                <a:solidFill>
                  <a:srgbClr val="FF0000"/>
                </a:solidFill>
                <a:latin typeface="Times New Roman" panose="02020603050405020304"/>
                <a:cs typeface="Times New Roman" panose="02020603050405020304"/>
              </a:rPr>
              <a:t>PROPER WORD ORDER</a:t>
            </a:r>
            <a:endParaRPr lang="en-US" sz="2400">
              <a:solidFill>
                <a:srgbClr val="FF0000"/>
              </a:solidFill>
              <a:latin typeface="Times New Roman" panose="02020603050405020304"/>
              <a:cs typeface="Times New Roman" panose="02020603050405020304"/>
            </a:endParaRPr>
          </a:p>
          <a:p>
            <a:r>
              <a:rPr lang="en-US" sz="2400">
                <a:solidFill>
                  <a:srgbClr val="FF0000"/>
                </a:solidFill>
                <a:latin typeface="Times New Roman" panose="02020603050405020304"/>
                <a:cs typeface="Times New Roman" panose="02020603050405020304"/>
              </a:rPr>
              <a:t>CONFIDENCE</a:t>
            </a:r>
            <a:r>
              <a:rPr lang="en-US" sz="2400">
                <a:latin typeface="Times New Roman" panose="02020603050405020304"/>
                <a:cs typeface="Times New Roman" panose="02020603050405020304"/>
              </a:rPr>
              <a:t> In conversations and discussions, be confident and friendly, despite your uncertainties and your frustration at not being able to express ideas with the high level of skillful fluency that you have in your own language.</a:t>
            </a:r>
            <a:endParaRPr lang="en-US" sz="2400">
              <a:latin typeface="Times New Roman" panose="02020603050405020304"/>
              <a:cs typeface="Times New Roman" panose="02020603050405020304"/>
            </a:endParaRPr>
          </a:p>
          <a:p>
            <a:r>
              <a:rPr lang="en-US" sz="2400">
                <a:solidFill>
                  <a:srgbClr val="FF0000"/>
                </a:solidFill>
                <a:latin typeface="Times New Roman" panose="02020603050405020304"/>
                <a:cs typeface="Times New Roman" panose="02020603050405020304"/>
              </a:rPr>
              <a:t>NONVERBAL COMMUNICATION nonverbal</a:t>
            </a:r>
            <a:r>
              <a:rPr lang="en-US" sz="2400">
                <a:latin typeface="Times New Roman" panose="02020603050405020304"/>
                <a:cs typeface="Times New Roman" panose="02020603050405020304"/>
              </a:rPr>
              <a:t> — "body language" with eye contact, tilt of head, face toward listener, general posture (shoulders,...), hand gestures (coordinated with what you're saying) </a:t>
            </a:r>
            <a:endParaRPr lang="en-US" sz="2400">
              <a:latin typeface="Times New Roman" panose="02020603050405020304" pitchFamily="18" charset="0"/>
              <a:cs typeface="Times New Roman" panose="02020603050405020304" pitchFamily="18" charset="0"/>
            </a:endParaRPr>
          </a:p>
          <a:p>
            <a:r>
              <a:rPr lang="en-US" sz="2400">
                <a:solidFill>
                  <a:srgbClr val="FF0000"/>
                </a:solidFill>
                <a:latin typeface="Times New Roman" panose="02020603050405020304"/>
                <a:cs typeface="Times New Roman" panose="02020603050405020304"/>
              </a:rPr>
              <a:t>verbal </a:t>
            </a:r>
            <a:r>
              <a:rPr lang="en-US" sz="2400">
                <a:latin typeface="Times New Roman" panose="02020603050405020304"/>
                <a:cs typeface="Times New Roman" panose="02020603050405020304"/>
              </a:rPr>
              <a:t>— For emphasis, give cues about the "important words in a sentence" by combining some or all of these cues to show what you want to emphasize: change of timing (brief pause), loudness, or pitch; plus hand gesture.</a:t>
            </a:r>
            <a:endParaRPr lang="en-US" sz="2400">
              <a:latin typeface="Times New Roman" panose="02020603050405020304"/>
              <a:cs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Established Listening </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5" y="1687132"/>
            <a:ext cx="10353762" cy="4803820"/>
          </a:xfrm>
        </p:spPr>
        <p:txBody>
          <a:bodyPr vert="horz" lIns="91440" tIns="45720" rIns="91440" bIns="45720" rtlCol="0" anchor="t">
            <a:normAutofit/>
          </a:bodyPr>
          <a:lstStyle/>
          <a:p>
            <a:r>
              <a:rPr lang="en-US">
                <a:effectLst/>
                <a:latin typeface="Times New Roman" panose="02020603050405020304" pitchFamily="18" charset="0"/>
                <a:cs typeface="Times New Roman" panose="02020603050405020304" pitchFamily="18" charset="0"/>
              </a:rPr>
              <a:t>There are five key active listening techniques that is important for effective communication:</a:t>
            </a:r>
            <a:endParaRPr lang="en-US">
              <a:effectLst/>
              <a:latin typeface="Times New Roman" panose="02020603050405020304" pitchFamily="18" charset="0"/>
              <a:cs typeface="Times New Roman" panose="02020603050405020304" pitchFamily="18" charset="0"/>
            </a:endParaRPr>
          </a:p>
          <a:p>
            <a:pPr marL="0" indent="0">
              <a:buNone/>
            </a:pPr>
            <a:r>
              <a:rPr lang="en-US" b="1">
                <a:solidFill>
                  <a:srgbClr val="FF0000"/>
                </a:solidFill>
                <a:effectLst/>
                <a:latin typeface="Times New Roman" panose="02020603050405020304"/>
                <a:cs typeface="Times New Roman" panose="02020603050405020304"/>
              </a:rPr>
              <a:t>  1. Pay Attention</a:t>
            </a:r>
            <a:endParaRPr lang="en-US" b="1">
              <a:solidFill>
                <a:srgbClr val="FF0000"/>
              </a:solidFill>
              <a:effectLst/>
              <a:latin typeface="Times New Roman" panose="02020603050405020304"/>
              <a:cs typeface="Times New Roman" panose="02020603050405020304"/>
            </a:endParaRPr>
          </a:p>
          <a:p>
            <a:pPr fontAlgn="base"/>
            <a:r>
              <a:rPr lang="en-US">
                <a:effectLst/>
                <a:latin typeface="Times New Roman" panose="02020603050405020304"/>
                <a:cs typeface="Times New Roman" panose="02020603050405020304"/>
              </a:rPr>
              <a:t>Give the speaker your undivided attention, and acknowledge the message. Recognize that non-verbal communication also "speaks" loudly.</a:t>
            </a:r>
            <a:endParaRPr lang="en-US">
              <a:effectLst/>
              <a:latin typeface="Times New Roman" panose="02020603050405020304"/>
              <a:cs typeface="Times New Roman" panose="02020603050405020304"/>
            </a:endParaRPr>
          </a:p>
          <a:p>
            <a:pPr fontAlgn="base"/>
            <a:r>
              <a:rPr lang="en-US">
                <a:effectLst/>
                <a:latin typeface="Times New Roman" panose="02020603050405020304" pitchFamily="18" charset="0"/>
                <a:cs typeface="Times New Roman" panose="02020603050405020304" pitchFamily="18" charset="0"/>
              </a:rPr>
              <a:t>Look at the speaker directly.</a:t>
            </a:r>
            <a:endParaRPr lang="en-US">
              <a:effectLst/>
              <a:latin typeface="Times New Roman" panose="02020603050405020304" pitchFamily="18" charset="0"/>
              <a:cs typeface="Times New Roman" panose="02020603050405020304" pitchFamily="18" charset="0"/>
            </a:endParaRPr>
          </a:p>
          <a:p>
            <a:pPr fontAlgn="base"/>
            <a:r>
              <a:rPr lang="en-US">
                <a:effectLst/>
                <a:latin typeface="Times New Roman" panose="02020603050405020304" pitchFamily="18" charset="0"/>
                <a:cs typeface="Times New Roman" panose="02020603050405020304" pitchFamily="18" charset="0"/>
              </a:rPr>
              <a:t>Put aside distracting thoughts.</a:t>
            </a:r>
            <a:endParaRPr lang="en-US">
              <a:effectLst/>
              <a:latin typeface="Times New Roman" panose="02020603050405020304" pitchFamily="18" charset="0"/>
              <a:cs typeface="Times New Roman" panose="02020603050405020304" pitchFamily="18" charset="0"/>
            </a:endParaRPr>
          </a:p>
          <a:p>
            <a:pPr fontAlgn="base"/>
            <a:r>
              <a:rPr lang="en-US">
                <a:effectLst/>
                <a:latin typeface="Times New Roman" panose="02020603050405020304" pitchFamily="18" charset="0"/>
                <a:cs typeface="Times New Roman" panose="02020603050405020304" pitchFamily="18" charset="0"/>
              </a:rPr>
              <a:t>Don't mentally prepare a rebuttal!</a:t>
            </a:r>
            <a:endParaRPr lang="en-US">
              <a:effectLst/>
              <a:latin typeface="Times New Roman" panose="02020603050405020304" pitchFamily="18" charset="0"/>
              <a:cs typeface="Times New Roman" panose="02020603050405020304" pitchFamily="18" charset="0"/>
            </a:endParaRPr>
          </a:p>
          <a:p>
            <a:pPr fontAlgn="base"/>
            <a:r>
              <a:rPr lang="en-US">
                <a:effectLst/>
                <a:latin typeface="Times New Roman" panose="02020603050405020304" pitchFamily="18" charset="0"/>
                <a:cs typeface="Times New Roman" panose="02020603050405020304" pitchFamily="18" charset="0"/>
              </a:rPr>
              <a:t>Avoid being distracted by environmental factors. For example, side conversations.</a:t>
            </a:r>
            <a:endParaRPr lang="en-US">
              <a:effectLst/>
              <a:latin typeface="Times New Roman" panose="02020603050405020304" pitchFamily="18" charset="0"/>
              <a:cs typeface="Times New Roman" panose="02020603050405020304" pitchFamily="18" charset="0"/>
            </a:endParaRPr>
          </a:p>
          <a:p>
            <a:pPr fontAlgn="base"/>
            <a:r>
              <a:rPr lang="en-US">
                <a:effectLst/>
                <a:latin typeface="Times New Roman" panose="02020603050405020304" pitchFamily="18" charset="0"/>
                <a:cs typeface="Times New Roman" panose="02020603050405020304" pitchFamily="18" charset="0"/>
              </a:rPr>
              <a:t>"Listen" to the speaker's body language. </a:t>
            </a:r>
            <a:endParaRPr lang="en-US">
              <a:effectLst/>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0607"/>
            <a:ext cx="10515600" cy="6297769"/>
          </a:xfrm>
        </p:spPr>
        <p:txBody>
          <a:bodyPr vert="horz" lIns="91440" tIns="45720" rIns="91440" bIns="45720" rtlCol="0" anchor="t">
            <a:normAutofit fontScale="92500"/>
          </a:bodyPr>
          <a:lstStyle/>
          <a:p>
            <a:pPr marL="0" indent="0" fontAlgn="base">
              <a:buNone/>
            </a:pPr>
            <a:r>
              <a:rPr lang="en-US" b="1">
                <a:solidFill>
                  <a:srgbClr val="FF0000"/>
                </a:solidFill>
                <a:latin typeface="Times New Roman" panose="02020603050405020304"/>
                <a:cs typeface="Times New Roman" panose="02020603050405020304"/>
              </a:rPr>
              <a:t>   2. Show That You're Listening</a:t>
            </a:r>
            <a:endParaRPr lang="en-US" b="1">
              <a:solidFill>
                <a:srgbClr val="FF0000"/>
              </a:solidFill>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Use your own body language and gestures to show that you are engaged.</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Nod occasionally.</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Smile and use other facial expressions.</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Make sure that your posture is open and interested.</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Encourage the speaker to continue with small verbal comments like yes, hmm and okay.</a:t>
            </a:r>
            <a:endParaRPr lang="en-US">
              <a:latin typeface="Times New Roman" panose="02020603050405020304"/>
              <a:cs typeface="Times New Roman" panose="02020603050405020304"/>
            </a:endParaRPr>
          </a:p>
          <a:p>
            <a:pPr marL="0" indent="0" fontAlgn="base">
              <a:buNone/>
            </a:pPr>
            <a:r>
              <a:rPr lang="en-US" b="1">
                <a:solidFill>
                  <a:srgbClr val="FF0000"/>
                </a:solidFill>
                <a:latin typeface="Times New Roman" panose="02020603050405020304"/>
                <a:cs typeface="Times New Roman" panose="02020603050405020304"/>
              </a:rPr>
              <a:t>    3. Provide Feedback</a:t>
            </a:r>
            <a:endParaRPr lang="en-US" b="1">
              <a:solidFill>
                <a:srgbClr val="FF0000"/>
              </a:solidFill>
              <a:latin typeface="Times New Roman" panose="02020603050405020304"/>
              <a:cs typeface="Times New Roman" panose="02020603050405020304"/>
            </a:endParaRPr>
          </a:p>
          <a:p>
            <a:pPr fontAlgn="base"/>
            <a:r>
              <a:rPr lang="en-US">
                <a:latin typeface="Times New Roman" panose="02020603050405020304" pitchFamily="18" charset="0"/>
                <a:cs typeface="Times New Roman" panose="02020603050405020304" pitchFamily="18" charset="0"/>
              </a:rPr>
              <a:t>Our personal filters, assumptions, judgments, and beliefs can distort what we hear. As a listener, your role is to understand what is being said. This may require you to reflect on what is being said and to ask questions.</a:t>
            </a:r>
            <a:endParaRPr lang="en-US">
              <a:latin typeface="Times New Roman" panose="02020603050405020304" pitchFamily="18" charset="0"/>
              <a:cs typeface="Times New Roman" panose="02020603050405020304" pitchFamily="18" charset="0"/>
            </a:endParaRPr>
          </a:p>
          <a:p>
            <a:pPr fontAlgn="base"/>
            <a:r>
              <a:rPr lang="en-US">
                <a:latin typeface="Times New Roman" panose="02020603050405020304"/>
                <a:cs typeface="Times New Roman" panose="02020603050405020304"/>
              </a:rPr>
              <a:t>Reflect on what has been said by paraphrasing. "What I'm hearing is... ," and "Sounds like you are saying... ," are great ways to reflect back.</a:t>
            </a:r>
            <a:endParaRPr lang="en-US">
              <a:latin typeface="Times New Roman" panose="02020603050405020304"/>
              <a:cs typeface="Times New Roman" panose="02020603050405020304"/>
            </a:endParaRPr>
          </a:p>
          <a:p>
            <a:pPr fontAlgn="base"/>
            <a:r>
              <a:rPr lang="en-US">
                <a:latin typeface="Times New Roman" panose="02020603050405020304" pitchFamily="18" charset="0"/>
                <a:cs typeface="Times New Roman" panose="02020603050405020304" pitchFamily="18" charset="0"/>
              </a:rPr>
              <a:t>Ask questions to clarify certain points. "What do you mean when you say... ." "Is this what you mean?"</a:t>
            </a:r>
            <a:endParaRPr lang="en-US">
              <a:latin typeface="Times New Roman" panose="02020603050405020304" pitchFamily="18" charset="0"/>
              <a:cs typeface="Times New Roman" panose="02020603050405020304" pitchFamily="18" charset="0"/>
            </a:endParaRPr>
          </a:p>
          <a:p>
            <a:pPr fontAlgn="base"/>
            <a:r>
              <a:rPr lang="en-US">
                <a:latin typeface="Times New Roman" panose="02020603050405020304" pitchFamily="18" charset="0"/>
                <a:cs typeface="Times New Roman" panose="02020603050405020304" pitchFamily="18" charset="0"/>
              </a:rPr>
              <a:t>Summarize the speaker's comments periodically.</a:t>
            </a:r>
            <a:endParaRPr 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0913"/>
            <a:ext cx="10515600" cy="5872766"/>
          </a:xfrm>
        </p:spPr>
        <p:txBody>
          <a:bodyPr vert="horz" lIns="91440" tIns="45720" rIns="91440" bIns="45720" rtlCol="0" anchor="t">
            <a:normAutofit/>
          </a:bodyPr>
          <a:lstStyle/>
          <a:p>
            <a:pPr marL="0" indent="0" fontAlgn="base">
              <a:buNone/>
            </a:pPr>
            <a:r>
              <a:rPr lang="en-US" b="1">
                <a:solidFill>
                  <a:srgbClr val="FF0000"/>
                </a:solidFill>
              </a:rPr>
              <a:t>  </a:t>
            </a:r>
            <a:r>
              <a:rPr lang="en-US" b="1">
                <a:solidFill>
                  <a:srgbClr val="FF0000"/>
                </a:solidFill>
                <a:latin typeface="Times New Roman" panose="02020603050405020304"/>
                <a:cs typeface="Times New Roman" panose="02020603050405020304"/>
              </a:rPr>
              <a:t>4. Defer Judgment</a:t>
            </a:r>
            <a:endParaRPr lang="en-US" b="1">
              <a:solidFill>
                <a:srgbClr val="FF0000"/>
              </a:solidFill>
              <a:latin typeface="Times New Roman" panose="02020603050405020304"/>
              <a:cs typeface="Times New Roman" panose="02020603050405020304"/>
            </a:endParaRPr>
          </a:p>
          <a:p>
            <a:pPr fontAlgn="base"/>
            <a:r>
              <a:rPr lang="en-US">
                <a:latin typeface="Times New Roman" panose="02020603050405020304" pitchFamily="18" charset="0"/>
                <a:cs typeface="Times New Roman" panose="02020603050405020304" pitchFamily="18" charset="0"/>
              </a:rPr>
              <a:t>Interrupting is a waste of time. It frustrates the speaker and limits full understanding of the message.</a:t>
            </a:r>
            <a:endParaRPr lang="en-US">
              <a:latin typeface="Times New Roman" panose="02020603050405020304" pitchFamily="18" charset="0"/>
              <a:cs typeface="Times New Roman" panose="02020603050405020304" pitchFamily="18" charset="0"/>
            </a:endParaRPr>
          </a:p>
          <a:p>
            <a:pPr fontAlgn="base"/>
            <a:r>
              <a:rPr lang="en-US">
                <a:latin typeface="Times New Roman" panose="02020603050405020304"/>
                <a:cs typeface="Times New Roman" panose="02020603050405020304"/>
              </a:rPr>
              <a:t>Allow the speaker to finish each point before asking questions.</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Don't interrupt with counter arguments.</a:t>
            </a:r>
            <a:endParaRPr lang="en-US">
              <a:latin typeface="Times New Roman" panose="02020603050405020304"/>
              <a:cs typeface="Times New Roman" panose="02020603050405020304"/>
            </a:endParaRPr>
          </a:p>
          <a:p>
            <a:pPr fontAlgn="base"/>
            <a:r>
              <a:rPr lang="en-US" b="1">
                <a:solidFill>
                  <a:srgbClr val="FF0000"/>
                </a:solidFill>
                <a:latin typeface="Times New Roman" panose="02020603050405020304"/>
                <a:cs typeface="Times New Roman" panose="02020603050405020304"/>
              </a:rPr>
              <a:t>5. Respond Appropriately</a:t>
            </a:r>
            <a:endParaRPr lang="en-US" b="1">
              <a:solidFill>
                <a:srgbClr val="FF0000"/>
              </a:solidFill>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Active listening is designed to encourage respect and understanding. You are gaining information and perspective. You add nothing by attacking the speaker or otherwise putting her down.</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Be candid, open and honest in your response.</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Assert your opinions respectfully.</a:t>
            </a:r>
            <a:endParaRPr lang="en-US">
              <a:latin typeface="Times New Roman" panose="02020603050405020304"/>
              <a:cs typeface="Times New Roman" panose="02020603050405020304"/>
            </a:endParaRPr>
          </a:p>
          <a:p>
            <a:pPr fontAlgn="base"/>
            <a:r>
              <a:rPr lang="en-US">
                <a:latin typeface="Times New Roman" panose="02020603050405020304"/>
                <a:cs typeface="Times New Roman" panose="02020603050405020304"/>
              </a:rPr>
              <a:t>Treat the other person in a way that you think she would want to be treated</a:t>
            </a:r>
            <a:r>
              <a:rPr lang="en-US"/>
              <a:t>.</a:t>
            </a:r>
            <a:endParaRPr lang="en-US"/>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Power of pause</a:t>
            </a:r>
            <a:endParaRPr lang="en-US"/>
          </a:p>
        </p:txBody>
      </p:sp>
      <p:sp>
        <p:nvSpPr>
          <p:cNvPr id="3" name="Content Placeholder 2"/>
          <p:cNvSpPr>
            <a:spLocks noGrp="1"/>
          </p:cNvSpPr>
          <p:nvPr>
            <p:ph idx="1"/>
          </p:nvPr>
        </p:nvSpPr>
        <p:spPr/>
        <p:txBody>
          <a:bodyPr vert="horz" lIns="91440" tIns="45720" rIns="91440" bIns="45720" rtlCol="0" anchor="t">
            <a:normAutofit/>
          </a:bodyPr>
          <a:lstStyle/>
          <a:p>
            <a:r>
              <a:rPr lang="en-US" sz="2400">
                <a:solidFill>
                  <a:srgbClr val="FF0000"/>
                </a:solidFill>
                <a:effectLst/>
                <a:latin typeface="Times New Roman" panose="02020603050405020304"/>
                <a:cs typeface="Times New Roman" panose="02020603050405020304"/>
              </a:rPr>
              <a:t>Pause</a:t>
            </a:r>
            <a:r>
              <a:rPr lang="en-US" sz="2400">
                <a:effectLst/>
                <a:latin typeface="Times New Roman" panose="02020603050405020304"/>
                <a:cs typeface="Times New Roman" panose="02020603050405020304"/>
              </a:rPr>
              <a:t>:  A pause is a temporary stop or an interval of silence and may vary in length. The speaker may use pauses to have message delivered effectively.</a:t>
            </a:r>
            <a:endParaRPr lang="en-US" sz="2400">
              <a:effectLst/>
              <a:latin typeface="Times New Roman" panose="02020603050405020304"/>
              <a:cs typeface="Times New Roman" panose="02020603050405020304"/>
            </a:endParaRPr>
          </a:p>
          <a:p>
            <a:endParaRPr lang="en-US" sz="2400">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Saying with meaningful pauses is an integral element of meaningful conversation without which no conversation remains interesting and effective for a long time. </a:t>
            </a:r>
            <a:endParaRPr lang="en-US" sz="2400">
              <a:effectLst/>
              <a:latin typeface="Times New Roman" panose="02020603050405020304" pitchFamily="18" charset="0"/>
              <a:cs typeface="Times New Roman" panose="02020603050405020304" pitchFamily="18" charset="0"/>
            </a:endParaRPr>
          </a:p>
          <a:p>
            <a:pPr marL="0" indent="0">
              <a:buNone/>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1068" y="1171977"/>
            <a:ext cx="10353762" cy="4992710"/>
          </a:xfrm>
        </p:spPr>
        <p:txBody>
          <a:bodyPr>
            <a:normAutofit/>
          </a:bodyPr>
          <a:lstStyle/>
          <a:p>
            <a:pPr fontAlgn="base"/>
            <a:r>
              <a:rPr lang="en-US" sz="2400">
                <a:effectLst/>
                <a:latin typeface="Times New Roman" panose="02020603050405020304" pitchFamily="18" charset="0"/>
                <a:cs typeface="Times New Roman" panose="02020603050405020304" pitchFamily="18" charset="0"/>
              </a:rPr>
              <a:t>We have found that there are five great benefits of learning to use the pause as a conscious skill:</a:t>
            </a:r>
            <a:endParaRPr lang="en-US" sz="2400">
              <a:effectLst/>
              <a:latin typeface="Times New Roman" panose="02020603050405020304" pitchFamily="18" charset="0"/>
              <a:cs typeface="Times New Roman" panose="02020603050405020304" pitchFamily="18" charset="0"/>
            </a:endParaRPr>
          </a:p>
          <a:p>
            <a:pPr fontAlgn="base"/>
            <a:r>
              <a:rPr lang="en-US" sz="2400">
                <a:effectLst/>
                <a:latin typeface="Times New Roman" panose="02020603050405020304" pitchFamily="18" charset="0"/>
                <a:cs typeface="Times New Roman" panose="02020603050405020304" pitchFamily="18" charset="0"/>
              </a:rPr>
              <a:t>Getting rid of the distracting non-words.</a:t>
            </a:r>
            <a:endParaRPr lang="en-US" sz="2400">
              <a:effectLst/>
              <a:latin typeface="Times New Roman" panose="02020603050405020304" pitchFamily="18" charset="0"/>
              <a:cs typeface="Times New Roman" panose="02020603050405020304" pitchFamily="18" charset="0"/>
            </a:endParaRPr>
          </a:p>
          <a:p>
            <a:pPr fontAlgn="base"/>
            <a:r>
              <a:rPr lang="en-US" sz="2400">
                <a:effectLst/>
                <a:latin typeface="Times New Roman" panose="02020603050405020304" pitchFamily="18" charset="0"/>
                <a:cs typeface="Times New Roman" panose="02020603050405020304" pitchFamily="18" charset="0"/>
              </a:rPr>
              <a:t>Allows you time to think of what to say next. </a:t>
            </a:r>
            <a:endParaRPr lang="en-US" sz="2400">
              <a:effectLst/>
              <a:latin typeface="Times New Roman" panose="02020603050405020304" pitchFamily="18" charset="0"/>
              <a:cs typeface="Times New Roman" panose="02020603050405020304" pitchFamily="18" charset="0"/>
            </a:endParaRPr>
          </a:p>
          <a:p>
            <a:pPr fontAlgn="base"/>
            <a:r>
              <a:rPr lang="en-US" sz="2400">
                <a:effectLst/>
                <a:latin typeface="Times New Roman" panose="02020603050405020304" pitchFamily="18" charset="0"/>
                <a:cs typeface="Times New Roman" panose="02020603050405020304" pitchFamily="18" charset="0"/>
              </a:rPr>
              <a:t>Relieves tension, by allowing you to breathe.</a:t>
            </a:r>
            <a:endParaRPr lang="en-US" sz="2400">
              <a:effectLst/>
              <a:latin typeface="Times New Roman" panose="02020603050405020304" pitchFamily="18" charset="0"/>
              <a:cs typeface="Times New Roman" panose="02020603050405020304" pitchFamily="18" charset="0"/>
            </a:endParaRPr>
          </a:p>
          <a:p>
            <a:pPr fontAlgn="base"/>
            <a:r>
              <a:rPr lang="en-US" sz="2400">
                <a:effectLst/>
                <a:latin typeface="Times New Roman" panose="02020603050405020304" pitchFamily="18" charset="0"/>
                <a:cs typeface="Times New Roman" panose="02020603050405020304" pitchFamily="18" charset="0"/>
              </a:rPr>
              <a:t>Reference your notes.</a:t>
            </a:r>
            <a:endParaRPr lang="en-US" sz="2400">
              <a:effectLst/>
              <a:latin typeface="Times New Roman" panose="02020603050405020304" pitchFamily="18" charset="0"/>
              <a:cs typeface="Times New Roman" panose="02020603050405020304" pitchFamily="18" charset="0"/>
            </a:endParaRPr>
          </a:p>
          <a:p>
            <a:pPr fontAlgn="base"/>
            <a:r>
              <a:rPr lang="en-US" sz="2400">
                <a:effectLst/>
                <a:latin typeface="Times New Roman" panose="02020603050405020304" pitchFamily="18" charset="0"/>
                <a:cs typeface="Times New Roman" panose="02020603050405020304" pitchFamily="18" charset="0"/>
              </a:rPr>
              <a:t>Dramatize.</a:t>
            </a:r>
            <a:endParaRPr lang="en-US" sz="2400">
              <a:effectLst/>
              <a:latin typeface="Times New Roman" panose="02020603050405020304" pitchFamily="18" charset="0"/>
              <a:cs typeface="Times New Roman" panose="02020603050405020304" pitchFamily="18" charset="0"/>
            </a:endParaRPr>
          </a:p>
          <a:p>
            <a:pPr fontAlgn="base"/>
            <a:r>
              <a:rPr lang="en-US" sz="2400">
                <a:effectLst/>
                <a:latin typeface="Times New Roman" panose="02020603050405020304" pitchFamily="18" charset="0"/>
                <a:cs typeface="Times New Roman" panose="02020603050405020304" pitchFamily="18" charset="0"/>
              </a:rPr>
              <a:t>Get back on track</a:t>
            </a:r>
            <a:endParaRPr lang="en-US" sz="2400">
              <a:effectLst/>
              <a:latin typeface="Times New Roman" panose="02020603050405020304" pitchFamily="18" charset="0"/>
              <a:cs typeface="Times New Roman" panose="02020603050405020304" pitchFamily="18" charset="0"/>
            </a:endParaRPr>
          </a:p>
          <a:p>
            <a:pPr fontAlgn="base"/>
            <a:r>
              <a:rPr lang="en-US" sz="2400">
                <a:effectLst/>
                <a:latin typeface="Times New Roman" panose="02020603050405020304" pitchFamily="18" charset="0"/>
                <a:cs typeface="Times New Roman" panose="02020603050405020304" pitchFamily="18" charset="0"/>
              </a:rPr>
              <a:t>Pause makes you sound confident and in control</a:t>
            </a:r>
            <a:endParaRPr lang="en-US" sz="2400">
              <a:effectLst/>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latin typeface="Times New Roman" panose="02020603050405020304" pitchFamily="18" charset="0"/>
                <a:cs typeface="Times New Roman" panose="02020603050405020304" pitchFamily="18" charset="0"/>
              </a:rPr>
              <a:t>Introspection and turn taking</a:t>
            </a:r>
            <a:endParaRPr lang="en-US">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5" y="2096064"/>
            <a:ext cx="10353762" cy="4304736"/>
          </a:xfrm>
        </p:spPr>
        <p:txBody>
          <a:bodyPr vert="horz" lIns="91440" tIns="45720" rIns="91440" bIns="45720" rtlCol="0" anchor="t">
            <a:normAutofit fontScale="92500" lnSpcReduction="10000"/>
          </a:bodyPr>
          <a:lstStyle/>
          <a:p>
            <a:r>
              <a:rPr lang="en-US" sz="2400">
                <a:effectLst/>
                <a:latin typeface="Times New Roman" panose="02020603050405020304" pitchFamily="18" charset="0"/>
                <a:cs typeface="Times New Roman" panose="02020603050405020304" pitchFamily="18" charset="0"/>
              </a:rPr>
              <a:t>Man is a social animal who is gifted with the power of speech. Like other social phenomenon, our conversation and communication also reflects the social organization. Hence, a good communication is also the measure of social engagement and ethics of the participants involved which is reflected with turn taking during conversations in order to allow all participants to express themselves</a:t>
            </a:r>
            <a:r>
              <a:rPr lang="en-US">
                <a:effectLst/>
              </a:rPr>
              <a:t>.</a:t>
            </a:r>
            <a:endParaRPr lang="en-US">
              <a:effectLst/>
            </a:endParaRPr>
          </a:p>
          <a:p>
            <a:endParaRPr lang="en-US">
              <a:effectLst/>
            </a:endParaRPr>
          </a:p>
          <a:p>
            <a:pPr marL="0" indent="0">
              <a:buNone/>
            </a:pPr>
            <a:r>
              <a:rPr lang="en-US" sz="2600">
                <a:solidFill>
                  <a:srgbClr val="FF0000"/>
                </a:solidFill>
                <a:effectLst/>
                <a:latin typeface="Times New Roman" panose="02020603050405020304"/>
                <a:cs typeface="Times New Roman" panose="02020603050405020304"/>
              </a:rPr>
              <a:t>   What is turn-taking?</a:t>
            </a:r>
            <a:endParaRPr lang="en-US" sz="2600">
              <a:solidFill>
                <a:srgbClr val="FF0000"/>
              </a:solidFill>
              <a:effectLst/>
              <a:latin typeface="Times New Roman" panose="02020603050405020304"/>
              <a:cs typeface="Times New Roman" panose="02020603050405020304"/>
            </a:endParaRPr>
          </a:p>
          <a:p>
            <a:r>
              <a:rPr lang="en-US" sz="2600">
                <a:effectLst/>
                <a:latin typeface="Times New Roman" panose="02020603050405020304" pitchFamily="18" charset="0"/>
                <a:cs typeface="Times New Roman" panose="02020603050405020304" pitchFamily="18" charset="0"/>
              </a:rPr>
              <a:t>Turn-taking occurs in a conversation when one person listens while the other person speaks. As a conversation progresses, the listener and speaker roles are exchanged back and forth (a circle of discussion).</a:t>
            </a:r>
            <a:endParaRPr lang="en-US" sz="2600">
              <a:effectLst/>
              <a:latin typeface="Times New Roman" panose="02020603050405020304" pitchFamily="18" charset="0"/>
              <a:cs typeface="Times New Roman" panose="02020603050405020304" pitchFamily="18" charset="0"/>
            </a:endParaRPr>
          </a:p>
          <a:p>
            <a:endParaRPr lang="en-US">
              <a:effectLst/>
            </a:endParaRPr>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sz="4000">
              <a:effectLst/>
              <a:latin typeface="Times New Roman" panose="02020603050405020304" pitchFamily="18" charset="0"/>
              <a:cs typeface="Times New Roman" panose="02020603050405020304" pitchFamily="18" charset="0"/>
            </a:endParaRPr>
          </a:p>
          <a:p>
            <a:pPr marL="0" indent="0" algn="ctr">
              <a:buNone/>
            </a:pPr>
            <a:r>
              <a:rPr lang="en-US" sz="4000">
                <a:effectLst/>
                <a:latin typeface="Times New Roman" panose="02020603050405020304" pitchFamily="18" charset="0"/>
                <a:cs typeface="Times New Roman" panose="02020603050405020304" pitchFamily="18" charset="0"/>
              </a:rPr>
              <a:t>Is turn-taking important?</a:t>
            </a:r>
            <a:endParaRPr lang="en-US" sz="4000">
              <a:effectLst/>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IMPORTANCE OF TURN TAKING</a:t>
            </a:r>
            <a:endParaRPr lang="en-US">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a:effectLst/>
                <a:latin typeface="Times New Roman" panose="02020603050405020304" pitchFamily="18" charset="0"/>
                <a:cs typeface="Times New Roman" panose="02020603050405020304" pitchFamily="18" charset="0"/>
              </a:rPr>
              <a:t>Turn taking is an important skill for children to develop, in order to effectively participate in social communications. If a child is not able to take turns during interactions, they may interrupt the other person who is speaking or may not actively listen. Children who struggle with turn-taking in social situations may also experience trouble building friendships in class.</a:t>
            </a:r>
            <a:endParaRPr lang="en-US" sz="2400">
              <a:effectLst/>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PT - THANK YOU PowerPoint Presentation, free download - ID:276186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009104" y="1378039"/>
            <a:ext cx="7147775" cy="3940936"/>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RESPECTED VOCABULARY</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ctr"/>
            <a:r>
              <a:rPr lang="en-US" sz="2400">
                <a:effectLst/>
                <a:latin typeface="Times New Roman" panose="02020603050405020304" pitchFamily="18" charset="0"/>
                <a:cs typeface="Times New Roman" panose="02020603050405020304" pitchFamily="18" charset="0"/>
              </a:rPr>
              <a:t>Have you ever wondered the vocabulary words being spoken in a friend circle or in a court room are quite different from one another?</a:t>
            </a:r>
            <a:endParaRPr lang="en-US" sz="2400">
              <a:effectLst/>
              <a:latin typeface="Times New Roman" panose="02020603050405020304" pitchFamily="18" charset="0"/>
              <a:cs typeface="Times New Roman" panose="02020603050405020304" pitchFamily="18" charset="0"/>
            </a:endParaRPr>
          </a:p>
          <a:p>
            <a:endParaRPr lang="en-US" sz="2400">
              <a:effectLst/>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You must have wondered too that provoking and incendiary words spark reaction, but soft and polite words breed kindness and kindness. </a:t>
            </a:r>
            <a:endParaRPr lang="en-US" sz="2400">
              <a:effectLst/>
              <a:latin typeface="Times New Roman" panose="02020603050405020304" pitchFamily="18" charset="0"/>
              <a:cs typeface="Times New Roman" panose="02020603050405020304" pitchFamily="18" charset="0"/>
            </a:endParaRPr>
          </a:p>
          <a:p>
            <a:pPr marL="0" indent="0">
              <a:buNone/>
            </a:pPr>
            <a:endParaRPr lang="en-US" sz="2400">
              <a:effectLst/>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latin typeface="Times New Roman" panose="02020603050405020304" pitchFamily="18" charset="0"/>
                <a:cs typeface="Times New Roman" panose="02020603050405020304" pitchFamily="18" charset="0"/>
              </a:rPr>
              <a:t>Task</a:t>
            </a:r>
            <a:br>
              <a:rPr lang="en-US">
                <a:effectLst/>
              </a:rPr>
            </a:br>
            <a:endParaRPr lang="en-US"/>
          </a:p>
        </p:txBody>
      </p:sp>
      <p:sp>
        <p:nvSpPr>
          <p:cNvPr id="3" name="Content Placeholder 2"/>
          <p:cNvSpPr>
            <a:spLocks noGrp="1"/>
          </p:cNvSpPr>
          <p:nvPr>
            <p:ph idx="1"/>
          </p:nvPr>
        </p:nvSpPr>
        <p:spPr/>
        <p:txBody>
          <a:bodyPr>
            <a:normAutofit/>
          </a:bodyPr>
          <a:lstStyle/>
          <a:p>
            <a:pPr marL="0" indent="0" algn="ctr">
              <a:buNone/>
            </a:pPr>
            <a:r>
              <a:rPr lang="en-US" sz="3200" dirty="0">
                <a:effectLst/>
                <a:latin typeface="Times New Roman" panose="02020603050405020304" pitchFamily="18" charset="0"/>
                <a:cs typeface="Times New Roman" panose="02020603050405020304" pitchFamily="18" charset="0"/>
              </a:rPr>
              <a:t>Get through the slides, next class students will be required to </a:t>
            </a:r>
            <a:r>
              <a:rPr lang="en-US" sz="3200">
                <a:effectLst/>
                <a:latin typeface="Times New Roman" panose="02020603050405020304" pitchFamily="18" charset="0"/>
                <a:cs typeface="Times New Roman" panose="02020603050405020304" pitchFamily="18" charset="0"/>
              </a:rPr>
              <a:t>talk about </a:t>
            </a:r>
            <a:r>
              <a:rPr lang="en-US" sz="3200" dirty="0">
                <a:effectLst/>
                <a:latin typeface="Times New Roman" panose="02020603050405020304" pitchFamily="18" charset="0"/>
                <a:cs typeface="Times New Roman" panose="02020603050405020304" pitchFamily="18" charset="0"/>
              </a:rPr>
              <a:t>the communication Fundamentals</a:t>
            </a:r>
            <a:endParaRPr lang="en-US" sz="3200" dirty="0">
              <a:effectLst/>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6E5FF94A48324F9E76824130F813A2" ma:contentTypeVersion="11" ma:contentTypeDescription="Create a new document." ma:contentTypeScope="" ma:versionID="6a2ff79b6728bc00a976ebcdb8345518">
  <xsd:schema xmlns:xsd="http://www.w3.org/2001/XMLSchema" xmlns:xs="http://www.w3.org/2001/XMLSchema" xmlns:p="http://schemas.microsoft.com/office/2006/metadata/properties" xmlns:ns2="585f6d5f-198d-466a-ab6c-76d797e5c8d0" xmlns:ns3="67e769cb-343d-4d57-ad05-588d24edacdf" targetNamespace="http://schemas.microsoft.com/office/2006/metadata/properties" ma:root="true" ma:fieldsID="7b48bd956d011fda30842abb501f1b3f" ns2:_="" ns3:_="">
    <xsd:import namespace="585f6d5f-198d-466a-ab6c-76d797e5c8d0"/>
    <xsd:import namespace="67e769cb-343d-4d57-ad05-588d24edac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5f6d5f-198d-466a-ab6c-76d797e5c8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ecb0771-d8d6-47f1-9aba-e502faf0f59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7e769cb-343d-4d57-ad05-588d24edacd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57cb550-44ab-4ed7-8790-e99640cf77af}" ma:internalName="TaxCatchAll" ma:showField="CatchAllData" ma:web="67e769cb-343d-4d57-ad05-588d24edac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7e769cb-343d-4d57-ad05-588d24edacdf" xsi:nil="true"/>
    <lcf76f155ced4ddcb4097134ff3c332f xmlns="585f6d5f-198d-466a-ab6c-76d797e5c8d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1ABD5B8-35B8-432A-B210-009FB4BDD63F}"/>
</file>

<file path=customXml/itemProps2.xml><?xml version="1.0" encoding="utf-8"?>
<ds:datastoreItem xmlns:ds="http://schemas.openxmlformats.org/officeDocument/2006/customXml" ds:itemID="{AA79499D-4C6B-4AE3-9E78-850884290F0B}">
  <ds:schemaRefs/>
</ds:datastoreItem>
</file>

<file path=customXml/itemProps3.xml><?xml version="1.0" encoding="utf-8"?>
<ds:datastoreItem xmlns:ds="http://schemas.openxmlformats.org/officeDocument/2006/customXml" ds:itemID="{8A9E1627-BC53-4B42-B60C-BF2C20201111}">
  <ds:schemaRefs/>
</ds:datastoreItem>
</file>

<file path=docProps/app.xml><?xml version="1.0" encoding="utf-8"?>
<Properties xmlns="http://schemas.openxmlformats.org/officeDocument/2006/extended-properties" xmlns:vt="http://schemas.openxmlformats.org/officeDocument/2006/docPropsVTypes">
  <Template>TM04033921[[fn=Damask]]</Template>
  <TotalTime>0</TotalTime>
  <Words>12997</Words>
  <Application>WPS Presentation</Application>
  <PresentationFormat>Widescreen</PresentationFormat>
  <Paragraphs>231</Paragraphs>
  <Slides>32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32</vt:i4>
      </vt:variant>
    </vt:vector>
  </HeadingPairs>
  <TitlesOfParts>
    <vt:vector size="43" baseType="lpstr">
      <vt:lpstr>Arial</vt:lpstr>
      <vt:lpstr>SimSun</vt:lpstr>
      <vt:lpstr>Wingdings</vt:lpstr>
      <vt:lpstr>Times New Roman</vt:lpstr>
      <vt:lpstr>Times New Roman</vt:lpstr>
      <vt:lpstr>Rockwell</vt:lpstr>
      <vt:lpstr>Microsoft YaHei</vt:lpstr>
      <vt:lpstr>Arial Unicode MS</vt:lpstr>
      <vt:lpstr>Bookman Old Style</vt:lpstr>
      <vt:lpstr>Calibri</vt:lpstr>
      <vt:lpstr>Damask</vt:lpstr>
      <vt:lpstr>PowerPoint 演示文稿</vt:lpstr>
      <vt:lpstr>Aims &amp; objectives</vt:lpstr>
      <vt:lpstr>PowerPoint 演示文稿</vt:lpstr>
      <vt:lpstr>PowerPoint 演示文稿</vt:lpstr>
      <vt:lpstr>Communication fundamentalS</vt:lpstr>
      <vt:lpstr>What does this picture show?</vt:lpstr>
      <vt:lpstr>EMPATHY</vt:lpstr>
      <vt:lpstr>PowerPoint 演示文稿</vt:lpstr>
      <vt:lpstr>Empathy and communication </vt:lpstr>
      <vt:lpstr>PowerPoint 演示文稿</vt:lpstr>
      <vt:lpstr>PowerPoint 演示文稿</vt:lpstr>
      <vt:lpstr>PowerPoint 演示文稿</vt:lpstr>
      <vt:lpstr>PowerPoint 演示文稿</vt:lpstr>
      <vt:lpstr>CONVERSATIONAL SKILLS</vt:lpstr>
      <vt:lpstr>PowerPoint 演示文稿</vt:lpstr>
      <vt:lpstr>CONVERSATIONAL SKILLS</vt:lpstr>
      <vt:lpstr>PowerPoint 演示文稿</vt:lpstr>
      <vt:lpstr>Components of a good conversationalist </vt:lpstr>
      <vt:lpstr>BASIC SKILLS FOR GOOD CONVERSATION</vt:lpstr>
      <vt:lpstr>PowerPoint 演示文稿</vt:lpstr>
      <vt:lpstr>PowerPoint 演示文稿</vt:lpstr>
      <vt:lpstr>Established Listening </vt:lpstr>
      <vt:lpstr>PowerPoint 演示文稿</vt:lpstr>
      <vt:lpstr>PowerPoint 演示文稿</vt:lpstr>
      <vt:lpstr>Power of pause</vt:lpstr>
      <vt:lpstr>PowerPoint 演示文稿</vt:lpstr>
      <vt:lpstr>Introspection and turn taking</vt:lpstr>
      <vt:lpstr>PowerPoint 演示文稿</vt:lpstr>
      <vt:lpstr>IMPORTANCE OF TURN TAKING</vt:lpstr>
      <vt:lpstr>PowerPoint 演示文稿</vt:lpstr>
      <vt:lpstr>RESPECTED VOCABULARY</vt:lpstr>
      <vt:lpstr>Task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zainali9dad2468@outlook.com</dc:creator>
  <cp:lastModifiedBy>farshad panhwar</cp:lastModifiedBy>
  <cp:revision>4</cp:revision>
  <dcterms:created xsi:type="dcterms:W3CDTF">2020-05-31T08:33:00Z</dcterms:created>
  <dcterms:modified xsi:type="dcterms:W3CDTF">2026-02-24T14:08:54Z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0x010100B66E5FF94A48324F9E76824130F813A2</vt:lpwstr>
  </property>
  <property fmtid="{D5CDD505-2E9C-101B-9397-08002B2CF9AE}" pid="3" name="MediaServiceImageTags">
    <vt:lpwstr/>
  </property>
  <property fmtid="{D5CDD505-2E9C-101B-9397-08002B2CF9AE}" pid="4" name="ICV">
    <vt:lpwstr>D390F31D117E4C999339FC2B92618D0B_12</vt:lpwstr>
  </property>
  <property fmtid="{D5CDD505-2E9C-101B-9397-08002B2CF9AE}" pid="5" name="KSOProductBuildVer">
    <vt:lpwstr>1033-12.2.0.23196</vt:lpwstr>
  </property>
</Properties>
</file>