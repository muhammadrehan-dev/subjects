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rimo" panose="020B0604020202020204"/>
      <p:regular r:id="rId17"/>
    </p:embeddedFont>
    <p:embeddedFont>
      <p:font typeface="The Seasons"/>
      <p:regular r:id="rId18"/>
    </p:embeddedFont>
    <p:embeddedFont>
      <p:font typeface="The Seasons Bold"/>
      <p:regular r:id="rId19"/>
    </p:embeddedFont>
    <p:embeddedFont>
      <p:font typeface="The Seasons Italics" pitchFamily="2"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font" Target="fonts/font2.fntdata"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1.fntdata"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font" Target="fonts/font4.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font" Target="fonts/font3.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10" Type="http://schemas.openxmlformats.org/officeDocument/2006/relationships/image" Target="../media/image9.jpeg" /><Relationship Id="rId4" Type="http://schemas.openxmlformats.org/officeDocument/2006/relationships/image" Target="../media/image3.png" /><Relationship Id="rId9" Type="http://schemas.openxmlformats.org/officeDocument/2006/relationships/image" Target="../media/image8.svg" /></Relationships>
</file>

<file path=ppt/slides/_rels/slide2.xml.rels><?xml version="1.0" encoding="UTF-8" standalone="yes"?>
<Relationships xmlns="http://schemas.openxmlformats.org/package/2006/relationships"><Relationship Id="rId3" Type="http://schemas.openxmlformats.org/officeDocument/2006/relationships/image" Target="../media/image6.svg" /><Relationship Id="rId7" Type="http://schemas.openxmlformats.org/officeDocument/2006/relationships/image" Target="../media/image4.svg" /><Relationship Id="rId2" Type="http://schemas.openxmlformats.org/officeDocument/2006/relationships/image" Target="../media/image5.png"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2.svg" /><Relationship Id="rId4" Type="http://schemas.openxmlformats.org/officeDocument/2006/relationships/image" Target="../media/image1.png" /></Relationships>
</file>

<file path=ppt/slides/_rels/slide3.xml.rels><?xml version="1.0" encoding="UTF-8" standalone="yes"?>
<Relationships xmlns="http://schemas.openxmlformats.org/package/2006/relationships"><Relationship Id="rId8" Type="http://schemas.openxmlformats.org/officeDocument/2006/relationships/image" Target="../media/image10.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s>
</file>

<file path=ppt/slides/_rels/slide4.xml.rels><?xml version="1.0" encoding="UTF-8" standalone="yes"?>
<Relationships xmlns="http://schemas.openxmlformats.org/package/2006/relationships"><Relationship Id="rId8" Type="http://schemas.openxmlformats.org/officeDocument/2006/relationships/image" Target="../media/image11.png" /><Relationship Id="rId3" Type="http://schemas.openxmlformats.org/officeDocument/2006/relationships/image" Target="../media/image6.svg" /><Relationship Id="rId7" Type="http://schemas.openxmlformats.org/officeDocument/2006/relationships/image" Target="../media/image4.svg" /><Relationship Id="rId2" Type="http://schemas.openxmlformats.org/officeDocument/2006/relationships/image" Target="../media/image5.png"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2.svg" /><Relationship Id="rId4" Type="http://schemas.openxmlformats.org/officeDocument/2006/relationships/image" Target="../media/image1.png" /></Relationships>
</file>

<file path=ppt/slides/_rels/slide5.xml.rels><?xml version="1.0" encoding="UTF-8" standalone="yes"?>
<Relationships xmlns="http://schemas.openxmlformats.org/package/2006/relationships"><Relationship Id="rId8" Type="http://schemas.openxmlformats.org/officeDocument/2006/relationships/image" Target="../media/image12.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s>
</file>

<file path=ppt/slides/_rels/slide6.xml.rels><?xml version="1.0" encoding="UTF-8" standalone="yes"?>
<Relationships xmlns="http://schemas.openxmlformats.org/package/2006/relationships"><Relationship Id="rId8" Type="http://schemas.openxmlformats.org/officeDocument/2006/relationships/image" Target="../media/image13.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s>
</file>

<file path=ppt/slides/_rels/slide7.xml.rels><?xml version="1.0" encoding="UTF-8" standalone="yes"?>
<Relationships xmlns="http://schemas.openxmlformats.org/package/2006/relationships"><Relationship Id="rId8" Type="http://schemas.openxmlformats.org/officeDocument/2006/relationships/image" Target="../media/image14.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s>
</file>

<file path=ppt/slides/_rels/slide8.xml.rels><?xml version="1.0" encoding="UTF-8" standalone="yes"?>
<Relationships xmlns="http://schemas.openxmlformats.org/package/2006/relationships"><Relationship Id="rId8" Type="http://schemas.openxmlformats.org/officeDocument/2006/relationships/image" Target="../media/image15.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s>
</file>

<file path=ppt/slides/_rels/slide9.xml.rels><?xml version="1.0" encoding="UTF-8" standalone="yes"?>
<Relationships xmlns="http://schemas.openxmlformats.org/package/2006/relationships"><Relationship Id="rId8" Type="http://schemas.openxmlformats.org/officeDocument/2006/relationships/image" Target="../media/image16.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s>
</file>

<file path=ppt/slides/_rels/slide10.xml.rels><?xml version="1.0" encoding="UTF-8" standalone="yes"?>
<Relationships xmlns="http://schemas.openxmlformats.org/package/2006/relationships"><Relationship Id="rId8" Type="http://schemas.openxmlformats.org/officeDocument/2006/relationships/image" Target="../media/image17.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s>
</file>

<file path=ppt/slides/_rels/slide11.xml.rels><?xml version="1.0" encoding="UTF-8" standalone="yes"?>
<Relationships xmlns="http://schemas.openxmlformats.org/package/2006/relationships"><Relationship Id="rId8" Type="http://schemas.openxmlformats.org/officeDocument/2006/relationships/image" Target="../media/image18.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s>
</file>

<file path=ppt/slides/_rels/slide12.xml.rels><?xml version="1.0" encoding="UTF-8" standalone="yes"?>
<Relationships xmlns="http://schemas.openxmlformats.org/package/2006/relationships"><Relationship Id="rId8" Type="http://schemas.openxmlformats.org/officeDocument/2006/relationships/image" Target="../media/image19.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s>
</file>

<file path=ppt/slides/_rels/slide13.xml.rels><?xml version="1.0" encoding="UTF-8" standalone="yes"?>
<Relationships xmlns="http://schemas.openxmlformats.org/package/2006/relationships"><Relationship Id="rId8" Type="http://schemas.openxmlformats.org/officeDocument/2006/relationships/image" Target="../media/image20.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4" Type="http://schemas.openxmlformats.org/officeDocument/2006/relationships/image" Target="../media/image3.png" /></Relationships>
</file>

<file path=ppt/slides/_rels/slide14.xml.rels><?xml version="1.0" encoding="UTF-8" standalone="yes"?>
<Relationships xmlns="http://schemas.openxmlformats.org/package/2006/relationships"><Relationship Id="rId8" Type="http://schemas.openxmlformats.org/officeDocument/2006/relationships/image" Target="../media/image7.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svg" /><Relationship Id="rId10" Type="http://schemas.openxmlformats.org/officeDocument/2006/relationships/image" Target="../media/image21.png" /><Relationship Id="rId4" Type="http://schemas.openxmlformats.org/officeDocument/2006/relationships/image" Target="../media/image3.png" /><Relationship Id="rId9" Type="http://schemas.openxmlformats.org/officeDocument/2006/relationships/image" Target="../media/image8.svg" /></Relationships>
</file>

<file path=ppt/slides/_rels/slide15.xml.rels><?xml version="1.0" encoding="UTF-8" standalone="yes"?>
<Relationships xmlns="http://schemas.openxmlformats.org/package/2006/relationships"><Relationship Id="rId3" Type="http://schemas.openxmlformats.org/officeDocument/2006/relationships/image" Target="../media/image6.svg" /><Relationship Id="rId7" Type="http://schemas.openxmlformats.org/officeDocument/2006/relationships/image" Target="../media/image4.svg" /><Relationship Id="rId2" Type="http://schemas.openxmlformats.org/officeDocument/2006/relationships/image" Target="../media/image5.png"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2.svg" /><Relationship Id="rId4" Type="http://schemas.openxmlformats.org/officeDocument/2006/relationships/image" Target="../media/image1.pn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AutoShape 2"/>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3" name="AutoShape 3"/>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4" name="Freeform 4"/>
          <p:cNvSpPr/>
          <p:nvPr/>
        </p:nvSpPr>
        <p:spPr>
          <a:xfrm>
            <a:off x="12734826" y="-684353"/>
            <a:ext cx="5553174" cy="6612391"/>
          </a:xfrm>
          <a:custGeom>
            <a:avLst/>
            <a:gdLst/>
            <a:ahLst/>
            <a:cxnLst/>
            <a:rect l="l" t="t" r="r" b="b"/>
            <a:pathLst>
              <a:path w="5553174" h="6612391">
                <a:moveTo>
                  <a:pt x="0" y="0"/>
                </a:moveTo>
                <a:lnTo>
                  <a:pt x="5553174" y="0"/>
                </a:lnTo>
                <a:lnTo>
                  <a:pt x="5553174" y="6612391"/>
                </a:lnTo>
                <a:lnTo>
                  <a:pt x="0" y="66123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684573" y="6222318"/>
            <a:ext cx="2281698" cy="4642622"/>
          </a:xfrm>
          <a:custGeom>
            <a:avLst/>
            <a:gdLst/>
            <a:ahLst/>
            <a:cxnLst/>
            <a:rect l="l" t="t" r="r" b="b"/>
            <a:pathLst>
              <a:path w="2281698" h="4642622">
                <a:moveTo>
                  <a:pt x="2281698" y="4642621"/>
                </a:moveTo>
                <a:lnTo>
                  <a:pt x="0" y="4642621"/>
                </a:lnTo>
                <a:lnTo>
                  <a:pt x="0" y="0"/>
                </a:lnTo>
                <a:lnTo>
                  <a:pt x="2281698" y="0"/>
                </a:lnTo>
                <a:lnTo>
                  <a:pt x="2281698" y="46426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3966578" y="7587266"/>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964742" y="-1028700"/>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1457201" y="2935809"/>
            <a:ext cx="1699972" cy="1699972"/>
          </a:xfrm>
          <a:custGeom>
            <a:avLst/>
            <a:gdLst/>
            <a:ahLst/>
            <a:cxnLst/>
            <a:rect l="l" t="t" r="r" b="b"/>
            <a:pathLst>
              <a:path w="1699972" h="1699972">
                <a:moveTo>
                  <a:pt x="0" y="0"/>
                </a:moveTo>
                <a:lnTo>
                  <a:pt x="1699972" y="0"/>
                </a:lnTo>
                <a:lnTo>
                  <a:pt x="1699972" y="1699972"/>
                </a:lnTo>
                <a:lnTo>
                  <a:pt x="0" y="16999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13083448" y="3935230"/>
            <a:ext cx="883130" cy="883130"/>
          </a:xfrm>
          <a:custGeom>
            <a:avLst/>
            <a:gdLst/>
            <a:ahLst/>
            <a:cxnLst/>
            <a:rect l="l" t="t" r="r" b="b"/>
            <a:pathLst>
              <a:path w="883130" h="883130">
                <a:moveTo>
                  <a:pt x="0" y="0"/>
                </a:moveTo>
                <a:lnTo>
                  <a:pt x="883130" y="0"/>
                </a:lnTo>
                <a:lnTo>
                  <a:pt x="883130" y="883131"/>
                </a:lnTo>
                <a:lnTo>
                  <a:pt x="0" y="8831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5892632" y="868566"/>
            <a:ext cx="3596577" cy="2721410"/>
          </a:xfrm>
          <a:custGeom>
            <a:avLst/>
            <a:gdLst/>
            <a:ahLst/>
            <a:cxnLst/>
            <a:rect l="l" t="t" r="r" b="b"/>
            <a:pathLst>
              <a:path w="3596577" h="2721410">
                <a:moveTo>
                  <a:pt x="0" y="0"/>
                </a:moveTo>
                <a:lnTo>
                  <a:pt x="3596576" y="0"/>
                </a:lnTo>
                <a:lnTo>
                  <a:pt x="3596576" y="2721410"/>
                </a:lnTo>
                <a:lnTo>
                  <a:pt x="0" y="2721410"/>
                </a:lnTo>
                <a:lnTo>
                  <a:pt x="0" y="0"/>
                </a:lnTo>
                <a:close/>
              </a:path>
            </a:pathLst>
          </a:custGeom>
          <a:blipFill>
            <a:blip r:embed="rId10"/>
            <a:stretch>
              <a:fillRect/>
            </a:stretch>
          </a:blipFill>
        </p:spPr>
      </p:sp>
      <p:sp>
        <p:nvSpPr>
          <p:cNvPr id="11" name="TextBox 11"/>
          <p:cNvSpPr txBox="1"/>
          <p:nvPr/>
        </p:nvSpPr>
        <p:spPr>
          <a:xfrm>
            <a:off x="4320495" y="5606250"/>
            <a:ext cx="7986692" cy="841609"/>
          </a:xfrm>
          <a:prstGeom prst="rect">
            <a:avLst/>
          </a:prstGeom>
        </p:spPr>
        <p:txBody>
          <a:bodyPr lIns="0" tIns="0" rIns="0" bIns="0" rtlCol="0" anchor="t">
            <a:spAutoFit/>
          </a:bodyPr>
          <a:lstStyle/>
          <a:p>
            <a:pPr algn="l">
              <a:lnSpc>
                <a:spcPts val="6112"/>
              </a:lnSpc>
            </a:pPr>
            <a:r>
              <a:rPr lang="en-US" sz="4365">
                <a:solidFill>
                  <a:srgbClr val="443B2B"/>
                </a:solidFill>
                <a:latin typeface="The Seasons"/>
                <a:ea typeface="The Seasons"/>
                <a:cs typeface="The Seasons"/>
                <a:sym typeface="The Seasons"/>
              </a:rPr>
              <a:t>Initial Problem Of  Pakistan </a:t>
            </a:r>
          </a:p>
        </p:txBody>
      </p:sp>
      <p:sp>
        <p:nvSpPr>
          <p:cNvPr id="12" name="TextBox 12"/>
          <p:cNvSpPr txBox="1"/>
          <p:nvPr/>
        </p:nvSpPr>
        <p:spPr>
          <a:xfrm>
            <a:off x="3244304" y="6538581"/>
            <a:ext cx="5069536" cy="1991775"/>
          </a:xfrm>
          <a:prstGeom prst="rect">
            <a:avLst/>
          </a:prstGeom>
        </p:spPr>
        <p:txBody>
          <a:bodyPr lIns="0" tIns="0" rIns="0" bIns="0" rtlCol="0" anchor="t">
            <a:spAutoFit/>
          </a:bodyPr>
          <a:lstStyle/>
          <a:p>
            <a:pPr algn="l">
              <a:lnSpc>
                <a:spcPts val="3879"/>
              </a:lnSpc>
            </a:pPr>
            <a:r>
              <a:rPr lang="en-US" sz="2771" b="1">
                <a:solidFill>
                  <a:srgbClr val="443B2B"/>
                </a:solidFill>
                <a:latin typeface="The Seasons Bold"/>
                <a:ea typeface="The Seasons Bold"/>
                <a:cs typeface="The Seasons Bold"/>
                <a:sym typeface="The Seasons Bold"/>
              </a:rPr>
              <a:t>presented by:</a:t>
            </a:r>
          </a:p>
          <a:p>
            <a:pPr algn="l">
              <a:lnSpc>
                <a:spcPts val="3879"/>
              </a:lnSpc>
            </a:pPr>
            <a:r>
              <a:rPr lang="en-US" sz="2771">
                <a:solidFill>
                  <a:srgbClr val="443B2B"/>
                </a:solidFill>
                <a:latin typeface="The Seasons"/>
                <a:ea typeface="The Seasons"/>
                <a:cs typeface="The Seasons"/>
                <a:sym typeface="The Seasons"/>
              </a:rPr>
              <a:t>Hira Fatima (25F-AI-096)</a:t>
            </a:r>
          </a:p>
          <a:p>
            <a:pPr algn="l">
              <a:lnSpc>
                <a:spcPts val="3879"/>
              </a:lnSpc>
            </a:pPr>
            <a:r>
              <a:rPr lang="en-US" sz="2771">
                <a:solidFill>
                  <a:srgbClr val="443B2B"/>
                </a:solidFill>
                <a:latin typeface="The Seasons"/>
                <a:ea typeface="The Seasons"/>
                <a:cs typeface="The Seasons"/>
                <a:sym typeface="The Seasons"/>
              </a:rPr>
              <a:t>Hafsa Fatima (25F-AI-83)</a:t>
            </a:r>
          </a:p>
          <a:p>
            <a:pPr algn="l">
              <a:lnSpc>
                <a:spcPts val="3879"/>
              </a:lnSpc>
            </a:pPr>
            <a:r>
              <a:rPr lang="en-US" sz="2771">
                <a:solidFill>
                  <a:srgbClr val="443B2B"/>
                </a:solidFill>
                <a:latin typeface="The Seasons"/>
                <a:ea typeface="The Seasons"/>
                <a:cs typeface="The Seasons"/>
                <a:sym typeface="The Seasons"/>
              </a:rPr>
              <a:t>Bisma Tariq</a:t>
            </a:r>
            <a:r>
              <a:rPr lang="en-US" sz="2771" i="1">
                <a:solidFill>
                  <a:srgbClr val="443B2B"/>
                </a:solidFill>
                <a:latin typeface="The Seasons Italics"/>
                <a:ea typeface="The Seasons Italics"/>
                <a:cs typeface="The Seasons Italics"/>
                <a:sym typeface="The Seasons Italics"/>
              </a:rPr>
              <a:t>  </a:t>
            </a:r>
            <a:r>
              <a:rPr lang="en-US" sz="2771">
                <a:solidFill>
                  <a:srgbClr val="443B2B"/>
                </a:solidFill>
                <a:latin typeface="The Seasons"/>
                <a:ea typeface="The Seasons"/>
                <a:cs typeface="The Seasons"/>
                <a:sym typeface="The Seasons"/>
              </a:rPr>
              <a:t>(25F-AI-094)</a:t>
            </a:r>
          </a:p>
        </p:txBody>
      </p:sp>
      <p:sp>
        <p:nvSpPr>
          <p:cNvPr id="13" name="TextBox 13"/>
          <p:cNvSpPr txBox="1"/>
          <p:nvPr/>
        </p:nvSpPr>
        <p:spPr>
          <a:xfrm>
            <a:off x="8228850" y="6977678"/>
            <a:ext cx="8982679" cy="1104058"/>
          </a:xfrm>
          <a:prstGeom prst="rect">
            <a:avLst/>
          </a:prstGeom>
        </p:spPr>
        <p:txBody>
          <a:bodyPr lIns="0" tIns="0" rIns="0" bIns="0" rtlCol="0" anchor="t">
            <a:spAutoFit/>
          </a:bodyPr>
          <a:lstStyle/>
          <a:p>
            <a:pPr algn="l">
              <a:lnSpc>
                <a:spcPts val="4246"/>
              </a:lnSpc>
            </a:pPr>
            <a:r>
              <a:rPr lang="en-US" sz="3033" b="1">
                <a:solidFill>
                  <a:srgbClr val="443B2B"/>
                </a:solidFill>
                <a:latin typeface="The Seasons Bold"/>
                <a:ea typeface="The Seasons Bold"/>
                <a:cs typeface="The Seasons Bold"/>
                <a:sym typeface="The Seasons Bold"/>
              </a:rPr>
              <a:t>Department</a:t>
            </a:r>
            <a:r>
              <a:rPr lang="en-US" sz="3033">
                <a:solidFill>
                  <a:srgbClr val="443B2B"/>
                </a:solidFill>
                <a:latin typeface="The Seasons"/>
                <a:ea typeface="The Seasons"/>
                <a:cs typeface="The Seasons"/>
                <a:sym typeface="The Seasons"/>
              </a:rPr>
              <a:t>: Artificial intelligence </a:t>
            </a:r>
          </a:p>
          <a:p>
            <a:pPr algn="l">
              <a:lnSpc>
                <a:spcPts val="4246"/>
              </a:lnSpc>
            </a:pPr>
            <a:r>
              <a:rPr lang="en-US" sz="3033" b="1">
                <a:solidFill>
                  <a:srgbClr val="443B2B"/>
                </a:solidFill>
                <a:latin typeface="The Seasons Bold"/>
                <a:ea typeface="The Seasons Bold"/>
                <a:cs typeface="The Seasons Bold"/>
                <a:sym typeface="The Seasons Bold"/>
              </a:rPr>
              <a:t>Section</a:t>
            </a:r>
            <a:r>
              <a:rPr lang="en-US" sz="3033">
                <a:solidFill>
                  <a:srgbClr val="443B2B"/>
                </a:solidFill>
                <a:latin typeface="The Seasons"/>
                <a:ea typeface="The Seasons"/>
                <a:cs typeface="The Seasons"/>
                <a:sym typeface="The Seasons"/>
              </a:rPr>
              <a:t>: A2/B</a:t>
            </a:r>
          </a:p>
        </p:txBody>
      </p:sp>
      <p:sp>
        <p:nvSpPr>
          <p:cNvPr id="14" name="TextBox 14"/>
          <p:cNvSpPr txBox="1"/>
          <p:nvPr/>
        </p:nvSpPr>
        <p:spPr>
          <a:xfrm>
            <a:off x="2394320" y="3580451"/>
            <a:ext cx="12542494" cy="796345"/>
          </a:xfrm>
          <a:prstGeom prst="rect">
            <a:avLst/>
          </a:prstGeom>
        </p:spPr>
        <p:txBody>
          <a:bodyPr lIns="0" tIns="0" rIns="0" bIns="0" rtlCol="0" anchor="t">
            <a:spAutoFit/>
          </a:bodyPr>
          <a:lstStyle/>
          <a:p>
            <a:pPr algn="l">
              <a:lnSpc>
                <a:spcPts val="5841"/>
              </a:lnSpc>
            </a:pPr>
            <a:r>
              <a:rPr lang="en-US" sz="4172">
                <a:solidFill>
                  <a:srgbClr val="443B2B"/>
                </a:solidFill>
                <a:latin typeface="The Seasons"/>
                <a:ea typeface="The Seasons"/>
                <a:cs typeface="The Seasons"/>
                <a:sym typeface="The Seasons"/>
              </a:rPr>
              <a:t>Dawood University of engineering &amp; technology </a:t>
            </a:r>
          </a:p>
        </p:txBody>
      </p:sp>
      <p:sp>
        <p:nvSpPr>
          <p:cNvPr id="15" name="TextBox 15"/>
          <p:cNvSpPr txBox="1"/>
          <p:nvPr/>
        </p:nvSpPr>
        <p:spPr>
          <a:xfrm>
            <a:off x="3722874" y="4688137"/>
            <a:ext cx="9011952" cy="946688"/>
          </a:xfrm>
          <a:prstGeom prst="rect">
            <a:avLst/>
          </a:prstGeom>
        </p:spPr>
        <p:txBody>
          <a:bodyPr lIns="0" tIns="0" rIns="0" bIns="0" rtlCol="0" anchor="t">
            <a:spAutoFit/>
          </a:bodyPr>
          <a:lstStyle/>
          <a:p>
            <a:pPr algn="l">
              <a:lnSpc>
                <a:spcPts val="6896"/>
              </a:lnSpc>
            </a:pPr>
            <a:r>
              <a:rPr lang="en-US" sz="4926" b="1">
                <a:solidFill>
                  <a:srgbClr val="443B2B"/>
                </a:solidFill>
                <a:latin typeface="The Seasons Bold"/>
                <a:ea typeface="The Seasons Bold"/>
                <a:cs typeface="The Seasons Bold"/>
                <a:sym typeface="The Seasons Bold"/>
              </a:rPr>
              <a:t>Pakistan Studies Presentation </a:t>
            </a:r>
          </a:p>
        </p:txBody>
      </p:sp>
      <p:sp>
        <p:nvSpPr>
          <p:cNvPr id="16" name="TextBox 16"/>
          <p:cNvSpPr txBox="1"/>
          <p:nvPr/>
        </p:nvSpPr>
        <p:spPr>
          <a:xfrm>
            <a:off x="3722874" y="8628681"/>
            <a:ext cx="5069536" cy="1015463"/>
          </a:xfrm>
          <a:prstGeom prst="rect">
            <a:avLst/>
          </a:prstGeom>
        </p:spPr>
        <p:txBody>
          <a:bodyPr lIns="0" tIns="0" rIns="0" bIns="0" rtlCol="0" anchor="t">
            <a:spAutoFit/>
          </a:bodyPr>
          <a:lstStyle/>
          <a:p>
            <a:pPr algn="l">
              <a:lnSpc>
                <a:spcPts val="3879"/>
              </a:lnSpc>
            </a:pPr>
            <a:r>
              <a:rPr lang="en-US" sz="2771" b="1">
                <a:solidFill>
                  <a:srgbClr val="443B2B"/>
                </a:solidFill>
                <a:latin typeface="The Seasons Bold"/>
                <a:ea typeface="The Seasons Bold"/>
                <a:cs typeface="The Seasons Bold"/>
                <a:sym typeface="The Seasons Bold"/>
              </a:rPr>
              <a:t>Instructor</a:t>
            </a:r>
            <a:r>
              <a:rPr lang="en-US" sz="2771">
                <a:solidFill>
                  <a:srgbClr val="443B2B"/>
                </a:solidFill>
                <a:latin typeface="The Seasons"/>
                <a:ea typeface="The Seasons"/>
                <a:cs typeface="The Seasons"/>
                <a:sym typeface="The Seasons"/>
              </a:rPr>
              <a:t>:</a:t>
            </a:r>
          </a:p>
          <a:p>
            <a:pPr algn="l">
              <a:lnSpc>
                <a:spcPts val="3879"/>
              </a:lnSpc>
            </a:pPr>
            <a:r>
              <a:rPr lang="en-US" sz="2771">
                <a:solidFill>
                  <a:srgbClr val="443B2B"/>
                </a:solidFill>
                <a:latin typeface="The Seasons"/>
                <a:ea typeface="The Seasons"/>
                <a:cs typeface="The Seasons"/>
                <a:sym typeface="The Seasons"/>
              </a:rPr>
              <a:t>Sir Faisal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Freeform 2"/>
          <p:cNvSpPr/>
          <p:nvPr/>
        </p:nvSpPr>
        <p:spPr>
          <a:xfrm>
            <a:off x="-1964742" y="-856982"/>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705990" y="-684353"/>
            <a:ext cx="3582010" cy="4265245"/>
          </a:xfrm>
          <a:custGeom>
            <a:avLst/>
            <a:gdLst/>
            <a:ahLst/>
            <a:cxnLst/>
            <a:rect l="l" t="t" r="r" b="b"/>
            <a:pathLst>
              <a:path w="3582010" h="4265245">
                <a:moveTo>
                  <a:pt x="0" y="0"/>
                </a:moveTo>
                <a:lnTo>
                  <a:pt x="3582010" y="0"/>
                </a:lnTo>
                <a:lnTo>
                  <a:pt x="3582010" y="4265245"/>
                </a:lnTo>
                <a:lnTo>
                  <a:pt x="0" y="42652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AutoShape 4"/>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5" name="Freeform 5"/>
          <p:cNvSpPr/>
          <p:nvPr/>
        </p:nvSpPr>
        <p:spPr>
          <a:xfrm flipH="1" flipV="1">
            <a:off x="66666" y="6691314"/>
            <a:ext cx="2053877" cy="4179069"/>
          </a:xfrm>
          <a:custGeom>
            <a:avLst/>
            <a:gdLst/>
            <a:ahLst/>
            <a:cxnLst/>
            <a:rect l="l" t="t" r="r" b="b"/>
            <a:pathLst>
              <a:path w="2053877" h="4179069">
                <a:moveTo>
                  <a:pt x="2053877" y="4179069"/>
                </a:moveTo>
                <a:lnTo>
                  <a:pt x="0" y="4179069"/>
                </a:lnTo>
                <a:lnTo>
                  <a:pt x="0" y="0"/>
                </a:lnTo>
                <a:lnTo>
                  <a:pt x="2053877" y="0"/>
                </a:lnTo>
                <a:lnTo>
                  <a:pt x="2053877" y="417906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AutoShape 6"/>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7" name="Freeform 7"/>
          <p:cNvSpPr/>
          <p:nvPr/>
        </p:nvSpPr>
        <p:spPr>
          <a:xfrm>
            <a:off x="14352944" y="7862015"/>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3629419" y="752475"/>
            <a:ext cx="10094167" cy="1351795"/>
          </a:xfrm>
          <a:prstGeom prst="rect">
            <a:avLst/>
          </a:prstGeom>
        </p:spPr>
        <p:txBody>
          <a:bodyPr lIns="0" tIns="0" rIns="0" bIns="0" rtlCol="0" anchor="t">
            <a:spAutoFit/>
          </a:bodyPr>
          <a:lstStyle/>
          <a:p>
            <a:pPr algn="ctr">
              <a:lnSpc>
                <a:spcPts val="9754"/>
              </a:lnSpc>
            </a:pPr>
            <a:r>
              <a:rPr lang="en-US" sz="6967" b="1" u="sng">
                <a:solidFill>
                  <a:srgbClr val="443B2B"/>
                </a:solidFill>
                <a:latin typeface="The Seasons Bold"/>
                <a:ea typeface="The Seasons Bold"/>
                <a:cs typeface="The Seasons Bold"/>
                <a:sym typeface="The Seasons Bold"/>
              </a:rPr>
              <a:t>INDEX OF TOPICS</a:t>
            </a:r>
          </a:p>
        </p:txBody>
      </p:sp>
      <p:sp>
        <p:nvSpPr>
          <p:cNvPr id="9" name="TextBox 9"/>
          <p:cNvSpPr txBox="1"/>
          <p:nvPr/>
        </p:nvSpPr>
        <p:spPr>
          <a:xfrm>
            <a:off x="2647015" y="2212096"/>
            <a:ext cx="10581339" cy="8074904"/>
          </a:xfrm>
          <a:prstGeom prst="rect">
            <a:avLst/>
          </a:prstGeom>
        </p:spPr>
        <p:txBody>
          <a:bodyPr lIns="0" tIns="0" rIns="0" bIns="0" rtlCol="0" anchor="t">
            <a:spAutoFit/>
          </a:bodyPr>
          <a:lstStyle/>
          <a:p>
            <a:pPr marL="697133" lvl="1" indent="-348566" algn="l">
              <a:lnSpc>
                <a:spcPts val="4520"/>
              </a:lnSpc>
              <a:buAutoNum type="arabicPeriod"/>
            </a:pPr>
            <a:r>
              <a:rPr lang="en-US" sz="3228" b="1">
                <a:solidFill>
                  <a:srgbClr val="443B2B"/>
                </a:solidFill>
                <a:latin typeface="The Seasons Bold"/>
                <a:ea typeface="The Seasons Bold"/>
                <a:cs typeface="The Seasons Bold"/>
                <a:sym typeface="The Seasons Bold"/>
              </a:rPr>
              <a:t> </a:t>
            </a:r>
            <a:r>
              <a:rPr lang="en-US" sz="3228">
                <a:solidFill>
                  <a:srgbClr val="443B2B"/>
                </a:solidFill>
                <a:latin typeface="The Seasons"/>
                <a:ea typeface="The Seasons"/>
                <a:cs typeface="The Seasons"/>
                <a:sym typeface="The Seasons"/>
              </a:rPr>
              <a:t>Introduction</a:t>
            </a:r>
          </a:p>
          <a:p>
            <a:pPr marL="697133" lvl="1" indent="-348566" algn="l">
              <a:lnSpc>
                <a:spcPts val="4520"/>
              </a:lnSpc>
              <a:buAutoNum type="arabicPeriod"/>
            </a:pPr>
            <a:r>
              <a:rPr lang="en-US" sz="3228">
                <a:solidFill>
                  <a:srgbClr val="443B2B"/>
                </a:solidFill>
                <a:latin typeface="The Seasons"/>
                <a:ea typeface="The Seasons"/>
                <a:cs typeface="The Seasons"/>
                <a:sym typeface="The Seasons"/>
              </a:rPr>
              <a:t>Refugee Problem in Early Years of Pakistan</a:t>
            </a:r>
          </a:p>
          <a:p>
            <a:pPr marL="697133" lvl="1" indent="-348566" algn="l">
              <a:lnSpc>
                <a:spcPts val="4520"/>
              </a:lnSpc>
              <a:buAutoNum type="arabicPeriod"/>
            </a:pPr>
            <a:r>
              <a:rPr lang="en-US" sz="3228">
                <a:solidFill>
                  <a:srgbClr val="443B2B"/>
                </a:solidFill>
                <a:latin typeface="The Seasons"/>
                <a:ea typeface="The Seasons"/>
                <a:cs typeface="The Seasons"/>
                <a:sym typeface="The Seasons"/>
              </a:rPr>
              <a:t>Choice of Capital and Establishment of Government</a:t>
            </a:r>
          </a:p>
          <a:p>
            <a:pPr marL="697133" lvl="1" indent="-348566" algn="l">
              <a:lnSpc>
                <a:spcPts val="4520"/>
              </a:lnSpc>
              <a:buAutoNum type="arabicPeriod"/>
            </a:pPr>
            <a:r>
              <a:rPr lang="en-US" sz="3228">
                <a:solidFill>
                  <a:srgbClr val="443B2B"/>
                </a:solidFill>
                <a:latin typeface="The Seasons"/>
                <a:ea typeface="The Seasons"/>
                <a:cs typeface="The Seasons"/>
                <a:sym typeface="The Seasons"/>
              </a:rPr>
              <a:t> Unfair Boundary (Radcliffe Award</a:t>
            </a:r>
          </a:p>
          <a:p>
            <a:pPr marL="697133" lvl="1" indent="-348566" algn="l">
              <a:lnSpc>
                <a:spcPts val="4520"/>
              </a:lnSpc>
              <a:buAutoNum type="arabicPeriod"/>
            </a:pPr>
            <a:r>
              <a:rPr lang="en-US" sz="3228">
                <a:solidFill>
                  <a:srgbClr val="443B2B"/>
                </a:solidFill>
                <a:latin typeface="The Seasons"/>
                <a:ea typeface="The Seasons"/>
                <a:cs typeface="The Seasons"/>
                <a:sym typeface="The Seasons"/>
              </a:rPr>
              <a:t> Division of Military Assets</a:t>
            </a:r>
          </a:p>
          <a:p>
            <a:pPr marL="697133" lvl="1" indent="-348566" algn="l">
              <a:lnSpc>
                <a:spcPts val="4520"/>
              </a:lnSpc>
              <a:buAutoNum type="arabicPeriod"/>
            </a:pPr>
            <a:r>
              <a:rPr lang="en-US" sz="3228">
                <a:solidFill>
                  <a:srgbClr val="443B2B"/>
                </a:solidFill>
                <a:latin typeface="The Seasons"/>
                <a:ea typeface="The Seasons"/>
                <a:cs typeface="The Seasons"/>
                <a:sym typeface="The Seasons"/>
              </a:rPr>
              <a:t> Division of Financial Assets</a:t>
            </a:r>
          </a:p>
          <a:p>
            <a:pPr marL="697133" lvl="1" indent="-348566" algn="l">
              <a:lnSpc>
                <a:spcPts val="4520"/>
              </a:lnSpc>
              <a:buAutoNum type="arabicPeriod"/>
            </a:pPr>
            <a:r>
              <a:rPr lang="en-US" sz="3228">
                <a:solidFill>
                  <a:srgbClr val="443B2B"/>
                </a:solidFill>
                <a:latin typeface="The Seasons"/>
                <a:ea typeface="The Seasons"/>
                <a:cs typeface="The Seasons"/>
                <a:sym typeface="The Seasons"/>
              </a:rPr>
              <a:t> Economic Problems</a:t>
            </a:r>
          </a:p>
          <a:p>
            <a:pPr marL="697133" lvl="1" indent="-348566" algn="l">
              <a:lnSpc>
                <a:spcPts val="4520"/>
              </a:lnSpc>
              <a:buAutoNum type="arabicPeriod"/>
            </a:pPr>
            <a:r>
              <a:rPr lang="en-US" sz="3228">
                <a:solidFill>
                  <a:srgbClr val="443B2B"/>
                </a:solidFill>
                <a:latin typeface="The Seasons"/>
                <a:ea typeface="The Seasons"/>
                <a:cs typeface="The Seasons"/>
                <a:sym typeface="The Seasons"/>
              </a:rPr>
              <a:t> Issue of National Language</a:t>
            </a:r>
          </a:p>
          <a:p>
            <a:pPr marL="697133" lvl="1" indent="-348566" algn="l">
              <a:lnSpc>
                <a:spcPts val="4520"/>
              </a:lnSpc>
              <a:buAutoNum type="arabicPeriod"/>
            </a:pPr>
            <a:r>
              <a:rPr lang="en-US" sz="3228">
                <a:solidFill>
                  <a:srgbClr val="443B2B"/>
                </a:solidFill>
                <a:latin typeface="The Seasons"/>
                <a:ea typeface="The Seasons"/>
                <a:cs typeface="The Seasons"/>
                <a:sym typeface="The Seasons"/>
              </a:rPr>
              <a:t> Electricity Problem</a:t>
            </a:r>
          </a:p>
          <a:p>
            <a:pPr marL="697133" lvl="1" indent="-348566" algn="l">
              <a:lnSpc>
                <a:spcPts val="4520"/>
              </a:lnSpc>
              <a:buAutoNum type="arabicPeriod"/>
            </a:pPr>
            <a:r>
              <a:rPr lang="en-US" sz="3228">
                <a:solidFill>
                  <a:srgbClr val="443B2B"/>
                </a:solidFill>
                <a:latin typeface="The Seasons"/>
                <a:ea typeface="The Seasons"/>
                <a:cs typeface="The Seasons"/>
                <a:sym typeface="The Seasons"/>
              </a:rPr>
              <a:t> Kashmir Dispute</a:t>
            </a:r>
          </a:p>
          <a:p>
            <a:pPr marL="697133" lvl="1" indent="-348566" algn="l">
              <a:lnSpc>
                <a:spcPts val="4520"/>
              </a:lnSpc>
              <a:buAutoNum type="arabicPeriod"/>
            </a:pPr>
            <a:r>
              <a:rPr lang="en-US" sz="3228">
                <a:solidFill>
                  <a:srgbClr val="443B2B"/>
                </a:solidFill>
                <a:latin typeface="The Seasons"/>
                <a:ea typeface="The Seasons"/>
                <a:cs typeface="The Seasons"/>
                <a:sym typeface="The Seasons"/>
              </a:rPr>
              <a:t> Canal Water Dispute</a:t>
            </a:r>
          </a:p>
          <a:p>
            <a:pPr marL="697133" lvl="1" indent="-348566" algn="l">
              <a:lnSpc>
                <a:spcPts val="4520"/>
              </a:lnSpc>
              <a:buAutoNum type="arabicPeriod"/>
            </a:pPr>
            <a:r>
              <a:rPr lang="en-US" sz="3228">
                <a:solidFill>
                  <a:srgbClr val="443B2B"/>
                </a:solidFill>
                <a:latin typeface="The Seasons"/>
                <a:ea typeface="The Seasons"/>
                <a:cs typeface="The Seasons"/>
                <a:sym typeface="The Seasons"/>
              </a:rPr>
              <a:t> Constitutional Problem</a:t>
            </a:r>
          </a:p>
          <a:p>
            <a:pPr marL="697133" lvl="1" indent="-348566" algn="l">
              <a:lnSpc>
                <a:spcPts val="4520"/>
              </a:lnSpc>
              <a:buAutoNum type="arabicPeriod"/>
            </a:pPr>
            <a:r>
              <a:rPr lang="en-US" sz="3228">
                <a:solidFill>
                  <a:srgbClr val="443B2B"/>
                </a:solidFill>
                <a:latin typeface="The Seasons"/>
                <a:ea typeface="The Seasons"/>
                <a:cs typeface="The Seasons"/>
                <a:sym typeface="The Seasons"/>
              </a:rPr>
              <a:t> Conclusion </a:t>
            </a:r>
          </a:p>
          <a:p>
            <a:pPr algn="l">
              <a:lnSpc>
                <a:spcPts val="4520"/>
              </a:lnSpc>
            </a:pPr>
            <a:endParaRPr lang="en-US" sz="3228">
              <a:solidFill>
                <a:srgbClr val="443B2B"/>
              </a:solidFill>
              <a:latin typeface="The Seasons"/>
              <a:ea typeface="The Seasons"/>
              <a:cs typeface="The Seasons"/>
              <a:sym typeface="The Seasons"/>
            </a:endParaRPr>
          </a:p>
        </p:txBody>
      </p:sp>
      <p:sp>
        <p:nvSpPr>
          <p:cNvPr id="10" name="TextBox 10"/>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AutoShape 2"/>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3" name="AutoShape 3"/>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4" name="Freeform 4"/>
          <p:cNvSpPr/>
          <p:nvPr/>
        </p:nvSpPr>
        <p:spPr>
          <a:xfrm>
            <a:off x="14705990" y="-684353"/>
            <a:ext cx="3582010" cy="4265245"/>
          </a:xfrm>
          <a:custGeom>
            <a:avLst/>
            <a:gdLst/>
            <a:ahLst/>
            <a:cxnLst/>
            <a:rect l="l" t="t" r="r" b="b"/>
            <a:pathLst>
              <a:path w="3582010" h="4265245">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66666" y="6691314"/>
            <a:ext cx="2053877" cy="4179069"/>
          </a:xfrm>
          <a:custGeom>
            <a:avLst/>
            <a:gdLst/>
            <a:ahLst/>
            <a:cxnLst/>
            <a:rect l="l" t="t" r="r" b="b"/>
            <a:pathLst>
              <a:path w="2053877" h="4179069">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352944" y="7862015"/>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964742" y="-856982"/>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2120543" y="3172093"/>
            <a:ext cx="10064056" cy="4799334"/>
          </a:xfrm>
          <a:prstGeom prst="rect">
            <a:avLst/>
          </a:prstGeom>
        </p:spPr>
        <p:txBody>
          <a:bodyPr lIns="0" tIns="0" rIns="0" bIns="0" rtlCol="0" anchor="t">
            <a:spAutoFit/>
          </a:bodyPr>
          <a:lstStyle/>
          <a:p>
            <a:pPr algn="just">
              <a:lnSpc>
                <a:spcPts val="4794"/>
              </a:lnSpc>
            </a:pPr>
            <a:r>
              <a:rPr lang="en-US" sz="3424" spc="195">
                <a:solidFill>
                  <a:srgbClr val="605440"/>
                </a:solidFill>
                <a:latin typeface="Arimo"/>
                <a:ea typeface="Arimo"/>
                <a:cs typeface="Arimo"/>
                <a:sym typeface="Arimo"/>
              </a:rPr>
              <a:t>Pakistan came into being on 14 August 1947. At the time of independence, Pakistan faced many serious problems. These problems were political, economic, social, and administrative. As a new country, Pakistan had limited resources and weak infrastructure. The early leadership had to work very hard to solve these issues.</a:t>
            </a:r>
          </a:p>
        </p:txBody>
      </p:sp>
      <p:sp>
        <p:nvSpPr>
          <p:cNvPr id="9" name="Freeform 9"/>
          <p:cNvSpPr/>
          <p:nvPr/>
        </p:nvSpPr>
        <p:spPr>
          <a:xfrm>
            <a:off x="12313317" y="3835192"/>
            <a:ext cx="4945983" cy="3772525"/>
          </a:xfrm>
          <a:custGeom>
            <a:avLst/>
            <a:gdLst/>
            <a:ahLst/>
            <a:cxnLst/>
            <a:rect l="l" t="t" r="r" b="b"/>
            <a:pathLst>
              <a:path w="4945983" h="3772525">
                <a:moveTo>
                  <a:pt x="0" y="0"/>
                </a:moveTo>
                <a:lnTo>
                  <a:pt x="4945983" y="0"/>
                </a:lnTo>
                <a:lnTo>
                  <a:pt x="4945983" y="3772524"/>
                </a:lnTo>
                <a:lnTo>
                  <a:pt x="0" y="3772524"/>
                </a:lnTo>
                <a:lnTo>
                  <a:pt x="0" y="0"/>
                </a:lnTo>
                <a:close/>
              </a:path>
            </a:pathLst>
          </a:custGeom>
          <a:blipFill>
            <a:blip r:embed="rId8"/>
            <a:stretch>
              <a:fillRect/>
            </a:stretch>
          </a:blipFill>
        </p:spPr>
      </p:sp>
      <p:sp>
        <p:nvSpPr>
          <p:cNvPr id="10" name="TextBox 10"/>
          <p:cNvSpPr txBox="1"/>
          <p:nvPr/>
        </p:nvSpPr>
        <p:spPr>
          <a:xfrm>
            <a:off x="1452398" y="1910657"/>
            <a:ext cx="6408857" cy="1347161"/>
          </a:xfrm>
          <a:prstGeom prst="rect">
            <a:avLst/>
          </a:prstGeom>
        </p:spPr>
        <p:txBody>
          <a:bodyPr lIns="0" tIns="0" rIns="0" bIns="0" rtlCol="0" anchor="t">
            <a:spAutoFit/>
          </a:bodyPr>
          <a:lstStyle/>
          <a:p>
            <a:pPr algn="ctr">
              <a:lnSpc>
                <a:spcPts val="9754"/>
              </a:lnSpc>
            </a:pPr>
            <a:r>
              <a:rPr lang="en-US" sz="6967" b="1">
                <a:solidFill>
                  <a:srgbClr val="443B2B"/>
                </a:solidFill>
                <a:latin typeface="The Seasons Bold"/>
                <a:ea typeface="The Seasons Bold"/>
                <a:cs typeface="The Seasons Bold"/>
                <a:sym typeface="The Seasons Bold"/>
              </a:rPr>
              <a:t>Introduction:</a:t>
            </a:r>
          </a:p>
        </p:txBody>
      </p:sp>
      <p:sp>
        <p:nvSpPr>
          <p:cNvPr id="11" name="TextBox 11"/>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02</a:t>
            </a:r>
          </a:p>
        </p:txBody>
      </p:sp>
      <p:sp>
        <p:nvSpPr>
          <p:cNvPr id="12" name="TextBox 12"/>
          <p:cNvSpPr txBox="1"/>
          <p:nvPr/>
        </p:nvSpPr>
        <p:spPr>
          <a:xfrm>
            <a:off x="2120543" y="560078"/>
            <a:ext cx="13111918" cy="1061634"/>
          </a:xfrm>
          <a:prstGeom prst="rect">
            <a:avLst/>
          </a:prstGeom>
        </p:spPr>
        <p:txBody>
          <a:bodyPr lIns="0" tIns="0" rIns="0" bIns="0" rtlCol="0" anchor="t">
            <a:spAutoFit/>
          </a:bodyPr>
          <a:lstStyle/>
          <a:p>
            <a:pPr algn="ctr">
              <a:lnSpc>
                <a:spcPts val="7673"/>
              </a:lnSpc>
            </a:pPr>
            <a:r>
              <a:rPr lang="en-US" sz="5481" b="1" u="sng">
                <a:solidFill>
                  <a:srgbClr val="443B2B"/>
                </a:solidFill>
                <a:latin typeface="The Seasons Bold"/>
                <a:ea typeface="The Seasons Bold"/>
                <a:cs typeface="The Seasons Bold"/>
                <a:sym typeface="The Seasons Bold"/>
              </a:rPr>
              <a:t>INITIAL PROBLEM OF PAKISTAN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Freeform 2"/>
          <p:cNvSpPr/>
          <p:nvPr/>
        </p:nvSpPr>
        <p:spPr>
          <a:xfrm>
            <a:off x="-1964742" y="-856982"/>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352944" y="7862015"/>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5" name="AutoShape 5"/>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6" name="Freeform 6"/>
          <p:cNvSpPr/>
          <p:nvPr/>
        </p:nvSpPr>
        <p:spPr>
          <a:xfrm>
            <a:off x="14705990" y="-684353"/>
            <a:ext cx="3582010" cy="4265245"/>
          </a:xfrm>
          <a:custGeom>
            <a:avLst/>
            <a:gdLst/>
            <a:ahLst/>
            <a:cxnLst/>
            <a:rect l="l" t="t" r="r" b="b"/>
            <a:pathLst>
              <a:path w="3582010" h="4265245">
                <a:moveTo>
                  <a:pt x="0" y="0"/>
                </a:moveTo>
                <a:lnTo>
                  <a:pt x="3582010" y="0"/>
                </a:lnTo>
                <a:lnTo>
                  <a:pt x="3582010" y="4265245"/>
                </a:lnTo>
                <a:lnTo>
                  <a:pt x="0" y="42652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H="1" flipV="1">
            <a:off x="66666" y="6691314"/>
            <a:ext cx="2053877" cy="4179069"/>
          </a:xfrm>
          <a:custGeom>
            <a:avLst/>
            <a:gdLst/>
            <a:ahLst/>
            <a:cxnLst/>
            <a:rect l="l" t="t" r="r" b="b"/>
            <a:pathLst>
              <a:path w="2053877" h="4179069">
                <a:moveTo>
                  <a:pt x="2053877" y="4179069"/>
                </a:moveTo>
                <a:lnTo>
                  <a:pt x="0" y="4179069"/>
                </a:lnTo>
                <a:lnTo>
                  <a:pt x="0" y="0"/>
                </a:lnTo>
                <a:lnTo>
                  <a:pt x="2053877" y="0"/>
                </a:lnTo>
                <a:lnTo>
                  <a:pt x="2053877" y="417906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0183887" y="2919777"/>
            <a:ext cx="5438125" cy="5438125"/>
          </a:xfrm>
          <a:custGeom>
            <a:avLst/>
            <a:gdLst/>
            <a:ahLst/>
            <a:cxnLst/>
            <a:rect l="l" t="t" r="r" b="b"/>
            <a:pathLst>
              <a:path w="5438125" h="5438125">
                <a:moveTo>
                  <a:pt x="0" y="0"/>
                </a:moveTo>
                <a:lnTo>
                  <a:pt x="5438126" y="0"/>
                </a:lnTo>
                <a:lnTo>
                  <a:pt x="5438126" y="5438125"/>
                </a:lnTo>
                <a:lnTo>
                  <a:pt x="0" y="5438125"/>
                </a:lnTo>
                <a:lnTo>
                  <a:pt x="0" y="0"/>
                </a:lnTo>
                <a:close/>
              </a:path>
            </a:pathLst>
          </a:custGeom>
          <a:blipFill>
            <a:blip r:embed="rId8"/>
            <a:stretch>
              <a:fillRect/>
            </a:stretch>
          </a:blipFill>
        </p:spPr>
      </p:sp>
      <p:sp>
        <p:nvSpPr>
          <p:cNvPr id="9" name="TextBox 9"/>
          <p:cNvSpPr txBox="1"/>
          <p:nvPr/>
        </p:nvSpPr>
        <p:spPr>
          <a:xfrm>
            <a:off x="5571753" y="828675"/>
            <a:ext cx="7144495" cy="1951655"/>
          </a:xfrm>
          <a:prstGeom prst="rect">
            <a:avLst/>
          </a:prstGeom>
        </p:spPr>
        <p:txBody>
          <a:bodyPr lIns="0" tIns="0" rIns="0" bIns="0" rtlCol="0" anchor="t">
            <a:spAutoFit/>
          </a:bodyPr>
          <a:lstStyle/>
          <a:p>
            <a:pPr algn="ctr">
              <a:lnSpc>
                <a:spcPts val="7368"/>
              </a:lnSpc>
            </a:pPr>
            <a:r>
              <a:rPr lang="en-US" sz="5262" b="1">
                <a:solidFill>
                  <a:srgbClr val="443B2B"/>
                </a:solidFill>
                <a:latin typeface="The Seasons Bold"/>
                <a:ea typeface="The Seasons Bold"/>
                <a:cs typeface="The Seasons Bold"/>
                <a:sym typeface="The Seasons Bold"/>
              </a:rPr>
              <a:t>Refugee Problem in Early Years of Pakistan</a:t>
            </a:r>
          </a:p>
        </p:txBody>
      </p:sp>
      <p:sp>
        <p:nvSpPr>
          <p:cNvPr id="10" name="TextBox 10"/>
          <p:cNvSpPr txBox="1"/>
          <p:nvPr/>
        </p:nvSpPr>
        <p:spPr>
          <a:xfrm>
            <a:off x="2647015" y="2862627"/>
            <a:ext cx="7167022" cy="5937953"/>
          </a:xfrm>
          <a:prstGeom prst="rect">
            <a:avLst/>
          </a:prstGeom>
        </p:spPr>
        <p:txBody>
          <a:bodyPr lIns="0" tIns="0" rIns="0" bIns="0" rtlCol="0" anchor="t">
            <a:spAutoFit/>
          </a:bodyPr>
          <a:lstStyle/>
          <a:p>
            <a:pPr algn="just">
              <a:lnSpc>
                <a:spcPts val="3388"/>
              </a:lnSpc>
            </a:pPr>
            <a:r>
              <a:rPr lang="en-US" sz="2420" spc="137">
                <a:solidFill>
                  <a:srgbClr val="605440"/>
                </a:solidFill>
                <a:latin typeface="Arimo"/>
                <a:ea typeface="Arimo"/>
                <a:cs typeface="Arimo"/>
                <a:sym typeface="Arimo"/>
              </a:rPr>
              <a:t>At the time of independence in 1947, Pakistan faced a severe refugee problem as millions of Muslims migrated from India to Pakistan. These refugees arrived with little or no belongings, creating a huge burden on the government. The administration had to urgently arrange food, shelter, and employment for them. Cities like Karachi became overcrowded, and resources were limited. Refugee camps were set up, but living conditions were often poor. This sudden population increase created serious administrative, economic, and social challenges for the newly established state.</a:t>
            </a:r>
          </a:p>
        </p:txBody>
      </p:sp>
      <p:sp>
        <p:nvSpPr>
          <p:cNvPr id="11" name="TextBox 11"/>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AutoShape 2"/>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3" name="AutoShape 3"/>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4" name="Freeform 4"/>
          <p:cNvSpPr/>
          <p:nvPr/>
        </p:nvSpPr>
        <p:spPr>
          <a:xfrm>
            <a:off x="14705990" y="-684353"/>
            <a:ext cx="3582010" cy="4265245"/>
          </a:xfrm>
          <a:custGeom>
            <a:avLst/>
            <a:gdLst/>
            <a:ahLst/>
            <a:cxnLst/>
            <a:rect l="l" t="t" r="r" b="b"/>
            <a:pathLst>
              <a:path w="3582010" h="4265245">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66666" y="6691314"/>
            <a:ext cx="2053877" cy="4179069"/>
          </a:xfrm>
          <a:custGeom>
            <a:avLst/>
            <a:gdLst/>
            <a:ahLst/>
            <a:cxnLst/>
            <a:rect l="l" t="t" r="r" b="b"/>
            <a:pathLst>
              <a:path w="2053877" h="4179069">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352944" y="7862015"/>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964742" y="-856982"/>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9670471" y="3833555"/>
            <a:ext cx="6497961" cy="4028460"/>
          </a:xfrm>
          <a:custGeom>
            <a:avLst/>
            <a:gdLst/>
            <a:ahLst/>
            <a:cxnLst/>
            <a:rect l="l" t="t" r="r" b="b"/>
            <a:pathLst>
              <a:path w="6497961" h="4028460">
                <a:moveTo>
                  <a:pt x="0" y="0"/>
                </a:moveTo>
                <a:lnTo>
                  <a:pt x="6497962" y="0"/>
                </a:lnTo>
                <a:lnTo>
                  <a:pt x="6497962" y="4028460"/>
                </a:lnTo>
                <a:lnTo>
                  <a:pt x="0" y="4028460"/>
                </a:lnTo>
                <a:lnTo>
                  <a:pt x="0" y="0"/>
                </a:lnTo>
                <a:close/>
              </a:path>
            </a:pathLst>
          </a:custGeom>
          <a:blipFill>
            <a:blip r:embed="rId8"/>
            <a:stretch>
              <a:fillRect/>
            </a:stretch>
          </a:blipFill>
        </p:spPr>
      </p:sp>
      <p:sp>
        <p:nvSpPr>
          <p:cNvPr id="9" name="TextBox 9"/>
          <p:cNvSpPr txBox="1"/>
          <p:nvPr/>
        </p:nvSpPr>
        <p:spPr>
          <a:xfrm>
            <a:off x="1393460" y="1631658"/>
            <a:ext cx="13856343" cy="1952424"/>
          </a:xfrm>
          <a:prstGeom prst="rect">
            <a:avLst/>
          </a:prstGeom>
        </p:spPr>
        <p:txBody>
          <a:bodyPr lIns="0" tIns="0" rIns="0" bIns="0" rtlCol="0" anchor="t">
            <a:spAutoFit/>
          </a:bodyPr>
          <a:lstStyle/>
          <a:p>
            <a:pPr algn="ctr">
              <a:lnSpc>
                <a:spcPts val="7361"/>
              </a:lnSpc>
            </a:pPr>
            <a:r>
              <a:rPr lang="en-US" sz="5257" b="1">
                <a:solidFill>
                  <a:srgbClr val="443B2B"/>
                </a:solidFill>
                <a:latin typeface="The Seasons Bold"/>
                <a:ea typeface="The Seasons Bold"/>
                <a:cs typeface="The Seasons Bold"/>
                <a:sym typeface="The Seasons Bold"/>
              </a:rPr>
              <a:t>Choice of Capital and Establishment of Government</a:t>
            </a:r>
          </a:p>
        </p:txBody>
      </p:sp>
      <p:sp>
        <p:nvSpPr>
          <p:cNvPr id="10" name="TextBox 10"/>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04</a:t>
            </a:r>
          </a:p>
        </p:txBody>
      </p:sp>
      <p:sp>
        <p:nvSpPr>
          <p:cNvPr id="11" name="TextBox 11"/>
          <p:cNvSpPr txBox="1"/>
          <p:nvPr/>
        </p:nvSpPr>
        <p:spPr>
          <a:xfrm>
            <a:off x="2647015" y="3687804"/>
            <a:ext cx="7023457" cy="5203250"/>
          </a:xfrm>
          <a:prstGeom prst="rect">
            <a:avLst/>
          </a:prstGeom>
        </p:spPr>
        <p:txBody>
          <a:bodyPr lIns="0" tIns="0" rIns="0" bIns="0" rtlCol="0" anchor="t">
            <a:spAutoFit/>
          </a:bodyPr>
          <a:lstStyle/>
          <a:p>
            <a:pPr algn="just">
              <a:lnSpc>
                <a:spcPts val="4128"/>
              </a:lnSpc>
            </a:pPr>
            <a:r>
              <a:rPr lang="en-US" sz="2949" spc="168">
                <a:solidFill>
                  <a:srgbClr val="605440"/>
                </a:solidFill>
                <a:latin typeface="Arimo"/>
                <a:ea typeface="Arimo"/>
                <a:cs typeface="Arimo"/>
                <a:sym typeface="Arimo"/>
              </a:rPr>
              <a:t>At independence, Pakistan did not have a proper capital city. Karachi was selected as the temporary capital. There were very few government offices and buildings. Pakistan also had a shortage of trained staff and experienced officers. Setting up a new government system was a big challenge.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AutoShape 2"/>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3" name="AutoShape 3"/>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4" name="Freeform 4"/>
          <p:cNvSpPr/>
          <p:nvPr/>
        </p:nvSpPr>
        <p:spPr>
          <a:xfrm>
            <a:off x="14705990" y="-684353"/>
            <a:ext cx="3582010" cy="4265245"/>
          </a:xfrm>
          <a:custGeom>
            <a:avLst/>
            <a:gdLst/>
            <a:ahLst/>
            <a:cxnLst/>
            <a:rect l="l" t="t" r="r" b="b"/>
            <a:pathLst>
              <a:path w="3582010" h="4265245">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66666" y="6691314"/>
            <a:ext cx="2053877" cy="4179069"/>
          </a:xfrm>
          <a:custGeom>
            <a:avLst/>
            <a:gdLst/>
            <a:ahLst/>
            <a:cxnLst/>
            <a:rect l="l" t="t" r="r" b="b"/>
            <a:pathLst>
              <a:path w="2053877" h="4179069">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352944" y="7862015"/>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964742" y="-856982"/>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9518391" y="3292457"/>
            <a:ext cx="7740909" cy="4385024"/>
          </a:xfrm>
          <a:custGeom>
            <a:avLst/>
            <a:gdLst/>
            <a:ahLst/>
            <a:cxnLst/>
            <a:rect l="l" t="t" r="r" b="b"/>
            <a:pathLst>
              <a:path w="7740909" h="4385024">
                <a:moveTo>
                  <a:pt x="0" y="0"/>
                </a:moveTo>
                <a:lnTo>
                  <a:pt x="7740909" y="0"/>
                </a:lnTo>
                <a:lnTo>
                  <a:pt x="7740909" y="4385024"/>
                </a:lnTo>
                <a:lnTo>
                  <a:pt x="0" y="4385024"/>
                </a:lnTo>
                <a:lnTo>
                  <a:pt x="0" y="0"/>
                </a:lnTo>
                <a:close/>
              </a:path>
            </a:pathLst>
          </a:custGeom>
          <a:blipFill>
            <a:blip r:embed="rId8"/>
            <a:stretch>
              <a:fillRect/>
            </a:stretch>
          </a:blipFill>
        </p:spPr>
      </p:sp>
      <p:sp>
        <p:nvSpPr>
          <p:cNvPr id="9" name="TextBox 9"/>
          <p:cNvSpPr txBox="1"/>
          <p:nvPr/>
        </p:nvSpPr>
        <p:spPr>
          <a:xfrm>
            <a:off x="2647015" y="1998885"/>
            <a:ext cx="11385993" cy="1109037"/>
          </a:xfrm>
          <a:prstGeom prst="rect">
            <a:avLst/>
          </a:prstGeom>
        </p:spPr>
        <p:txBody>
          <a:bodyPr lIns="0" tIns="0" rIns="0" bIns="0" rtlCol="0" anchor="t">
            <a:spAutoFit/>
          </a:bodyPr>
          <a:lstStyle/>
          <a:p>
            <a:pPr algn="ctr">
              <a:lnSpc>
                <a:spcPts val="8019"/>
              </a:lnSpc>
            </a:pPr>
            <a:r>
              <a:rPr lang="en-US" sz="5727" b="1">
                <a:solidFill>
                  <a:srgbClr val="443B2B"/>
                </a:solidFill>
                <a:latin typeface="The Seasons Bold"/>
                <a:ea typeface="The Seasons Bold"/>
                <a:cs typeface="The Seasons Bold"/>
                <a:sym typeface="The Seasons Bold"/>
              </a:rPr>
              <a:t>Unfair Boundary (Radcliffe Award)</a:t>
            </a:r>
          </a:p>
        </p:txBody>
      </p:sp>
      <p:sp>
        <p:nvSpPr>
          <p:cNvPr id="10" name="TextBox 10"/>
          <p:cNvSpPr txBox="1"/>
          <p:nvPr/>
        </p:nvSpPr>
        <p:spPr>
          <a:xfrm>
            <a:off x="2494934" y="3504692"/>
            <a:ext cx="7023457" cy="4162858"/>
          </a:xfrm>
          <a:prstGeom prst="rect">
            <a:avLst/>
          </a:prstGeom>
        </p:spPr>
        <p:txBody>
          <a:bodyPr lIns="0" tIns="0" rIns="0" bIns="0" rtlCol="0" anchor="t">
            <a:spAutoFit/>
          </a:bodyPr>
          <a:lstStyle/>
          <a:p>
            <a:pPr algn="just">
              <a:lnSpc>
                <a:spcPts val="4128"/>
              </a:lnSpc>
            </a:pPr>
            <a:r>
              <a:rPr lang="en-US" sz="2949" spc="168">
                <a:solidFill>
                  <a:srgbClr val="605440"/>
                </a:solidFill>
                <a:latin typeface="Arimo"/>
                <a:ea typeface="Arimo"/>
                <a:cs typeface="Arimo"/>
                <a:sym typeface="Arimo"/>
              </a:rPr>
              <a:t>The boundary between India and Pakistan was decided by the Radcliffe Commission. Many Muslim-majority areas were given to India, including Gurdaspur. This created anger and problems for Pakistan. The unfair boundary also caused violence and migration issues.</a:t>
            </a:r>
          </a:p>
        </p:txBody>
      </p:sp>
      <p:sp>
        <p:nvSpPr>
          <p:cNvPr id="11" name="TextBox 11"/>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AutoShape 2"/>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3" name="AutoShape 3"/>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4" name="Freeform 4"/>
          <p:cNvSpPr/>
          <p:nvPr/>
        </p:nvSpPr>
        <p:spPr>
          <a:xfrm>
            <a:off x="14705990" y="-684353"/>
            <a:ext cx="3582010" cy="4265245"/>
          </a:xfrm>
          <a:custGeom>
            <a:avLst/>
            <a:gdLst/>
            <a:ahLst/>
            <a:cxnLst/>
            <a:rect l="l" t="t" r="r" b="b"/>
            <a:pathLst>
              <a:path w="3582010" h="4265245">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66666" y="6691314"/>
            <a:ext cx="2053877" cy="4179069"/>
          </a:xfrm>
          <a:custGeom>
            <a:avLst/>
            <a:gdLst/>
            <a:ahLst/>
            <a:cxnLst/>
            <a:rect l="l" t="t" r="r" b="b"/>
            <a:pathLst>
              <a:path w="2053877" h="4179069">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352944" y="7862015"/>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964742" y="-856982"/>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9420295" y="3281578"/>
            <a:ext cx="7839005" cy="4580438"/>
          </a:xfrm>
          <a:custGeom>
            <a:avLst/>
            <a:gdLst/>
            <a:ahLst/>
            <a:cxnLst/>
            <a:rect l="l" t="t" r="r" b="b"/>
            <a:pathLst>
              <a:path w="7839005" h="4580438">
                <a:moveTo>
                  <a:pt x="0" y="0"/>
                </a:moveTo>
                <a:lnTo>
                  <a:pt x="7839005" y="0"/>
                </a:lnTo>
                <a:lnTo>
                  <a:pt x="7839005" y="4580437"/>
                </a:lnTo>
                <a:lnTo>
                  <a:pt x="0" y="4580437"/>
                </a:lnTo>
                <a:lnTo>
                  <a:pt x="0" y="0"/>
                </a:lnTo>
                <a:close/>
              </a:path>
            </a:pathLst>
          </a:custGeom>
          <a:blipFill>
            <a:blip r:embed="rId8"/>
            <a:stretch>
              <a:fillRect/>
            </a:stretch>
          </a:blipFill>
        </p:spPr>
      </p:sp>
      <p:sp>
        <p:nvSpPr>
          <p:cNvPr id="9" name="TextBox 9"/>
          <p:cNvSpPr txBox="1"/>
          <p:nvPr/>
        </p:nvSpPr>
        <p:spPr>
          <a:xfrm>
            <a:off x="1824646" y="1830401"/>
            <a:ext cx="12993971" cy="1427417"/>
          </a:xfrm>
          <a:prstGeom prst="rect">
            <a:avLst/>
          </a:prstGeom>
        </p:spPr>
        <p:txBody>
          <a:bodyPr lIns="0" tIns="0" rIns="0" bIns="0" rtlCol="0" anchor="t">
            <a:spAutoFit/>
          </a:bodyPr>
          <a:lstStyle/>
          <a:p>
            <a:pPr algn="ctr">
              <a:lnSpc>
                <a:spcPts val="10311"/>
              </a:lnSpc>
            </a:pPr>
            <a:r>
              <a:rPr lang="en-US" sz="7365" b="1">
                <a:solidFill>
                  <a:srgbClr val="443B2B"/>
                </a:solidFill>
                <a:latin typeface="The Seasons Bold"/>
                <a:ea typeface="The Seasons Bold"/>
                <a:cs typeface="The Seasons Bold"/>
                <a:sym typeface="The Seasons Bold"/>
              </a:rPr>
              <a:t>Division of Military Assets</a:t>
            </a:r>
          </a:p>
        </p:txBody>
      </p:sp>
      <p:sp>
        <p:nvSpPr>
          <p:cNvPr id="10" name="TextBox 10"/>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06</a:t>
            </a:r>
          </a:p>
        </p:txBody>
      </p:sp>
      <p:sp>
        <p:nvSpPr>
          <p:cNvPr id="11" name="TextBox 11"/>
          <p:cNvSpPr txBox="1"/>
          <p:nvPr/>
        </p:nvSpPr>
        <p:spPr>
          <a:xfrm>
            <a:off x="2437536" y="3504692"/>
            <a:ext cx="6982759" cy="4883770"/>
          </a:xfrm>
          <a:prstGeom prst="rect">
            <a:avLst/>
          </a:prstGeom>
        </p:spPr>
        <p:txBody>
          <a:bodyPr lIns="0" tIns="0" rIns="0" bIns="0" rtlCol="0" anchor="t">
            <a:spAutoFit/>
          </a:bodyPr>
          <a:lstStyle/>
          <a:p>
            <a:pPr algn="just">
              <a:lnSpc>
                <a:spcPts val="4340"/>
              </a:lnSpc>
            </a:pPr>
            <a:r>
              <a:rPr lang="en-US" sz="3100" spc="176">
                <a:solidFill>
                  <a:srgbClr val="605440"/>
                </a:solidFill>
                <a:latin typeface="Arimo"/>
                <a:ea typeface="Arimo"/>
                <a:cs typeface="Arimo"/>
                <a:sym typeface="Arimo"/>
              </a:rPr>
              <a:t>After partition, the military assets of British India were divided between India and Pakistan. Pakistan received fewer weapons, equipment, and military bases. This made Pakistan’s defense system weak in the beginning. It created security problems for the new country.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AutoShape 2"/>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3" name="AutoShape 3"/>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4" name="Freeform 4"/>
          <p:cNvSpPr/>
          <p:nvPr/>
        </p:nvSpPr>
        <p:spPr>
          <a:xfrm>
            <a:off x="14705990" y="-684353"/>
            <a:ext cx="3582010" cy="4265245"/>
          </a:xfrm>
          <a:custGeom>
            <a:avLst/>
            <a:gdLst/>
            <a:ahLst/>
            <a:cxnLst/>
            <a:rect l="l" t="t" r="r" b="b"/>
            <a:pathLst>
              <a:path w="3582010" h="4265245">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66666" y="6691314"/>
            <a:ext cx="2053877" cy="4179069"/>
          </a:xfrm>
          <a:custGeom>
            <a:avLst/>
            <a:gdLst/>
            <a:ahLst/>
            <a:cxnLst/>
            <a:rect l="l" t="t" r="r" b="b"/>
            <a:pathLst>
              <a:path w="2053877" h="4179069">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352944" y="7862015"/>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964742" y="-856982"/>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9359173" y="3307534"/>
            <a:ext cx="7299649" cy="4554482"/>
          </a:xfrm>
          <a:custGeom>
            <a:avLst/>
            <a:gdLst/>
            <a:ahLst/>
            <a:cxnLst/>
            <a:rect l="l" t="t" r="r" b="b"/>
            <a:pathLst>
              <a:path w="7299649" h="4554482">
                <a:moveTo>
                  <a:pt x="0" y="0"/>
                </a:moveTo>
                <a:lnTo>
                  <a:pt x="7299650" y="0"/>
                </a:lnTo>
                <a:lnTo>
                  <a:pt x="7299650" y="4554481"/>
                </a:lnTo>
                <a:lnTo>
                  <a:pt x="0" y="4554481"/>
                </a:lnTo>
                <a:lnTo>
                  <a:pt x="0" y="0"/>
                </a:lnTo>
                <a:close/>
              </a:path>
            </a:pathLst>
          </a:custGeom>
          <a:blipFill>
            <a:blip r:embed="rId8"/>
            <a:stretch>
              <a:fillRect/>
            </a:stretch>
          </a:blipFill>
        </p:spPr>
      </p:sp>
      <p:sp>
        <p:nvSpPr>
          <p:cNvPr id="9" name="TextBox 9"/>
          <p:cNvSpPr txBox="1"/>
          <p:nvPr/>
        </p:nvSpPr>
        <p:spPr>
          <a:xfrm>
            <a:off x="3257027" y="1262855"/>
            <a:ext cx="11773946" cy="1470649"/>
          </a:xfrm>
          <a:prstGeom prst="rect">
            <a:avLst/>
          </a:prstGeom>
        </p:spPr>
        <p:txBody>
          <a:bodyPr lIns="0" tIns="0" rIns="0" bIns="0" rtlCol="0" anchor="t">
            <a:spAutoFit/>
          </a:bodyPr>
          <a:lstStyle/>
          <a:p>
            <a:pPr algn="ctr">
              <a:lnSpc>
                <a:spcPts val="10851"/>
              </a:lnSpc>
            </a:pPr>
            <a:r>
              <a:rPr lang="en-US" sz="7751">
                <a:solidFill>
                  <a:srgbClr val="443B2B"/>
                </a:solidFill>
                <a:latin typeface="The Seasons"/>
                <a:ea typeface="The Seasons"/>
                <a:cs typeface="The Seasons"/>
                <a:sym typeface="The Seasons"/>
              </a:rPr>
              <a:t>Division of Financial Assets</a:t>
            </a:r>
          </a:p>
        </p:txBody>
      </p:sp>
      <p:sp>
        <p:nvSpPr>
          <p:cNvPr id="10" name="TextBox 10"/>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07</a:t>
            </a:r>
          </a:p>
        </p:txBody>
      </p:sp>
      <p:sp>
        <p:nvSpPr>
          <p:cNvPr id="11" name="TextBox 11"/>
          <p:cNvSpPr txBox="1"/>
          <p:nvPr/>
        </p:nvSpPr>
        <p:spPr>
          <a:xfrm>
            <a:off x="2120543" y="3221809"/>
            <a:ext cx="7348592" cy="5399769"/>
          </a:xfrm>
          <a:prstGeom prst="rect">
            <a:avLst/>
          </a:prstGeom>
        </p:spPr>
        <p:txBody>
          <a:bodyPr lIns="0" tIns="0" rIns="0" bIns="0" rtlCol="0" anchor="t">
            <a:spAutoFit/>
          </a:bodyPr>
          <a:lstStyle/>
          <a:p>
            <a:pPr algn="just">
              <a:lnSpc>
                <a:spcPts val="4774"/>
              </a:lnSpc>
            </a:pPr>
            <a:r>
              <a:rPr lang="en-US" sz="3410" spc="194">
                <a:solidFill>
                  <a:srgbClr val="605440"/>
                </a:solidFill>
                <a:latin typeface="Arimo"/>
                <a:ea typeface="Arimo"/>
                <a:cs typeface="Arimo"/>
                <a:sym typeface="Arimo"/>
              </a:rPr>
              <a:t>Pakistan was supposed to receive 750 million rupees from India. However, India delayed the payment and initially gave only a small portion. Due to lack of money, Pakistan faced serious financial difficulties. The government struggled to manage expenses.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AutoShape 2"/>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3" name="AutoShape 3"/>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4" name="Freeform 4"/>
          <p:cNvSpPr/>
          <p:nvPr/>
        </p:nvSpPr>
        <p:spPr>
          <a:xfrm>
            <a:off x="14705990" y="-684353"/>
            <a:ext cx="3582010" cy="4265245"/>
          </a:xfrm>
          <a:custGeom>
            <a:avLst/>
            <a:gdLst/>
            <a:ahLst/>
            <a:cxnLst/>
            <a:rect l="l" t="t" r="r" b="b"/>
            <a:pathLst>
              <a:path w="3582010" h="4265245">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66666" y="6691314"/>
            <a:ext cx="2053877" cy="4179069"/>
          </a:xfrm>
          <a:custGeom>
            <a:avLst/>
            <a:gdLst/>
            <a:ahLst/>
            <a:cxnLst/>
            <a:rect l="l" t="t" r="r" b="b"/>
            <a:pathLst>
              <a:path w="2053877" h="4179069">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352944" y="7862015"/>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964742" y="-856982"/>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9250858" y="3580892"/>
            <a:ext cx="7407965" cy="4064670"/>
          </a:xfrm>
          <a:custGeom>
            <a:avLst/>
            <a:gdLst/>
            <a:ahLst/>
            <a:cxnLst/>
            <a:rect l="l" t="t" r="r" b="b"/>
            <a:pathLst>
              <a:path w="7407965" h="4064670">
                <a:moveTo>
                  <a:pt x="0" y="0"/>
                </a:moveTo>
                <a:lnTo>
                  <a:pt x="7407965" y="0"/>
                </a:lnTo>
                <a:lnTo>
                  <a:pt x="7407965" y="4064670"/>
                </a:lnTo>
                <a:lnTo>
                  <a:pt x="0" y="4064670"/>
                </a:lnTo>
                <a:lnTo>
                  <a:pt x="0" y="0"/>
                </a:lnTo>
                <a:close/>
              </a:path>
            </a:pathLst>
          </a:custGeom>
          <a:blipFill>
            <a:blip r:embed="rId8"/>
            <a:stretch>
              <a:fillRect/>
            </a:stretch>
          </a:blipFill>
        </p:spPr>
      </p:sp>
      <p:sp>
        <p:nvSpPr>
          <p:cNvPr id="9" name="TextBox 9"/>
          <p:cNvSpPr txBox="1"/>
          <p:nvPr/>
        </p:nvSpPr>
        <p:spPr>
          <a:xfrm>
            <a:off x="2295731" y="1095845"/>
            <a:ext cx="13696538" cy="1766569"/>
          </a:xfrm>
          <a:prstGeom prst="rect">
            <a:avLst/>
          </a:prstGeom>
        </p:spPr>
        <p:txBody>
          <a:bodyPr lIns="0" tIns="0" rIns="0" bIns="0" rtlCol="0" anchor="t">
            <a:spAutoFit/>
          </a:bodyPr>
          <a:lstStyle/>
          <a:p>
            <a:pPr algn="ctr">
              <a:lnSpc>
                <a:spcPts val="12880"/>
              </a:lnSpc>
            </a:pPr>
            <a:r>
              <a:rPr lang="en-US" sz="9200" b="1">
                <a:solidFill>
                  <a:srgbClr val="443B2B"/>
                </a:solidFill>
                <a:latin typeface="The Seasons Bold"/>
                <a:ea typeface="The Seasons Bold"/>
                <a:cs typeface="The Seasons Bold"/>
                <a:sym typeface="The Seasons Bold"/>
              </a:rPr>
              <a:t>Economic Problems</a:t>
            </a:r>
          </a:p>
        </p:txBody>
      </p:sp>
      <p:sp>
        <p:nvSpPr>
          <p:cNvPr id="10" name="TextBox 10"/>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08</a:t>
            </a:r>
          </a:p>
        </p:txBody>
      </p:sp>
      <p:sp>
        <p:nvSpPr>
          <p:cNvPr id="11" name="TextBox 11"/>
          <p:cNvSpPr txBox="1"/>
          <p:nvPr/>
        </p:nvSpPr>
        <p:spPr>
          <a:xfrm>
            <a:off x="2647015" y="3172093"/>
            <a:ext cx="6806049" cy="5231613"/>
          </a:xfrm>
          <a:prstGeom prst="rect">
            <a:avLst/>
          </a:prstGeom>
        </p:spPr>
        <p:txBody>
          <a:bodyPr lIns="0" tIns="0" rIns="0" bIns="0" rtlCol="0" anchor="t">
            <a:spAutoFit/>
          </a:bodyPr>
          <a:lstStyle/>
          <a:p>
            <a:pPr algn="just">
              <a:lnSpc>
                <a:spcPts val="4593"/>
              </a:lnSpc>
            </a:pPr>
            <a:r>
              <a:rPr lang="en-US" sz="3280" spc="187">
                <a:solidFill>
                  <a:srgbClr val="605440"/>
                </a:solidFill>
                <a:latin typeface="Arimo"/>
                <a:ea typeface="Arimo"/>
                <a:cs typeface="Arimo"/>
                <a:sym typeface="Arimo"/>
              </a:rPr>
              <a:t>Pakistan inherited very few industries. Most industries were located in India. There was a shortage of factories, banks, and business centers. The country mainly depended on agriculture. This made economic development slow in the early years.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AutoShape 2"/>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3" name="AutoShape 3"/>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4" name="Freeform 4"/>
          <p:cNvSpPr/>
          <p:nvPr/>
        </p:nvSpPr>
        <p:spPr>
          <a:xfrm>
            <a:off x="14705990" y="-684353"/>
            <a:ext cx="3582010" cy="4265245"/>
          </a:xfrm>
          <a:custGeom>
            <a:avLst/>
            <a:gdLst/>
            <a:ahLst/>
            <a:cxnLst/>
            <a:rect l="l" t="t" r="r" b="b"/>
            <a:pathLst>
              <a:path w="3582010" h="4265245">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66666" y="6691314"/>
            <a:ext cx="2053877" cy="4179069"/>
          </a:xfrm>
          <a:custGeom>
            <a:avLst/>
            <a:gdLst/>
            <a:ahLst/>
            <a:cxnLst/>
            <a:rect l="l" t="t" r="r" b="b"/>
            <a:pathLst>
              <a:path w="2053877" h="4179069">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352944" y="7862015"/>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964742" y="-856982"/>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0252227" y="3580892"/>
            <a:ext cx="7007073" cy="3948430"/>
          </a:xfrm>
          <a:custGeom>
            <a:avLst/>
            <a:gdLst/>
            <a:ahLst/>
            <a:cxnLst/>
            <a:rect l="l" t="t" r="r" b="b"/>
            <a:pathLst>
              <a:path w="7007073" h="3948430">
                <a:moveTo>
                  <a:pt x="0" y="0"/>
                </a:moveTo>
                <a:lnTo>
                  <a:pt x="7007073" y="0"/>
                </a:lnTo>
                <a:lnTo>
                  <a:pt x="7007073" y="3948430"/>
                </a:lnTo>
                <a:lnTo>
                  <a:pt x="0" y="3948430"/>
                </a:lnTo>
                <a:lnTo>
                  <a:pt x="0" y="0"/>
                </a:lnTo>
                <a:close/>
              </a:path>
            </a:pathLst>
          </a:custGeom>
          <a:blipFill>
            <a:blip r:embed="rId8"/>
            <a:stretch>
              <a:fillRect/>
            </a:stretch>
          </a:blipFill>
        </p:spPr>
      </p:sp>
      <p:sp>
        <p:nvSpPr>
          <p:cNvPr id="9" name="TextBox 9"/>
          <p:cNvSpPr txBox="1"/>
          <p:nvPr/>
        </p:nvSpPr>
        <p:spPr>
          <a:xfrm>
            <a:off x="1545787" y="1272525"/>
            <a:ext cx="15196426" cy="1470359"/>
          </a:xfrm>
          <a:prstGeom prst="rect">
            <a:avLst/>
          </a:prstGeom>
        </p:spPr>
        <p:txBody>
          <a:bodyPr lIns="0" tIns="0" rIns="0" bIns="0" rtlCol="0" anchor="t">
            <a:spAutoFit/>
          </a:bodyPr>
          <a:lstStyle/>
          <a:p>
            <a:pPr algn="ctr">
              <a:lnSpc>
                <a:spcPts val="10702"/>
              </a:lnSpc>
            </a:pPr>
            <a:r>
              <a:rPr lang="en-US" sz="7644" b="1">
                <a:solidFill>
                  <a:srgbClr val="443B2B"/>
                </a:solidFill>
                <a:latin typeface="The Seasons Bold"/>
                <a:ea typeface="The Seasons Bold"/>
                <a:cs typeface="The Seasons Bold"/>
                <a:sym typeface="The Seasons Bold"/>
              </a:rPr>
              <a:t>Issue of National Language</a:t>
            </a:r>
          </a:p>
        </p:txBody>
      </p:sp>
      <p:sp>
        <p:nvSpPr>
          <p:cNvPr id="10" name="TextBox 10"/>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09</a:t>
            </a:r>
          </a:p>
        </p:txBody>
      </p:sp>
      <p:sp>
        <p:nvSpPr>
          <p:cNvPr id="11" name="TextBox 11"/>
          <p:cNvSpPr txBox="1"/>
          <p:nvPr/>
        </p:nvSpPr>
        <p:spPr>
          <a:xfrm>
            <a:off x="1545787" y="3504692"/>
            <a:ext cx="8812969" cy="4124941"/>
          </a:xfrm>
          <a:prstGeom prst="rect">
            <a:avLst/>
          </a:prstGeom>
        </p:spPr>
        <p:txBody>
          <a:bodyPr lIns="0" tIns="0" rIns="0" bIns="0" rtlCol="0" anchor="t">
            <a:spAutoFit/>
          </a:bodyPr>
          <a:lstStyle/>
          <a:p>
            <a:pPr algn="just">
              <a:lnSpc>
                <a:spcPts val="4691"/>
              </a:lnSpc>
            </a:pPr>
            <a:r>
              <a:rPr lang="en-US" sz="3350" spc="190">
                <a:solidFill>
                  <a:srgbClr val="605440"/>
                </a:solidFill>
                <a:latin typeface="Arimo"/>
                <a:ea typeface="Arimo"/>
                <a:cs typeface="Arimo"/>
                <a:sym typeface="Arimo"/>
              </a:rPr>
              <a:t>Pakistan had many regional languages like Punjabi, Sindhi, Balochi, and Pashto. The government declared Urdu as the national language. However, people in East Pakistan demanded Bengali as well. This language issue later created political tensions.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AutoShape 2"/>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3" name="AutoShape 3"/>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4" name="Freeform 4"/>
          <p:cNvSpPr/>
          <p:nvPr/>
        </p:nvSpPr>
        <p:spPr>
          <a:xfrm>
            <a:off x="14705990" y="-684353"/>
            <a:ext cx="3582010" cy="4265245"/>
          </a:xfrm>
          <a:custGeom>
            <a:avLst/>
            <a:gdLst/>
            <a:ahLst/>
            <a:cxnLst/>
            <a:rect l="l" t="t" r="r" b="b"/>
            <a:pathLst>
              <a:path w="3582010" h="4265245">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66666" y="6691314"/>
            <a:ext cx="2053877" cy="4179069"/>
          </a:xfrm>
          <a:custGeom>
            <a:avLst/>
            <a:gdLst/>
            <a:ahLst/>
            <a:cxnLst/>
            <a:rect l="l" t="t" r="r" b="b"/>
            <a:pathLst>
              <a:path w="2053877" h="4179069">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352944" y="7862015"/>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964742" y="-856982"/>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9144000" y="3257818"/>
            <a:ext cx="7352995" cy="4417976"/>
          </a:xfrm>
          <a:custGeom>
            <a:avLst/>
            <a:gdLst/>
            <a:ahLst/>
            <a:cxnLst/>
            <a:rect l="l" t="t" r="r" b="b"/>
            <a:pathLst>
              <a:path w="7352995" h="4417976">
                <a:moveTo>
                  <a:pt x="0" y="0"/>
                </a:moveTo>
                <a:lnTo>
                  <a:pt x="7352995" y="0"/>
                </a:lnTo>
                <a:lnTo>
                  <a:pt x="7352995" y="4417976"/>
                </a:lnTo>
                <a:lnTo>
                  <a:pt x="0" y="4417976"/>
                </a:lnTo>
                <a:lnTo>
                  <a:pt x="0" y="0"/>
                </a:lnTo>
                <a:close/>
              </a:path>
            </a:pathLst>
          </a:custGeom>
          <a:blipFill>
            <a:blip r:embed="rId8"/>
            <a:stretch>
              <a:fillRect/>
            </a:stretch>
          </a:blipFill>
        </p:spPr>
      </p:sp>
      <p:sp>
        <p:nvSpPr>
          <p:cNvPr id="9" name="TextBox 9"/>
          <p:cNvSpPr txBox="1"/>
          <p:nvPr/>
        </p:nvSpPr>
        <p:spPr>
          <a:xfrm>
            <a:off x="2824680" y="1095845"/>
            <a:ext cx="12638639" cy="1766569"/>
          </a:xfrm>
          <a:prstGeom prst="rect">
            <a:avLst/>
          </a:prstGeom>
        </p:spPr>
        <p:txBody>
          <a:bodyPr lIns="0" tIns="0" rIns="0" bIns="0" rtlCol="0" anchor="t">
            <a:spAutoFit/>
          </a:bodyPr>
          <a:lstStyle/>
          <a:p>
            <a:pPr algn="ctr">
              <a:lnSpc>
                <a:spcPts val="12880"/>
              </a:lnSpc>
            </a:pPr>
            <a:r>
              <a:rPr lang="en-US" sz="9200" b="1">
                <a:solidFill>
                  <a:srgbClr val="443B2B"/>
                </a:solidFill>
                <a:latin typeface="The Seasons Bold"/>
                <a:ea typeface="The Seasons Bold"/>
                <a:cs typeface="The Seasons Bold"/>
                <a:sym typeface="The Seasons Bold"/>
              </a:rPr>
              <a:t>Electricity Problem</a:t>
            </a:r>
          </a:p>
        </p:txBody>
      </p:sp>
      <p:sp>
        <p:nvSpPr>
          <p:cNvPr id="10" name="TextBox 10"/>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10</a:t>
            </a:r>
          </a:p>
        </p:txBody>
      </p:sp>
      <p:sp>
        <p:nvSpPr>
          <p:cNvPr id="11" name="TextBox 11"/>
          <p:cNvSpPr txBox="1"/>
          <p:nvPr/>
        </p:nvSpPr>
        <p:spPr>
          <a:xfrm>
            <a:off x="2450075" y="3323896"/>
            <a:ext cx="6693925" cy="4200097"/>
          </a:xfrm>
          <a:prstGeom prst="rect">
            <a:avLst/>
          </a:prstGeom>
        </p:spPr>
        <p:txBody>
          <a:bodyPr lIns="0" tIns="0" rIns="0" bIns="0" rtlCol="0" anchor="t">
            <a:spAutoFit/>
          </a:bodyPr>
          <a:lstStyle/>
          <a:p>
            <a:pPr algn="just">
              <a:lnSpc>
                <a:spcPts val="4748"/>
              </a:lnSpc>
            </a:pPr>
            <a:r>
              <a:rPr lang="en-US" sz="3391" spc="193">
                <a:solidFill>
                  <a:srgbClr val="605440"/>
                </a:solidFill>
                <a:latin typeface="Arimo"/>
                <a:ea typeface="Arimo"/>
                <a:cs typeface="Arimo"/>
                <a:sym typeface="Arimo"/>
              </a:rPr>
              <a:t>At independence, most power stations were in India. Pakistan had limited electricity supply. Industries and homes faced power shortages. This slowed down industrial and economic growth.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AutoShape 2"/>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3" name="AutoShape 3"/>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4" name="Freeform 4"/>
          <p:cNvSpPr/>
          <p:nvPr/>
        </p:nvSpPr>
        <p:spPr>
          <a:xfrm>
            <a:off x="14705990" y="-684353"/>
            <a:ext cx="3582010" cy="4265245"/>
          </a:xfrm>
          <a:custGeom>
            <a:avLst/>
            <a:gdLst/>
            <a:ahLst/>
            <a:cxnLst/>
            <a:rect l="l" t="t" r="r" b="b"/>
            <a:pathLst>
              <a:path w="3582010" h="4265245">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66666" y="6691314"/>
            <a:ext cx="2053877" cy="4179069"/>
          </a:xfrm>
          <a:custGeom>
            <a:avLst/>
            <a:gdLst/>
            <a:ahLst/>
            <a:cxnLst/>
            <a:rect l="l" t="t" r="r" b="b"/>
            <a:pathLst>
              <a:path w="2053877" h="4179069">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352944" y="7862015"/>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964742" y="-856982"/>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9760993" y="3545060"/>
            <a:ext cx="6736002" cy="3856490"/>
          </a:xfrm>
          <a:custGeom>
            <a:avLst/>
            <a:gdLst/>
            <a:ahLst/>
            <a:cxnLst/>
            <a:rect l="l" t="t" r="r" b="b"/>
            <a:pathLst>
              <a:path w="6736002" h="3856490">
                <a:moveTo>
                  <a:pt x="0" y="0"/>
                </a:moveTo>
                <a:lnTo>
                  <a:pt x="6736002" y="0"/>
                </a:lnTo>
                <a:lnTo>
                  <a:pt x="6736002" y="3856490"/>
                </a:lnTo>
                <a:lnTo>
                  <a:pt x="0" y="3856490"/>
                </a:lnTo>
                <a:lnTo>
                  <a:pt x="0" y="0"/>
                </a:lnTo>
                <a:close/>
              </a:path>
            </a:pathLst>
          </a:custGeom>
          <a:blipFill>
            <a:blip r:embed="rId8"/>
            <a:stretch>
              <a:fillRect/>
            </a:stretch>
          </a:blipFill>
        </p:spPr>
      </p:sp>
      <p:sp>
        <p:nvSpPr>
          <p:cNvPr id="9" name="TextBox 9"/>
          <p:cNvSpPr txBox="1"/>
          <p:nvPr/>
        </p:nvSpPr>
        <p:spPr>
          <a:xfrm>
            <a:off x="2713768" y="1095845"/>
            <a:ext cx="12860465" cy="1766569"/>
          </a:xfrm>
          <a:prstGeom prst="rect">
            <a:avLst/>
          </a:prstGeom>
        </p:spPr>
        <p:txBody>
          <a:bodyPr lIns="0" tIns="0" rIns="0" bIns="0" rtlCol="0" anchor="t">
            <a:spAutoFit/>
          </a:bodyPr>
          <a:lstStyle/>
          <a:p>
            <a:pPr algn="ctr">
              <a:lnSpc>
                <a:spcPts val="12880"/>
              </a:lnSpc>
            </a:pPr>
            <a:r>
              <a:rPr lang="en-US" sz="9200" b="1">
                <a:solidFill>
                  <a:srgbClr val="443B2B"/>
                </a:solidFill>
                <a:latin typeface="The Seasons Bold"/>
                <a:ea typeface="The Seasons Bold"/>
                <a:cs typeface="The Seasons Bold"/>
                <a:sym typeface="The Seasons Bold"/>
              </a:rPr>
              <a:t>Kashmir Dispute</a:t>
            </a:r>
          </a:p>
        </p:txBody>
      </p:sp>
      <p:sp>
        <p:nvSpPr>
          <p:cNvPr id="10" name="TextBox 10"/>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11</a:t>
            </a:r>
          </a:p>
        </p:txBody>
      </p:sp>
      <p:sp>
        <p:nvSpPr>
          <p:cNvPr id="11" name="TextBox 11"/>
          <p:cNvSpPr txBox="1"/>
          <p:nvPr/>
        </p:nvSpPr>
        <p:spPr>
          <a:xfrm>
            <a:off x="2120543" y="3495167"/>
            <a:ext cx="7640450" cy="3938775"/>
          </a:xfrm>
          <a:prstGeom prst="rect">
            <a:avLst/>
          </a:prstGeom>
        </p:spPr>
        <p:txBody>
          <a:bodyPr lIns="0" tIns="0" rIns="0" bIns="0" rtlCol="0" anchor="t">
            <a:spAutoFit/>
          </a:bodyPr>
          <a:lstStyle/>
          <a:p>
            <a:pPr algn="just">
              <a:lnSpc>
                <a:spcPts val="4452"/>
              </a:lnSpc>
            </a:pPr>
            <a:r>
              <a:rPr lang="en-US" sz="3180" spc="181">
                <a:solidFill>
                  <a:srgbClr val="605440"/>
                </a:solidFill>
                <a:latin typeface="Arimo"/>
                <a:ea typeface="Arimo"/>
                <a:cs typeface="Arimo"/>
                <a:sym typeface="Arimo"/>
              </a:rPr>
              <a:t>The ruler of Kashmir was a Hindu, but the majority population was Muslim. The Maharaja decided to join India, which Pakistan did not accept. This led to the first war between India and Pakistan in 1948. The Kashmir issue remains unresolved even today.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AutoShape 2"/>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3" name="AutoShape 3"/>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4" name="Freeform 4"/>
          <p:cNvSpPr/>
          <p:nvPr/>
        </p:nvSpPr>
        <p:spPr>
          <a:xfrm>
            <a:off x="14705990" y="-684353"/>
            <a:ext cx="3582010" cy="4265245"/>
          </a:xfrm>
          <a:custGeom>
            <a:avLst/>
            <a:gdLst/>
            <a:ahLst/>
            <a:cxnLst/>
            <a:rect l="l" t="t" r="r" b="b"/>
            <a:pathLst>
              <a:path w="3582010" h="4265245">
                <a:moveTo>
                  <a:pt x="0" y="0"/>
                </a:moveTo>
                <a:lnTo>
                  <a:pt x="3582010" y="0"/>
                </a:lnTo>
                <a:lnTo>
                  <a:pt x="3582010" y="4265245"/>
                </a:lnTo>
                <a:lnTo>
                  <a:pt x="0" y="4265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66666" y="6691314"/>
            <a:ext cx="2053877" cy="4179069"/>
          </a:xfrm>
          <a:custGeom>
            <a:avLst/>
            <a:gdLst/>
            <a:ahLst/>
            <a:cxnLst/>
            <a:rect l="l" t="t" r="r" b="b"/>
            <a:pathLst>
              <a:path w="2053877" h="4179069">
                <a:moveTo>
                  <a:pt x="2053877" y="4179069"/>
                </a:moveTo>
                <a:lnTo>
                  <a:pt x="0" y="4179069"/>
                </a:lnTo>
                <a:lnTo>
                  <a:pt x="0" y="0"/>
                </a:lnTo>
                <a:lnTo>
                  <a:pt x="2053877" y="0"/>
                </a:lnTo>
                <a:lnTo>
                  <a:pt x="2053877" y="417906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352944" y="7862015"/>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964742" y="-856982"/>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9790512" y="3374731"/>
            <a:ext cx="6868311" cy="3974967"/>
          </a:xfrm>
          <a:custGeom>
            <a:avLst/>
            <a:gdLst/>
            <a:ahLst/>
            <a:cxnLst/>
            <a:rect l="l" t="t" r="r" b="b"/>
            <a:pathLst>
              <a:path w="6868311" h="3974967">
                <a:moveTo>
                  <a:pt x="0" y="0"/>
                </a:moveTo>
                <a:lnTo>
                  <a:pt x="6868311" y="0"/>
                </a:lnTo>
                <a:lnTo>
                  <a:pt x="6868311" y="3974967"/>
                </a:lnTo>
                <a:lnTo>
                  <a:pt x="0" y="3974967"/>
                </a:lnTo>
                <a:lnTo>
                  <a:pt x="0" y="0"/>
                </a:lnTo>
                <a:close/>
              </a:path>
            </a:pathLst>
          </a:custGeom>
          <a:blipFill>
            <a:blip r:embed="rId8"/>
            <a:stretch>
              <a:fillRect/>
            </a:stretch>
          </a:blipFill>
        </p:spPr>
      </p:sp>
      <p:sp>
        <p:nvSpPr>
          <p:cNvPr id="9" name="TextBox 9"/>
          <p:cNvSpPr txBox="1"/>
          <p:nvPr/>
        </p:nvSpPr>
        <p:spPr>
          <a:xfrm>
            <a:off x="2908197" y="1095845"/>
            <a:ext cx="12471606" cy="1766569"/>
          </a:xfrm>
          <a:prstGeom prst="rect">
            <a:avLst/>
          </a:prstGeom>
        </p:spPr>
        <p:txBody>
          <a:bodyPr lIns="0" tIns="0" rIns="0" bIns="0" rtlCol="0" anchor="t">
            <a:spAutoFit/>
          </a:bodyPr>
          <a:lstStyle/>
          <a:p>
            <a:pPr algn="ctr">
              <a:lnSpc>
                <a:spcPts val="12880"/>
              </a:lnSpc>
            </a:pPr>
            <a:r>
              <a:rPr lang="en-US" sz="9200" b="1">
                <a:solidFill>
                  <a:srgbClr val="443B2B"/>
                </a:solidFill>
                <a:latin typeface="The Seasons Bold"/>
                <a:ea typeface="The Seasons Bold"/>
                <a:cs typeface="The Seasons Bold"/>
                <a:sym typeface="The Seasons Bold"/>
              </a:rPr>
              <a:t>Canal Water Dispute</a:t>
            </a:r>
          </a:p>
        </p:txBody>
      </p:sp>
      <p:sp>
        <p:nvSpPr>
          <p:cNvPr id="10" name="TextBox 10"/>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12</a:t>
            </a:r>
          </a:p>
        </p:txBody>
      </p:sp>
      <p:sp>
        <p:nvSpPr>
          <p:cNvPr id="11" name="TextBox 11"/>
          <p:cNvSpPr txBox="1"/>
          <p:nvPr/>
        </p:nvSpPr>
        <p:spPr>
          <a:xfrm>
            <a:off x="2337985" y="3485642"/>
            <a:ext cx="7452527" cy="5221671"/>
          </a:xfrm>
          <a:prstGeom prst="rect">
            <a:avLst/>
          </a:prstGeom>
        </p:spPr>
        <p:txBody>
          <a:bodyPr lIns="0" tIns="0" rIns="0" bIns="0" rtlCol="0" anchor="t">
            <a:spAutoFit/>
          </a:bodyPr>
          <a:lstStyle/>
          <a:p>
            <a:pPr algn="just">
              <a:lnSpc>
                <a:spcPts val="5159"/>
              </a:lnSpc>
            </a:pPr>
            <a:r>
              <a:rPr lang="en-US" sz="3685" spc="210">
                <a:solidFill>
                  <a:srgbClr val="605440"/>
                </a:solidFill>
                <a:latin typeface="Arimo"/>
                <a:ea typeface="Arimo"/>
                <a:cs typeface="Arimo"/>
                <a:sym typeface="Arimo"/>
              </a:rPr>
              <a:t>Most rivers of Pakistan originated from India. India stopped the water supply of some canals. This created serious agricultural problems for Pakistan. Later, the Indus Waters Treaty (1960) was signed to solve this issue.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AutoShape 2"/>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3" name="AutoShape 3"/>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4" name="Freeform 4"/>
          <p:cNvSpPr/>
          <p:nvPr/>
        </p:nvSpPr>
        <p:spPr>
          <a:xfrm>
            <a:off x="12734826" y="-684353"/>
            <a:ext cx="5553174" cy="6612391"/>
          </a:xfrm>
          <a:custGeom>
            <a:avLst/>
            <a:gdLst/>
            <a:ahLst/>
            <a:cxnLst/>
            <a:rect l="l" t="t" r="r" b="b"/>
            <a:pathLst>
              <a:path w="5553174" h="6612391">
                <a:moveTo>
                  <a:pt x="0" y="0"/>
                </a:moveTo>
                <a:lnTo>
                  <a:pt x="5553174" y="0"/>
                </a:lnTo>
                <a:lnTo>
                  <a:pt x="5553174" y="6612391"/>
                </a:lnTo>
                <a:lnTo>
                  <a:pt x="0" y="66123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684573" y="6222318"/>
            <a:ext cx="2863975" cy="5827394"/>
          </a:xfrm>
          <a:custGeom>
            <a:avLst/>
            <a:gdLst/>
            <a:ahLst/>
            <a:cxnLst/>
            <a:rect l="l" t="t" r="r" b="b"/>
            <a:pathLst>
              <a:path w="2863975" h="5827394">
                <a:moveTo>
                  <a:pt x="2863975" y="5827393"/>
                </a:moveTo>
                <a:lnTo>
                  <a:pt x="0" y="5827393"/>
                </a:lnTo>
                <a:lnTo>
                  <a:pt x="0" y="0"/>
                </a:lnTo>
                <a:lnTo>
                  <a:pt x="2863975" y="0"/>
                </a:lnTo>
                <a:lnTo>
                  <a:pt x="2863975" y="58273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3966578" y="7587266"/>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964742" y="-1028700"/>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7889311" y="5281042"/>
            <a:ext cx="1699972" cy="1699972"/>
          </a:xfrm>
          <a:custGeom>
            <a:avLst/>
            <a:gdLst/>
            <a:ahLst/>
            <a:cxnLst/>
            <a:rect l="l" t="t" r="r" b="b"/>
            <a:pathLst>
              <a:path w="1699972" h="1699972">
                <a:moveTo>
                  <a:pt x="0" y="0"/>
                </a:moveTo>
                <a:lnTo>
                  <a:pt x="1699972" y="0"/>
                </a:lnTo>
                <a:lnTo>
                  <a:pt x="1699972" y="1699972"/>
                </a:lnTo>
                <a:lnTo>
                  <a:pt x="0" y="16999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9515558" y="6280463"/>
            <a:ext cx="883130" cy="883130"/>
          </a:xfrm>
          <a:custGeom>
            <a:avLst/>
            <a:gdLst/>
            <a:ahLst/>
            <a:cxnLst/>
            <a:rect l="l" t="t" r="r" b="b"/>
            <a:pathLst>
              <a:path w="883130" h="883130">
                <a:moveTo>
                  <a:pt x="0" y="0"/>
                </a:moveTo>
                <a:lnTo>
                  <a:pt x="883131" y="0"/>
                </a:lnTo>
                <a:lnTo>
                  <a:pt x="883131" y="883131"/>
                </a:lnTo>
                <a:lnTo>
                  <a:pt x="0" y="8831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0661626" y="3600763"/>
            <a:ext cx="3304952" cy="5774522"/>
          </a:xfrm>
          <a:custGeom>
            <a:avLst/>
            <a:gdLst/>
            <a:ahLst/>
            <a:cxnLst/>
            <a:rect l="l" t="t" r="r" b="b"/>
            <a:pathLst>
              <a:path w="3304952" h="5774522">
                <a:moveTo>
                  <a:pt x="0" y="0"/>
                </a:moveTo>
                <a:lnTo>
                  <a:pt x="3304952" y="0"/>
                </a:lnTo>
                <a:lnTo>
                  <a:pt x="3304952" y="5774522"/>
                </a:lnTo>
                <a:lnTo>
                  <a:pt x="0" y="5774522"/>
                </a:lnTo>
                <a:lnTo>
                  <a:pt x="0" y="0"/>
                </a:lnTo>
                <a:close/>
              </a:path>
            </a:pathLst>
          </a:custGeom>
          <a:blipFill>
            <a:blip r:embed="rId10"/>
            <a:stretch>
              <a:fillRect l="-2963" r="-2963"/>
            </a:stretch>
          </a:blipFill>
        </p:spPr>
      </p:sp>
      <p:sp>
        <p:nvSpPr>
          <p:cNvPr id="11" name="TextBox 11"/>
          <p:cNvSpPr txBox="1"/>
          <p:nvPr/>
        </p:nvSpPr>
        <p:spPr>
          <a:xfrm>
            <a:off x="2169021" y="2507094"/>
            <a:ext cx="11440581" cy="1158011"/>
          </a:xfrm>
          <a:prstGeom prst="rect">
            <a:avLst/>
          </a:prstGeom>
        </p:spPr>
        <p:txBody>
          <a:bodyPr lIns="0" tIns="0" rIns="0" bIns="0" rtlCol="0" anchor="t">
            <a:spAutoFit/>
          </a:bodyPr>
          <a:lstStyle/>
          <a:p>
            <a:pPr algn="l">
              <a:lnSpc>
                <a:spcPts val="7530"/>
              </a:lnSpc>
            </a:pPr>
            <a:r>
              <a:rPr lang="en-US" sz="7530" b="1">
                <a:solidFill>
                  <a:srgbClr val="443B2B"/>
                </a:solidFill>
                <a:latin typeface="The Seasons Bold"/>
                <a:ea typeface="The Seasons Bold"/>
                <a:cs typeface="The Seasons Bold"/>
                <a:sym typeface="The Seasons Bold"/>
              </a:rPr>
              <a:t>Constitutional Problem</a:t>
            </a:r>
          </a:p>
        </p:txBody>
      </p:sp>
      <p:sp>
        <p:nvSpPr>
          <p:cNvPr id="12" name="TextBox 12"/>
          <p:cNvSpPr txBox="1"/>
          <p:nvPr/>
        </p:nvSpPr>
        <p:spPr>
          <a:xfrm>
            <a:off x="3901703" y="4136660"/>
            <a:ext cx="6496985" cy="4181817"/>
          </a:xfrm>
          <a:prstGeom prst="rect">
            <a:avLst/>
          </a:prstGeom>
        </p:spPr>
        <p:txBody>
          <a:bodyPr lIns="0" tIns="0" rIns="0" bIns="0" rtlCol="0" anchor="t">
            <a:spAutoFit/>
          </a:bodyPr>
          <a:lstStyle/>
          <a:p>
            <a:pPr algn="just">
              <a:lnSpc>
                <a:spcPts val="4181"/>
              </a:lnSpc>
            </a:pPr>
            <a:r>
              <a:rPr lang="en-US" sz="2986" spc="170">
                <a:solidFill>
                  <a:srgbClr val="605440"/>
                </a:solidFill>
                <a:latin typeface="Arimo"/>
                <a:ea typeface="Arimo"/>
                <a:cs typeface="Arimo"/>
                <a:sym typeface="Arimo"/>
              </a:rPr>
              <a:t>At independence, Pakistan did not have its own constitution. It used the Government of India Act 1935 temporarily. Making a new constitution was difficult due to political differences. Finally, Pakistan introduced its first constitution in 1956.</a:t>
            </a:r>
          </a:p>
        </p:txBody>
      </p:sp>
      <p:sp>
        <p:nvSpPr>
          <p:cNvPr id="13" name="TextBox 13"/>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E9DE"/>
        </a:solidFill>
        <a:effectLst/>
      </p:bgPr>
    </p:bg>
    <p:spTree>
      <p:nvGrpSpPr>
        <p:cNvPr id="1" name=""/>
        <p:cNvGrpSpPr/>
        <p:nvPr/>
      </p:nvGrpSpPr>
      <p:grpSpPr>
        <a:xfrm>
          <a:off x="0" y="0"/>
          <a:ext cx="0" cy="0"/>
          <a:chOff x="0" y="0"/>
          <a:chExt cx="0" cy="0"/>
        </a:xfrm>
      </p:grpSpPr>
      <p:sp>
        <p:nvSpPr>
          <p:cNvPr id="2" name="Freeform 2"/>
          <p:cNvSpPr/>
          <p:nvPr/>
        </p:nvSpPr>
        <p:spPr>
          <a:xfrm>
            <a:off x="-1964742" y="-1028700"/>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3966578" y="7587266"/>
            <a:ext cx="4611757" cy="4114800"/>
          </a:xfrm>
          <a:custGeom>
            <a:avLst/>
            <a:gdLst/>
            <a:ahLst/>
            <a:cxnLst/>
            <a:rect l="l" t="t" r="r" b="b"/>
            <a:pathLst>
              <a:path w="4611757" h="4114800">
                <a:moveTo>
                  <a:pt x="0" y="0"/>
                </a:moveTo>
                <a:lnTo>
                  <a:pt x="4611757" y="0"/>
                </a:lnTo>
                <a:lnTo>
                  <a:pt x="46117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734826" y="-684353"/>
            <a:ext cx="5553174" cy="6612391"/>
          </a:xfrm>
          <a:custGeom>
            <a:avLst/>
            <a:gdLst/>
            <a:ahLst/>
            <a:cxnLst/>
            <a:rect l="l" t="t" r="r" b="b"/>
            <a:pathLst>
              <a:path w="5553174" h="6612391">
                <a:moveTo>
                  <a:pt x="0" y="0"/>
                </a:moveTo>
                <a:lnTo>
                  <a:pt x="5553174" y="0"/>
                </a:lnTo>
                <a:lnTo>
                  <a:pt x="5553174" y="6612391"/>
                </a:lnTo>
                <a:lnTo>
                  <a:pt x="0" y="66123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AutoShape 5"/>
          <p:cNvSpPr/>
          <p:nvPr/>
        </p:nvSpPr>
        <p:spPr>
          <a:xfrm>
            <a:off x="3257027" y="364019"/>
            <a:ext cx="14729259" cy="7448282"/>
          </a:xfrm>
          <a:prstGeom prst="line">
            <a:avLst/>
          </a:prstGeom>
          <a:ln w="38100" cap="flat">
            <a:solidFill>
              <a:srgbClr val="C0C2A0"/>
            </a:solidFill>
            <a:prstDash val="sysDash"/>
            <a:headEnd type="none" w="sm" len="sm"/>
            <a:tailEnd type="none" w="sm" len="sm"/>
          </a:ln>
        </p:spPr>
      </p:sp>
      <p:sp>
        <p:nvSpPr>
          <p:cNvPr id="6" name="TextBox 6"/>
          <p:cNvSpPr txBox="1"/>
          <p:nvPr/>
        </p:nvSpPr>
        <p:spPr>
          <a:xfrm>
            <a:off x="4831875" y="1028700"/>
            <a:ext cx="11440581" cy="1158011"/>
          </a:xfrm>
          <a:prstGeom prst="rect">
            <a:avLst/>
          </a:prstGeom>
        </p:spPr>
        <p:txBody>
          <a:bodyPr lIns="0" tIns="0" rIns="0" bIns="0" rtlCol="0" anchor="t">
            <a:spAutoFit/>
          </a:bodyPr>
          <a:lstStyle/>
          <a:p>
            <a:pPr algn="l">
              <a:lnSpc>
                <a:spcPts val="7530"/>
              </a:lnSpc>
            </a:pPr>
            <a:r>
              <a:rPr lang="en-US" sz="7530" b="1">
                <a:solidFill>
                  <a:srgbClr val="443B2B"/>
                </a:solidFill>
                <a:latin typeface="The Seasons Bold"/>
                <a:ea typeface="The Seasons Bold"/>
                <a:cs typeface="The Seasons Bold"/>
                <a:sym typeface="The Seasons Bold"/>
              </a:rPr>
              <a:t>Conclusion</a:t>
            </a:r>
          </a:p>
        </p:txBody>
      </p:sp>
      <p:sp>
        <p:nvSpPr>
          <p:cNvPr id="7" name="Freeform 7"/>
          <p:cNvSpPr/>
          <p:nvPr/>
        </p:nvSpPr>
        <p:spPr>
          <a:xfrm flipH="1" flipV="1">
            <a:off x="684573" y="6222318"/>
            <a:ext cx="2863975" cy="5827394"/>
          </a:xfrm>
          <a:custGeom>
            <a:avLst/>
            <a:gdLst/>
            <a:ahLst/>
            <a:cxnLst/>
            <a:rect l="l" t="t" r="r" b="b"/>
            <a:pathLst>
              <a:path w="2863975" h="5827394">
                <a:moveTo>
                  <a:pt x="2863975" y="5827393"/>
                </a:moveTo>
                <a:lnTo>
                  <a:pt x="0" y="5827393"/>
                </a:lnTo>
                <a:lnTo>
                  <a:pt x="0" y="0"/>
                </a:lnTo>
                <a:lnTo>
                  <a:pt x="2863975" y="0"/>
                </a:lnTo>
                <a:lnTo>
                  <a:pt x="2863975" y="5827393"/>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AutoShape 8"/>
          <p:cNvSpPr/>
          <p:nvPr/>
        </p:nvSpPr>
        <p:spPr>
          <a:xfrm>
            <a:off x="341136" y="4123923"/>
            <a:ext cx="13382450" cy="5795493"/>
          </a:xfrm>
          <a:prstGeom prst="line">
            <a:avLst/>
          </a:prstGeom>
          <a:ln w="38100" cap="flat">
            <a:solidFill>
              <a:srgbClr val="C0C2A0"/>
            </a:solidFill>
            <a:prstDash val="sysDash"/>
            <a:headEnd type="none" w="sm" len="sm"/>
            <a:tailEnd type="none" w="sm" len="sm"/>
          </a:ln>
        </p:spPr>
      </p:sp>
      <p:sp>
        <p:nvSpPr>
          <p:cNvPr id="9" name="TextBox 9"/>
          <p:cNvSpPr txBox="1"/>
          <p:nvPr/>
        </p:nvSpPr>
        <p:spPr>
          <a:xfrm>
            <a:off x="3257027" y="2582733"/>
            <a:ext cx="10185893" cy="5229567"/>
          </a:xfrm>
          <a:prstGeom prst="rect">
            <a:avLst/>
          </a:prstGeom>
        </p:spPr>
        <p:txBody>
          <a:bodyPr lIns="0" tIns="0" rIns="0" bIns="0" rtlCol="0" anchor="t">
            <a:spAutoFit/>
          </a:bodyPr>
          <a:lstStyle/>
          <a:p>
            <a:pPr algn="just">
              <a:lnSpc>
                <a:spcPts val="4181"/>
              </a:lnSpc>
            </a:pPr>
            <a:r>
              <a:rPr lang="en-US" sz="2986" spc="170">
                <a:solidFill>
                  <a:srgbClr val="605440"/>
                </a:solidFill>
                <a:latin typeface="Arimo"/>
                <a:ea typeface="Arimo"/>
                <a:cs typeface="Arimo"/>
                <a:sym typeface="Arimo"/>
              </a:rPr>
              <a:t>In conclusion, Pakistan faced numerous initial problems at the time of its creation in 1947, including the refugee crisis, lack of administrative structure, economic instability, and shortage of resources. Despite these severe challenges, the country showed resilience and determination. Through strong leadership, especially under Quaid-e-Azam Muhammad Ali Jinnah, Pakistan gradually overcame these difficulties and laid the foundation for a stable and independent state</a:t>
            </a:r>
          </a:p>
        </p:txBody>
      </p:sp>
      <p:sp>
        <p:nvSpPr>
          <p:cNvPr id="10" name="TextBox 10"/>
          <p:cNvSpPr txBox="1"/>
          <p:nvPr/>
        </p:nvSpPr>
        <p:spPr>
          <a:xfrm>
            <a:off x="8321632" y="9013825"/>
            <a:ext cx="1644736" cy="431800"/>
          </a:xfrm>
          <a:prstGeom prst="rect">
            <a:avLst/>
          </a:prstGeom>
        </p:spPr>
        <p:txBody>
          <a:bodyPr lIns="0" tIns="0" rIns="0" bIns="0" rtlCol="0" anchor="t">
            <a:spAutoFit/>
          </a:bodyPr>
          <a:lstStyle/>
          <a:p>
            <a:pPr algn="ctr">
              <a:lnSpc>
                <a:spcPts val="3499"/>
              </a:lnSpc>
            </a:pPr>
            <a:r>
              <a:rPr lang="en-US" sz="2499" spc="142">
                <a:solidFill>
                  <a:srgbClr val="000000"/>
                </a:solidFill>
                <a:latin typeface="Arimo"/>
                <a:ea typeface="Arimo"/>
                <a:cs typeface="Arimo"/>
                <a:sym typeface="Arimo"/>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Initial problem of Pakistan presentation </dc:title>
  <cp:lastModifiedBy>hirafatima71568@gmail.com</cp:lastModifiedBy>
  <cp:revision>3</cp:revision>
  <dcterms:created xsi:type="dcterms:W3CDTF">2006-08-16T00:00:00Z</dcterms:created>
  <dcterms:modified xsi:type="dcterms:W3CDTF">2026-04-03T09:02:51Z</dcterms:modified>
  <dc:identifier>DAHEMDXHVZk</dc:identifier>
</cp:coreProperties>
</file>