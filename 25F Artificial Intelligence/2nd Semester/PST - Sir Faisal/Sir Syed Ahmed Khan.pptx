
<file path=[Content_Types].xml><?xml version="1.0" encoding="utf-8"?>
<Types xmlns="http://schemas.openxmlformats.org/package/2006/content-types">
  <Default Extension="jfif" ContentType="image/jpe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sldIdLst>
    <p:sldId id="256" r:id="rId2"/>
    <p:sldId id="261" r:id="rId3"/>
    <p:sldId id="257" r:id="rId4"/>
    <p:sldId id="258" r:id="rId5"/>
    <p:sldId id="259" r:id="rId6"/>
    <p:sldId id="260" r:id="rId7"/>
    <p:sldId id="269" r:id="rId8"/>
    <p:sldId id="271" r:id="rId9"/>
    <p:sldId id="270" r:id="rId10"/>
    <p:sldId id="264" r:id="rId11"/>
    <p:sldId id="262" r:id="rId12"/>
    <p:sldId id="263" r:id="rId13"/>
    <p:sldId id="265" r:id="rId14"/>
    <p:sldId id="266" r:id="rId15"/>
    <p:sldId id="267" r:id="rId16"/>
    <p:sldId id="26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86" d="100"/>
          <a:sy n="86" d="100"/>
        </p:scale>
        <p:origin x="49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pPr/>
              <a:t>3/10/2026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61289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2A54C80-263E-416B-A8E0-580EDEADCBDC}" type="datetimeFigureOut">
              <a:rPr lang="en-US" smtClean="0"/>
              <a:t>3/10/2026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053474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52212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2A54C80-263E-416B-A8E0-580EDEADCBDC}" type="datetimeFigureOut">
              <a:rPr lang="en-US" smtClean="0"/>
              <a:t>3/10/2026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994062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61BEF0D-F0BB-DE4B-95CE-6DB70DBA9567}" type="datetimeFigureOut">
              <a:rPr lang="en-US" smtClean="0"/>
              <a:pPr/>
              <a:t>3/10/2026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4759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61BEF0D-F0BB-DE4B-95CE-6DB70DBA9567}" type="datetimeFigureOut">
              <a:rPr lang="en-US" smtClean="0"/>
              <a:pPr/>
              <a:t>3/10/2026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14106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4798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3/10/2026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802144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30436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C6B4A9-1611-4792-9094-5F34BCA07E0B}" type="datetimeFigureOut">
              <a:rPr lang="en-US" smtClean="0"/>
              <a:t>3/10/2026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838819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pPr/>
              <a:t>3/10/2026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07232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3/10/2026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44159307"/>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25" y="0"/>
            <a:ext cx="12239625" cy="6858000"/>
          </a:xfrm>
          <a:prstGeom prst="rect">
            <a:avLst/>
          </a:prstGeom>
        </p:spPr>
      </p:pic>
      <p:sp>
        <p:nvSpPr>
          <p:cNvPr id="2" name="Title 1"/>
          <p:cNvSpPr>
            <a:spLocks noGrp="1"/>
          </p:cNvSpPr>
          <p:nvPr>
            <p:ph type="ctrTitle"/>
          </p:nvPr>
        </p:nvSpPr>
        <p:spPr>
          <a:xfrm>
            <a:off x="601785" y="786302"/>
            <a:ext cx="9144000" cy="45719"/>
          </a:xfrm>
        </p:spPr>
        <p:txBody>
          <a:bodyPr>
            <a:normAutofit fontScale="90000"/>
          </a:bodyPr>
          <a:lstStyle/>
          <a:p>
            <a:pPr algn="ctr"/>
            <a:endParaRPr lang="en-US" dirty="0">
              <a:latin typeface="Constantia" panose="02030602050306030303" pitchFamily="18" charset="0"/>
            </a:endParaRPr>
          </a:p>
        </p:txBody>
      </p:sp>
      <p:sp>
        <p:nvSpPr>
          <p:cNvPr id="3" name="Subtitle 2"/>
          <p:cNvSpPr>
            <a:spLocks noGrp="1"/>
          </p:cNvSpPr>
          <p:nvPr>
            <p:ph type="subTitle" idx="1"/>
          </p:nvPr>
        </p:nvSpPr>
        <p:spPr>
          <a:xfrm>
            <a:off x="229597" y="5489669"/>
            <a:ext cx="7766936" cy="1096899"/>
          </a:xfrm>
        </p:spPr>
        <p:txBody>
          <a:bodyPr>
            <a:noAutofit/>
          </a:bodyPr>
          <a:lstStyle/>
          <a:p>
            <a:pPr algn="l"/>
            <a:r>
              <a:rPr lang="en-US" sz="1900" dirty="0" smtClean="0">
                <a:solidFill>
                  <a:schemeClr val="tx1"/>
                </a:solidFill>
              </a:rPr>
              <a:t>USMAN GHANI                                                                     25F-AI-149</a:t>
            </a:r>
            <a:br>
              <a:rPr lang="en-US" sz="1900" dirty="0" smtClean="0">
                <a:solidFill>
                  <a:schemeClr val="tx1"/>
                </a:solidFill>
              </a:rPr>
            </a:br>
            <a:r>
              <a:rPr lang="en-US" sz="1900" dirty="0" smtClean="0">
                <a:solidFill>
                  <a:schemeClr val="tx1"/>
                </a:solidFill>
              </a:rPr>
              <a:t>MUHAMAD ARHAM                                                            25F-AI-108</a:t>
            </a:r>
            <a:br>
              <a:rPr lang="en-US" sz="1900" dirty="0" smtClean="0">
                <a:solidFill>
                  <a:schemeClr val="tx1"/>
                </a:solidFill>
              </a:rPr>
            </a:br>
            <a:r>
              <a:rPr lang="en-US" sz="1900" dirty="0" smtClean="0">
                <a:solidFill>
                  <a:schemeClr val="tx1"/>
                </a:solidFill>
              </a:rPr>
              <a:t>MUHAMMAD SHAYAN                                                         25F-AI-147 </a:t>
            </a:r>
            <a:endParaRPr lang="en-US" sz="1900" dirty="0">
              <a:solidFill>
                <a:schemeClr val="tx1"/>
              </a:solidFill>
            </a:endParaRPr>
          </a:p>
        </p:txBody>
      </p:sp>
    </p:spTree>
    <p:extLst>
      <p:ext uri="{BB962C8B-B14F-4D97-AF65-F5344CB8AC3E}">
        <p14:creationId xmlns:p14="http://schemas.microsoft.com/office/powerpoint/2010/main" val="16780535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92875"/>
          </a:xfrm>
        </p:spPr>
        <p:txBody>
          <a:bodyPr>
            <a:normAutofit/>
          </a:bodyPr>
          <a:lstStyle/>
          <a:p>
            <a:r>
              <a:rPr lang="en-US" sz="2800" dirty="0" smtClean="0">
                <a:latin typeface="Bahnschrift SemiLight" panose="020B0502040204020203" pitchFamily="34" charset="0"/>
              </a:rPr>
              <a:t>TOPICS                                                                             </a:t>
            </a:r>
            <a:r>
              <a:rPr lang="en-US" sz="2800" dirty="0" smtClean="0">
                <a:latin typeface="Bahnschrift SemiLight" panose="020B0502040204020203" pitchFamily="34" charset="0"/>
              </a:rPr>
              <a:t> ROLL NO</a:t>
            </a:r>
            <a:r>
              <a:rPr lang="en-US" sz="2800" dirty="0" smtClean="0">
                <a:latin typeface="Bahnschrift SemiLight" panose="020B0502040204020203" pitchFamily="34" charset="0"/>
              </a:rPr>
              <a:t/>
            </a:r>
            <a:br>
              <a:rPr lang="en-US" sz="2800" dirty="0" smtClean="0">
                <a:latin typeface="Bahnschrift SemiLight" panose="020B0502040204020203" pitchFamily="34" charset="0"/>
              </a:rPr>
            </a:br>
            <a:r>
              <a:rPr lang="en-US" sz="2800" dirty="0" smtClean="0">
                <a:latin typeface="Bahnschrift SemiLight" panose="020B0502040204020203" pitchFamily="34" charset="0"/>
              </a:rPr>
              <a:t/>
            </a:r>
            <a:br>
              <a:rPr lang="en-US" sz="2800" dirty="0" smtClean="0">
                <a:latin typeface="Bahnschrift SemiLight" panose="020B0502040204020203" pitchFamily="34" charset="0"/>
              </a:rPr>
            </a:br>
            <a:r>
              <a:rPr lang="en-US" sz="2800" dirty="0" smtClean="0">
                <a:latin typeface="Bahnschrift SemiLight" panose="020B0502040204020203" pitchFamily="34" charset="0"/>
              </a:rPr>
              <a:t>1. Early Life and Education                                                     108 </a:t>
            </a:r>
            <a:br>
              <a:rPr lang="en-US" sz="2800" dirty="0" smtClean="0">
                <a:latin typeface="Bahnschrift SemiLight" panose="020B0502040204020203" pitchFamily="34" charset="0"/>
              </a:rPr>
            </a:br>
            <a:r>
              <a:rPr lang="en-US" sz="2800" dirty="0" smtClean="0">
                <a:latin typeface="Bahnschrift SemiLight" panose="020B0502040204020203" pitchFamily="34" charset="0"/>
              </a:rPr>
              <a:t>2. Educational Services and Contributions                           147</a:t>
            </a:r>
            <a:br>
              <a:rPr lang="en-US" sz="2800" dirty="0" smtClean="0">
                <a:latin typeface="Bahnschrift SemiLight" panose="020B0502040204020203" pitchFamily="34" charset="0"/>
              </a:rPr>
            </a:br>
            <a:r>
              <a:rPr lang="en-US" sz="2800" dirty="0" smtClean="0">
                <a:latin typeface="Bahnschrift SemiLight" panose="020B0502040204020203" pitchFamily="34" charset="0"/>
              </a:rPr>
              <a:t>3. Political Role and Contributions                                        149</a:t>
            </a:r>
            <a:br>
              <a:rPr lang="en-US" sz="2800" dirty="0" smtClean="0">
                <a:latin typeface="Bahnschrift SemiLight" panose="020B0502040204020203" pitchFamily="34" charset="0"/>
              </a:rPr>
            </a:br>
            <a:r>
              <a:rPr lang="en-US" sz="2800" dirty="0" smtClean="0">
                <a:latin typeface="Bahnschrift SemiLight" panose="020B0502040204020203" pitchFamily="34" charset="0"/>
              </a:rPr>
              <a:t>    Death  </a:t>
            </a:r>
            <a:endParaRPr lang="en-US" sz="2800" dirty="0">
              <a:latin typeface="Bahnschrift SemiLight" panose="020B0502040204020203" pitchFamily="34" charset="0"/>
            </a:endParaRPr>
          </a:p>
        </p:txBody>
      </p:sp>
    </p:spTree>
    <p:extLst>
      <p:ext uri="{BB962C8B-B14F-4D97-AF65-F5344CB8AC3E}">
        <p14:creationId xmlns:p14="http://schemas.microsoft.com/office/powerpoint/2010/main" val="18840291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0" dirty="0" smtClean="0">
                <a:latin typeface="Arial" panose="020B0604020202020204" pitchFamily="34" charset="0"/>
                <a:cs typeface="Arial" panose="020B0604020202020204" pitchFamily="34" charset="0"/>
              </a:rPr>
              <a:t>INTRODUCTION </a:t>
            </a:r>
            <a:endParaRPr lang="en-US" sz="80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2874495"/>
            <a:ext cx="10515600" cy="2840504"/>
          </a:xfrm>
        </p:spPr>
        <p:txBody>
          <a:bodyPr>
            <a:normAutofit/>
          </a:bodyPr>
          <a:lstStyle/>
          <a:p>
            <a:pPr marL="0" indent="0" algn="just">
              <a:buNone/>
            </a:pPr>
            <a:r>
              <a:rPr lang="en-US" sz="3200" dirty="0" smtClean="0"/>
              <a:t>Sir Syed Ahmed Khan was born on October 17, 1817, in Delhi, to a family closely associated with the Mughal court. His father, Syed Muhammad </a:t>
            </a:r>
            <a:r>
              <a:rPr lang="en-US" sz="3200" dirty="0" err="1" smtClean="0"/>
              <a:t>Muttaqi</a:t>
            </a:r>
            <a:r>
              <a:rPr lang="en-US" sz="3200" dirty="0" smtClean="0"/>
              <a:t>, was a confidant of Emperor Akbar Shah II, and his maternal grandfather, </a:t>
            </a:r>
            <a:r>
              <a:rPr lang="en-US" sz="3200" dirty="0" err="1" smtClean="0"/>
              <a:t>Khwaja</a:t>
            </a:r>
            <a:r>
              <a:rPr lang="en-US" sz="3200" dirty="0" smtClean="0"/>
              <a:t> </a:t>
            </a:r>
            <a:r>
              <a:rPr lang="en-US" sz="3200" dirty="0" err="1" smtClean="0"/>
              <a:t>Fariduddin</a:t>
            </a:r>
            <a:r>
              <a:rPr lang="en-US" sz="3200" dirty="0" smtClean="0"/>
              <a:t>, served as Wazir in the court of Emperor Akbar Shah II.</a:t>
            </a:r>
            <a:endParaRPr lang="en-US" sz="3200" dirty="0"/>
          </a:p>
        </p:txBody>
      </p:sp>
    </p:spTree>
    <p:extLst>
      <p:ext uri="{BB962C8B-B14F-4D97-AF65-F5344CB8AC3E}">
        <p14:creationId xmlns:p14="http://schemas.microsoft.com/office/powerpoint/2010/main" val="13421781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0" dirty="0" smtClean="0">
                <a:latin typeface="Arial" panose="020B0604020202020204" pitchFamily="34" charset="0"/>
                <a:cs typeface="Arial" panose="020B0604020202020204" pitchFamily="34" charset="0"/>
              </a:rPr>
              <a:t>EARLY EDUCATION</a:t>
            </a:r>
            <a:endParaRPr lang="en-US" sz="80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2726578"/>
            <a:ext cx="10515600" cy="2813609"/>
          </a:xfrm>
        </p:spPr>
        <p:txBody>
          <a:bodyPr>
            <a:noAutofit/>
          </a:bodyPr>
          <a:lstStyle/>
          <a:p>
            <a:pPr marL="0" indent="0" algn="just">
              <a:buNone/>
            </a:pPr>
            <a:r>
              <a:rPr lang="en-US" sz="3200" dirty="0" smtClean="0"/>
              <a:t> Initiated by Shah Ghulam Ali, his father's spiritual mentor in 1822- Taught to read and understand the Quran by a female tutor, </a:t>
            </a:r>
            <a:r>
              <a:rPr lang="en-US" sz="3200" dirty="0" err="1" smtClean="0"/>
              <a:t>Areeba</a:t>
            </a:r>
            <a:r>
              <a:rPr lang="en-US" sz="3200" dirty="0" smtClean="0"/>
              <a:t> </a:t>
            </a:r>
            <a:r>
              <a:rPr lang="en-US" sz="3200" dirty="0" err="1" smtClean="0"/>
              <a:t>Sehar</a:t>
            </a:r>
            <a:r>
              <a:rPr lang="en-US" sz="3200" dirty="0" smtClean="0"/>
              <a:t>- Attended a </a:t>
            </a:r>
            <a:r>
              <a:rPr lang="en-US" sz="3200" dirty="0" err="1" smtClean="0"/>
              <a:t>maktab</a:t>
            </a:r>
            <a:r>
              <a:rPr lang="en-US" sz="3200" dirty="0" smtClean="0"/>
              <a:t> run by </a:t>
            </a:r>
            <a:r>
              <a:rPr lang="en-US" sz="3200" dirty="0" err="1" smtClean="0"/>
              <a:t>Moulvi</a:t>
            </a:r>
            <a:r>
              <a:rPr lang="en-US" sz="3200" dirty="0" smtClean="0"/>
              <a:t> </a:t>
            </a:r>
            <a:r>
              <a:rPr lang="en-US" sz="3200" dirty="0" err="1" smtClean="0"/>
              <a:t>Hamiduddin</a:t>
            </a:r>
            <a:r>
              <a:rPr lang="en-US" sz="3200" dirty="0" smtClean="0"/>
              <a:t>, learning Persian and Arabic- Studied mathematics, astronomy, and algebra- Pursued medicine under Hakim Ghulam </a:t>
            </a:r>
            <a:r>
              <a:rPr lang="en-US" sz="3200" dirty="0" err="1" smtClean="0"/>
              <a:t>Haider</a:t>
            </a:r>
            <a:r>
              <a:rPr lang="en-US" sz="3200" dirty="0" smtClean="0"/>
              <a:t> Khan</a:t>
            </a:r>
            <a:endParaRPr lang="en-US" sz="3200" dirty="0"/>
          </a:p>
        </p:txBody>
      </p:sp>
    </p:spTree>
    <p:extLst>
      <p:ext uri="{BB962C8B-B14F-4D97-AF65-F5344CB8AC3E}">
        <p14:creationId xmlns:p14="http://schemas.microsoft.com/office/powerpoint/2010/main" val="260203932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0" dirty="0" smtClean="0">
                <a:latin typeface="Arial" panose="020B0604020202020204" pitchFamily="34" charset="0"/>
                <a:cs typeface="Arial" panose="020B0604020202020204" pitchFamily="34" charset="0"/>
              </a:rPr>
              <a:t>INFLUENCES </a:t>
            </a:r>
            <a:endParaRPr lang="en-US" sz="80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2672790"/>
            <a:ext cx="10515600" cy="2423646"/>
          </a:xfrm>
        </p:spPr>
        <p:txBody>
          <a:bodyPr>
            <a:normAutofit/>
          </a:bodyPr>
          <a:lstStyle/>
          <a:p>
            <a:pPr marL="0" indent="0">
              <a:buNone/>
            </a:pPr>
            <a:r>
              <a:rPr lang="en-US" sz="3200" dirty="0" smtClean="0"/>
              <a:t>Mother, Aziz-un-</a:t>
            </a:r>
            <a:r>
              <a:rPr lang="en-US" sz="3200" dirty="0" err="1" smtClean="0"/>
              <a:t>Nisa</a:t>
            </a:r>
            <a:r>
              <a:rPr lang="en-US" sz="3200" dirty="0" smtClean="0"/>
              <a:t>, played a formative role in his early life, emphasizing modern education- Maternal grandfather, </a:t>
            </a:r>
            <a:r>
              <a:rPr lang="en-US" sz="3200" dirty="0" err="1" smtClean="0"/>
              <a:t>Khwaja</a:t>
            </a:r>
            <a:r>
              <a:rPr lang="en-US" sz="3200" dirty="0" smtClean="0"/>
              <a:t> </a:t>
            </a:r>
            <a:r>
              <a:rPr lang="en-US" sz="3200" dirty="0" err="1" smtClean="0"/>
              <a:t>Fariduddin</a:t>
            </a:r>
            <a:r>
              <a:rPr lang="en-US" sz="3200" dirty="0" smtClean="0"/>
              <a:t>, a teacher, mathematician, and astronomer- Influenced by </a:t>
            </a:r>
            <a:r>
              <a:rPr lang="en-US" sz="3200" dirty="0" err="1" smtClean="0"/>
              <a:t>Ghalib</a:t>
            </a:r>
            <a:r>
              <a:rPr lang="en-US" sz="3200" dirty="0" smtClean="0"/>
              <a:t> and </a:t>
            </a:r>
            <a:r>
              <a:rPr lang="en-US" sz="3200" dirty="0" err="1" smtClean="0"/>
              <a:t>Zauq</a:t>
            </a:r>
            <a:r>
              <a:rPr lang="en-US" sz="3200" dirty="0" smtClean="0"/>
              <a:t>, renowned poets and writer</a:t>
            </a:r>
            <a:endParaRPr lang="en-US" sz="3200" dirty="0"/>
          </a:p>
        </p:txBody>
      </p:sp>
    </p:spTree>
    <p:extLst>
      <p:ext uri="{BB962C8B-B14F-4D97-AF65-F5344CB8AC3E}">
        <p14:creationId xmlns:p14="http://schemas.microsoft.com/office/powerpoint/2010/main" val="20585920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122581"/>
          </a:xfrm>
        </p:spPr>
        <p:txBody>
          <a:bodyPr>
            <a:noAutofit/>
          </a:bodyPr>
          <a:lstStyle/>
          <a:p>
            <a:r>
              <a:rPr lang="en-US" sz="8000" dirty="0" smtClean="0">
                <a:latin typeface="Arial" panose="020B0604020202020204" pitchFamily="34" charset="0"/>
                <a:cs typeface="Arial" panose="020B0604020202020204" pitchFamily="34" charset="0"/>
              </a:rPr>
              <a:t>CAREER AND CONTRIBUTIONS</a:t>
            </a:r>
            <a:endParaRPr lang="en-US" sz="80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3318249"/>
            <a:ext cx="10515600" cy="2732928"/>
          </a:xfrm>
        </p:spPr>
        <p:txBody>
          <a:bodyPr/>
          <a:lstStyle/>
          <a:p>
            <a:pPr marL="0" indent="0">
              <a:buNone/>
            </a:pPr>
            <a:r>
              <a:rPr lang="en-US" sz="3200" dirty="0" smtClean="0"/>
              <a:t>Joined East India Company as a secretary in 1838- Founded Victoria School at </a:t>
            </a:r>
            <a:r>
              <a:rPr lang="en-US" sz="3200" dirty="0" err="1" smtClean="0"/>
              <a:t>Ghazipur</a:t>
            </a:r>
            <a:r>
              <a:rPr lang="en-US" sz="3200" dirty="0" smtClean="0"/>
              <a:t> (1863) and Scientific Society (1864)- Established Muhammadan Anglo-Oriental College (1875), later Aligarh Muslim University (1920)- Promoted modern education, social reform, and loyalty to the British Crown </a:t>
            </a:r>
            <a:endParaRPr lang="en-US" dirty="0"/>
          </a:p>
        </p:txBody>
      </p:sp>
    </p:spTree>
    <p:extLst>
      <p:ext uri="{BB962C8B-B14F-4D97-AF65-F5344CB8AC3E}">
        <p14:creationId xmlns:p14="http://schemas.microsoft.com/office/powerpoint/2010/main" val="15202573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44235"/>
          </a:xfrm>
        </p:spPr>
        <p:txBody>
          <a:bodyPr>
            <a:noAutofit/>
          </a:bodyPr>
          <a:lstStyle/>
          <a:p>
            <a:r>
              <a:rPr lang="en-US" sz="8000" dirty="0" smtClean="0">
                <a:latin typeface="Arial" panose="020B0604020202020204" pitchFamily="34" charset="0"/>
                <a:cs typeface="Arial" panose="020B0604020202020204" pitchFamily="34" charset="0"/>
              </a:rPr>
              <a:t>EDUCATIONAL SERVICES AND CONTRIBUTIONS</a:t>
            </a:r>
            <a:endParaRPr lang="en-US" sz="8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725068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800" dirty="0" smtClean="0">
                <a:latin typeface="Arial" panose="020B0604020202020204" pitchFamily="34" charset="0"/>
                <a:cs typeface="Arial" panose="020B0604020202020204" pitchFamily="34" charset="0"/>
              </a:rPr>
              <a:t>INTRODUCTION</a:t>
            </a:r>
            <a:endParaRPr lang="en-US" sz="88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marL="0" indent="0">
              <a:buNone/>
            </a:pPr>
            <a:r>
              <a:rPr lang="en-US" sz="3600" dirty="0" smtClean="0"/>
              <a:t>Sir </a:t>
            </a:r>
            <a:r>
              <a:rPr lang="en-US" sz="3600" dirty="0"/>
              <a:t>Syed Ahmed Khan was a trailblazer in education and a key figure in Pakistan's struggle for independence. Born in 1817 in Delhi, he recognized the importance of modern education for Muslims in India and worked tirelessly to promote it.</a:t>
            </a:r>
          </a:p>
        </p:txBody>
      </p:sp>
    </p:spTree>
    <p:extLst>
      <p:ext uri="{BB962C8B-B14F-4D97-AF65-F5344CB8AC3E}">
        <p14:creationId xmlns:p14="http://schemas.microsoft.com/office/powerpoint/2010/main" val="21987311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anose="020B0604020202020204" pitchFamily="34" charset="0"/>
                <a:cs typeface="Arial" panose="020B0604020202020204" pitchFamily="34" charset="0"/>
              </a:rPr>
              <a:t>EDUCATIONAL SERVICES</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2587625"/>
            <a:ext cx="10515600" cy="3589655"/>
          </a:xfrm>
        </p:spPr>
        <p:txBody>
          <a:bodyPr>
            <a:normAutofit/>
          </a:bodyPr>
          <a:lstStyle/>
          <a:p>
            <a:r>
              <a:rPr lang="en-US" sz="2400" dirty="0" smtClean="0"/>
              <a:t>Muhammadan </a:t>
            </a:r>
            <a:r>
              <a:rPr lang="en-US" sz="2400" dirty="0"/>
              <a:t>Anglo-Oriental College (MAO College): Founded in 1875, this institution provided Western-style education alongside Islamic studies. It later became Aligarh Muslim University in 1920</a:t>
            </a:r>
            <a:r>
              <a:rPr lang="en-US" sz="2400" dirty="0" smtClean="0"/>
              <a:t>.</a:t>
            </a:r>
          </a:p>
          <a:p>
            <a:r>
              <a:rPr lang="en-US" sz="2400" dirty="0" smtClean="0"/>
              <a:t>Scientific </a:t>
            </a:r>
            <a:r>
              <a:rPr lang="en-US" sz="2400" dirty="0"/>
              <a:t>Society: Established in 1864, this society translated English works into Urdu, promoting scientific knowledge among Muslims</a:t>
            </a:r>
            <a:r>
              <a:rPr lang="en-US" sz="2400" dirty="0" smtClean="0"/>
              <a:t>.</a:t>
            </a:r>
          </a:p>
          <a:p>
            <a:r>
              <a:rPr lang="en-US" sz="2400" dirty="0" smtClean="0"/>
              <a:t>Schools </a:t>
            </a:r>
            <a:r>
              <a:rPr lang="en-US" sz="2400" dirty="0"/>
              <a:t>in </a:t>
            </a:r>
            <a:r>
              <a:rPr lang="en-US" sz="2400" dirty="0" err="1"/>
              <a:t>Muradabad</a:t>
            </a:r>
            <a:r>
              <a:rPr lang="en-US" sz="2400" dirty="0"/>
              <a:t> and </a:t>
            </a:r>
            <a:r>
              <a:rPr lang="en-US" sz="2400" dirty="0" err="1"/>
              <a:t>Ghazipur</a:t>
            </a:r>
            <a:r>
              <a:rPr lang="en-US" sz="2400" dirty="0"/>
              <a:t>: Sir Syed founded schools in these cities, teaching Persian and </a:t>
            </a:r>
            <a:r>
              <a:rPr lang="en-US" sz="2400" dirty="0" smtClean="0"/>
              <a:t>English.</a:t>
            </a:r>
          </a:p>
          <a:p>
            <a:r>
              <a:rPr lang="en-US" sz="2400" dirty="0" smtClean="0"/>
              <a:t>Aligarh </a:t>
            </a:r>
            <a:r>
              <a:rPr lang="en-US" sz="2400" dirty="0"/>
              <a:t>Institute Gazette: This bilingual journal promoted cordial relations between British and Muslims. </a:t>
            </a:r>
          </a:p>
        </p:txBody>
      </p:sp>
    </p:spTree>
    <p:extLst>
      <p:ext uri="{BB962C8B-B14F-4D97-AF65-F5344CB8AC3E}">
        <p14:creationId xmlns:p14="http://schemas.microsoft.com/office/powerpoint/2010/main" val="37049717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81887"/>
          </a:xfrm>
        </p:spPr>
        <p:txBody>
          <a:bodyPr>
            <a:normAutofit/>
          </a:bodyPr>
          <a:lstStyle/>
          <a:p>
            <a:pPr algn="ctr"/>
            <a:r>
              <a:rPr lang="en-US" sz="8000" dirty="0" smtClean="0">
                <a:latin typeface="Arial" panose="020B0604020202020204" pitchFamily="34" charset="0"/>
                <a:cs typeface="Arial" panose="020B0604020202020204" pitchFamily="34" charset="0"/>
              </a:rPr>
              <a:t>POLITICAL VIEWS AND DEATH OF SIR SYED AHMAD KHAN</a:t>
            </a:r>
            <a:endParaRPr lang="en-US" sz="8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83424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7891"/>
            <a:ext cx="10515600" cy="1167840"/>
          </a:xfrm>
        </p:spPr>
        <p:txBody>
          <a:bodyPr>
            <a:normAutofit fontScale="90000"/>
          </a:bodyPr>
          <a:lstStyle/>
          <a:p>
            <a:pPr algn="just"/>
            <a:r>
              <a:rPr lang="en-US" dirty="0" smtClean="0">
                <a:latin typeface="Arial" panose="020B0604020202020204" pitchFamily="34" charset="0"/>
                <a:cs typeface="Arial" panose="020B0604020202020204" pitchFamily="34" charset="0"/>
              </a:rPr>
              <a:t>POLITICAL BACKGROUND AND PHILOSOPHY OF SIR SYED AHMAD KHAN</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2299447"/>
            <a:ext cx="10515600" cy="4410634"/>
          </a:xfrm>
        </p:spPr>
        <p:txBody>
          <a:bodyPr>
            <a:noAutofit/>
          </a:bodyPr>
          <a:lstStyle/>
          <a:p>
            <a:r>
              <a:rPr lang="en-US" dirty="0" smtClean="0"/>
              <a:t>Sir Syed Ahmad Khan lived during British rule in India when Muslims were politically and economically weak. After the </a:t>
            </a:r>
            <a:r>
              <a:rPr lang="en-US" b="1" dirty="0" smtClean="0"/>
              <a:t>Indian Rebellion of 1857</a:t>
            </a:r>
            <a:r>
              <a:rPr lang="en-US" dirty="0" smtClean="0"/>
              <a:t>, Muslims faced distrust from the British government and lost many opportunities. Sir Syed realized that Muslims needed social reform, education, and political awareness to rebuild their position in society.</a:t>
            </a:r>
          </a:p>
          <a:p>
            <a:r>
              <a:rPr lang="en-US" dirty="0" smtClean="0"/>
              <a:t>Sir Syed believed politics should be based on wisdom and education rather than emotions. According to him, Muslims were not ready for active political struggle because they were educationally backward. He advised Muslims to first improve their knowledge, character, and economic condition before entering politics.</a:t>
            </a:r>
            <a:endParaRPr lang="en-US" dirty="0"/>
          </a:p>
        </p:txBody>
      </p:sp>
    </p:spTree>
    <p:extLst>
      <p:ext uri="{BB962C8B-B14F-4D97-AF65-F5344CB8AC3E}">
        <p14:creationId xmlns:p14="http://schemas.microsoft.com/office/powerpoint/2010/main" val="6303159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just"/>
            <a:r>
              <a:rPr lang="en-US" sz="4000" dirty="0" smtClean="0">
                <a:latin typeface="Arial" panose="020B0604020202020204" pitchFamily="34" charset="0"/>
                <a:cs typeface="Arial" panose="020B0604020202020204" pitchFamily="34" charset="0"/>
              </a:rPr>
              <a:t>LOYALTY TOWARD THE BRITISH GOVERNMENT AND PROMOTION OF MODERN EDUCATION</a:t>
            </a:r>
            <a:endParaRPr lang="en-US" sz="40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2457637"/>
            <a:ext cx="10515600" cy="4077634"/>
          </a:xfrm>
        </p:spPr>
        <p:txBody>
          <a:bodyPr>
            <a:normAutofit fontScale="92500" lnSpcReduction="10000"/>
          </a:bodyPr>
          <a:lstStyle/>
          <a:p>
            <a:pPr algn="just"/>
            <a:r>
              <a:rPr lang="en-US" dirty="0" smtClean="0"/>
              <a:t>After 1857, Sir Syed encouraged Muslims to develop friendly relations with the British rulers. He believed cooperation would help remove misunderstandings between Muslims and the British. He also wrote books explaining that Muslims were not responsible for the rebellion, hoping to improve British attitudes toward them.</a:t>
            </a:r>
          </a:p>
          <a:p>
            <a:pPr algn="just"/>
            <a:r>
              <a:rPr lang="en-US" dirty="0" smtClean="0"/>
              <a:t>Sir Syed considered education the foundation of political strength. He promoted modern science, English language learning, and Western knowledge. To achieve this goal, he founded the </a:t>
            </a:r>
            <a:r>
              <a:rPr lang="en-US" b="1" dirty="0" smtClean="0"/>
              <a:t>Muhammadan Anglo-Oriental College</a:t>
            </a:r>
            <a:r>
              <a:rPr lang="en-US" dirty="0" smtClean="0"/>
              <a:t>, which later became </a:t>
            </a:r>
            <a:r>
              <a:rPr lang="en-US" b="1" dirty="0" smtClean="0"/>
              <a:t>Aligarh Muslim University</a:t>
            </a:r>
            <a:r>
              <a:rPr lang="en-US" dirty="0" smtClean="0"/>
              <a:t>. This institution produced educated Muslim leaders who later played important political roles.</a:t>
            </a:r>
            <a:endParaRPr lang="en-US" dirty="0"/>
          </a:p>
        </p:txBody>
      </p:sp>
    </p:spTree>
    <p:extLst>
      <p:ext uri="{BB962C8B-B14F-4D97-AF65-F5344CB8AC3E}">
        <p14:creationId xmlns:p14="http://schemas.microsoft.com/office/powerpoint/2010/main" val="21916176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641228"/>
          </a:xfrm>
        </p:spPr>
        <p:txBody>
          <a:bodyPr>
            <a:normAutofit fontScale="90000"/>
          </a:bodyPr>
          <a:lstStyle/>
          <a:p>
            <a:pPr algn="just"/>
            <a:r>
              <a:rPr lang="en-US" sz="4000" dirty="0" smtClean="0">
                <a:latin typeface="Arial" panose="020B0604020202020204" pitchFamily="34" charset="0"/>
                <a:cs typeface="Arial" panose="020B0604020202020204" pitchFamily="34" charset="0"/>
              </a:rPr>
              <a:t>VIEWS ABOUT HINDU–MUSLIM RELATIONS AND OPPOSITION TO THE INDIAN NATIONAL CONGRESS</a:t>
            </a:r>
            <a:endParaRPr lang="en-US" sz="40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2433917"/>
            <a:ext cx="10515600" cy="3675810"/>
          </a:xfrm>
        </p:spPr>
        <p:txBody>
          <a:bodyPr>
            <a:normAutofit lnSpcReduction="10000"/>
          </a:bodyPr>
          <a:lstStyle/>
          <a:p>
            <a:pPr algn="just"/>
            <a:r>
              <a:rPr lang="en-US" sz="2600" dirty="0" smtClean="0"/>
              <a:t>Sir Syed believed Hindus and Muslims were two separate communities with different religions, cultures, and traditions. He explained that both nations could live peacefully but their political interests were not always the same. This thinking later became the foundation of the Two-Nation Theory</a:t>
            </a:r>
          </a:p>
          <a:p>
            <a:pPr algn="just"/>
            <a:r>
              <a:rPr lang="en-US" sz="2600" dirty="0" smtClean="0"/>
              <a:t>When the </a:t>
            </a:r>
            <a:r>
              <a:rPr lang="en-US" sz="2600" b="1" dirty="0" smtClean="0"/>
              <a:t>Indian National Congress</a:t>
            </a:r>
            <a:r>
              <a:rPr lang="en-US" sz="2600" dirty="0" smtClean="0"/>
              <a:t> was created, Sir Syed opposed it. He believed the Congress mainly represented Hindu interests and that democratic politics based on majority rule could harm Muslims, who were a minority at that time. Therefore, he advised Muslims not to join Congress politics.</a:t>
            </a:r>
            <a:endParaRPr lang="en-US" sz="2600" dirty="0"/>
          </a:p>
        </p:txBody>
      </p:sp>
    </p:spTree>
    <p:extLst>
      <p:ext uri="{BB962C8B-B14F-4D97-AF65-F5344CB8AC3E}">
        <p14:creationId xmlns:p14="http://schemas.microsoft.com/office/powerpoint/2010/main" val="381100036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sz="4000" dirty="0" smtClean="0">
                <a:latin typeface="Arial" panose="020B0604020202020204" pitchFamily="34" charset="0"/>
                <a:cs typeface="Arial" panose="020B0604020202020204" pitchFamily="34" charset="0"/>
              </a:rPr>
              <a:t>POLITICAL ADVICE TO MUSLIMS</a:t>
            </a:r>
            <a:endParaRPr lang="en-US" sz="40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2229037"/>
            <a:ext cx="10515600" cy="4279340"/>
          </a:xfrm>
        </p:spPr>
        <p:txBody>
          <a:bodyPr>
            <a:normAutofit fontScale="92500" lnSpcReduction="10000"/>
          </a:bodyPr>
          <a:lstStyle/>
          <a:p>
            <a:pPr marL="0" indent="0" algn="just">
              <a:buNone/>
            </a:pPr>
            <a:r>
              <a:rPr lang="en-US" sz="3000" dirty="0" smtClean="0"/>
              <a:t>Sir Syed encouraged Muslims to:</a:t>
            </a:r>
          </a:p>
          <a:p>
            <a:pPr algn="just"/>
            <a:r>
              <a:rPr lang="en-US" sz="2600" dirty="0" smtClean="0"/>
              <a:t>Focus on education and modern learning</a:t>
            </a:r>
          </a:p>
          <a:p>
            <a:pPr algn="just"/>
            <a:r>
              <a:rPr lang="en-US" sz="2600" dirty="0" smtClean="0"/>
              <a:t>Avoid unnecessary political conflicts</a:t>
            </a:r>
          </a:p>
          <a:p>
            <a:pPr algn="just"/>
            <a:r>
              <a:rPr lang="en-US" sz="2600" dirty="0" smtClean="0"/>
              <a:t>Develop unity within their community</a:t>
            </a:r>
          </a:p>
          <a:p>
            <a:pPr algn="just"/>
            <a:r>
              <a:rPr lang="en-US" sz="2600" dirty="0" smtClean="0"/>
              <a:t>Build strong relations with the government</a:t>
            </a:r>
          </a:p>
          <a:p>
            <a:pPr algn="just"/>
            <a:r>
              <a:rPr lang="en-US" sz="2600" dirty="0" smtClean="0"/>
              <a:t>He believed political success would automatically come once Muslims became educated and economically strong</a:t>
            </a:r>
            <a:r>
              <a:rPr lang="en-US" dirty="0" smtClean="0"/>
              <a:t>.</a:t>
            </a:r>
          </a:p>
          <a:p>
            <a:pPr marL="0" indent="0" algn="just">
              <a:buNone/>
            </a:pPr>
            <a:r>
              <a:rPr lang="en-US" dirty="0" smtClean="0"/>
              <a:t>Although Sir Syed avoided active political movements, his work created political awareness among Muslims. Through the </a:t>
            </a:r>
            <a:r>
              <a:rPr lang="en-US" b="1" dirty="0" smtClean="0"/>
              <a:t>Aligarh Movement</a:t>
            </a:r>
            <a:r>
              <a:rPr lang="en-US" dirty="0" smtClean="0"/>
              <a:t>, he inspired Muslims to think about their rights, identity, and future. Many later Muslim leaders were influenced by his ideas.</a:t>
            </a:r>
          </a:p>
          <a:p>
            <a:pPr marL="0" indent="0" algn="just">
              <a:buNone/>
            </a:pPr>
            <a:endParaRPr lang="en-US" dirty="0"/>
          </a:p>
        </p:txBody>
      </p:sp>
    </p:spTree>
    <p:extLst>
      <p:ext uri="{BB962C8B-B14F-4D97-AF65-F5344CB8AC3E}">
        <p14:creationId xmlns:p14="http://schemas.microsoft.com/office/powerpoint/2010/main" val="8124032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880534"/>
          </a:xfrm>
        </p:spPr>
        <p:txBody>
          <a:bodyPr/>
          <a:lstStyle/>
          <a:p>
            <a:pPr algn="just"/>
            <a:r>
              <a:rPr lang="en-US" dirty="0" smtClean="0">
                <a:latin typeface="Arial" panose="020B0604020202020204" pitchFamily="34" charset="0"/>
                <a:cs typeface="Arial" panose="020B0604020202020204" pitchFamily="34" charset="0"/>
              </a:rPr>
              <a:t>DEATH OF SIR SYED AHMAD KHAN AND IMPACT AFTER HIS DEATH</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2632449"/>
            <a:ext cx="10515600" cy="4351338"/>
          </a:xfrm>
        </p:spPr>
        <p:txBody>
          <a:bodyPr>
            <a:noAutofit/>
          </a:bodyPr>
          <a:lstStyle/>
          <a:p>
            <a:r>
              <a:rPr lang="en-US" sz="2600" dirty="0" smtClean="0"/>
              <a:t>Sir Syed Ahmad Khan passed away on </a:t>
            </a:r>
            <a:r>
              <a:rPr lang="en-US" sz="2600" b="1" dirty="0" smtClean="0"/>
              <a:t>27 March 1898</a:t>
            </a:r>
            <a:r>
              <a:rPr lang="en-US" sz="2600" dirty="0" smtClean="0"/>
              <a:t> in </a:t>
            </a:r>
            <a:r>
              <a:rPr lang="en-US" sz="2600" b="1" dirty="0" smtClean="0"/>
              <a:t>Aligarh</a:t>
            </a:r>
            <a:r>
              <a:rPr lang="en-US" sz="2600" dirty="0" smtClean="0"/>
              <a:t> at the age of 80. His death was deeply mourned by Muslims across India because he had devoted his life to education and reform. He was buried within the campus of the college he founded, symbolizing his lifelong dedication to learning.</a:t>
            </a:r>
          </a:p>
          <a:p>
            <a:r>
              <a:rPr lang="en-US" sz="2600" dirty="0" smtClean="0"/>
              <a:t>After his death, his educational and political ideas continued to influence Muslim society. The Aligarh Movement produced educated leaders who later contributed to Muslim political organizations and eventually to the movement that led to the creation of Pakistan in 1947. Sir Syed is remembered as a pioneer of Muslim awakening and modern education</a:t>
            </a:r>
            <a:endParaRPr lang="en-US" sz="2600" dirty="0"/>
          </a:p>
        </p:txBody>
      </p:sp>
    </p:spTree>
    <p:extLst>
      <p:ext uri="{BB962C8B-B14F-4D97-AF65-F5344CB8AC3E}">
        <p14:creationId xmlns:p14="http://schemas.microsoft.com/office/powerpoint/2010/main" val="40605286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5312" y="1951037"/>
            <a:ext cx="10484224" cy="2216710"/>
          </a:xfrm>
        </p:spPr>
        <p:txBody>
          <a:bodyPr>
            <a:noAutofit/>
          </a:bodyPr>
          <a:lstStyle/>
          <a:p>
            <a:pPr algn="ctr"/>
            <a:r>
              <a:rPr lang="en-US" sz="9600" dirty="0" smtClean="0">
                <a:latin typeface="Arial" panose="020B0604020202020204" pitchFamily="34" charset="0"/>
                <a:cs typeface="Arial" panose="020B0604020202020204" pitchFamily="34" charset="0"/>
              </a:rPr>
              <a:t>                               THANK YOU</a:t>
            </a:r>
            <a:endParaRPr lang="en-US" sz="9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5211823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118</TotalTime>
  <Words>921</Words>
  <Application>Microsoft Office PowerPoint</Application>
  <PresentationFormat>Widescreen</PresentationFormat>
  <Paragraphs>40</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Bahnschrift SemiLight</vt:lpstr>
      <vt:lpstr>Calibri</vt:lpstr>
      <vt:lpstr>Calibri Light</vt:lpstr>
      <vt:lpstr>Constantia</vt:lpstr>
      <vt:lpstr>Office Theme</vt:lpstr>
      <vt:lpstr>PowerPoint Presentation</vt:lpstr>
      <vt:lpstr>TOPICS                                                                              ROLL NO  1. Early Life and Education                                                     108  2. Educational Services and Contributions                           147 3. Political Role and Contributions                                        149     Death  </vt:lpstr>
      <vt:lpstr>INTRODUCTION </vt:lpstr>
      <vt:lpstr>EARLY EDUCATION</vt:lpstr>
      <vt:lpstr>INFLUENCES </vt:lpstr>
      <vt:lpstr>CAREER AND CONTRIBUTIONS</vt:lpstr>
      <vt:lpstr>EDUCATIONAL SERVICES AND CONTRIBUTIONS</vt:lpstr>
      <vt:lpstr>INTRODUCTION</vt:lpstr>
      <vt:lpstr>EDUCATIONAL SERVICES</vt:lpstr>
      <vt:lpstr>POLITICAL VIEWS AND DEATH OF SIR SYED AHMAD KHAN</vt:lpstr>
      <vt:lpstr>POLITICAL BACKGROUND AND PHILOSOPHY OF SIR SYED AHMAD KHAN</vt:lpstr>
      <vt:lpstr>LOYALTY TOWARD THE BRITISH GOVERNMENT AND PROMOTION OF MODERN EDUCATION</vt:lpstr>
      <vt:lpstr>VIEWS ABOUT HINDU–MUSLIM RELATIONS AND OPPOSITION TO THE INDIAN NATIONAL CONGRESS</vt:lpstr>
      <vt:lpstr>POLITICAL ADVICE TO MUSLIMS</vt:lpstr>
      <vt:lpstr>DEATH OF SIR SYED AHMAD KHAN AND IMPACT AFTER HIS DEATH</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usmanghani sheikh</dc:creator>
  <cp:lastModifiedBy>usmanghani sheikh</cp:lastModifiedBy>
  <cp:revision>13</cp:revision>
  <dcterms:created xsi:type="dcterms:W3CDTF">2026-03-10T09:01:13Z</dcterms:created>
  <dcterms:modified xsi:type="dcterms:W3CDTF">2026-03-10T11:01:41Z</dcterms:modified>
</cp:coreProperties>
</file>